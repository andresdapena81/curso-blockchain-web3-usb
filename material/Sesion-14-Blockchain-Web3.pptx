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la Unidad IV. Advertencia explícita desde el minuto uno: esta NO es una sesión para aprender a invertir ni una recomendación financiera. Es para entender el mecanismo y el riesgo como ingenieros. Todo el laboratorio corre en la red local o en Sepolia, sin dinero real.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Reparto: 0-10 apertura (pregunta de la semana de la S13), 10-85 bloque A, 85-95 pausa, 95-160 bloque B (30 min AMM, 20 min oráculo, 15 min hoja), 160-180 bloque C y cierre. Si el tiempo aprieta, la hoja de cálculo pasa a trabajo autónomo: la plantilla trae autocomprobación.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preguntas se retoman en la lámina de ideas del bloque A. RA7 conecta con el ensayo individual que se plantea en la S15: UST es un tema de ensayo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marquen los que no conocían. Insistir en PI (pérdida impermanente) y factor de salud: son los dos cálculos que se hacen hoy a mano y en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del bloque: qué es DeFi (5 min), AMM y PI (25), préstamos (12), stablecoins y UST (12), oráculos y flash loans (12), rendimiento y riesgos (7), cierre (2).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tesis del curso: saber cuándo NO usar blockchain. Para la mayoría de usuarios colombianos, un banco o una billetera regulada resuelve mejor el problema de pagos; DeFi aporta algo distinto (composición abierta), no algo mejor en todo.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real de contagio: el colapso de UST (A.13) arrastró protocolos que la aceptaban como colateral. No dar cifras de protocolos concretos que no estén verificadas.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exactamente el pool del laboratorio: contracts/s14/PoolXYK.sol con 10 TETH y 20 000 TUSD. La comisión de 0,30 % es la de Uniswap v2 (docs.uniswap.org, 'How Uniswap works'); v3 y v4 ofrecen varios niveles.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exactos calculados por el contrato PoolXYK (prueba 'el ejemplo de la lámina' y scripts/s14/pool-en-numeros.js). El valor con 18 decimales es el que la prueba compara bit a bit. Hacerlo en el tablero: es el cálculo que los estudiantes reproducen en el TODO 1 del laboratorio.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generada por scripts/s14/pool-en-numeros.js (salida real). Fórmula cerrada del precio promedio: 2 000 × (1 + Δ/20 000) ÷ 0,997. Ataque sandwich: un bot ve la orden en el mempool, compra antes, deja que la víctima compre más caro y vende después; el mínimo a recibir es la defensa. La prueba ★ de slippage del laboratorio simula justo eso.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participaciones con raíz cuadrada son el diseño de Uniswap v2 (no dependen de cuál token se tome como unidad). Valores del laboratorio: 447 213 595 499 957 939 281 unidades mínimas = 447,21 participaciones.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generada por scripts/s14/perdida-impermanente.js (node scripts/s14/perdida-impermanente.js). Es exactamente la hoja de cálculo del laboratorio: los estudiantes la reproducen con fórmulas y la plantilla les dice si coinciden. Derivación: con k = x·y y p = y/x, x = √(k/p) e y = √(k·p).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Medida en cadena: prueba ★ 'pérdida impermanente en cadena' y parte 3 de scripts/s14/pool-en-numeros.js; la medida es algo menor que la fórmula porque la comisión del arbitrajista quedó para el LP. Los 38 días: 0,0572 × 40 000 = 2 288 USDC ÷ 60 USDC/día = 38,1. Es un ejemplo ilustrativo, no un dato de mercado.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fórmula del factor de salud es la de Aave v3 (aave.com/docs): suma de colateral × umbral de liquidación ÷ deuda total. El 80 % es un valor de EJEMPLO para el cálculo; cada activo tiene el suyo y cambia por gobernanza. Mencionar que Aave ya anunció una v4; la referencia del curso es v3.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calculados con un script (factor inicial 1,6; precio de liquidación 1 250; con ETH a 1 200 el factor es 0,96; tras liquidar 50 %, 1,08). La bonificación del 5 % es de EJEMPLO: en Aave cada activo tiene la suya. El 50 %/100 % con umbral 0,95 está en la documentación de Aave v3.3 (github.com/aave-dao/aave-v3-origin, docs/3.3). Error típico: 'el protocolo me avisa antes'; no hay aviso: bots liquidan en el primer bloque en que se puede.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Sky: MakerDAO cambió de nombre a Sky el 27-ago-2024 y lanzó USDS; DAI sigue existiendo y se puede convertir 1:1 a USDS. ⚠ VERIFICAR ANTES DE DICTAR la composición actual del colateral de DAI/USDS (hoy incluye stablecoins y activos del mundo real, no solo cripto): no afirmar porcentajes sin revisar su tablero público.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verificadas: Richmond Fed, Economic Brief 22-24 (richmondfed.org, 'Why Stablecoins Fail: An Economist's Post-Mortem on Terra'), para el pico de 18 000 millones, los 16 000 en Anchor, el 19,5 % y los 1 500 millones del LFG. El mecanismo 1 UST ↔ 1 USD de LUNA está descrito igual en el comunicado del DOJ (SDNY, 11-dic-2025).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verificadas el 17-sep-2026: Richmond Fed EB 22-24 (fechas 7-12 mayo, 0,985, 0,60, 48 %, oferta de 0,4 a 32 mil millones, 0,01 USD); comunicado del DOJ-SDNY del 11-dic-2025 (sentencia de 15 años; pérdidas de más de 40 000 millones; valor combinado UST+LUNA superior a 50 000 millones en su pico; apuntalamiento secreto de mayo de 2021 por una 'Trading Firm'). Buen tema para el ensayo de RA7.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Dirección, 1 %, 3 600 s y 8 decimales tomados de docs.chain.link (Price Feed Contract Addresses → Ethereum → Sepolia, 'More details') el 17-sep-2026. La lectura 244571660075 se hizo ese día con scripts/s14/leer-chainlink.js --network sepolia; el feed respondió 'ETH / USD' en description(). Chainlink agrega respuestas de muchos operadores de nodos; eso reduce, no elimina, la confianza.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Mango Markets: exploit de octubre de 2022 por unos 110 millones; condenado por jurado en abril de 2024; el 23-may-2025 el juez Arun Subramanian anuló las condenas (fuentes: CoinDesk 24-may-2025, TRM Labs). No afirmar más detalles jurídicos. La prueba ★ 'una sola compra grande multiplica el precio spot' del laboratorio demuestra el mecanismo; OraculoConsumidor implementa la defensa de precio rancio y no positivo.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CoinDesk 17-abr-2022 (Beanstalk, 182 millones; préstamo de ~1 000 millones desde Aave según Merkle Science/Halborn) y Chainalysis (Euler, 13-mar-2023, ~196-197 millones según la fuente). Posible por la atomicidad de la S5: o todo, o nada. El vínculo con la S15: el ataque a Beanstalk fue a la GOBERNANZA.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Anchor cierra el círculo con A.12: el 19,5 % era la razón para tener UST, y ese rendimiento lo sostenían subsidios. Recordar: esto no es asesoría financiera; es análisis de mecanismos.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tabla es la base de la pregunta de riesgo del bloque C. La S16 retoma el riesgo regulatorio colombiano.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2 minutos. Luego la pregunta de verificación y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flash loan de USDC → compra ETH en el pool y sube el spot (con 10 000 USDC el precio pasa de 2 000 a 4 495,50) → deposita ETH como colateral valorado al precio inflado y pide prestados más USDC de lo que vale → devuelve el flash loan; el protocolo queda con deuda sin cubrir. Defensas: usar un feed agregado (Chainlink) o un TWAP en vez del spot, y límites de variación/antigüedad. El 4 495,50 sale de scripts/s14/pool-en-numeros.js (nuevo spot tras 10 000 TUSD). Luego pausa de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en PDF: laboratorios-evm/guias/s14-defi-oraculos-amm.pdf. Tres partes: AMM (30 min), oráculo (20), hoja (15). Punto de control a los 30 minutos: 15 pruebas del pool en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Verificado el 17-sep-2026: support.uniswap.org ('Testnets on Uniswap') lista Sepolia y Unichain como testnets soportadas en la interfaz; se activa en Configuración → modo testnet. ⚠ VERIFICAR ANTES DE DICTAR si se va a hacer la extensión en Uniswap: probar el flujo completo con la billetera del curso (el docente no pudo probarlo sin firmar).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Conteo verificado con el andamiaje intacto: 3 pruebas pasan (las de agregar liquidez, que ya viene hecha) y 12 fallan. No proyectar el segundo bloque de código hasta el minuto 20. El orden CEI de intercambiar es el de la S9: las reservas se actualizan antes de mover tokens.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Salida tomada de una corrida real. Respuestas: k sube porque el 0,30 % de comisión se queda en las reservas; la pérdida medida es menor porque la comisión que pagó el arbitrajista quedó para el LP. El gas de intercambiar (69 751) es de esa corrida y puede variar levemente.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Lectura real con el script el 17-sep-2026 por la tarde (hora de Colombia; la marca es UTC). El roundId es enorme porque codifica la fase del agregador en los bits altos: no es un contador simple. El margen de 7 200 s (dos heartbeats) evita rechazar un precio sano por segundos. Si Sepolia no tiene ETH, el docente distribuye.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generada con scripts/s14/generar-plantilla-pi.py (openpyxl); se verificó recalculando en LibreOffice que la versión resuelta marca ✔ en las cuatro filas. La versión resuelta está en evaluaciones/lab-s14 (repositorio privado). 3 minutos de explicación; 15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preguntando en qué parte está cada pareja. Si varias parejas caen en la misma fila, explicarla en voz alta a todo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evidencia es parte de 'Laboratorios S14-S16' (4 % de la nota final, plan sección 9). La política del curso exige evidencia en cadena: aquí es el despliegue verificado del OraculoConsumidor.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tiene razón. La diferencia no es redondeo: es la comisión del 0,30 % que pagó el arbitrajista (sobre 20 000 TUSD) y que quedó en las reservas, a favor del LP. Con comisión 0 %, la medida coincidiría con la fórmula salvo por el redondeo entero de Solidity, que es del orden de 10^-18.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en equipos de proyecto. Producto: una tabla de riesgos de cuatro filas que va a docs/SEGURIDAD.md y se revisa en el Avance 2 (S16).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por los equipos. Ejemplos de 'no aplica' correcto: un registro de certificados que no maneja valor ni lee precios. Ejemplo de riesgo real: un marketplace de boletas que acepta una stablecoin (riesgo de emisor y de congelamiento).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comprobación de antigüedad (PrecioViejo) y de precio positivo (PrecioInvalido): si el feed queda rancio en una caída, el contrato vendería boletas a un precio de ETH viejo y más alto, cobrando de menos. Antigüedad razonable: algo mayor que el heartbeat de 3 600 s (por ejemplo 7 200 s), nunca 'sin límite'.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¿quién paga el 19,5 %? (subsidios de una reserva que se agota) y ¿qué respalda el dólar? (solo la disposición a comprar LUNA). Ambas desinflan la promesa sin necesidad de predecir la fecha de la caída. Retomar en la apertura de la S15.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advertencia: nada de lo visto hoy es recomendación de inversión. Recordar entregar el laboratorio y traer el keystore funcionando a la S15 (se despliega un Governor).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COMPONER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1556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9744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UNIDAD IV · ECOSISTEMA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389120" y="1719072"/>
            <a:ext cx="7269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DEFI: DINERO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LEGO, Y SUS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GRIETAS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389120" y="422452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Cambiar, prestar y crear dinero estable con contratos. Hoy con números propios: cómo funciona, y sobre todo cómo falla.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51206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Medellín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DE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VAMOS A USAR LAS TRES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de 10 minutos y pausa de 10 entre A y B. Cada número de hoy está calculado por un contrato o un script del laboratorio: pueden rehacerlo todo.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11057839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572768" y="2596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PRIMITIVAS Y RIESGOS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72768" y="2926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y pérdida impermanente, préstamos, stablecoins y UST, oráculos, flash loans, rendimiento.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704527" y="2468880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~75 min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675888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572768" y="3803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 14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72768" y="41330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mini-AMM x·y=k, el oráculo de Chainlink en Sepolia y la hoja de pérdida impermanente.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704527" y="367588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~65 min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882896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572768" y="5010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572768" y="53400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primitiva DeFi toca su proyecto y qué riesgo asume?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704527" y="488289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PROPÓSITO DE LA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SALIR DE AQUÍ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1887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Comprender las primitivas financieras en cadena y sus riesgos técnicos, midiendo cada una con código propio.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PREGUNTAS QUE LA SESIÓN RESPONDE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25296" y="363016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pone precio un AMM sin libro de órdenes, y por qué las órdenes grandes salen caras?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5296" y="4197096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pierde exactamente quien aporta liquidez cuando el precio se mueve?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4700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25296" y="4764024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préstamo DeFi exige más garantía que lo prestado, y qué es el factor de salud?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5296" y="5330952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oráculos y flash loans concentran los ataques, y por qué cayó UST?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01675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 · justificar arquitecturas  ·  RA5 · riesgos y seguridad  ·  RA7 · implicaciones económicas y éticas.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VOCABULARIO DE LA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SIGLAS Y TÉRMINOS DE HOY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737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98648" y="1810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Market Maker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2121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con dos reservas que fija el precio con una fórmula (x · y = k) en vez de emparejar órdenes.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05576" y="1737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05576" y="1737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1608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37296" y="1810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provider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61608" y="2121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deposita las dos reservas en el pool y cobra las comisiones. Recibe participaciones.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2880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" y="2880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SLIPPAGE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98648" y="2953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deslizamiento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" y="3264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entre el precio esperado y el obtenido. Se acota con un «mínimo a recibir».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05576" y="2880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05576" y="2880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61608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37296" y="2953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impermanente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61608" y="3264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LP tiene de menos frente a solo conservar los dos activos, cuando el precio cambia.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4023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4023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DE SALUD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98648" y="4096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factor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2960" y="4407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ajustada por riesgo ÷ deuda. Por debajo de 1, cualquiera puede liquidar la posición.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05576" y="4023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05576" y="4023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61608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STABLECOIN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537296" y="4096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estable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61608" y="4407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que busca valer 1 USD: respaldada en dinero, en cripto, o «algorítmica».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66928" y="5166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" y="5166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5239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ORÁCULO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898648" y="5239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22960" y="5550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que publica en la cadena un dato de afuera, como el precio ETH/USD.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205576" y="5166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05576" y="5166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61608" y="5239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 LOAN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537296" y="5239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 relámpago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461608" y="5550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 sin garantía que se pide y se devuelve en la MISMA transacción, o todo se revierte.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75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PRIMITIVAS Y RIESGOS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es un puñado de piezas que se combinan sin pedir permiso. Esa composabilidad es su fuerza y, cuando algo falla, su forma de propagar el daño.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QUÉ ES DEFI Y QUÉ DICE RESOLVER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SERVICIOS FINANCIEROS HECHOS DE CONTRATOS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replica servicios financieros —cambiar un activo por otro, prestar, pedir prestado, ganar interés— con contratos públicos. No hay una entidad que apruebe, custodie ni pueda excluir a nadie: hay código y una billetera.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6974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880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PROMETE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326440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sin permiso: basta una billetera, sin historial bancario.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públicas y verificables: el código está en la cadena.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Liquidación en minutos, a cualquier hora, sin intermediario.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3008" y="26974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07328" y="2880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TRAE CONSIGO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07328" y="326440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entidad no hay a quién reclamar: un error de código es definitivo.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asume riesgos que antes gestionaba un banco.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los usos reales son especulativos, no inclusión financiera.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5120640"/>
            <a:ext cx="11057839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34009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3856" y="53126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5632704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«Sin intermediario significa sin riesgo de contraparte». El riesgo no desaparece: se muda al código, al oráculo, a la gobernanza y al emisor de la stablecoin. Hoy vamos a nombrar a cada uno.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 · COMPOSABILIDAD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DINERO LEGO: PIEZAS QUE SE ENCAJAN SOLAS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los contratos son públicos y cualquiera puede llamarlos, cada pieza se usa como bloque de otra sin pedir permiso. Una sola transacción puede atravesar cuatro protocolos: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560320"/>
            <a:ext cx="2377440" cy="10972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STABLECOIN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9626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dólar en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62656" y="3108960"/>
            <a:ext cx="374904" cy="914"/>
          </a:xfrm>
          <a:prstGeom prst="line">
            <a:avLst/>
          </a:prstGeom>
          <a:noFill/>
          <a:ln w="25400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55848" y="2560320"/>
            <a:ext cx="2377440" cy="109728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PRÉSTAMO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47288" y="29626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deposita ETH,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stablecoins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51576" y="3108960"/>
            <a:ext cx="374904" cy="914"/>
          </a:xfrm>
          <a:prstGeom prst="line">
            <a:avLst/>
          </a:prstGeom>
          <a:noFill/>
          <a:ln w="25400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44768" y="2560320"/>
            <a:ext cx="2377440" cy="10972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36208" y="29626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40496" y="3108960"/>
            <a:ext cx="374904" cy="914"/>
          </a:xfrm>
          <a:prstGeom prst="line">
            <a:avLst/>
          </a:prstGeom>
          <a:noFill/>
          <a:ln w="25400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933688" y="2560320"/>
            <a:ext cx="2377440" cy="109728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2512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AGREGADOR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25128" y="29626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el mejor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entre AMM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3886200"/>
            <a:ext cx="5391760" cy="22402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41248" y="40690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FUERZA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1248" y="4453128"/>
            <a:ext cx="484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tuvo que firmar un convenio para que el agregador use el AMM, ni el AMM la stablecoin. Innovar es escribir un contrato que llama a otros.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33008" y="3886200"/>
            <a:ext cx="5391760" cy="224028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07328" y="40690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GRIETA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07328" y="4453128"/>
            <a:ext cx="484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stablecoin pierde su valor, fallan a la vez el préstamo que la acepta como garantía, el AMM que la cotiza y todo lo que se apoya en ellos. El contagio también es componible.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A.3 · EL AMM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PONER PRECIO CON UNA FÓRMULA, NO CON UN LIBRO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bolsa tradicional empareja compradores y vendedores en un libro de órdenes. Un AMM guarda dos reservas y deja que cualquiera cambie una por otra, siempre que el producto de las reservas no baje.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743200"/>
            <a:ext cx="11057839" cy="566928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816352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y = k        precio del ETH = y ÷ x        (x = ETH en el pool, y = USDC en el pool)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146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POOL DE EJEMPLO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ETH (x) y 20 000 USDC (y)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= x · 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200 000: la curva sobre la que se mueve el pool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Precio spot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20 000 ÷ 10 = 2 000 USDC por 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Comisión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0,30 % de cada entrada, que se queda en el pool (como Uniswap v2)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502152"/>
            <a:ext cx="11094415" cy="17282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53949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fija el precio: sale del balance del pool. Si alguien saca ETH, x baja, y sube, y el ETH que queda se encarece. El arbitraje con otros mercados mantiene el precio cerca del «real».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A.4 · EJEMPLO TRABAJADO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COMPRAR ETH CON 2 000 USDC, PASO A PASO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17373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COMISIÓN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66160" y="1828800"/>
            <a:ext cx="7948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 2 000 USDC. El 0,30 % se queda en el pool: entrada neta = 2 000 × 0,997 = 1 994.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478024"/>
            <a:ext cx="11057839" cy="65836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47802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660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NUEVA RESERVA 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66160" y="2569464"/>
            <a:ext cx="7948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calcular la salida: y' = 20 000 + 1 994 = 21 994.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218688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218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NUEVA RESERVA X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66160" y="3310128"/>
            <a:ext cx="7948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 no puede bajar: x' = 200 000 ÷ 21 994 = 9,0934 ETH.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3959352"/>
            <a:ext cx="11057839" cy="65836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39593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142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566160" y="4050792"/>
            <a:ext cx="7948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10 − 9,0934 = 0,906611 ETH. No 1 ETH, aunque el spot decía 2 000.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700016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7000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48828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566160" y="4791456"/>
            <a:ext cx="7948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9,0934 ETH y 22 000 USDC · precio 2 419,34 · k = 200 054,56 (creció: la comisión).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78815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= y_sal · entrada_neta ÷ (x_ent + entrada_neta) = 10 × 1 994 ÷ 21 994 = 0,906610893880149131 ETH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A.5 · SLIPPAGE E IMPACTO DE PRECIO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CUANTO MÁS GRANDE LA ORDEN, PEOR EL PRECIO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743200"/>
                <a:gridCol w="31939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USDC QUE ENTRAN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 QUE SALEN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PRECIO PROMEDIO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PEOR QUE EL SPOT (2 000)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0,049603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2 016,02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0,906611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2 206,02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3,326660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3 006,02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16367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3520440"/>
            <a:ext cx="5391760" cy="16916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370332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HAY DENTRO DE ESE «PEOR»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41248" y="4087368"/>
            <a:ext cx="484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0,30 % es la comisión. El resto es impacto de precio: la orden mueve la curva. Con 100 USDC es 0,5 %; con 10 000 (la mitad del pool) es 50 %. Un pool grande sufre menos.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33008" y="3520440"/>
            <a:ext cx="5391760" cy="169164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07328" y="370332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DEFIENDE EL USUARIO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507328" y="4087368"/>
            <a:ext cx="484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cotiza y el usuario fija un MÍNIMO a recibir (tolerancia, p. ej. 1 %). Si entre la cotización y la ejecución el precio empeora más, el contrato revierte y no se pierde nada.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5349240"/>
            <a:ext cx="11057839" cy="79552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686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33856" y="55412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04672" y="5861304"/>
            <a:ext cx="105823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tolerancia «100 %» para que la transacción no falle: es regalarle la diferencia a quien se adelante (sandwich).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A.6 · PROVEEDORES DE LIQUIDEZ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 PONE LAS RESERVAS, Y QUÉ GANA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 no tiene dueño: lo llenan proveedores de liquidez (LP) que depositan los dos activos en la proporción del precio actual. A cambio reciben participaciones, un token que representa su fracción del pool.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03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MOMENTO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PASA (CON EL CONTRATO DEL LABORATORIO)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Primer depósito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ETH + 20 000 USDC → √(10 × 20 000) = 447,21 participaciones. Fija el precio inicial.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Segundo depósito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Ofrece 1 ETH y 5 000 USDC; el pool solo toma 2 000 (la proporción) → 44,72 participaciones.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Cada intercambio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0,30 % de la entrada queda en las reservas: k crece y cada participación vale más.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Retiro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participaciones y saca su fracción de AMBAS reservas, en la proporción de ese momento.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724912"/>
            <a:ext cx="11094415" cy="22768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5120640"/>
            <a:ext cx="11057839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34009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53126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04672" y="5632704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«Deposito 1 ETH y 2 000 USDC, y retiro lo mismo más comisiones». No: se retira la proporción del momento. Si el precio cambió, vuelven MÁS de un activo y MENOS del otro. Eso es la lámina siguiente.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A.7 · EL COSTO DE PROVEER LIQUIDEZ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PÉRDIDA IMPERMANENTE, CON NÚMEROS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LP deposita 1 ETH + 2 000 USDC con ETH a 2 000 (k = 2 000). El arbitraje lleva el pool al precio de mercado. Al retirar, ¿cuánto tiene frente a no haber hecho nada?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68880"/>
          <a:ext cx="11057839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1554480"/>
                <a:gridCol w="1645920"/>
                <a:gridCol w="1463040"/>
                <a:gridCol w="1417320"/>
                <a:gridCol w="15937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ESCENARIO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ETH EN EL POOL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USDC EN EL POOL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POOL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 CONSERVA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PÉRDIDA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· ETH cae a 1 000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1 414,21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2 828,43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5,72 %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· ETH sube a 4 000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0,7071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2 828,43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5 656,85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5,72 %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· ETH sube a 8 000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4 000,00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8 000,00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450592"/>
            <a:ext cx="11094415" cy="16367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4251960"/>
            <a:ext cx="11057839" cy="50292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4325112"/>
            <a:ext cx="107286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 en el pool = 1 ÷ √r   ·   USDC en el pool = 2 000 × √r   ·   pérdida = 1 − 2√r ÷ (1 + r)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846320"/>
            <a:ext cx="5391760" cy="129844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41248" y="502920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PASA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41248" y="5413248"/>
            <a:ext cx="484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 vende el que sube y compra el que baja. El arbitrajista se lleva la diferencia; el LP la paga.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3008" y="4846320"/>
            <a:ext cx="5391760" cy="1298448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07328" y="502920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«IMPERMANENTE»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507328" y="5413248"/>
            <a:ext cx="484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precio vuelve a 2 000, desaparece. Se vuelve permanente cuando el LP retira.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 · SIMETRÍA Y MEDIDA REAL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SUBIR ×2 DUELE IGUAL QUE BAJAR ÷2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1463040"/>
                <a:gridCol w="1371600"/>
                <a:gridCol w="1371600"/>
                <a:gridCol w="1371600"/>
                <a:gridCol w="141091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CAMBIO DE PRECIO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×1,25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×2 O ÷2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×10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pérdida vs. conservar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9052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278892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fórmula depende de r y de 1/r de la misma forma: por eso A y B dan igual. Y crece rápido con el tamaño del movimiento, en cualquier dirección.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66928" y="3566160"/>
            <a:ext cx="5394960" cy="150876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" y="3730752"/>
            <a:ext cx="50292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19,90 %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49808" y="4441241"/>
            <a:ext cx="50292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MEDIDA en cadena con el contrato PoolXYK cuando un arbitrajista lleva el precio a 7 988 (r = 3,994). La fórmula da 19,96 %.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0488" y="3566160"/>
            <a:ext cx="5434279" cy="150876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73368" y="3730752"/>
            <a:ext cx="5068519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7152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38 días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373368" y="4441241"/>
            <a:ext cx="5068519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comisiones para compensar un 5,72 % en un pool de 40 000 USDC que mueve 20 000 USDC al día (0,30 % → 60 USDC/día).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5257800"/>
            <a:ext cx="11057839" cy="8869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47725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33856" y="54498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04672" y="5769864"/>
            <a:ext cx="1058235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Mirar solo las comisiones cobradas. Ser LP es rentable solo si las comisiones superan la pérdida impermanente del período.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A.9 · PRÉSTAMOS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PRESTAR SIN CONOCER A NADIE: SOBRECOLATERAL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banco presta según tu historial y te puede demandar. Un contrato no sabe quién eres ni puede embargarte. Solo le queda una garantía: que dejes en depósito MÁS valor del que te llevas, y venderla si hace falta.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394960"/>
                <a:gridCol w="31939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PARÁMETRO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EJEMPLO DE HOY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Colateral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se deja en garantía, a precio del oráculo.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ETH a 2 000 = 2 000 USD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Umbral de liquidación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fracción del colateral cuenta para cubrir la deuda. Lo fija la gobernanza por activo.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80 % (valor de ejemplo)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Deuda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prestado, más intereses que crecen con el tiempo.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1 000 USDC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 de salud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colateral × umbral ÷ deuda. Menor que 1: liquidable.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× 0,8 ÷ 1 000 = 1,6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724912"/>
            <a:ext cx="11094415" cy="23682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525780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pedir 1 000 dejando 2 000? Para tener liquidez sin vender el ETH (y sin el evento tributario de venderlo), o para apalancarse. En ambos casos se apuesta a que el ETH no caiga mucho.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A.10 · EJEMPLO TRABAJADO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ETH CAE: CUÁNDO Y CÓMO SE LIQUIDA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17373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DE LIQUIDACIÓN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23360" y="1828800"/>
            <a:ext cx="7491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= 1 cuando P × 0,8 ÷ 1 000 = 1 → P = 1 250. Una caída del 37,5 % basta.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478024"/>
            <a:ext cx="11057839" cy="65836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47802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660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 A 1 200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3360" y="2569464"/>
            <a:ext cx="7491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= 1 200 × 0,8 ÷ 1 000 = 0,96. Ya es liquidable, sin aviso ni plazo.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218688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218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LIQUIDADOR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023360" y="3310128"/>
            <a:ext cx="7491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500 USDC de la deuda (el 50 %) y recibe 500 × 1,05 ÷ 1 200 = 0,4375 ETH: 5 % de bonificación.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3959352"/>
            <a:ext cx="11057839" cy="65836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39593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142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23360" y="4050792"/>
            <a:ext cx="7491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Quedan 0,5625 ETH (675 USD) y 500 de deuda: factor 675 × 0,8 ÷ 500 = 1,08.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700016"/>
            <a:ext cx="11057839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7000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48828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CUENTA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23360" y="4791456"/>
            <a:ext cx="7491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prestatario perdió 25 USD de bonificación más su exposición. El liquidador ganó 25 en segundos.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Aave v3 el liquidador puede pagar hasta el 50 % de la deuda por vez, y hasta el 100 % si el factor cae por debajo de 0,95.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A.11 · STABLECOINS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FORMAS DE INTENTAR VALER 1 DÓLAR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  <a:gridCol w="2194560"/>
                <a:gridCol w="301111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CÓMO SOSTIENE EL VALOR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EJEMPLOS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 QUÉ HAY QUE CONFIAR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Respaldada en dinero (fiat)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emisor guarda reservas en dólares o bonos y redime 1 a 1.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USDC, USDT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emisor, sus reservas y sus auditorías. Puede congelar direcciones.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Respaldada en cripto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Préstamos sobrecolateralizados, como A.9, que acuñan la moneda.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 (MakerDAO, hoy Sky)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colateral y en que las liquidaciones funcionen en caídas bruscas.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Algorítmica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reservas suficientes: incentivos de acuñar y quemar otro token.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UST (Terra), 2020-2022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que siempre haya alguien dispuesto a comprar. Lámina siguiente.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14553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5029200"/>
            <a:ext cx="11057839" cy="11155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486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2212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541264"/>
            <a:ext cx="105823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«Una stablecoin es un dólar». Es un pasivo de alguien, o de un mecanismo. Su riesgo es el de ese alguien o ese mecanismo: congelamiento, falta de reservas, o una espiral de pánico.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A.12 · EL MECANISMO DE UST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TERRA/UST: UN DÓLAR RESPALDADO POR CONFIANZA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promesa del protocolo: 1 UST siempre se puede cambiar por 1 dólar EN LUNA, el otro token de Terra, y al revés. Si UST vale menos de 1, conviene quemarlo por LUNA y ganar la diferencia; ese arbitraje debía devolverlo a 1.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834640"/>
            <a:ext cx="3291840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 CAE A 0,90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3236976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 quema UST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recibe 1 USD en LUNA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04488" y="3310128"/>
            <a:ext cx="502920" cy="914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53128" y="2834640"/>
            <a:ext cx="3291840" cy="9601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ACUÑA MÁS LUNA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44568" y="3236976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vende enseguida: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baja de precio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90688" y="3310128"/>
            <a:ext cx="502920" cy="914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339328" y="2834640"/>
            <a:ext cx="3285439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0768" y="2926080"/>
            <a:ext cx="31025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 QUE ACUÑAR AÚN MÁS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30768" y="3236976"/>
            <a:ext cx="31025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dólar pide más LUNA: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espiral de muerte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344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DATO (RICHMOND FED, 2022)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UST en circulación en su pico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18 000 millones de USD, de los cuales ≈ 16 000 depositados en Anchor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Interés que pagaba Anchor sobre UST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19,5 % anual: la razón principal para tener 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 desplegada por el LFG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millones de USD, frente a 18 000 millones en circulación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48640" y="4005072"/>
            <a:ext cx="11094415" cy="14538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55778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arbitraje solo funciona mientras alguien quiera comprar LUNA. Cuando la confianza se va, el mecanismo acelera la caída en vez de frenarla.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A.13 · LA CAÍDA, CON FECHAS VERIFICADAS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MAYO DE 2022: DE 1 DÓLAR A CENTAVOS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61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FECHA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PASÓ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Mayo de 2021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UST cae por debajo de 0,92. Se presentó como prueba de que el algoritmo funcionaba; según la justicia de EE. UU., lo recuperó en secreto una firma de trading comprando UST.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7-8 may 2022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Salidas grandes de UST del pool de Curve (≈ 6 % de su capitalización): UST baja a 0,985.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 may 2022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LUNA cae 48 % en un día; UST toca 0,60 en Binance. El LFG anuncia 1 500 millones en defensa.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may 2022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oferta de LUNA pasa de 0,4 a 32 mil millones de tokens; LUNA vale ≈ 0,01 USD.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 dic 2025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Kwon, fundador de Terraform, condenado a 15 años de prisión en Nueva York; la fiscalía cifra las pérdidas en más de 40 000 millones.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4198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5257800"/>
            <a:ext cx="11057839" cy="886968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4772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4498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LECCIÓN DE DISEÑO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769864"/>
            <a:ext cx="1058235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mecanismo que depende de la confianza falla justo cuando la confianza falla. No hubo un bug: el diseño hizo lo que decía.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A.14 · ORÁCULOS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CONTRATO NO PUEDE MIRAR AFUERA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nodo debe llegar al mismo resultado (S5): un contrato no puede consultar una API. El precio ETH/USD que usan préstamos y stablecoins lo publica en la cadena un ORÁCULO, y el contrato confía en él.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743200"/>
            <a:ext cx="11057839" cy="141732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1635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 UN PRICE FEED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8096" y="3127248"/>
            <a:ext cx="1065550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Chainlink ETH/USD en Sepolia, verificado en docs.chain.link el 17-sep-2026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AggregatorV3Interface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AggregatorV3Interface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x694AA1769357215DE4FAC081bf1f309aDC325306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8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int256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8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uint256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latestRoundData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real ese día: answer = 244571660075  → 2 445,72 USD (8 decimales)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4340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58457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CARACTERÍSTICA DEL FEED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EN SEPOLIA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IMPLICA PARA QUIEN LO CONSUME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Umbral de desviación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actualiza si el precio se mueve más de 1 %…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Heartbeat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3 600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…o al menos una vez por hora. Más viejo = rancio.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 que normalizar antes de operar con tokens de 18.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4325112"/>
            <a:ext cx="11094415" cy="18196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A.15 · MANIPULACIÓN DE ORÁCULOS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QUIEN MUEVE EL PRECIO, MUEVE EL CONTRATO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caro de DeFi: usar como oráculo el precio spot de un AMM. En el laboratorio, una sola compra de 100 000 TUSD lleva el precio del pool de 2 000 a más de 70 000 dentro de la misma transacción.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743200"/>
            <a:ext cx="5391760" cy="224028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9260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ATAQUE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3310128"/>
            <a:ext cx="484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capital prestado por unos segundos.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el precio del pool que usa la víctima.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prestado contra un colateral «inflado», o liquidar a otros.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Devolver el préstamo; el pool vuelve; la víctima queda con la deuda.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3008" y="2743200"/>
            <a:ext cx="5391760" cy="224028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07328" y="29260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DEFENSAS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07328" y="3310128"/>
            <a:ext cx="484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que agregan muchas fuentes (Chainlink).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promediados en el tiempo (TWAP), no spot.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Rechazar precios rancios o no positivos.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variación: si salta más de X %, pausar.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5120640"/>
            <a:ext cx="11057839" cy="1024128"/>
          </a:xfrm>
          <a:prstGeom prst="rect">
            <a:avLst/>
          </a:prstGeom>
          <a:solidFill>
            <a:srgbClr val="F2F0F5"/>
          </a:solidFill>
          <a:ln w="22225">
            <a:solidFill>
              <a:srgbClr val="0F0F1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34009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3856" y="53126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MANGO MARKETS, OCTUBRE DE 2022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5632704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operador infló el precio del token MNGO y retiró unos 110 millones de USD. En 2025 un juez anuló sus condenas penales: ¿es «código es ley» o es fraude? Pregunta abierta para el ensayo.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A.16 · FLASH LOANS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MILLONES PRESTADOS POR UNA TRANSACCIÓN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60020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1051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IDEA (ESQUEMA, NO LA INTERFAZ EXACTA DE UN PROTOCOLO)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8096" y="2121408"/>
            <a:ext cx="1065550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ejecutarOperacion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8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uint256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8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uint256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comision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 llama el prestamista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ya tengo «monto» en mi saldo, sin garantía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hago lo que quiera: arbitrar, liquidar, … o atacar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devuelvo monto + comisión antes de terminar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prestamista, al final: if (saldo &lt; antes + comision) revert  → como si nada hubiera pasado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7472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74002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CASO VERIFICADO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FECHA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HIZO EL FLASH LOAN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Beanstalk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abr 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1 000 millones prestados para comprar votos por una transacción y aprobar una propuesta que vació 182 millones.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Euler Finance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mar 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prestado para explotar una comprobación de liquidez faltante: ≈ 197 millones.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456432"/>
            <a:ext cx="11094415" cy="14538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" y="5029200"/>
            <a:ext cx="11057839" cy="11155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486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52212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TÍPICO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04672" y="5541264"/>
            <a:ext cx="105823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 flash loan fue el ataque». No: es el amplificador. Convierte un fallo pequeño en una pérdida enorme sin que el atacante sea rico. La defensa es no tener el fallo.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A.17 · DE DÓNDE SALE EL RENDIMIENTO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PREGUNTA QUE DESINFLA EL HUMO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cualquier «rendimiento del X %», la pregunta profesional no es cuánto, sino quién lo paga. Si no hay respuesta clara, suele ser «los próximos que entren».</a:t>
            </a:r>
            <a:endParaRPr lang="en-US" sz="14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169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FUENTE DEL RENDIMIENTO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QUIÉN PAGA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¿SOSTENIBLE?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Comisiones de un AMM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Quien intercambia (0,30 % en el ejemplo).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mientras haya volumen; menos la pérdida impermanente.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Intereses de préstamos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Quien pide prestado.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mientras haya demanda de crédito.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Emisión del token propio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Nadie: se diluye a los demás tenedores.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mientras el token valga.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Subsidio del protocolo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reserva que se agota (Anchor: ≈ 19,5 % sobre UST).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termina cuando se acaba la reserva.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496312"/>
            <a:ext cx="11094415" cy="23225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4983480"/>
            <a:ext cx="11057839" cy="114300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50976" y="5166360"/>
            <a:ext cx="10289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ingeniero no pregunta «¿cuánto rinde?». Pregunta «¿quién lo paga, y qué pasa cuando deje de pagarlo?».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A.18 · EL MAPA DE RIESGOS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RIESGOS QUE NINGÚN RENDIMIENTO CUBRE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41998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RIESGO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EJEMPLO DE HOY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 contrato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error en el código custodia el dinero directamente.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Euler: una comprobación faltante (A.16).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 oráculo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contrato cree un precio falso o viejo.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spot manipulable; feed rancio (A.14, A.15).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 gobernanza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Quien vota puede cambiar las reglas o vaciar la tesorería.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Beanstalk: votos comprados con un flash loan.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Regulatorio y de emisor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emisor congela fondos o un regulador prohíbe un servicio.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Stablecoins respaldadas en dinero (A.11); marco colombiano en la S16.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0540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4937760"/>
            <a:ext cx="11057839" cy="1207008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15721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1297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 DEL CURSO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449824"/>
            <a:ext cx="105823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esto se prueba con dinero real. Todo el laboratorio corre en la red local o en Sepolia. Y ninguna lámina de hoy es una recomendación de inversión: es el mapa de por qué estas cosas fallan.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A.19 · LO QUE HAY QUE LLEVARSE DEL BLOQUE 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 IDEAS SOBRE DEFI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44168" y="181051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AMM pone precio con x · y = k; 2 000 USDC compran 0,9066 ETH, no 1: comisión más impacto.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41401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44168" y="254203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LP paga la pérdida impermanente: 5,72 % si el precio se duplica o se reduce a la mitad.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14553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200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44168" y="327355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préstamos son sobrecolateralizados; con factor de salud &lt; 1, cualquiera liquida, sin aviso.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387705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9319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44168" y="400507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stablecoin es un pasivo: fiat, cripto o algorítmica. UST mostró que la confianza no es colateral.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460857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663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344168" y="473659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oráculo manipulable rompe todo lo que depende de él; el flash loan amplifica el fallo.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94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344168" y="546811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un rendimiento alto: quién lo paga y qué pasa cuando deje de pagarlo.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6928" y="607161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A.20 · CIERRE DEL BLOQUE 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 DE VERIFICACIÓN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73736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protocolo presta USDC contra ETH y lee el precio del ETH del pool de la lámina A.4. ¿Cómo lo ataca alguien sin capital propio, y qué dos cambios lo protegen?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RESPONDER, PIENSEN 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4069080"/>
            <a:ext cx="110578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pasa al precio spot del pool con una compra de 10 000 USDC (A.5).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saca el atacante esos 10 000 por unos segundos (A.16).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OraculoConsumidor que un precio spot no hace (A.14).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65 MINUTOS · EN PAREJAS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LABORATORIO 14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AMM x·y=k que ustedes completan y miden, el price feed real de Chainlink en Sepolia, y la pérdida impermanente en una hoja de cálculo que se autocomprueba.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B.1 · QUÉ VAN A HACER Y POR QUÉ ASÍ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DEX PROPIO EN VEZ DE UNO AJENO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169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HACEN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ARCHIVOS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688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· Mini-AMM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Completan cotizar, intercambiar y quitarLiquidez; miden slippage y pérdida impermanente en cadena.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andamiaje/s14/PoolXYK.sol · test/s14/PoolXYK.test.js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8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· Oráculo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Completan las defensas del consumidor y lo despliegan en Sepolia contra el feed real de Chainlink.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andamiaje/s14/OraculoConsumidor.sol · scripts/s14/leer-chainlink.js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88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· Hoja de cálculo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 escenarios de precio con fórmulas; la plantilla dice si coinciden.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guias/s14-plantilla-perdida-impermanente.xlsx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24140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4297680"/>
            <a:ext cx="11057839" cy="1847088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51713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44897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NO UNISWAP EN SEPOLIA (DECISIÓN VERIFICADA)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4809744"/>
            <a:ext cx="10582351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de Uniswap sí admite Sepolia en «modo testnet», pero los pools de prueba tienen poca liquidez y precios sin relación con el mercado, y cada paso exige tokens y ETH de prueba. Medir slippage así mide el caos del pool, no el mecanismo. Por eso el laboratorio usa un pool propio cuyo código leen y prueban. Quien quiera, puede repetir la parte 1 en Uniswap (Sepolia) como extensión opcional.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B.2 · PARTE 1 · PASOS 1 Y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POOL EN ROJO, Y LOS TRES TODO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23444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1051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LABORATORIOS-EVM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8096" y="2121408"/>
            <a:ext cx="1065550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andamiaje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PoolXYK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andamiaje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PoolXYK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PoolXYK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empezar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3154680"/>
            <a:ext cx="11057839" cy="224028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22783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ESENCIAL DE LA SOLUCIÓN (SE PROYECTA TRAS EL PUNTO DE CONTROL)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" y="3538728"/>
            <a:ext cx="10655503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 1 · cotizar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8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uint256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entradaNeta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montoEntrada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COMISION_BPS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× 9 970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entradaNeta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rEntrada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entradaNeta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multiplicar antes de dividir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 2 · intercambiar: checks → effects → interactions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cotizar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tokenEntrada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montoEntrada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SlippageExcedido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safeTransferFrom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safeTransfer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Intercambio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 3 · quitarLiquidez: montoX = participaciones * reservaX / totalSupply()  → _burn → transferir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553212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 a mano del TODO 1: con el pool de A.4, 2 000 TUSD deben dar exactamente 906 610 893 880 149 131 unidades (0,9066 TETH).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B.3 · PARTE 1 · PASO 3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MEDIR: SLIPPAGE Y PÉRDIDA EN CADENA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242316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1051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 (RED LOCAL)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8096" y="2121408"/>
            <a:ext cx="10655503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TUSD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049603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906611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2.206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326660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3.006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recibi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906611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897545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69751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0934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TUSD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22.000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200.054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2.419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arbitrajista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TUSD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7.988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9940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impermanente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medida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rmula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343400"/>
            <a:ext cx="5391760" cy="18013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" y="45262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SABER QUE FUNCIONÓ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1248" y="4910328"/>
            <a:ext cx="4843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coinciden con las láminas A.4, A.5 y A.8.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pérdida medida queda ≈ 0,06 puntos por debajo de la fórmula.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3008" y="4343400"/>
            <a:ext cx="5391760" cy="1801368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07328" y="45262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DEBEN EXPLICAR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07328" y="4910328"/>
            <a:ext cx="4843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k subió de 200 000 a 200 054,56.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pérdida medida es MENOR que la de la fórmula.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B.4 · PARTE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ORÁCULO: DEFENSAS Y SEPOLIA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60020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1051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8096" y="2121408"/>
            <a:ext cx="1065550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andamiaje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OraculoConsumidor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Oraculo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passing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ignition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ignition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OraculoConsumidor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CONSUMIDOR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"0x…"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chainlink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3474720"/>
            <a:ext cx="11057839" cy="160020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54787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REAL, 17-SEP-2026 (HORA UTC)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" y="3858768"/>
            <a:ext cx="1065550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Chainlink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x694AA1769357215DE4FAC081bf1f309aDC325306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roundId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18446744073709587749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244571660075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2445.71660075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00.000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2952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rancio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3600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52120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CONSUMIDOR definido, el script además llama precioEth(7200) de SU contrato: debe dar el mismo precio con 18 decimales. El despliegue verificado es la evidencia en cadena del laboratorio.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B.5 · PARTE 3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HOJA DE CÁLCULO QUE SE AUTOCOMPRUEBA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67665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173736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929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0" y="1828800"/>
            <a:ext cx="7857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guias/s14-plantilla-perdida-impermanente.xlsx en Excel, LibreOffice o Google Sheets.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496312"/>
            <a:ext cx="11057839" cy="676656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49631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688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0" y="2587752"/>
            <a:ext cx="7857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Llenar las celdas amarillas con FÓRMULAS: r, ETH y USDC en el pool, valores y pérdida.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255264"/>
            <a:ext cx="11057839" cy="67665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25526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COMPROBAR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0" y="3346704"/>
            <a:ext cx="7857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columna I dice «✔ coincide» si su fila iguala los valores esperados (A, B y C).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014216"/>
            <a:ext cx="11057839" cy="676656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401421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206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 PROPIO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0" y="4105656"/>
            <a:ext cx="7857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D: un precio final elegido por ustedes; se contrasta con 1 − 2√r ÷ (1 + r).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773168"/>
            <a:ext cx="11057839" cy="67665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77316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49651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0" y="4864608"/>
            <a:ext cx="7857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 y B dan igual? ¿Qué comisión anual compensaría el escenario C?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6928" y="55778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plantilla también existe en CSV con los valores esperados. Los números son los de la lámina A.7: si su hoja da otra cosa, la hoja está mal, no la lámina.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B.6 · ERRORES FRECUENTES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SUELE FALLAR EN ESTE LABORATORIO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02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SÍNTOMA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CAUSA Y SOLUCIÓN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cotizar da 0 o un número absurdo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Dividieron antes de multiplicar, u olvidaron multiplicar la reserva de entrada por 10 000.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baja después de un intercambio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Descontaron la comisión de la salida y no de la entrada, o sumaron la entrada neta a la reserva.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ERC20InsufficientAllowance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usuario no aprobó al pool. En las pruebas ya está hecho; en un script propio, approve primero.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PrecioViejo en Sepolia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maxAntiguedad menor que el heartbeat (3 600 s). Usen 7 200.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precioEth devuelve 10^10 veces más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Normalizaron con 10^18 en vez de 10^(18 − decimales).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2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hoja marca ✘ con valores «iguales»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Escribieron números redondeados en vez de fórmulas.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8770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7150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PDF amplía cada fila con el comando para diagnosticarlo.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B.7 · QUÉ SE ENTREGA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EVIDENCIA DEL LABORATORIO 14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400239"/>
                <a:gridCol w="1280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EVIDENCIA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DETALLE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PESO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6537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Mini-AMM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pruebas verdes con su código + salida de pool-en-numeros.js + las dos explicaciones de B.3.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7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Oráculo en Sepolia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pruebas verdes + contrato verificado en Sepolia + salida de leer-chainlink.js con CONSUMIDOR.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537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Hoja de cálculo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cuatro filas con ✔ (con fórmulas) + las dos respuestas de B.5.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7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Análisis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párrafo: un ataque real de hoy (oráculo o flash loan), qué falló y qué defensa del laboratorio lo habría evitado.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29626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4846320"/>
            <a:ext cx="11057839" cy="1298448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6577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0383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RECORDATORIO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358384"/>
            <a:ext cx="1058235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red local y Sepolia. La dirección de un contrato puede ir en una variable de entorno; la clave privada y la URL del RPC, solo en el keystore. Ninguna captura de la entrega puede mostrar una clave.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B.8 · CIERRE DEL BLOQUE B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 DE VERIFICACIÓN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73736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pool mide 19,90 % de pérdida impermanente y la fórmula dice 19,96 %. Un compañero dice que su contrato «tiene un error de redondeo». ¿Tiene razón?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RESPONDER, PIENSEN 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4069080"/>
            <a:ext cx="110578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cobró el pool al arbitrajista al llevar el precio a 7 988.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se le quedó ese cobro.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pasaría con la diferencia si la comisión fuera 0 %.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20 MINUTOS · EN EQUIPOS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PROYECTO FRENTE A DEFI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ningún proyecto del curso es DeFi puro, pero muchos rozan una primitiva: un precio, un token, un pago. Reconocer el riesgo que se asume es parte de hacerlo bien.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¿TOCA SU PROYECTO A DEFI?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PREGUNTAS DE RIESGO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¿Su contrato lee algún precio o dato externo? ¿De qué oráculo, con qué antigüedad máxima, y qué pasa si miente o se cae?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¿Custodia fondos que alguien querría drenar con capital prestado por una transacción? ¿Qué invariante lo impide?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¿Depende de que un token o una stablecoin mantenga su valor? ¿Quién es su emisor y qué pasa si congela o cae?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¿Alguna decisión se toma con un balance o un voto que se pueda inflar dentro de la misma transacción?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846320"/>
            <a:ext cx="11057839" cy="1298448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65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50383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DOCS/SEGURIDAD.MD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" y="5358384"/>
            <a:ext cx="1058235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por pregunta: riesgo, probabilidad, impacto y mitigación. «No aplica, porque…» es una respuesta válida y buena, si el porqué es correcto. La rúbrica final pregunta justo esto en el criterio de seguridad.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CIERRE DEL BLOQUE C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 DE VERIFICACIÓN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73736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equipo vende boletas en su contrato a precio fijo en USD y cobra en ETH, leyendo el precio de Chainlink. ¿Qué comprobación del laboratorio de hoy no puede faltar, y por qué?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RESPONDER, PIENSEN 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4069080"/>
            <a:ext cx="110578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 si el feed deja de actualizarse durante una caída.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dos errores personalizados tiene OraculoConsumidor.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antigüedad máxima es razonable para el feed de Sepolia.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AUTÓNOMO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PREGUNTA DE LA SEMANA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60020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UST prometía 19,5 % y un dólar estable. Con lo de hoy, ¿qué pregunta hubieran hecho ANTES de mayo de 2022 para no creerle?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6928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LA PRÓXIMA SESIÓN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977640"/>
            <a:ext cx="1105783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la evidencia del laboratorio 14 (pool, oráculo en Sepolia, hoja y análisis).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la tabla de riesgos DeFi del proyecto a docs/SEGURIDAD.md.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para la Sesión 15: DAOs, Governor y timelock. El ataque a Beanstalk vuelve allí.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el tema del ensayo individual (RA7): se plantea formalmente en la Sesión 15.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SE LLEVAN DE HOY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6928" y="2377440"/>
            <a:ext cx="1105783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DeFi, el que pregunta de dónde sale el rendimiento entiende más que el que pregunta cuánto rinde.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4343400"/>
            <a:ext cx="9960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Vieron las primitivas con números propios y, sobre todo, cómo fallan. La próxima sesión: quién manda en estos sistemas cuando no hay dueño.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5349240"/>
            <a:ext cx="11057839" cy="685800"/>
          </a:xfrm>
          <a:prstGeom prst="rect">
            <a:avLst/>
          </a:prstGeom>
          <a:solidFill>
            <a:srgbClr val="1C1B21"/>
          </a:solidFill>
          <a:ln w="12700">
            <a:solidFill>
              <a:srgbClr val="343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349240"/>
            <a:ext cx="10509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15 · DAOS, GOBERNANZA E IDENTIDAD DESCENTRALIZADA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14 · DeFi: finanzas descentralizadas</dc:title>
  <dc:subject>Sesión 14 · DeFi: finanzas descentralizadas</dc:subject>
  <dc:creator>Universidad de San Buenaventura Medellín</dc:creator>
  <cp:lastModifiedBy>Universidad de San Buenaventura Medellín</cp:lastModifiedBy>
  <cp:revision>1</cp:revision>
  <dcterms:created xsi:type="dcterms:W3CDTF">2026-09-18T01:19:20Z</dcterms:created>
  <dcterms:modified xsi:type="dcterms:W3CDTF">2026-09-18T01:19:20Z</dcterms:modified>
</cp:coreProperties>
</file>