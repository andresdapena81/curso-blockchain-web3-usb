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Abrir diciendo que hoy se trabaja al revés: del problema al código. Nada de lista de palabras del lenguaje; cada cosa aparece cuando hace falta. Remix ya abierto, compilador en 0.8.34, Value en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Preguntarles si alguno ha perdido un equipo prestado o se ha quedado sin el depósito. Dos o tres respuestas bastan: el objetivo es que el problema sea de ellos, no un ejemplo de libro.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lámina es el contrato de la clase: al final, todo esto tiene que funcionar en pantalla. Si al cierre algo de la tabla no corre, se dice por qué.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esta tabla a la vista mientras se despliega el paso 1. Es el mapa de la clase y se retoma al cierre.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se detiene un momento: es el concepto más valioso del paso 1. Si alguien pregunta por qué no se puede falsificar, remitir a la sesión 3 (firmas) sin entrar en detalle.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Silencio de tres segundos antes de recibir respuestas. Si nadie habla, reformular: «¿qué tendría que haber pasado cuando la cuenta 2 apretó el botón?». La palabra que se busca es: que se cayera.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alguien dice «que lo valide la aplicación»: es la respuesta equivocada más útil del día. Guardarla y contestar que cualquiera puede llamar al contrato sin pasar por la aplicación, como estamos haciendo nosotros desde Remix.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Alguien va a decir que sí, porque es lo que el código sugiere. Dejar que lo digan y luego contar el costo: cuarenta despliegues, cuarenta direcciones, y una corrección de regla multiplicada por cuarenta.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explicar todavía para qué sirve el campo `existe`: eso es la pregunta de este paso. Aquí solo se siembra.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Casi todos contestan false. Es la respuesta cómoda y es la equivocada: sin el campo `existe`, el mapping devuelve ceros y prestadoA sería address(0), o sea «disponible». El contrato diría que sí, y estaría mintiendo sobre un equipo que no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Dejar que discutan. Hay dos respuestas buenas y opuestas: «está mal porque es centralizado» y «está bien porque alguien tiene que administrar». Las dos sirven; lo que no sirve es no haberse dado cuenta.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Mencionar de pasada que en la sesión siguiente esto se reemplaza por Ownable de OpenZeppelin, que es este mismo código ya auditado y con transferencia de propiedad.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alguien pregunta por qué no usar una fecha legible: porque un uint64 cuesta menos y la conversión a fecha es trabajo de la interfaz, no de la cadena.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Alguien dirá «mandar un correo» o «bloquearlo». El contrato no puede hacer ninguna de las dos por sí mismo: no sale de la cadena. Lo único que puede hacer es mover valor que ya tiene adentro.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la pregunta más importante de la clase. Dejar que propongan; casi siempre alguien dice «para ahorrar gas», que no es la razón principal.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Pedirles que reconstruyan la tabla de memoria antes de proyectarla, en parejas, dos minutos. Es la mejor señal de si la clase funcionó.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suavizar el «no». La credibilidad del curso se construye en láminas como 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evidencia es la dirección del contrato desplegado y una captura de la transacción que revierte. Insistir: la que revierte, no la que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1.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3749040" cy="6858000"/>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1234440" y="2331720"/>
            <a:ext cx="1280160" cy="1280160"/>
          </a:xfrm>
          <a:prstGeom prst="rect">
            <a:avLst/>
          </a:prstGeom>
        </p:spPr>
      </p:pic>
      <p:sp>
        <p:nvSpPr>
          <p:cNvPr id="4" name="Text 1"/>
          <p:cNvSpPr/>
          <p:nvPr/>
        </p:nvSpPr>
        <p:spPr>
          <a:xfrm>
            <a:off x="137160" y="3794760"/>
            <a:ext cx="3474720" cy="640080"/>
          </a:xfrm>
          <a:prstGeom prst="rect">
            <a:avLst/>
          </a:prstGeom>
          <a:noFill/>
          <a:ln/>
        </p:spPr>
        <p:txBody>
          <a:bodyPr wrap="square" lIns="0" tIns="0" rIns="0" bIns="0" rtlCol="0" anchor="ctr"/>
          <a:lstStyle/>
          <a:p>
            <a:pPr algn="ctr" indent="0" marL="0">
              <a:buNone/>
            </a:pPr>
            <a:r>
              <a:rPr lang="en-US" sz="2700" dirty="0">
                <a:solidFill>
                  <a:srgbClr val="0F0F11"/>
                </a:solidFill>
                <a:latin typeface="Arial Black" pitchFamily="34" charset="0"/>
                <a:ea typeface="Arial Black" pitchFamily="34" charset="-122"/>
                <a:cs typeface="Arial Black" pitchFamily="34" charset="-120"/>
              </a:rPr>
              <a:t>CONSTRUIR</a:t>
            </a:r>
            <a:endParaRPr lang="en-US" sz="2700" dirty="0"/>
          </a:p>
        </p:txBody>
      </p:sp>
      <p:pic>
        <p:nvPicPr>
          <p:cNvPr id="5" name="Image 1" descr="preencoded.png">    </p:cNvPr>
          <p:cNvPicPr>
            <a:picLocks noChangeAspect="1"/>
          </p:cNvPicPr>
          <p:nvPr/>
        </p:nvPicPr>
        <p:blipFill>
          <a:blip r:embed="rId2"/>
          <a:stretch>
            <a:fillRect/>
          </a:stretch>
        </p:blipFill>
        <p:spPr>
          <a:xfrm>
            <a:off x="4389120" y="1115568"/>
            <a:ext cx="310896" cy="310896"/>
          </a:xfrm>
          <a:prstGeom prst="rect">
            <a:avLst/>
          </a:prstGeom>
        </p:spPr>
      </p:pic>
      <p:sp>
        <p:nvSpPr>
          <p:cNvPr id="6" name="Text 2"/>
          <p:cNvSpPr/>
          <p:nvPr/>
        </p:nvSpPr>
        <p:spPr>
          <a:xfrm>
            <a:off x="4809744" y="1097280"/>
            <a:ext cx="6858000" cy="347472"/>
          </a:xfrm>
          <a:prstGeom prst="rect">
            <a:avLst/>
          </a:prstGeom>
          <a:noFill/>
          <a:ln/>
        </p:spPr>
        <p:txBody>
          <a:bodyPr wrap="square" lIns="0" tIns="0" rIns="0" bIns="0" rtlCol="0" anchor="ctr"/>
          <a:lstStyle/>
          <a:p>
            <a:pPr indent="0" marL="0">
              <a:buNone/>
            </a:pPr>
            <a:r>
              <a:rPr lang="en-US" sz="1050" spc="150" kern="0" dirty="0">
                <a:solidFill>
                  <a:srgbClr val="F07F06"/>
                </a:solidFill>
                <a:latin typeface="Courier New" pitchFamily="34" charset="0"/>
                <a:ea typeface="Courier New" pitchFamily="34" charset="-122"/>
                <a:cs typeface="Courier New" pitchFamily="34" charset="-120"/>
              </a:rPr>
              <a:t>SOLIDITY EN VIVO · SE ESCRIBE EN CLASE, NO SE LEE</a:t>
            </a:r>
            <a:endParaRPr lang="en-US" sz="1050" dirty="0"/>
          </a:p>
        </p:txBody>
      </p:sp>
      <p:sp>
        <p:nvSpPr>
          <p:cNvPr id="7" name="Text 3"/>
          <p:cNvSpPr/>
          <p:nvPr/>
        </p:nvSpPr>
        <p:spPr>
          <a:xfrm>
            <a:off x="4389120" y="1719072"/>
            <a:ext cx="7269480" cy="2377440"/>
          </a:xfrm>
          <a:prstGeom prst="rect">
            <a:avLst/>
          </a:prstGeom>
          <a:noFill/>
          <a:ln/>
        </p:spPr>
        <p:txBody>
          <a:bodyPr wrap="square" lIns="0" tIns="0" rIns="0" bIns="0" rtlCol="0" anchor="t"/>
          <a:lstStyle/>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UN CONTRATO,</a:t>
            </a:r>
            <a:endParaRPr lang="en-US" sz="3800" dirty="0"/>
          </a:p>
          <a:p>
            <a:pPr indent="0" marL="0">
              <a:lnSpc>
                <a:spcPct val="98000"/>
              </a:lnSpc>
              <a:buNone/>
            </a:pPr>
            <a:r>
              <a:rPr lang="en-US" sz="3800" dirty="0">
                <a:solidFill>
                  <a:srgbClr val="FFFFFF"/>
                </a:solidFill>
                <a:latin typeface="Arial Black" pitchFamily="34" charset="0"/>
                <a:ea typeface="Arial Black" pitchFamily="34" charset="-122"/>
                <a:cs typeface="Arial Black" pitchFamily="34" charset="-120"/>
              </a:rPr>
              <a:t>PASO A PASO</a:t>
            </a:r>
            <a:endParaRPr lang="en-US" sz="3800" dirty="0"/>
          </a:p>
        </p:txBody>
      </p:sp>
      <p:sp>
        <p:nvSpPr>
          <p:cNvPr id="8" name="Text 4"/>
          <p:cNvSpPr/>
          <p:nvPr/>
        </p:nvSpPr>
        <p:spPr>
          <a:xfrm>
            <a:off x="4389120" y="4224528"/>
            <a:ext cx="7269480" cy="685800"/>
          </a:xfrm>
          <a:prstGeom prst="rect">
            <a:avLst/>
          </a:prstGeom>
          <a:noFill/>
          <a:ln/>
        </p:spPr>
        <p:txBody>
          <a:bodyPr wrap="square" lIns="0" tIns="0" rIns="0" bIns="0" rtlCol="0" anchor="t"/>
          <a:lstStyle/>
          <a:p>
            <a:pPr indent="0" marL="0">
              <a:lnSpc>
                <a:spcPct val="120000"/>
              </a:lnSpc>
              <a:buNone/>
            </a:pPr>
            <a:r>
              <a:rPr lang="en-US" sz="1500" dirty="0">
                <a:solidFill>
                  <a:srgbClr val="B9B4C4"/>
                </a:solidFill>
                <a:latin typeface="Arial" pitchFamily="34" charset="0"/>
                <a:ea typeface="Arial" pitchFamily="34" charset="-122"/>
                <a:cs typeface="Arial" pitchFamily="34" charset="-120"/>
              </a:rPr>
              <a:t>Seis versiones del mismo contrato. Cada una se rompe delante de ustedes, y la función siguiente existe para arreglar eso.</a:t>
            </a:r>
            <a:endParaRPr lang="en-US" sz="1500" dirty="0"/>
          </a:p>
        </p:txBody>
      </p:sp>
      <p:sp>
        <p:nvSpPr>
          <p:cNvPr id="9" name="Text 5"/>
          <p:cNvSpPr/>
          <p:nvPr/>
        </p:nvSpPr>
        <p:spPr>
          <a:xfrm>
            <a:off x="4389120" y="5120640"/>
            <a:ext cx="7269480" cy="731520"/>
          </a:xfrm>
          <a:prstGeom prst="rect">
            <a:avLst/>
          </a:prstGeom>
          <a:noFill/>
          <a:ln/>
        </p:spPr>
        <p:txBody>
          <a:bodyPr wrap="square" lIns="0" tIns="0" rIns="0" bIns="0" rtlCol="0" anchor="t"/>
          <a:lstStyle/>
          <a:p>
            <a:pPr indent="0" marL="0">
              <a:lnSpc>
                <a:spcPct val="125000"/>
              </a:lnSpc>
              <a:buNone/>
            </a:pPr>
            <a:r>
              <a:rPr lang="en-US" sz="1300" dirty="0">
                <a:solidFill>
                  <a:srgbClr val="8B8697"/>
                </a:solidFill>
                <a:latin typeface="Arial" pitchFamily="34" charset="0"/>
                <a:ea typeface="Arial" pitchFamily="34" charset="-122"/>
                <a:cs typeface="Arial" pitchFamily="34" charset="-120"/>
              </a:rPr>
              <a:t>Blockchain y Web 3.0 · Ingeniería de Sistemas</a:t>
            </a:r>
            <a:endParaRPr lang="en-US" sz="1300" dirty="0"/>
          </a:p>
          <a:p>
            <a:pPr indent="0" marL="0">
              <a:lnSpc>
                <a:spcPct val="125000"/>
              </a:lnSpc>
              <a:buNone/>
            </a:pPr>
            <a:r>
              <a:rPr lang="en-US" sz="1300" dirty="0">
                <a:solidFill>
                  <a:srgbClr val="8B8697"/>
                </a:solidFill>
                <a:latin typeface="Arial" pitchFamily="34" charset="0"/>
                <a:ea typeface="Arial" pitchFamily="34" charset="-122"/>
                <a:cs typeface="Arial" pitchFamily="34" charset="-120"/>
              </a:rPr>
              <a:t>Universidad de San Buenaventura Medellín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EL ENCARGO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100" dirty="0">
                <a:solidFill>
                  <a:srgbClr val="0F0F11"/>
                </a:solidFill>
                <a:latin typeface="Arial Black" pitchFamily="34" charset="0"/>
                <a:ea typeface="Arial Black" pitchFamily="34" charset="-122"/>
                <a:cs typeface="Arial Black" pitchFamily="34" charset="-120"/>
              </a:rPr>
              <a:t>EL LABORATORIO PRESTA EQUIPOS</a:t>
            </a:r>
            <a:endParaRPr lang="en-US" sz="31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02</a:t>
            </a:r>
            <a:endParaRPr lang="en-US" sz="900" dirty="0"/>
          </a:p>
        </p:txBody>
      </p:sp>
      <p:sp>
        <p:nvSpPr>
          <p:cNvPr id="8" name="Text 5"/>
          <p:cNvSpPr/>
          <p:nvPr/>
        </p:nvSpPr>
        <p:spPr>
          <a:xfrm>
            <a:off x="566928" y="1737360"/>
            <a:ext cx="11057839" cy="658368"/>
          </a:xfrm>
          <a:prstGeom prst="rect">
            <a:avLst/>
          </a:prstGeom>
          <a:noFill/>
          <a:ln/>
        </p:spPr>
        <p:txBody>
          <a:bodyPr wrap="square" lIns="0" tIns="0" rIns="0" bIns="0" rtlCol="0" anchor="t"/>
          <a:lstStyle/>
          <a:p>
            <a:pPr indent="0" marL="0">
              <a:lnSpc>
                <a:spcPct val="124000"/>
              </a:lnSpc>
              <a:buNone/>
            </a:pPr>
            <a:r>
              <a:rPr lang="en-US" sz="1500" dirty="0">
                <a:solidFill>
                  <a:srgbClr val="3A3844"/>
                </a:solidFill>
                <a:latin typeface="Arial" pitchFamily="34" charset="0"/>
                <a:ea typeface="Arial" pitchFamily="34" charset="-122"/>
                <a:cs typeface="Arial" pitchFamily="34" charset="-120"/>
              </a:rPr>
              <a:t>Proyectores, kits de Arduino, cámaras. El registro vive en una hoja de papel pegada a la puerta, y esa hoja no sabe responder:</a:t>
            </a:r>
            <a:endParaRPr lang="en-US" sz="1500" dirty="0"/>
          </a:p>
        </p:txBody>
      </p:sp>
      <p:sp>
        <p:nvSpPr>
          <p:cNvPr id="9" name="Shape 6"/>
          <p:cNvSpPr/>
          <p:nvPr/>
        </p:nvSpPr>
        <p:spPr>
          <a:xfrm>
            <a:off x="566928" y="2514600"/>
            <a:ext cx="11057839" cy="731520"/>
          </a:xfrm>
          <a:prstGeom prst="rect">
            <a:avLst/>
          </a:prstGeom>
          <a:solidFill>
            <a:srgbClr val="FFFFFF"/>
          </a:solidFill>
          <a:ln w="15875">
            <a:solidFill>
              <a:srgbClr val="D9D6E0"/>
            </a:solidFill>
            <a:prstDash val="solid"/>
          </a:ln>
        </p:spPr>
      </p:sp>
      <p:sp>
        <p:nvSpPr>
          <p:cNvPr id="10" name="Text 7"/>
          <p:cNvSpPr/>
          <p:nvPr/>
        </p:nvSpPr>
        <p:spPr>
          <a:xfrm>
            <a:off x="694944" y="2514600"/>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1" name="Text 8"/>
          <p:cNvSpPr/>
          <p:nvPr/>
        </p:nvSpPr>
        <p:spPr>
          <a:xfrm>
            <a:off x="1280160" y="2734056"/>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¿ESTÁ LIBRE?</a:t>
            </a:r>
            <a:endParaRPr lang="en-US" sz="1000" dirty="0"/>
          </a:p>
        </p:txBody>
      </p:sp>
      <p:sp>
        <p:nvSpPr>
          <p:cNvPr id="12" name="Text 9"/>
          <p:cNvSpPr/>
          <p:nvPr/>
        </p:nvSpPr>
        <p:spPr>
          <a:xfrm>
            <a:off x="3931920" y="2606040"/>
            <a:ext cx="7583119" cy="585216"/>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Alguien necesita el proyector ahora. ¿Lo tiene alguien, o está en el estante?</a:t>
            </a:r>
            <a:endParaRPr lang="en-US" sz="1300" dirty="0"/>
          </a:p>
        </p:txBody>
      </p:sp>
      <p:sp>
        <p:nvSpPr>
          <p:cNvPr id="13" name="Shape 10"/>
          <p:cNvSpPr/>
          <p:nvPr/>
        </p:nvSpPr>
        <p:spPr>
          <a:xfrm>
            <a:off x="566928" y="3355848"/>
            <a:ext cx="11057839" cy="731520"/>
          </a:xfrm>
          <a:prstGeom prst="rect">
            <a:avLst/>
          </a:prstGeom>
          <a:solidFill>
            <a:srgbClr val="FAF9FB"/>
          </a:solidFill>
          <a:ln w="15875">
            <a:solidFill>
              <a:srgbClr val="D9D6E0"/>
            </a:solidFill>
            <a:prstDash val="solid"/>
          </a:ln>
        </p:spPr>
      </p:sp>
      <p:sp>
        <p:nvSpPr>
          <p:cNvPr id="14" name="Text 11"/>
          <p:cNvSpPr/>
          <p:nvPr/>
        </p:nvSpPr>
        <p:spPr>
          <a:xfrm>
            <a:off x="694944" y="3355848"/>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5" name="Text 12"/>
          <p:cNvSpPr/>
          <p:nvPr/>
        </p:nvSpPr>
        <p:spPr>
          <a:xfrm>
            <a:off x="1280160" y="3575304"/>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¿QUIÉN LO TIENE?</a:t>
            </a:r>
            <a:endParaRPr lang="en-US" sz="1000" dirty="0"/>
          </a:p>
        </p:txBody>
      </p:sp>
      <p:sp>
        <p:nvSpPr>
          <p:cNvPr id="16" name="Text 13"/>
          <p:cNvSpPr/>
          <p:nvPr/>
        </p:nvSpPr>
        <p:spPr>
          <a:xfrm>
            <a:off x="3931920" y="3447288"/>
            <a:ext cx="7583119" cy="585216"/>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Aparece en la hoja un nombre escrito a mano, de hace tres semanas, sin apellido.</a:t>
            </a:r>
            <a:endParaRPr lang="en-US" sz="1300" dirty="0"/>
          </a:p>
        </p:txBody>
      </p:sp>
      <p:sp>
        <p:nvSpPr>
          <p:cNvPr id="17" name="Shape 14"/>
          <p:cNvSpPr/>
          <p:nvPr/>
        </p:nvSpPr>
        <p:spPr>
          <a:xfrm>
            <a:off x="566928" y="4197096"/>
            <a:ext cx="11057839" cy="731520"/>
          </a:xfrm>
          <a:prstGeom prst="rect">
            <a:avLst/>
          </a:prstGeom>
          <a:solidFill>
            <a:srgbClr val="FFFFFF"/>
          </a:solidFill>
          <a:ln w="15875">
            <a:solidFill>
              <a:srgbClr val="D9D6E0"/>
            </a:solidFill>
            <a:prstDash val="solid"/>
          </a:ln>
        </p:spPr>
      </p:sp>
      <p:sp>
        <p:nvSpPr>
          <p:cNvPr id="18" name="Text 15"/>
          <p:cNvSpPr/>
          <p:nvPr/>
        </p:nvSpPr>
        <p:spPr>
          <a:xfrm>
            <a:off x="694944" y="4197096"/>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9" name="Text 16"/>
          <p:cNvSpPr/>
          <p:nvPr/>
        </p:nvSpPr>
        <p:spPr>
          <a:xfrm>
            <a:off x="1280160" y="4416552"/>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¿DESDE CUÁNDO?</a:t>
            </a:r>
            <a:endParaRPr lang="en-US" sz="1000" dirty="0"/>
          </a:p>
        </p:txBody>
      </p:sp>
      <p:sp>
        <p:nvSpPr>
          <p:cNvPr id="20" name="Text 17"/>
          <p:cNvSpPr/>
          <p:nvPr/>
        </p:nvSpPr>
        <p:spPr>
          <a:xfrm>
            <a:off x="3931920" y="4288536"/>
            <a:ext cx="7583119" cy="585216"/>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Nadie anotó la fecha de entrega, así que nadie está formalmente en mora.</a:t>
            </a:r>
            <a:endParaRPr lang="en-US" sz="1300" dirty="0"/>
          </a:p>
        </p:txBody>
      </p:sp>
      <p:sp>
        <p:nvSpPr>
          <p:cNvPr id="21" name="Shape 18"/>
          <p:cNvSpPr/>
          <p:nvPr/>
        </p:nvSpPr>
        <p:spPr>
          <a:xfrm>
            <a:off x="566928" y="5038344"/>
            <a:ext cx="11057839" cy="731520"/>
          </a:xfrm>
          <a:prstGeom prst="rect">
            <a:avLst/>
          </a:prstGeom>
          <a:solidFill>
            <a:srgbClr val="FAF9FB"/>
          </a:solidFill>
          <a:ln w="15875">
            <a:solidFill>
              <a:srgbClr val="D9D6E0"/>
            </a:solidFill>
            <a:prstDash val="solid"/>
          </a:ln>
        </p:spPr>
      </p:sp>
      <p:sp>
        <p:nvSpPr>
          <p:cNvPr id="22" name="Text 19"/>
          <p:cNvSpPr/>
          <p:nvPr/>
        </p:nvSpPr>
        <p:spPr>
          <a:xfrm>
            <a:off x="694944" y="5038344"/>
            <a:ext cx="548640" cy="73152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3" name="Text 20"/>
          <p:cNvSpPr/>
          <p:nvPr/>
        </p:nvSpPr>
        <p:spPr>
          <a:xfrm>
            <a:off x="1280160" y="5257800"/>
            <a:ext cx="237744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¿Y EL DEPÓSITO?</a:t>
            </a:r>
            <a:endParaRPr lang="en-US" sz="1000" dirty="0"/>
          </a:p>
        </p:txBody>
      </p:sp>
      <p:sp>
        <p:nvSpPr>
          <p:cNvPr id="24" name="Text 21"/>
          <p:cNvSpPr/>
          <p:nvPr/>
        </p:nvSpPr>
        <p:spPr>
          <a:xfrm>
            <a:off x="3931920" y="5129784"/>
            <a:ext cx="7583119" cy="585216"/>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Lo guarda quien esté en el mostrador ese día. Devolverlo depende de que esa persona se acuerde.</a:t>
            </a:r>
            <a:endParaRPr lang="en-US" sz="1300" dirty="0"/>
          </a:p>
        </p:txBody>
      </p:sp>
      <p:sp>
        <p:nvSpPr>
          <p:cNvPr id="25" name="Text 22"/>
          <p:cNvSpPr/>
          <p:nvPr/>
        </p:nvSpPr>
        <p:spPr>
          <a:xfrm>
            <a:off x="566928" y="5669280"/>
            <a:ext cx="11057839" cy="548640"/>
          </a:xfrm>
          <a:prstGeom prst="rect">
            <a:avLst/>
          </a:prstGeom>
          <a:noFill/>
          <a:ln/>
        </p:spPr>
        <p:txBody>
          <a:bodyPr wrap="square" lIns="0" tIns="0" rIns="0" bIns="0" rtlCol="0" anchor="t"/>
          <a:lstStyle/>
          <a:p>
            <a:pPr indent="0" marL="0">
              <a:lnSpc>
                <a:spcPct val="124000"/>
              </a:lnSpc>
              <a:buNone/>
            </a:pPr>
            <a:r>
              <a:rPr lang="en-US" sz="1450" dirty="0">
                <a:solidFill>
                  <a:srgbClr val="A35604"/>
                </a:solidFill>
                <a:latin typeface="Arial" pitchFamily="34" charset="0"/>
                <a:ea typeface="Arial" pitchFamily="34" charset="-122"/>
                <a:cs typeface="Arial" pitchFamily="34" charset="-120"/>
              </a:rPr>
              <a:t>Hoy escribimos, entre todos, un programa que responda esas cuatro preguntas y que haga cumplir sus propias reglas.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A DÓNDE VAMOS A LLEGAR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ESTO CORRE AL FINAL DE LA CLASE</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03</a:t>
            </a:r>
            <a:endParaRPr lang="en-US" sz="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4846320"/>
                <a:gridCol w="621151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ALGUIEN PREGUNTA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LA FUNCIÓN QUE LO RESPONDE</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66344">
                <a:tc>
                  <a:txBody>
                    <a:bodyPr/>
                    <a:lstStyle/>
                    <a:p>
                      <a:pPr indent="0" marL="0">
                        <a:buNone/>
                      </a:pPr>
                      <a:r>
                        <a:rPr lang="en-US" sz="1300" b="1" dirty="0">
                          <a:solidFill>
                            <a:srgbClr val="0F0F11"/>
                          </a:solidFill>
                          <a:latin typeface="Courier New" pitchFamily="34" charset="0"/>
                          <a:ea typeface="Courier New" pitchFamily="34" charset="-122"/>
                          <a:cs typeface="Courier New" pitchFamily="34" charset="-120"/>
                        </a:rPr>
                        <a:t>¿Está libre el equipo 3?</a:t>
                      </a:r>
                      <a:endParaRPr lang="en-US" sz="13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300" dirty="0">
                          <a:solidFill>
                            <a:srgbClr val="3A3844"/>
                          </a:solidFill>
                          <a:latin typeface="Arial" pitchFamily="34" charset="0"/>
                          <a:ea typeface="Arial" pitchFamily="34" charset="-122"/>
                          <a:cs typeface="Arial" pitchFamily="34" charset="-120"/>
                        </a:rPr>
                        <a:t>estaDisponible(3) · consulta, no cuesta nada</a:t>
                      </a:r>
                      <a:endParaRPr lang="en-US" sz="13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66344">
                <a:tc>
                  <a:txBody>
                    <a:bodyPr/>
                    <a:lstStyle/>
                    <a:p>
                      <a:pPr indent="0" marL="0">
                        <a:buNone/>
                      </a:pPr>
                      <a:r>
                        <a:rPr lang="en-US" sz="1300" b="1" dirty="0">
                          <a:solidFill>
                            <a:srgbClr val="0F0F11"/>
                          </a:solidFill>
                          <a:latin typeface="Courier New" pitchFamily="34" charset="0"/>
                          <a:ea typeface="Courier New" pitchFamily="34" charset="-122"/>
                          <a:cs typeface="Courier New" pitchFamily="34" charset="-120"/>
                        </a:rPr>
                        <a:t>¿Quién lo tiene?</a:t>
                      </a:r>
                      <a:endParaRPr lang="en-US" sz="13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300" dirty="0">
                          <a:solidFill>
                            <a:srgbClr val="3A3844"/>
                          </a:solidFill>
                          <a:latin typeface="Arial" pitchFamily="34" charset="0"/>
                          <a:ea typeface="Arial" pitchFamily="34" charset="-122"/>
                          <a:cs typeface="Arial" pitchFamily="34" charset="-120"/>
                        </a:rPr>
                        <a:t>quienLoTiene(3) · devuelve la dirección de quien firmó</a:t>
                      </a:r>
                      <a:endParaRPr lang="en-US" sz="13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66344">
                <a:tc>
                  <a:txBody>
                    <a:bodyPr/>
                    <a:lstStyle/>
                    <a:p>
                      <a:pPr indent="0" marL="0">
                        <a:buNone/>
                      </a:pPr>
                      <a:r>
                        <a:rPr lang="en-US" sz="1300" b="1" dirty="0">
                          <a:solidFill>
                            <a:srgbClr val="0F0F11"/>
                          </a:solidFill>
                          <a:latin typeface="Courier New" pitchFamily="34" charset="0"/>
                          <a:ea typeface="Courier New" pitchFamily="34" charset="-122"/>
                          <a:cs typeface="Courier New" pitchFamily="34" charset="-120"/>
                        </a:rPr>
                        <a:t>¿Está en mora, y de cuánto?</a:t>
                      </a:r>
                      <a:endParaRPr lang="en-US" sz="13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300" dirty="0">
                          <a:solidFill>
                            <a:srgbClr val="3A3844"/>
                          </a:solidFill>
                          <a:latin typeface="Arial" pitchFamily="34" charset="0"/>
                          <a:ea typeface="Arial" pitchFamily="34" charset="-122"/>
                          <a:cs typeface="Arial" pitchFamily="34" charset="-120"/>
                        </a:rPr>
                        <a:t>estaVencido(3) y diasDeMora(3)</a:t>
                      </a:r>
                      <a:endParaRPr lang="en-US" sz="13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66344">
                <a:tc>
                  <a:txBody>
                    <a:bodyPr/>
                    <a:lstStyle/>
                    <a:p>
                      <a:pPr indent="0" marL="0">
                        <a:buNone/>
                      </a:pPr>
                      <a:r>
                        <a:rPr lang="en-US" sz="1300" b="1" dirty="0">
                          <a:solidFill>
                            <a:srgbClr val="0F0F11"/>
                          </a:solidFill>
                          <a:latin typeface="Courier New" pitchFamily="34" charset="0"/>
                          <a:ea typeface="Courier New" pitchFamily="34" charset="-122"/>
                          <a:cs typeface="Courier New" pitchFamily="34" charset="-120"/>
                        </a:rPr>
                        <a:t>Quiero llevármelo cinco días</a:t>
                      </a:r>
                      <a:endParaRPr lang="en-US" sz="13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300" dirty="0">
                          <a:solidFill>
                            <a:srgbClr val="3A3844"/>
                          </a:solidFill>
                          <a:latin typeface="Arial" pitchFamily="34" charset="0"/>
                          <a:ea typeface="Arial" pitchFamily="34" charset="-122"/>
                          <a:cs typeface="Arial" pitchFamily="34" charset="-120"/>
                        </a:rPr>
                        <a:t>prestar(3, 5) · dejando el depósito exacto</a:t>
                      </a:r>
                      <a:endParaRPr lang="en-US" sz="13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66344">
                <a:tc>
                  <a:txBody>
                    <a:bodyPr/>
                    <a:lstStyle/>
                    <a:p>
                      <a:pPr indent="0" marL="0">
                        <a:buNone/>
                      </a:pPr>
                      <a:r>
                        <a:rPr lang="en-US" sz="1300" b="1" dirty="0">
                          <a:solidFill>
                            <a:srgbClr val="0F0F11"/>
                          </a:solidFill>
                          <a:latin typeface="Courier New" pitchFamily="34" charset="0"/>
                          <a:ea typeface="Courier New" pitchFamily="34" charset="-122"/>
                          <a:cs typeface="Courier New" pitchFamily="34" charset="-120"/>
                        </a:rPr>
                        <a:t>Lo traigo de vuelta</a:t>
                      </a:r>
                      <a:endParaRPr lang="en-US" sz="13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300" dirty="0">
                          <a:solidFill>
                            <a:srgbClr val="3A3844"/>
                          </a:solidFill>
                          <a:latin typeface="Arial" pitchFamily="34" charset="0"/>
                          <a:ea typeface="Arial" pitchFamily="34" charset="-122"/>
                          <a:cs typeface="Arial" pitchFamily="34" charset="-120"/>
                        </a:rPr>
                        <a:t>devolver(3) · a tiempo recupera el depósito; tarde, no</a:t>
                      </a:r>
                      <a:endParaRPr lang="en-US" sz="13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66344">
                <a:tc>
                  <a:txBody>
                    <a:bodyPr/>
                    <a:lstStyle/>
                    <a:p>
                      <a:pPr indent="0" marL="0">
                        <a:buNone/>
                      </a:pPr>
                      <a:r>
                        <a:rPr lang="en-US" sz="1300" b="1" dirty="0">
                          <a:solidFill>
                            <a:srgbClr val="0F0F11"/>
                          </a:solidFill>
                          <a:latin typeface="Courier New" pitchFamily="34" charset="0"/>
                          <a:ea typeface="Courier New" pitchFamily="34" charset="-122"/>
                          <a:cs typeface="Courier New" pitchFamily="34" charset="-120"/>
                        </a:rPr>
                        <a:t>Quiero mi plata</a:t>
                      </a:r>
                      <a:endParaRPr lang="en-US" sz="130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300" dirty="0">
                          <a:solidFill>
                            <a:srgbClr val="3A3844"/>
                          </a:solidFill>
                          <a:latin typeface="Arial" pitchFamily="34" charset="0"/>
                          <a:ea typeface="Arial" pitchFamily="34" charset="-122"/>
                          <a:cs typeface="Arial" pitchFamily="34" charset="-120"/>
                        </a:rPr>
                        <a:t>retirar() · cada quien reclama lo suyo</a:t>
                      </a:r>
                      <a:endParaRPr lang="en-US" sz="130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64792"/>
            <a:ext cx="11094415" cy="3145536"/>
          </a:xfrm>
          <a:prstGeom prst="rect">
            <a:avLst/>
          </a:prstGeom>
          <a:ln w="22225">
            <a:solidFill>
              <a:srgbClr val="0F0F11"/>
            </a:solidFill>
            <a:prstDash val="solid"/>
          </a:ln>
        </p:spPr>
      </p:sp>
      <p:sp>
        <p:nvSpPr>
          <p:cNvPr id="10" name="Shape 6"/>
          <p:cNvSpPr/>
          <p:nvPr/>
        </p:nvSpPr>
        <p:spPr>
          <a:xfrm>
            <a:off x="566928" y="5074920"/>
            <a:ext cx="11057839" cy="109728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pic>
        <p:nvPicPr>
          <p:cNvPr id="11" name="Image 1" descr="preencoded.png">    </p:cNvPr>
          <p:cNvPicPr>
            <a:picLocks noChangeAspect="1"/>
          </p:cNvPicPr>
          <p:nvPr/>
        </p:nvPicPr>
        <p:blipFill>
          <a:blip r:embed="rId2"/>
          <a:stretch>
            <a:fillRect/>
          </a:stretch>
        </p:blipFill>
        <p:spPr>
          <a:xfrm>
            <a:off x="804672" y="5294376"/>
            <a:ext cx="237744" cy="237744"/>
          </a:xfrm>
          <a:prstGeom prst="rect">
            <a:avLst/>
          </a:prstGeom>
        </p:spPr>
      </p:pic>
      <p:sp>
        <p:nvSpPr>
          <p:cNvPr id="12" name="Text 7"/>
          <p:cNvSpPr/>
          <p:nvPr/>
        </p:nvSpPr>
        <p:spPr>
          <a:xfrm>
            <a:off x="1133856" y="5266944"/>
            <a:ext cx="10234879" cy="292608"/>
          </a:xfrm>
          <a:prstGeom prst="rect">
            <a:avLst/>
          </a:prstGeom>
          <a:noFill/>
          <a:ln/>
        </p:spPr>
        <p:txBody>
          <a:bodyPr wrap="square" lIns="0" tIns="0" rIns="0" bIns="0" rtlCol="0" anchor="ctr"/>
          <a:lstStyle/>
          <a:p>
            <a:pPr indent="0" marL="0">
              <a:buNone/>
            </a:pPr>
            <a:r>
              <a:rPr lang="en-US" sz="950" b="1" spc="150" kern="0" dirty="0">
                <a:solidFill>
                  <a:srgbClr val="A35604"/>
                </a:solidFill>
                <a:latin typeface="Courier New" pitchFamily="34" charset="0"/>
                <a:ea typeface="Courier New" pitchFamily="34" charset="-122"/>
                <a:cs typeface="Courier New" pitchFamily="34" charset="-120"/>
              </a:rPr>
              <a:t>Y ALGO IGUAL DE IMPORTANTE: LO QUE NO VA A HACER</a:t>
            </a:r>
            <a:endParaRPr lang="en-US" sz="950" dirty="0"/>
          </a:p>
        </p:txBody>
      </p:sp>
      <p:sp>
        <p:nvSpPr>
          <p:cNvPr id="13" name="Text 8"/>
          <p:cNvSpPr/>
          <p:nvPr/>
        </p:nvSpPr>
        <p:spPr>
          <a:xfrm>
            <a:off x="804672" y="5586984"/>
            <a:ext cx="10582351" cy="49377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No va a saber si el equipo volvió roto, ni si volvió completo, ni si quien lo devolvió es la misma persona que se lo llevó. Un contrato solo sabe lo que alguien le escribe. Eso lo vamos a decir en voz alta varias veces hoy.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CÓMO VAMOS A TRABAJAR</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SEIS VERSIONES, SEIS ROTURAS</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04</a:t>
            </a:r>
            <a:endParaRPr lang="en-US" sz="900" dirty="0"/>
          </a:p>
        </p:txBody>
      </p:sp>
      <p:sp>
        <p:nvSpPr>
          <p:cNvPr id="8" name="Text 5"/>
          <p:cNvSpPr/>
          <p:nvPr/>
        </p:nvSpPr>
        <p:spPr>
          <a:xfrm>
            <a:off x="566928" y="1719072"/>
            <a:ext cx="11057839" cy="658368"/>
          </a:xfrm>
          <a:prstGeom prst="rect">
            <a:avLst/>
          </a:prstGeom>
          <a:noFill/>
          <a:ln/>
        </p:spPr>
        <p:txBody>
          <a:bodyPr wrap="square" lIns="0" tIns="0" rIns="0" bIns="0" rtlCol="0" anchor="t"/>
          <a:lstStyle/>
          <a:p>
            <a:pPr indent="0" marL="0">
              <a:lnSpc>
                <a:spcPct val="124000"/>
              </a:lnSpc>
              <a:buNone/>
            </a:pPr>
            <a:r>
              <a:rPr lang="en-US" sz="1500" dirty="0">
                <a:solidFill>
                  <a:srgbClr val="3A3844"/>
                </a:solidFill>
                <a:latin typeface="Arial" pitchFamily="34" charset="0"/>
                <a:ea typeface="Arial" pitchFamily="34" charset="-122"/>
                <a:cs typeface="Arial" pitchFamily="34" charset="-120"/>
              </a:rPr>
              <a:t>No vamos a escribir el contrato terminado. Vamos a escribir una versión simple, romperla en pantalla, y dejar que el problema pida la función siguiente.</a:t>
            </a:r>
            <a:endParaRPr lang="en-US" sz="1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514600"/>
          <a:ext cx="11057839" cy="914400"/>
        </p:xfrm>
        <a:graphic>
          <a:graphicData uri="http://schemas.openxmlformats.org/drawingml/2006/table">
            <a:tbl>
              <a:tblPr/>
              <a:tblGrid>
                <a:gridCol w="822960"/>
                <a:gridCol w="3291840"/>
                <a:gridCol w="694303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LE AGREGAMOS</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QUÉ PROBLEMA ARREGLA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5110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Estado y msg.sender</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Línea base: el contrato recuerda quién tiene el equipo.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5110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2</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Errores y una guardia</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Cualquiera se llevaba un equipo que ya estaba prestado.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5110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3</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struct y mapping</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Solo existía UN equipo, y el laboratorio tiene cuarenta.</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5110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4</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Constructor y modificador</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Cualquiera podía registrar inventario inventado.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5110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5</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Tiempo y plazo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Nadie devolvía nunca y no había forma de saber quién estaba en mora.</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5110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6</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Depósito y retiro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Estar en mora no costaba nada.</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10" name="Shape 6"/>
          <p:cNvSpPr/>
          <p:nvPr/>
        </p:nvSpPr>
        <p:spPr>
          <a:xfrm>
            <a:off x="548640" y="2496312"/>
            <a:ext cx="11094415" cy="3054096"/>
          </a:xfrm>
          <a:prstGeom prst="rect">
            <a:avLst/>
          </a:prstGeom>
          <a:ln w="22225">
            <a:solidFill>
              <a:srgbClr val="0F0F11"/>
            </a:solidFill>
            <a:prstDash val="solid"/>
          </a:ln>
        </p:spPr>
      </p:sp>
      <p:sp>
        <p:nvSpPr>
          <p:cNvPr id="11" name="Text 7"/>
          <p:cNvSpPr/>
          <p:nvPr/>
        </p:nvSpPr>
        <p:spPr>
          <a:xfrm>
            <a:off x="566928" y="5715000"/>
            <a:ext cx="11057839" cy="50292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Cuando algo no cuadre, interrumpan. Una pregunta a tiempo vale más que la lámina siguiente.</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1</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ESTADO · msg.sender</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EL CONTRATO RECUERDA</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Dos variables y dos funciones de tres palabras. Con eso ya aparece lo esencial de Solidity.</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1 · LO QUE ESTAMOS ESCRIBIENDO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QUINCE LÍNEAS, Y YA TENEMOS UN CONTRATO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06</a:t>
            </a:r>
            <a:endParaRPr lang="en-US" sz="900" dirty="0"/>
          </a:p>
        </p:txBody>
      </p:sp>
      <p:sp>
        <p:nvSpPr>
          <p:cNvPr id="8" name="Shape 5"/>
          <p:cNvSpPr/>
          <p:nvPr/>
        </p:nvSpPr>
        <p:spPr>
          <a:xfrm>
            <a:off x="566928" y="1691640"/>
            <a:ext cx="11057839" cy="3749040"/>
          </a:xfrm>
          <a:prstGeom prst="rect">
            <a:avLst/>
          </a:prstGeom>
          <a:solidFill>
            <a:srgbClr val="16151B"/>
          </a:solidFill>
          <a:ln w="22225">
            <a:solidFill>
              <a:srgbClr val="16151B"/>
            </a:solidFill>
            <a:prstDash val="solid"/>
          </a:ln>
        </p:spPr>
      </p:sp>
      <p:sp>
        <p:nvSpPr>
          <p:cNvPr id="9" name="Text 6"/>
          <p:cNvSpPr/>
          <p:nvPr/>
        </p:nvSpPr>
        <p:spPr>
          <a:xfrm>
            <a:off x="768096" y="1837944"/>
            <a:ext cx="10655503" cy="3493008"/>
          </a:xfrm>
          <a:prstGeom prst="rect">
            <a:avLst/>
          </a:prstGeom>
          <a:noFill/>
          <a:ln/>
        </p:spPr>
        <p:txBody>
          <a:bodyPr wrap="square" lIns="0" tIns="0" rIns="0" bIns="0" rtlCol="0" anchor="t"/>
          <a:lstStyle/>
          <a:p>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contract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PrestamoEquipos</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A897FF"/>
                </a:solidFill>
                <a:latin typeface="Courier New" pitchFamily="34" charset="0"/>
                <a:ea typeface="Courier New" pitchFamily="34" charset="-122"/>
                <a:cs typeface="Courier New" pitchFamily="34" charset="-120"/>
              </a:rPr>
              <a:t>string</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nombreEquipo</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FA41B"/>
                </a:solidFill>
                <a:latin typeface="Courier New" pitchFamily="34" charset="0"/>
                <a:ea typeface="Courier New" pitchFamily="34" charset="-122"/>
                <a:cs typeface="Courier New" pitchFamily="34" charset="-120"/>
              </a:rPr>
              <a:t>"Proyector Epson"</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prestadoA</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prestar</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prestadoA</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devolver</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prestadoA</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p:txBody>
      </p:sp>
      <p:sp>
        <p:nvSpPr>
          <p:cNvPr id="10" name="Text 7"/>
          <p:cNvSpPr/>
          <p:nvPr/>
        </p:nvSpPr>
        <p:spPr>
          <a:xfrm>
            <a:off x="566928" y="5605272"/>
            <a:ext cx="11057839" cy="68580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Las variables de estado viven en la cadena: siguen ahí mañana. Y la palabra public regala las funciones de lectura, no hay que escribirlas.</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1 · LA IDEA QUE IMPORTA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700" dirty="0">
                <a:solidFill>
                  <a:srgbClr val="0F0F11"/>
                </a:solidFill>
                <a:latin typeface="Arial Black" pitchFamily="34" charset="0"/>
                <a:ea typeface="Arial Black" pitchFamily="34" charset="-122"/>
                <a:cs typeface="Arial Black" pitchFamily="34" charset="-120"/>
              </a:rPr>
              <a:t>NADIE DICE QUIÉN ES: LO DEMUESTRA FIRMANDO</a:t>
            </a:r>
            <a:endParaRPr lang="en-US" sz="27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07</a:t>
            </a:r>
            <a:endParaRPr lang="en-US" sz="900" dirty="0"/>
          </a:p>
        </p:txBody>
      </p:sp>
      <p:sp>
        <p:nvSpPr>
          <p:cNvPr id="8" name="Shape 5"/>
          <p:cNvSpPr/>
          <p:nvPr/>
        </p:nvSpPr>
        <p:spPr>
          <a:xfrm>
            <a:off x="566928" y="1783080"/>
            <a:ext cx="11057839" cy="150876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65960"/>
            <a:ext cx="10289743" cy="1143000"/>
          </a:xfrm>
          <a:prstGeom prst="rect">
            <a:avLst/>
          </a:prstGeom>
          <a:noFill/>
          <a:ln/>
        </p:spPr>
        <p:txBody>
          <a:bodyPr wrap="square" lIns="0" tIns="0" rIns="0" bIns="0" rtlCol="0" anchor="ctr"/>
          <a:lstStyle/>
          <a:p>
            <a:pPr indent="0" marL="0">
              <a:lnSpc>
                <a:spcPct val="106000"/>
              </a:lnSpc>
              <a:buNone/>
            </a:pPr>
            <a:r>
              <a:rPr lang="en-US" sz="1900" dirty="0">
                <a:solidFill>
                  <a:srgbClr val="0F0F11"/>
                </a:solidFill>
                <a:latin typeface="Arial Black" pitchFamily="34" charset="0"/>
                <a:ea typeface="Arial Black" pitchFamily="34" charset="-122"/>
                <a:cs typeface="Arial Black" pitchFamily="34" charset="-120"/>
              </a:rPr>
              <a:t>prestar() no recibe quién la llama. msg.sender es la dirección que firmó la transacción, y no se puede falsificar sin la llave privada.</a:t>
            </a:r>
            <a:endParaRPr lang="en-US" sz="1900" dirty="0"/>
          </a:p>
        </p:txBody>
      </p:sp>
      <p:sp>
        <p:nvSpPr>
          <p:cNvPr id="10" name="Shape 7"/>
          <p:cNvSpPr/>
          <p:nvPr/>
        </p:nvSpPr>
        <p:spPr>
          <a:xfrm>
            <a:off x="566928" y="3520440"/>
            <a:ext cx="5391760" cy="18288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37033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EN CUALQUIER OTRO PROGRAMA</a:t>
            </a:r>
            <a:endParaRPr lang="en-US" sz="1050" dirty="0"/>
          </a:p>
        </p:txBody>
      </p:sp>
      <p:sp>
        <p:nvSpPr>
          <p:cNvPr id="12" name="Text 9"/>
          <p:cNvSpPr/>
          <p:nvPr/>
        </p:nvSpPr>
        <p:spPr>
          <a:xfrm>
            <a:off x="841248" y="4087368"/>
            <a:ext cx="4843120" cy="10972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Quién eres es un campo del formulario, o una sesión que el servidor te asignó. Alguien puede mentir, y hay que comprobarlo contra una base de datos.</a:t>
            </a:r>
            <a:endParaRPr lang="en-US" sz="1300" dirty="0"/>
          </a:p>
        </p:txBody>
      </p:sp>
      <p:sp>
        <p:nvSpPr>
          <p:cNvPr id="13" name="Shape 10"/>
          <p:cNvSpPr/>
          <p:nvPr/>
        </p:nvSpPr>
        <p:spPr>
          <a:xfrm>
            <a:off x="6233008" y="3520440"/>
            <a:ext cx="5391760" cy="18288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7033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AQUÍ</a:t>
            </a:r>
            <a:endParaRPr lang="en-US" sz="1050" dirty="0"/>
          </a:p>
        </p:txBody>
      </p:sp>
      <p:sp>
        <p:nvSpPr>
          <p:cNvPr id="15" name="Text 12"/>
          <p:cNvSpPr/>
          <p:nvPr/>
        </p:nvSpPr>
        <p:spPr>
          <a:xfrm>
            <a:off x="6507328" y="4087368"/>
            <a:ext cx="4843120" cy="109728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Quién eres viene de la firma de la transacción. El contrato no pregunta: recibe una dirección que solo pudo producir quien tiene la llave.</a:t>
            </a:r>
            <a:endParaRPr lang="en-US" sz="1300" dirty="0"/>
          </a:p>
        </p:txBody>
      </p:sp>
      <p:sp>
        <p:nvSpPr>
          <p:cNvPr id="16" name="Text 13"/>
          <p:cNvSpPr/>
          <p:nvPr/>
        </p:nvSpPr>
        <p:spPr>
          <a:xfrm>
            <a:off x="566928" y="5532120"/>
            <a:ext cx="11057839" cy="54864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address(0) es la dirección cero, el «vacío» de Ethereum. La usamos para decir «no lo tiene nadie», y va a volver a aparecer todo el día.</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1 · AHORA EN REMIX</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COMPILAR, DESPLEGAR Y ROMPERLO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08</a:t>
            </a:r>
            <a:endParaRPr lang="en-US" sz="900" dirty="0"/>
          </a:p>
        </p:txBody>
      </p:sp>
      <p:sp>
        <p:nvSpPr>
          <p:cNvPr id="8" name="Shape 5"/>
          <p:cNvSpPr/>
          <p:nvPr/>
        </p:nvSpPr>
        <p:spPr>
          <a:xfrm>
            <a:off x="566928" y="1783080"/>
            <a:ext cx="11057839" cy="658368"/>
          </a:xfrm>
          <a:prstGeom prst="rect">
            <a:avLst/>
          </a:prstGeom>
          <a:solidFill>
            <a:srgbClr val="FFFFFF"/>
          </a:solidFill>
          <a:ln w="15875">
            <a:solidFill>
              <a:srgbClr val="D9D6E0"/>
            </a:solidFill>
            <a:prstDash val="solid"/>
          </a:ln>
        </p:spPr>
      </p:sp>
      <p:sp>
        <p:nvSpPr>
          <p:cNvPr id="9" name="Text 6"/>
          <p:cNvSpPr/>
          <p:nvPr/>
        </p:nvSpPr>
        <p:spPr>
          <a:xfrm>
            <a:off x="694944" y="178308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65960"/>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DESPLEGAR</a:t>
            </a:r>
            <a:endParaRPr lang="en-US" sz="1000" dirty="0"/>
          </a:p>
        </p:txBody>
      </p:sp>
      <p:sp>
        <p:nvSpPr>
          <p:cNvPr id="11" name="Text 8"/>
          <p:cNvSpPr/>
          <p:nvPr/>
        </p:nvSpPr>
        <p:spPr>
          <a:xfrm>
            <a:off x="3566160" y="1874520"/>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Compilar hasta la marca verde y oprimir Deploy, con Value en 0. El contrato aparece en Deployed Contracts.</a:t>
            </a:r>
            <a:endParaRPr lang="en-US" sz="1250" dirty="0"/>
          </a:p>
        </p:txBody>
      </p:sp>
      <p:sp>
        <p:nvSpPr>
          <p:cNvPr id="12" name="Shape 9"/>
          <p:cNvSpPr/>
          <p:nvPr/>
        </p:nvSpPr>
        <p:spPr>
          <a:xfrm>
            <a:off x="566928" y="2532888"/>
            <a:ext cx="11057839" cy="658368"/>
          </a:xfrm>
          <a:prstGeom prst="rect">
            <a:avLst/>
          </a:prstGeom>
          <a:solidFill>
            <a:srgbClr val="FAF9FB"/>
          </a:solidFill>
          <a:ln w="15875">
            <a:solidFill>
              <a:srgbClr val="D9D6E0"/>
            </a:solidFill>
            <a:prstDash val="solid"/>
          </a:ln>
        </p:spPr>
      </p:sp>
      <p:sp>
        <p:nvSpPr>
          <p:cNvPr id="13" name="Text 10"/>
          <p:cNvSpPr/>
          <p:nvPr/>
        </p:nvSpPr>
        <p:spPr>
          <a:xfrm>
            <a:off x="694944" y="2532888"/>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715768"/>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LEER PRESTADOA</a:t>
            </a:r>
            <a:endParaRPr lang="en-US" sz="1000" dirty="0"/>
          </a:p>
        </p:txBody>
      </p:sp>
      <p:sp>
        <p:nvSpPr>
          <p:cNvPr id="15" name="Text 12"/>
          <p:cNvSpPr/>
          <p:nvPr/>
        </p:nvSpPr>
        <p:spPr>
          <a:xfrm>
            <a:off x="3566160" y="2624328"/>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Botón azul: es una consulta y no cuesta nada. Devuelve 0x0000…0000. Nadie lo tiene.</a:t>
            </a:r>
            <a:endParaRPr lang="en-US" sz="1250" dirty="0"/>
          </a:p>
        </p:txBody>
      </p:sp>
      <p:sp>
        <p:nvSpPr>
          <p:cNvPr id="16" name="Shape 13"/>
          <p:cNvSpPr/>
          <p:nvPr/>
        </p:nvSpPr>
        <p:spPr>
          <a:xfrm>
            <a:off x="566928" y="3282696"/>
            <a:ext cx="11057839" cy="658368"/>
          </a:xfrm>
          <a:prstGeom prst="rect">
            <a:avLst/>
          </a:prstGeom>
          <a:solidFill>
            <a:srgbClr val="FFFFFF"/>
          </a:solidFill>
          <a:ln w="15875">
            <a:solidFill>
              <a:srgbClr val="D9D6E0"/>
            </a:solidFill>
            <a:prstDash val="solid"/>
          </a:ln>
        </p:spPr>
      </p:sp>
      <p:sp>
        <p:nvSpPr>
          <p:cNvPr id="17" name="Text 14"/>
          <p:cNvSpPr/>
          <p:nvPr/>
        </p:nvSpPr>
        <p:spPr>
          <a:xfrm>
            <a:off x="694944" y="3282696"/>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46557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PRESTAR · CUENTA 1</a:t>
            </a:r>
            <a:endParaRPr lang="en-US" sz="1000" dirty="0"/>
          </a:p>
        </p:txBody>
      </p:sp>
      <p:sp>
        <p:nvSpPr>
          <p:cNvPr id="19" name="Text 16"/>
          <p:cNvSpPr/>
          <p:nvPr/>
        </p:nvSpPr>
        <p:spPr>
          <a:xfrm>
            <a:off x="3566160" y="3374136"/>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Botón naranja: es una transacción. Volver a leer prestadoA: ahora es la cuenta 1. Comparar los primeros y últimos cuatro caracteres con el selector Account.</a:t>
            </a:r>
            <a:endParaRPr lang="en-US" sz="1250" dirty="0"/>
          </a:p>
        </p:txBody>
      </p:sp>
      <p:sp>
        <p:nvSpPr>
          <p:cNvPr id="20" name="Shape 17"/>
          <p:cNvSpPr/>
          <p:nvPr/>
        </p:nvSpPr>
        <p:spPr>
          <a:xfrm>
            <a:off x="566928" y="4032504"/>
            <a:ext cx="11057839" cy="658368"/>
          </a:xfrm>
          <a:prstGeom prst="rect">
            <a:avLst/>
          </a:prstGeom>
          <a:solidFill>
            <a:srgbClr val="FAF9FB"/>
          </a:solidFill>
          <a:ln w="15875">
            <a:solidFill>
              <a:srgbClr val="D9D6E0"/>
            </a:solidFill>
            <a:prstDash val="solid"/>
          </a:ln>
        </p:spPr>
      </p:sp>
      <p:sp>
        <p:nvSpPr>
          <p:cNvPr id="21" name="Text 18"/>
          <p:cNvSpPr/>
          <p:nvPr/>
        </p:nvSpPr>
        <p:spPr>
          <a:xfrm>
            <a:off x="694944" y="4032504"/>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215384"/>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CAMBIAR A LA CUENTA 2</a:t>
            </a:r>
            <a:endParaRPr lang="en-US" sz="1000" dirty="0"/>
          </a:p>
        </p:txBody>
      </p:sp>
      <p:sp>
        <p:nvSpPr>
          <p:cNvPr id="23" name="Text 20"/>
          <p:cNvSpPr/>
          <p:nvPr/>
        </p:nvSpPr>
        <p:spPr>
          <a:xfrm>
            <a:off x="3566160" y="4123944"/>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Arriba, en Account. Oprimir prestar otra vez.</a:t>
            </a:r>
            <a:endParaRPr lang="en-US" sz="1250" dirty="0"/>
          </a:p>
        </p:txBody>
      </p:sp>
      <p:sp>
        <p:nvSpPr>
          <p:cNvPr id="24" name="Shape 21"/>
          <p:cNvSpPr/>
          <p:nvPr/>
        </p:nvSpPr>
        <p:spPr>
          <a:xfrm>
            <a:off x="566928" y="4782312"/>
            <a:ext cx="11057839" cy="658368"/>
          </a:xfrm>
          <a:prstGeom prst="rect">
            <a:avLst/>
          </a:prstGeom>
          <a:solidFill>
            <a:srgbClr val="FFFFFF"/>
          </a:solidFill>
          <a:ln w="15875">
            <a:solidFill>
              <a:srgbClr val="D9D6E0"/>
            </a:solidFill>
            <a:prstDash val="solid"/>
          </a:ln>
        </p:spPr>
      </p:sp>
      <p:sp>
        <p:nvSpPr>
          <p:cNvPr id="25" name="Text 22"/>
          <p:cNvSpPr/>
          <p:nvPr/>
        </p:nvSpPr>
        <p:spPr>
          <a:xfrm>
            <a:off x="694944" y="4782312"/>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4965192"/>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LEER PRESTADOA</a:t>
            </a:r>
            <a:endParaRPr lang="en-US" sz="1000" dirty="0"/>
          </a:p>
        </p:txBody>
      </p:sp>
      <p:sp>
        <p:nvSpPr>
          <p:cNvPr id="27" name="Text 24"/>
          <p:cNvSpPr/>
          <p:nvPr/>
        </p:nvSpPr>
        <p:spPr>
          <a:xfrm>
            <a:off x="3566160" y="4873752"/>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Ahora dice cuenta 2. La transacción salió bien. Verde. Sin un solo error.</a:t>
            </a:r>
            <a:endParaRPr lang="en-US" sz="1250" dirty="0"/>
          </a:p>
        </p:txBody>
      </p:sp>
      <p:sp>
        <p:nvSpPr>
          <p:cNvPr id="28" name="Text 25"/>
          <p:cNvSpPr/>
          <p:nvPr/>
        </p:nvSpPr>
        <p:spPr>
          <a:xfrm>
            <a:off x="566928" y="5669280"/>
            <a:ext cx="11057839" cy="73152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La cuenta 1 nunca devolvió el proyector. ¿Dónde está el proyector?</a:t>
            </a:r>
            <a:endParaRPr lang="en-US" sz="13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1</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PREGUNTA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09</a:t>
            </a:r>
            <a:endParaRPr lang="en-US" sz="900" dirty="0"/>
          </a:p>
        </p:txBody>
      </p:sp>
      <p:sp>
        <p:nvSpPr>
          <p:cNvPr id="8" name="Shape 5"/>
          <p:cNvSpPr/>
          <p:nvPr/>
        </p:nvSpPr>
        <p:spPr>
          <a:xfrm>
            <a:off x="566928" y="2148840"/>
            <a:ext cx="11057839" cy="21031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2331720"/>
            <a:ext cx="10289743" cy="1737360"/>
          </a:xfrm>
          <a:prstGeom prst="rect">
            <a:avLst/>
          </a:prstGeom>
          <a:noFill/>
          <a:ln/>
        </p:spPr>
        <p:txBody>
          <a:bodyPr wrap="square" lIns="0" tIns="0" rIns="0" bIns="0" rtlCol="0" anchor="ctr"/>
          <a:lstStyle/>
          <a:p>
            <a:pPr indent="0" marL="0">
              <a:lnSpc>
                <a:spcPct val="106000"/>
              </a:lnSpc>
              <a:buNone/>
            </a:pPr>
            <a:r>
              <a:rPr lang="en-US" sz="2200" dirty="0">
                <a:solidFill>
                  <a:srgbClr val="0F0F11"/>
                </a:solidFill>
                <a:latin typeface="Arial Black" pitchFamily="34" charset="0"/>
                <a:ea typeface="Arial Black" pitchFamily="34" charset="-122"/>
                <a:cs typeface="Arial Black" pitchFamily="34" charset="-120"/>
              </a:rPr>
              <a:t>El código no tiene un solo error de sintaxis, y acaba de hacer algo imposible en la vida real. ¿Dónde está el error, entonces?</a:t>
            </a:r>
            <a:endParaRPr lang="en-US" sz="2200" dirty="0"/>
          </a:p>
        </p:txBody>
      </p:sp>
      <p:sp>
        <p:nvSpPr>
          <p:cNvPr id="10" name="Text 7"/>
          <p:cNvSpPr/>
          <p:nvPr/>
        </p:nvSpPr>
        <p:spPr>
          <a:xfrm>
            <a:off x="566928" y="4526280"/>
            <a:ext cx="11057839" cy="731520"/>
          </a:xfrm>
          <a:prstGeom prst="rect">
            <a:avLst/>
          </a:prstGeom>
          <a:noFill/>
          <a:ln/>
        </p:spPr>
        <p:txBody>
          <a:bodyPr wrap="square" lIns="0" tIns="0" rIns="0" bIns="0" rtlCol="0" anchor="t"/>
          <a:lstStyle/>
          <a:p>
            <a:pPr algn="ctr" indent="0" marL="0">
              <a:lnSpc>
                <a:spcPct val="124000"/>
              </a:lnSpc>
              <a:buNone/>
            </a:pPr>
            <a:r>
              <a:rPr lang="en-US" sz="1400" dirty="0">
                <a:solidFill>
                  <a:srgbClr val="6F6B80"/>
                </a:solidFill>
                <a:latin typeface="Arial" pitchFamily="34" charset="0"/>
                <a:ea typeface="Arial" pitchFamily="34" charset="-122"/>
                <a:cs typeface="Arial" pitchFamily="34" charset="-120"/>
              </a:rPr>
              <a:t>Pista: miren otra vez la última transacción. Salió verde.</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1 · RESPUESTA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ROTURA NO ES ROJA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10</a:t>
            </a:r>
            <a:endParaRPr lang="en-US" sz="900" dirty="0"/>
          </a:p>
        </p:txBody>
      </p:sp>
      <p:sp>
        <p:nvSpPr>
          <p:cNvPr id="8" name="Shape 5"/>
          <p:cNvSpPr/>
          <p:nvPr/>
        </p:nvSpPr>
        <p:spPr>
          <a:xfrm>
            <a:off x="566928" y="1737360"/>
            <a:ext cx="11057839" cy="1371600"/>
          </a:xfrm>
          <a:prstGeom prst="rect">
            <a:avLst/>
          </a:prstGeom>
          <a:solidFill>
            <a:srgbClr val="FFFFFF"/>
          </a:solidFill>
          <a:ln w="34925">
            <a:solidFill>
              <a:srgbClr val="1F7A4D"/>
            </a:solidFill>
            <a:prstDash val="solid"/>
          </a:ln>
          <a:effectLst>
            <a:outerShdw sx="100000" sy="100000" kx="0" ky="0" algn="bl" rotWithShape="0" blurRad="101600" dist="63500" dir="2700000">
              <a:srgbClr val="1F7A4D">
                <a:alpha val="100000"/>
              </a:srgbClr>
            </a:outerShdw>
          </a:effectLst>
        </p:spPr>
      </p:sp>
      <p:sp>
        <p:nvSpPr>
          <p:cNvPr id="9" name="Text 6"/>
          <p:cNvSpPr/>
          <p:nvPr/>
        </p:nvSpPr>
        <p:spPr>
          <a:xfrm>
            <a:off x="950976" y="1920240"/>
            <a:ext cx="10289743" cy="100584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No falta corregir un error: falta escribir una regla. El contrato nunca comprueba si el equipo ya está prestado, así que hizo exactamente lo que le pedimos.</a:t>
            </a:r>
            <a:endParaRPr lang="en-US" sz="1800" dirty="0"/>
          </a:p>
        </p:txBody>
      </p:sp>
      <p:sp>
        <p:nvSpPr>
          <p:cNvPr id="10" name="Shape 7"/>
          <p:cNvSpPr/>
          <p:nvPr/>
        </p:nvSpPr>
        <p:spPr>
          <a:xfrm>
            <a:off x="566928" y="3291840"/>
            <a:ext cx="5391760" cy="18288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34747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LO QUE UNO ESPERA DE UN ERROR</a:t>
            </a:r>
            <a:endParaRPr lang="en-US" sz="1050" dirty="0"/>
          </a:p>
        </p:txBody>
      </p:sp>
      <p:sp>
        <p:nvSpPr>
          <p:cNvPr id="12" name="Text 9"/>
          <p:cNvSpPr/>
          <p:nvPr/>
        </p:nvSpPr>
        <p:spPr>
          <a:xfrm>
            <a:off x="841248" y="385876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Algo rojo, una excepción, un mensaje. Eso es lo que nos enseñaron a buscar, y aquí no aparece.</a:t>
            </a:r>
            <a:endParaRPr lang="en-US" sz="1250" dirty="0"/>
          </a:p>
        </p:txBody>
      </p:sp>
      <p:sp>
        <p:nvSpPr>
          <p:cNvPr id="13" name="Shape 10"/>
          <p:cNvSpPr/>
          <p:nvPr/>
        </p:nvSpPr>
        <p:spPr>
          <a:xfrm>
            <a:off x="6233008" y="3291840"/>
            <a:ext cx="5391760" cy="18288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4747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LO QUE DE VERDAD PASA</a:t>
            </a:r>
            <a:endParaRPr lang="en-US" sz="1050" dirty="0"/>
          </a:p>
        </p:txBody>
      </p:sp>
      <p:sp>
        <p:nvSpPr>
          <p:cNvPr id="15" name="Text 12"/>
          <p:cNvSpPr/>
          <p:nvPr/>
        </p:nvSpPr>
        <p:spPr>
          <a:xfrm>
            <a:off x="6507328" y="385876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Todo sale bien y el resultado es imposible. La mayoría de los robos en contratos son código funcionando como está escrito.</a:t>
            </a:r>
            <a:endParaRPr lang="en-US" sz="1250" dirty="0"/>
          </a:p>
        </p:txBody>
      </p:sp>
      <p:sp>
        <p:nvSpPr>
          <p:cNvPr id="16" name="Shape 13"/>
          <p:cNvSpPr/>
          <p:nvPr/>
        </p:nvSpPr>
        <p:spPr>
          <a:xfrm>
            <a:off x="566928" y="5303520"/>
            <a:ext cx="11057839" cy="777240"/>
          </a:xfrm>
          <a:prstGeom prst="rect">
            <a:avLst/>
          </a:prstGeom>
          <a:solidFill>
            <a:srgbClr val="F2F0F5"/>
          </a:solidFill>
          <a:ln w="22225">
            <a:solidFill>
              <a:srgbClr val="7152E9"/>
            </a:solidFill>
            <a:prstDash val="solid"/>
          </a:ln>
          <a:effectLst>
            <a:outerShdw sx="100000" sy="100000" kx="0" ky="0" algn="bl" rotWithShape="0" blurRad="101600" dist="63500" dir="2700000">
              <a:srgbClr val="5638C9">
                <a:alpha val="100000"/>
              </a:srgbClr>
            </a:outerShdw>
          </a:effectLst>
        </p:spPr>
      </p:sp>
      <p:sp>
        <p:nvSpPr>
          <p:cNvPr id="17" name="Text 14"/>
          <p:cNvSpPr/>
          <p:nvPr/>
        </p:nvSpPr>
        <p:spPr>
          <a:xfrm>
            <a:off x="841248" y="5440680"/>
            <a:ext cx="475488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Y ESO ES LO QUE ARREGLA EL PASO SIGUIENTE</a:t>
            </a:r>
            <a:endParaRPr lang="en-US" sz="1050" dirty="0"/>
          </a:p>
        </p:txBody>
      </p:sp>
      <p:sp>
        <p:nvSpPr>
          <p:cNvPr id="18" name="Text 15"/>
          <p:cNvSpPr/>
          <p:nvPr/>
        </p:nvSpPr>
        <p:spPr>
          <a:xfrm>
            <a:off x="841248" y="5669280"/>
            <a:ext cx="10509199" cy="4572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El contrato tiene que poder decir que NO. Eso es un require, o mejor, un error con nombre propio.</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2</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ERRORES PROPIOS · view</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EL CONTRATO DICE NO</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Un contrato que no sabe negarse no sirve para nada. Y al negarse, conviene que diga por qué.</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2 · LO QUE AGREGAMOS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DOS ERRORES CON NOMBRE Y DOS GUARDIAS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12</a:t>
            </a:r>
            <a:endParaRPr lang="en-US" sz="900" dirty="0"/>
          </a:p>
        </p:txBody>
      </p:sp>
      <p:sp>
        <p:nvSpPr>
          <p:cNvPr id="8" name="Shape 5"/>
          <p:cNvSpPr/>
          <p:nvPr/>
        </p:nvSpPr>
        <p:spPr>
          <a:xfrm>
            <a:off x="566928" y="1691640"/>
            <a:ext cx="11057839" cy="3657600"/>
          </a:xfrm>
          <a:prstGeom prst="rect">
            <a:avLst/>
          </a:prstGeom>
          <a:solidFill>
            <a:srgbClr val="16151B"/>
          </a:solidFill>
          <a:ln w="22225">
            <a:solidFill>
              <a:srgbClr val="16151B"/>
            </a:solidFill>
            <a:prstDash val="solid"/>
          </a:ln>
        </p:spPr>
      </p:sp>
      <p:sp>
        <p:nvSpPr>
          <p:cNvPr id="9" name="Text 6"/>
          <p:cNvSpPr/>
          <p:nvPr/>
        </p:nvSpPr>
        <p:spPr>
          <a:xfrm>
            <a:off x="768096" y="1837944"/>
            <a:ext cx="10655503" cy="3401568"/>
          </a:xfrm>
          <a:prstGeom prst="rect">
            <a:avLst/>
          </a:prstGeom>
          <a:noFill/>
          <a:ln/>
        </p:spPr>
        <p:txBody>
          <a:bodyPr wrap="square" lIns="0" tIns="0" rIns="0" bIns="0" rtlCol="0" anchor="t"/>
          <a:lstStyle/>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error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EquipoOcupado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loTiene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error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NoLoTienesTu</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estaDisponible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view</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return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prestadoA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prestar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estaDisponible</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EquipoOcupado</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prestadoA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prestadoA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endParaRPr lang="en-US" sz="1200" dirty="0"/>
          </a:p>
          <a:p>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devolver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prestadoA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NoLoTienesTu</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prestadoA</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0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a:p>
            <a:pPr indent="0" marL="0">
              <a:lnSpc>
                <a:spcPct val="112000"/>
              </a:lnSpc>
              <a:buNone/>
            </a:pPr>
            <a:r>
              <a:rPr lang="en-US" sz="1200" dirty="0">
                <a:solidFill>
                  <a:srgbClr val="F4F2F7"/>
                </a:solidFill>
                <a:latin typeface="Courier New" pitchFamily="34" charset="0"/>
                <a:ea typeface="Courier New" pitchFamily="34" charset="-122"/>
                <a:cs typeface="Courier New" pitchFamily="34" charset="-120"/>
              </a:rPr>
              <a:t>}</a:t>
            </a:r>
            <a:endParaRPr lang="en-US" sz="1200" dirty="0"/>
          </a:p>
        </p:txBody>
      </p:sp>
      <p:sp>
        <p:nvSpPr>
          <p:cNvPr id="10" name="Text 7"/>
          <p:cNvSpPr/>
          <p:nvPr/>
        </p:nvSpPr>
        <p:spPr>
          <a:xfrm>
            <a:off x="566928" y="5513832"/>
            <a:ext cx="11057839" cy="68580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view = leo el estado pero no lo cambio: desde fuera no cuesta gas. Y el error lleva datos: no dice «ocupado», dice quién lo tiene.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2 · AHORA EN REMIX</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QUE SE CAIGA, Y QUE DIGA POR QUÉ</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13</a:t>
            </a:r>
            <a:endParaRPr lang="en-US" sz="900" dirty="0"/>
          </a:p>
        </p:txBody>
      </p:sp>
      <p:sp>
        <p:nvSpPr>
          <p:cNvPr id="8" name="Shape 5"/>
          <p:cNvSpPr/>
          <p:nvPr/>
        </p:nvSpPr>
        <p:spPr>
          <a:xfrm>
            <a:off x="566928" y="1783080"/>
            <a:ext cx="11057839" cy="658368"/>
          </a:xfrm>
          <a:prstGeom prst="rect">
            <a:avLst/>
          </a:prstGeom>
          <a:solidFill>
            <a:srgbClr val="FFFFFF"/>
          </a:solidFill>
          <a:ln w="15875">
            <a:solidFill>
              <a:srgbClr val="D9D6E0"/>
            </a:solidFill>
            <a:prstDash val="solid"/>
          </a:ln>
        </p:spPr>
      </p:sp>
      <p:sp>
        <p:nvSpPr>
          <p:cNvPr id="9" name="Text 6"/>
          <p:cNvSpPr/>
          <p:nvPr/>
        </p:nvSpPr>
        <p:spPr>
          <a:xfrm>
            <a:off x="694944" y="178308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65960"/>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VOLVER A DESPLEGAR</a:t>
            </a:r>
            <a:endParaRPr lang="en-US" sz="1000" dirty="0"/>
          </a:p>
        </p:txBody>
      </p:sp>
      <p:sp>
        <p:nvSpPr>
          <p:cNvPr id="11" name="Text 8"/>
          <p:cNvSpPr/>
          <p:nvPr/>
        </p:nvSpPr>
        <p:spPr>
          <a:xfrm>
            <a:off x="3566160" y="1874520"/>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Cada Deploy crea un contrato NUEVO y vacío. El anterior sigue ahí con su estado: usamos siempre el último de la lista.</a:t>
            </a:r>
            <a:endParaRPr lang="en-US" sz="1250" dirty="0"/>
          </a:p>
        </p:txBody>
      </p:sp>
      <p:sp>
        <p:nvSpPr>
          <p:cNvPr id="12" name="Shape 9"/>
          <p:cNvSpPr/>
          <p:nvPr/>
        </p:nvSpPr>
        <p:spPr>
          <a:xfrm>
            <a:off x="566928" y="2532888"/>
            <a:ext cx="11057839" cy="658368"/>
          </a:xfrm>
          <a:prstGeom prst="rect">
            <a:avLst/>
          </a:prstGeom>
          <a:solidFill>
            <a:srgbClr val="FAF9FB"/>
          </a:solidFill>
          <a:ln w="15875">
            <a:solidFill>
              <a:srgbClr val="D9D6E0"/>
            </a:solidFill>
            <a:prstDash val="solid"/>
          </a:ln>
        </p:spPr>
      </p:sp>
      <p:sp>
        <p:nvSpPr>
          <p:cNvPr id="13" name="Text 10"/>
          <p:cNvSpPr/>
          <p:nvPr/>
        </p:nvSpPr>
        <p:spPr>
          <a:xfrm>
            <a:off x="694944" y="2532888"/>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715768"/>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CUENTA 1 · PRESTAR</a:t>
            </a:r>
            <a:endParaRPr lang="en-US" sz="1000" dirty="0"/>
          </a:p>
        </p:txBody>
      </p:sp>
      <p:sp>
        <p:nvSpPr>
          <p:cNvPr id="15" name="Text 12"/>
          <p:cNvSpPr/>
          <p:nvPr/>
        </p:nvSpPr>
        <p:spPr>
          <a:xfrm>
            <a:off x="3566160" y="2624328"/>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Pasa. estaDisponible() ahora devuelve false.</a:t>
            </a:r>
            <a:endParaRPr lang="en-US" sz="1250" dirty="0"/>
          </a:p>
        </p:txBody>
      </p:sp>
      <p:sp>
        <p:nvSpPr>
          <p:cNvPr id="16" name="Shape 13"/>
          <p:cNvSpPr/>
          <p:nvPr/>
        </p:nvSpPr>
        <p:spPr>
          <a:xfrm>
            <a:off x="566928" y="3282696"/>
            <a:ext cx="11057839" cy="658368"/>
          </a:xfrm>
          <a:prstGeom prst="rect">
            <a:avLst/>
          </a:prstGeom>
          <a:solidFill>
            <a:srgbClr val="FFFFFF"/>
          </a:solidFill>
          <a:ln w="15875">
            <a:solidFill>
              <a:srgbClr val="D9D6E0"/>
            </a:solidFill>
            <a:prstDash val="solid"/>
          </a:ln>
        </p:spPr>
      </p:sp>
      <p:sp>
        <p:nvSpPr>
          <p:cNvPr id="17" name="Text 14"/>
          <p:cNvSpPr/>
          <p:nvPr/>
        </p:nvSpPr>
        <p:spPr>
          <a:xfrm>
            <a:off x="694944" y="3282696"/>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46557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CUENTA 2 · PRESTAR</a:t>
            </a:r>
            <a:endParaRPr lang="en-US" sz="1000" dirty="0"/>
          </a:p>
        </p:txBody>
      </p:sp>
      <p:sp>
        <p:nvSpPr>
          <p:cNvPr id="19" name="Text 16"/>
          <p:cNvSpPr/>
          <p:nvPr/>
        </p:nvSpPr>
        <p:spPr>
          <a:xfrm>
            <a:off x="3566160" y="3374136"/>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REVIERTE. En la terminal, abrir la flecha: el error trae la dirección de la cuenta 1 adentro.</a:t>
            </a:r>
            <a:endParaRPr lang="en-US" sz="1250" dirty="0"/>
          </a:p>
        </p:txBody>
      </p:sp>
      <p:sp>
        <p:nvSpPr>
          <p:cNvPr id="20" name="Shape 17"/>
          <p:cNvSpPr/>
          <p:nvPr/>
        </p:nvSpPr>
        <p:spPr>
          <a:xfrm>
            <a:off x="566928" y="4032504"/>
            <a:ext cx="11057839" cy="658368"/>
          </a:xfrm>
          <a:prstGeom prst="rect">
            <a:avLst/>
          </a:prstGeom>
          <a:solidFill>
            <a:srgbClr val="FAF9FB"/>
          </a:solidFill>
          <a:ln w="15875">
            <a:solidFill>
              <a:srgbClr val="D9D6E0"/>
            </a:solidFill>
            <a:prstDash val="solid"/>
          </a:ln>
        </p:spPr>
      </p:sp>
      <p:sp>
        <p:nvSpPr>
          <p:cNvPr id="21" name="Text 18"/>
          <p:cNvSpPr/>
          <p:nvPr/>
        </p:nvSpPr>
        <p:spPr>
          <a:xfrm>
            <a:off x="694944" y="4032504"/>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215384"/>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CUENTA 2 · DEVOLVER</a:t>
            </a:r>
            <a:endParaRPr lang="en-US" sz="1000" dirty="0"/>
          </a:p>
        </p:txBody>
      </p:sp>
      <p:sp>
        <p:nvSpPr>
          <p:cNvPr id="23" name="Text 20"/>
          <p:cNvSpPr/>
          <p:nvPr/>
        </p:nvSpPr>
        <p:spPr>
          <a:xfrm>
            <a:off x="3566160" y="4123944"/>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REVIERTE con NoLoTienesTu. Nadie devuelve lo que no tiene.</a:t>
            </a:r>
            <a:endParaRPr lang="en-US" sz="1250" dirty="0"/>
          </a:p>
        </p:txBody>
      </p:sp>
      <p:sp>
        <p:nvSpPr>
          <p:cNvPr id="24" name="Shape 21"/>
          <p:cNvSpPr/>
          <p:nvPr/>
        </p:nvSpPr>
        <p:spPr>
          <a:xfrm>
            <a:off x="566928" y="4782312"/>
            <a:ext cx="11057839" cy="658368"/>
          </a:xfrm>
          <a:prstGeom prst="rect">
            <a:avLst/>
          </a:prstGeom>
          <a:solidFill>
            <a:srgbClr val="FFFFFF"/>
          </a:solidFill>
          <a:ln w="15875">
            <a:solidFill>
              <a:srgbClr val="D9D6E0"/>
            </a:solidFill>
            <a:prstDash val="solid"/>
          </a:ln>
        </p:spPr>
      </p:sp>
      <p:sp>
        <p:nvSpPr>
          <p:cNvPr id="25" name="Text 22"/>
          <p:cNvSpPr/>
          <p:nvPr/>
        </p:nvSpPr>
        <p:spPr>
          <a:xfrm>
            <a:off x="694944" y="4782312"/>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4965192"/>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CUENTA 1 · DEVOLVER</a:t>
            </a:r>
            <a:endParaRPr lang="en-US" sz="1000" dirty="0"/>
          </a:p>
        </p:txBody>
      </p:sp>
      <p:sp>
        <p:nvSpPr>
          <p:cNvPr id="27" name="Text 24"/>
          <p:cNvSpPr/>
          <p:nvPr/>
        </p:nvSpPr>
        <p:spPr>
          <a:xfrm>
            <a:off x="3566160" y="4873752"/>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Pasa. Y ahora sí, la cuenta 2 puede prestarlo.</a:t>
            </a:r>
            <a:endParaRPr lang="en-US" sz="1250" dirty="0"/>
          </a:p>
        </p:txBody>
      </p:sp>
      <p:sp>
        <p:nvSpPr>
          <p:cNvPr id="28" name="Text 25"/>
          <p:cNvSpPr/>
          <p:nvPr/>
        </p:nvSpPr>
        <p:spPr>
          <a:xfrm>
            <a:off x="566928" y="5669280"/>
            <a:ext cx="11057839" cy="73152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Validar cuesta gas: prestar pasó de unas 24 400 a unas 26 600 unidades. Negarse no es gratis.</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2</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PREGUNTA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14</a:t>
            </a:r>
            <a:endParaRPr lang="en-US" sz="900" dirty="0"/>
          </a:p>
        </p:txBody>
      </p:sp>
      <p:sp>
        <p:nvSpPr>
          <p:cNvPr id="8" name="Shape 5"/>
          <p:cNvSpPr/>
          <p:nvPr/>
        </p:nvSpPr>
        <p:spPr>
          <a:xfrm>
            <a:off x="566928" y="2148840"/>
            <a:ext cx="11057839" cy="21031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2331720"/>
            <a:ext cx="10289743" cy="1737360"/>
          </a:xfrm>
          <a:prstGeom prst="rect">
            <a:avLst/>
          </a:prstGeom>
          <a:noFill/>
          <a:ln/>
        </p:spPr>
        <p:txBody>
          <a:bodyPr wrap="square" lIns="0" tIns="0" rIns="0" bIns="0" rtlCol="0" anchor="ctr"/>
          <a:lstStyle/>
          <a:p>
            <a:pPr indent="0" marL="0">
              <a:lnSpc>
                <a:spcPct val="106000"/>
              </a:lnSpc>
              <a:buNone/>
            </a:pPr>
            <a:r>
              <a:rPr lang="en-US" sz="2200" dirty="0">
                <a:solidFill>
                  <a:srgbClr val="0F0F11"/>
                </a:solidFill>
                <a:latin typeface="Arial Black" pitchFamily="34" charset="0"/>
                <a:ea typeface="Arial Black" pitchFamily="34" charset="-122"/>
                <a:cs typeface="Arial Black" pitchFamily="34" charset="-120"/>
              </a:rPr>
              <a:t>El laboratorio tiene cuarenta equipos. ¿Desplegamos cuarenta contratos?</a:t>
            </a:r>
            <a:endParaRPr lang="en-US" sz="2200" dirty="0"/>
          </a:p>
        </p:txBody>
      </p:sp>
      <p:sp>
        <p:nvSpPr>
          <p:cNvPr id="10" name="Text 7"/>
          <p:cNvSpPr/>
          <p:nvPr/>
        </p:nvSpPr>
        <p:spPr>
          <a:xfrm>
            <a:off x="566928" y="4526280"/>
            <a:ext cx="11057839" cy="731520"/>
          </a:xfrm>
          <a:prstGeom prst="rect">
            <a:avLst/>
          </a:prstGeom>
          <a:noFill/>
          <a:ln/>
        </p:spPr>
        <p:txBody>
          <a:bodyPr wrap="square" lIns="0" tIns="0" rIns="0" bIns="0" rtlCol="0" anchor="t"/>
          <a:lstStyle/>
          <a:p>
            <a:pPr algn="ctr" indent="0" marL="0">
              <a:lnSpc>
                <a:spcPct val="124000"/>
              </a:lnSpc>
              <a:buNone/>
            </a:pPr>
            <a:r>
              <a:rPr lang="en-US" sz="1400" dirty="0">
                <a:solidFill>
                  <a:srgbClr val="6F6B80"/>
                </a:solidFill>
                <a:latin typeface="Arial" pitchFamily="34" charset="0"/>
                <a:ea typeface="Arial" pitchFamily="34" charset="-122"/>
                <a:cs typeface="Arial" pitchFamily="34" charset="-120"/>
              </a:rPr>
              <a:t>Piensen en qué significaría eso el día que haya que cambiar una regla.</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2 · RESPUESTA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UN CONTRATO, MUCHOS EQUIPOS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15</a:t>
            </a:r>
            <a:endParaRPr lang="en-US" sz="900" dirty="0"/>
          </a:p>
        </p:txBody>
      </p:sp>
      <p:sp>
        <p:nvSpPr>
          <p:cNvPr id="8" name="Shape 5"/>
          <p:cNvSpPr/>
          <p:nvPr/>
        </p:nvSpPr>
        <p:spPr>
          <a:xfrm>
            <a:off x="566928" y="1737360"/>
            <a:ext cx="11057839" cy="1371600"/>
          </a:xfrm>
          <a:prstGeom prst="rect">
            <a:avLst/>
          </a:prstGeom>
          <a:solidFill>
            <a:srgbClr val="FFFFFF"/>
          </a:solidFill>
          <a:ln w="34925">
            <a:solidFill>
              <a:srgbClr val="1F7A4D"/>
            </a:solidFill>
            <a:prstDash val="solid"/>
          </a:ln>
          <a:effectLst>
            <a:outerShdw sx="100000" sy="100000" kx="0" ky="0" algn="bl" rotWithShape="0" blurRad="101600" dist="63500" dir="2700000">
              <a:srgbClr val="1F7A4D">
                <a:alpha val="100000"/>
              </a:srgbClr>
            </a:outerShdw>
          </a:effectLst>
        </p:spPr>
      </p:sp>
      <p:sp>
        <p:nvSpPr>
          <p:cNvPr id="9" name="Text 6"/>
          <p:cNvSpPr/>
          <p:nvPr/>
        </p:nvSpPr>
        <p:spPr>
          <a:xfrm>
            <a:off x="950976" y="1920240"/>
            <a:ext cx="10289743" cy="100584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No. Hace falta una tabla adentro del contrato: un identificador por equipo, y los datos de cada uno agrupados.</a:t>
            </a:r>
            <a:endParaRPr lang="en-US" sz="1800" dirty="0"/>
          </a:p>
        </p:txBody>
      </p:sp>
      <p:sp>
        <p:nvSpPr>
          <p:cNvPr id="10" name="Shape 7"/>
          <p:cNvSpPr/>
          <p:nvPr/>
        </p:nvSpPr>
        <p:spPr>
          <a:xfrm>
            <a:off x="566928" y="3291840"/>
            <a:ext cx="5391760" cy="18288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34747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STRUCT</a:t>
            </a:r>
            <a:endParaRPr lang="en-US" sz="1050" dirty="0"/>
          </a:p>
        </p:txBody>
      </p:sp>
      <p:sp>
        <p:nvSpPr>
          <p:cNvPr id="12" name="Text 9"/>
          <p:cNvSpPr/>
          <p:nvPr/>
        </p:nvSpPr>
        <p:spPr>
          <a:xfrm>
            <a:off x="841248" y="385876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tipo propio que agrupa datos que van juntos: el nombre del equipo, quién lo tiene, si existe.</a:t>
            </a:r>
            <a:endParaRPr lang="en-US" sz="1250" dirty="0"/>
          </a:p>
        </p:txBody>
      </p:sp>
      <p:sp>
        <p:nvSpPr>
          <p:cNvPr id="13" name="Shape 10"/>
          <p:cNvSpPr/>
          <p:nvPr/>
        </p:nvSpPr>
        <p:spPr>
          <a:xfrm>
            <a:off x="6233008" y="3291840"/>
            <a:ext cx="5391760" cy="18288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4747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MAPPING</a:t>
            </a:r>
            <a:endParaRPr lang="en-US" sz="1050" dirty="0"/>
          </a:p>
        </p:txBody>
      </p:sp>
      <p:sp>
        <p:nvSpPr>
          <p:cNvPr id="15" name="Text 12"/>
          <p:cNvSpPr/>
          <p:nvPr/>
        </p:nvSpPr>
        <p:spPr>
          <a:xfrm>
            <a:off x="6507328" y="385876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Una tabla: dele un identificador y le devuelve el equipo. Con tres rarezas que vamos a ver de frente.</a:t>
            </a:r>
            <a:endParaRPr lang="en-US" sz="1250" dirty="0"/>
          </a:p>
        </p:txBody>
      </p:sp>
      <p:sp>
        <p:nvSpPr>
          <p:cNvPr id="16" name="Shape 13"/>
          <p:cNvSpPr/>
          <p:nvPr/>
        </p:nvSpPr>
        <p:spPr>
          <a:xfrm>
            <a:off x="566928" y="5303520"/>
            <a:ext cx="11057839" cy="777240"/>
          </a:xfrm>
          <a:prstGeom prst="rect">
            <a:avLst/>
          </a:prstGeom>
          <a:solidFill>
            <a:srgbClr val="F2F0F5"/>
          </a:solidFill>
          <a:ln w="22225">
            <a:solidFill>
              <a:srgbClr val="7152E9"/>
            </a:solidFill>
            <a:prstDash val="solid"/>
          </a:ln>
          <a:effectLst>
            <a:outerShdw sx="100000" sy="100000" kx="0" ky="0" algn="bl" rotWithShape="0" blurRad="101600" dist="63500" dir="2700000">
              <a:srgbClr val="5638C9">
                <a:alpha val="100000"/>
              </a:srgbClr>
            </a:outerShdw>
          </a:effectLst>
        </p:spPr>
      </p:sp>
      <p:sp>
        <p:nvSpPr>
          <p:cNvPr id="17" name="Text 14"/>
          <p:cNvSpPr/>
          <p:nvPr/>
        </p:nvSpPr>
        <p:spPr>
          <a:xfrm>
            <a:off x="841248" y="5440680"/>
            <a:ext cx="475488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Y ESO ES LO QUE ARREGLA EL PASO SIGUIENTE</a:t>
            </a:r>
            <a:endParaRPr lang="en-US" sz="1050" dirty="0"/>
          </a:p>
        </p:txBody>
      </p:sp>
      <p:sp>
        <p:nvSpPr>
          <p:cNvPr id="18" name="Text 15"/>
          <p:cNvSpPr/>
          <p:nvPr/>
        </p:nvSpPr>
        <p:spPr>
          <a:xfrm>
            <a:off x="841248" y="5669280"/>
            <a:ext cx="10509199" cy="4572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Y apenas haya inventario, aparece la pregunta de quién tiene derecho a agregarle cosas.</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3</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struct · mapping · calldata</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MUCHOS EQUIPOS, UN CONTRATO</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struct para agrupar, mapping para guardar. Y una rareza del mapping que engaña a todo el mundo la primera vez.</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3 · LO QUE AGREGAMOS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UNA TABLA DE EQUIPOS</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17</a:t>
            </a:r>
            <a:endParaRPr lang="en-US" sz="900" dirty="0"/>
          </a:p>
        </p:txBody>
      </p:sp>
      <p:sp>
        <p:nvSpPr>
          <p:cNvPr id="8" name="Shape 5"/>
          <p:cNvSpPr/>
          <p:nvPr/>
        </p:nvSpPr>
        <p:spPr>
          <a:xfrm>
            <a:off x="566928" y="1691640"/>
            <a:ext cx="11057839" cy="3657600"/>
          </a:xfrm>
          <a:prstGeom prst="rect">
            <a:avLst/>
          </a:prstGeom>
          <a:solidFill>
            <a:srgbClr val="16151B"/>
          </a:solidFill>
          <a:ln w="22225">
            <a:solidFill>
              <a:srgbClr val="16151B"/>
            </a:solidFill>
            <a:prstDash val="solid"/>
          </a:ln>
        </p:spPr>
      </p:sp>
      <p:sp>
        <p:nvSpPr>
          <p:cNvPr id="9" name="Text 6"/>
          <p:cNvSpPr/>
          <p:nvPr/>
        </p:nvSpPr>
        <p:spPr>
          <a:xfrm>
            <a:off x="768096" y="1837944"/>
            <a:ext cx="10655503" cy="3401568"/>
          </a:xfrm>
          <a:prstGeom prst="rect">
            <a:avLst/>
          </a:prstGeom>
          <a:noFill/>
          <a:ln/>
        </p:spPr>
        <p:txBody>
          <a:bodyPr wrap="square" lIns="0" tIns="0" rIns="0" bIns="0" rtlCol="0" anchor="t"/>
          <a:lstStyle/>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struct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Equipo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string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nombre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prestadoA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existe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¿por qué hace falta esto?</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mapping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Equipo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equipos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totalEquipos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registrar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string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calldata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nombre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bytes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nombre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length</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NombreVacio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totalEquipos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el primer equipo es el 1, no el 0</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totalEquipos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equipos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Equipo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nombre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nombre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prestadoA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existe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true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0" name="Text 7"/>
          <p:cNvSpPr/>
          <p:nvPr/>
        </p:nvSpPr>
        <p:spPr>
          <a:xfrm>
            <a:off x="566928" y="5513832"/>
            <a:ext cx="11057839" cy="68580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calldata: el texto se lee directo de la transacción, sin copiarlo. Es lo más barato para un parámetro que no se modifica.</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3 · LA RAREZA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TRES COSAS DEL MAPPING QUE SORPRENDEN</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18</a:t>
            </a:r>
            <a:endParaRPr lang="en-US" sz="900" dirty="0"/>
          </a:p>
        </p:txBody>
      </p:sp>
      <p:sp>
        <p:nvSpPr>
          <p:cNvPr id="8" name="Shape 5"/>
          <p:cNvSpPr/>
          <p:nvPr/>
        </p:nvSpPr>
        <p:spPr>
          <a:xfrm>
            <a:off x="566928" y="1920240"/>
            <a:ext cx="11057839" cy="868680"/>
          </a:xfrm>
          <a:prstGeom prst="rect">
            <a:avLst/>
          </a:prstGeom>
          <a:solidFill>
            <a:srgbClr val="FFFFFF"/>
          </a:solidFill>
          <a:ln w="15875">
            <a:solidFill>
              <a:srgbClr val="D9D6E0"/>
            </a:solidFill>
            <a:prstDash val="solid"/>
          </a:ln>
        </p:spPr>
      </p:sp>
      <p:sp>
        <p:nvSpPr>
          <p:cNvPr id="9" name="Text 6"/>
          <p:cNvSpPr/>
          <p:nvPr/>
        </p:nvSpPr>
        <p:spPr>
          <a:xfrm>
            <a:off x="694944" y="1920240"/>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2208276"/>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NO SE RECORRE</a:t>
            </a:r>
            <a:endParaRPr lang="en-US" sz="1000" dirty="0"/>
          </a:p>
        </p:txBody>
      </p:sp>
      <p:sp>
        <p:nvSpPr>
          <p:cNvPr id="11" name="Text 8"/>
          <p:cNvSpPr/>
          <p:nvPr/>
        </p:nvSpPr>
        <p:spPr>
          <a:xfrm>
            <a:off x="4023360" y="2011680"/>
            <a:ext cx="7491679" cy="722376"/>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No existe «dame todos los equipos». Por eso llevamos totalEquipos a mano. Si hace falta la lista, se paga por mantenerla.</a:t>
            </a:r>
            <a:endParaRPr lang="en-US" sz="1300" dirty="0"/>
          </a:p>
        </p:txBody>
      </p:sp>
      <p:sp>
        <p:nvSpPr>
          <p:cNvPr id="12" name="Shape 9"/>
          <p:cNvSpPr/>
          <p:nvPr/>
        </p:nvSpPr>
        <p:spPr>
          <a:xfrm>
            <a:off x="566928" y="2916936"/>
            <a:ext cx="11057839" cy="868680"/>
          </a:xfrm>
          <a:prstGeom prst="rect">
            <a:avLst/>
          </a:prstGeom>
          <a:solidFill>
            <a:srgbClr val="FAF9FB"/>
          </a:solidFill>
          <a:ln w="15875">
            <a:solidFill>
              <a:srgbClr val="D9D6E0"/>
            </a:solidFill>
            <a:prstDash val="solid"/>
          </a:ln>
        </p:spPr>
      </p:sp>
      <p:sp>
        <p:nvSpPr>
          <p:cNvPr id="13" name="Text 10"/>
          <p:cNvSpPr/>
          <p:nvPr/>
        </p:nvSpPr>
        <p:spPr>
          <a:xfrm>
            <a:off x="694944" y="2916936"/>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3204972"/>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TODA CLAVE EXISTE</a:t>
            </a:r>
            <a:endParaRPr lang="en-US" sz="1000" dirty="0"/>
          </a:p>
        </p:txBody>
      </p:sp>
      <p:sp>
        <p:nvSpPr>
          <p:cNvPr id="15" name="Text 12"/>
          <p:cNvSpPr/>
          <p:nvPr/>
        </p:nvSpPr>
        <p:spPr>
          <a:xfrm>
            <a:off x="4023360" y="3008376"/>
            <a:ext cx="7491679" cy="722376"/>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Preguntar por el equipo 99, que nadie registró, no da error: devuelve una estructura con todo en cero.</a:t>
            </a:r>
            <a:endParaRPr lang="en-US" sz="1300" dirty="0"/>
          </a:p>
        </p:txBody>
      </p:sp>
      <p:sp>
        <p:nvSpPr>
          <p:cNvPr id="16" name="Shape 13"/>
          <p:cNvSpPr/>
          <p:nvPr/>
        </p:nvSpPr>
        <p:spPr>
          <a:xfrm>
            <a:off x="566928" y="3913632"/>
            <a:ext cx="11057839" cy="868680"/>
          </a:xfrm>
          <a:prstGeom prst="rect">
            <a:avLst/>
          </a:prstGeom>
          <a:solidFill>
            <a:srgbClr val="FFFFFF"/>
          </a:solidFill>
          <a:ln w="15875">
            <a:solidFill>
              <a:srgbClr val="D9D6E0"/>
            </a:solidFill>
            <a:prstDash val="solid"/>
          </a:ln>
        </p:spPr>
      </p:sp>
      <p:sp>
        <p:nvSpPr>
          <p:cNvPr id="17" name="Text 14"/>
          <p:cNvSpPr/>
          <p:nvPr/>
        </p:nvSpPr>
        <p:spPr>
          <a:xfrm>
            <a:off x="694944" y="3913632"/>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4201668"/>
            <a:ext cx="24688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LAS CLAVES SE NOMBRAN</a:t>
            </a:r>
            <a:endParaRPr lang="en-US" sz="1000" dirty="0"/>
          </a:p>
        </p:txBody>
      </p:sp>
      <p:sp>
        <p:nvSpPr>
          <p:cNvPr id="19" name="Text 16"/>
          <p:cNvSpPr/>
          <p:nvPr/>
        </p:nvSpPr>
        <p:spPr>
          <a:xfrm>
            <a:off x="4023360" y="4005072"/>
            <a:ext cx="7491679" cy="722376"/>
          </a:xfrm>
          <a:prstGeom prst="rect">
            <a:avLst/>
          </a:prstGeom>
          <a:noFill/>
          <a:ln/>
        </p:spPr>
        <p:txBody>
          <a:bodyPr wrap="square" lIns="0" tIns="0" rIns="0" bIns="0" rtlCol="0" anchor="ctr"/>
          <a:lstStyle/>
          <a:p>
            <a:pPr indent="0" marL="0">
              <a:lnSpc>
                <a:spcPct val="115000"/>
              </a:lnSpc>
              <a:buNone/>
            </a:pPr>
            <a:r>
              <a:rPr lang="en-US" sz="1300" dirty="0">
                <a:solidFill>
                  <a:srgbClr val="3A3844"/>
                </a:solidFill>
                <a:latin typeface="Arial" pitchFamily="34" charset="0"/>
                <a:ea typeface="Arial" pitchFamily="34" charset="-122"/>
                <a:cs typeface="Arial" pitchFamily="34" charset="-120"/>
              </a:rPr>
              <a:t>mapping(uint256 id =&gt; Equipo) se lee mejor que mapping(uint256 =&gt; Equipo). Es solo documentación, y vale la pena.</a:t>
            </a:r>
            <a:endParaRPr lang="en-US" sz="1300" dirty="0"/>
          </a:p>
        </p:txBody>
      </p:sp>
      <p:sp>
        <p:nvSpPr>
          <p:cNvPr id="20" name="Text 17"/>
          <p:cNvSpPr/>
          <p:nvPr/>
        </p:nvSpPr>
        <p:spPr>
          <a:xfrm>
            <a:off x="566928" y="5120640"/>
            <a:ext cx="11057839" cy="548640"/>
          </a:xfrm>
          <a:prstGeom prst="rect">
            <a:avLst/>
          </a:prstGeom>
          <a:noFill/>
          <a:ln/>
        </p:spPr>
        <p:txBody>
          <a:bodyPr wrap="square" lIns="0" tIns="0" rIns="0" bIns="0" rtlCol="0" anchor="t"/>
          <a:lstStyle/>
          <a:p>
            <a:pPr indent="0" marL="0">
              <a:lnSpc>
                <a:spcPct val="124000"/>
              </a:lnSpc>
              <a:buNone/>
            </a:pPr>
            <a:r>
              <a:rPr lang="en-US" sz="1400" dirty="0">
                <a:solidFill>
                  <a:srgbClr val="A35604"/>
                </a:solidFill>
                <a:latin typeface="Arial" pitchFamily="34" charset="0"/>
                <a:ea typeface="Arial" pitchFamily="34" charset="-122"/>
                <a:cs typeface="Arial" pitchFamily="34" charset="-120"/>
              </a:rPr>
              <a:t>La segunda es la peligrosa, y es la que vamos a provocar ahora mismo en pantalla.</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3 · AHORA EN REMIX</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DOS EQUIPOS Y UNA CONSULTA TRAMPOSA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19</a:t>
            </a:r>
            <a:endParaRPr lang="en-US" sz="900" dirty="0"/>
          </a:p>
        </p:txBody>
      </p:sp>
      <p:sp>
        <p:nvSpPr>
          <p:cNvPr id="8" name="Shape 5"/>
          <p:cNvSpPr/>
          <p:nvPr/>
        </p:nvSpPr>
        <p:spPr>
          <a:xfrm>
            <a:off x="566928" y="1783080"/>
            <a:ext cx="11057839" cy="868680"/>
          </a:xfrm>
          <a:prstGeom prst="rect">
            <a:avLst/>
          </a:prstGeom>
          <a:solidFill>
            <a:srgbClr val="FFFFFF"/>
          </a:solidFill>
          <a:ln w="15875">
            <a:solidFill>
              <a:srgbClr val="D9D6E0"/>
            </a:solidFill>
            <a:prstDash val="solid"/>
          </a:ln>
        </p:spPr>
      </p:sp>
      <p:sp>
        <p:nvSpPr>
          <p:cNvPr id="9" name="Text 6"/>
          <p:cNvSpPr/>
          <p:nvPr/>
        </p:nvSpPr>
        <p:spPr>
          <a:xfrm>
            <a:off x="694944" y="1783080"/>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207111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REGISTRAR DOS</a:t>
            </a:r>
            <a:endParaRPr lang="en-US" sz="1000" dirty="0"/>
          </a:p>
        </p:txBody>
      </p:sp>
      <p:sp>
        <p:nvSpPr>
          <p:cNvPr id="11" name="Text 8"/>
          <p:cNvSpPr/>
          <p:nvPr/>
        </p:nvSpPr>
        <p:spPr>
          <a:xfrm>
            <a:off x="3566160" y="1874520"/>
            <a:ext cx="7948879" cy="7223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registrar("Proyector Epson") y registrar("Kit Arduino"). Leer totalEquipos: 2. Leer equipos(1) y equipos(2).</a:t>
            </a:r>
            <a:endParaRPr lang="en-US" sz="1250" dirty="0"/>
          </a:p>
        </p:txBody>
      </p:sp>
      <p:sp>
        <p:nvSpPr>
          <p:cNvPr id="12" name="Shape 9"/>
          <p:cNvSpPr/>
          <p:nvPr/>
        </p:nvSpPr>
        <p:spPr>
          <a:xfrm>
            <a:off x="566928" y="2743200"/>
            <a:ext cx="11057839" cy="868680"/>
          </a:xfrm>
          <a:prstGeom prst="rect">
            <a:avLst/>
          </a:prstGeom>
          <a:solidFill>
            <a:srgbClr val="FAF9FB"/>
          </a:solidFill>
          <a:ln w="15875">
            <a:solidFill>
              <a:srgbClr val="D9D6E0"/>
            </a:solidFill>
            <a:prstDash val="solid"/>
          </a:ln>
        </p:spPr>
      </p:sp>
      <p:sp>
        <p:nvSpPr>
          <p:cNvPr id="13" name="Text 10"/>
          <p:cNvSpPr/>
          <p:nvPr/>
        </p:nvSpPr>
        <p:spPr>
          <a:xfrm>
            <a:off x="694944" y="2743200"/>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303123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PRESTAR EN PARALELO</a:t>
            </a:r>
            <a:endParaRPr lang="en-US" sz="1000" dirty="0"/>
          </a:p>
        </p:txBody>
      </p:sp>
      <p:sp>
        <p:nvSpPr>
          <p:cNvPr id="15" name="Text 12"/>
          <p:cNvSpPr/>
          <p:nvPr/>
        </p:nvSpPr>
        <p:spPr>
          <a:xfrm>
            <a:off x="3566160" y="2834640"/>
            <a:ext cx="7948879" cy="7223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La cuenta 1 presta el equipo 1; la cuenta 2 presta el equipo 2. Conviven sin estorbarse.</a:t>
            </a:r>
            <a:endParaRPr lang="en-US" sz="1250" dirty="0"/>
          </a:p>
        </p:txBody>
      </p:sp>
      <p:sp>
        <p:nvSpPr>
          <p:cNvPr id="16" name="Shape 13"/>
          <p:cNvSpPr/>
          <p:nvPr/>
        </p:nvSpPr>
        <p:spPr>
          <a:xfrm>
            <a:off x="566928" y="3703320"/>
            <a:ext cx="11057839" cy="868680"/>
          </a:xfrm>
          <a:prstGeom prst="rect">
            <a:avLst/>
          </a:prstGeom>
          <a:solidFill>
            <a:srgbClr val="FFFFFF"/>
          </a:solidFill>
          <a:ln w="15875">
            <a:solidFill>
              <a:srgbClr val="D9D6E0"/>
            </a:solidFill>
            <a:prstDash val="solid"/>
          </a:ln>
        </p:spPr>
      </p:sp>
      <p:sp>
        <p:nvSpPr>
          <p:cNvPr id="17" name="Text 14"/>
          <p:cNvSpPr/>
          <p:nvPr/>
        </p:nvSpPr>
        <p:spPr>
          <a:xfrm>
            <a:off x="694944" y="3703320"/>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99135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PREGUNTAR POR EL 99</a:t>
            </a:r>
            <a:endParaRPr lang="en-US" sz="1000" dirty="0"/>
          </a:p>
        </p:txBody>
      </p:sp>
      <p:sp>
        <p:nvSpPr>
          <p:cNvPr id="19" name="Text 16"/>
          <p:cNvSpPr/>
          <p:nvPr/>
        </p:nvSpPr>
        <p:spPr>
          <a:xfrm>
            <a:off x="3566160" y="3794760"/>
            <a:ext cx="7948879" cy="7223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estaDisponible(99). El equipo 99 no existe. Miren bien qué contesta.</a:t>
            </a:r>
            <a:endParaRPr lang="en-US" sz="1250" dirty="0"/>
          </a:p>
        </p:txBody>
      </p:sp>
      <p:sp>
        <p:nvSpPr>
          <p:cNvPr id="20" name="Text 17"/>
          <p:cNvSpPr/>
          <p:nvPr/>
        </p:nvSpPr>
        <p:spPr>
          <a:xfrm>
            <a:off x="566928" y="4800600"/>
            <a:ext cx="11057839" cy="73152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Y después: que la cuenta 3, un estudiante cualquiera, llame a registrar("Portátil que no existe"). Funciona.</a:t>
            </a:r>
            <a:endParaRPr lang="en-US" sz="13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3</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PREGUNTA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20</a:t>
            </a:r>
            <a:endParaRPr lang="en-US" sz="900" dirty="0"/>
          </a:p>
        </p:txBody>
      </p:sp>
      <p:sp>
        <p:nvSpPr>
          <p:cNvPr id="8" name="Shape 5"/>
          <p:cNvSpPr/>
          <p:nvPr/>
        </p:nvSpPr>
        <p:spPr>
          <a:xfrm>
            <a:off x="566928" y="2148840"/>
            <a:ext cx="11057839" cy="21031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2331720"/>
            <a:ext cx="10289743" cy="1737360"/>
          </a:xfrm>
          <a:prstGeom prst="rect">
            <a:avLst/>
          </a:prstGeom>
          <a:noFill/>
          <a:ln/>
        </p:spPr>
        <p:txBody>
          <a:bodyPr wrap="square" lIns="0" tIns="0" rIns="0" bIns="0" rtlCol="0" anchor="ctr"/>
          <a:lstStyle/>
          <a:p>
            <a:pPr indent="0" marL="0">
              <a:lnSpc>
                <a:spcPct val="106000"/>
              </a:lnSpc>
              <a:buNone/>
            </a:pPr>
            <a:r>
              <a:rPr lang="en-US" sz="2200" dirty="0">
                <a:solidFill>
                  <a:srgbClr val="0F0F11"/>
                </a:solidFill>
                <a:latin typeface="Arial Black" pitchFamily="34" charset="0"/>
                <a:ea typeface="Arial Black" pitchFamily="34" charset="-122"/>
                <a:cs typeface="Arial Black" pitchFamily="34" charset="-120"/>
              </a:rPr>
              <a:t>¿Qué debería contestar estaDisponible(99) si el equipo 99 nunca se registró?</a:t>
            </a:r>
            <a:endParaRPr lang="en-US" sz="2200" dirty="0"/>
          </a:p>
        </p:txBody>
      </p:sp>
      <p:sp>
        <p:nvSpPr>
          <p:cNvPr id="10" name="Text 7"/>
          <p:cNvSpPr/>
          <p:nvPr/>
        </p:nvSpPr>
        <p:spPr>
          <a:xfrm>
            <a:off x="566928" y="4526280"/>
            <a:ext cx="11057839" cy="731520"/>
          </a:xfrm>
          <a:prstGeom prst="rect">
            <a:avLst/>
          </a:prstGeom>
          <a:noFill/>
          <a:ln/>
        </p:spPr>
        <p:txBody>
          <a:bodyPr wrap="square" lIns="0" tIns="0" rIns="0" bIns="0" rtlCol="0" anchor="t"/>
          <a:lstStyle/>
          <a:p>
            <a:pPr algn="ctr" indent="0" marL="0">
              <a:lnSpc>
                <a:spcPct val="124000"/>
              </a:lnSpc>
              <a:buNone/>
            </a:pPr>
            <a:r>
              <a:rPr lang="en-US" sz="1400" dirty="0">
                <a:solidFill>
                  <a:srgbClr val="6F6B80"/>
                </a:solidFill>
                <a:latin typeface="Arial" pitchFamily="34" charset="0"/>
                <a:ea typeface="Arial" pitchFamily="34" charset="-122"/>
                <a:cs typeface="Arial" pitchFamily="34" charset="-120"/>
              </a:rPr>
              <a:t>Lo intuitivo es «que no está disponible». Piénsenlo otra vez.</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3 · RESPUESTA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DEBE REVENTAR, NO CONTESTAR</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21</a:t>
            </a:r>
            <a:endParaRPr lang="en-US" sz="900" dirty="0"/>
          </a:p>
        </p:txBody>
      </p:sp>
      <p:sp>
        <p:nvSpPr>
          <p:cNvPr id="8" name="Shape 5"/>
          <p:cNvSpPr/>
          <p:nvPr/>
        </p:nvSpPr>
        <p:spPr>
          <a:xfrm>
            <a:off x="566928" y="1737360"/>
            <a:ext cx="11057839" cy="1371600"/>
          </a:xfrm>
          <a:prstGeom prst="rect">
            <a:avLst/>
          </a:prstGeom>
          <a:solidFill>
            <a:srgbClr val="FFFFFF"/>
          </a:solidFill>
          <a:ln w="34925">
            <a:solidFill>
              <a:srgbClr val="1F7A4D"/>
            </a:solidFill>
            <a:prstDash val="solid"/>
          </a:ln>
          <a:effectLst>
            <a:outerShdw sx="100000" sy="100000" kx="0" ky="0" algn="bl" rotWithShape="0" blurRad="101600" dist="63500" dir="2700000">
              <a:srgbClr val="1F7A4D">
                <a:alpha val="100000"/>
              </a:srgbClr>
            </a:outerShdw>
          </a:effectLst>
        </p:spPr>
      </p:sp>
      <p:sp>
        <p:nvSpPr>
          <p:cNvPr id="9" name="Text 6"/>
          <p:cNvSpPr/>
          <p:nvPr/>
        </p:nvSpPr>
        <p:spPr>
          <a:xfrm>
            <a:off x="950976" y="1920240"/>
            <a:ext cx="10289743" cy="100584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Sin el campo existe, el mapping devuelve todo en cero y el contrato respondería «sí, disponible» sobre un equipo que nunca existió. Una mentira cómoda es peor que un error.</a:t>
            </a:r>
            <a:endParaRPr lang="en-US" sz="1800" dirty="0"/>
          </a:p>
        </p:txBody>
      </p:sp>
      <p:sp>
        <p:nvSpPr>
          <p:cNvPr id="10" name="Shape 7"/>
          <p:cNvSpPr/>
          <p:nvPr/>
        </p:nvSpPr>
        <p:spPr>
          <a:xfrm>
            <a:off x="566928" y="3291840"/>
            <a:ext cx="5391760" cy="18288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34747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CONTESTAR FALSE</a:t>
            </a:r>
            <a:endParaRPr lang="en-US" sz="1050" dirty="0"/>
          </a:p>
        </p:txBody>
      </p:sp>
      <p:sp>
        <p:nvSpPr>
          <p:cNvPr id="12" name="Text 9"/>
          <p:cNvSpPr/>
          <p:nvPr/>
        </p:nvSpPr>
        <p:spPr>
          <a:xfrm>
            <a:off x="841248" y="385876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Suena razonable y es falso: mezcla «no está disponible» con «no existe». Quien use el dato no puede distinguirlos.</a:t>
            </a:r>
            <a:endParaRPr lang="en-US" sz="1250" dirty="0"/>
          </a:p>
        </p:txBody>
      </p:sp>
      <p:sp>
        <p:nvSpPr>
          <p:cNvPr id="13" name="Shape 10"/>
          <p:cNvSpPr/>
          <p:nvPr/>
        </p:nvSpPr>
        <p:spPr>
          <a:xfrm>
            <a:off x="6233008" y="3291840"/>
            <a:ext cx="5391760" cy="18288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4747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REVERTIR CON EQUIPONOREGISTRADO(99)</a:t>
            </a:r>
            <a:endParaRPr lang="en-US" sz="1050" dirty="0"/>
          </a:p>
        </p:txBody>
      </p:sp>
      <p:sp>
        <p:nvSpPr>
          <p:cNvPr id="15" name="Text 12"/>
          <p:cNvSpPr/>
          <p:nvPr/>
        </p:nvSpPr>
        <p:spPr>
          <a:xfrm>
            <a:off x="6507328" y="385876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Dice exactamente qué pasó, y quien llama puede reaccionar distinto a cada caso.</a:t>
            </a:r>
            <a:endParaRPr lang="en-US" sz="1250" dirty="0"/>
          </a:p>
        </p:txBody>
      </p:sp>
      <p:sp>
        <p:nvSpPr>
          <p:cNvPr id="16" name="Shape 13"/>
          <p:cNvSpPr/>
          <p:nvPr/>
        </p:nvSpPr>
        <p:spPr>
          <a:xfrm>
            <a:off x="566928" y="5303520"/>
            <a:ext cx="11057839" cy="777240"/>
          </a:xfrm>
          <a:prstGeom prst="rect">
            <a:avLst/>
          </a:prstGeom>
          <a:solidFill>
            <a:srgbClr val="F2F0F5"/>
          </a:solidFill>
          <a:ln w="22225">
            <a:solidFill>
              <a:srgbClr val="7152E9"/>
            </a:solidFill>
            <a:prstDash val="solid"/>
          </a:ln>
          <a:effectLst>
            <a:outerShdw sx="100000" sy="100000" kx="0" ky="0" algn="bl" rotWithShape="0" blurRad="101600" dist="63500" dir="2700000">
              <a:srgbClr val="5638C9">
                <a:alpha val="100000"/>
              </a:srgbClr>
            </a:outerShdw>
          </a:effectLst>
        </p:spPr>
      </p:sp>
      <p:sp>
        <p:nvSpPr>
          <p:cNvPr id="17" name="Text 14"/>
          <p:cNvSpPr/>
          <p:nvPr/>
        </p:nvSpPr>
        <p:spPr>
          <a:xfrm>
            <a:off x="841248" y="5440680"/>
            <a:ext cx="475488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Y ESO ES LO QUE ARREGLA EL PASO SIGUIENTE</a:t>
            </a:r>
            <a:endParaRPr lang="en-US" sz="1050" dirty="0"/>
          </a:p>
        </p:txBody>
      </p:sp>
      <p:sp>
        <p:nvSpPr>
          <p:cNvPr id="18" name="Text 15"/>
          <p:cNvSpPr/>
          <p:nvPr/>
        </p:nvSpPr>
        <p:spPr>
          <a:xfrm>
            <a:off x="841248" y="5669280"/>
            <a:ext cx="10509199" cy="4572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Pero además acabamos de ver que cualquiera puede registrar inventario. Falta decir quién manda aquí.</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4</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constructor · modifier</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QUIÉN MANDA AQUÍ</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El constructor corre una sola vez. Un modificador es una condición que se escribe una vez y se reutiliza.</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4 · LO QUE AGREGAMOS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UN DUEÑO, Y UNA CONDICIÓN REUTILIZABLE</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23</a:t>
            </a:r>
            <a:endParaRPr lang="en-US" sz="900" dirty="0"/>
          </a:p>
        </p:txBody>
      </p:sp>
      <p:sp>
        <p:nvSpPr>
          <p:cNvPr id="8" name="Shape 5"/>
          <p:cNvSpPr/>
          <p:nvPr/>
        </p:nvSpPr>
        <p:spPr>
          <a:xfrm>
            <a:off x="566928" y="1691640"/>
            <a:ext cx="11057839" cy="3840480"/>
          </a:xfrm>
          <a:prstGeom prst="rect">
            <a:avLst/>
          </a:prstGeom>
          <a:solidFill>
            <a:srgbClr val="16151B"/>
          </a:solidFill>
          <a:ln w="22225">
            <a:solidFill>
              <a:srgbClr val="16151B"/>
            </a:solidFill>
            <a:prstDash val="solid"/>
          </a:ln>
        </p:spPr>
      </p:sp>
      <p:sp>
        <p:nvSpPr>
          <p:cNvPr id="9" name="Text 6"/>
          <p:cNvSpPr/>
          <p:nvPr/>
        </p:nvSpPr>
        <p:spPr>
          <a:xfrm>
            <a:off x="768096" y="1837944"/>
            <a:ext cx="10655503" cy="3584448"/>
          </a:xfrm>
          <a:prstGeom prst="rect">
            <a:avLst/>
          </a:prstGeom>
          <a:noFill/>
          <a:ln/>
        </p:spPr>
        <p:txBody>
          <a:bodyPr wrap="square" lIns="0" tIns="0" rIns="0" bIns="0" rtlCol="0" anchor="t"/>
          <a:lstStyle/>
          <a:p>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encargado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constructor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encargado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corre UNA vez, al desplegar</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modifier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soloEncargado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encargado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SoloElEncargado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_</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&lt;- aquí va el cuerpo de la función</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registrar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string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calldata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nombre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soloEncargado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recuperar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soloEncargado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0" name="Text 7"/>
          <p:cNvSpPr/>
          <p:nvPr/>
        </p:nvSpPr>
        <p:spPr>
          <a:xfrm>
            <a:off x="566928" y="5696712"/>
            <a:ext cx="11057839" cy="68580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recuperar() existe porque alguien se gradúa, pierde la billetera, o simplemente no devuelve. Sin esa función, un equipo quedaría prestado para siempre.</a:t>
            </a:r>
            <a:endParaRPr lang="en-US" sz="13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4 · AHORA EN REMIX</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QUIÉN PUEDE Y QUIÉN NO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24</a:t>
            </a:r>
            <a:endParaRPr lang="en-US" sz="900" dirty="0"/>
          </a:p>
        </p:txBody>
      </p:sp>
      <p:sp>
        <p:nvSpPr>
          <p:cNvPr id="8" name="Shape 5"/>
          <p:cNvSpPr/>
          <p:nvPr/>
        </p:nvSpPr>
        <p:spPr>
          <a:xfrm>
            <a:off x="566928" y="1783080"/>
            <a:ext cx="11057839" cy="658368"/>
          </a:xfrm>
          <a:prstGeom prst="rect">
            <a:avLst/>
          </a:prstGeom>
          <a:solidFill>
            <a:srgbClr val="FFFFFF"/>
          </a:solidFill>
          <a:ln w="15875">
            <a:solidFill>
              <a:srgbClr val="D9D6E0"/>
            </a:solidFill>
            <a:prstDash val="solid"/>
          </a:ln>
        </p:spPr>
      </p:sp>
      <p:sp>
        <p:nvSpPr>
          <p:cNvPr id="9" name="Text 6"/>
          <p:cNvSpPr/>
          <p:nvPr/>
        </p:nvSpPr>
        <p:spPr>
          <a:xfrm>
            <a:off x="694944" y="1783080"/>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65960"/>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DESPLEGAR CON LA CUENTA 1</a:t>
            </a:r>
            <a:endParaRPr lang="en-US" sz="1000" dirty="0"/>
          </a:p>
        </p:txBody>
      </p:sp>
      <p:sp>
        <p:nvSpPr>
          <p:cNvPr id="11" name="Text 8"/>
          <p:cNvSpPr/>
          <p:nvPr/>
        </p:nvSpPr>
        <p:spPr>
          <a:xfrm>
            <a:off x="3566160" y="1874520"/>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Leer encargado: es la cuenta 1. Quedó grabado en el constructor y no vuelve a correr.</a:t>
            </a:r>
            <a:endParaRPr lang="en-US" sz="1250" dirty="0"/>
          </a:p>
        </p:txBody>
      </p:sp>
      <p:sp>
        <p:nvSpPr>
          <p:cNvPr id="12" name="Shape 9"/>
          <p:cNvSpPr/>
          <p:nvPr/>
        </p:nvSpPr>
        <p:spPr>
          <a:xfrm>
            <a:off x="566928" y="2532888"/>
            <a:ext cx="11057839" cy="658368"/>
          </a:xfrm>
          <a:prstGeom prst="rect">
            <a:avLst/>
          </a:prstGeom>
          <a:solidFill>
            <a:srgbClr val="FAF9FB"/>
          </a:solidFill>
          <a:ln w="15875">
            <a:solidFill>
              <a:srgbClr val="D9D6E0"/>
            </a:solidFill>
            <a:prstDash val="solid"/>
          </a:ln>
        </p:spPr>
      </p:sp>
      <p:sp>
        <p:nvSpPr>
          <p:cNvPr id="13" name="Text 10"/>
          <p:cNvSpPr/>
          <p:nvPr/>
        </p:nvSpPr>
        <p:spPr>
          <a:xfrm>
            <a:off x="694944" y="2532888"/>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715768"/>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CUENTA 2 · REGISTRAR</a:t>
            </a:r>
            <a:endParaRPr lang="en-US" sz="1000" dirty="0"/>
          </a:p>
        </p:txBody>
      </p:sp>
      <p:sp>
        <p:nvSpPr>
          <p:cNvPr id="15" name="Text 12"/>
          <p:cNvSpPr/>
          <p:nvPr/>
        </p:nvSpPr>
        <p:spPr>
          <a:xfrm>
            <a:off x="3566160" y="2624328"/>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REVIERTE con SoloElEncargado, y el error trae la dirección de quien lo intentó.</a:t>
            </a:r>
            <a:endParaRPr lang="en-US" sz="1250" dirty="0"/>
          </a:p>
        </p:txBody>
      </p:sp>
      <p:sp>
        <p:nvSpPr>
          <p:cNvPr id="16" name="Shape 13"/>
          <p:cNvSpPr/>
          <p:nvPr/>
        </p:nvSpPr>
        <p:spPr>
          <a:xfrm>
            <a:off x="566928" y="3282696"/>
            <a:ext cx="11057839" cy="658368"/>
          </a:xfrm>
          <a:prstGeom prst="rect">
            <a:avLst/>
          </a:prstGeom>
          <a:solidFill>
            <a:srgbClr val="FFFFFF"/>
          </a:solidFill>
          <a:ln w="15875">
            <a:solidFill>
              <a:srgbClr val="D9D6E0"/>
            </a:solidFill>
            <a:prstDash val="solid"/>
          </a:ln>
        </p:spPr>
      </p:sp>
      <p:sp>
        <p:nvSpPr>
          <p:cNvPr id="17" name="Text 14"/>
          <p:cNvSpPr/>
          <p:nvPr/>
        </p:nvSpPr>
        <p:spPr>
          <a:xfrm>
            <a:off x="694944" y="3282696"/>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46557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CUENTA 1 · REGISTRAR</a:t>
            </a:r>
            <a:endParaRPr lang="en-US" sz="1000" dirty="0"/>
          </a:p>
        </p:txBody>
      </p:sp>
      <p:sp>
        <p:nvSpPr>
          <p:cNvPr id="19" name="Text 16"/>
          <p:cNvSpPr/>
          <p:nvPr/>
        </p:nvSpPr>
        <p:spPr>
          <a:xfrm>
            <a:off x="3566160" y="3374136"/>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Pasa. El inventario solo crece si lo hace el encargado.</a:t>
            </a:r>
            <a:endParaRPr lang="en-US" sz="1250" dirty="0"/>
          </a:p>
        </p:txBody>
      </p:sp>
      <p:sp>
        <p:nvSpPr>
          <p:cNvPr id="20" name="Shape 17"/>
          <p:cNvSpPr/>
          <p:nvPr/>
        </p:nvSpPr>
        <p:spPr>
          <a:xfrm>
            <a:off x="566928" y="4032504"/>
            <a:ext cx="11057839" cy="658368"/>
          </a:xfrm>
          <a:prstGeom prst="rect">
            <a:avLst/>
          </a:prstGeom>
          <a:solidFill>
            <a:srgbClr val="FAF9FB"/>
          </a:solidFill>
          <a:ln w="15875">
            <a:solidFill>
              <a:srgbClr val="D9D6E0"/>
            </a:solidFill>
            <a:prstDash val="solid"/>
          </a:ln>
        </p:spPr>
      </p:sp>
      <p:sp>
        <p:nvSpPr>
          <p:cNvPr id="21" name="Text 18"/>
          <p:cNvSpPr/>
          <p:nvPr/>
        </p:nvSpPr>
        <p:spPr>
          <a:xfrm>
            <a:off x="694944" y="4032504"/>
            <a:ext cx="548640" cy="658368"/>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4215384"/>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CUENTA 2 PRESTA · CUENTA 1 RECUPERA</a:t>
            </a:r>
            <a:endParaRPr lang="en-US" sz="1000" dirty="0"/>
          </a:p>
        </p:txBody>
      </p:sp>
      <p:sp>
        <p:nvSpPr>
          <p:cNvPr id="23" name="Text 20"/>
          <p:cNvSpPr/>
          <p:nvPr/>
        </p:nvSpPr>
        <p:spPr>
          <a:xfrm>
            <a:off x="3566160" y="4123944"/>
            <a:ext cx="7948879" cy="512064"/>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El encargado le quita el equipo a la cuenta 2 sin pedirle permiso.</a:t>
            </a:r>
            <a:endParaRPr lang="en-US" sz="1250" dirty="0"/>
          </a:p>
        </p:txBody>
      </p:sp>
      <p:sp>
        <p:nvSpPr>
          <p:cNvPr id="24" name="Text 21"/>
          <p:cNvSpPr/>
          <p:nvPr/>
        </p:nvSpPr>
        <p:spPr>
          <a:xfrm>
            <a:off x="566928" y="4919472"/>
            <a:ext cx="11057839" cy="73152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Ese último clic es el que importa hoy, y no es técnico.</a:t>
            </a:r>
            <a:endParaRPr lang="en-US" sz="1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4</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PREGUNTA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25</a:t>
            </a:r>
            <a:endParaRPr lang="en-US" sz="900" dirty="0"/>
          </a:p>
        </p:txBody>
      </p:sp>
      <p:sp>
        <p:nvSpPr>
          <p:cNvPr id="8" name="Shape 5"/>
          <p:cNvSpPr/>
          <p:nvPr/>
        </p:nvSpPr>
        <p:spPr>
          <a:xfrm>
            <a:off x="566928" y="2148840"/>
            <a:ext cx="11057839" cy="21031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2331720"/>
            <a:ext cx="10289743" cy="1737360"/>
          </a:xfrm>
          <a:prstGeom prst="rect">
            <a:avLst/>
          </a:prstGeom>
          <a:noFill/>
          <a:ln/>
        </p:spPr>
        <p:txBody>
          <a:bodyPr wrap="square" lIns="0" tIns="0" rIns="0" bIns="0" rtlCol="0" anchor="ctr"/>
          <a:lstStyle/>
          <a:p>
            <a:pPr indent="0" marL="0">
              <a:lnSpc>
                <a:spcPct val="106000"/>
              </a:lnSpc>
              <a:buNone/>
            </a:pPr>
            <a:r>
              <a:rPr lang="en-US" sz="2200" dirty="0">
                <a:solidFill>
                  <a:srgbClr val="0F0F11"/>
                </a:solidFill>
                <a:latin typeface="Arial Black" pitchFamily="34" charset="0"/>
                <a:ea typeface="Arial Black" pitchFamily="34" charset="-122"/>
                <a:cs typeface="Arial Black" pitchFamily="34" charset="-120"/>
              </a:rPr>
              <a:t>Acabamos de darle a una sola dirección el poder de quitarle el equipo a cualquiera. ¿Está mal? ¿Y qué pasa el día que se pierda esa llave?</a:t>
            </a:r>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4 · RESPUESTA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TENER DUEÑO NO ES EL PROBLEMA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26</a:t>
            </a:r>
            <a:endParaRPr lang="en-US" sz="900" dirty="0"/>
          </a:p>
        </p:txBody>
      </p:sp>
      <p:sp>
        <p:nvSpPr>
          <p:cNvPr id="8" name="Shape 5"/>
          <p:cNvSpPr/>
          <p:nvPr/>
        </p:nvSpPr>
        <p:spPr>
          <a:xfrm>
            <a:off x="566928" y="1737360"/>
            <a:ext cx="11057839" cy="1371600"/>
          </a:xfrm>
          <a:prstGeom prst="rect">
            <a:avLst/>
          </a:prstGeom>
          <a:solidFill>
            <a:srgbClr val="FFFFFF"/>
          </a:solidFill>
          <a:ln w="34925">
            <a:solidFill>
              <a:srgbClr val="1F7A4D"/>
            </a:solidFill>
            <a:prstDash val="solid"/>
          </a:ln>
          <a:effectLst>
            <a:outerShdw sx="100000" sy="100000" kx="0" ky="0" algn="bl" rotWithShape="0" blurRad="101600" dist="63500" dir="2700000">
              <a:srgbClr val="1F7A4D">
                <a:alpha val="100000"/>
              </a:srgbClr>
            </a:outerShdw>
          </a:effectLst>
        </p:spPr>
      </p:sp>
      <p:sp>
        <p:nvSpPr>
          <p:cNvPr id="9" name="Text 6"/>
          <p:cNvSpPr/>
          <p:nvPr/>
        </p:nvSpPr>
        <p:spPr>
          <a:xfrm>
            <a:off x="950976" y="1920240"/>
            <a:ext cx="10289743" cy="100584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Todo contrato responde a la pregunta «¿quién manda aquí?». Lo grave no es tener un dueño: es no darse cuenta de que lo hay, o descubrirlo cuando ya es tarde.</a:t>
            </a:r>
            <a:endParaRPr lang="en-US" sz="1800" dirty="0"/>
          </a:p>
        </p:txBody>
      </p:sp>
      <p:sp>
        <p:nvSpPr>
          <p:cNvPr id="10" name="Shape 7"/>
          <p:cNvSpPr/>
          <p:nvPr/>
        </p:nvSpPr>
        <p:spPr>
          <a:xfrm>
            <a:off x="566928" y="3291840"/>
            <a:ext cx="5391760" cy="18288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34747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LO QUE GANAMOS</a:t>
            </a:r>
            <a:endParaRPr lang="en-US" sz="1050" dirty="0"/>
          </a:p>
        </p:txBody>
      </p:sp>
      <p:sp>
        <p:nvSpPr>
          <p:cNvPr id="12" name="Text 9"/>
          <p:cNvSpPr/>
          <p:nvPr/>
        </p:nvSpPr>
        <p:spPr>
          <a:xfrm>
            <a:off x="841248" y="385876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Nadie inventa inventario, y hay quien responda cuando un equipo no vuelve. Un laboratorio sin administrador no funciona.</a:t>
            </a:r>
            <a:endParaRPr lang="en-US" sz="1250" dirty="0"/>
          </a:p>
        </p:txBody>
      </p:sp>
      <p:sp>
        <p:nvSpPr>
          <p:cNvPr id="13" name="Shape 10"/>
          <p:cNvSpPr/>
          <p:nvPr/>
        </p:nvSpPr>
        <p:spPr>
          <a:xfrm>
            <a:off x="6233008" y="3291840"/>
            <a:ext cx="5391760" cy="18288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4747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LO QUE CUESTA</a:t>
            </a:r>
            <a:endParaRPr lang="en-US" sz="1050" dirty="0"/>
          </a:p>
        </p:txBody>
      </p:sp>
      <p:sp>
        <p:nvSpPr>
          <p:cNvPr id="15" name="Text 12"/>
          <p:cNvSpPr/>
          <p:nvPr/>
        </p:nvSpPr>
        <p:spPr>
          <a:xfrm>
            <a:off x="6507328" y="385876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Si esa llave se pierde, nadie registra nunca más. Si se la roban, el inventario es del ladrón. Y está escrito a la vista, que ya es más de lo que ofrecen muchas plataformas.</a:t>
            </a:r>
            <a:endParaRPr lang="en-US" sz="1250" dirty="0"/>
          </a:p>
        </p:txBody>
      </p:sp>
      <p:sp>
        <p:nvSpPr>
          <p:cNvPr id="16" name="Shape 13"/>
          <p:cNvSpPr/>
          <p:nvPr/>
        </p:nvSpPr>
        <p:spPr>
          <a:xfrm>
            <a:off x="566928" y="5303520"/>
            <a:ext cx="11057839" cy="777240"/>
          </a:xfrm>
          <a:prstGeom prst="rect">
            <a:avLst/>
          </a:prstGeom>
          <a:solidFill>
            <a:srgbClr val="F2F0F5"/>
          </a:solidFill>
          <a:ln w="22225">
            <a:solidFill>
              <a:srgbClr val="7152E9"/>
            </a:solidFill>
            <a:prstDash val="solid"/>
          </a:ln>
          <a:effectLst>
            <a:outerShdw sx="100000" sy="100000" kx="0" ky="0" algn="bl" rotWithShape="0" blurRad="101600" dist="63500" dir="2700000">
              <a:srgbClr val="5638C9">
                <a:alpha val="100000"/>
              </a:srgbClr>
            </a:outerShdw>
          </a:effectLst>
        </p:spPr>
      </p:sp>
      <p:sp>
        <p:nvSpPr>
          <p:cNvPr id="17" name="Text 14"/>
          <p:cNvSpPr/>
          <p:nvPr/>
        </p:nvSpPr>
        <p:spPr>
          <a:xfrm>
            <a:off x="841248" y="5440680"/>
            <a:ext cx="475488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Y ESO ES LO QUE ARREGLA EL PASO SIGUIENTE</a:t>
            </a:r>
            <a:endParaRPr lang="en-US" sz="1050" dirty="0"/>
          </a:p>
        </p:txBody>
      </p:sp>
      <p:sp>
        <p:nvSpPr>
          <p:cNvPr id="18" name="Text 15"/>
          <p:cNvSpPr/>
          <p:nvPr/>
        </p:nvSpPr>
        <p:spPr>
          <a:xfrm>
            <a:off x="841248" y="5669280"/>
            <a:ext cx="10509199" cy="4572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Falta algo obvio: nadie dijo hasta cuándo. Un préstamo sin fecha no es un préstamo.</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5</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block.timestamp · división entera</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HASTA CUÁNDO</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El reloj del bloque, el plazo, la mora. Y dos cosas de Solidity que descolocan a todo el mundo.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5 · LO QUE AGREGAMOS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UN PLAZO, Y LA CUENTA DE LA MORA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28</a:t>
            </a:r>
            <a:endParaRPr lang="en-US" sz="900" dirty="0"/>
          </a:p>
        </p:txBody>
      </p:sp>
      <p:sp>
        <p:nvSpPr>
          <p:cNvPr id="8" name="Shape 5"/>
          <p:cNvSpPr/>
          <p:nvPr/>
        </p:nvSpPr>
        <p:spPr>
          <a:xfrm>
            <a:off x="566928" y="1691640"/>
            <a:ext cx="11057839" cy="3931920"/>
          </a:xfrm>
          <a:prstGeom prst="rect">
            <a:avLst/>
          </a:prstGeom>
          <a:solidFill>
            <a:srgbClr val="16151B"/>
          </a:solidFill>
          <a:ln w="22225">
            <a:solidFill>
              <a:srgbClr val="16151B"/>
            </a:solidFill>
            <a:prstDash val="solid"/>
          </a:ln>
        </p:spPr>
      </p:sp>
      <p:sp>
        <p:nvSpPr>
          <p:cNvPr id="9" name="Text 6"/>
          <p:cNvSpPr/>
          <p:nvPr/>
        </p:nvSpPr>
        <p:spPr>
          <a:xfrm>
            <a:off x="768096" y="1837944"/>
            <a:ext cx="10655503" cy="3675888"/>
          </a:xfrm>
          <a:prstGeom prst="rect">
            <a:avLst/>
          </a:prstGeom>
          <a:noFill/>
          <a:ln/>
        </p:spPr>
        <p:txBody>
          <a:bodyPr wrap="square" lIns="0" tIns="0" rIns="0" bIns="0" rtlCol="0" anchor="t"/>
          <a:lstStyle/>
          <a:p>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uint64</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constant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PLAZO_MAXIMO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14</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days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prestar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uint64</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dias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equipos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vence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uint64</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timestamp</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dias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days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estaVencido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view</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Equipo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memory</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equipos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return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prestadoA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&amp;</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&amp;</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timestamp</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vence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diasDeMora</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view</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returns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uint64</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estaVencido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return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return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uint64</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timestamp</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equipos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vence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1</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days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0" name="Text 7"/>
          <p:cNvSpPr/>
          <p:nvPr/>
        </p:nvSpPr>
        <p:spPr>
          <a:xfrm>
            <a:off x="566928" y="5788152"/>
            <a:ext cx="11057839" cy="68580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14 days no es magia: Solidity lo convierte a 1 209 600 segundos. Y el tiempo en la cadena se mide en segundos desde 1970, como en casi todo el software.</a:t>
            </a:r>
            <a:endParaRPr lang="en-US" sz="13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5 · DOS COSAS QUE DESCOLOCAN</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800" dirty="0">
                <a:solidFill>
                  <a:srgbClr val="0F0F11"/>
                </a:solidFill>
                <a:latin typeface="Arial Black" pitchFamily="34" charset="0"/>
                <a:ea typeface="Arial Black" pitchFamily="34" charset="-122"/>
                <a:cs typeface="Arial Black" pitchFamily="34" charset="-120"/>
              </a:rPr>
              <a:t>EL RELOJ MIENTE UN POCO, Y NO HAY DECIMALES</a:t>
            </a:r>
            <a:endParaRPr lang="en-US" sz="28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29</a:t>
            </a:r>
            <a:endParaRPr lang="en-US" sz="900" dirty="0"/>
          </a:p>
        </p:txBody>
      </p:sp>
      <p:sp>
        <p:nvSpPr>
          <p:cNvPr id="8" name="Shape 5"/>
          <p:cNvSpPr/>
          <p:nvPr/>
        </p:nvSpPr>
        <p:spPr>
          <a:xfrm>
            <a:off x="566928" y="1828800"/>
            <a:ext cx="5391760" cy="21488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841248" y="201168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BLOCK.TIMESTAMP ES APROXIMADO</a:t>
            </a:r>
            <a:endParaRPr lang="en-US" sz="1050" dirty="0"/>
          </a:p>
        </p:txBody>
      </p:sp>
      <p:sp>
        <p:nvSpPr>
          <p:cNvPr id="10" name="Text 7"/>
          <p:cNvSpPr/>
          <p:nvPr/>
        </p:nvSpPr>
        <p:spPr>
          <a:xfrm>
            <a:off x="841248" y="2395728"/>
            <a:ext cx="4843120" cy="14173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Lo pone quien produce el bloque y lo puede mover unos segundos. Para «catorce días» da igual. Para sortear algo, JAMÁS: es una de las formas clásicas de hacer trampa, y vuelve en la sesión de seguridad.</a:t>
            </a:r>
            <a:endParaRPr lang="en-US" sz="1350" dirty="0"/>
          </a:p>
        </p:txBody>
      </p:sp>
      <p:sp>
        <p:nvSpPr>
          <p:cNvPr id="11" name="Shape 8"/>
          <p:cNvSpPr/>
          <p:nvPr/>
        </p:nvSpPr>
        <p:spPr>
          <a:xfrm>
            <a:off x="6233008" y="1828800"/>
            <a:ext cx="5391760" cy="21488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2" name="Text 9"/>
          <p:cNvSpPr/>
          <p:nvPr/>
        </p:nvSpPr>
        <p:spPr>
          <a:xfrm>
            <a:off x="6507328" y="201168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EN SOLIDITY NO HAY DECIMALES</a:t>
            </a:r>
            <a:endParaRPr lang="en-US" sz="1050" dirty="0"/>
          </a:p>
        </p:txBody>
      </p:sp>
      <p:sp>
        <p:nvSpPr>
          <p:cNvPr id="13" name="Text 10"/>
          <p:cNvSpPr/>
          <p:nvPr/>
        </p:nvSpPr>
        <p:spPr>
          <a:xfrm>
            <a:off x="6507328" y="2395728"/>
            <a:ext cx="4843120" cy="14173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La división entera trunca: 1,9 días de mora se cuentan como 1. No es un redondeo mal hecho; es que el tipo no tiene parte decimal. Lo mismo pasa con el dinero, y por eso todo se mide en wei.</a:t>
            </a:r>
            <a:endParaRPr lang="en-US" sz="1350" dirty="0"/>
          </a:p>
        </p:txBody>
      </p:sp>
      <p:sp>
        <p:nvSpPr>
          <p:cNvPr id="14" name="Shape 11"/>
          <p:cNvSpPr/>
          <p:nvPr/>
        </p:nvSpPr>
        <p:spPr>
          <a:xfrm>
            <a:off x="566928" y="4206240"/>
            <a:ext cx="11057839" cy="1234440"/>
          </a:xfrm>
          <a:prstGeom prst="rect">
            <a:avLst/>
          </a:prstGeom>
          <a:solidFill>
            <a:srgbClr val="F2F0F5"/>
          </a:solidFill>
          <a:ln w="22225">
            <a:solidFill>
              <a:srgbClr val="0F0F11"/>
            </a:solidFill>
            <a:prstDash val="solid"/>
          </a:ln>
        </p:spPr>
      </p:sp>
      <p:pic>
        <p:nvPicPr>
          <p:cNvPr id="15" name="Image 1" descr="preencoded.png">    </p:cNvPr>
          <p:cNvPicPr>
            <a:picLocks noChangeAspect="1"/>
          </p:cNvPicPr>
          <p:nvPr/>
        </p:nvPicPr>
        <p:blipFill>
          <a:blip r:embed="rId2"/>
          <a:stretch>
            <a:fillRect/>
          </a:stretch>
        </p:blipFill>
        <p:spPr>
          <a:xfrm>
            <a:off x="804672" y="4425696"/>
            <a:ext cx="237744" cy="237744"/>
          </a:xfrm>
          <a:prstGeom prst="rect">
            <a:avLst/>
          </a:prstGeom>
        </p:spPr>
      </p:pic>
      <p:sp>
        <p:nvSpPr>
          <p:cNvPr id="16" name="Text 12"/>
          <p:cNvSpPr/>
          <p:nvPr/>
        </p:nvSpPr>
        <p:spPr>
          <a:xfrm>
            <a:off x="1133856" y="4398264"/>
            <a:ext cx="10234879" cy="292608"/>
          </a:xfrm>
          <a:prstGeom prst="rect">
            <a:avLst/>
          </a:prstGeom>
          <a:noFill/>
          <a:ln/>
        </p:spPr>
        <p:txBody>
          <a:bodyPr wrap="square" lIns="0" tIns="0" rIns="0" bIns="0" rtlCol="0" anchor="ctr"/>
          <a:lstStyle/>
          <a:p>
            <a:pPr indent="0" marL="0">
              <a:buNone/>
            </a:pPr>
            <a:r>
              <a:rPr lang="en-US" sz="950" b="1" spc="150" kern="0" dirty="0">
                <a:solidFill>
                  <a:srgbClr val="6F6B80"/>
                </a:solidFill>
                <a:latin typeface="Courier New" pitchFamily="34" charset="0"/>
                <a:ea typeface="Courier New" pitchFamily="34" charset="-122"/>
                <a:cs typeface="Courier New" pitchFamily="34" charset="-120"/>
              </a:rPr>
              <a:t>DE PASO, UNA DECISIÓN DE DISEÑO QUE SE VE AQUÍ</a:t>
            </a:r>
            <a:endParaRPr lang="en-US" sz="950" dirty="0"/>
          </a:p>
        </p:txBody>
      </p:sp>
      <p:sp>
        <p:nvSpPr>
          <p:cNvPr id="17" name="Text 13"/>
          <p:cNvSpPr/>
          <p:nvPr/>
        </p:nvSpPr>
        <p:spPr>
          <a:xfrm>
            <a:off x="804672" y="4718304"/>
            <a:ext cx="10582351" cy="630936"/>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vence se declaró uint64 y no uint256. Junto a una dirección (20 bytes) y un bool, caben en la misma ranura de 32 bytes del almacenamiento. Agrupar bien ahorra una escritura entera, y escribir en storage es lo más caro que hace un contrato.</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5 · AHORA EN REMIX</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PRESTAR CON PLAZO, Y EL LÍMITE DEL SIMULADOR</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30</a:t>
            </a:r>
            <a:endParaRPr lang="en-US" sz="900" dirty="0"/>
          </a:p>
        </p:txBody>
      </p:sp>
      <p:sp>
        <p:nvSpPr>
          <p:cNvPr id="8" name="Shape 5"/>
          <p:cNvSpPr/>
          <p:nvPr/>
        </p:nvSpPr>
        <p:spPr>
          <a:xfrm>
            <a:off x="566928" y="1783080"/>
            <a:ext cx="11057839" cy="868680"/>
          </a:xfrm>
          <a:prstGeom prst="rect">
            <a:avLst/>
          </a:prstGeom>
          <a:solidFill>
            <a:srgbClr val="FFFFFF"/>
          </a:solidFill>
          <a:ln w="15875">
            <a:solidFill>
              <a:srgbClr val="D9D6E0"/>
            </a:solidFill>
            <a:prstDash val="solid"/>
          </a:ln>
        </p:spPr>
      </p:sp>
      <p:sp>
        <p:nvSpPr>
          <p:cNvPr id="9" name="Text 6"/>
          <p:cNvSpPr/>
          <p:nvPr/>
        </p:nvSpPr>
        <p:spPr>
          <a:xfrm>
            <a:off x="694944" y="1783080"/>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207111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PRESTAR POR 2 DÍAS</a:t>
            </a:r>
            <a:endParaRPr lang="en-US" sz="1000" dirty="0"/>
          </a:p>
        </p:txBody>
      </p:sp>
      <p:sp>
        <p:nvSpPr>
          <p:cNvPr id="11" name="Text 8"/>
          <p:cNvSpPr/>
          <p:nvPr/>
        </p:nvSpPr>
        <p:spPr>
          <a:xfrm>
            <a:off x="3566160" y="1874520"/>
            <a:ext cx="7948879" cy="7223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prestar(1, 2). Leer equipos(1): aparece vence, un número grande. Son segundos desde 1970.</a:t>
            </a:r>
            <a:endParaRPr lang="en-US" sz="1250" dirty="0"/>
          </a:p>
        </p:txBody>
      </p:sp>
      <p:sp>
        <p:nvSpPr>
          <p:cNvPr id="12" name="Shape 9"/>
          <p:cNvSpPr/>
          <p:nvPr/>
        </p:nvSpPr>
        <p:spPr>
          <a:xfrm>
            <a:off x="566928" y="2743200"/>
            <a:ext cx="11057839" cy="868680"/>
          </a:xfrm>
          <a:prstGeom prst="rect">
            <a:avLst/>
          </a:prstGeom>
          <a:solidFill>
            <a:srgbClr val="FAF9FB"/>
          </a:solidFill>
          <a:ln w="15875">
            <a:solidFill>
              <a:srgbClr val="D9D6E0"/>
            </a:solidFill>
            <a:prstDash val="solid"/>
          </a:ln>
        </p:spPr>
      </p:sp>
      <p:sp>
        <p:nvSpPr>
          <p:cNvPr id="13" name="Text 10"/>
          <p:cNvSpPr/>
          <p:nvPr/>
        </p:nvSpPr>
        <p:spPr>
          <a:xfrm>
            <a:off x="694944" y="2743200"/>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303123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PREGUNTAR POR LA MORA</a:t>
            </a:r>
            <a:endParaRPr lang="en-US" sz="1000" dirty="0"/>
          </a:p>
        </p:txBody>
      </p:sp>
      <p:sp>
        <p:nvSpPr>
          <p:cNvPr id="15" name="Text 12"/>
          <p:cNvSpPr/>
          <p:nvPr/>
        </p:nvSpPr>
        <p:spPr>
          <a:xfrm>
            <a:off x="3566160" y="2834640"/>
            <a:ext cx="7948879" cy="7223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estaVencido(1) devuelve false y diasDeMora(1) devuelve 0. Todavía está a tiempo.</a:t>
            </a:r>
            <a:endParaRPr lang="en-US" sz="1250" dirty="0"/>
          </a:p>
        </p:txBody>
      </p:sp>
      <p:sp>
        <p:nvSpPr>
          <p:cNvPr id="16" name="Shape 13"/>
          <p:cNvSpPr/>
          <p:nvPr/>
        </p:nvSpPr>
        <p:spPr>
          <a:xfrm>
            <a:off x="566928" y="3703320"/>
            <a:ext cx="11057839" cy="868680"/>
          </a:xfrm>
          <a:prstGeom prst="rect">
            <a:avLst/>
          </a:prstGeom>
          <a:solidFill>
            <a:srgbClr val="FFFFFF"/>
          </a:solidFill>
          <a:ln w="15875">
            <a:solidFill>
              <a:srgbClr val="D9D6E0"/>
            </a:solidFill>
            <a:prstDash val="solid"/>
          </a:ln>
        </p:spPr>
      </p:sp>
      <p:sp>
        <p:nvSpPr>
          <p:cNvPr id="17" name="Text 14"/>
          <p:cNvSpPr/>
          <p:nvPr/>
        </p:nvSpPr>
        <p:spPr>
          <a:xfrm>
            <a:off x="694944" y="3703320"/>
            <a:ext cx="548640" cy="868680"/>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99135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QUERER ADELANTAR EL RELOJ</a:t>
            </a:r>
            <a:endParaRPr lang="en-US" sz="1000" dirty="0"/>
          </a:p>
        </p:txBody>
      </p:sp>
      <p:sp>
        <p:nvSpPr>
          <p:cNvPr id="19" name="Text 16"/>
          <p:cNvSpPr/>
          <p:nvPr/>
        </p:nvSpPr>
        <p:spPr>
          <a:xfrm>
            <a:off x="3566160" y="3794760"/>
            <a:ext cx="7948879" cy="722376"/>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No se puede: ni en el simulador de Remix ni en una red pública se puede mover el tiempo. Hay que esperarlo.</a:t>
            </a:r>
            <a:endParaRPr lang="en-US" sz="1250" dirty="0"/>
          </a:p>
        </p:txBody>
      </p:sp>
      <p:sp>
        <p:nvSpPr>
          <p:cNvPr id="20" name="Text 17"/>
          <p:cNvSpPr/>
          <p:nvPr/>
        </p:nvSpPr>
        <p:spPr>
          <a:xfrm>
            <a:off x="566928" y="4800600"/>
            <a:ext cx="11057839" cy="73152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Para ver la mora de verdad: la red local del curso sí deja mover su reloj, o se proyectan las 25 pruebas automáticas, que la comprueban en segundos.</a:t>
            </a:r>
            <a:endParaRPr lang="en-US" sz="13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5</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PREGUNTA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31</a:t>
            </a:r>
            <a:endParaRPr lang="en-US" sz="900" dirty="0"/>
          </a:p>
        </p:txBody>
      </p:sp>
      <p:sp>
        <p:nvSpPr>
          <p:cNvPr id="8" name="Shape 5"/>
          <p:cNvSpPr/>
          <p:nvPr/>
        </p:nvSpPr>
        <p:spPr>
          <a:xfrm>
            <a:off x="566928" y="2148840"/>
            <a:ext cx="11057839" cy="21031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2331720"/>
            <a:ext cx="10289743" cy="1737360"/>
          </a:xfrm>
          <a:prstGeom prst="rect">
            <a:avLst/>
          </a:prstGeom>
          <a:noFill/>
          <a:ln/>
        </p:spPr>
        <p:txBody>
          <a:bodyPr wrap="square" lIns="0" tIns="0" rIns="0" bIns="0" rtlCol="0" anchor="ctr"/>
          <a:lstStyle/>
          <a:p>
            <a:pPr indent="0" marL="0">
              <a:lnSpc>
                <a:spcPct val="106000"/>
              </a:lnSpc>
              <a:buNone/>
            </a:pPr>
            <a:r>
              <a:rPr lang="en-US" sz="2200" dirty="0">
                <a:solidFill>
                  <a:srgbClr val="0F0F11"/>
                </a:solidFill>
                <a:latin typeface="Arial Black" pitchFamily="34" charset="0"/>
                <a:ea typeface="Arial Black" pitchFamily="34" charset="-122"/>
                <a:cs typeface="Arial Black" pitchFamily="34" charset="-120"/>
              </a:rPr>
              <a:t>El contrato ya sabe quién está en mora. ¿Y qué? ¿Qué puede hacer un contrato al respecto?</a:t>
            </a:r>
            <a:endParaRPr lang="en-US" sz="2200" dirty="0"/>
          </a:p>
        </p:txBody>
      </p:sp>
      <p:sp>
        <p:nvSpPr>
          <p:cNvPr id="10" name="Text 7"/>
          <p:cNvSpPr/>
          <p:nvPr/>
        </p:nvSpPr>
        <p:spPr>
          <a:xfrm>
            <a:off x="566928" y="4526280"/>
            <a:ext cx="11057839" cy="731520"/>
          </a:xfrm>
          <a:prstGeom prst="rect">
            <a:avLst/>
          </a:prstGeom>
          <a:noFill/>
          <a:ln/>
        </p:spPr>
        <p:txBody>
          <a:bodyPr wrap="square" lIns="0" tIns="0" rIns="0" bIns="0" rtlCol="0" anchor="t"/>
          <a:lstStyle/>
          <a:p>
            <a:pPr algn="ctr" indent="0" marL="0">
              <a:lnSpc>
                <a:spcPct val="124000"/>
              </a:lnSpc>
              <a:buNone/>
            </a:pPr>
            <a:r>
              <a:rPr lang="en-US" sz="1400" dirty="0">
                <a:solidFill>
                  <a:srgbClr val="6F6B80"/>
                </a:solidFill>
                <a:latin typeface="Arial" pitchFamily="34" charset="0"/>
                <a:ea typeface="Arial" pitchFamily="34" charset="-122"/>
                <a:cs typeface="Arial" pitchFamily="34" charset="-120"/>
              </a:rPr>
              <a:t>Sean literales: ¿qué puede hacer un programa que vive en una cadena?</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5 · RESPUESTA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NADA, SI NO HAY ALGO EN JUEGO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32</a:t>
            </a:r>
            <a:endParaRPr lang="en-US" sz="900" dirty="0"/>
          </a:p>
        </p:txBody>
      </p:sp>
      <p:sp>
        <p:nvSpPr>
          <p:cNvPr id="8" name="Shape 5"/>
          <p:cNvSpPr/>
          <p:nvPr/>
        </p:nvSpPr>
        <p:spPr>
          <a:xfrm>
            <a:off x="566928" y="1737360"/>
            <a:ext cx="11057839" cy="1371600"/>
          </a:xfrm>
          <a:prstGeom prst="rect">
            <a:avLst/>
          </a:prstGeom>
          <a:solidFill>
            <a:srgbClr val="FFFFFF"/>
          </a:solidFill>
          <a:ln w="34925">
            <a:solidFill>
              <a:srgbClr val="1F7A4D"/>
            </a:solidFill>
            <a:prstDash val="solid"/>
          </a:ln>
          <a:effectLst>
            <a:outerShdw sx="100000" sy="100000" kx="0" ky="0" algn="bl" rotWithShape="0" blurRad="101600" dist="63500" dir="2700000">
              <a:srgbClr val="1F7A4D">
                <a:alpha val="100000"/>
              </a:srgbClr>
            </a:outerShdw>
          </a:effectLst>
        </p:spPr>
      </p:sp>
      <p:sp>
        <p:nvSpPr>
          <p:cNvPr id="9" name="Text 6"/>
          <p:cNvSpPr/>
          <p:nvPr/>
        </p:nvSpPr>
        <p:spPr>
          <a:xfrm>
            <a:off x="950976" y="1920240"/>
            <a:ext cx="10289743" cy="100584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El contrato no puede ir a buscar el equipo, ni llamar a nadie, ni salir de la cadena. Solo puede hacer una cosa: que la mora tenga una consecuencia que él mismo sí controle.</a:t>
            </a:r>
            <a:endParaRPr lang="en-US" sz="1800" dirty="0"/>
          </a:p>
        </p:txBody>
      </p:sp>
      <p:sp>
        <p:nvSpPr>
          <p:cNvPr id="10" name="Shape 7"/>
          <p:cNvSpPr/>
          <p:nvPr/>
        </p:nvSpPr>
        <p:spPr>
          <a:xfrm>
            <a:off x="566928" y="3291840"/>
            <a:ext cx="5391760" cy="18288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34747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LO QUE NO PUEDE</a:t>
            </a:r>
            <a:endParaRPr lang="en-US" sz="1050" dirty="0"/>
          </a:p>
        </p:txBody>
      </p:sp>
      <p:sp>
        <p:nvSpPr>
          <p:cNvPr id="12" name="Text 9"/>
          <p:cNvSpPr/>
          <p:nvPr/>
        </p:nvSpPr>
        <p:spPr>
          <a:xfrm>
            <a:off x="841248" y="385876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Mandar un correo, bloquear un carné, avisarle al coordinador. Nada de eso ocurre dentro de la cadena, y un contrato no sale de ahí.</a:t>
            </a:r>
            <a:endParaRPr lang="en-US" sz="1250" dirty="0"/>
          </a:p>
        </p:txBody>
      </p:sp>
      <p:sp>
        <p:nvSpPr>
          <p:cNvPr id="13" name="Shape 10"/>
          <p:cNvSpPr/>
          <p:nvPr/>
        </p:nvSpPr>
        <p:spPr>
          <a:xfrm>
            <a:off x="6233008" y="3291840"/>
            <a:ext cx="5391760" cy="18288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4747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LO QUE SÍ PUEDE</a:t>
            </a:r>
            <a:endParaRPr lang="en-US" sz="1050" dirty="0"/>
          </a:p>
        </p:txBody>
      </p:sp>
      <p:sp>
        <p:nvSpPr>
          <p:cNvPr id="15" name="Text 12"/>
          <p:cNvSpPr/>
          <p:nvPr/>
        </p:nvSpPr>
        <p:spPr>
          <a:xfrm>
            <a:off x="6507328" y="385876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Retener un depósito que ya está en su poder. Si devolver a tiempo recupera la plata y devolver tarde no, la regla se hace cumplir sola.</a:t>
            </a:r>
            <a:endParaRPr lang="en-US" sz="1250" dirty="0"/>
          </a:p>
        </p:txBody>
      </p:sp>
      <p:sp>
        <p:nvSpPr>
          <p:cNvPr id="16" name="Shape 13"/>
          <p:cNvSpPr/>
          <p:nvPr/>
        </p:nvSpPr>
        <p:spPr>
          <a:xfrm>
            <a:off x="566928" y="5303520"/>
            <a:ext cx="11057839" cy="777240"/>
          </a:xfrm>
          <a:prstGeom prst="rect">
            <a:avLst/>
          </a:prstGeom>
          <a:solidFill>
            <a:srgbClr val="F2F0F5"/>
          </a:solidFill>
          <a:ln w="22225">
            <a:solidFill>
              <a:srgbClr val="7152E9"/>
            </a:solidFill>
            <a:prstDash val="solid"/>
          </a:ln>
          <a:effectLst>
            <a:outerShdw sx="100000" sy="100000" kx="0" ky="0" algn="bl" rotWithShape="0" blurRad="101600" dist="63500" dir="2700000">
              <a:srgbClr val="5638C9">
                <a:alpha val="100000"/>
              </a:srgbClr>
            </a:outerShdw>
          </a:effectLst>
        </p:spPr>
      </p:sp>
      <p:sp>
        <p:nvSpPr>
          <p:cNvPr id="17" name="Text 14"/>
          <p:cNvSpPr/>
          <p:nvPr/>
        </p:nvSpPr>
        <p:spPr>
          <a:xfrm>
            <a:off x="841248" y="5440680"/>
            <a:ext cx="475488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Y ESO ES LO QUE ARREGLA EL PASO SIGUIENTE</a:t>
            </a:r>
            <a:endParaRPr lang="en-US" sz="1050" dirty="0"/>
          </a:p>
        </p:txBody>
      </p:sp>
      <p:sp>
        <p:nvSpPr>
          <p:cNvPr id="18" name="Text 15"/>
          <p:cNvSpPr/>
          <p:nvPr/>
        </p:nvSpPr>
        <p:spPr>
          <a:xfrm>
            <a:off x="841248" y="5669280"/>
            <a:ext cx="10509199" cy="4572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Y ahí entra lo que convierte esto en un contrato de verdad: el dinero.</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2240280"/>
            <a:ext cx="3017520" cy="2377440"/>
          </a:xfrm>
          <a:prstGeom prst="rect">
            <a:avLst/>
          </a:prstGeom>
          <a:solidFill>
            <a:srgbClr val="F07F06"/>
          </a:solidFill>
          <a:ln w="12700">
            <a:solidFill>
              <a:srgbClr val="F07F06"/>
            </a:solidFill>
            <a:prstDash val="solid"/>
          </a:ln>
        </p:spPr>
      </p:sp>
      <p:sp>
        <p:nvSpPr>
          <p:cNvPr id="3" name="Text 1"/>
          <p:cNvSpPr/>
          <p:nvPr/>
        </p:nvSpPr>
        <p:spPr>
          <a:xfrm>
            <a:off x="0" y="2240280"/>
            <a:ext cx="3017520" cy="2377440"/>
          </a:xfrm>
          <a:prstGeom prst="rect">
            <a:avLst/>
          </a:prstGeom>
          <a:noFill/>
          <a:ln/>
        </p:spPr>
        <p:txBody>
          <a:bodyPr wrap="square" lIns="0" tIns="0" rIns="0" bIns="0" rtlCol="0" anchor="ctr"/>
          <a:lstStyle/>
          <a:p>
            <a:pPr algn="ctr" indent="0" marL="0">
              <a:buNone/>
            </a:pPr>
            <a:r>
              <a:rPr lang="en-US" sz="11800" dirty="0">
                <a:solidFill>
                  <a:srgbClr val="0F0F11"/>
                </a:solidFill>
                <a:latin typeface="Arial Black" pitchFamily="34" charset="0"/>
                <a:ea typeface="Arial Black" pitchFamily="34" charset="-122"/>
                <a:cs typeface="Arial Black" pitchFamily="34" charset="-120"/>
              </a:rPr>
              <a:t>6</a:t>
            </a:r>
            <a:endParaRPr lang="en-US" sz="11800" dirty="0"/>
          </a:p>
        </p:txBody>
      </p:sp>
      <p:pic>
        <p:nvPicPr>
          <p:cNvPr id="4" name="Image 0" descr="preencoded.png">    </p:cNvPr>
          <p:cNvPicPr>
            <a:picLocks noChangeAspect="1"/>
          </p:cNvPicPr>
          <p:nvPr/>
        </p:nvPicPr>
        <p:blipFill>
          <a:blip r:embed="rId1"/>
          <a:stretch>
            <a:fillRect/>
          </a:stretch>
        </p:blipFill>
        <p:spPr>
          <a:xfrm>
            <a:off x="3611880" y="2286000"/>
            <a:ext cx="329184" cy="329184"/>
          </a:xfrm>
          <a:prstGeom prst="rect">
            <a:avLst/>
          </a:prstGeom>
        </p:spPr>
      </p:pic>
      <p:sp>
        <p:nvSpPr>
          <p:cNvPr id="5" name="Text 2"/>
          <p:cNvSpPr/>
          <p:nvPr/>
        </p:nvSpPr>
        <p:spPr>
          <a:xfrm>
            <a:off x="4069080" y="2258568"/>
            <a:ext cx="7223760" cy="365760"/>
          </a:xfrm>
          <a:prstGeom prst="rect">
            <a:avLst/>
          </a:prstGeom>
          <a:noFill/>
          <a:ln/>
        </p:spPr>
        <p:txBody>
          <a:bodyPr wrap="square" lIns="0" tIns="0" rIns="0" bIns="0" rtlCol="0" anchor="ctr"/>
          <a:lstStyle/>
          <a:p>
            <a:pPr indent="0" marL="0">
              <a:buNone/>
            </a:pPr>
            <a:r>
              <a:rPr lang="en-US" sz="1100" spc="180" kern="0" dirty="0">
                <a:solidFill>
                  <a:srgbClr val="F07F06"/>
                </a:solidFill>
                <a:latin typeface="Courier New" pitchFamily="34" charset="0"/>
                <a:ea typeface="Courier New" pitchFamily="34" charset="-122"/>
                <a:cs typeface="Courier New" pitchFamily="34" charset="-120"/>
              </a:rPr>
              <a:t>payable · patrón de retiro · eventos</a:t>
            </a:r>
            <a:endParaRPr lang="en-US" sz="1100" dirty="0"/>
          </a:p>
        </p:txBody>
      </p:sp>
      <p:sp>
        <p:nvSpPr>
          <p:cNvPr id="6" name="Text 3"/>
          <p:cNvSpPr/>
          <p:nvPr/>
        </p:nvSpPr>
        <p:spPr>
          <a:xfrm>
            <a:off x="3611880" y="2724912"/>
            <a:ext cx="7955280" cy="1325880"/>
          </a:xfrm>
          <a:prstGeom prst="rect">
            <a:avLst/>
          </a:prstGeom>
          <a:noFill/>
          <a:ln/>
        </p:spPr>
        <p:txBody>
          <a:bodyPr wrap="square" lIns="0" tIns="0" rIns="0" bIns="0" rtlCol="0" anchor="t"/>
          <a:lstStyle/>
          <a:p>
            <a:pPr indent="0" marL="0">
              <a:lnSpc>
                <a:spcPct val="98000"/>
              </a:lnSpc>
              <a:buNone/>
            </a:pPr>
            <a:r>
              <a:rPr lang="en-US" sz="3400" dirty="0">
                <a:solidFill>
                  <a:srgbClr val="FFFFFF"/>
                </a:solidFill>
                <a:latin typeface="Arial Black" pitchFamily="34" charset="0"/>
                <a:ea typeface="Arial Black" pitchFamily="34" charset="-122"/>
                <a:cs typeface="Arial Black" pitchFamily="34" charset="-120"/>
              </a:rPr>
              <a:t>QUE LA MORA CUESTE</a:t>
            </a:r>
            <a:endParaRPr lang="en-US" sz="3400" dirty="0"/>
          </a:p>
        </p:txBody>
      </p:sp>
      <p:sp>
        <p:nvSpPr>
          <p:cNvPr id="7" name="Text 4"/>
          <p:cNvSpPr/>
          <p:nvPr/>
        </p:nvSpPr>
        <p:spPr>
          <a:xfrm>
            <a:off x="3611880" y="4133088"/>
            <a:ext cx="7680960" cy="1051560"/>
          </a:xfrm>
          <a:prstGeom prst="rect">
            <a:avLst/>
          </a:prstGeom>
          <a:noFill/>
          <a:ln/>
        </p:spPr>
        <p:txBody>
          <a:bodyPr wrap="square" lIns="0" tIns="0" rIns="0" bIns="0" rtlCol="0" anchor="t"/>
          <a:lstStyle/>
          <a:p>
            <a:pPr indent="0" marL="0">
              <a:lnSpc>
                <a:spcPct val="125000"/>
              </a:lnSpc>
              <a:buNone/>
            </a:pPr>
            <a:r>
              <a:rPr lang="en-US" sz="1400" dirty="0">
                <a:solidFill>
                  <a:srgbClr val="B9B4C4"/>
                </a:solidFill>
                <a:latin typeface="Arial" pitchFamily="34" charset="0"/>
                <a:ea typeface="Arial" pitchFamily="34" charset="-122"/>
                <a:cs typeface="Arial" pitchFamily="34" charset="-120"/>
              </a:rPr>
              <a:t>Entra el dinero, y con él la parte donde los errores se pagan caro.</a:t>
            </a:r>
            <a:endParaRPr lang="en-US" sz="1400" dirty="0"/>
          </a:p>
        </p:txBody>
      </p:sp>
      <p:sp>
        <p:nvSpPr>
          <p:cNvPr id="8" name="Text 5"/>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E6A7C"/>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9" name="Text 6"/>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E6A7C"/>
                </a:solidFill>
                <a:latin typeface="Courier New" pitchFamily="34" charset="0"/>
                <a:ea typeface="Courier New" pitchFamily="34" charset="-122"/>
                <a:cs typeface="Courier New" pitchFamily="34" charset="-120"/>
              </a:rPr>
              <a:t>USB MEDELLÍN</a:t>
            </a:r>
            <a:endParaRPr lang="en-US" sz="800" dirty="0"/>
          </a:p>
        </p:txBody>
      </p:sp>
      <p:sp>
        <p:nvSpPr>
          <p:cNvPr id="10" name="Text 7"/>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F07F06"/>
                </a:solidFill>
                <a:latin typeface="Courier New" pitchFamily="34" charset="0"/>
                <a:ea typeface="Courier New" pitchFamily="34" charset="-122"/>
                <a:cs typeface="Courier New"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6 · LO QUE AGREGAMOS</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DEPÓSITO AL LLEVARSE EL EQUIPO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34</a:t>
            </a:r>
            <a:endParaRPr lang="en-US" sz="900" dirty="0"/>
          </a:p>
        </p:txBody>
      </p:sp>
      <p:sp>
        <p:nvSpPr>
          <p:cNvPr id="8" name="Shape 5"/>
          <p:cNvSpPr/>
          <p:nvPr/>
        </p:nvSpPr>
        <p:spPr>
          <a:xfrm>
            <a:off x="566928" y="1691640"/>
            <a:ext cx="11057839" cy="3931920"/>
          </a:xfrm>
          <a:prstGeom prst="rect">
            <a:avLst/>
          </a:prstGeom>
          <a:solidFill>
            <a:srgbClr val="16151B"/>
          </a:solidFill>
          <a:ln w="22225">
            <a:solidFill>
              <a:srgbClr val="16151B"/>
            </a:solidFill>
            <a:prstDash val="solid"/>
          </a:ln>
        </p:spPr>
      </p:sp>
      <p:sp>
        <p:nvSpPr>
          <p:cNvPr id="9" name="Text 6"/>
          <p:cNvSpPr/>
          <p:nvPr/>
        </p:nvSpPr>
        <p:spPr>
          <a:xfrm>
            <a:off x="768096" y="1837944"/>
            <a:ext cx="10655503" cy="3675888"/>
          </a:xfrm>
          <a:prstGeom prst="rect">
            <a:avLst/>
          </a:prstGeom>
          <a:noFill/>
          <a:ln/>
        </p:spPr>
        <p:txBody>
          <a:bodyPr wrap="square" lIns="0" tIns="0" rIns="0" bIns="0" rtlCol="0" anchor="t"/>
          <a:lstStyle/>
          <a:p>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immutable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deposito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se fija al desplegar</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mapping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address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quien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&gt;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wei_</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saldo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prestar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uint64</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dias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payable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deposito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DepositoIncorrecto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deposito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endParaRPr lang="en-US" sz="1150" dirty="0"/>
          </a:p>
          <a:p>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devolver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aTiempo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block</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timestamp</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&lt;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equipos</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vence</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saldo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aTiempo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encargado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deposito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8B8697"/>
                </a:solidFill>
                <a:latin typeface="Courier New" pitchFamily="34" charset="0"/>
                <a:ea typeface="Courier New" pitchFamily="34" charset="-122"/>
                <a:cs typeface="Courier New" pitchFamily="34" charset="-120"/>
              </a:rPr>
              <a:t>// se ANOTA, no se envía</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07F06"/>
                </a:solidFill>
                <a:latin typeface="Courier New" pitchFamily="34" charset="0"/>
                <a:ea typeface="Courier New" pitchFamily="34" charset="-122"/>
                <a:cs typeface="Courier New" pitchFamily="34" charset="-120"/>
              </a:rPr>
              <a:t>emit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Devuelto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id</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aTiempo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aTiempo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deposito</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1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a:p>
            <a:pPr indent="0" marL="0">
              <a:lnSpc>
                <a:spcPct val="112000"/>
              </a:lnSpc>
              <a:buNone/>
            </a:pPr>
            <a:r>
              <a:rPr lang="en-US" sz="1150" dirty="0">
                <a:solidFill>
                  <a:srgbClr val="F4F2F7"/>
                </a:solidFill>
                <a:latin typeface="Courier New" pitchFamily="34" charset="0"/>
                <a:ea typeface="Courier New" pitchFamily="34" charset="-122"/>
                <a:cs typeface="Courier New" pitchFamily="34" charset="-120"/>
              </a:rPr>
              <a:t>}</a:t>
            </a:r>
            <a:endParaRPr lang="en-US" sz="1150" dirty="0"/>
          </a:p>
        </p:txBody>
      </p:sp>
      <p:sp>
        <p:nvSpPr>
          <p:cNvPr id="10" name="Text 7"/>
          <p:cNvSpPr/>
          <p:nvPr/>
        </p:nvSpPr>
        <p:spPr>
          <a:xfrm>
            <a:off x="566928" y="5788152"/>
            <a:ext cx="11057839" cy="68580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payable es el interruptor que permite que entre dinero. Sin esa palabra, la función no ignora el ether: lo rechaza.</a:t>
            </a:r>
            <a:endParaRPr lang="en-US" sz="13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6 · LA FUNCIÓN MÁS DELICADA DEL DÍA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CADA QUIEN RECLAMA LO SUYO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35</a:t>
            </a:r>
            <a:endParaRPr lang="en-US" sz="900" dirty="0"/>
          </a:p>
        </p:txBody>
      </p:sp>
      <p:sp>
        <p:nvSpPr>
          <p:cNvPr id="8" name="Shape 5"/>
          <p:cNvSpPr/>
          <p:nvPr/>
        </p:nvSpPr>
        <p:spPr>
          <a:xfrm>
            <a:off x="566928" y="1920240"/>
            <a:ext cx="11057839" cy="2651760"/>
          </a:xfrm>
          <a:prstGeom prst="rect">
            <a:avLst/>
          </a:prstGeom>
          <a:solidFill>
            <a:srgbClr val="16151B"/>
          </a:solidFill>
          <a:ln w="22225">
            <a:solidFill>
              <a:srgbClr val="16151B"/>
            </a:solidFill>
            <a:prstDash val="solid"/>
          </a:ln>
        </p:spPr>
      </p:sp>
      <p:sp>
        <p:nvSpPr>
          <p:cNvPr id="9" name="Text 6"/>
          <p:cNvSpPr/>
          <p:nvPr/>
        </p:nvSpPr>
        <p:spPr>
          <a:xfrm>
            <a:off x="768096" y="2066544"/>
            <a:ext cx="10655503" cy="2395728"/>
          </a:xfrm>
          <a:prstGeom prst="rect">
            <a:avLst/>
          </a:prstGeom>
          <a:noFill/>
          <a:ln/>
        </p:spPr>
        <p:txBody>
          <a:bodyPr wrap="square" lIns="0" tIns="0" rIns="0" bIns="0" rtlCol="0" anchor="t"/>
          <a:lstStyle/>
          <a:p>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function</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retirar</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public</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A897FF"/>
                </a:solidFill>
                <a:latin typeface="Courier New" pitchFamily="34" charset="0"/>
                <a:ea typeface="Courier New" pitchFamily="34" charset="-122"/>
                <a:cs typeface="Courier New" pitchFamily="34" charset="-120"/>
              </a:rPr>
              <a:t>uint256</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saldo</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if</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revert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SinSaldo</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saldo</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FA41B"/>
                </a:solidFill>
                <a:latin typeface="Courier New" pitchFamily="34" charset="0"/>
                <a:ea typeface="Courier New" pitchFamily="34" charset="-122"/>
                <a:cs typeface="Courier New" pitchFamily="34" charset="-120"/>
              </a:rPr>
              <a:t>0</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8B8697"/>
                </a:solidFill>
                <a:latin typeface="Courier New" pitchFamily="34" charset="0"/>
                <a:ea typeface="Courier New" pitchFamily="34" charset="-122"/>
                <a:cs typeface="Courier New" pitchFamily="34" charset="-120"/>
              </a:rPr>
              <a:t>// &lt;- PRIMERO en cero</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A897FF"/>
                </a:solidFill>
                <a:latin typeface="Courier New" pitchFamily="34" charset="0"/>
                <a:ea typeface="Courier New" pitchFamily="34" charset="-122"/>
                <a:cs typeface="Courier New" pitchFamily="34" charset="-120"/>
              </a:rPr>
              <a:t>bool</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ok</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msg</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sender</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call</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value</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monto</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FA41B"/>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8B8697"/>
                </a:solidFill>
                <a:latin typeface="Courier New" pitchFamily="34" charset="0"/>
                <a:ea typeface="Courier New" pitchFamily="34" charset="-122"/>
                <a:cs typeface="Courier New" pitchFamily="34" charset="-120"/>
              </a:rPr>
              <a:t>// &lt;- DESPUÉS el envío</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07F06"/>
                </a:solidFill>
                <a:latin typeface="Courier New" pitchFamily="34" charset="0"/>
                <a:ea typeface="Courier New" pitchFamily="34" charset="-122"/>
                <a:cs typeface="Courier New" pitchFamily="34" charset="-120"/>
              </a:rPr>
              <a:t>require</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ok</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 </a:t>
            </a:r>
            <a:pPr indent="0" marL="0">
              <a:lnSpc>
                <a:spcPct val="112000"/>
              </a:lnSpc>
              <a:buNone/>
            </a:pPr>
            <a:r>
              <a:rPr lang="en-US" sz="1250" dirty="0">
                <a:solidFill>
                  <a:srgbClr val="FFA41B"/>
                </a:solidFill>
                <a:latin typeface="Courier New" pitchFamily="34" charset="0"/>
                <a:ea typeface="Courier New" pitchFamily="34" charset="-122"/>
                <a:cs typeface="Courier New" pitchFamily="34" charset="-120"/>
              </a:rPr>
              <a:t>"el envio fallo"</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a:p>
            <a:pPr indent="0" marL="0">
              <a:lnSpc>
                <a:spcPct val="112000"/>
              </a:lnSpc>
              <a:buNone/>
            </a:pPr>
            <a:r>
              <a:rPr lang="en-US" sz="1250" dirty="0">
                <a:solidFill>
                  <a:srgbClr val="F4F2F7"/>
                </a:solidFill>
                <a:latin typeface="Courier New" pitchFamily="34" charset="0"/>
                <a:ea typeface="Courier New" pitchFamily="34" charset="-122"/>
                <a:cs typeface="Courier New" pitchFamily="34" charset="-120"/>
              </a:rPr>
              <a:t>}</a:t>
            </a:r>
            <a:endParaRPr lang="en-US" sz="1250" dirty="0"/>
          </a:p>
        </p:txBody>
      </p:sp>
      <p:sp>
        <p:nvSpPr>
          <p:cNvPr id="10" name="Text 7"/>
          <p:cNvSpPr/>
          <p:nvPr/>
        </p:nvSpPr>
        <p:spPr>
          <a:xfrm>
            <a:off x="566928" y="4736592"/>
            <a:ext cx="11057839" cy="685800"/>
          </a:xfrm>
          <a:prstGeom prst="rect">
            <a:avLst/>
          </a:prstGeom>
          <a:noFill/>
          <a:ln/>
        </p:spPr>
        <p:txBody>
          <a:bodyPr wrap="square" lIns="0" tIns="0" rIns="0" bIns="0" rtlCol="0" anchor="t"/>
          <a:lstStyle/>
          <a:p>
            <a:pPr indent="0" marL="0">
              <a:lnSpc>
                <a:spcPct val="124000"/>
              </a:lnSpc>
              <a:buNone/>
            </a:pPr>
            <a:r>
              <a:rPr lang="en-US" sz="1350" dirty="0">
                <a:solidFill>
                  <a:srgbClr val="A35604"/>
                </a:solidFill>
                <a:latin typeface="Arial" pitchFamily="34" charset="0"/>
                <a:ea typeface="Arial" pitchFamily="34" charset="-122"/>
                <a:cs typeface="Arial" pitchFamily="34" charset="-120"/>
              </a:rPr>
              <a:t>Si se invierten esas dos líneas, este contrato se puede vaciar. Es el error que costó 3,6 millones de ether en 2016, y lo vamos a explotar en la sesión de seguridad.</a:t>
            </a:r>
            <a:endParaRPr lang="en-US" sz="13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6 · AHORA EN REMIX</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DINERO ENTRANDO Y SALIENDO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36</a:t>
            </a:r>
            <a:endParaRPr lang="en-US" sz="900" dirty="0"/>
          </a:p>
        </p:txBody>
      </p:sp>
      <p:sp>
        <p:nvSpPr>
          <p:cNvPr id="8" name="Shape 5"/>
          <p:cNvSpPr/>
          <p:nvPr/>
        </p:nvSpPr>
        <p:spPr>
          <a:xfrm>
            <a:off x="566928" y="1783080"/>
            <a:ext cx="11057839" cy="576072"/>
          </a:xfrm>
          <a:prstGeom prst="rect">
            <a:avLst/>
          </a:prstGeom>
          <a:solidFill>
            <a:srgbClr val="FFFFFF"/>
          </a:solidFill>
          <a:ln w="15875">
            <a:solidFill>
              <a:srgbClr val="D9D6E0"/>
            </a:solidFill>
            <a:prstDash val="solid"/>
          </a:ln>
        </p:spPr>
      </p:sp>
      <p:sp>
        <p:nvSpPr>
          <p:cNvPr id="9" name="Text 6"/>
          <p:cNvSpPr/>
          <p:nvPr/>
        </p:nvSpPr>
        <p:spPr>
          <a:xfrm>
            <a:off x="694944" y="1783080"/>
            <a:ext cx="548640" cy="57607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01</a:t>
            </a:r>
            <a:endParaRPr lang="en-US" sz="1600" dirty="0"/>
          </a:p>
        </p:txBody>
      </p:sp>
      <p:sp>
        <p:nvSpPr>
          <p:cNvPr id="10" name="Text 7"/>
          <p:cNvSpPr/>
          <p:nvPr/>
        </p:nvSpPr>
        <p:spPr>
          <a:xfrm>
            <a:off x="1280160" y="1924812"/>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DESPLEGAR CON DEPÓSITO</a:t>
            </a:r>
            <a:endParaRPr lang="en-US" sz="1000" dirty="0"/>
          </a:p>
        </p:txBody>
      </p:sp>
      <p:sp>
        <p:nvSpPr>
          <p:cNvPr id="11" name="Text 8"/>
          <p:cNvSpPr/>
          <p:nvPr/>
        </p:nvSpPr>
        <p:spPr>
          <a:xfrm>
            <a:off x="3566160" y="1874520"/>
            <a:ext cx="7948879" cy="42976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En el campo del constructor: 100000000000000000 wei, que son 0,1 ETH. Ojo con el selector de unidad.</a:t>
            </a:r>
            <a:endParaRPr lang="en-US" sz="1250" dirty="0"/>
          </a:p>
        </p:txBody>
      </p:sp>
      <p:sp>
        <p:nvSpPr>
          <p:cNvPr id="12" name="Shape 9"/>
          <p:cNvSpPr/>
          <p:nvPr/>
        </p:nvSpPr>
        <p:spPr>
          <a:xfrm>
            <a:off x="566928" y="2450592"/>
            <a:ext cx="11057839" cy="576072"/>
          </a:xfrm>
          <a:prstGeom prst="rect">
            <a:avLst/>
          </a:prstGeom>
          <a:solidFill>
            <a:srgbClr val="FAF9FB"/>
          </a:solidFill>
          <a:ln w="15875">
            <a:solidFill>
              <a:srgbClr val="D9D6E0"/>
            </a:solidFill>
            <a:prstDash val="solid"/>
          </a:ln>
        </p:spPr>
      </p:sp>
      <p:sp>
        <p:nvSpPr>
          <p:cNvPr id="13" name="Text 10"/>
          <p:cNvSpPr/>
          <p:nvPr/>
        </p:nvSpPr>
        <p:spPr>
          <a:xfrm>
            <a:off x="694944" y="2450592"/>
            <a:ext cx="548640" cy="57607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02</a:t>
            </a:r>
            <a:endParaRPr lang="en-US" sz="1600" dirty="0"/>
          </a:p>
        </p:txBody>
      </p:sp>
      <p:sp>
        <p:nvSpPr>
          <p:cNvPr id="14" name="Text 11"/>
          <p:cNvSpPr/>
          <p:nvPr/>
        </p:nvSpPr>
        <p:spPr>
          <a:xfrm>
            <a:off x="1280160" y="2592324"/>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PRESTAR SIN PAGAR</a:t>
            </a:r>
            <a:endParaRPr lang="en-US" sz="1000" dirty="0"/>
          </a:p>
        </p:txBody>
      </p:sp>
      <p:sp>
        <p:nvSpPr>
          <p:cNvPr id="15" name="Text 12"/>
          <p:cNvSpPr/>
          <p:nvPr/>
        </p:nvSpPr>
        <p:spPr>
          <a:xfrm>
            <a:off x="3566160" y="2542032"/>
            <a:ext cx="7948879" cy="42976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REVIERTE con DepositoIncorrecto, y el error dice cuánto esperaba y cuánto llegó.</a:t>
            </a:r>
            <a:endParaRPr lang="en-US" sz="1250" dirty="0"/>
          </a:p>
        </p:txBody>
      </p:sp>
      <p:sp>
        <p:nvSpPr>
          <p:cNvPr id="16" name="Shape 13"/>
          <p:cNvSpPr/>
          <p:nvPr/>
        </p:nvSpPr>
        <p:spPr>
          <a:xfrm>
            <a:off x="566928" y="3118104"/>
            <a:ext cx="11057839" cy="576072"/>
          </a:xfrm>
          <a:prstGeom prst="rect">
            <a:avLst/>
          </a:prstGeom>
          <a:solidFill>
            <a:srgbClr val="FFFFFF"/>
          </a:solidFill>
          <a:ln w="15875">
            <a:solidFill>
              <a:srgbClr val="D9D6E0"/>
            </a:solidFill>
            <a:prstDash val="solid"/>
          </a:ln>
        </p:spPr>
      </p:sp>
      <p:sp>
        <p:nvSpPr>
          <p:cNvPr id="17" name="Text 14"/>
          <p:cNvSpPr/>
          <p:nvPr/>
        </p:nvSpPr>
        <p:spPr>
          <a:xfrm>
            <a:off x="694944" y="3118104"/>
            <a:ext cx="548640" cy="57607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03</a:t>
            </a:r>
            <a:endParaRPr lang="en-US" sz="1600" dirty="0"/>
          </a:p>
        </p:txBody>
      </p:sp>
      <p:sp>
        <p:nvSpPr>
          <p:cNvPr id="18" name="Text 15"/>
          <p:cNvSpPr/>
          <p:nvPr/>
        </p:nvSpPr>
        <p:spPr>
          <a:xfrm>
            <a:off x="1280160" y="3259836"/>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PRESTAR PAGANDO</a:t>
            </a:r>
            <a:endParaRPr lang="en-US" sz="1000" dirty="0"/>
          </a:p>
        </p:txBody>
      </p:sp>
      <p:sp>
        <p:nvSpPr>
          <p:cNvPr id="19" name="Text 16"/>
          <p:cNvSpPr/>
          <p:nvPr/>
        </p:nvSpPr>
        <p:spPr>
          <a:xfrm>
            <a:off x="3566160" y="3209544"/>
            <a:ext cx="7948879" cy="42976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Poner 0.1 Ether en Value y prestar. El saldo de la cuenta baja; el del contrato sube.</a:t>
            </a:r>
            <a:endParaRPr lang="en-US" sz="1250" dirty="0"/>
          </a:p>
        </p:txBody>
      </p:sp>
      <p:sp>
        <p:nvSpPr>
          <p:cNvPr id="20" name="Shape 17"/>
          <p:cNvSpPr/>
          <p:nvPr/>
        </p:nvSpPr>
        <p:spPr>
          <a:xfrm>
            <a:off x="566928" y="3785616"/>
            <a:ext cx="11057839" cy="576072"/>
          </a:xfrm>
          <a:prstGeom prst="rect">
            <a:avLst/>
          </a:prstGeom>
          <a:solidFill>
            <a:srgbClr val="FAF9FB"/>
          </a:solidFill>
          <a:ln w="15875">
            <a:solidFill>
              <a:srgbClr val="D9D6E0"/>
            </a:solidFill>
            <a:prstDash val="solid"/>
          </a:ln>
        </p:spPr>
      </p:sp>
      <p:sp>
        <p:nvSpPr>
          <p:cNvPr id="21" name="Text 18"/>
          <p:cNvSpPr/>
          <p:nvPr/>
        </p:nvSpPr>
        <p:spPr>
          <a:xfrm>
            <a:off x="694944" y="3785616"/>
            <a:ext cx="548640" cy="57607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04</a:t>
            </a:r>
            <a:endParaRPr lang="en-US" sz="1600" dirty="0"/>
          </a:p>
        </p:txBody>
      </p:sp>
      <p:sp>
        <p:nvSpPr>
          <p:cNvPr id="22" name="Text 19"/>
          <p:cNvSpPr/>
          <p:nvPr/>
        </p:nvSpPr>
        <p:spPr>
          <a:xfrm>
            <a:off x="1280160" y="3927348"/>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DEVOLVER A TIEMPO</a:t>
            </a:r>
            <a:endParaRPr lang="en-US" sz="1000" dirty="0"/>
          </a:p>
        </p:txBody>
      </p:sp>
      <p:sp>
        <p:nvSpPr>
          <p:cNvPr id="23" name="Text 20"/>
          <p:cNvSpPr/>
          <p:nvPr/>
        </p:nvSpPr>
        <p:spPr>
          <a:xfrm>
            <a:off x="3566160" y="3877056"/>
            <a:ext cx="7948879" cy="42976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Leer saldo(sucuenta): 0,1 ETH. El dinero NO llegó todavía: está anotado.</a:t>
            </a:r>
            <a:endParaRPr lang="en-US" sz="1250" dirty="0"/>
          </a:p>
        </p:txBody>
      </p:sp>
      <p:sp>
        <p:nvSpPr>
          <p:cNvPr id="24" name="Shape 21"/>
          <p:cNvSpPr/>
          <p:nvPr/>
        </p:nvSpPr>
        <p:spPr>
          <a:xfrm>
            <a:off x="566928" y="4453128"/>
            <a:ext cx="11057839" cy="576072"/>
          </a:xfrm>
          <a:prstGeom prst="rect">
            <a:avLst/>
          </a:prstGeom>
          <a:solidFill>
            <a:srgbClr val="FFFFFF"/>
          </a:solidFill>
          <a:ln w="15875">
            <a:solidFill>
              <a:srgbClr val="D9D6E0"/>
            </a:solidFill>
            <a:prstDash val="solid"/>
          </a:ln>
        </p:spPr>
      </p:sp>
      <p:sp>
        <p:nvSpPr>
          <p:cNvPr id="25" name="Text 22"/>
          <p:cNvSpPr/>
          <p:nvPr/>
        </p:nvSpPr>
        <p:spPr>
          <a:xfrm>
            <a:off x="694944" y="4453128"/>
            <a:ext cx="548640" cy="57607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05</a:t>
            </a:r>
            <a:endParaRPr lang="en-US" sz="1600" dirty="0"/>
          </a:p>
        </p:txBody>
      </p:sp>
      <p:sp>
        <p:nvSpPr>
          <p:cNvPr id="26" name="Text 23"/>
          <p:cNvSpPr/>
          <p:nvPr/>
        </p:nvSpPr>
        <p:spPr>
          <a:xfrm>
            <a:off x="1280160" y="4594860"/>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RETIRAR</a:t>
            </a:r>
            <a:endParaRPr lang="en-US" sz="1000" dirty="0"/>
          </a:p>
        </p:txBody>
      </p:sp>
      <p:sp>
        <p:nvSpPr>
          <p:cNvPr id="27" name="Text 24"/>
          <p:cNvSpPr/>
          <p:nvPr/>
        </p:nvSpPr>
        <p:spPr>
          <a:xfrm>
            <a:off x="3566160" y="4544568"/>
            <a:ext cx="7948879" cy="42976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Ahora sí llega. Y retirar otra vez revierte con SinSaldo.</a:t>
            </a:r>
            <a:endParaRPr lang="en-US" sz="1250" dirty="0"/>
          </a:p>
        </p:txBody>
      </p:sp>
      <p:sp>
        <p:nvSpPr>
          <p:cNvPr id="28" name="Shape 25"/>
          <p:cNvSpPr/>
          <p:nvPr/>
        </p:nvSpPr>
        <p:spPr>
          <a:xfrm>
            <a:off x="566928" y="5120640"/>
            <a:ext cx="11057839" cy="576072"/>
          </a:xfrm>
          <a:prstGeom prst="rect">
            <a:avLst/>
          </a:prstGeom>
          <a:solidFill>
            <a:srgbClr val="FAF9FB"/>
          </a:solidFill>
          <a:ln w="15875">
            <a:solidFill>
              <a:srgbClr val="D9D6E0"/>
            </a:solidFill>
            <a:prstDash val="solid"/>
          </a:ln>
        </p:spPr>
      </p:sp>
      <p:sp>
        <p:nvSpPr>
          <p:cNvPr id="29" name="Text 26"/>
          <p:cNvSpPr/>
          <p:nvPr/>
        </p:nvSpPr>
        <p:spPr>
          <a:xfrm>
            <a:off x="694944" y="5120640"/>
            <a:ext cx="548640" cy="576072"/>
          </a:xfrm>
          <a:prstGeom prst="rect">
            <a:avLst/>
          </a:prstGeom>
          <a:noFill/>
          <a:ln/>
        </p:spPr>
        <p:txBody>
          <a:bodyPr wrap="square" lIns="0" tIns="0" rIns="0" bIns="0" rtlCol="0" anchor="ctr"/>
          <a:lstStyle/>
          <a:p>
            <a:pPr indent="0" marL="0">
              <a:buNone/>
            </a:pPr>
            <a:r>
              <a:rPr lang="en-US" sz="1600" dirty="0">
                <a:solidFill>
                  <a:srgbClr val="F07F06"/>
                </a:solidFill>
                <a:latin typeface="Arial Black" pitchFamily="34" charset="0"/>
                <a:ea typeface="Arial Black" pitchFamily="34" charset="-122"/>
                <a:cs typeface="Arial Black" pitchFamily="34" charset="-120"/>
              </a:rPr>
              <a:t>06</a:t>
            </a:r>
            <a:endParaRPr lang="en-US" sz="1600" dirty="0"/>
          </a:p>
        </p:txBody>
      </p:sp>
      <p:sp>
        <p:nvSpPr>
          <p:cNvPr id="30" name="Text 27"/>
          <p:cNvSpPr/>
          <p:nvPr/>
        </p:nvSpPr>
        <p:spPr>
          <a:xfrm>
            <a:off x="1280160" y="5262372"/>
            <a:ext cx="2011680" cy="292608"/>
          </a:xfrm>
          <a:prstGeom prst="rect">
            <a:avLst/>
          </a:prstGeom>
          <a:noFill/>
          <a:ln/>
        </p:spPr>
        <p:txBody>
          <a:bodyPr wrap="square" lIns="0" tIns="0" rIns="0" bIns="0" rtlCol="0" anchor="ctr"/>
          <a:lstStyle/>
          <a:p>
            <a:pPr indent="0" marL="0">
              <a:buNone/>
            </a:pPr>
            <a:r>
              <a:rPr lang="en-US" sz="1000" b="1" spc="100" kern="0" dirty="0">
                <a:solidFill>
                  <a:srgbClr val="0F0F11"/>
                </a:solidFill>
                <a:latin typeface="Courier New" pitchFamily="34" charset="0"/>
                <a:ea typeface="Courier New" pitchFamily="34" charset="-122"/>
                <a:cs typeface="Courier New" pitchFamily="34" charset="-120"/>
              </a:rPr>
              <a:t>MANDAR 1 WEI AL CONTRATO</a:t>
            </a:r>
            <a:endParaRPr lang="en-US" sz="1000" dirty="0"/>
          </a:p>
        </p:txBody>
      </p:sp>
      <p:sp>
        <p:nvSpPr>
          <p:cNvPr id="31" name="Text 28"/>
          <p:cNvSpPr/>
          <p:nvPr/>
        </p:nvSpPr>
        <p:spPr>
          <a:xfrm>
            <a:off x="3566160" y="5212080"/>
            <a:ext cx="7948879" cy="429768"/>
          </a:xfrm>
          <a:prstGeom prst="rect">
            <a:avLst/>
          </a:prstGeom>
          <a:noFill/>
          <a:ln/>
        </p:spPr>
        <p:txBody>
          <a:bodyPr wrap="square" lIns="0" tIns="0" rIns="0" bIns="0" rtlCol="0" anchor="ctr"/>
          <a:lstStyle/>
          <a:p>
            <a:pPr indent="0" marL="0">
              <a:lnSpc>
                <a:spcPct val="115000"/>
              </a:lnSpc>
              <a:buNone/>
            </a:pPr>
            <a:r>
              <a:rPr lang="en-US" sz="1250" dirty="0">
                <a:solidFill>
                  <a:srgbClr val="3A3844"/>
                </a:solidFill>
                <a:latin typeface="Arial" pitchFamily="34" charset="0"/>
                <a:ea typeface="Arial" pitchFamily="34" charset="-122"/>
                <a:cs typeface="Arial" pitchFamily="34" charset="-120"/>
              </a:rPr>
              <a:t>Sin llamar ninguna función: REVIERTE con EnvioDirectoNoPermitido.</a:t>
            </a:r>
            <a:endParaRPr lang="en-US" sz="12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6</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PREGUNTA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37</a:t>
            </a:r>
            <a:endParaRPr lang="en-US" sz="900" dirty="0"/>
          </a:p>
        </p:txBody>
      </p:sp>
      <p:sp>
        <p:nvSpPr>
          <p:cNvPr id="8" name="Shape 5"/>
          <p:cNvSpPr/>
          <p:nvPr/>
        </p:nvSpPr>
        <p:spPr>
          <a:xfrm>
            <a:off x="566928" y="2148840"/>
            <a:ext cx="11057839" cy="210312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2331720"/>
            <a:ext cx="10289743" cy="1737360"/>
          </a:xfrm>
          <a:prstGeom prst="rect">
            <a:avLst/>
          </a:prstGeom>
          <a:noFill/>
          <a:ln/>
        </p:spPr>
        <p:txBody>
          <a:bodyPr wrap="square" lIns="0" tIns="0" rIns="0" bIns="0" rtlCol="0" anchor="ctr"/>
          <a:lstStyle/>
          <a:p>
            <a:pPr indent="0" marL="0">
              <a:lnSpc>
                <a:spcPct val="106000"/>
              </a:lnSpc>
              <a:buNone/>
            </a:pPr>
            <a:r>
              <a:rPr lang="en-US" sz="2200" dirty="0">
                <a:solidFill>
                  <a:srgbClr val="0F0F11"/>
                </a:solidFill>
                <a:latin typeface="Arial Black" pitchFamily="34" charset="0"/>
                <a:ea typeface="Arial Black" pitchFamily="34" charset="-122"/>
                <a:cs typeface="Arial Black" pitchFamily="34" charset="-120"/>
              </a:rPr>
              <a:t>¿Por qué el contrato no le envía el depósito de una vez al devolver, y en cambio lo deja anotado para que cada quien lo reclame?</a:t>
            </a:r>
            <a:endParaRPr lang="en-US" sz="2200" dirty="0"/>
          </a:p>
        </p:txBody>
      </p:sp>
      <p:sp>
        <p:nvSpPr>
          <p:cNvPr id="10" name="Text 7"/>
          <p:cNvSpPr/>
          <p:nvPr/>
        </p:nvSpPr>
        <p:spPr>
          <a:xfrm>
            <a:off x="566928" y="4526280"/>
            <a:ext cx="11057839" cy="731520"/>
          </a:xfrm>
          <a:prstGeom prst="rect">
            <a:avLst/>
          </a:prstGeom>
          <a:noFill/>
          <a:ln/>
        </p:spPr>
        <p:txBody>
          <a:bodyPr wrap="square" lIns="0" tIns="0" rIns="0" bIns="0" rtlCol="0" anchor="t"/>
          <a:lstStyle/>
          <a:p>
            <a:pPr algn="ctr" indent="0" marL="0">
              <a:lnSpc>
                <a:spcPct val="124000"/>
              </a:lnSpc>
              <a:buNone/>
            </a:pPr>
            <a:r>
              <a:rPr lang="en-US" sz="1400" dirty="0">
                <a:solidFill>
                  <a:srgbClr val="6F6B80"/>
                </a:solidFill>
                <a:latin typeface="Arial" pitchFamily="34" charset="0"/>
                <a:ea typeface="Arial" pitchFamily="34" charset="-122"/>
                <a:cs typeface="Arial" pitchFamily="34" charset="-120"/>
              </a:rPr>
              <a:t>Parece un rodeo inútil. No lo es.</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PASO 6 · RESPUESTA</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PATRÓN DE RETIRO</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38</a:t>
            </a:r>
            <a:endParaRPr lang="en-US" sz="900" dirty="0"/>
          </a:p>
        </p:txBody>
      </p:sp>
      <p:sp>
        <p:nvSpPr>
          <p:cNvPr id="8" name="Shape 5"/>
          <p:cNvSpPr/>
          <p:nvPr/>
        </p:nvSpPr>
        <p:spPr>
          <a:xfrm>
            <a:off x="566928" y="1737360"/>
            <a:ext cx="11057839" cy="1371600"/>
          </a:xfrm>
          <a:prstGeom prst="rect">
            <a:avLst/>
          </a:prstGeom>
          <a:solidFill>
            <a:srgbClr val="FFFFFF"/>
          </a:solidFill>
          <a:ln w="34925">
            <a:solidFill>
              <a:srgbClr val="1F7A4D"/>
            </a:solidFill>
            <a:prstDash val="solid"/>
          </a:ln>
          <a:effectLst>
            <a:outerShdw sx="100000" sy="100000" kx="0" ky="0" algn="bl" rotWithShape="0" blurRad="101600" dist="63500" dir="2700000">
              <a:srgbClr val="1F7A4D">
                <a:alpha val="100000"/>
              </a:srgbClr>
            </a:outerShdw>
          </a:effectLst>
        </p:spPr>
      </p:sp>
      <p:sp>
        <p:nvSpPr>
          <p:cNvPr id="9" name="Text 6"/>
          <p:cNvSpPr/>
          <p:nvPr/>
        </p:nvSpPr>
        <p:spPr>
          <a:xfrm>
            <a:off x="950976" y="1920240"/>
            <a:ext cx="10289743" cy="1005840"/>
          </a:xfrm>
          <a:prstGeom prst="rect">
            <a:avLst/>
          </a:prstGeom>
          <a:noFill/>
          <a:ln/>
        </p:spPr>
        <p:txBody>
          <a:bodyPr wrap="square" lIns="0" tIns="0" rIns="0" bIns="0" rtlCol="0" anchor="ctr"/>
          <a:lstStyle/>
          <a:p>
            <a:pPr indent="0" marL="0">
              <a:lnSpc>
                <a:spcPct val="106000"/>
              </a:lnSpc>
              <a:buNone/>
            </a:pPr>
            <a:r>
              <a:rPr lang="en-US" sz="1800" dirty="0">
                <a:solidFill>
                  <a:srgbClr val="0F0F11"/>
                </a:solidFill>
                <a:latin typeface="Arial Black" pitchFamily="34" charset="0"/>
                <a:ea typeface="Arial Black" pitchFamily="34" charset="-122"/>
                <a:cs typeface="Arial Black" pitchFamily="34" charset="-120"/>
              </a:rPr>
              <a:t>Porque enviar dinero es entregarle el control de la ejecución a quien lo recibe. Anotar primero y dejar que cada quien reclame quita dos problemas de un golpe.</a:t>
            </a:r>
            <a:endParaRPr lang="en-US" sz="1800" dirty="0"/>
          </a:p>
        </p:txBody>
      </p:sp>
      <p:sp>
        <p:nvSpPr>
          <p:cNvPr id="10" name="Shape 7"/>
          <p:cNvSpPr/>
          <p:nvPr/>
        </p:nvSpPr>
        <p:spPr>
          <a:xfrm>
            <a:off x="566928" y="3291840"/>
            <a:ext cx="5391760" cy="182880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347472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SI EL RECEPTOR RECHAZA EL ENVÍO</a:t>
            </a:r>
            <a:endParaRPr lang="en-US" sz="1050" dirty="0"/>
          </a:p>
        </p:txBody>
      </p:sp>
      <p:sp>
        <p:nvSpPr>
          <p:cNvPr id="12" name="Text 9"/>
          <p:cNvSpPr/>
          <p:nvPr/>
        </p:nvSpPr>
        <p:spPr>
          <a:xfrm>
            <a:off x="841248" y="385876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Un contrato puede estar hecho para reventar al recibir dinero. Si el envío va dentro de devolver(), ese solo participante tumba la operación entera. Para todos.</a:t>
            </a:r>
            <a:endParaRPr lang="en-US" sz="1250" dirty="0"/>
          </a:p>
        </p:txBody>
      </p:sp>
      <p:sp>
        <p:nvSpPr>
          <p:cNvPr id="13" name="Shape 10"/>
          <p:cNvSpPr/>
          <p:nvPr/>
        </p:nvSpPr>
        <p:spPr>
          <a:xfrm>
            <a:off x="6233008" y="3291840"/>
            <a:ext cx="5391760" cy="182880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47472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SI EL RECEPTOR VUELVE A ENTRAR</a:t>
            </a:r>
            <a:endParaRPr lang="en-US" sz="1050" dirty="0"/>
          </a:p>
        </p:txBody>
      </p:sp>
      <p:sp>
        <p:nvSpPr>
          <p:cNvPr id="15" name="Text 12"/>
          <p:cNvSpPr/>
          <p:nvPr/>
        </p:nvSpPr>
        <p:spPr>
          <a:xfrm>
            <a:off x="6507328" y="3858768"/>
            <a:ext cx="4843120" cy="1097280"/>
          </a:xfrm>
          <a:prstGeom prst="rect">
            <a:avLst/>
          </a:prstGeom>
          <a:noFill/>
          <a:ln/>
        </p:spPr>
        <p:txBody>
          <a:bodyPr wrap="square" lIns="0" tIns="0" rIns="0" bIns="0" rtlCol="0" anchor="t"/>
          <a:lstStyle/>
          <a:p>
            <a:pPr indent="0" marL="0">
              <a:lnSpc>
                <a:spcPct val="124000"/>
              </a:lnSpc>
              <a:buNone/>
            </a:pPr>
            <a:r>
              <a:rPr lang="en-US" sz="1250" dirty="0">
                <a:solidFill>
                  <a:srgbClr val="3A3844"/>
                </a:solidFill>
                <a:latin typeface="Arial" pitchFamily="34" charset="0"/>
                <a:ea typeface="Arial" pitchFamily="34" charset="-122"/>
                <a:cs typeface="Arial" pitchFamily="34" charset="-120"/>
              </a:rPr>
              <a:t>Al recibir, su código corre. Si el estado no quedó en orden antes, puede llamar otra vez y cobrar dos veces. Así se perdieron 3,6 millones de ether en The DAO.</a:t>
            </a:r>
            <a:endParaRPr lang="en-US" sz="1250" dirty="0"/>
          </a:p>
        </p:txBody>
      </p:sp>
      <p:sp>
        <p:nvSpPr>
          <p:cNvPr id="16" name="Shape 13"/>
          <p:cNvSpPr/>
          <p:nvPr/>
        </p:nvSpPr>
        <p:spPr>
          <a:xfrm>
            <a:off x="566928" y="5303520"/>
            <a:ext cx="11057839" cy="777240"/>
          </a:xfrm>
          <a:prstGeom prst="rect">
            <a:avLst/>
          </a:prstGeom>
          <a:solidFill>
            <a:srgbClr val="F2F0F5"/>
          </a:solidFill>
          <a:ln w="22225">
            <a:solidFill>
              <a:srgbClr val="7152E9"/>
            </a:solidFill>
            <a:prstDash val="solid"/>
          </a:ln>
          <a:effectLst>
            <a:outerShdw sx="100000" sy="100000" kx="0" ky="0" algn="bl" rotWithShape="0" blurRad="101600" dist="63500" dir="2700000">
              <a:srgbClr val="5638C9">
                <a:alpha val="100000"/>
              </a:srgbClr>
            </a:outerShdw>
          </a:effectLst>
        </p:spPr>
      </p:sp>
      <p:sp>
        <p:nvSpPr>
          <p:cNvPr id="17" name="Text 14"/>
          <p:cNvSpPr/>
          <p:nvPr/>
        </p:nvSpPr>
        <p:spPr>
          <a:xfrm>
            <a:off x="841248" y="5440680"/>
            <a:ext cx="475488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Y ESO ES LO QUE ARREGLA EL PASO SIGUIENTE</a:t>
            </a:r>
            <a:endParaRPr lang="en-US" sz="1050" dirty="0"/>
          </a:p>
        </p:txBody>
      </p:sp>
      <p:sp>
        <p:nvSpPr>
          <p:cNvPr id="18" name="Text 15"/>
          <p:cNvSpPr/>
          <p:nvPr/>
        </p:nvSpPr>
        <p:spPr>
          <a:xfrm>
            <a:off x="841248" y="5669280"/>
            <a:ext cx="10509199" cy="457200"/>
          </a:xfrm>
          <a:prstGeom prst="rect">
            <a:avLst/>
          </a:prstGeom>
          <a:noFill/>
          <a:ln/>
        </p:spPr>
        <p:txBody>
          <a:bodyPr wrap="square" lIns="0" tIns="0" rIns="0" bIns="0" rtlCol="0" anchor="t"/>
          <a:lstStyle/>
          <a:p>
            <a:pPr indent="0" marL="0">
              <a:lnSpc>
                <a:spcPct val="124000"/>
              </a:lnSpc>
              <a:buNone/>
            </a:pPr>
            <a:r>
              <a:rPr lang="en-US" sz="1300" dirty="0">
                <a:solidFill>
                  <a:srgbClr val="3A3844"/>
                </a:solidFill>
                <a:latin typeface="Arial" pitchFamily="34" charset="0"/>
                <a:ea typeface="Arial" pitchFamily="34" charset="-122"/>
                <a:cs typeface="Arial" pitchFamily="34" charset="-120"/>
              </a:rPr>
              <a:t>Por eso saldo[msg.sender] = 0 va ANTES del envío, y no después.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CIERRE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LA CLASE ENTERA EN UNA TABLA</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39</a:t>
            </a:r>
            <a:endParaRPr lang="en-US" sz="9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6928" y="1783080"/>
          <a:ext cx="11057839" cy="914400"/>
        </p:xfrm>
        <a:graphic>
          <a:graphicData uri="http://schemas.openxmlformats.org/drawingml/2006/table">
            <a:tbl>
              <a:tblPr/>
              <a:tblGrid>
                <a:gridCol w="822960"/>
                <a:gridCol w="5303520"/>
                <a:gridCol w="4931359"/>
              </a:tblGrid>
              <a:tr h="310896">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PASO</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SE ROMPIÓ EN PANTALLA</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c>
                  <a:txBody>
                    <a:bodyPr/>
                    <a:lstStyle/>
                    <a:p>
                      <a:pPr indent="0" marL="0">
                        <a:buNone/>
                      </a:pPr>
                      <a:r>
                        <a:rPr lang="en-US" sz="900" b="1" spc="110" kern="0" dirty="0">
                          <a:solidFill>
                            <a:srgbClr val="FFFFFF"/>
                          </a:solidFill>
                          <a:latin typeface="Courier New" pitchFamily="34" charset="0"/>
                          <a:ea typeface="Courier New" pitchFamily="34" charset="-122"/>
                          <a:cs typeface="Courier New" pitchFamily="34" charset="-120"/>
                        </a:rPr>
                        <a:t>LO QUE LO ARREGLÓ</a:t>
                      </a:r>
                      <a:endParaRPr lang="en-US" sz="900" dirty="0">
                        <a:latin typeface="Courier New" charset="0"/>
                        <a:ea typeface="Courier New" charset="0"/>
                        <a:cs typeface="Courier New" charset="0"/>
                      </a:endParaRPr>
                    </a:p>
                  </a:txBody>
                  <a:tcPr marL="101600" marR="101600" marT="76200" marB="76200" anchor="ctr">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0F0F11"/>
                    </a:solidFill>
                  </a:tcPr>
                </a:tc>
              </a:tr>
              <a:tr h="49682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1</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El equipo cambió de manos sin que nadie lo devolviera.</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Una guardia: el contrato aprende a decir NO.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682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2</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Un contrato por equipo no escala.</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struct y mapping: una tabla adentro.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9682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3</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Un equipo que no existe aparecía como disponible.</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El campo existe, y revertir en vez de mentir.</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682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4</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Cualquiera registraba inventario inventado.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Constructor y modificador: alguien responde.</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r h="49682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5</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Nadie devolvía y la mora no se podía medir.</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Un plazo y el reloj del bloque.</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FFFFF"/>
                    </a:solidFill>
                  </a:tcPr>
                </a:tc>
              </a:tr>
              <a:tr h="496824">
                <a:tc>
                  <a:txBody>
                    <a:bodyPr/>
                    <a:lstStyle/>
                    <a:p>
                      <a:pPr indent="0" marL="0">
                        <a:buNone/>
                      </a:pPr>
                      <a:r>
                        <a:rPr lang="en-US" sz="1250" b="1" dirty="0">
                          <a:solidFill>
                            <a:srgbClr val="0F0F11"/>
                          </a:solidFill>
                          <a:latin typeface="Courier New" pitchFamily="34" charset="0"/>
                          <a:ea typeface="Courier New" pitchFamily="34" charset="-122"/>
                          <a:cs typeface="Courier New" pitchFamily="34" charset="-120"/>
                        </a:rPr>
                        <a:t>6</a:t>
                      </a:r>
                      <a:endParaRPr lang="en-US" sz="1250" dirty="0">
                        <a:latin typeface="Courier New" charset="0"/>
                        <a:ea typeface="Courier New" charset="0"/>
                        <a:cs typeface="Courier New"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Estar en mora no costaba nada.</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c>
                  <a:txBody>
                    <a:bodyPr/>
                    <a:lstStyle/>
                    <a:p>
                      <a:pPr indent="0" marL="0">
                        <a:buNone/>
                      </a:pPr>
                      <a:r>
                        <a:rPr lang="en-US" sz="1250" dirty="0">
                          <a:solidFill>
                            <a:srgbClr val="3A3844"/>
                          </a:solidFill>
                          <a:latin typeface="Arial" pitchFamily="34" charset="0"/>
                          <a:ea typeface="Arial" pitchFamily="34" charset="-122"/>
                          <a:cs typeface="Arial" pitchFamily="34" charset="-120"/>
                        </a:rPr>
                        <a:t>Un depósito, y el patrón de retiro para moverlo sin riesgo.</a:t>
                      </a:r>
                      <a:endParaRPr lang="en-US" sz="1250" dirty="0">
                        <a:latin typeface="Arial" charset="0"/>
                        <a:ea typeface="Arial" charset="0"/>
                        <a:cs typeface="Arial" charset="0"/>
                      </a:endParaRPr>
                    </a:p>
                  </a:txBody>
                  <a:tcPr marL="101600" marR="101600" marT="76200" marB="76200" anchor="t">
                    <a:lnL w="12700" cap="flat" cmpd="sng" algn="ctr">
                      <a:solidFill>
                        <a:srgbClr val="D9D6E0"/>
                      </a:solidFill>
                      <a:prstDash val="solid"/>
                      <a:round/>
                      <a:headEnd type="none" w="med" len="med"/>
                      <a:tailEnd type="none" w="med" len="med"/>
                    </a:lnL>
                    <a:lnR w="12700" cap="flat" cmpd="sng" algn="ctr">
                      <a:solidFill>
                        <a:srgbClr val="D9D6E0"/>
                      </a:solidFill>
                      <a:prstDash val="solid"/>
                      <a:round/>
                      <a:headEnd type="none" w="med" len="med"/>
                      <a:tailEnd type="none" w="med" len="med"/>
                    </a:lnR>
                    <a:lnT w="12700" cap="flat" cmpd="sng" algn="ctr">
                      <a:solidFill>
                        <a:srgbClr val="D9D6E0"/>
                      </a:solidFill>
                      <a:prstDash val="solid"/>
                      <a:round/>
                      <a:headEnd type="none" w="med" len="med"/>
                      <a:tailEnd type="none" w="med" len="med"/>
                    </a:lnT>
                    <a:lnB w="12700" cap="flat" cmpd="sng" algn="ctr">
                      <a:solidFill>
                        <a:srgbClr val="D9D6E0"/>
                      </a:solidFill>
                      <a:prstDash val="solid"/>
                      <a:round/>
                      <a:headEnd type="none" w="med" len="med"/>
                      <a:tailEnd type="none" w="med" len="med"/>
                    </a:lnB>
                    <a:solidFill>
                      <a:srgbClr val="FAF9FB"/>
                    </a:solidFill>
                  </a:tcPr>
                </a:tc>
              </a:tr>
            </a:tbl>
          </a:graphicData>
        </a:graphic>
      </p:graphicFrame>
      <p:sp>
        <p:nvSpPr>
          <p:cNvPr id="9" name="Shape 5"/>
          <p:cNvSpPr/>
          <p:nvPr/>
        </p:nvSpPr>
        <p:spPr>
          <a:xfrm>
            <a:off x="548640" y="1764792"/>
            <a:ext cx="11094415" cy="3328416"/>
          </a:xfrm>
          <a:prstGeom prst="rect">
            <a:avLst/>
          </a:prstGeom>
          <a:ln w="22225">
            <a:solidFill>
              <a:srgbClr val="0F0F11"/>
            </a:solidFill>
            <a:prstDash val="solid"/>
          </a:ln>
        </p:spPr>
      </p:sp>
      <p:sp>
        <p:nvSpPr>
          <p:cNvPr id="10" name="Text 6"/>
          <p:cNvSpPr/>
          <p:nvPr/>
        </p:nvSpPr>
        <p:spPr>
          <a:xfrm>
            <a:off x="566928" y="5257800"/>
            <a:ext cx="11057839" cy="731520"/>
          </a:xfrm>
          <a:prstGeom prst="rect">
            <a:avLst/>
          </a:prstGeom>
          <a:noFill/>
          <a:ln/>
        </p:spPr>
        <p:txBody>
          <a:bodyPr wrap="square" lIns="0" tIns="0" rIns="0" bIns="0" rtlCol="0" anchor="t"/>
          <a:lstStyle/>
          <a:p>
            <a:pPr indent="0" marL="0">
              <a:lnSpc>
                <a:spcPct val="124000"/>
              </a:lnSpc>
              <a:buNone/>
            </a:pPr>
            <a:r>
              <a:rPr lang="en-US" sz="1500" dirty="0">
                <a:solidFill>
                  <a:srgbClr val="A35604"/>
                </a:solidFill>
                <a:latin typeface="Arial" pitchFamily="34" charset="0"/>
                <a:ea typeface="Arial" pitchFamily="34" charset="-122"/>
                <a:cs typeface="Arial" pitchFamily="34" charset="-120"/>
              </a:rPr>
              <a:t>Si mañana recuerdan una sola cosa de hoy, que sea esta: en un contrato, los errores caros casi nunca son errores de sintaxis. Son reglas que nadie escribió.</a:t>
            </a: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LA PREGUNTA DE SIEMPRE</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3000" dirty="0">
                <a:solidFill>
                  <a:srgbClr val="0F0F11"/>
                </a:solidFill>
                <a:latin typeface="Arial Black" pitchFamily="34" charset="0"/>
                <a:ea typeface="Arial Black" pitchFamily="34" charset="-122"/>
                <a:cs typeface="Arial Black" pitchFamily="34" charset="-120"/>
              </a:rPr>
              <a:t>¿ESTO NECESITABA UNA BLOCKCHAIN?</a:t>
            </a:r>
            <a:endParaRPr lang="en-US" sz="30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40</a:t>
            </a:r>
            <a:endParaRPr lang="en-US" sz="900" dirty="0"/>
          </a:p>
        </p:txBody>
      </p:sp>
      <p:sp>
        <p:nvSpPr>
          <p:cNvPr id="8" name="Shape 5"/>
          <p:cNvSpPr/>
          <p:nvPr/>
        </p:nvSpPr>
        <p:spPr>
          <a:xfrm>
            <a:off x="566928" y="1783080"/>
            <a:ext cx="11057839" cy="1371600"/>
          </a:xfrm>
          <a:prstGeom prst="rect">
            <a:avLst/>
          </a:prstGeom>
          <a:solidFill>
            <a:srgbClr val="FFFFFF"/>
          </a:solidFill>
          <a:ln w="34925">
            <a:solidFill>
              <a:srgbClr val="B3261E"/>
            </a:solidFill>
            <a:prstDash val="solid"/>
          </a:ln>
          <a:effectLst>
            <a:outerShdw sx="100000" sy="100000" kx="0" ky="0" algn="bl" rotWithShape="0" blurRad="101600" dist="63500" dir="2700000">
              <a:srgbClr val="B3261E">
                <a:alpha val="100000"/>
              </a:srgbClr>
            </a:outerShdw>
          </a:effectLst>
        </p:spPr>
      </p:sp>
      <p:sp>
        <p:nvSpPr>
          <p:cNvPr id="9" name="Text 6"/>
          <p:cNvSpPr/>
          <p:nvPr/>
        </p:nvSpPr>
        <p:spPr>
          <a:xfrm>
            <a:off x="950976" y="1965960"/>
            <a:ext cx="10289743" cy="100584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Para el laboratorio de nuestra universidad: no. Una hoja de cálculo y una persona honesta hacen lo mismo, más rápido y gratis.</a:t>
            </a:r>
            <a:endParaRPr lang="en-US" sz="2000" dirty="0"/>
          </a:p>
        </p:txBody>
      </p:sp>
      <p:sp>
        <p:nvSpPr>
          <p:cNvPr id="10" name="Shape 7"/>
          <p:cNvSpPr/>
          <p:nvPr/>
        </p:nvSpPr>
        <p:spPr>
          <a:xfrm>
            <a:off x="566928" y="3337560"/>
            <a:ext cx="5391760" cy="1920240"/>
          </a:xfrm>
          <a:prstGeom prst="rect">
            <a:avLst/>
          </a:prstGeom>
          <a:solidFill>
            <a:srgbClr val="FFFFFF"/>
          </a:solidFill>
          <a:ln w="22225">
            <a:solidFill>
              <a:srgbClr val="F07F06"/>
            </a:solidFill>
            <a:prstDash val="solid"/>
          </a:ln>
          <a:effectLst>
            <a:outerShdw sx="100000" sy="100000" kx="0" ky="0" algn="bl" rotWithShape="0" blurRad="101600" dist="63500" dir="2700000">
              <a:srgbClr val="F07F06">
                <a:alpha val="100000"/>
              </a:srgbClr>
            </a:outerShdw>
          </a:effectLst>
        </p:spPr>
      </p:sp>
      <p:sp>
        <p:nvSpPr>
          <p:cNvPr id="11" name="Text 8"/>
          <p:cNvSpPr/>
          <p:nvPr/>
        </p:nvSpPr>
        <p:spPr>
          <a:xfrm>
            <a:off x="841248" y="3520440"/>
            <a:ext cx="4843120" cy="292608"/>
          </a:xfrm>
          <a:prstGeom prst="rect">
            <a:avLst/>
          </a:prstGeom>
          <a:noFill/>
          <a:ln/>
        </p:spPr>
        <p:txBody>
          <a:bodyPr wrap="square" lIns="0" tIns="0" rIns="0" bIns="0" rtlCol="0" anchor="ctr"/>
          <a:lstStyle/>
          <a:p>
            <a:pPr indent="0" marL="0">
              <a:buNone/>
            </a:pPr>
            <a:r>
              <a:rPr lang="en-US" sz="1050" b="1" spc="130" kern="0" dirty="0">
                <a:solidFill>
                  <a:srgbClr val="A35604"/>
                </a:solidFill>
                <a:latin typeface="Courier New" pitchFamily="34" charset="0"/>
                <a:ea typeface="Courier New" pitchFamily="34" charset="-122"/>
                <a:cs typeface="Courier New" pitchFamily="34" charset="-120"/>
              </a:rPr>
              <a:t>CUÁNDO SÍ TENDRÍA SENTIDO</a:t>
            </a:r>
            <a:endParaRPr lang="en-US" sz="1050" dirty="0"/>
          </a:p>
        </p:txBody>
      </p:sp>
      <p:sp>
        <p:nvSpPr>
          <p:cNvPr id="12" name="Text 9"/>
          <p:cNvSpPr/>
          <p:nvPr/>
        </p:nvSpPr>
        <p:spPr>
          <a:xfrm>
            <a:off x="841248" y="3904488"/>
            <a:ext cx="4843120" cy="11887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Si el inventario fuera compartido entre varias universidades que no se fían entre sí. O si el depósito tuviera que devolverse sin que nadie pueda decidir no devolverlo.</a:t>
            </a:r>
            <a:endParaRPr lang="en-US" sz="1350" dirty="0"/>
          </a:p>
        </p:txBody>
      </p:sp>
      <p:sp>
        <p:nvSpPr>
          <p:cNvPr id="13" name="Shape 10"/>
          <p:cNvSpPr/>
          <p:nvPr/>
        </p:nvSpPr>
        <p:spPr>
          <a:xfrm>
            <a:off x="6233008" y="3337560"/>
            <a:ext cx="5391760" cy="1920240"/>
          </a:xfrm>
          <a:prstGeom prst="rect">
            <a:avLst/>
          </a:prstGeom>
          <a:solidFill>
            <a:srgbClr val="FFFFFF"/>
          </a:solidFill>
          <a:ln w="22225">
            <a:solidFill>
              <a:srgbClr val="7152E9"/>
            </a:solidFill>
            <a:prstDash val="solid"/>
          </a:ln>
          <a:effectLst>
            <a:outerShdw sx="100000" sy="100000" kx="0" ky="0" algn="bl" rotWithShape="0" blurRad="101600" dist="63500" dir="2700000">
              <a:srgbClr val="7152E9">
                <a:alpha val="100000"/>
              </a:srgbClr>
            </a:outerShdw>
          </a:effectLst>
        </p:spPr>
      </p:sp>
      <p:sp>
        <p:nvSpPr>
          <p:cNvPr id="14" name="Text 11"/>
          <p:cNvSpPr/>
          <p:nvPr/>
        </p:nvSpPr>
        <p:spPr>
          <a:xfrm>
            <a:off x="6507328" y="3520440"/>
            <a:ext cx="4843120" cy="292608"/>
          </a:xfrm>
          <a:prstGeom prst="rect">
            <a:avLst/>
          </a:prstGeom>
          <a:noFill/>
          <a:ln/>
        </p:spPr>
        <p:txBody>
          <a:bodyPr wrap="square" lIns="0" tIns="0" rIns="0" bIns="0" rtlCol="0" anchor="ctr"/>
          <a:lstStyle/>
          <a:p>
            <a:pPr indent="0" marL="0">
              <a:buNone/>
            </a:pPr>
            <a:r>
              <a:rPr lang="en-US" sz="1050" b="1" spc="130" kern="0" dirty="0">
                <a:solidFill>
                  <a:srgbClr val="5638C9"/>
                </a:solidFill>
                <a:latin typeface="Courier New" pitchFamily="34" charset="0"/>
                <a:ea typeface="Courier New" pitchFamily="34" charset="-122"/>
                <a:cs typeface="Courier New" pitchFamily="34" charset="-120"/>
              </a:rPr>
              <a:t>LO QUE DE VERDAD APRENDIERON HOY</a:t>
            </a:r>
            <a:endParaRPr lang="en-US" sz="1050" dirty="0"/>
          </a:p>
        </p:txBody>
      </p:sp>
      <p:sp>
        <p:nvSpPr>
          <p:cNvPr id="15" name="Text 12"/>
          <p:cNvSpPr/>
          <p:nvPr/>
        </p:nvSpPr>
        <p:spPr>
          <a:xfrm>
            <a:off x="6507328" y="3904488"/>
            <a:ext cx="4843120" cy="1188720"/>
          </a:xfrm>
          <a:prstGeom prst="rect">
            <a:avLst/>
          </a:prstGeom>
          <a:noFill/>
          <a:ln/>
        </p:spPr>
        <p:txBody>
          <a:bodyPr wrap="square" lIns="0" tIns="0" rIns="0" bIns="0" rtlCol="0" anchor="t"/>
          <a:lstStyle/>
          <a:p>
            <a:pPr indent="0" marL="0">
              <a:lnSpc>
                <a:spcPct val="124000"/>
              </a:lnSpc>
              <a:buNone/>
            </a:pPr>
            <a:r>
              <a:rPr lang="en-US" sz="1350" dirty="0">
                <a:solidFill>
                  <a:srgbClr val="3A3844"/>
                </a:solidFill>
                <a:latin typeface="Arial" pitchFamily="34" charset="0"/>
                <a:ea typeface="Arial" pitchFamily="34" charset="-122"/>
                <a:cs typeface="Arial" pitchFamily="34" charset="-120"/>
              </a:rPr>
              <a:t>A leer un contrato y saber qué regla hace cumplir, cuánto cuesta, y quién manda adentro. Eso sirve igual para decidir que NO hace falta.</a:t>
            </a:r>
            <a:endParaRPr lang="en-US" sz="1350" dirty="0"/>
          </a:p>
        </p:txBody>
      </p:sp>
      <p:sp>
        <p:nvSpPr>
          <p:cNvPr id="16" name="Text 13"/>
          <p:cNvSpPr/>
          <p:nvPr/>
        </p:nvSpPr>
        <p:spPr>
          <a:xfrm>
            <a:off x="566928" y="5440680"/>
            <a:ext cx="11057839" cy="548640"/>
          </a:xfrm>
          <a:prstGeom prst="rect">
            <a:avLst/>
          </a:prstGeom>
          <a:noFill/>
          <a:ln/>
        </p:spPr>
        <p:txBody>
          <a:bodyPr wrap="square" lIns="0" tIns="0" rIns="0" bIns="0" rtlCol="0" anchor="t"/>
          <a:lstStyle/>
          <a:p>
            <a:pPr algn="ctr" indent="0" marL="0">
              <a:lnSpc>
                <a:spcPct val="124000"/>
              </a:lnSpc>
              <a:buNone/>
            </a:pPr>
            <a:r>
              <a:rPr lang="en-US" sz="1500" dirty="0">
                <a:solidFill>
                  <a:srgbClr val="A35604"/>
                </a:solidFill>
                <a:latin typeface="Arial" pitchFamily="34" charset="0"/>
                <a:ea typeface="Arial" pitchFamily="34" charset="-122"/>
                <a:cs typeface="Arial" pitchFamily="34" charset="-120"/>
              </a:rPr>
              <a:t>Saber distinguir esos dos casos vale más que saber escribir el contrato.</a:t>
            </a:r>
            <a:endParaRPr lang="en-US" sz="15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402336"/>
            <a:ext cx="274320" cy="274320"/>
          </a:xfrm>
          <a:prstGeom prst="rect">
            <a:avLst/>
          </a:prstGeom>
        </p:spPr>
      </p:pic>
      <p:sp>
        <p:nvSpPr>
          <p:cNvPr id="3" name="Text 0"/>
          <p:cNvSpPr/>
          <p:nvPr/>
        </p:nvSpPr>
        <p:spPr>
          <a:xfrm>
            <a:off x="969264" y="384048"/>
            <a:ext cx="10655503" cy="310896"/>
          </a:xfrm>
          <a:prstGeom prst="rect">
            <a:avLst/>
          </a:prstGeom>
          <a:noFill/>
          <a:ln/>
        </p:spPr>
        <p:txBody>
          <a:bodyPr wrap="square" lIns="0" tIns="0" rIns="0" bIns="0" rtlCol="0" anchor="ctr"/>
          <a:lstStyle/>
          <a:p>
            <a:pPr indent="0" marL="0">
              <a:buNone/>
            </a:pPr>
            <a:r>
              <a:rPr lang="en-US" sz="950" spc="160" kern="0" dirty="0">
                <a:solidFill>
                  <a:srgbClr val="6F6B80"/>
                </a:solidFill>
                <a:latin typeface="Courier New" pitchFamily="34" charset="0"/>
                <a:ea typeface="Courier New" pitchFamily="34" charset="-122"/>
                <a:cs typeface="Courier New" pitchFamily="34" charset="-120"/>
              </a:rPr>
              <a:t>TRABAJO AUTÓNOMO</a:t>
            </a:r>
            <a:endParaRPr lang="en-US" sz="950" dirty="0"/>
          </a:p>
        </p:txBody>
      </p:sp>
      <p:sp>
        <p:nvSpPr>
          <p:cNvPr id="4" name="Text 1"/>
          <p:cNvSpPr/>
          <p:nvPr/>
        </p:nvSpPr>
        <p:spPr>
          <a:xfrm>
            <a:off x="566928" y="777240"/>
            <a:ext cx="11057839" cy="777240"/>
          </a:xfrm>
          <a:prstGeom prst="rect">
            <a:avLst/>
          </a:prstGeom>
          <a:noFill/>
          <a:ln/>
        </p:spPr>
        <p:txBody>
          <a:bodyPr wrap="square" lIns="0" tIns="0" rIns="0" bIns="0" rtlCol="0" anchor="t"/>
          <a:lstStyle/>
          <a:p>
            <a:pPr indent="0" marL="0">
              <a:lnSpc>
                <a:spcPct val="92000"/>
              </a:lnSpc>
              <a:buNone/>
            </a:pPr>
            <a:r>
              <a:rPr lang="en-US" sz="2900" dirty="0">
                <a:solidFill>
                  <a:srgbClr val="0F0F11"/>
                </a:solidFill>
                <a:latin typeface="Arial Black" pitchFamily="34" charset="0"/>
                <a:ea typeface="Arial Black" pitchFamily="34" charset="-122"/>
                <a:cs typeface="Arial Black" pitchFamily="34" charset="-120"/>
              </a:rPr>
              <a:t>LA PREGUNTA DE LA SEMANA</a:t>
            </a:r>
            <a:endParaRPr lang="en-US" sz="2900" dirty="0"/>
          </a:p>
        </p:txBody>
      </p:sp>
      <p:sp>
        <p:nvSpPr>
          <p:cNvPr id="5" name="Text 2"/>
          <p:cNvSpPr/>
          <p:nvPr/>
        </p:nvSpPr>
        <p:spPr>
          <a:xfrm>
            <a:off x="566928" y="6291072"/>
            <a:ext cx="8412480" cy="274320"/>
          </a:xfrm>
          <a:prstGeom prst="rect">
            <a:avLst/>
          </a:prstGeom>
          <a:noFill/>
          <a:ln/>
        </p:spPr>
        <p:txBody>
          <a:bodyPr wrap="square" lIns="0" tIns="0" rIns="0" bIns="0" rtlCol="0" anchor="ctr"/>
          <a:lstStyle/>
          <a:p>
            <a:pPr indent="0" marL="0">
              <a:buNone/>
            </a:pPr>
            <a:r>
              <a:rPr lang="en-US" sz="800" spc="120" kern="0" dirty="0">
                <a:solidFill>
                  <a:srgbClr val="6F6B80"/>
                </a:solidFill>
                <a:latin typeface="Courier New" pitchFamily="34" charset="0"/>
                <a:ea typeface="Courier New" pitchFamily="34" charset="-122"/>
                <a:cs typeface="Courier New" pitchFamily="34" charset="-120"/>
              </a:rPr>
              <a:t>UN CONTRATO, PASO A PASO · SOLIDITY EN VIVO</a:t>
            </a:r>
            <a:endParaRPr lang="en-US" sz="800" dirty="0"/>
          </a:p>
        </p:txBody>
      </p:sp>
      <p:sp>
        <p:nvSpPr>
          <p:cNvPr id="6" name="Text 3"/>
          <p:cNvSpPr/>
          <p:nvPr/>
        </p:nvSpPr>
        <p:spPr>
          <a:xfrm>
            <a:off x="9052560" y="6291072"/>
            <a:ext cx="1828800" cy="274320"/>
          </a:xfrm>
          <a:prstGeom prst="rect">
            <a:avLst/>
          </a:prstGeom>
          <a:noFill/>
          <a:ln/>
        </p:spPr>
        <p:txBody>
          <a:bodyPr wrap="square" lIns="0" tIns="0" rIns="0" bIns="0" rtlCol="0" anchor="ctr"/>
          <a:lstStyle/>
          <a:p>
            <a:pPr algn="r" indent="0" marL="0">
              <a:buNone/>
            </a:pPr>
            <a:r>
              <a:rPr lang="en-US" sz="800" spc="120" kern="0" dirty="0">
                <a:solidFill>
                  <a:srgbClr val="6F6B80"/>
                </a:solidFill>
                <a:latin typeface="Courier New" pitchFamily="34" charset="0"/>
                <a:ea typeface="Courier New" pitchFamily="34" charset="-122"/>
                <a:cs typeface="Courier New" pitchFamily="34" charset="-120"/>
              </a:rPr>
              <a:t>USB MEDELLÍN</a:t>
            </a:r>
            <a:endParaRPr lang="en-US" sz="800" dirty="0"/>
          </a:p>
        </p:txBody>
      </p:sp>
      <p:sp>
        <p:nvSpPr>
          <p:cNvPr id="7" name="Text 4"/>
          <p:cNvSpPr/>
          <p:nvPr/>
        </p:nvSpPr>
        <p:spPr>
          <a:xfrm>
            <a:off x="11018520" y="6291072"/>
            <a:ext cx="603504" cy="274320"/>
          </a:xfrm>
          <a:prstGeom prst="rect">
            <a:avLst/>
          </a:prstGeom>
          <a:noFill/>
          <a:ln/>
        </p:spPr>
        <p:txBody>
          <a:bodyPr wrap="square" lIns="0" tIns="0" rIns="0" bIns="0" rtlCol="0" anchor="ctr"/>
          <a:lstStyle/>
          <a:p>
            <a:pPr algn="r" indent="0" marL="0">
              <a:buNone/>
            </a:pPr>
            <a:r>
              <a:rPr lang="en-US" sz="900" b="1" dirty="0">
                <a:solidFill>
                  <a:srgbClr val="0F0F11"/>
                </a:solidFill>
                <a:latin typeface="Courier New" pitchFamily="34" charset="0"/>
                <a:ea typeface="Courier New" pitchFamily="34" charset="-122"/>
                <a:cs typeface="Courier New" pitchFamily="34" charset="-120"/>
              </a:rPr>
              <a:t>41</a:t>
            </a:r>
            <a:endParaRPr lang="en-US" sz="900" dirty="0"/>
          </a:p>
        </p:txBody>
      </p:sp>
      <p:sp>
        <p:nvSpPr>
          <p:cNvPr id="8" name="Shape 5"/>
          <p:cNvSpPr/>
          <p:nvPr/>
        </p:nvSpPr>
        <p:spPr>
          <a:xfrm>
            <a:off x="566928" y="1737360"/>
            <a:ext cx="11057839" cy="1600200"/>
          </a:xfrm>
          <a:prstGeom prst="rect">
            <a:avLst/>
          </a:prstGeom>
          <a:solidFill>
            <a:srgbClr val="FFFFFF"/>
          </a:solidFill>
          <a:ln w="34925">
            <a:solidFill>
              <a:srgbClr val="F07F06"/>
            </a:solidFill>
            <a:prstDash val="solid"/>
          </a:ln>
          <a:effectLst>
            <a:outerShdw sx="100000" sy="100000" kx="0" ky="0" algn="bl" rotWithShape="0" blurRad="101600" dist="63500" dir="2700000">
              <a:srgbClr val="F07F06">
                <a:alpha val="100000"/>
              </a:srgbClr>
            </a:outerShdw>
          </a:effectLst>
        </p:spPr>
      </p:sp>
      <p:sp>
        <p:nvSpPr>
          <p:cNvPr id="9" name="Text 6"/>
          <p:cNvSpPr/>
          <p:nvPr/>
        </p:nvSpPr>
        <p:spPr>
          <a:xfrm>
            <a:off x="950976" y="1920240"/>
            <a:ext cx="10289743" cy="1234440"/>
          </a:xfrm>
          <a:prstGeom prst="rect">
            <a:avLst/>
          </a:prstGeom>
          <a:noFill/>
          <a:ln/>
        </p:spPr>
        <p:txBody>
          <a:bodyPr wrap="square" lIns="0" tIns="0" rIns="0" bIns="0" rtlCol="0" anchor="ctr"/>
          <a:lstStyle/>
          <a:p>
            <a:pPr indent="0" marL="0">
              <a:lnSpc>
                <a:spcPct val="106000"/>
              </a:lnSpc>
              <a:buNone/>
            </a:pPr>
            <a:r>
              <a:rPr lang="en-US" sz="2000" dirty="0">
                <a:solidFill>
                  <a:srgbClr val="0F0F11"/>
                </a:solidFill>
                <a:latin typeface="Arial Black" pitchFamily="34" charset="0"/>
                <a:ea typeface="Arial Black" pitchFamily="34" charset="-122"/>
                <a:cs typeface="Arial Black" pitchFamily="34" charset="-120"/>
              </a:rPr>
              <a:t>Repitan los seis pasos solos, de memoria hasta donde puedan, y con la guía cuando se traben. ¿En cuál paso se demoraron más, y por qué?</a:t>
            </a:r>
            <a:endParaRPr lang="en-US" sz="2000" dirty="0"/>
          </a:p>
        </p:txBody>
      </p:sp>
      <p:sp>
        <p:nvSpPr>
          <p:cNvPr id="10" name="Text 7"/>
          <p:cNvSpPr/>
          <p:nvPr/>
        </p:nvSpPr>
        <p:spPr>
          <a:xfrm>
            <a:off x="566928" y="3611880"/>
            <a:ext cx="7315200" cy="292608"/>
          </a:xfrm>
          <a:prstGeom prst="rect">
            <a:avLst/>
          </a:prstGeom>
          <a:noFill/>
          <a:ln/>
        </p:spPr>
        <p:txBody>
          <a:bodyPr wrap="square" lIns="0" tIns="0" rIns="0" bIns="0" rtlCol="0" anchor="ctr"/>
          <a:lstStyle/>
          <a:p>
            <a:pPr indent="0" marL="0">
              <a:buNone/>
            </a:pPr>
            <a:r>
              <a:rPr lang="en-US" sz="1050" b="1" spc="130" kern="0" dirty="0">
                <a:solidFill>
                  <a:srgbClr val="6F6B80"/>
                </a:solidFill>
                <a:latin typeface="Courier New" pitchFamily="34" charset="0"/>
                <a:ea typeface="Courier New" pitchFamily="34" charset="-122"/>
                <a:cs typeface="Courier New" pitchFamily="34" charset="-120"/>
              </a:rPr>
              <a:t>PARA LA PRÓXIMA SESIÓN</a:t>
            </a:r>
            <a:endParaRPr lang="en-US" sz="1050" dirty="0"/>
          </a:p>
        </p:txBody>
      </p:sp>
      <p:sp>
        <p:nvSpPr>
          <p:cNvPr id="11" name="Text 8"/>
          <p:cNvSpPr/>
          <p:nvPr/>
        </p:nvSpPr>
        <p:spPr>
          <a:xfrm>
            <a:off x="566928" y="3977640"/>
            <a:ext cx="11057839" cy="2148840"/>
          </a:xfrm>
          <a:prstGeom prst="rect">
            <a:avLst/>
          </a:prstGeom>
          <a:noFill/>
          <a:ln/>
        </p:spPr>
        <p:txBody>
          <a:bodyPr wrap="square" lIns="0" tIns="0" rIns="0" bIns="0" rtlCol="0" anchor="t"/>
          <a:lstStyle/>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Repetir los seis pasos en Remix, solos. La guía del estudiante trae cada paso con su comprobación y una tabla de errores frecuentes.</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Elegir UNO de los tres ejercicios de ampliación y contestar por escrito sus tres preguntas de diseño, antes de escribir código.</a:t>
            </a:r>
            <a:endParaRPr lang="en-US" sz="1350" dirty="0"/>
          </a:p>
          <a:p>
            <a:pPr marL="203200" indent="-203200">
              <a:lnSpc>
                <a:spcPct val="118000"/>
              </a:lnSpc>
              <a:spcAft>
                <a:spcPts val="600"/>
              </a:spcAft>
              <a:buSzPct val="100000"/>
              <a:buChar char="■"/>
            </a:pPr>
            <a:r>
              <a:rPr lang="en-US" sz="1350" dirty="0">
                <a:solidFill>
                  <a:srgbClr val="3A3844"/>
                </a:solidFill>
                <a:latin typeface="Arial" pitchFamily="34" charset="0"/>
                <a:ea typeface="Arial" pitchFamily="34" charset="-122"/>
                <a:cs typeface="Arial" pitchFamily="34" charset="-120"/>
              </a:rPr>
              <a:t>Evidencia: la dirección del contrato desplegado y una captura de una transacción que REVIERTA. La que revierte, no la que funciona.</a:t>
            </a:r>
            <a:endParaRPr lang="en-US" sz="13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F0F11"/>
        </a:solidFill>
      </p:bgPr>
    </p:bg>
    <p:spTree>
      <p:nvGrpSpPr>
        <p:cNvPr id="1" name=""/>
        <p:cNvGrpSpPr/>
        <p:nvPr/>
      </p:nvGrpSpPr>
      <p:grpSpPr>
        <a:xfrm>
          <a:off x="0" y="0"/>
          <a:ext cx="0" cy="0"/>
          <a:chOff x="0" y="0"/>
          <a:chExt cx="0" cy="0"/>
        </a:xfrm>
      </p:grpSpPr>
      <p:sp>
        <p:nvSpPr>
          <p:cNvPr id="2" name="Shape 0"/>
          <p:cNvSpPr/>
          <p:nvPr/>
        </p:nvSpPr>
        <p:spPr>
          <a:xfrm>
            <a:off x="0" y="0"/>
            <a:ext cx="12191695" cy="146304"/>
          </a:xfrm>
          <a:prstGeom prst="rect">
            <a:avLst/>
          </a:prstGeom>
          <a:solidFill>
            <a:srgbClr val="F07F06"/>
          </a:solidFill>
          <a:ln w="12700">
            <a:solidFill>
              <a:srgbClr val="333333"/>
            </a:solidFill>
            <a:prstDash val="solid"/>
          </a:ln>
        </p:spPr>
      </p:sp>
      <p:pic>
        <p:nvPicPr>
          <p:cNvPr id="3" name="Image 0" descr="preencoded.png">    </p:cNvPr>
          <p:cNvPicPr>
            <a:picLocks noChangeAspect="1"/>
          </p:cNvPicPr>
          <p:nvPr/>
        </p:nvPicPr>
        <p:blipFill>
          <a:blip r:embed="rId1"/>
          <a:stretch>
            <a:fillRect/>
          </a:stretch>
        </p:blipFill>
        <p:spPr>
          <a:xfrm>
            <a:off x="566928" y="1234440"/>
            <a:ext cx="457200" cy="457200"/>
          </a:xfrm>
          <a:prstGeom prst="rect">
            <a:avLst/>
          </a:prstGeom>
        </p:spPr>
      </p:pic>
      <p:sp>
        <p:nvSpPr>
          <p:cNvPr id="4" name="Text 1"/>
          <p:cNvSpPr/>
          <p:nvPr/>
        </p:nvSpPr>
        <p:spPr>
          <a:xfrm>
            <a:off x="566928" y="1874520"/>
            <a:ext cx="11057839" cy="457200"/>
          </a:xfrm>
          <a:prstGeom prst="rect">
            <a:avLst/>
          </a:prstGeom>
          <a:noFill/>
          <a:ln/>
        </p:spPr>
        <p:txBody>
          <a:bodyPr wrap="square" lIns="0" tIns="0" rIns="0" bIns="0" rtlCol="0" anchor="ctr"/>
          <a:lstStyle/>
          <a:p>
            <a:pPr indent="0" marL="0">
              <a:buNone/>
            </a:pPr>
            <a:r>
              <a:rPr lang="en-US" sz="1150" spc="180" kern="0" dirty="0">
                <a:solidFill>
                  <a:srgbClr val="F07F06"/>
                </a:solidFill>
                <a:latin typeface="Courier New" pitchFamily="34" charset="0"/>
                <a:ea typeface="Courier New" pitchFamily="34" charset="-122"/>
                <a:cs typeface="Courier New" pitchFamily="34" charset="-120"/>
              </a:rPr>
              <a:t>LO QUE SE LLEVAN DE HOY</a:t>
            </a:r>
            <a:endParaRPr lang="en-US" sz="1150" dirty="0"/>
          </a:p>
        </p:txBody>
      </p:sp>
      <p:sp>
        <p:nvSpPr>
          <p:cNvPr id="5" name="Text 2"/>
          <p:cNvSpPr/>
          <p:nvPr/>
        </p:nvSpPr>
        <p:spPr>
          <a:xfrm>
            <a:off x="566928" y="2377440"/>
            <a:ext cx="11057839" cy="1874520"/>
          </a:xfrm>
          <a:prstGeom prst="rect">
            <a:avLst/>
          </a:prstGeom>
          <a:noFill/>
          <a:ln/>
        </p:spPr>
        <p:txBody>
          <a:bodyPr wrap="square" lIns="0" tIns="0" rIns="0" bIns="0" rtlCol="0" anchor="t"/>
          <a:lstStyle/>
          <a:p>
            <a:pPr indent="0" marL="0">
              <a:lnSpc>
                <a:spcPct val="100000"/>
              </a:lnSpc>
              <a:buNone/>
            </a:pPr>
            <a:r>
              <a:rPr lang="en-US" sz="3600" dirty="0">
                <a:solidFill>
                  <a:srgbClr val="FFFFFF"/>
                </a:solidFill>
                <a:latin typeface="Arial Black" pitchFamily="34" charset="0"/>
                <a:ea typeface="Arial Black" pitchFamily="34" charset="-122"/>
                <a:cs typeface="Arial Black" pitchFamily="34" charset="-120"/>
              </a:rPr>
              <a:t>Un contrato no es inteligente: hace exactamente lo que está escrito, incluso cuando eso es un desastre.</a:t>
            </a:r>
            <a:endParaRPr lang="en-US" sz="3600" dirty="0"/>
          </a:p>
        </p:txBody>
      </p:sp>
      <p:sp>
        <p:nvSpPr>
          <p:cNvPr id="6" name="Text 3"/>
          <p:cNvSpPr/>
          <p:nvPr/>
        </p:nvSpPr>
        <p:spPr>
          <a:xfrm>
            <a:off x="566928" y="4343400"/>
            <a:ext cx="9960559" cy="822960"/>
          </a:xfrm>
          <a:prstGeom prst="rect">
            <a:avLst/>
          </a:prstGeom>
          <a:noFill/>
          <a:ln/>
        </p:spPr>
        <p:txBody>
          <a:bodyPr wrap="square" lIns="0" tIns="0" rIns="0" bIns="0" rtlCol="0" anchor="t"/>
          <a:lstStyle/>
          <a:p>
            <a:pPr indent="0" marL="0">
              <a:lnSpc>
                <a:spcPct val="125000"/>
              </a:lnSpc>
              <a:buNone/>
            </a:pPr>
            <a:r>
              <a:rPr lang="en-US" sz="1500" dirty="0">
                <a:solidFill>
                  <a:srgbClr val="B9B4C4"/>
                </a:solidFill>
                <a:latin typeface="Arial" pitchFamily="34" charset="0"/>
                <a:ea typeface="Arial" pitchFamily="34" charset="-122"/>
                <a:cs typeface="Arial" pitchFamily="34" charset="-120"/>
              </a:rPr>
              <a:t>Hoy escribimos seis versiones y rompimos cinco. Cada función que quedó existe porque algo falló sin ella.</a:t>
            </a:r>
            <a:endParaRPr lang="en-US" sz="1500" dirty="0"/>
          </a:p>
        </p:txBody>
      </p:sp>
      <p:sp>
        <p:nvSpPr>
          <p:cNvPr id="7" name="Shape 4"/>
          <p:cNvSpPr/>
          <p:nvPr/>
        </p:nvSpPr>
        <p:spPr>
          <a:xfrm>
            <a:off x="566928" y="5349240"/>
            <a:ext cx="11057839" cy="685800"/>
          </a:xfrm>
          <a:prstGeom prst="rect">
            <a:avLst/>
          </a:prstGeom>
          <a:solidFill>
            <a:srgbClr val="1C1B21"/>
          </a:solidFill>
          <a:ln w="12700">
            <a:solidFill>
              <a:srgbClr val="343240"/>
            </a:solidFill>
            <a:prstDash val="solid"/>
          </a:ln>
        </p:spPr>
      </p:sp>
      <p:sp>
        <p:nvSpPr>
          <p:cNvPr id="8" name="Text 5"/>
          <p:cNvSpPr/>
          <p:nvPr/>
        </p:nvSpPr>
        <p:spPr>
          <a:xfrm>
            <a:off x="841248" y="5349240"/>
            <a:ext cx="10509199" cy="685800"/>
          </a:xfrm>
          <a:prstGeom prst="rect">
            <a:avLst/>
          </a:prstGeom>
          <a:noFill/>
          <a:ln/>
        </p:spPr>
        <p:txBody>
          <a:bodyPr wrap="square" lIns="0" tIns="0" rIns="0" bIns="0" rtlCol="0" anchor="ctr"/>
          <a:lstStyle/>
          <a:p>
            <a:pPr indent="0" marL="0">
              <a:buNone/>
            </a:pPr>
            <a:r>
              <a:rPr lang="en-US" sz="1100" spc="120" kern="0" dirty="0">
                <a:solidFill>
                  <a:srgbClr val="F07F06"/>
                </a:solidFill>
                <a:latin typeface="Courier New" pitchFamily="34" charset="0"/>
                <a:ea typeface="Courier New" pitchFamily="34" charset="-122"/>
                <a:cs typeface="Courier New" pitchFamily="34" charset="-120"/>
              </a:rPr>
              <a:t>LA PRÓXIMA SESIÓN: LOS MISMOS PATRONES, PERO CON CÓDIGO YA AUDITADO POR MILES DE PERSONAS. Y LA PRIMERA VEZ QUE ESTO TOCA UNA RED DE VERDAD.</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 contrato, paso a paso</dc:title>
  <dc:subject>Un contrato, paso a paso</dc:subject>
  <dc:creator>Universidad de San Buenaventura Medellín</dc:creator>
  <cp:lastModifiedBy>Universidad de San Buenaventura Medellín</cp:lastModifiedBy>
  <cp:revision>1</cp:revision>
  <dcterms:created xsi:type="dcterms:W3CDTF">2026-10-01T19:41:36Z</dcterms:created>
  <dcterms:modified xsi:type="dcterms:W3CDTF">2026-10-01T19:41:36Z</dcterms:modified>
</cp:coreProperties>
</file>