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6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021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diciendo que hoy se trabaja al revés: del problema al código. Nada de lista de palabras del lenguaje; cada cosa aparece cuando hace falta. Remix ya abierto, compilador en 0.8.34, Value en 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Preguntarles si alguno ha perdido un equipo prestado o se ha quedado sin el depósito. Dos o tres respuestas bastan: el objetivo es que el problema sea de ellos, no un ejemplo de libro.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es el contrato de la clase: al final, todo esto tiene que funcionar en pantalla. Si al cierre algo de la tabla no corre, se dice por qué.</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esta tabla a la vista mientras se despliega el paso 1. Es el mapa de la clase y se retoma al cierre.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detiene un momento: es el concepto más valioso del paso 1. Si alguien pregunta por qué no se puede falsificar, remitir a la sesión 3 (firmas) sin entrar en detalle.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Silencio de tres segundos antes de recibir respuestas. Si nadie habla, reformular: «¿qué tendría que haber pasado cuando la cuenta 2 apretó el botón?». La palabra que se busca es: que se cayera.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dice «que lo valide la aplicación»: es la respuesta equivocada más útil del día. Guardarla y contestar que cualquiera puede llamar al contrato sin pasar por la aplicación, como estamos haciendo nosotros desde Remix.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Alguien va a decir que sí, porque es lo que el código sugiere. Dejar que lo digan y luego contar el costo: cuarenta despliegues, cuarenta direcciones, y una corrección de regla multiplicada por cuarenta.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explicar todavía para qué sirve el campo `existe`: eso es la pregunta de este paso. Aquí solo se siembra.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Casi todos contestan false. Es la respuesta cómoda y es la equivocada: sin el campo `existe`, el mapping devuelve ceros y prestadoA sería address(0), o sea «disponible». El contrato diría que sí, y estaría mintiendo sobre un equipo que no existe.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que discutan. Hay dos respuestas buenas y opuestas: «está mal porque es centralizado» y «está bien porque alguien tiene que administrar». Las dos sirven; lo que no sirve es no haberse dado cuenta.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Mencionar de pasada que en la sesión siguiente esto se reemplaza por Ownable de OpenZeppelin, que es este mismo código ya auditado y con transferencia de propiedad.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pregunta por qué no usar una fecha legible: porque un uint64 cuesta menos y la conversión a fecha es trabajo de la interfaz, no de la cadena.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Alguien dirá «mandar un correo» o «bloquearlo». El contrato no puede hacer ninguna de las dos por sí mismo: no sale de la cadena. Lo único que puede hacer es mover valor que ya tiene adentro.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pregunta más importante de la clase. Dejar que propongan; casi siempre alguien dice «para ahorrar gas», que no es la razón principal.</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Pedirles que reconstruyan la tabla de memoria antes de proyectarla, en parejas, dos minutos. Es la mejor señal de si la clase funcionó.</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suavizar el «no». La credibilidad del curso se construye en láminas como esta.</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 la dirección del contrato desplegado y una captura de la transacción que revierte. Insistir: la que revierte, no la que funciona.</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icPr>
            <a:picLocks noChangeAspect="1"/>
          </p:cNvPicPr>
          <p:nvPr/>
        </p:nvPicPr>
        <p:blipFill>
          <a:blip r:embed="rId3"/>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marL="0" indent="0" algn="ctr">
              <a:buNone/>
            </a:pPr>
            <a:r>
              <a:rPr lang="en-US" sz="2700" dirty="0">
                <a:solidFill>
                  <a:srgbClr val="0F0F11"/>
                </a:solidFill>
                <a:latin typeface="Arial Black" pitchFamily="34" charset="0"/>
                <a:ea typeface="Arial Black" pitchFamily="34" charset="-122"/>
                <a:cs typeface="Arial Black" pitchFamily="34" charset="-120"/>
              </a:rPr>
              <a:t>CONSTRUIR</a:t>
            </a:r>
            <a:endParaRPr lang="en-US" sz="2700" dirty="0"/>
          </a:p>
        </p:txBody>
      </p:sp>
      <p:pic>
        <p:nvPicPr>
          <p:cNvPr id="5" name="Image 1" descr="preencoded.png"/>
          <p:cNvPicPr>
            <a:picLocks noChangeAspect="1"/>
          </p:cNvPicPr>
          <p:nvPr/>
        </p:nvPicPr>
        <p:blipFill>
          <a:blip r:embed="rId4"/>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marL="0" indent="0">
              <a:buNone/>
            </a:pPr>
            <a:r>
              <a:rPr lang="en-US" sz="1050" kern="0" spc="150" dirty="0">
                <a:solidFill>
                  <a:srgbClr val="F07F06"/>
                </a:solidFill>
                <a:latin typeface="Courier New" pitchFamily="34" charset="0"/>
                <a:ea typeface="Courier New" pitchFamily="34" charset="-122"/>
                <a:cs typeface="Courier New" pitchFamily="34" charset="-120"/>
              </a:rPr>
              <a:t>SOLIDITY EN VIVO · SE ESCRIBE EN CLASE, NO SE LEE</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marL="0" indent="0">
              <a:lnSpc>
                <a:spcPct val="98000"/>
              </a:lnSpc>
              <a:buNone/>
            </a:pPr>
            <a:r>
              <a:rPr lang="en-US" sz="3800" dirty="0">
                <a:solidFill>
                  <a:srgbClr val="FFFFFF"/>
                </a:solidFill>
                <a:latin typeface="Arial Black" pitchFamily="34" charset="0"/>
                <a:ea typeface="Arial Black" pitchFamily="34" charset="-122"/>
                <a:cs typeface="Arial Black" pitchFamily="34" charset="-120"/>
              </a:rPr>
              <a:t>UN CONTRATO,</a:t>
            </a:r>
            <a:endParaRPr lang="en-US" sz="3800" dirty="0"/>
          </a:p>
          <a:p>
            <a:pPr marL="0" indent="0">
              <a:lnSpc>
                <a:spcPct val="98000"/>
              </a:lnSpc>
              <a:buNone/>
            </a:pPr>
            <a:r>
              <a:rPr lang="en-US" sz="3800" dirty="0">
                <a:solidFill>
                  <a:srgbClr val="FFFFFF"/>
                </a:solidFill>
                <a:latin typeface="Arial Black" pitchFamily="34" charset="0"/>
                <a:ea typeface="Arial Black" pitchFamily="34" charset="-122"/>
                <a:cs typeface="Arial Black" pitchFamily="34" charset="-120"/>
              </a:rPr>
              <a:t>PASO A PASO</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marL="0" indent="0">
              <a:lnSpc>
                <a:spcPct val="120000"/>
              </a:lnSpc>
              <a:buNone/>
            </a:pPr>
            <a:r>
              <a:rPr lang="en-US" sz="1500" dirty="0">
                <a:solidFill>
                  <a:srgbClr val="B9B4C4"/>
                </a:solidFill>
                <a:latin typeface="Arial" pitchFamily="34" charset="0"/>
                <a:ea typeface="Arial" pitchFamily="34" charset="-122"/>
                <a:cs typeface="Arial" pitchFamily="34" charset="-120"/>
              </a:rPr>
              <a:t>Seis versiones del mismo contrato. Cada una se rompe delante de ustedes, y la función siguiente existe para arreglar eso.</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marL="0" indent="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marL="0" indent="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EL ENCARGO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100" dirty="0">
                <a:solidFill>
                  <a:srgbClr val="0F0F11"/>
                </a:solidFill>
                <a:latin typeface="Arial Black" pitchFamily="34" charset="0"/>
                <a:ea typeface="Arial Black" pitchFamily="34" charset="-122"/>
                <a:cs typeface="Arial Black" pitchFamily="34" charset="-120"/>
              </a:rPr>
              <a:t>EL LABORATORIO PRESTA EQUIPOS</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658368"/>
          </a:xfrm>
          <a:prstGeom prst="rect">
            <a:avLst/>
          </a:prstGeom>
          <a:noFill/>
          <a:ln/>
        </p:spPr>
        <p:txBody>
          <a:bodyPr wrap="square" lIns="0" tIns="0" rIns="0" bIns="0" rtlCol="0" anchor="t"/>
          <a:lstStyle/>
          <a:p>
            <a:pPr marL="0" indent="0">
              <a:lnSpc>
                <a:spcPct val="124000"/>
              </a:lnSpc>
              <a:buNone/>
            </a:pPr>
            <a:r>
              <a:rPr lang="en-US" sz="1500" dirty="0">
                <a:solidFill>
                  <a:srgbClr val="3A3844"/>
                </a:solidFill>
                <a:latin typeface="Arial" pitchFamily="34" charset="0"/>
                <a:ea typeface="Arial" pitchFamily="34" charset="-122"/>
                <a:cs typeface="Arial" pitchFamily="34" charset="-120"/>
              </a:rPr>
              <a:t>Proyectores, kits de Arduino, cámaras. El registro vive en una hoja de papel pegada a la puerta, y esa hoja no sabe responder:</a:t>
            </a:r>
            <a:endParaRPr lang="en-US" sz="1500" dirty="0"/>
          </a:p>
        </p:txBody>
      </p:sp>
      <p:sp>
        <p:nvSpPr>
          <p:cNvPr id="9" name="Shape 6"/>
          <p:cNvSpPr/>
          <p:nvPr/>
        </p:nvSpPr>
        <p:spPr>
          <a:xfrm>
            <a:off x="566928" y="2514600"/>
            <a:ext cx="11057839" cy="731520"/>
          </a:xfrm>
          <a:prstGeom prst="rect">
            <a:avLst/>
          </a:prstGeom>
          <a:solidFill>
            <a:srgbClr val="FFFFFF"/>
          </a:solidFill>
          <a:ln w="15875">
            <a:solidFill>
              <a:srgbClr val="D9D6E0"/>
            </a:solidFill>
            <a:prstDash val="solid"/>
          </a:ln>
        </p:spPr>
      </p:sp>
      <p:sp>
        <p:nvSpPr>
          <p:cNvPr id="10" name="Text 7"/>
          <p:cNvSpPr/>
          <p:nvPr/>
        </p:nvSpPr>
        <p:spPr>
          <a:xfrm>
            <a:off x="694944" y="2514600"/>
            <a:ext cx="548640" cy="73152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734056"/>
            <a:ext cx="237744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¿ESTÁ LIBRE?</a:t>
            </a:r>
            <a:endParaRPr lang="en-US" sz="1000" dirty="0"/>
          </a:p>
        </p:txBody>
      </p:sp>
      <p:sp>
        <p:nvSpPr>
          <p:cNvPr id="12" name="Text 9"/>
          <p:cNvSpPr/>
          <p:nvPr/>
        </p:nvSpPr>
        <p:spPr>
          <a:xfrm>
            <a:off x="3931920" y="2606040"/>
            <a:ext cx="7583119" cy="585216"/>
          </a:xfrm>
          <a:prstGeom prst="rect">
            <a:avLst/>
          </a:prstGeom>
          <a:noFill/>
          <a:ln/>
        </p:spPr>
        <p:txBody>
          <a:bodyPr wrap="square" lIns="0" tIns="0" rIns="0" bIns="0" rtlCol="0" anchor="ctr"/>
          <a:lstStyle/>
          <a:p>
            <a:pPr marL="0" indent="0">
              <a:lnSpc>
                <a:spcPct val="115000"/>
              </a:lnSpc>
              <a:buNone/>
            </a:pPr>
            <a:r>
              <a:rPr lang="en-US" sz="1300" dirty="0">
                <a:solidFill>
                  <a:srgbClr val="3A3844"/>
                </a:solidFill>
                <a:latin typeface="Arial" pitchFamily="34" charset="0"/>
                <a:ea typeface="Arial" pitchFamily="34" charset="-122"/>
                <a:cs typeface="Arial" pitchFamily="34" charset="-120"/>
              </a:rPr>
              <a:t>Alguien necesita el proyector ahora. ¿Lo tiene alguien, o está en el estante?</a:t>
            </a:r>
            <a:endParaRPr lang="en-US" sz="1300" dirty="0"/>
          </a:p>
        </p:txBody>
      </p:sp>
      <p:sp>
        <p:nvSpPr>
          <p:cNvPr id="13" name="Shape 10"/>
          <p:cNvSpPr/>
          <p:nvPr/>
        </p:nvSpPr>
        <p:spPr>
          <a:xfrm>
            <a:off x="566928" y="3355848"/>
            <a:ext cx="11057839" cy="731520"/>
          </a:xfrm>
          <a:prstGeom prst="rect">
            <a:avLst/>
          </a:prstGeom>
          <a:solidFill>
            <a:srgbClr val="FAF9FB"/>
          </a:solidFill>
          <a:ln w="15875">
            <a:solidFill>
              <a:srgbClr val="D9D6E0"/>
            </a:solidFill>
            <a:prstDash val="solid"/>
          </a:ln>
        </p:spPr>
      </p:sp>
      <p:sp>
        <p:nvSpPr>
          <p:cNvPr id="14" name="Text 11"/>
          <p:cNvSpPr/>
          <p:nvPr/>
        </p:nvSpPr>
        <p:spPr>
          <a:xfrm>
            <a:off x="694944" y="3355848"/>
            <a:ext cx="548640" cy="73152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575304"/>
            <a:ext cx="237744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¿QUIÉN LO TIENE?</a:t>
            </a:r>
            <a:endParaRPr lang="en-US" sz="1000" dirty="0"/>
          </a:p>
        </p:txBody>
      </p:sp>
      <p:sp>
        <p:nvSpPr>
          <p:cNvPr id="16" name="Text 13"/>
          <p:cNvSpPr/>
          <p:nvPr/>
        </p:nvSpPr>
        <p:spPr>
          <a:xfrm>
            <a:off x="3931920" y="3447288"/>
            <a:ext cx="7583119" cy="585216"/>
          </a:xfrm>
          <a:prstGeom prst="rect">
            <a:avLst/>
          </a:prstGeom>
          <a:noFill/>
          <a:ln/>
        </p:spPr>
        <p:txBody>
          <a:bodyPr wrap="square" lIns="0" tIns="0" rIns="0" bIns="0" rtlCol="0" anchor="ctr"/>
          <a:lstStyle/>
          <a:p>
            <a:pPr marL="0" indent="0">
              <a:lnSpc>
                <a:spcPct val="115000"/>
              </a:lnSpc>
              <a:buNone/>
            </a:pPr>
            <a:r>
              <a:rPr lang="en-US" sz="1300" dirty="0">
                <a:solidFill>
                  <a:srgbClr val="3A3844"/>
                </a:solidFill>
                <a:latin typeface="Arial" pitchFamily="34" charset="0"/>
                <a:ea typeface="Arial" pitchFamily="34" charset="-122"/>
                <a:cs typeface="Arial" pitchFamily="34" charset="-120"/>
              </a:rPr>
              <a:t>Aparece en la hoja un nombre escrito a mano, de hace tres semanas, sin apellido.</a:t>
            </a:r>
            <a:endParaRPr lang="en-US" sz="1300" dirty="0"/>
          </a:p>
        </p:txBody>
      </p:sp>
      <p:sp>
        <p:nvSpPr>
          <p:cNvPr id="17" name="Shape 14"/>
          <p:cNvSpPr/>
          <p:nvPr/>
        </p:nvSpPr>
        <p:spPr>
          <a:xfrm>
            <a:off x="566928" y="4197096"/>
            <a:ext cx="11057839" cy="731520"/>
          </a:xfrm>
          <a:prstGeom prst="rect">
            <a:avLst/>
          </a:prstGeom>
          <a:solidFill>
            <a:srgbClr val="FFFFFF"/>
          </a:solidFill>
          <a:ln w="15875">
            <a:solidFill>
              <a:srgbClr val="D9D6E0"/>
            </a:solidFill>
            <a:prstDash val="solid"/>
          </a:ln>
        </p:spPr>
      </p:sp>
      <p:sp>
        <p:nvSpPr>
          <p:cNvPr id="18" name="Text 15"/>
          <p:cNvSpPr/>
          <p:nvPr/>
        </p:nvSpPr>
        <p:spPr>
          <a:xfrm>
            <a:off x="694944" y="4197096"/>
            <a:ext cx="548640" cy="73152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416552"/>
            <a:ext cx="237744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¿DESDE CUÁNDO?</a:t>
            </a:r>
            <a:endParaRPr lang="en-US" sz="1000" dirty="0"/>
          </a:p>
        </p:txBody>
      </p:sp>
      <p:sp>
        <p:nvSpPr>
          <p:cNvPr id="20" name="Text 17"/>
          <p:cNvSpPr/>
          <p:nvPr/>
        </p:nvSpPr>
        <p:spPr>
          <a:xfrm>
            <a:off x="3931920" y="4288536"/>
            <a:ext cx="7583119" cy="585216"/>
          </a:xfrm>
          <a:prstGeom prst="rect">
            <a:avLst/>
          </a:prstGeom>
          <a:noFill/>
          <a:ln/>
        </p:spPr>
        <p:txBody>
          <a:bodyPr wrap="square" lIns="0" tIns="0" rIns="0" bIns="0" rtlCol="0" anchor="ctr"/>
          <a:lstStyle/>
          <a:p>
            <a:pPr marL="0" indent="0">
              <a:lnSpc>
                <a:spcPct val="115000"/>
              </a:lnSpc>
              <a:buNone/>
            </a:pPr>
            <a:r>
              <a:rPr lang="en-US" sz="1300" dirty="0">
                <a:solidFill>
                  <a:srgbClr val="3A3844"/>
                </a:solidFill>
                <a:latin typeface="Arial" pitchFamily="34" charset="0"/>
                <a:ea typeface="Arial" pitchFamily="34" charset="-122"/>
                <a:cs typeface="Arial" pitchFamily="34" charset="-120"/>
              </a:rPr>
              <a:t>Nadie anotó la fecha de entrega, así que nadie está formalmente en mora.</a:t>
            </a:r>
            <a:endParaRPr lang="en-US" sz="1300" dirty="0"/>
          </a:p>
        </p:txBody>
      </p:sp>
      <p:sp>
        <p:nvSpPr>
          <p:cNvPr id="21" name="Shape 18"/>
          <p:cNvSpPr/>
          <p:nvPr/>
        </p:nvSpPr>
        <p:spPr>
          <a:xfrm>
            <a:off x="566928" y="5038344"/>
            <a:ext cx="11057839" cy="731520"/>
          </a:xfrm>
          <a:prstGeom prst="rect">
            <a:avLst/>
          </a:prstGeom>
          <a:solidFill>
            <a:srgbClr val="FAF9FB"/>
          </a:solidFill>
          <a:ln w="15875">
            <a:solidFill>
              <a:srgbClr val="D9D6E0"/>
            </a:solidFill>
            <a:prstDash val="solid"/>
          </a:ln>
        </p:spPr>
      </p:sp>
      <p:sp>
        <p:nvSpPr>
          <p:cNvPr id="22" name="Text 19"/>
          <p:cNvSpPr/>
          <p:nvPr/>
        </p:nvSpPr>
        <p:spPr>
          <a:xfrm>
            <a:off x="694944" y="5038344"/>
            <a:ext cx="548640" cy="73152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5257800"/>
            <a:ext cx="237744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¿Y EL DEPÓSITO?</a:t>
            </a:r>
            <a:endParaRPr lang="en-US" sz="1000" dirty="0"/>
          </a:p>
        </p:txBody>
      </p:sp>
      <p:sp>
        <p:nvSpPr>
          <p:cNvPr id="24" name="Text 21"/>
          <p:cNvSpPr/>
          <p:nvPr/>
        </p:nvSpPr>
        <p:spPr>
          <a:xfrm>
            <a:off x="3931920" y="5129784"/>
            <a:ext cx="7583119" cy="585216"/>
          </a:xfrm>
          <a:prstGeom prst="rect">
            <a:avLst/>
          </a:prstGeom>
          <a:noFill/>
          <a:ln/>
        </p:spPr>
        <p:txBody>
          <a:bodyPr wrap="square" lIns="0" tIns="0" rIns="0" bIns="0" rtlCol="0" anchor="ctr"/>
          <a:lstStyle/>
          <a:p>
            <a:pPr marL="0" indent="0">
              <a:lnSpc>
                <a:spcPct val="115000"/>
              </a:lnSpc>
              <a:buNone/>
            </a:pPr>
            <a:r>
              <a:rPr lang="en-US" sz="1300" dirty="0">
                <a:solidFill>
                  <a:srgbClr val="3A3844"/>
                </a:solidFill>
                <a:latin typeface="Arial" pitchFamily="34" charset="0"/>
                <a:ea typeface="Arial" pitchFamily="34" charset="-122"/>
                <a:cs typeface="Arial" pitchFamily="34" charset="-120"/>
              </a:rPr>
              <a:t>Lo guarda quien esté en el mostrador ese día. Devolverlo depende de que esa persona se acuerde.</a:t>
            </a:r>
            <a:endParaRPr lang="en-US" sz="1300" dirty="0"/>
          </a:p>
        </p:txBody>
      </p:sp>
      <p:sp>
        <p:nvSpPr>
          <p:cNvPr id="25" name="Text 22"/>
          <p:cNvSpPr/>
          <p:nvPr/>
        </p:nvSpPr>
        <p:spPr>
          <a:xfrm>
            <a:off x="566928" y="5669280"/>
            <a:ext cx="11057839" cy="548640"/>
          </a:xfrm>
          <a:prstGeom prst="rect">
            <a:avLst/>
          </a:prstGeom>
          <a:noFill/>
          <a:ln/>
        </p:spPr>
        <p:txBody>
          <a:bodyPr wrap="square" lIns="0" tIns="0" rIns="0" bIns="0" rtlCol="0" anchor="t"/>
          <a:lstStyle/>
          <a:p>
            <a:pPr marL="0" indent="0">
              <a:lnSpc>
                <a:spcPct val="124000"/>
              </a:lnSpc>
              <a:buNone/>
            </a:pPr>
            <a:endParaRPr lang="en-US" sz="1450" dirty="0">
              <a:solidFill>
                <a:srgbClr val="A35604"/>
              </a:solidFill>
              <a:latin typeface="Arial" pitchFamily="34" charset="0"/>
              <a:ea typeface="Arial" pitchFamily="34" charset="-122"/>
              <a:cs typeface="Arial" pitchFamily="34" charset="-120"/>
            </a:endParaRPr>
          </a:p>
          <a:p>
            <a:pPr marL="0" indent="0">
              <a:lnSpc>
                <a:spcPct val="124000"/>
              </a:lnSpc>
              <a:buNone/>
            </a:pPr>
            <a:r>
              <a:rPr lang="en-US" sz="1450" dirty="0">
                <a:solidFill>
                  <a:srgbClr val="A35604"/>
                </a:solidFill>
                <a:latin typeface="Arial" pitchFamily="34" charset="0"/>
                <a:ea typeface="Arial" pitchFamily="34" charset="-122"/>
                <a:cs typeface="Arial" pitchFamily="34" charset="-120"/>
              </a:rPr>
              <a:t>Hoy escribimos, entre todos, un programa que responda esas cuatro preguntas y que haga cumplir sus propias reglas.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A DÓNDE VAMOS A LLEGAR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800" dirty="0">
                <a:solidFill>
                  <a:srgbClr val="0F0F11"/>
                </a:solidFill>
                <a:latin typeface="Arial Black" pitchFamily="34" charset="0"/>
                <a:ea typeface="Arial Black" pitchFamily="34" charset="-122"/>
                <a:cs typeface="Arial Black" pitchFamily="34" charset="-120"/>
              </a:rPr>
              <a:t>ESTO CORRE AL FINAL DE LA CLASE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3108960"/>
        </p:xfrm>
        <a:graphic>
          <a:graphicData uri="http://schemas.openxmlformats.org/drawingml/2006/table">
            <a:tbl>
              <a:tblPr/>
              <a:tblGrid>
                <a:gridCol w="4846320">
                  <a:extLst>
                    <a:ext uri="{9D8B030D-6E8A-4147-A177-3AD203B41FA5}">
                      <a16:colId xmlns:a16="http://schemas.microsoft.com/office/drawing/2014/main" val="20000"/>
                    </a:ext>
                  </a:extLst>
                </a:gridCol>
                <a:gridCol w="6211519">
                  <a:extLst>
                    <a:ext uri="{9D8B030D-6E8A-4147-A177-3AD203B41FA5}">
                      <a16:colId xmlns:a16="http://schemas.microsoft.com/office/drawing/2014/main" val="20001"/>
                    </a:ext>
                  </a:extLst>
                </a:gridCol>
              </a:tblGrid>
              <a:tr h="310896">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LO QUE ALGUIEN PREGUNTA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LA FUNCIÓN QUE LO RESPONDE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extLst>
                  <a:ext uri="{0D108BD9-81ED-4DB2-BD59-A6C34878D82A}">
                    <a16:rowId xmlns:a16="http://schemas.microsoft.com/office/drawing/2014/main" val="10000"/>
                  </a:ext>
                </a:extLst>
              </a:tr>
              <a:tr h="466344">
                <a:tc>
                  <a:txBody>
                    <a:bodyPr/>
                    <a:lstStyle/>
                    <a:p>
                      <a:pPr marL="0" indent="0">
                        <a:buNone/>
                      </a:pPr>
                      <a:r>
                        <a:rPr lang="en-US" sz="1300" b="1" dirty="0">
                          <a:solidFill>
                            <a:srgbClr val="0F0F11"/>
                          </a:solidFill>
                          <a:latin typeface="Courier New" pitchFamily="34" charset="0"/>
                          <a:ea typeface="Courier New" pitchFamily="34" charset="-122"/>
                          <a:cs typeface="Courier New" pitchFamily="34" charset="-120"/>
                        </a:rPr>
                        <a:t>¿Está libre el equipo 3?</a:t>
                      </a:r>
                      <a:endParaRPr lang="en-US" sz="130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300" dirty="0">
                          <a:solidFill>
                            <a:srgbClr val="3A3844"/>
                          </a:solidFill>
                          <a:latin typeface="Arial" pitchFamily="34" charset="0"/>
                          <a:ea typeface="Arial" pitchFamily="34" charset="-122"/>
                          <a:cs typeface="Arial" pitchFamily="34" charset="-120"/>
                        </a:rPr>
                        <a:t>estaDisponible(3) · consulta, no cuesta nada</a:t>
                      </a:r>
                      <a:endParaRPr lang="en-US" sz="130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6344">
                <a:tc>
                  <a:txBody>
                    <a:bodyPr/>
                    <a:lstStyle/>
                    <a:p>
                      <a:pPr marL="0" indent="0">
                        <a:buNone/>
                      </a:pPr>
                      <a:r>
                        <a:rPr lang="en-US" sz="1300" b="1" dirty="0">
                          <a:solidFill>
                            <a:srgbClr val="0F0F11"/>
                          </a:solidFill>
                          <a:latin typeface="Courier New" pitchFamily="34" charset="0"/>
                          <a:ea typeface="Courier New" pitchFamily="34" charset="-122"/>
                          <a:cs typeface="Courier New" pitchFamily="34" charset="-120"/>
                        </a:rPr>
                        <a:t>¿Quién lo tiene?</a:t>
                      </a:r>
                      <a:endParaRPr lang="en-US" sz="130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300" dirty="0">
                          <a:solidFill>
                            <a:srgbClr val="3A3844"/>
                          </a:solidFill>
                          <a:latin typeface="Arial" pitchFamily="34" charset="0"/>
                          <a:ea typeface="Arial" pitchFamily="34" charset="-122"/>
                          <a:cs typeface="Arial" pitchFamily="34" charset="-120"/>
                        </a:rPr>
                        <a:t>quienLoTiene(3) · devuelve la dirección de quien firmó</a:t>
                      </a:r>
                      <a:endParaRPr lang="en-US" sz="130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2"/>
                  </a:ext>
                </a:extLst>
              </a:tr>
              <a:tr h="466344">
                <a:tc>
                  <a:txBody>
                    <a:bodyPr/>
                    <a:lstStyle/>
                    <a:p>
                      <a:pPr marL="0" indent="0">
                        <a:buNone/>
                      </a:pPr>
                      <a:r>
                        <a:rPr lang="en-US" sz="1300" b="1" dirty="0">
                          <a:solidFill>
                            <a:srgbClr val="0F0F11"/>
                          </a:solidFill>
                          <a:latin typeface="Courier New" pitchFamily="34" charset="0"/>
                          <a:ea typeface="Courier New" pitchFamily="34" charset="-122"/>
                          <a:cs typeface="Courier New" pitchFamily="34" charset="-120"/>
                        </a:rPr>
                        <a:t>¿Está en mora, y de cuánto?</a:t>
                      </a:r>
                      <a:endParaRPr lang="en-US" sz="130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300" dirty="0">
                          <a:solidFill>
                            <a:srgbClr val="3A3844"/>
                          </a:solidFill>
                          <a:latin typeface="Arial" pitchFamily="34" charset="0"/>
                          <a:ea typeface="Arial" pitchFamily="34" charset="-122"/>
                          <a:cs typeface="Arial" pitchFamily="34" charset="-120"/>
                        </a:rPr>
                        <a:t>estaVencido(3) y diasDeMora(3)</a:t>
                      </a:r>
                      <a:endParaRPr lang="en-US" sz="130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6344">
                <a:tc>
                  <a:txBody>
                    <a:bodyPr/>
                    <a:lstStyle/>
                    <a:p>
                      <a:pPr marL="0" indent="0">
                        <a:buNone/>
                      </a:pPr>
                      <a:r>
                        <a:rPr lang="en-US" sz="1300" b="1" dirty="0">
                          <a:solidFill>
                            <a:srgbClr val="0F0F11"/>
                          </a:solidFill>
                          <a:latin typeface="Courier New" pitchFamily="34" charset="0"/>
                          <a:ea typeface="Courier New" pitchFamily="34" charset="-122"/>
                          <a:cs typeface="Courier New" pitchFamily="34" charset="-120"/>
                        </a:rPr>
                        <a:t>Quiero llevármelo cinco días</a:t>
                      </a:r>
                      <a:endParaRPr lang="en-US" sz="130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300" dirty="0">
                          <a:solidFill>
                            <a:srgbClr val="3A3844"/>
                          </a:solidFill>
                          <a:latin typeface="Arial" pitchFamily="34" charset="0"/>
                          <a:ea typeface="Arial" pitchFamily="34" charset="-122"/>
                          <a:cs typeface="Arial" pitchFamily="34" charset="-120"/>
                        </a:rPr>
                        <a:t>prestar(3, 5) · dejando el depósito exacto</a:t>
                      </a:r>
                      <a:endParaRPr lang="en-US" sz="130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4"/>
                  </a:ext>
                </a:extLst>
              </a:tr>
              <a:tr h="466344">
                <a:tc>
                  <a:txBody>
                    <a:bodyPr/>
                    <a:lstStyle/>
                    <a:p>
                      <a:pPr marL="0" indent="0">
                        <a:buNone/>
                      </a:pPr>
                      <a:r>
                        <a:rPr lang="en-US" sz="1300" b="1" dirty="0">
                          <a:solidFill>
                            <a:srgbClr val="0F0F11"/>
                          </a:solidFill>
                          <a:latin typeface="Courier New" pitchFamily="34" charset="0"/>
                          <a:ea typeface="Courier New" pitchFamily="34" charset="-122"/>
                          <a:cs typeface="Courier New" pitchFamily="34" charset="-120"/>
                        </a:rPr>
                        <a:t>Lo traigo de vuelta</a:t>
                      </a:r>
                      <a:endParaRPr lang="en-US" sz="130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300" dirty="0">
                          <a:solidFill>
                            <a:srgbClr val="3A3844"/>
                          </a:solidFill>
                          <a:latin typeface="Arial" pitchFamily="34" charset="0"/>
                          <a:ea typeface="Arial" pitchFamily="34" charset="-122"/>
                          <a:cs typeface="Arial" pitchFamily="34" charset="-120"/>
                        </a:rPr>
                        <a:t>devolver(3) · a tiempo recupera el depósito; tarde, no</a:t>
                      </a:r>
                      <a:endParaRPr lang="en-US" sz="130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6344">
                <a:tc>
                  <a:txBody>
                    <a:bodyPr/>
                    <a:lstStyle/>
                    <a:p>
                      <a:pPr marL="0" indent="0">
                        <a:buNone/>
                      </a:pPr>
                      <a:r>
                        <a:rPr lang="en-US" sz="1300" b="1" dirty="0">
                          <a:solidFill>
                            <a:srgbClr val="0F0F11"/>
                          </a:solidFill>
                          <a:latin typeface="Courier New" pitchFamily="34" charset="0"/>
                          <a:ea typeface="Courier New" pitchFamily="34" charset="-122"/>
                          <a:cs typeface="Courier New" pitchFamily="34" charset="-120"/>
                        </a:rPr>
                        <a:t>Quiero mi plata</a:t>
                      </a:r>
                      <a:endParaRPr lang="en-US" sz="130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300" dirty="0">
                          <a:solidFill>
                            <a:srgbClr val="3A3844"/>
                          </a:solidFill>
                          <a:latin typeface="Arial" pitchFamily="34" charset="0"/>
                          <a:ea typeface="Arial" pitchFamily="34" charset="-122"/>
                          <a:cs typeface="Arial" pitchFamily="34" charset="-120"/>
                        </a:rPr>
                        <a:t>retirar() · cada quien reclama lo suyo</a:t>
                      </a:r>
                      <a:endParaRPr lang="en-US" sz="130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6"/>
                  </a:ext>
                </a:extLst>
              </a:tr>
            </a:tbl>
          </a:graphicData>
        </a:graphic>
      </p:graphicFrame>
      <p:sp>
        <p:nvSpPr>
          <p:cNvPr id="9" name="Shape 5"/>
          <p:cNvSpPr/>
          <p:nvPr/>
        </p:nvSpPr>
        <p:spPr>
          <a:xfrm>
            <a:off x="548640" y="1764792"/>
            <a:ext cx="11094415" cy="3145536"/>
          </a:xfrm>
          <a:prstGeom prst="rect">
            <a:avLst/>
          </a:prstGeom>
          <a:ln w="22225">
            <a:solidFill>
              <a:srgbClr val="0F0F11"/>
            </a:solidFill>
            <a:prstDash val="solid"/>
          </a:ln>
        </p:spPr>
      </p:sp>
      <p:sp>
        <p:nvSpPr>
          <p:cNvPr id="10" name="Shape 6"/>
          <p:cNvSpPr/>
          <p:nvPr/>
        </p:nvSpPr>
        <p:spPr>
          <a:xfrm>
            <a:off x="566928" y="5074920"/>
            <a:ext cx="11057839" cy="109728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pic>
        <p:nvPicPr>
          <p:cNvPr id="11" name="Image 1" descr="preencoded.png"/>
          <p:cNvPicPr>
            <a:picLocks noChangeAspect="1"/>
          </p:cNvPicPr>
          <p:nvPr/>
        </p:nvPicPr>
        <p:blipFill>
          <a:blip r:embed="rId4"/>
          <a:stretch>
            <a:fillRect/>
          </a:stretch>
        </p:blipFill>
        <p:spPr>
          <a:xfrm>
            <a:off x="804672" y="5294376"/>
            <a:ext cx="237744" cy="237744"/>
          </a:xfrm>
          <a:prstGeom prst="rect">
            <a:avLst/>
          </a:prstGeom>
        </p:spPr>
      </p:pic>
      <p:sp>
        <p:nvSpPr>
          <p:cNvPr id="12" name="Text 7"/>
          <p:cNvSpPr/>
          <p:nvPr/>
        </p:nvSpPr>
        <p:spPr>
          <a:xfrm>
            <a:off x="1133856" y="5266944"/>
            <a:ext cx="10234879" cy="292608"/>
          </a:xfrm>
          <a:prstGeom prst="rect">
            <a:avLst/>
          </a:prstGeom>
          <a:noFill/>
          <a:ln/>
        </p:spPr>
        <p:txBody>
          <a:bodyPr wrap="square" lIns="0" tIns="0" rIns="0" bIns="0" rtlCol="0" anchor="ctr"/>
          <a:lstStyle/>
          <a:p>
            <a:pPr marL="0" indent="0">
              <a:buNone/>
            </a:pPr>
            <a:r>
              <a:rPr lang="en-US" sz="950" b="1" kern="0" spc="150" dirty="0">
                <a:solidFill>
                  <a:srgbClr val="A35604"/>
                </a:solidFill>
                <a:latin typeface="Courier New" pitchFamily="34" charset="0"/>
                <a:ea typeface="Courier New" pitchFamily="34" charset="-122"/>
                <a:cs typeface="Courier New" pitchFamily="34" charset="-120"/>
              </a:rPr>
              <a:t>Y ALGO IGUAL DE IMPORTANTE: LO QUE NO VA A HACER</a:t>
            </a:r>
            <a:endParaRPr lang="en-US" sz="950" dirty="0"/>
          </a:p>
        </p:txBody>
      </p:sp>
      <p:sp>
        <p:nvSpPr>
          <p:cNvPr id="13" name="Text 8"/>
          <p:cNvSpPr/>
          <p:nvPr/>
        </p:nvSpPr>
        <p:spPr>
          <a:xfrm>
            <a:off x="804672" y="5586984"/>
            <a:ext cx="10582351" cy="493776"/>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No va a saber si el equipo volvió roto, ni si volvió completo, ni si quien lo devolvió es la misma persona que se lo llevó. Un contrato solo sabe lo que alguien le escribe. Eso lo vamos a decir en voz alta varias veces hoy.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CÓMO VAMOS A TRABAJAR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SEIS VERSIONES, SEIS ROTURAS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Text 5"/>
          <p:cNvSpPr/>
          <p:nvPr/>
        </p:nvSpPr>
        <p:spPr>
          <a:xfrm>
            <a:off x="566928" y="1719072"/>
            <a:ext cx="11057839" cy="658368"/>
          </a:xfrm>
          <a:prstGeom prst="rect">
            <a:avLst/>
          </a:prstGeom>
          <a:noFill/>
          <a:ln/>
        </p:spPr>
        <p:txBody>
          <a:bodyPr wrap="square" lIns="0" tIns="0" rIns="0" bIns="0" rtlCol="0" anchor="t"/>
          <a:lstStyle/>
          <a:p>
            <a:pPr marL="0" indent="0">
              <a:lnSpc>
                <a:spcPct val="124000"/>
              </a:lnSpc>
              <a:buNone/>
            </a:pPr>
            <a:r>
              <a:rPr lang="en-US" sz="1500" dirty="0">
                <a:solidFill>
                  <a:srgbClr val="3A3844"/>
                </a:solidFill>
                <a:latin typeface="Arial" pitchFamily="34" charset="0"/>
                <a:ea typeface="Arial" pitchFamily="34" charset="-122"/>
                <a:cs typeface="Arial" pitchFamily="34" charset="-120"/>
              </a:rPr>
              <a:t>No vamos a escribir el contrato terminado. Vamos a escribir una versión simple, romperla en pantalla, y dejar que el problema pida la función siguiente.</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11057839" cy="3017520"/>
        </p:xfrm>
        <a:graphic>
          <a:graphicData uri="http://schemas.openxmlformats.org/drawingml/2006/table">
            <a:tbl>
              <a:tblPr/>
              <a:tblGrid>
                <a:gridCol w="8229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6943039">
                  <a:extLst>
                    <a:ext uri="{9D8B030D-6E8A-4147-A177-3AD203B41FA5}">
                      <a16:colId xmlns:a16="http://schemas.microsoft.com/office/drawing/2014/main" val="20002"/>
                    </a:ext>
                  </a:extLst>
                </a:gridCol>
              </a:tblGrid>
              <a:tr h="310896">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PASO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QUÉ LE AGREGAMOS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QUÉ PROBLEMA ARREGLA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extLst>
                  <a:ext uri="{0D108BD9-81ED-4DB2-BD59-A6C34878D82A}">
                    <a16:rowId xmlns:a16="http://schemas.microsoft.com/office/drawing/2014/main" val="10000"/>
                  </a:ext>
                </a:extLst>
              </a:tr>
              <a:tr h="45110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Estado y msg.sender</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Línea base: el contrato recuerda quién tiene el equipo.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110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Errores y una guardia</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Cualquiera se llevaba un equipo que ya estaba prestado.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2"/>
                  </a:ext>
                </a:extLst>
              </a:tr>
              <a:tr h="45110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struct y mapping</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Solo existía UN equipo, y el laboratorio tiene cuarenta.</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110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4</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Constructor y modificador</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Cualquiera podía registrar inventario inventado.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4"/>
                  </a:ext>
                </a:extLst>
              </a:tr>
              <a:tr h="45110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5</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Tiempo y plazo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Nadie devolvía nunca y no había forma de saber quién estaba en mora.</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110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6</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Depósito y retiro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Estar en mora no costaba nada.</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6"/>
                  </a:ext>
                </a:extLst>
              </a:tr>
            </a:tbl>
          </a:graphicData>
        </a:graphic>
      </p:graphicFrame>
      <p:sp>
        <p:nvSpPr>
          <p:cNvPr id="10" name="Shape 6"/>
          <p:cNvSpPr/>
          <p:nvPr/>
        </p:nvSpPr>
        <p:spPr>
          <a:xfrm>
            <a:off x="548640" y="2496312"/>
            <a:ext cx="11094415" cy="3054096"/>
          </a:xfrm>
          <a:prstGeom prst="rect">
            <a:avLst/>
          </a:prstGeom>
          <a:ln w="22225">
            <a:solidFill>
              <a:srgbClr val="0F0F11"/>
            </a:solidFill>
            <a:prstDash val="solid"/>
          </a:ln>
        </p:spPr>
      </p:sp>
      <p:sp>
        <p:nvSpPr>
          <p:cNvPr id="11" name="Text 7"/>
          <p:cNvSpPr/>
          <p:nvPr/>
        </p:nvSpPr>
        <p:spPr>
          <a:xfrm>
            <a:off x="566928" y="5715000"/>
            <a:ext cx="11057839" cy="50292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Cuando algo no cuadre, interrumpan. Una pregunta a tiempo vale más que la lámina siguiente.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marL="0" indent="0" algn="ctr">
              <a:buNone/>
            </a:pPr>
            <a:r>
              <a:rPr lang="en-US" sz="11800" dirty="0">
                <a:solidFill>
                  <a:srgbClr val="0F0F11"/>
                </a:solidFill>
                <a:latin typeface="Arial Black" pitchFamily="34" charset="0"/>
                <a:ea typeface="Arial Black" pitchFamily="34" charset="-122"/>
                <a:cs typeface="Arial Black" pitchFamily="34" charset="-120"/>
              </a:rPr>
              <a:t>1</a:t>
            </a:r>
            <a:endParaRPr lang="en-US" sz="11800" dirty="0"/>
          </a:p>
        </p:txBody>
      </p:sp>
      <p:pic>
        <p:nvPicPr>
          <p:cNvPr id="4" name="Image 0" descr="preencoded.png"/>
          <p:cNvPicPr>
            <a:picLocks noChangeAspect="1"/>
          </p:cNvPicPr>
          <p:nvPr/>
        </p:nvPicPr>
        <p:blipFill>
          <a:blip r:embed="rId3"/>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marL="0" indent="0">
              <a:buNone/>
            </a:pPr>
            <a:r>
              <a:rPr lang="en-US" sz="1100" kern="0" spc="180" dirty="0">
                <a:solidFill>
                  <a:srgbClr val="F07F06"/>
                </a:solidFill>
                <a:latin typeface="Courier New" pitchFamily="34" charset="0"/>
                <a:ea typeface="Courier New" pitchFamily="34" charset="-122"/>
                <a:cs typeface="Courier New" pitchFamily="34" charset="-120"/>
              </a:rPr>
              <a:t>ESTADO · msg.sender</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marL="0" indent="0">
              <a:lnSpc>
                <a:spcPct val="98000"/>
              </a:lnSpc>
              <a:buNone/>
            </a:pPr>
            <a:r>
              <a:rPr lang="en-US" sz="3400" dirty="0">
                <a:solidFill>
                  <a:srgbClr val="FFFFFF"/>
                </a:solidFill>
                <a:latin typeface="Arial Black" pitchFamily="34" charset="0"/>
                <a:ea typeface="Arial Black" pitchFamily="34" charset="-122"/>
                <a:cs typeface="Arial Black" pitchFamily="34" charset="-120"/>
              </a:rPr>
              <a:t>EL CONTRATO RECUERDA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marL="0" indent="0">
              <a:lnSpc>
                <a:spcPct val="125000"/>
              </a:lnSpc>
              <a:buNone/>
            </a:pPr>
            <a:r>
              <a:rPr lang="en-US" sz="1400" dirty="0">
                <a:solidFill>
                  <a:srgbClr val="B9B4C4"/>
                </a:solidFill>
                <a:latin typeface="Arial" pitchFamily="34" charset="0"/>
                <a:ea typeface="Arial" pitchFamily="34" charset="-122"/>
                <a:cs typeface="Arial" pitchFamily="34" charset="-120"/>
              </a:rPr>
              <a:t>Dos variables y dos funciones de tres palabras. Con eso ya aparece lo esencial de Solidity.</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1 · LO QUE ESTAMOS ESCRIBIENDO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QUINCE LÍNEAS, Y YA TENEMOS UN CONTRATO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691640"/>
            <a:ext cx="11057839" cy="37490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493008"/>
          </a:xfrm>
          <a:prstGeom prst="rect">
            <a:avLst/>
          </a:prstGeom>
          <a:noFill/>
          <a:ln/>
        </p:spPr>
        <p:txBody>
          <a:bodyPr wrap="square" lIns="0" tIns="0" rIns="0" bIns="0" rtlCol="0" anchor="t"/>
          <a:lstStyle/>
          <a:p>
            <a:pPr marL="0" indent="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r>
              <a:rPr lang="en-US" sz="1250" dirty="0">
                <a:solidFill>
                  <a:srgbClr val="F4F2F7"/>
                </a:solidFill>
                <a:latin typeface="Courier New" pitchFamily="34" charset="0"/>
                <a:ea typeface="Courier New" pitchFamily="34" charset="-122"/>
                <a:cs typeface="Courier New" pitchFamily="34" charset="-120"/>
              </a:rPr>
              <a:t> PrestamoEquipos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A897FF"/>
                </a:solidFill>
                <a:latin typeface="Courier New" pitchFamily="34" charset="0"/>
                <a:ea typeface="Courier New" pitchFamily="34" charset="-122"/>
                <a:cs typeface="Courier New" pitchFamily="34" charset="-120"/>
              </a:rPr>
              <a:t>string</a:t>
            </a: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F07F06"/>
                </a:solidFill>
                <a:latin typeface="Courier New" pitchFamily="34" charset="0"/>
                <a:ea typeface="Courier New" pitchFamily="34" charset="-122"/>
                <a:cs typeface="Courier New" pitchFamily="34" charset="-120"/>
              </a:rPr>
              <a:t>public</a:t>
            </a:r>
            <a:r>
              <a:rPr lang="en-US" sz="1250" dirty="0">
                <a:solidFill>
                  <a:srgbClr val="F4F2F7"/>
                </a:solidFill>
                <a:latin typeface="Courier New" pitchFamily="34" charset="0"/>
                <a:ea typeface="Courier New" pitchFamily="34" charset="-122"/>
                <a:cs typeface="Courier New" pitchFamily="34" charset="-120"/>
              </a:rPr>
              <a:t> nombreEquipo = </a:t>
            </a:r>
            <a:r>
              <a:rPr lang="en-US" sz="1250" dirty="0">
                <a:solidFill>
                  <a:srgbClr val="FFA41B"/>
                </a:solidFill>
                <a:latin typeface="Courier New" pitchFamily="34" charset="0"/>
                <a:ea typeface="Courier New" pitchFamily="34" charset="-122"/>
                <a:cs typeface="Courier New" pitchFamily="34" charset="-120"/>
              </a:rPr>
              <a:t>"Proyector Epson"</a:t>
            </a: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A897FF"/>
                </a:solidFill>
                <a:latin typeface="Courier New" pitchFamily="34" charset="0"/>
                <a:ea typeface="Courier New" pitchFamily="34" charset="-122"/>
                <a:cs typeface="Courier New" pitchFamily="34" charset="-120"/>
              </a:rPr>
              <a:t>address</a:t>
            </a: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F07F06"/>
                </a:solidFill>
                <a:latin typeface="Courier New" pitchFamily="34" charset="0"/>
                <a:ea typeface="Courier New" pitchFamily="34" charset="-122"/>
                <a:cs typeface="Courier New" pitchFamily="34" charset="-120"/>
              </a:rPr>
              <a:t>public</a:t>
            </a:r>
            <a:r>
              <a:rPr lang="en-US" sz="1250" dirty="0">
                <a:solidFill>
                  <a:srgbClr val="F4F2F7"/>
                </a:solidFill>
                <a:latin typeface="Courier New" pitchFamily="34" charset="0"/>
                <a:ea typeface="Courier New" pitchFamily="34" charset="-122"/>
                <a:cs typeface="Courier New" pitchFamily="34" charset="-120"/>
              </a:rPr>
              <a:t> prestadoA;</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F07F06"/>
                </a:solidFill>
                <a:latin typeface="Courier New" pitchFamily="34" charset="0"/>
                <a:ea typeface="Courier New" pitchFamily="34" charset="-122"/>
                <a:cs typeface="Courier New" pitchFamily="34" charset="-120"/>
              </a:rPr>
              <a:t>function</a:t>
            </a:r>
            <a:r>
              <a:rPr lang="en-US" sz="1250" dirty="0">
                <a:solidFill>
                  <a:srgbClr val="F4F2F7"/>
                </a:solidFill>
                <a:latin typeface="Courier New" pitchFamily="34" charset="0"/>
                <a:ea typeface="Courier New" pitchFamily="34" charset="-122"/>
                <a:cs typeface="Courier New" pitchFamily="34" charset="-120"/>
              </a:rPr>
              <a:t> prestar() </a:t>
            </a:r>
            <a:r>
              <a:rPr lang="en-US" sz="1250" dirty="0">
                <a:solidFill>
                  <a:srgbClr val="F07F06"/>
                </a:solidFill>
                <a:latin typeface="Courier New" pitchFamily="34" charset="0"/>
                <a:ea typeface="Courier New" pitchFamily="34" charset="-122"/>
                <a:cs typeface="Courier New" pitchFamily="34" charset="-120"/>
              </a:rPr>
              <a:t>public</a:t>
            </a: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prestadoA = msg.sender;</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F07F06"/>
                </a:solidFill>
                <a:latin typeface="Courier New" pitchFamily="34" charset="0"/>
                <a:ea typeface="Courier New" pitchFamily="34" charset="-122"/>
                <a:cs typeface="Courier New" pitchFamily="34" charset="-120"/>
              </a:rPr>
              <a:t>function</a:t>
            </a:r>
            <a:r>
              <a:rPr lang="en-US" sz="1250" dirty="0">
                <a:solidFill>
                  <a:srgbClr val="F4F2F7"/>
                </a:solidFill>
                <a:latin typeface="Courier New" pitchFamily="34" charset="0"/>
                <a:ea typeface="Courier New" pitchFamily="34" charset="-122"/>
                <a:cs typeface="Courier New" pitchFamily="34" charset="-120"/>
              </a:rPr>
              <a:t> devolver() </a:t>
            </a:r>
            <a:r>
              <a:rPr lang="en-US" sz="1250" dirty="0">
                <a:solidFill>
                  <a:srgbClr val="F07F06"/>
                </a:solidFill>
                <a:latin typeface="Courier New" pitchFamily="34" charset="0"/>
                <a:ea typeface="Courier New" pitchFamily="34" charset="-122"/>
                <a:cs typeface="Courier New" pitchFamily="34" charset="-120"/>
              </a:rPr>
              <a:t>public</a:t>
            </a: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prestadoA = </a:t>
            </a:r>
            <a:r>
              <a:rPr lang="en-US" sz="1250" dirty="0">
                <a:solidFill>
                  <a:srgbClr val="A897FF"/>
                </a:solidFill>
                <a:latin typeface="Courier New" pitchFamily="34" charset="0"/>
                <a:ea typeface="Courier New" pitchFamily="34" charset="-122"/>
                <a:cs typeface="Courier New" pitchFamily="34" charset="-120"/>
              </a:rPr>
              <a:t>address</a:t>
            </a:r>
            <a:r>
              <a:rPr lang="en-US" sz="1250" dirty="0">
                <a:solidFill>
                  <a:srgbClr val="F4F2F7"/>
                </a:solidFill>
                <a:latin typeface="Courier New" pitchFamily="34" charset="0"/>
                <a:ea typeface="Courier New" pitchFamily="34" charset="-122"/>
                <a:cs typeface="Courier New" pitchFamily="34" charset="-120"/>
              </a:rPr>
              <a:t>(</a:t>
            </a:r>
            <a:r>
              <a:rPr lang="en-US" sz="1250" dirty="0">
                <a:solidFill>
                  <a:srgbClr val="FFA41B"/>
                </a:solidFill>
                <a:latin typeface="Courier New" pitchFamily="34" charset="0"/>
                <a:ea typeface="Courier New" pitchFamily="34" charset="-122"/>
                <a:cs typeface="Courier New" pitchFamily="34" charset="-120"/>
              </a:rPr>
              <a:t>0</a:t>
            </a: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Text 7"/>
          <p:cNvSpPr/>
          <p:nvPr/>
        </p:nvSpPr>
        <p:spPr>
          <a:xfrm>
            <a:off x="566928" y="5605272"/>
            <a:ext cx="11057839" cy="68580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Las variables de estado viven en la cadena: siguen ahí mañana. Y la palabra public regala las funciones de lectura, no hay que escribirlas.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1 · LA IDEA QUE IMPORTA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700" dirty="0">
                <a:solidFill>
                  <a:srgbClr val="0F0F11"/>
                </a:solidFill>
                <a:latin typeface="Arial Black" pitchFamily="34" charset="0"/>
                <a:ea typeface="Arial Black" pitchFamily="34" charset="-122"/>
                <a:cs typeface="Arial Black" pitchFamily="34" charset="-120"/>
              </a:rPr>
              <a:t>NADIE DICE QUIÉN ES: LO DEMUESTRA FIRMANDO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83080"/>
            <a:ext cx="11057839" cy="150876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1965960"/>
            <a:ext cx="10289743" cy="1143000"/>
          </a:xfrm>
          <a:prstGeom prst="rect">
            <a:avLst/>
          </a:prstGeom>
          <a:noFill/>
          <a:ln/>
        </p:spPr>
        <p:txBody>
          <a:bodyPr wrap="square" lIns="0" tIns="0" rIns="0" bIns="0" rtlCol="0" anchor="ctr"/>
          <a:lstStyle/>
          <a:p>
            <a:pPr marL="0" indent="0">
              <a:lnSpc>
                <a:spcPct val="106000"/>
              </a:lnSpc>
              <a:buNone/>
            </a:pPr>
            <a:r>
              <a:rPr lang="en-US" sz="1900" dirty="0">
                <a:solidFill>
                  <a:srgbClr val="0F0F11"/>
                </a:solidFill>
                <a:latin typeface="Arial Black" pitchFamily="34" charset="0"/>
                <a:ea typeface="Arial Black" pitchFamily="34" charset="-122"/>
                <a:cs typeface="Arial Black" pitchFamily="34" charset="-120"/>
              </a:rPr>
              <a:t>prestar() no recibe quién la llama. msg.sender es la dirección que firmó la transacción, y no se puede falsificar sin la llave privada.</a:t>
            </a:r>
            <a:endParaRPr lang="en-US" sz="1900" dirty="0"/>
          </a:p>
        </p:txBody>
      </p:sp>
      <p:sp>
        <p:nvSpPr>
          <p:cNvPr id="10" name="Shape 7"/>
          <p:cNvSpPr/>
          <p:nvPr/>
        </p:nvSpPr>
        <p:spPr>
          <a:xfrm>
            <a:off x="566928" y="3520440"/>
            <a:ext cx="5391760" cy="182880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70332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EN CUALQUIER OTRO PROGRAMA</a:t>
            </a:r>
            <a:endParaRPr lang="en-US" sz="1050" dirty="0"/>
          </a:p>
        </p:txBody>
      </p:sp>
      <p:sp>
        <p:nvSpPr>
          <p:cNvPr id="12" name="Text 9"/>
          <p:cNvSpPr/>
          <p:nvPr/>
        </p:nvSpPr>
        <p:spPr>
          <a:xfrm>
            <a:off x="841248" y="4087368"/>
            <a:ext cx="4843120" cy="109728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Quién eres es un campo del formulario, o una sesión que el servidor te asignó. Alguien puede mentir, y hay que comprobarlo contra una base de datos.</a:t>
            </a:r>
            <a:endParaRPr lang="en-US" sz="1300" dirty="0"/>
          </a:p>
        </p:txBody>
      </p:sp>
      <p:sp>
        <p:nvSpPr>
          <p:cNvPr id="13" name="Shape 10"/>
          <p:cNvSpPr/>
          <p:nvPr/>
        </p:nvSpPr>
        <p:spPr>
          <a:xfrm>
            <a:off x="6233008" y="3520440"/>
            <a:ext cx="5391760" cy="182880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70332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AQUÍ</a:t>
            </a:r>
            <a:endParaRPr lang="en-US" sz="1050" dirty="0"/>
          </a:p>
        </p:txBody>
      </p:sp>
      <p:sp>
        <p:nvSpPr>
          <p:cNvPr id="15" name="Text 12"/>
          <p:cNvSpPr/>
          <p:nvPr/>
        </p:nvSpPr>
        <p:spPr>
          <a:xfrm>
            <a:off x="6507328" y="4087368"/>
            <a:ext cx="4843120" cy="109728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Quién eres viene de la firma de la transacción. El contrato no pregunta: recibe una dirección que solo pudo producir quien tiene la llave.</a:t>
            </a:r>
            <a:endParaRPr lang="en-US" sz="1300" dirty="0"/>
          </a:p>
        </p:txBody>
      </p:sp>
      <p:sp>
        <p:nvSpPr>
          <p:cNvPr id="16" name="Text 13"/>
          <p:cNvSpPr/>
          <p:nvPr/>
        </p:nvSpPr>
        <p:spPr>
          <a:xfrm>
            <a:off x="566928" y="5532120"/>
            <a:ext cx="11057839" cy="54864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address(0) es la dirección cero, el «vacío» de Ethereum. La usamos para decir «no lo tiene nadie», y va a volver a aparecer todo el día.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1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COMPILAR, DESPLEGAR Y ROMPERLO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8308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83080"/>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1" name="Text 8"/>
          <p:cNvSpPr/>
          <p:nvPr/>
        </p:nvSpPr>
        <p:spPr>
          <a:xfrm>
            <a:off x="3566160" y="1874520"/>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Compilar hasta la marca verde y oprimir Deploy, con Value en 0. El contrato aparece en Deployed Contracts.</a:t>
            </a:r>
            <a:endParaRPr lang="en-US" sz="1250" dirty="0"/>
          </a:p>
        </p:txBody>
      </p:sp>
      <p:sp>
        <p:nvSpPr>
          <p:cNvPr id="12" name="Shape 9"/>
          <p:cNvSpPr/>
          <p:nvPr/>
        </p:nvSpPr>
        <p:spPr>
          <a:xfrm>
            <a:off x="566928" y="253288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532888"/>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5768"/>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LEER PRESTADOA</a:t>
            </a:r>
            <a:endParaRPr lang="en-US" sz="1000" dirty="0"/>
          </a:p>
        </p:txBody>
      </p:sp>
      <p:sp>
        <p:nvSpPr>
          <p:cNvPr id="15" name="Text 12"/>
          <p:cNvSpPr/>
          <p:nvPr/>
        </p:nvSpPr>
        <p:spPr>
          <a:xfrm>
            <a:off x="3566160" y="2624328"/>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Botón azul: es una consulta y no cuesta nada. Devuelve 0x0000…0000. Nadie lo tiene.</a:t>
            </a:r>
            <a:endParaRPr lang="en-US" sz="1250" dirty="0"/>
          </a:p>
        </p:txBody>
      </p:sp>
      <p:sp>
        <p:nvSpPr>
          <p:cNvPr id="16" name="Shape 13"/>
          <p:cNvSpPr/>
          <p:nvPr/>
        </p:nvSpPr>
        <p:spPr>
          <a:xfrm>
            <a:off x="566928" y="328269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82696"/>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PRESTAR · CUENTA 1</a:t>
            </a:r>
            <a:endParaRPr lang="en-US" sz="1000" dirty="0"/>
          </a:p>
        </p:txBody>
      </p:sp>
      <p:sp>
        <p:nvSpPr>
          <p:cNvPr id="19" name="Text 16"/>
          <p:cNvSpPr/>
          <p:nvPr/>
        </p:nvSpPr>
        <p:spPr>
          <a:xfrm>
            <a:off x="3566160" y="3374136"/>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Botón naranja: es una transacción. Volver a leer prestadoA: ahora es la cuenta 1. Comparar los primeros y últimos cuatro caracteres con el selector Account.</a:t>
            </a:r>
            <a:endParaRPr lang="en-US" sz="1250" dirty="0"/>
          </a:p>
        </p:txBody>
      </p:sp>
      <p:sp>
        <p:nvSpPr>
          <p:cNvPr id="20" name="Shape 17"/>
          <p:cNvSpPr/>
          <p:nvPr/>
        </p:nvSpPr>
        <p:spPr>
          <a:xfrm>
            <a:off x="566928" y="403250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4032504"/>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15384"/>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CAMBIAR A LA CUENTA 2</a:t>
            </a:r>
            <a:endParaRPr lang="en-US" sz="1000" dirty="0"/>
          </a:p>
        </p:txBody>
      </p:sp>
      <p:sp>
        <p:nvSpPr>
          <p:cNvPr id="23" name="Text 20"/>
          <p:cNvSpPr/>
          <p:nvPr/>
        </p:nvSpPr>
        <p:spPr>
          <a:xfrm>
            <a:off x="3566160" y="4123944"/>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Arriba, en Account. Oprimir prestar otra vez.</a:t>
            </a:r>
            <a:endParaRPr lang="en-US" sz="1250" dirty="0"/>
          </a:p>
        </p:txBody>
      </p:sp>
      <p:sp>
        <p:nvSpPr>
          <p:cNvPr id="24" name="Shape 21"/>
          <p:cNvSpPr/>
          <p:nvPr/>
        </p:nvSpPr>
        <p:spPr>
          <a:xfrm>
            <a:off x="566928" y="4782312"/>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782312"/>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65192"/>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LEER PRESTADOA</a:t>
            </a:r>
            <a:endParaRPr lang="en-US" sz="1000" dirty="0"/>
          </a:p>
        </p:txBody>
      </p:sp>
      <p:sp>
        <p:nvSpPr>
          <p:cNvPr id="27" name="Text 24"/>
          <p:cNvSpPr/>
          <p:nvPr/>
        </p:nvSpPr>
        <p:spPr>
          <a:xfrm>
            <a:off x="3566160" y="4873752"/>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Ahora dice cuenta 2. La transacción salió bien. Verde. Sin un solo error.</a:t>
            </a:r>
            <a:endParaRPr lang="en-US" sz="1250" dirty="0"/>
          </a:p>
        </p:txBody>
      </p:sp>
      <p:sp>
        <p:nvSpPr>
          <p:cNvPr id="28" name="Text 25"/>
          <p:cNvSpPr/>
          <p:nvPr/>
        </p:nvSpPr>
        <p:spPr>
          <a:xfrm>
            <a:off x="566928" y="5669280"/>
            <a:ext cx="11057839" cy="73152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La cuenta 1 nunca devolvió el proyector. ¿Dónde está el proyector?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marL="0" indent="0">
              <a:lnSpc>
                <a:spcPct val="106000"/>
              </a:lnSpc>
              <a:buNone/>
            </a:pPr>
            <a:r>
              <a:rPr lang="en-US" sz="2200" dirty="0">
                <a:solidFill>
                  <a:srgbClr val="0F0F11"/>
                </a:solidFill>
                <a:latin typeface="Arial Black" pitchFamily="34" charset="0"/>
                <a:ea typeface="Arial Black" pitchFamily="34" charset="-122"/>
                <a:cs typeface="Arial Black" pitchFamily="34" charset="-120"/>
              </a:rPr>
              <a:t>El código no tiene un solo error de sintaxis, y acaba de hacer algo imposible en la vida real. ¿Dónde está el error, entonces?</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marL="0" indent="0" algn="ctr">
              <a:lnSpc>
                <a:spcPct val="124000"/>
              </a:lnSpc>
              <a:buNone/>
            </a:pPr>
            <a:r>
              <a:rPr lang="en-US" sz="1400" dirty="0">
                <a:solidFill>
                  <a:srgbClr val="6F6B80"/>
                </a:solidFill>
                <a:latin typeface="Arial" pitchFamily="34" charset="0"/>
                <a:ea typeface="Arial" pitchFamily="34" charset="-122"/>
                <a:cs typeface="Arial" pitchFamily="34" charset="-120"/>
              </a:rPr>
              <a:t>Pista: miren otra vez la última transacción. Salió verde.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1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LA ROTURA NO ES ROJA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blurRad="101600" dist="63500" dir="2700000" algn="bl" rotWithShape="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marL="0" indent="0">
              <a:lnSpc>
                <a:spcPct val="106000"/>
              </a:lnSpc>
              <a:buNone/>
            </a:pPr>
            <a:r>
              <a:rPr lang="en-US" sz="1800" dirty="0">
                <a:solidFill>
                  <a:srgbClr val="0F0F11"/>
                </a:solidFill>
                <a:latin typeface="Arial Black" pitchFamily="34" charset="0"/>
                <a:ea typeface="Arial Black" pitchFamily="34" charset="-122"/>
                <a:cs typeface="Arial Black" pitchFamily="34" charset="-120"/>
              </a:rPr>
              <a:t>No falta corregir un error: falta escribir una regla. El contrato nunca comprueba si el equipo ya está prestado, así que hizo exactamente lo que le pedimos.</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LO QUE UNO ESPERA DE UN ERROR</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Algo rojo, una excepción, un mensaje. Eso es lo que nos enseñaron a buscar, y aquí no aparece.</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LO QUE DE VERDAD PASA</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Todo sale bien y el resultado es imposible. La mayoría de los robos en contratos son código funcionando como está escrito.</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blurRad="101600" dist="63500" dir="2700000" algn="bl" rotWithShape="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El contrato tiene que poder decir que NO. Eso es un require, o mejor, un error con nombre propio.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marL="0" indent="0" algn="ctr">
              <a:buNone/>
            </a:pPr>
            <a:r>
              <a:rPr lang="en-US" sz="11800" dirty="0">
                <a:solidFill>
                  <a:srgbClr val="0F0F11"/>
                </a:solidFill>
                <a:latin typeface="Arial Black" pitchFamily="34" charset="0"/>
                <a:ea typeface="Arial Black" pitchFamily="34" charset="-122"/>
                <a:cs typeface="Arial Black" pitchFamily="34" charset="-120"/>
              </a:rPr>
              <a:t>2</a:t>
            </a:r>
            <a:endParaRPr lang="en-US" sz="11800" dirty="0"/>
          </a:p>
        </p:txBody>
      </p:sp>
      <p:pic>
        <p:nvPicPr>
          <p:cNvPr id="4" name="Image 0" descr="preencoded.png"/>
          <p:cNvPicPr>
            <a:picLocks noChangeAspect="1"/>
          </p:cNvPicPr>
          <p:nvPr/>
        </p:nvPicPr>
        <p:blipFill>
          <a:blip r:embed="rId3"/>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marL="0" indent="0">
              <a:buNone/>
            </a:pPr>
            <a:r>
              <a:rPr lang="en-US" sz="1100" kern="0" spc="180" dirty="0">
                <a:solidFill>
                  <a:srgbClr val="F07F06"/>
                </a:solidFill>
                <a:latin typeface="Courier New" pitchFamily="34" charset="0"/>
                <a:ea typeface="Courier New" pitchFamily="34" charset="-122"/>
                <a:cs typeface="Courier New" pitchFamily="34" charset="-120"/>
              </a:rPr>
              <a:t>ERRORES PROPIOS · view</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marL="0" indent="0">
              <a:lnSpc>
                <a:spcPct val="98000"/>
              </a:lnSpc>
              <a:buNone/>
            </a:pPr>
            <a:r>
              <a:rPr lang="en-US" sz="3400" dirty="0">
                <a:solidFill>
                  <a:srgbClr val="FFFFFF"/>
                </a:solidFill>
                <a:latin typeface="Arial Black" pitchFamily="34" charset="0"/>
                <a:ea typeface="Arial Black" pitchFamily="34" charset="-122"/>
                <a:cs typeface="Arial Black" pitchFamily="34" charset="-120"/>
              </a:rPr>
              <a:t>EL CONTRATO DICE NO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marL="0" indent="0">
              <a:lnSpc>
                <a:spcPct val="125000"/>
              </a:lnSpc>
              <a:buNone/>
            </a:pPr>
            <a:r>
              <a:rPr lang="en-US" sz="1400" dirty="0">
                <a:solidFill>
                  <a:srgbClr val="B9B4C4"/>
                </a:solidFill>
                <a:latin typeface="Arial" pitchFamily="34" charset="0"/>
                <a:ea typeface="Arial" pitchFamily="34" charset="-122"/>
                <a:cs typeface="Arial" pitchFamily="34" charset="-120"/>
              </a:rPr>
              <a:t>Un contrato que no sabe negarse no sirve para nada. Y al negarse, conviene que diga por qué.</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F07F06"/>
                </a:solidFill>
                <a:latin typeface="Courier New" pitchFamily="34" charset="0"/>
                <a:ea typeface="Courier New" pitchFamily="34" charset="-122"/>
                <a:cs typeface="Courier New"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2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DOS ERRORES CON NOMBRE Y DOS GUARDIAS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691640"/>
            <a:ext cx="11057839" cy="36576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401568"/>
          </a:xfrm>
          <a:prstGeom prst="rect">
            <a:avLst/>
          </a:prstGeom>
          <a:noFill/>
          <a:ln/>
        </p:spPr>
        <p:txBody>
          <a:bodyPr wrap="square" lIns="0" tIns="0" rIns="0" bIns="0" rtlCol="0" anchor="t"/>
          <a:lstStyle/>
          <a:p>
            <a:pPr marL="0" indent="0">
              <a:lnSpc>
                <a:spcPct val="112000"/>
              </a:lnSpc>
              <a:buNone/>
            </a:pPr>
            <a:r>
              <a:rPr lang="en-US" sz="1200" dirty="0">
                <a:solidFill>
                  <a:srgbClr val="F07F06"/>
                </a:solidFill>
                <a:latin typeface="Courier New" pitchFamily="34" charset="0"/>
                <a:ea typeface="Courier New" pitchFamily="34" charset="-122"/>
                <a:cs typeface="Courier New" pitchFamily="34" charset="-120"/>
              </a:rPr>
              <a:t>error</a:t>
            </a:r>
            <a:r>
              <a:rPr lang="en-US" sz="1200" dirty="0">
                <a:solidFill>
                  <a:srgbClr val="F4F2F7"/>
                </a:solidFill>
                <a:latin typeface="Courier New" pitchFamily="34" charset="0"/>
                <a:ea typeface="Courier New" pitchFamily="34" charset="-122"/>
                <a:cs typeface="Courier New" pitchFamily="34" charset="-120"/>
              </a:rPr>
              <a:t> EquipoOcupado(</a:t>
            </a:r>
            <a:r>
              <a:rPr lang="en-US" sz="1200" dirty="0">
                <a:solidFill>
                  <a:srgbClr val="A897FF"/>
                </a:solidFill>
                <a:latin typeface="Courier New" pitchFamily="34" charset="0"/>
                <a:ea typeface="Courier New" pitchFamily="34" charset="-122"/>
                <a:cs typeface="Courier New" pitchFamily="34" charset="-120"/>
              </a:rPr>
              <a:t>address</a:t>
            </a:r>
            <a:r>
              <a:rPr lang="en-US" sz="1200" dirty="0">
                <a:solidFill>
                  <a:srgbClr val="F4F2F7"/>
                </a:solidFill>
                <a:latin typeface="Courier New" pitchFamily="34" charset="0"/>
                <a:ea typeface="Courier New" pitchFamily="34" charset="-122"/>
                <a:cs typeface="Courier New" pitchFamily="34" charset="-120"/>
              </a:rPr>
              <a:t> loTiene);</a:t>
            </a:r>
            <a:endParaRPr lang="en-US" sz="1200" dirty="0"/>
          </a:p>
          <a:p>
            <a:pPr marL="0" indent="0">
              <a:lnSpc>
                <a:spcPct val="112000"/>
              </a:lnSpc>
              <a:buNone/>
            </a:pPr>
            <a:r>
              <a:rPr lang="en-US" sz="1200" dirty="0">
                <a:solidFill>
                  <a:srgbClr val="F07F06"/>
                </a:solidFill>
                <a:latin typeface="Courier New" pitchFamily="34" charset="0"/>
                <a:ea typeface="Courier New" pitchFamily="34" charset="-122"/>
                <a:cs typeface="Courier New" pitchFamily="34" charset="-120"/>
              </a:rPr>
              <a:t>error</a:t>
            </a:r>
            <a:r>
              <a:rPr lang="en-US" sz="1200" dirty="0">
                <a:solidFill>
                  <a:srgbClr val="F4F2F7"/>
                </a:solidFill>
                <a:latin typeface="Courier New" pitchFamily="34" charset="0"/>
                <a:ea typeface="Courier New" pitchFamily="34" charset="-122"/>
                <a:cs typeface="Courier New" pitchFamily="34" charset="-120"/>
              </a:rPr>
              <a:t> NoLoTienesTu();</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marL="0" indent="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r>
              <a:rPr lang="en-US" sz="1200" dirty="0">
                <a:solidFill>
                  <a:srgbClr val="F4F2F7"/>
                </a:solidFill>
                <a:latin typeface="Courier New" pitchFamily="34" charset="0"/>
                <a:ea typeface="Courier New" pitchFamily="34" charset="-122"/>
                <a:cs typeface="Courier New" pitchFamily="34" charset="-120"/>
              </a:rPr>
              <a:t> estaDisponible() </a:t>
            </a:r>
            <a:r>
              <a:rPr lang="en-US" sz="1200" dirty="0">
                <a:solidFill>
                  <a:srgbClr val="F07F06"/>
                </a:solidFill>
                <a:latin typeface="Courier New" pitchFamily="34" charset="0"/>
                <a:ea typeface="Courier New" pitchFamily="34" charset="-122"/>
                <a:cs typeface="Courier New" pitchFamily="34" charset="-120"/>
              </a:rPr>
              <a:t>public</a:t>
            </a:r>
            <a:r>
              <a:rPr lang="en-US" sz="1200" dirty="0">
                <a:solidFill>
                  <a:srgbClr val="F4F2F7"/>
                </a:solidFill>
                <a:latin typeface="Courier New" pitchFamily="34" charset="0"/>
                <a:ea typeface="Courier New" pitchFamily="34" charset="-122"/>
                <a:cs typeface="Courier New" pitchFamily="34" charset="-120"/>
              </a:rPr>
              <a:t> </a:t>
            </a:r>
            <a:r>
              <a:rPr lang="en-US" sz="1200" dirty="0">
                <a:solidFill>
                  <a:srgbClr val="F07F06"/>
                </a:solidFill>
                <a:latin typeface="Courier New" pitchFamily="34" charset="0"/>
                <a:ea typeface="Courier New" pitchFamily="34" charset="-122"/>
                <a:cs typeface="Courier New" pitchFamily="34" charset="-120"/>
              </a:rPr>
              <a:t>view</a:t>
            </a:r>
            <a:r>
              <a:rPr lang="en-US" sz="1200" dirty="0">
                <a:solidFill>
                  <a:srgbClr val="F4F2F7"/>
                </a:solidFill>
                <a:latin typeface="Courier New" pitchFamily="34" charset="0"/>
                <a:ea typeface="Courier New" pitchFamily="34" charset="-122"/>
                <a:cs typeface="Courier New" pitchFamily="34" charset="-120"/>
              </a:rPr>
              <a:t> </a:t>
            </a:r>
            <a:r>
              <a:rPr lang="en-US" sz="1200" dirty="0">
                <a:solidFill>
                  <a:srgbClr val="F07F06"/>
                </a:solidFill>
                <a:latin typeface="Courier New" pitchFamily="34" charset="0"/>
                <a:ea typeface="Courier New" pitchFamily="34" charset="-122"/>
                <a:cs typeface="Courier New" pitchFamily="34" charset="-120"/>
              </a:rPr>
              <a:t>returns</a:t>
            </a:r>
            <a:r>
              <a:rPr lang="en-US" sz="1200" dirty="0">
                <a:solidFill>
                  <a:srgbClr val="F4F2F7"/>
                </a:solidFill>
                <a:latin typeface="Courier New" pitchFamily="34" charset="0"/>
                <a:ea typeface="Courier New" pitchFamily="34" charset="-122"/>
                <a:cs typeface="Courier New" pitchFamily="34" charset="-120"/>
              </a:rPr>
              <a:t> (</a:t>
            </a:r>
            <a:r>
              <a:rPr lang="en-US" sz="1200" dirty="0">
                <a:solidFill>
                  <a:srgbClr val="A897FF"/>
                </a:solidFill>
                <a:latin typeface="Courier New" pitchFamily="34" charset="0"/>
                <a:ea typeface="Courier New" pitchFamily="34" charset="-122"/>
                <a:cs typeface="Courier New" pitchFamily="34" charset="-120"/>
              </a:rPr>
              <a:t>bool</a:t>
            </a: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r>
              <a:rPr lang="en-US" sz="1200" dirty="0">
                <a:solidFill>
                  <a:srgbClr val="F07F06"/>
                </a:solidFill>
                <a:latin typeface="Courier New" pitchFamily="34" charset="0"/>
                <a:ea typeface="Courier New" pitchFamily="34" charset="-122"/>
                <a:cs typeface="Courier New" pitchFamily="34" charset="-120"/>
              </a:rPr>
              <a:t>return</a:t>
            </a:r>
            <a:r>
              <a:rPr lang="en-US" sz="1200" dirty="0">
                <a:solidFill>
                  <a:srgbClr val="F4F2F7"/>
                </a:solidFill>
                <a:latin typeface="Courier New" pitchFamily="34" charset="0"/>
                <a:ea typeface="Courier New" pitchFamily="34" charset="-122"/>
                <a:cs typeface="Courier New" pitchFamily="34" charset="-120"/>
              </a:rPr>
              <a:t> prestadoA == </a:t>
            </a:r>
            <a:r>
              <a:rPr lang="en-US" sz="1200" dirty="0">
                <a:solidFill>
                  <a:srgbClr val="A897FF"/>
                </a:solidFill>
                <a:latin typeface="Courier New" pitchFamily="34" charset="0"/>
                <a:ea typeface="Courier New" pitchFamily="34" charset="-122"/>
                <a:cs typeface="Courier New" pitchFamily="34" charset="-120"/>
              </a:rPr>
              <a:t>address</a:t>
            </a:r>
            <a:r>
              <a:rPr lang="en-US" sz="1200" dirty="0">
                <a:solidFill>
                  <a:srgbClr val="F4F2F7"/>
                </a:solidFill>
                <a:latin typeface="Courier New" pitchFamily="34" charset="0"/>
                <a:ea typeface="Courier New" pitchFamily="34" charset="-122"/>
                <a:cs typeface="Courier New" pitchFamily="34" charset="-120"/>
              </a:rPr>
              <a:t>(</a:t>
            </a:r>
            <a:r>
              <a:rPr lang="en-US" sz="1200" dirty="0">
                <a:solidFill>
                  <a:srgbClr val="FFA41B"/>
                </a:solidFill>
                <a:latin typeface="Courier New" pitchFamily="34" charset="0"/>
                <a:ea typeface="Courier New" pitchFamily="34" charset="-122"/>
                <a:cs typeface="Courier New" pitchFamily="34" charset="-120"/>
              </a:rPr>
              <a:t>0</a:t>
            </a: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marL="0" indent="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r>
              <a:rPr lang="en-US" sz="1200" dirty="0">
                <a:solidFill>
                  <a:srgbClr val="F4F2F7"/>
                </a:solidFill>
                <a:latin typeface="Courier New" pitchFamily="34" charset="0"/>
                <a:ea typeface="Courier New" pitchFamily="34" charset="-122"/>
                <a:cs typeface="Courier New" pitchFamily="34" charset="-120"/>
              </a:rPr>
              <a:t> prestar() </a:t>
            </a:r>
            <a:r>
              <a:rPr lang="en-US" sz="1200" dirty="0">
                <a:solidFill>
                  <a:srgbClr val="F07F06"/>
                </a:solidFill>
                <a:latin typeface="Courier New" pitchFamily="34" charset="0"/>
                <a:ea typeface="Courier New" pitchFamily="34" charset="-122"/>
                <a:cs typeface="Courier New" pitchFamily="34" charset="-120"/>
              </a:rPr>
              <a:t>public</a:t>
            </a: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r>
              <a:rPr lang="en-US" sz="1200" dirty="0">
                <a:solidFill>
                  <a:srgbClr val="F07F06"/>
                </a:solidFill>
                <a:latin typeface="Courier New" pitchFamily="34" charset="0"/>
                <a:ea typeface="Courier New" pitchFamily="34" charset="-122"/>
                <a:cs typeface="Courier New" pitchFamily="34" charset="-120"/>
              </a:rPr>
              <a:t>if</a:t>
            </a:r>
            <a:r>
              <a:rPr lang="en-US" sz="1200" dirty="0">
                <a:solidFill>
                  <a:srgbClr val="F4F2F7"/>
                </a:solidFill>
                <a:latin typeface="Courier New" pitchFamily="34" charset="0"/>
                <a:ea typeface="Courier New" pitchFamily="34" charset="-122"/>
                <a:cs typeface="Courier New" pitchFamily="34" charset="-120"/>
              </a:rPr>
              <a:t> (!estaDisponible()) </a:t>
            </a:r>
            <a:r>
              <a:rPr lang="en-US" sz="1200" dirty="0">
                <a:solidFill>
                  <a:srgbClr val="F07F06"/>
                </a:solidFill>
                <a:latin typeface="Courier New" pitchFamily="34" charset="0"/>
                <a:ea typeface="Courier New" pitchFamily="34" charset="-122"/>
                <a:cs typeface="Courier New" pitchFamily="34" charset="-120"/>
              </a:rPr>
              <a:t>revert</a:t>
            </a:r>
            <a:r>
              <a:rPr lang="en-US" sz="1200" dirty="0">
                <a:solidFill>
                  <a:srgbClr val="F4F2F7"/>
                </a:solidFill>
                <a:latin typeface="Courier New" pitchFamily="34" charset="0"/>
                <a:ea typeface="Courier New" pitchFamily="34" charset="-122"/>
                <a:cs typeface="Courier New" pitchFamily="34" charset="-120"/>
              </a:rPr>
              <a:t> EquipoOcupado(prestadoA);</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prestadoA = msg.sender;</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marL="0" indent="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r>
              <a:rPr lang="en-US" sz="1200" dirty="0">
                <a:solidFill>
                  <a:srgbClr val="F4F2F7"/>
                </a:solidFill>
                <a:latin typeface="Courier New" pitchFamily="34" charset="0"/>
                <a:ea typeface="Courier New" pitchFamily="34" charset="-122"/>
                <a:cs typeface="Courier New" pitchFamily="34" charset="-120"/>
              </a:rPr>
              <a:t> devolver() </a:t>
            </a:r>
            <a:r>
              <a:rPr lang="en-US" sz="1200" dirty="0">
                <a:solidFill>
                  <a:srgbClr val="F07F06"/>
                </a:solidFill>
                <a:latin typeface="Courier New" pitchFamily="34" charset="0"/>
                <a:ea typeface="Courier New" pitchFamily="34" charset="-122"/>
                <a:cs typeface="Courier New" pitchFamily="34" charset="-120"/>
              </a:rPr>
              <a:t>public</a:t>
            </a: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r>
              <a:rPr lang="en-US" sz="1200" dirty="0">
                <a:solidFill>
                  <a:srgbClr val="F07F06"/>
                </a:solidFill>
                <a:latin typeface="Courier New" pitchFamily="34" charset="0"/>
                <a:ea typeface="Courier New" pitchFamily="34" charset="-122"/>
                <a:cs typeface="Courier New" pitchFamily="34" charset="-120"/>
              </a:rPr>
              <a:t>if</a:t>
            </a:r>
            <a:r>
              <a:rPr lang="en-US" sz="1200" dirty="0">
                <a:solidFill>
                  <a:srgbClr val="F4F2F7"/>
                </a:solidFill>
                <a:latin typeface="Courier New" pitchFamily="34" charset="0"/>
                <a:ea typeface="Courier New" pitchFamily="34" charset="-122"/>
                <a:cs typeface="Courier New" pitchFamily="34" charset="-120"/>
              </a:rPr>
              <a:t> (prestadoA != msg.sender) </a:t>
            </a:r>
            <a:r>
              <a:rPr lang="en-US" sz="1200" dirty="0">
                <a:solidFill>
                  <a:srgbClr val="F07F06"/>
                </a:solidFill>
                <a:latin typeface="Courier New" pitchFamily="34" charset="0"/>
                <a:ea typeface="Courier New" pitchFamily="34" charset="-122"/>
                <a:cs typeface="Courier New" pitchFamily="34" charset="-120"/>
              </a:rPr>
              <a:t>revert</a:t>
            </a:r>
            <a:r>
              <a:rPr lang="en-US" sz="1200" dirty="0">
                <a:solidFill>
                  <a:srgbClr val="F4F2F7"/>
                </a:solidFill>
                <a:latin typeface="Courier New" pitchFamily="34" charset="0"/>
                <a:ea typeface="Courier New" pitchFamily="34" charset="-122"/>
                <a:cs typeface="Courier New" pitchFamily="34" charset="-120"/>
              </a:rPr>
              <a:t> NoLoTienesTu();</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    prestadoA = </a:t>
            </a:r>
            <a:r>
              <a:rPr lang="en-US" sz="1200" dirty="0">
                <a:solidFill>
                  <a:srgbClr val="A897FF"/>
                </a:solidFill>
                <a:latin typeface="Courier New" pitchFamily="34" charset="0"/>
                <a:ea typeface="Courier New" pitchFamily="34" charset="-122"/>
                <a:cs typeface="Courier New" pitchFamily="34" charset="-120"/>
              </a:rPr>
              <a:t>address</a:t>
            </a:r>
            <a:r>
              <a:rPr lang="en-US" sz="1200" dirty="0">
                <a:solidFill>
                  <a:srgbClr val="F4F2F7"/>
                </a:solidFill>
                <a:latin typeface="Courier New" pitchFamily="34" charset="0"/>
                <a:ea typeface="Courier New" pitchFamily="34" charset="-122"/>
                <a:cs typeface="Courier New" pitchFamily="34" charset="-120"/>
              </a:rPr>
              <a:t>(</a:t>
            </a:r>
            <a:r>
              <a:rPr lang="en-US" sz="1200" dirty="0">
                <a:solidFill>
                  <a:srgbClr val="FFA41B"/>
                </a:solidFill>
                <a:latin typeface="Courier New" pitchFamily="34" charset="0"/>
                <a:ea typeface="Courier New" pitchFamily="34" charset="-122"/>
                <a:cs typeface="Courier New" pitchFamily="34" charset="-120"/>
              </a:rPr>
              <a:t>0</a:t>
            </a: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marL="0" indent="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566928" y="5513832"/>
            <a:ext cx="11057839" cy="68580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view = leo el estado pero no lo cambio: desde fuera no cuesta gas. Y el error lleva datos: no dice «ocupado», dice quién lo tiene.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2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QUE SE CAIGA, Y QUE DIGA POR QUÉ</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8308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83080"/>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VOLVER A DESPLEGAR</a:t>
            </a:r>
            <a:endParaRPr lang="en-US" sz="1000" dirty="0"/>
          </a:p>
        </p:txBody>
      </p:sp>
      <p:sp>
        <p:nvSpPr>
          <p:cNvPr id="11" name="Text 8"/>
          <p:cNvSpPr/>
          <p:nvPr/>
        </p:nvSpPr>
        <p:spPr>
          <a:xfrm>
            <a:off x="3566160" y="1874520"/>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Cada Deploy crea un contrato NUEVO y vacío. El anterior sigue ahí con su estado: usamos siempre el último de la lista.</a:t>
            </a:r>
            <a:endParaRPr lang="en-US" sz="1250" dirty="0"/>
          </a:p>
        </p:txBody>
      </p:sp>
      <p:sp>
        <p:nvSpPr>
          <p:cNvPr id="12" name="Shape 9"/>
          <p:cNvSpPr/>
          <p:nvPr/>
        </p:nvSpPr>
        <p:spPr>
          <a:xfrm>
            <a:off x="566928" y="253288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532888"/>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5768"/>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CUENTA 1 · PRESTAR</a:t>
            </a:r>
            <a:endParaRPr lang="en-US" sz="1000" dirty="0"/>
          </a:p>
        </p:txBody>
      </p:sp>
      <p:sp>
        <p:nvSpPr>
          <p:cNvPr id="15" name="Text 12"/>
          <p:cNvSpPr/>
          <p:nvPr/>
        </p:nvSpPr>
        <p:spPr>
          <a:xfrm>
            <a:off x="3566160" y="2624328"/>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Pasa. estaDisponible() ahora devuelve false.</a:t>
            </a:r>
            <a:endParaRPr lang="en-US" sz="1250" dirty="0"/>
          </a:p>
        </p:txBody>
      </p:sp>
      <p:sp>
        <p:nvSpPr>
          <p:cNvPr id="16" name="Shape 13"/>
          <p:cNvSpPr/>
          <p:nvPr/>
        </p:nvSpPr>
        <p:spPr>
          <a:xfrm>
            <a:off x="566928" y="328269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82696"/>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CUENTA 2 · PRESTAR</a:t>
            </a:r>
            <a:endParaRPr lang="en-US" sz="1000" dirty="0"/>
          </a:p>
        </p:txBody>
      </p:sp>
      <p:sp>
        <p:nvSpPr>
          <p:cNvPr id="19" name="Text 16"/>
          <p:cNvSpPr/>
          <p:nvPr/>
        </p:nvSpPr>
        <p:spPr>
          <a:xfrm>
            <a:off x="3566160" y="3374136"/>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REVIERTE. En la terminal, abrir la flecha: el error trae la dirección de la cuenta 1 adentro.</a:t>
            </a:r>
            <a:endParaRPr lang="en-US" sz="1250" dirty="0"/>
          </a:p>
        </p:txBody>
      </p:sp>
      <p:sp>
        <p:nvSpPr>
          <p:cNvPr id="20" name="Shape 17"/>
          <p:cNvSpPr/>
          <p:nvPr/>
        </p:nvSpPr>
        <p:spPr>
          <a:xfrm>
            <a:off x="566928" y="403250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4032504"/>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15384"/>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CUENTA 2 · DEVOLVER</a:t>
            </a:r>
            <a:endParaRPr lang="en-US" sz="1000" dirty="0"/>
          </a:p>
        </p:txBody>
      </p:sp>
      <p:sp>
        <p:nvSpPr>
          <p:cNvPr id="23" name="Text 20"/>
          <p:cNvSpPr/>
          <p:nvPr/>
        </p:nvSpPr>
        <p:spPr>
          <a:xfrm>
            <a:off x="3566160" y="4123944"/>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REVIERTE con NoLoTienesTu. Nadie devuelve lo que no tiene.</a:t>
            </a:r>
            <a:endParaRPr lang="en-US" sz="1250" dirty="0"/>
          </a:p>
        </p:txBody>
      </p:sp>
      <p:sp>
        <p:nvSpPr>
          <p:cNvPr id="24" name="Shape 21"/>
          <p:cNvSpPr/>
          <p:nvPr/>
        </p:nvSpPr>
        <p:spPr>
          <a:xfrm>
            <a:off x="566928" y="4782312"/>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782312"/>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65192"/>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CUENTA 1 · DEVOLVER</a:t>
            </a:r>
            <a:endParaRPr lang="en-US" sz="1000" dirty="0"/>
          </a:p>
        </p:txBody>
      </p:sp>
      <p:sp>
        <p:nvSpPr>
          <p:cNvPr id="27" name="Text 24"/>
          <p:cNvSpPr/>
          <p:nvPr/>
        </p:nvSpPr>
        <p:spPr>
          <a:xfrm>
            <a:off x="3566160" y="4873752"/>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Pasa. Y ahora sí, la cuenta 2 puede prestarlo.</a:t>
            </a:r>
            <a:endParaRPr lang="en-US" sz="1250" dirty="0"/>
          </a:p>
        </p:txBody>
      </p:sp>
      <p:sp>
        <p:nvSpPr>
          <p:cNvPr id="28" name="Text 25"/>
          <p:cNvSpPr/>
          <p:nvPr/>
        </p:nvSpPr>
        <p:spPr>
          <a:xfrm>
            <a:off x="566928" y="5669280"/>
            <a:ext cx="11057839" cy="73152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Validar cuesta gas: prestar pasó de unas 24 400 a unas 26 600 unidades. Negarse no es gratis.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marL="0" indent="0">
              <a:lnSpc>
                <a:spcPct val="106000"/>
              </a:lnSpc>
              <a:buNone/>
            </a:pPr>
            <a:r>
              <a:rPr lang="en-US" sz="2200" dirty="0">
                <a:solidFill>
                  <a:srgbClr val="0F0F11"/>
                </a:solidFill>
                <a:latin typeface="Arial Black" pitchFamily="34" charset="0"/>
                <a:ea typeface="Arial Black" pitchFamily="34" charset="-122"/>
                <a:cs typeface="Arial Black" pitchFamily="34" charset="-120"/>
              </a:rPr>
              <a:t>El laboratorio tiene cuarenta equipos. ¿Desplegamos cuarenta contratos?</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marL="0" indent="0" algn="ctr">
              <a:lnSpc>
                <a:spcPct val="124000"/>
              </a:lnSpc>
              <a:buNone/>
            </a:pPr>
            <a:r>
              <a:rPr lang="en-US" sz="1400" dirty="0">
                <a:solidFill>
                  <a:srgbClr val="6F6B80"/>
                </a:solidFill>
                <a:latin typeface="Arial" pitchFamily="34" charset="0"/>
                <a:ea typeface="Arial" pitchFamily="34" charset="-122"/>
                <a:cs typeface="Arial" pitchFamily="34" charset="-120"/>
              </a:rPr>
              <a:t>Piensen en qué significaría eso el día que haya que cambiar una regla.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2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UN CONTRATO, MUCHOS EQUIPOS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blurRad="101600" dist="63500" dir="2700000" algn="bl" rotWithShape="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marL="0" indent="0">
              <a:lnSpc>
                <a:spcPct val="106000"/>
              </a:lnSpc>
              <a:buNone/>
            </a:pPr>
            <a:r>
              <a:rPr lang="en-US" sz="1800" dirty="0">
                <a:solidFill>
                  <a:srgbClr val="0F0F11"/>
                </a:solidFill>
                <a:latin typeface="Arial Black" pitchFamily="34" charset="0"/>
                <a:ea typeface="Arial Black" pitchFamily="34" charset="-122"/>
                <a:cs typeface="Arial Black" pitchFamily="34" charset="-120"/>
              </a:rPr>
              <a:t>No. Hace falta una tabla adentro del contrato: un identificador por equipo, y los datos de cada uno agrupados.</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STRUCT</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Un tipo propio que agrupa datos que van juntos: el nombre del equipo, quién lo tiene, si existe.</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MAPPING</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Una tabla: dele un identificador y le devuelve el equipo. Con tres rarezas que vamos a ver de frente.</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blurRad="101600" dist="63500" dir="2700000" algn="bl" rotWithShape="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Y apenas haya inventario, aparece la pregunta de quién tiene derecho a agregarle cosas.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marL="0" indent="0" algn="ctr">
              <a:buNone/>
            </a:pPr>
            <a:r>
              <a:rPr lang="en-US" sz="11800" dirty="0">
                <a:solidFill>
                  <a:srgbClr val="0F0F11"/>
                </a:solidFill>
                <a:latin typeface="Arial Black" pitchFamily="34" charset="0"/>
                <a:ea typeface="Arial Black" pitchFamily="34" charset="-122"/>
                <a:cs typeface="Arial Black" pitchFamily="34" charset="-120"/>
              </a:rPr>
              <a:t>3</a:t>
            </a:r>
            <a:endParaRPr lang="en-US" sz="11800" dirty="0"/>
          </a:p>
        </p:txBody>
      </p:sp>
      <p:pic>
        <p:nvPicPr>
          <p:cNvPr id="4" name="Image 0" descr="preencoded.png"/>
          <p:cNvPicPr>
            <a:picLocks noChangeAspect="1"/>
          </p:cNvPicPr>
          <p:nvPr/>
        </p:nvPicPr>
        <p:blipFill>
          <a:blip r:embed="rId3"/>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marL="0" indent="0">
              <a:buNone/>
            </a:pPr>
            <a:r>
              <a:rPr lang="en-US" sz="1100" kern="0" spc="180" dirty="0">
                <a:solidFill>
                  <a:srgbClr val="F07F06"/>
                </a:solidFill>
                <a:latin typeface="Courier New" pitchFamily="34" charset="0"/>
                <a:ea typeface="Courier New" pitchFamily="34" charset="-122"/>
                <a:cs typeface="Courier New" pitchFamily="34" charset="-120"/>
              </a:rPr>
              <a:t>struct · mapping · calldata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marL="0" indent="0">
              <a:lnSpc>
                <a:spcPct val="98000"/>
              </a:lnSpc>
              <a:buNone/>
            </a:pPr>
            <a:r>
              <a:rPr lang="en-US" sz="3400" dirty="0">
                <a:solidFill>
                  <a:srgbClr val="FFFFFF"/>
                </a:solidFill>
                <a:latin typeface="Arial Black" pitchFamily="34" charset="0"/>
                <a:ea typeface="Arial Black" pitchFamily="34" charset="-122"/>
                <a:cs typeface="Arial Black" pitchFamily="34" charset="-120"/>
              </a:rPr>
              <a:t>MUCHOS EQUIPOS, UN CONTRATO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marL="0" indent="0">
              <a:lnSpc>
                <a:spcPct val="125000"/>
              </a:lnSpc>
              <a:buNone/>
            </a:pPr>
            <a:r>
              <a:rPr lang="en-US" sz="1400" dirty="0">
                <a:solidFill>
                  <a:srgbClr val="B9B4C4"/>
                </a:solidFill>
                <a:latin typeface="Arial" pitchFamily="34" charset="0"/>
                <a:ea typeface="Arial" pitchFamily="34" charset="-122"/>
                <a:cs typeface="Arial" pitchFamily="34" charset="-120"/>
              </a:rPr>
              <a:t>struct para agrupar, mapping para guardar. Y una rareza del mapping que engaña a todo el mundo la primera vez.</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F07F06"/>
                </a:solidFill>
                <a:latin typeface="Courier New" pitchFamily="34" charset="0"/>
                <a:ea typeface="Courier New" pitchFamily="34" charset="-122"/>
                <a:cs typeface="Courier New"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3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UNA TABLA DE EQUIPOS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691640"/>
            <a:ext cx="11057839" cy="36576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401568"/>
          </a:xfrm>
          <a:prstGeom prst="rect">
            <a:avLst/>
          </a:prstGeom>
          <a:noFill/>
          <a:ln/>
        </p:spPr>
        <p:txBody>
          <a:bodyPr wrap="square" lIns="0" tIns="0" rIns="0" bIns="0" rtlCol="0" anchor="t"/>
          <a:lstStyle/>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struct</a:t>
            </a:r>
            <a:r>
              <a:rPr lang="en-US" sz="1150" dirty="0">
                <a:solidFill>
                  <a:srgbClr val="F4F2F7"/>
                </a:solidFill>
                <a:latin typeface="Courier New" pitchFamily="34" charset="0"/>
                <a:ea typeface="Courier New" pitchFamily="34" charset="-122"/>
                <a:cs typeface="Courier New" pitchFamily="34" charset="-120"/>
              </a:rPr>
              <a:t> Equipo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string</a:t>
            </a:r>
            <a:r>
              <a:rPr lang="en-US" sz="1150" dirty="0">
                <a:solidFill>
                  <a:srgbClr val="F4F2F7"/>
                </a:solidFill>
                <a:latin typeface="Courier New" pitchFamily="34" charset="0"/>
                <a:ea typeface="Courier New" pitchFamily="34" charset="-122"/>
                <a:cs typeface="Courier New" pitchFamily="34" charset="-120"/>
              </a:rPr>
              <a:t>  nombre;</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address</a:t>
            </a:r>
            <a:r>
              <a:rPr lang="en-US" sz="1150" dirty="0">
                <a:solidFill>
                  <a:srgbClr val="F4F2F7"/>
                </a:solidFill>
                <a:latin typeface="Courier New" pitchFamily="34" charset="0"/>
                <a:ea typeface="Courier New" pitchFamily="34" charset="-122"/>
                <a:cs typeface="Courier New" pitchFamily="34" charset="-120"/>
              </a:rPr>
              <a:t> prestadoA;</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bool</a:t>
            </a:r>
            <a:r>
              <a:rPr lang="en-US" sz="1150" dirty="0">
                <a:solidFill>
                  <a:srgbClr val="F4F2F7"/>
                </a:solidFill>
                <a:latin typeface="Courier New" pitchFamily="34" charset="0"/>
                <a:ea typeface="Courier New" pitchFamily="34" charset="-122"/>
                <a:cs typeface="Courier New" pitchFamily="34" charset="-120"/>
              </a:rPr>
              <a:t>    existe;        </a:t>
            </a:r>
            <a:r>
              <a:rPr lang="en-US" sz="1150" dirty="0">
                <a:solidFill>
                  <a:srgbClr val="8B8697"/>
                </a:solidFill>
                <a:latin typeface="Courier New" pitchFamily="34" charset="0"/>
                <a:ea typeface="Courier New" pitchFamily="34" charset="-122"/>
                <a:cs typeface="Courier New" pitchFamily="34" charset="-120"/>
              </a:rPr>
              <a:t>// ¿por qué hace falta esto?</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mapping</a:t>
            </a:r>
            <a:r>
              <a:rPr lang="en-US" sz="1150" dirty="0">
                <a:solidFill>
                  <a:srgbClr val="F4F2F7"/>
                </a:solidFill>
                <a:latin typeface="Courier New" pitchFamily="34" charset="0"/>
                <a:ea typeface="Courier New" pitchFamily="34" charset="-122"/>
                <a:cs typeface="Courier New" pitchFamily="34" charset="-120"/>
              </a:rPr>
              <a:t>(</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=&gt; Equipo)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equipos;</a:t>
            </a:r>
            <a:endParaRPr lang="en-US" sz="1150" dirty="0"/>
          </a:p>
          <a:p>
            <a:pPr marL="0" indent="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totalEquipos;</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registrar(</a:t>
            </a:r>
            <a:r>
              <a:rPr lang="en-US" sz="1150" dirty="0">
                <a:solidFill>
                  <a:srgbClr val="A897FF"/>
                </a:solidFill>
                <a:latin typeface="Courier New" pitchFamily="34" charset="0"/>
                <a:ea typeface="Courier New" pitchFamily="34" charset="-122"/>
                <a:cs typeface="Courier New" pitchFamily="34" charset="-120"/>
              </a:rPr>
              <a:t>string</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calldata</a:t>
            </a:r>
            <a:r>
              <a:rPr lang="en-US" sz="1150" dirty="0">
                <a:solidFill>
                  <a:srgbClr val="F4F2F7"/>
                </a:solidFill>
                <a:latin typeface="Courier New" pitchFamily="34" charset="0"/>
                <a:ea typeface="Courier New" pitchFamily="34" charset="-122"/>
                <a:cs typeface="Courier New" pitchFamily="34" charset="-120"/>
              </a:rPr>
              <a:t> nombre)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returns</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if</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bytes</a:t>
            </a:r>
            <a:r>
              <a:rPr lang="en-US" sz="1150" dirty="0">
                <a:solidFill>
                  <a:srgbClr val="F4F2F7"/>
                </a:solidFill>
                <a:latin typeface="Courier New" pitchFamily="34" charset="0"/>
                <a:ea typeface="Courier New" pitchFamily="34" charset="-122"/>
                <a:cs typeface="Courier New" pitchFamily="34" charset="-120"/>
              </a:rPr>
              <a:t>(nombre).length == </a:t>
            </a:r>
            <a:r>
              <a:rPr lang="en-US" sz="1150" dirty="0">
                <a:solidFill>
                  <a:srgbClr val="FFA41B"/>
                </a:solidFill>
                <a:latin typeface="Courier New" pitchFamily="34" charset="0"/>
                <a:ea typeface="Courier New" pitchFamily="34" charset="-122"/>
                <a:cs typeface="Courier New" pitchFamily="34" charset="-120"/>
              </a:rPr>
              <a:t>0</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revert</a:t>
            </a:r>
            <a:r>
              <a:rPr lang="en-US" sz="1150" dirty="0">
                <a:solidFill>
                  <a:srgbClr val="F4F2F7"/>
                </a:solidFill>
                <a:latin typeface="Courier New" pitchFamily="34" charset="0"/>
                <a:ea typeface="Courier New" pitchFamily="34" charset="-122"/>
                <a:cs typeface="Courier New" pitchFamily="34" charset="-120"/>
              </a:rPr>
              <a:t> NombreVacio();</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totalEquipos++;        </a:t>
            </a:r>
            <a:r>
              <a:rPr lang="en-US" sz="1150" dirty="0">
                <a:solidFill>
                  <a:srgbClr val="8B8697"/>
                </a:solidFill>
                <a:latin typeface="Courier New" pitchFamily="34" charset="0"/>
                <a:ea typeface="Courier New" pitchFamily="34" charset="-122"/>
                <a:cs typeface="Courier New" pitchFamily="34" charset="-120"/>
              </a:rPr>
              <a:t>// el primer equipo es el 1, no el 0</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id = totalEquipos;</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equipos[id] = Equipo({nombre: nombre, prestadoA: </a:t>
            </a:r>
            <a:r>
              <a:rPr lang="en-US" sz="1150" dirty="0">
                <a:solidFill>
                  <a:srgbClr val="A897FF"/>
                </a:solidFill>
                <a:latin typeface="Courier New" pitchFamily="34" charset="0"/>
                <a:ea typeface="Courier New" pitchFamily="34" charset="-122"/>
                <a:cs typeface="Courier New" pitchFamily="34" charset="-120"/>
              </a:rPr>
              <a:t>address</a:t>
            </a:r>
            <a:r>
              <a:rPr lang="en-US" sz="1150" dirty="0">
                <a:solidFill>
                  <a:srgbClr val="F4F2F7"/>
                </a:solidFill>
                <a:latin typeface="Courier New" pitchFamily="34" charset="0"/>
                <a:ea typeface="Courier New" pitchFamily="34" charset="-122"/>
                <a:cs typeface="Courier New" pitchFamily="34" charset="-120"/>
              </a:rPr>
              <a:t>(</a:t>
            </a:r>
            <a:r>
              <a:rPr lang="en-US" sz="1150" dirty="0">
                <a:solidFill>
                  <a:srgbClr val="FFA41B"/>
                </a:solidFill>
                <a:latin typeface="Courier New" pitchFamily="34" charset="0"/>
                <a:ea typeface="Courier New" pitchFamily="34" charset="-122"/>
                <a:cs typeface="Courier New" pitchFamily="34" charset="-120"/>
              </a:rPr>
              <a:t>0</a:t>
            </a:r>
            <a:r>
              <a:rPr lang="en-US" sz="1150" dirty="0">
                <a:solidFill>
                  <a:srgbClr val="F4F2F7"/>
                </a:solidFill>
                <a:latin typeface="Courier New" pitchFamily="34" charset="0"/>
                <a:ea typeface="Courier New" pitchFamily="34" charset="-122"/>
                <a:cs typeface="Courier New" pitchFamily="34" charset="-120"/>
              </a:rPr>
              <a:t>), existe: true});</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513832"/>
            <a:ext cx="11057839" cy="68580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calldata: el texto se lee directo de la transacción, sin copiarlo. Es lo más barato para un parámetro que no se modifica.</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3 · LA RAREZA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TRES COSAS DEL MAPPING QUE SORPRENDEN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920240"/>
            <a:ext cx="11057839" cy="868680"/>
          </a:xfrm>
          <a:prstGeom prst="rect">
            <a:avLst/>
          </a:prstGeom>
          <a:solidFill>
            <a:srgbClr val="FFFFFF"/>
          </a:solidFill>
          <a:ln w="15875">
            <a:solidFill>
              <a:srgbClr val="D9D6E0"/>
            </a:solidFill>
            <a:prstDash val="solid"/>
          </a:ln>
        </p:spPr>
      </p:sp>
      <p:sp>
        <p:nvSpPr>
          <p:cNvPr id="9" name="Text 6"/>
          <p:cNvSpPr/>
          <p:nvPr/>
        </p:nvSpPr>
        <p:spPr>
          <a:xfrm>
            <a:off x="694944" y="1920240"/>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208276"/>
            <a:ext cx="24688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NO SE RECORRE</a:t>
            </a:r>
            <a:endParaRPr lang="en-US" sz="1000" dirty="0"/>
          </a:p>
        </p:txBody>
      </p:sp>
      <p:sp>
        <p:nvSpPr>
          <p:cNvPr id="11" name="Text 8"/>
          <p:cNvSpPr/>
          <p:nvPr/>
        </p:nvSpPr>
        <p:spPr>
          <a:xfrm>
            <a:off x="4023360" y="2011680"/>
            <a:ext cx="7491679" cy="722376"/>
          </a:xfrm>
          <a:prstGeom prst="rect">
            <a:avLst/>
          </a:prstGeom>
          <a:noFill/>
          <a:ln/>
        </p:spPr>
        <p:txBody>
          <a:bodyPr wrap="square" lIns="0" tIns="0" rIns="0" bIns="0" rtlCol="0" anchor="ctr"/>
          <a:lstStyle/>
          <a:p>
            <a:pPr marL="0" indent="0">
              <a:lnSpc>
                <a:spcPct val="115000"/>
              </a:lnSpc>
              <a:buNone/>
            </a:pPr>
            <a:r>
              <a:rPr lang="en-US" sz="1300" dirty="0">
                <a:solidFill>
                  <a:srgbClr val="3A3844"/>
                </a:solidFill>
                <a:latin typeface="Arial" pitchFamily="34" charset="0"/>
                <a:ea typeface="Arial" pitchFamily="34" charset="-122"/>
                <a:cs typeface="Arial" pitchFamily="34" charset="-120"/>
              </a:rPr>
              <a:t>No existe «dame todos los equipos». Por eso llevamos totalEquipos a mano. Si hace falta la lista, se paga por mantenerla.</a:t>
            </a:r>
            <a:endParaRPr lang="en-US" sz="1300" dirty="0"/>
          </a:p>
        </p:txBody>
      </p:sp>
      <p:sp>
        <p:nvSpPr>
          <p:cNvPr id="12" name="Shape 9"/>
          <p:cNvSpPr/>
          <p:nvPr/>
        </p:nvSpPr>
        <p:spPr>
          <a:xfrm>
            <a:off x="566928" y="2916936"/>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916936"/>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204972"/>
            <a:ext cx="24688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TODA CLAVE EXISTE</a:t>
            </a:r>
            <a:endParaRPr lang="en-US" sz="1000" dirty="0"/>
          </a:p>
        </p:txBody>
      </p:sp>
      <p:sp>
        <p:nvSpPr>
          <p:cNvPr id="15" name="Text 12"/>
          <p:cNvSpPr/>
          <p:nvPr/>
        </p:nvSpPr>
        <p:spPr>
          <a:xfrm>
            <a:off x="4023360" y="3008376"/>
            <a:ext cx="7491679" cy="722376"/>
          </a:xfrm>
          <a:prstGeom prst="rect">
            <a:avLst/>
          </a:prstGeom>
          <a:noFill/>
          <a:ln/>
        </p:spPr>
        <p:txBody>
          <a:bodyPr wrap="square" lIns="0" tIns="0" rIns="0" bIns="0" rtlCol="0" anchor="ctr"/>
          <a:lstStyle/>
          <a:p>
            <a:pPr marL="0" indent="0">
              <a:lnSpc>
                <a:spcPct val="115000"/>
              </a:lnSpc>
              <a:buNone/>
            </a:pPr>
            <a:r>
              <a:rPr lang="en-US" sz="1300" dirty="0">
                <a:solidFill>
                  <a:srgbClr val="3A3844"/>
                </a:solidFill>
                <a:latin typeface="Arial" pitchFamily="34" charset="0"/>
                <a:ea typeface="Arial" pitchFamily="34" charset="-122"/>
                <a:cs typeface="Arial" pitchFamily="34" charset="-120"/>
              </a:rPr>
              <a:t>Preguntar por el equipo 99, que nadie registró, no da error: devuelve una estructura con todo en cero.</a:t>
            </a:r>
            <a:endParaRPr lang="en-US" sz="1300" dirty="0"/>
          </a:p>
        </p:txBody>
      </p:sp>
      <p:sp>
        <p:nvSpPr>
          <p:cNvPr id="16" name="Shape 13"/>
          <p:cNvSpPr/>
          <p:nvPr/>
        </p:nvSpPr>
        <p:spPr>
          <a:xfrm>
            <a:off x="566928" y="3913632"/>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913632"/>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4201668"/>
            <a:ext cx="24688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LAS CLAVES SE NOMBRAN</a:t>
            </a:r>
            <a:endParaRPr lang="en-US" sz="1000" dirty="0"/>
          </a:p>
        </p:txBody>
      </p:sp>
      <p:sp>
        <p:nvSpPr>
          <p:cNvPr id="19" name="Text 16"/>
          <p:cNvSpPr/>
          <p:nvPr/>
        </p:nvSpPr>
        <p:spPr>
          <a:xfrm>
            <a:off x="4023360" y="4005072"/>
            <a:ext cx="7491679" cy="722376"/>
          </a:xfrm>
          <a:prstGeom prst="rect">
            <a:avLst/>
          </a:prstGeom>
          <a:noFill/>
          <a:ln/>
        </p:spPr>
        <p:txBody>
          <a:bodyPr wrap="square" lIns="0" tIns="0" rIns="0" bIns="0" rtlCol="0" anchor="ctr"/>
          <a:lstStyle/>
          <a:p>
            <a:pPr marL="0" indent="0">
              <a:lnSpc>
                <a:spcPct val="115000"/>
              </a:lnSpc>
              <a:buNone/>
            </a:pPr>
            <a:r>
              <a:rPr lang="en-US" sz="1300" dirty="0">
                <a:solidFill>
                  <a:srgbClr val="3A3844"/>
                </a:solidFill>
                <a:latin typeface="Arial" pitchFamily="34" charset="0"/>
                <a:ea typeface="Arial" pitchFamily="34" charset="-122"/>
                <a:cs typeface="Arial" pitchFamily="34" charset="-120"/>
              </a:rPr>
              <a:t>mapping(uint256 id =&gt; Equipo) se lee mejor que mapping(uint256 =&gt; Equipo). Es solo documentación, y vale la pena.</a:t>
            </a:r>
            <a:endParaRPr lang="en-US" sz="1300" dirty="0"/>
          </a:p>
        </p:txBody>
      </p:sp>
      <p:sp>
        <p:nvSpPr>
          <p:cNvPr id="20" name="Text 17"/>
          <p:cNvSpPr/>
          <p:nvPr/>
        </p:nvSpPr>
        <p:spPr>
          <a:xfrm>
            <a:off x="566928" y="5120640"/>
            <a:ext cx="11057839" cy="548640"/>
          </a:xfrm>
          <a:prstGeom prst="rect">
            <a:avLst/>
          </a:prstGeom>
          <a:noFill/>
          <a:ln/>
        </p:spPr>
        <p:txBody>
          <a:bodyPr wrap="square" lIns="0" tIns="0" rIns="0" bIns="0" rtlCol="0" anchor="t"/>
          <a:lstStyle/>
          <a:p>
            <a:pPr marL="0" indent="0">
              <a:lnSpc>
                <a:spcPct val="124000"/>
              </a:lnSpc>
              <a:buNone/>
            </a:pPr>
            <a:r>
              <a:rPr lang="en-US" sz="1400" dirty="0">
                <a:solidFill>
                  <a:srgbClr val="A35604"/>
                </a:solidFill>
                <a:latin typeface="Arial" pitchFamily="34" charset="0"/>
                <a:ea typeface="Arial" pitchFamily="34" charset="-122"/>
                <a:cs typeface="Arial" pitchFamily="34" charset="-120"/>
              </a:rPr>
              <a:t>La segunda es la peligrosa, y es la que vamos a provocar ahora mismo en pantalla.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3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DOS EQUIPOS Y UNA CONSULTA TRAMPOSA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83080"/>
            <a:ext cx="11057839" cy="868680"/>
          </a:xfrm>
          <a:prstGeom prst="rect">
            <a:avLst/>
          </a:prstGeom>
          <a:solidFill>
            <a:srgbClr val="FFFFFF"/>
          </a:solidFill>
          <a:ln w="15875">
            <a:solidFill>
              <a:srgbClr val="D9D6E0"/>
            </a:solidFill>
            <a:prstDash val="solid"/>
          </a:ln>
        </p:spPr>
      </p:sp>
      <p:sp>
        <p:nvSpPr>
          <p:cNvPr id="9" name="Text 6"/>
          <p:cNvSpPr/>
          <p:nvPr/>
        </p:nvSpPr>
        <p:spPr>
          <a:xfrm>
            <a:off x="694944" y="1783080"/>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7111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REGISTRAR DOS</a:t>
            </a:r>
            <a:endParaRPr lang="en-US" sz="1000" dirty="0"/>
          </a:p>
        </p:txBody>
      </p:sp>
      <p:sp>
        <p:nvSpPr>
          <p:cNvPr id="11" name="Text 8"/>
          <p:cNvSpPr/>
          <p:nvPr/>
        </p:nvSpPr>
        <p:spPr>
          <a:xfrm>
            <a:off x="3566160" y="1874520"/>
            <a:ext cx="7948879" cy="722376"/>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registrar("Proyector Epson") y registrar("Kit Arduino"). Leer totalEquipos: 2. Leer equipos(1) y equipos(2).</a:t>
            </a:r>
            <a:endParaRPr lang="en-US" sz="1250" dirty="0"/>
          </a:p>
        </p:txBody>
      </p:sp>
      <p:sp>
        <p:nvSpPr>
          <p:cNvPr id="12" name="Shape 9"/>
          <p:cNvSpPr/>
          <p:nvPr/>
        </p:nvSpPr>
        <p:spPr>
          <a:xfrm>
            <a:off x="566928" y="2743200"/>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743200"/>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3123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PRESTAR EN PARALELO</a:t>
            </a:r>
            <a:endParaRPr lang="en-US" sz="1000" dirty="0"/>
          </a:p>
        </p:txBody>
      </p:sp>
      <p:sp>
        <p:nvSpPr>
          <p:cNvPr id="15" name="Text 12"/>
          <p:cNvSpPr/>
          <p:nvPr/>
        </p:nvSpPr>
        <p:spPr>
          <a:xfrm>
            <a:off x="3566160" y="2834640"/>
            <a:ext cx="7948879" cy="722376"/>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La cuenta 1 presta el equipo 1; la cuenta 2 presta el equipo 2. Conviven sin estorbarse.</a:t>
            </a:r>
            <a:endParaRPr lang="en-US" sz="1250" dirty="0"/>
          </a:p>
        </p:txBody>
      </p:sp>
      <p:sp>
        <p:nvSpPr>
          <p:cNvPr id="16" name="Shape 13"/>
          <p:cNvSpPr/>
          <p:nvPr/>
        </p:nvSpPr>
        <p:spPr>
          <a:xfrm>
            <a:off x="566928" y="3703320"/>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703320"/>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99135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PREGUNTAR POR EL 99</a:t>
            </a:r>
            <a:endParaRPr lang="en-US" sz="1000" dirty="0"/>
          </a:p>
        </p:txBody>
      </p:sp>
      <p:sp>
        <p:nvSpPr>
          <p:cNvPr id="19" name="Text 16"/>
          <p:cNvSpPr/>
          <p:nvPr/>
        </p:nvSpPr>
        <p:spPr>
          <a:xfrm>
            <a:off x="3566160" y="3794760"/>
            <a:ext cx="7948879" cy="722376"/>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estaDisponible(99). El equipo 99 no existe. Miren bien qué contesta.</a:t>
            </a:r>
            <a:endParaRPr lang="en-US" sz="1250" dirty="0"/>
          </a:p>
        </p:txBody>
      </p:sp>
      <p:sp>
        <p:nvSpPr>
          <p:cNvPr id="20" name="Text 17"/>
          <p:cNvSpPr/>
          <p:nvPr/>
        </p:nvSpPr>
        <p:spPr>
          <a:xfrm>
            <a:off x="566928" y="4800600"/>
            <a:ext cx="11057839" cy="73152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Y después: que la cuenta 3, un estudiante cualquiera, llame a registrar("Portátil que no existe"). Funciona.</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3</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marL="0" indent="0">
              <a:lnSpc>
                <a:spcPct val="106000"/>
              </a:lnSpc>
              <a:buNone/>
            </a:pPr>
            <a:r>
              <a:rPr lang="en-US" sz="2200" dirty="0">
                <a:solidFill>
                  <a:srgbClr val="0F0F11"/>
                </a:solidFill>
                <a:latin typeface="Arial Black" pitchFamily="34" charset="0"/>
                <a:ea typeface="Arial Black" pitchFamily="34" charset="-122"/>
                <a:cs typeface="Arial Black" pitchFamily="34" charset="-120"/>
              </a:rPr>
              <a:t>¿Qué debería contestar estaDisponible(99) si el equipo 99 nunca se registró?</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marL="0" indent="0" algn="ctr">
              <a:lnSpc>
                <a:spcPct val="124000"/>
              </a:lnSpc>
              <a:buNone/>
            </a:pPr>
            <a:r>
              <a:rPr lang="en-US" sz="1400" dirty="0">
                <a:solidFill>
                  <a:srgbClr val="6F6B80"/>
                </a:solidFill>
                <a:latin typeface="Arial" pitchFamily="34" charset="0"/>
                <a:ea typeface="Arial" pitchFamily="34" charset="-122"/>
                <a:cs typeface="Arial" pitchFamily="34" charset="-120"/>
              </a:rPr>
              <a:t>Lo intuitivo es «que no está disponible». Piénsenlo otra vez.</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3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DEBE REVENTAR, NO CONTESTAR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blurRad="101600" dist="63500" dir="2700000" algn="bl" rotWithShape="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marL="0" indent="0">
              <a:lnSpc>
                <a:spcPct val="106000"/>
              </a:lnSpc>
              <a:buNone/>
            </a:pPr>
            <a:r>
              <a:rPr lang="en-US" sz="1800" dirty="0">
                <a:solidFill>
                  <a:srgbClr val="0F0F11"/>
                </a:solidFill>
                <a:latin typeface="Arial Black" pitchFamily="34" charset="0"/>
                <a:ea typeface="Arial Black" pitchFamily="34" charset="-122"/>
                <a:cs typeface="Arial Black" pitchFamily="34" charset="-120"/>
              </a:rPr>
              <a:t>Sin el campo existe, el mapping devuelve todo en cero y el contrato respondería «sí, disponible» sobre un equipo que nunca existió. Una mentira cómoda es peor que un error.</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CONTESTAR FALSE</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Suena razonable y es falso: mezcla «no está disponible» con «no existe». Quien use el dato no puede distinguirlos.</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REVERTIR CON EQUIPONOREGISTRADO(99)</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Dice exactamente qué pasó, y quien llama puede reaccionar distinto a cada caso.</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blurRad="101600" dist="63500" dir="2700000" algn="bl" rotWithShape="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Pero además acabamos de ver que cualquiera puede registrar inventario. Falta decir quién manda aquí.</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marL="0" indent="0" algn="ctr">
              <a:buNone/>
            </a:pPr>
            <a:r>
              <a:rPr lang="en-US" sz="11800" dirty="0">
                <a:solidFill>
                  <a:srgbClr val="0F0F11"/>
                </a:solidFill>
                <a:latin typeface="Arial Black" pitchFamily="34" charset="0"/>
                <a:ea typeface="Arial Black" pitchFamily="34" charset="-122"/>
                <a:cs typeface="Arial Black" pitchFamily="34" charset="-120"/>
              </a:rPr>
              <a:t>4</a:t>
            </a:r>
            <a:endParaRPr lang="en-US" sz="11800" dirty="0"/>
          </a:p>
        </p:txBody>
      </p:sp>
      <p:pic>
        <p:nvPicPr>
          <p:cNvPr id="4" name="Image 0" descr="preencoded.png"/>
          <p:cNvPicPr>
            <a:picLocks noChangeAspect="1"/>
          </p:cNvPicPr>
          <p:nvPr/>
        </p:nvPicPr>
        <p:blipFill>
          <a:blip r:embed="rId3"/>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marL="0" indent="0">
              <a:buNone/>
            </a:pPr>
            <a:r>
              <a:rPr lang="en-US" sz="1100" kern="0" spc="180" dirty="0">
                <a:solidFill>
                  <a:srgbClr val="F07F06"/>
                </a:solidFill>
                <a:latin typeface="Courier New" pitchFamily="34" charset="0"/>
                <a:ea typeface="Courier New" pitchFamily="34" charset="-122"/>
                <a:cs typeface="Courier New" pitchFamily="34" charset="-120"/>
              </a:rPr>
              <a:t>constructor · modifier</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marL="0" indent="0">
              <a:lnSpc>
                <a:spcPct val="98000"/>
              </a:lnSpc>
              <a:buNone/>
            </a:pPr>
            <a:r>
              <a:rPr lang="en-US" sz="3400" dirty="0">
                <a:solidFill>
                  <a:srgbClr val="FFFFFF"/>
                </a:solidFill>
                <a:latin typeface="Arial Black" pitchFamily="34" charset="0"/>
                <a:ea typeface="Arial Black" pitchFamily="34" charset="-122"/>
                <a:cs typeface="Arial Black" pitchFamily="34" charset="-120"/>
              </a:rPr>
              <a:t>QUIÉN MANDA AQUÍ</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marL="0" indent="0">
              <a:lnSpc>
                <a:spcPct val="125000"/>
              </a:lnSpc>
              <a:buNone/>
            </a:pPr>
            <a:r>
              <a:rPr lang="en-US" sz="1400" dirty="0">
                <a:solidFill>
                  <a:srgbClr val="B9B4C4"/>
                </a:solidFill>
                <a:latin typeface="Arial" pitchFamily="34" charset="0"/>
                <a:ea typeface="Arial" pitchFamily="34" charset="-122"/>
                <a:cs typeface="Arial" pitchFamily="34" charset="-120"/>
              </a:rPr>
              <a:t>El constructor corre una sola vez. Un modificador es una condición que se escribe una vez y se reutiliza.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F07F06"/>
                </a:solidFill>
                <a:latin typeface="Courier New" pitchFamily="34" charset="0"/>
                <a:ea typeface="Courier New" pitchFamily="34" charset="-122"/>
                <a:cs typeface="Courier New"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4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UN DUEÑO, Y UNA CONDICIÓN REUTILIZABLE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691640"/>
            <a:ext cx="11057839" cy="38404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584448"/>
          </a:xfrm>
          <a:prstGeom prst="rect">
            <a:avLst/>
          </a:prstGeom>
          <a:noFill/>
          <a:ln/>
        </p:spPr>
        <p:txBody>
          <a:bodyPr wrap="square" lIns="0" tIns="0" rIns="0" bIns="0" rtlCol="0" anchor="t"/>
          <a:lstStyle/>
          <a:p>
            <a:pPr marL="0" indent="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encargado;</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constructor</a:t>
            </a: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encargado = msg.sender;      </a:t>
            </a:r>
            <a:r>
              <a:rPr lang="en-US" sz="1150" dirty="0">
                <a:solidFill>
                  <a:srgbClr val="8B8697"/>
                </a:solidFill>
                <a:latin typeface="Courier New" pitchFamily="34" charset="0"/>
                <a:ea typeface="Courier New" pitchFamily="34" charset="-122"/>
                <a:cs typeface="Courier New" pitchFamily="34" charset="-120"/>
              </a:rPr>
              <a:t>// corre UNA vez, al desplegar</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modifier</a:t>
            </a:r>
            <a:r>
              <a:rPr lang="en-US" sz="1150" dirty="0">
                <a:solidFill>
                  <a:srgbClr val="F4F2F7"/>
                </a:solidFill>
                <a:latin typeface="Courier New" pitchFamily="34" charset="0"/>
                <a:ea typeface="Courier New" pitchFamily="34" charset="-122"/>
                <a:cs typeface="Courier New" pitchFamily="34" charset="-120"/>
              </a:rPr>
              <a:t> soloEncargado()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if</a:t>
            </a:r>
            <a:r>
              <a:rPr lang="en-US" sz="1150" dirty="0">
                <a:solidFill>
                  <a:srgbClr val="F4F2F7"/>
                </a:solidFill>
                <a:latin typeface="Courier New" pitchFamily="34" charset="0"/>
                <a:ea typeface="Courier New" pitchFamily="34" charset="-122"/>
                <a:cs typeface="Courier New" pitchFamily="34" charset="-120"/>
              </a:rPr>
              <a:t> (msg.sender != encargado) </a:t>
            </a:r>
            <a:r>
              <a:rPr lang="en-US" sz="1150" dirty="0">
                <a:solidFill>
                  <a:srgbClr val="F07F06"/>
                </a:solidFill>
                <a:latin typeface="Courier New" pitchFamily="34" charset="0"/>
                <a:ea typeface="Courier New" pitchFamily="34" charset="-122"/>
                <a:cs typeface="Courier New" pitchFamily="34" charset="-120"/>
              </a:rPr>
              <a:t>revert</a:t>
            </a:r>
            <a:r>
              <a:rPr lang="en-US" sz="1150" dirty="0">
                <a:solidFill>
                  <a:srgbClr val="F4F2F7"/>
                </a:solidFill>
                <a:latin typeface="Courier New" pitchFamily="34" charset="0"/>
                <a:ea typeface="Courier New" pitchFamily="34" charset="-122"/>
                <a:cs typeface="Courier New" pitchFamily="34" charset="-120"/>
              </a:rPr>
              <a:t> SoloElEncargado(msg.sender);</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_;                           </a:t>
            </a:r>
            <a:r>
              <a:rPr lang="en-US" sz="1150" dirty="0">
                <a:solidFill>
                  <a:srgbClr val="8B8697"/>
                </a:solidFill>
                <a:latin typeface="Courier New" pitchFamily="34" charset="0"/>
                <a:ea typeface="Courier New" pitchFamily="34" charset="-122"/>
                <a:cs typeface="Courier New" pitchFamily="34" charset="-120"/>
              </a:rPr>
              <a:t>// &lt;- aquí va el cuerpo de la función</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registrar(</a:t>
            </a:r>
            <a:r>
              <a:rPr lang="en-US" sz="1150" dirty="0">
                <a:solidFill>
                  <a:srgbClr val="A897FF"/>
                </a:solidFill>
                <a:latin typeface="Courier New" pitchFamily="34" charset="0"/>
                <a:ea typeface="Courier New" pitchFamily="34" charset="-122"/>
                <a:cs typeface="Courier New" pitchFamily="34" charset="-120"/>
              </a:rPr>
              <a:t>string</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calldata</a:t>
            </a:r>
            <a:r>
              <a:rPr lang="en-US" sz="1150" dirty="0">
                <a:solidFill>
                  <a:srgbClr val="F4F2F7"/>
                </a:solidFill>
                <a:latin typeface="Courier New" pitchFamily="34" charset="0"/>
                <a:ea typeface="Courier New" pitchFamily="34" charset="-122"/>
                <a:cs typeface="Courier New" pitchFamily="34" charset="-120"/>
              </a:rPr>
              <a:t> nombre)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soloEncargado </a:t>
            </a:r>
            <a:r>
              <a:rPr lang="en-US" sz="1150" dirty="0">
                <a:solidFill>
                  <a:srgbClr val="F07F06"/>
                </a:solidFill>
                <a:latin typeface="Courier New" pitchFamily="34" charset="0"/>
                <a:ea typeface="Courier New" pitchFamily="34" charset="-122"/>
                <a:cs typeface="Courier New" pitchFamily="34" charset="-120"/>
              </a:rPr>
              <a:t>returns</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 ...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recuperar(</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soloEncargado { ... }</a:t>
            </a:r>
            <a:endParaRPr lang="en-US" sz="1150" dirty="0"/>
          </a:p>
        </p:txBody>
      </p:sp>
      <p:sp>
        <p:nvSpPr>
          <p:cNvPr id="10" name="Text 7"/>
          <p:cNvSpPr/>
          <p:nvPr/>
        </p:nvSpPr>
        <p:spPr>
          <a:xfrm>
            <a:off x="566928" y="5696712"/>
            <a:ext cx="11057839" cy="68580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recuperar() existe porque alguien se gradúa, pierde la billetera, o simplemente no devuelve. Sin esa función, un equipo quedaría prestado para siempre.</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4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QUIÉN PUEDE Y QUIÉN NO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8308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83080"/>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DESPLEGAR CON LA CUENTA 1</a:t>
            </a:r>
            <a:endParaRPr lang="en-US" sz="1000" dirty="0"/>
          </a:p>
        </p:txBody>
      </p:sp>
      <p:sp>
        <p:nvSpPr>
          <p:cNvPr id="11" name="Text 8"/>
          <p:cNvSpPr/>
          <p:nvPr/>
        </p:nvSpPr>
        <p:spPr>
          <a:xfrm>
            <a:off x="3566160" y="1874520"/>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Leer encargado: es la cuenta 1. Quedó grabado en el constructor y no vuelve a correr.</a:t>
            </a:r>
            <a:endParaRPr lang="en-US" sz="1250" dirty="0"/>
          </a:p>
        </p:txBody>
      </p:sp>
      <p:sp>
        <p:nvSpPr>
          <p:cNvPr id="12" name="Shape 9"/>
          <p:cNvSpPr/>
          <p:nvPr/>
        </p:nvSpPr>
        <p:spPr>
          <a:xfrm>
            <a:off x="566928" y="253288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532888"/>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5768"/>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CUENTA 2 · REGISTRAR</a:t>
            </a:r>
            <a:endParaRPr lang="en-US" sz="1000" dirty="0"/>
          </a:p>
        </p:txBody>
      </p:sp>
      <p:sp>
        <p:nvSpPr>
          <p:cNvPr id="15" name="Text 12"/>
          <p:cNvSpPr/>
          <p:nvPr/>
        </p:nvSpPr>
        <p:spPr>
          <a:xfrm>
            <a:off x="3566160" y="2624328"/>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REVIERTE con SoloElEncargado, y el error trae la dirección de quien lo intentó.</a:t>
            </a:r>
            <a:endParaRPr lang="en-US" sz="1250" dirty="0"/>
          </a:p>
        </p:txBody>
      </p:sp>
      <p:sp>
        <p:nvSpPr>
          <p:cNvPr id="16" name="Shape 13"/>
          <p:cNvSpPr/>
          <p:nvPr/>
        </p:nvSpPr>
        <p:spPr>
          <a:xfrm>
            <a:off x="566928" y="328269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82696"/>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CUENTA 1 · REGISTRAR</a:t>
            </a:r>
            <a:endParaRPr lang="en-US" sz="1000" dirty="0"/>
          </a:p>
        </p:txBody>
      </p:sp>
      <p:sp>
        <p:nvSpPr>
          <p:cNvPr id="19" name="Text 16"/>
          <p:cNvSpPr/>
          <p:nvPr/>
        </p:nvSpPr>
        <p:spPr>
          <a:xfrm>
            <a:off x="3566160" y="3374136"/>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Pasa. El inventario solo crece si lo hace el encargado.</a:t>
            </a:r>
            <a:endParaRPr lang="en-US" sz="1250" dirty="0"/>
          </a:p>
        </p:txBody>
      </p:sp>
      <p:sp>
        <p:nvSpPr>
          <p:cNvPr id="20" name="Shape 17"/>
          <p:cNvSpPr/>
          <p:nvPr/>
        </p:nvSpPr>
        <p:spPr>
          <a:xfrm>
            <a:off x="566928" y="403250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4032504"/>
            <a:ext cx="548640" cy="658368"/>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15384"/>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CUENTA 2 PRESTA · CUENTA 1 RECUPERA</a:t>
            </a:r>
            <a:endParaRPr lang="en-US" sz="1000" dirty="0"/>
          </a:p>
        </p:txBody>
      </p:sp>
      <p:sp>
        <p:nvSpPr>
          <p:cNvPr id="23" name="Text 20"/>
          <p:cNvSpPr/>
          <p:nvPr/>
        </p:nvSpPr>
        <p:spPr>
          <a:xfrm>
            <a:off x="3566160" y="4123944"/>
            <a:ext cx="7948879" cy="512064"/>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El encargado le quita el equipo a la cuenta 2 sin pedirle permiso.</a:t>
            </a:r>
            <a:endParaRPr lang="en-US" sz="1250" dirty="0"/>
          </a:p>
        </p:txBody>
      </p:sp>
      <p:sp>
        <p:nvSpPr>
          <p:cNvPr id="24" name="Text 21"/>
          <p:cNvSpPr/>
          <p:nvPr/>
        </p:nvSpPr>
        <p:spPr>
          <a:xfrm>
            <a:off x="566928" y="4919472"/>
            <a:ext cx="11057839" cy="73152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Ese último clic es el que importa hoy, y no es técnico.</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marL="0" indent="0">
              <a:lnSpc>
                <a:spcPct val="106000"/>
              </a:lnSpc>
              <a:buNone/>
            </a:pPr>
            <a:r>
              <a:rPr lang="en-US" sz="2200" dirty="0">
                <a:solidFill>
                  <a:srgbClr val="0F0F11"/>
                </a:solidFill>
                <a:latin typeface="Arial Black" pitchFamily="34" charset="0"/>
                <a:ea typeface="Arial Black" pitchFamily="34" charset="-122"/>
                <a:cs typeface="Arial Black" pitchFamily="34" charset="-120"/>
              </a:rPr>
              <a:t>Acabamos de darle a una sola dirección el poder de quitarle el equipo a cualquiera. ¿Está mal? ¿Y qué pasa el día que se pierda esa llave?</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4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TENER DUEÑO NO ES EL PROBLEMA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blurRad="101600" dist="63500" dir="2700000" algn="bl" rotWithShape="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marL="0" indent="0">
              <a:lnSpc>
                <a:spcPct val="106000"/>
              </a:lnSpc>
              <a:buNone/>
            </a:pPr>
            <a:r>
              <a:rPr lang="en-US" sz="1800" dirty="0">
                <a:solidFill>
                  <a:srgbClr val="0F0F11"/>
                </a:solidFill>
                <a:latin typeface="Arial Black" pitchFamily="34" charset="0"/>
                <a:ea typeface="Arial Black" pitchFamily="34" charset="-122"/>
                <a:cs typeface="Arial Black" pitchFamily="34" charset="-120"/>
              </a:rPr>
              <a:t>Todo contrato responde a la pregunta «¿quién manda aquí?». Lo grave no es tener un dueño: es no darse cuenta de que lo hay, o descubrirlo cuando ya es tarde.</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LO QUE GANAMOS</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Nadie inventa inventario, y hay quien responda cuando un equipo no vuelve. Un laboratorio sin administrador no funciona.</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LO QUE CUESTA</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Si esa llave se pierde, nadie registra nunca más. Si se la roban, el inventario es del ladrón. Y está escrito a la vista, que ya es más de lo que ofrecen muchas plataformas.</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blurRad="101600" dist="63500" dir="2700000" algn="bl" rotWithShape="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Falta algo obvio: nadie dijo hasta cuándo. Un préstamo sin fecha no es un préstamo.</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marL="0" indent="0" algn="ctr">
              <a:buNone/>
            </a:pPr>
            <a:r>
              <a:rPr lang="en-US" sz="11800" dirty="0">
                <a:solidFill>
                  <a:srgbClr val="0F0F11"/>
                </a:solidFill>
                <a:latin typeface="Arial Black" pitchFamily="34" charset="0"/>
                <a:ea typeface="Arial Black" pitchFamily="34" charset="-122"/>
                <a:cs typeface="Arial Black" pitchFamily="34" charset="-120"/>
              </a:rPr>
              <a:t>5</a:t>
            </a:r>
            <a:endParaRPr lang="en-US" sz="11800" dirty="0"/>
          </a:p>
        </p:txBody>
      </p:sp>
      <p:pic>
        <p:nvPicPr>
          <p:cNvPr id="4" name="Image 0" descr="preencoded.png"/>
          <p:cNvPicPr>
            <a:picLocks noChangeAspect="1"/>
          </p:cNvPicPr>
          <p:nvPr/>
        </p:nvPicPr>
        <p:blipFill>
          <a:blip r:embed="rId3"/>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marL="0" indent="0">
              <a:buNone/>
            </a:pPr>
            <a:r>
              <a:rPr lang="en-US" sz="1100" kern="0" spc="180" dirty="0">
                <a:solidFill>
                  <a:srgbClr val="F07F06"/>
                </a:solidFill>
                <a:latin typeface="Courier New" pitchFamily="34" charset="0"/>
                <a:ea typeface="Courier New" pitchFamily="34" charset="-122"/>
                <a:cs typeface="Courier New" pitchFamily="34" charset="-120"/>
              </a:rPr>
              <a:t>block.timestamp · división entera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marL="0" indent="0">
              <a:lnSpc>
                <a:spcPct val="98000"/>
              </a:lnSpc>
              <a:buNone/>
            </a:pPr>
            <a:r>
              <a:rPr lang="en-US" sz="3400" dirty="0">
                <a:solidFill>
                  <a:srgbClr val="FFFFFF"/>
                </a:solidFill>
                <a:latin typeface="Arial Black" pitchFamily="34" charset="0"/>
                <a:ea typeface="Arial Black" pitchFamily="34" charset="-122"/>
                <a:cs typeface="Arial Black" pitchFamily="34" charset="-120"/>
              </a:rPr>
              <a:t>HASTA CUÁNDO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marL="0" indent="0">
              <a:lnSpc>
                <a:spcPct val="125000"/>
              </a:lnSpc>
              <a:buNone/>
            </a:pPr>
            <a:r>
              <a:rPr lang="en-US" sz="1400" dirty="0">
                <a:solidFill>
                  <a:srgbClr val="B9B4C4"/>
                </a:solidFill>
                <a:latin typeface="Arial" pitchFamily="34" charset="0"/>
                <a:ea typeface="Arial" pitchFamily="34" charset="-122"/>
                <a:cs typeface="Arial" pitchFamily="34" charset="-120"/>
              </a:rPr>
              <a:t>El reloj del bloque, el plazo, la mora. Y dos cosas de Solidity que descolocan a todo el mundo.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F07F06"/>
                </a:solidFill>
                <a:latin typeface="Courier New" pitchFamily="34" charset="0"/>
                <a:ea typeface="Courier New" pitchFamily="34" charset="-122"/>
                <a:cs typeface="Courier New"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5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UN PLAZO, Y LA CUENTA DE LA MORA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Shape 5"/>
          <p:cNvSpPr/>
          <p:nvPr/>
        </p:nvSpPr>
        <p:spPr>
          <a:xfrm>
            <a:off x="566928" y="1691640"/>
            <a:ext cx="11057839" cy="393192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675888"/>
          </a:xfrm>
          <a:prstGeom prst="rect">
            <a:avLst/>
          </a:prstGeom>
          <a:noFill/>
          <a:ln/>
        </p:spPr>
        <p:txBody>
          <a:bodyPr wrap="square" lIns="0" tIns="0" rIns="0" bIns="0" rtlCol="0" anchor="t"/>
          <a:lstStyle/>
          <a:p>
            <a:pPr marL="0" indent="0">
              <a:lnSpc>
                <a:spcPct val="112000"/>
              </a:lnSpc>
              <a:buNone/>
            </a:pPr>
            <a:r>
              <a:rPr lang="en-US" sz="1150" dirty="0">
                <a:solidFill>
                  <a:srgbClr val="A897FF"/>
                </a:solidFill>
                <a:latin typeface="Courier New" pitchFamily="34" charset="0"/>
                <a:ea typeface="Courier New" pitchFamily="34" charset="-122"/>
                <a:cs typeface="Courier New" pitchFamily="34" charset="-120"/>
              </a:rPr>
              <a:t>uint64</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constant</a:t>
            </a:r>
            <a:r>
              <a:rPr lang="en-US" sz="1150" dirty="0">
                <a:solidFill>
                  <a:srgbClr val="F4F2F7"/>
                </a:solidFill>
                <a:latin typeface="Courier New" pitchFamily="34" charset="0"/>
                <a:ea typeface="Courier New" pitchFamily="34" charset="-122"/>
                <a:cs typeface="Courier New" pitchFamily="34" charset="-120"/>
              </a:rPr>
              <a:t> PLAZO_MAXIMO = </a:t>
            </a:r>
            <a:r>
              <a:rPr lang="en-US" sz="1150" dirty="0">
                <a:solidFill>
                  <a:srgbClr val="FFA41B"/>
                </a:solidFill>
                <a:latin typeface="Courier New" pitchFamily="34" charset="0"/>
                <a:ea typeface="Courier New" pitchFamily="34" charset="-122"/>
                <a:cs typeface="Courier New" pitchFamily="34" charset="-120"/>
              </a:rPr>
              <a:t>14</a:t>
            </a:r>
            <a:r>
              <a:rPr lang="en-US" sz="1150" dirty="0">
                <a:solidFill>
                  <a:srgbClr val="F4F2F7"/>
                </a:solidFill>
                <a:latin typeface="Courier New" pitchFamily="34" charset="0"/>
                <a:ea typeface="Courier New" pitchFamily="34" charset="-122"/>
                <a:cs typeface="Courier New" pitchFamily="34" charset="-120"/>
              </a:rPr>
              <a:t> days;</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prestar(</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a:t>
            </a:r>
            <a:r>
              <a:rPr lang="en-US" sz="1150" dirty="0">
                <a:solidFill>
                  <a:srgbClr val="A897FF"/>
                </a:solidFill>
                <a:latin typeface="Courier New" pitchFamily="34" charset="0"/>
                <a:ea typeface="Courier New" pitchFamily="34" charset="-122"/>
                <a:cs typeface="Courier New" pitchFamily="34" charset="-120"/>
              </a:rPr>
              <a:t>uint64</a:t>
            </a:r>
            <a:r>
              <a:rPr lang="en-US" sz="1150" dirty="0">
                <a:solidFill>
                  <a:srgbClr val="F4F2F7"/>
                </a:solidFill>
                <a:latin typeface="Courier New" pitchFamily="34" charset="0"/>
                <a:ea typeface="Courier New" pitchFamily="34" charset="-122"/>
                <a:cs typeface="Courier New" pitchFamily="34" charset="-120"/>
              </a:rPr>
              <a:t> dias)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equipos[id].vence = </a:t>
            </a:r>
            <a:r>
              <a:rPr lang="en-US" sz="1150" dirty="0">
                <a:solidFill>
                  <a:srgbClr val="A897FF"/>
                </a:solidFill>
                <a:latin typeface="Courier New" pitchFamily="34" charset="0"/>
                <a:ea typeface="Courier New" pitchFamily="34" charset="-122"/>
                <a:cs typeface="Courier New" pitchFamily="34" charset="-120"/>
              </a:rPr>
              <a:t>uint64</a:t>
            </a:r>
            <a:r>
              <a:rPr lang="en-US" sz="1150" dirty="0">
                <a:solidFill>
                  <a:srgbClr val="F4F2F7"/>
                </a:solidFill>
                <a:latin typeface="Courier New" pitchFamily="34" charset="0"/>
                <a:ea typeface="Courier New" pitchFamily="34" charset="-122"/>
                <a:cs typeface="Courier New" pitchFamily="34" charset="-120"/>
              </a:rPr>
              <a:t>(block.timestamp) + dias * </a:t>
            </a:r>
            <a:r>
              <a:rPr lang="en-US" sz="1150" dirty="0">
                <a:solidFill>
                  <a:srgbClr val="FFA41B"/>
                </a:solidFill>
                <a:latin typeface="Courier New" pitchFamily="34" charset="0"/>
                <a:ea typeface="Courier New" pitchFamily="34" charset="-122"/>
                <a:cs typeface="Courier New" pitchFamily="34" charset="-120"/>
              </a:rPr>
              <a:t>1</a:t>
            </a:r>
            <a:r>
              <a:rPr lang="en-US" sz="1150" dirty="0">
                <a:solidFill>
                  <a:srgbClr val="F4F2F7"/>
                </a:solidFill>
                <a:latin typeface="Courier New" pitchFamily="34" charset="0"/>
                <a:ea typeface="Courier New" pitchFamily="34" charset="-122"/>
                <a:cs typeface="Courier New" pitchFamily="34" charset="-120"/>
              </a:rPr>
              <a:t> days;</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estaVencido(</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view</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returns</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bool</a:t>
            </a: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Equipo </a:t>
            </a:r>
            <a:r>
              <a:rPr lang="en-US" sz="1150" dirty="0">
                <a:solidFill>
                  <a:srgbClr val="F07F06"/>
                </a:solidFill>
                <a:latin typeface="Courier New" pitchFamily="34" charset="0"/>
                <a:ea typeface="Courier New" pitchFamily="34" charset="-122"/>
                <a:cs typeface="Courier New" pitchFamily="34" charset="-120"/>
              </a:rPr>
              <a:t>memory</a:t>
            </a:r>
            <a:r>
              <a:rPr lang="en-US" sz="1150" dirty="0">
                <a:solidFill>
                  <a:srgbClr val="F4F2F7"/>
                </a:solidFill>
                <a:latin typeface="Courier New" pitchFamily="34" charset="0"/>
                <a:ea typeface="Courier New" pitchFamily="34" charset="-122"/>
                <a:cs typeface="Courier New" pitchFamily="34" charset="-120"/>
              </a:rPr>
              <a:t> e = equipos[id];</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return</a:t>
            </a:r>
            <a:r>
              <a:rPr lang="en-US" sz="1150" dirty="0">
                <a:solidFill>
                  <a:srgbClr val="F4F2F7"/>
                </a:solidFill>
                <a:latin typeface="Courier New" pitchFamily="34" charset="0"/>
                <a:ea typeface="Courier New" pitchFamily="34" charset="-122"/>
                <a:cs typeface="Courier New" pitchFamily="34" charset="-120"/>
              </a:rPr>
              <a:t> e.prestadoA != </a:t>
            </a:r>
            <a:r>
              <a:rPr lang="en-US" sz="1150" dirty="0">
                <a:solidFill>
                  <a:srgbClr val="A897FF"/>
                </a:solidFill>
                <a:latin typeface="Courier New" pitchFamily="34" charset="0"/>
                <a:ea typeface="Courier New" pitchFamily="34" charset="-122"/>
                <a:cs typeface="Courier New" pitchFamily="34" charset="-120"/>
              </a:rPr>
              <a:t>address</a:t>
            </a:r>
            <a:r>
              <a:rPr lang="en-US" sz="1150" dirty="0">
                <a:solidFill>
                  <a:srgbClr val="F4F2F7"/>
                </a:solidFill>
                <a:latin typeface="Courier New" pitchFamily="34" charset="0"/>
                <a:ea typeface="Courier New" pitchFamily="34" charset="-122"/>
                <a:cs typeface="Courier New" pitchFamily="34" charset="-120"/>
              </a:rPr>
              <a:t>(</a:t>
            </a:r>
            <a:r>
              <a:rPr lang="en-US" sz="1150" dirty="0">
                <a:solidFill>
                  <a:srgbClr val="FFA41B"/>
                </a:solidFill>
                <a:latin typeface="Courier New" pitchFamily="34" charset="0"/>
                <a:ea typeface="Courier New" pitchFamily="34" charset="-122"/>
                <a:cs typeface="Courier New" pitchFamily="34" charset="-120"/>
              </a:rPr>
              <a:t>0</a:t>
            </a:r>
            <a:r>
              <a:rPr lang="en-US" sz="1150" dirty="0">
                <a:solidFill>
                  <a:srgbClr val="F4F2F7"/>
                </a:solidFill>
                <a:latin typeface="Courier New" pitchFamily="34" charset="0"/>
                <a:ea typeface="Courier New" pitchFamily="34" charset="-122"/>
                <a:cs typeface="Courier New" pitchFamily="34" charset="-120"/>
              </a:rPr>
              <a:t>) &amp;&amp; block.timestamp &gt; e.vence;</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diasDeMora(</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view</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returns</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uint64</a:t>
            </a: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if</a:t>
            </a:r>
            <a:r>
              <a:rPr lang="en-US" sz="1150" dirty="0">
                <a:solidFill>
                  <a:srgbClr val="F4F2F7"/>
                </a:solidFill>
                <a:latin typeface="Courier New" pitchFamily="34" charset="0"/>
                <a:ea typeface="Courier New" pitchFamily="34" charset="-122"/>
                <a:cs typeface="Courier New" pitchFamily="34" charset="-120"/>
              </a:rPr>
              <a:t> (!estaVencido(id)) </a:t>
            </a:r>
            <a:r>
              <a:rPr lang="en-US" sz="1150" dirty="0">
                <a:solidFill>
                  <a:srgbClr val="F07F06"/>
                </a:solidFill>
                <a:latin typeface="Courier New" pitchFamily="34" charset="0"/>
                <a:ea typeface="Courier New" pitchFamily="34" charset="-122"/>
                <a:cs typeface="Courier New" pitchFamily="34" charset="-120"/>
              </a:rPr>
              <a:t>return</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FA41B"/>
                </a:solidFill>
                <a:latin typeface="Courier New" pitchFamily="34" charset="0"/>
                <a:ea typeface="Courier New" pitchFamily="34" charset="-122"/>
                <a:cs typeface="Courier New" pitchFamily="34" charset="-120"/>
              </a:rPr>
              <a:t>0</a:t>
            </a: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return</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uint64</a:t>
            </a:r>
            <a:r>
              <a:rPr lang="en-US" sz="1150" dirty="0">
                <a:solidFill>
                  <a:srgbClr val="F4F2F7"/>
                </a:solidFill>
                <a:latin typeface="Courier New" pitchFamily="34" charset="0"/>
                <a:ea typeface="Courier New" pitchFamily="34" charset="-122"/>
                <a:cs typeface="Courier New" pitchFamily="34" charset="-120"/>
              </a:rPr>
              <a:t>(block.timestamp) - equipos[id].vence) / </a:t>
            </a:r>
            <a:r>
              <a:rPr lang="en-US" sz="1150" dirty="0">
                <a:solidFill>
                  <a:srgbClr val="FFA41B"/>
                </a:solidFill>
                <a:latin typeface="Courier New" pitchFamily="34" charset="0"/>
                <a:ea typeface="Courier New" pitchFamily="34" charset="-122"/>
                <a:cs typeface="Courier New" pitchFamily="34" charset="-120"/>
              </a:rPr>
              <a:t>1</a:t>
            </a:r>
            <a:r>
              <a:rPr lang="en-US" sz="1150" dirty="0">
                <a:solidFill>
                  <a:srgbClr val="F4F2F7"/>
                </a:solidFill>
                <a:latin typeface="Courier New" pitchFamily="34" charset="0"/>
                <a:ea typeface="Courier New" pitchFamily="34" charset="-122"/>
                <a:cs typeface="Courier New" pitchFamily="34" charset="-120"/>
              </a:rPr>
              <a:t> days;</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788152"/>
            <a:ext cx="11057839" cy="68580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14 days no es magia: Solidity lo convierte a 1 209 600 segundos. Y el tiempo en la cadena se mide en segundos desde 1970, como en casi todo el software.</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5 · DOS COSAS QUE DESCOLOCAN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800" dirty="0">
                <a:solidFill>
                  <a:srgbClr val="0F0F11"/>
                </a:solidFill>
                <a:latin typeface="Arial Black" pitchFamily="34" charset="0"/>
                <a:ea typeface="Arial Black" pitchFamily="34" charset="-122"/>
                <a:cs typeface="Arial Black" pitchFamily="34" charset="-120"/>
              </a:rPr>
              <a:t>EL RELOJ MIENTE UN POCO, Y NO HAY DECIMALES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828800"/>
            <a:ext cx="5391760" cy="214884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841248" y="201168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BLOCK.TIMESTAMP ES APROXIMADO</a:t>
            </a:r>
            <a:endParaRPr lang="en-US" sz="1050" dirty="0"/>
          </a:p>
        </p:txBody>
      </p:sp>
      <p:sp>
        <p:nvSpPr>
          <p:cNvPr id="10" name="Text 7"/>
          <p:cNvSpPr/>
          <p:nvPr/>
        </p:nvSpPr>
        <p:spPr>
          <a:xfrm>
            <a:off x="841248" y="2395728"/>
            <a:ext cx="4843120" cy="1417320"/>
          </a:xfrm>
          <a:prstGeom prst="rect">
            <a:avLst/>
          </a:prstGeom>
          <a:noFill/>
          <a:ln/>
        </p:spPr>
        <p:txBody>
          <a:bodyPr wrap="square" lIns="0" tIns="0" rIns="0" bIns="0" rtlCol="0" anchor="t"/>
          <a:lstStyle/>
          <a:p>
            <a:pPr marL="0" indent="0">
              <a:lnSpc>
                <a:spcPct val="124000"/>
              </a:lnSpc>
              <a:buNone/>
            </a:pPr>
            <a:r>
              <a:rPr lang="en-US" sz="1350" dirty="0">
                <a:solidFill>
                  <a:srgbClr val="3A3844"/>
                </a:solidFill>
                <a:latin typeface="Arial" pitchFamily="34" charset="0"/>
                <a:ea typeface="Arial" pitchFamily="34" charset="-122"/>
                <a:cs typeface="Arial" pitchFamily="34" charset="-120"/>
              </a:rPr>
              <a:t>Lo pone quien produce el bloque y lo puede mover unos segundos. Para «catorce días» da igual. Para sortear algo, JAMÁS: es una de las formas clásicas de hacer trampa, y vuelve en la sesión de seguridad.</a:t>
            </a:r>
            <a:endParaRPr lang="en-US" sz="1350" dirty="0"/>
          </a:p>
        </p:txBody>
      </p:sp>
      <p:sp>
        <p:nvSpPr>
          <p:cNvPr id="11" name="Shape 8"/>
          <p:cNvSpPr/>
          <p:nvPr/>
        </p:nvSpPr>
        <p:spPr>
          <a:xfrm>
            <a:off x="6233008" y="1828800"/>
            <a:ext cx="5391760" cy="214884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2" name="Text 9"/>
          <p:cNvSpPr/>
          <p:nvPr/>
        </p:nvSpPr>
        <p:spPr>
          <a:xfrm>
            <a:off x="6507328" y="201168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EN SOLIDITY NO HAY DECIMALES</a:t>
            </a:r>
            <a:endParaRPr lang="en-US" sz="1050" dirty="0"/>
          </a:p>
        </p:txBody>
      </p:sp>
      <p:sp>
        <p:nvSpPr>
          <p:cNvPr id="13" name="Text 10"/>
          <p:cNvSpPr/>
          <p:nvPr/>
        </p:nvSpPr>
        <p:spPr>
          <a:xfrm>
            <a:off x="6507328" y="2395728"/>
            <a:ext cx="4843120" cy="1417320"/>
          </a:xfrm>
          <a:prstGeom prst="rect">
            <a:avLst/>
          </a:prstGeom>
          <a:noFill/>
          <a:ln/>
        </p:spPr>
        <p:txBody>
          <a:bodyPr wrap="square" lIns="0" tIns="0" rIns="0" bIns="0" rtlCol="0" anchor="t"/>
          <a:lstStyle/>
          <a:p>
            <a:pPr marL="0" indent="0">
              <a:lnSpc>
                <a:spcPct val="124000"/>
              </a:lnSpc>
              <a:buNone/>
            </a:pPr>
            <a:r>
              <a:rPr lang="en-US" sz="1350" dirty="0">
                <a:solidFill>
                  <a:srgbClr val="3A3844"/>
                </a:solidFill>
                <a:latin typeface="Arial" pitchFamily="34" charset="0"/>
                <a:ea typeface="Arial" pitchFamily="34" charset="-122"/>
                <a:cs typeface="Arial" pitchFamily="34" charset="-120"/>
              </a:rPr>
              <a:t>La división entera trunca: 1,9 días de mora se cuentan como 1. No es un redondeo mal hecho; es que el tipo no tiene parte decimal. Lo mismo pasa con el dinero, y por eso todo se mide en wei.</a:t>
            </a:r>
            <a:endParaRPr lang="en-US" sz="1350" dirty="0"/>
          </a:p>
        </p:txBody>
      </p:sp>
      <p:sp>
        <p:nvSpPr>
          <p:cNvPr id="14" name="Shape 11"/>
          <p:cNvSpPr/>
          <p:nvPr/>
        </p:nvSpPr>
        <p:spPr>
          <a:xfrm>
            <a:off x="566928" y="4206240"/>
            <a:ext cx="11057839" cy="1234440"/>
          </a:xfrm>
          <a:prstGeom prst="rect">
            <a:avLst/>
          </a:prstGeom>
          <a:solidFill>
            <a:srgbClr val="F2F0F5"/>
          </a:solidFill>
          <a:ln w="22225">
            <a:solidFill>
              <a:srgbClr val="0F0F11"/>
            </a:solidFill>
            <a:prstDash val="solid"/>
          </a:ln>
        </p:spPr>
      </p:sp>
      <p:pic>
        <p:nvPicPr>
          <p:cNvPr id="15" name="Image 1" descr="preencoded.png"/>
          <p:cNvPicPr>
            <a:picLocks noChangeAspect="1"/>
          </p:cNvPicPr>
          <p:nvPr/>
        </p:nvPicPr>
        <p:blipFill>
          <a:blip r:embed="rId4"/>
          <a:stretch>
            <a:fillRect/>
          </a:stretch>
        </p:blipFill>
        <p:spPr>
          <a:xfrm>
            <a:off x="804672" y="4425696"/>
            <a:ext cx="237744" cy="237744"/>
          </a:xfrm>
          <a:prstGeom prst="rect">
            <a:avLst/>
          </a:prstGeom>
        </p:spPr>
      </p:pic>
      <p:sp>
        <p:nvSpPr>
          <p:cNvPr id="16" name="Text 12"/>
          <p:cNvSpPr/>
          <p:nvPr/>
        </p:nvSpPr>
        <p:spPr>
          <a:xfrm>
            <a:off x="1133856" y="4398264"/>
            <a:ext cx="10234879" cy="292608"/>
          </a:xfrm>
          <a:prstGeom prst="rect">
            <a:avLst/>
          </a:prstGeom>
          <a:noFill/>
          <a:ln/>
        </p:spPr>
        <p:txBody>
          <a:bodyPr wrap="square" lIns="0" tIns="0" rIns="0" bIns="0" rtlCol="0" anchor="ctr"/>
          <a:lstStyle/>
          <a:p>
            <a:pPr marL="0" indent="0">
              <a:buNone/>
            </a:pPr>
            <a:r>
              <a:rPr lang="en-US" sz="950" b="1" kern="0" spc="150" dirty="0">
                <a:solidFill>
                  <a:srgbClr val="6F6B80"/>
                </a:solidFill>
                <a:latin typeface="Courier New" pitchFamily="34" charset="0"/>
                <a:ea typeface="Courier New" pitchFamily="34" charset="-122"/>
                <a:cs typeface="Courier New" pitchFamily="34" charset="-120"/>
              </a:rPr>
              <a:t>DE PASO, UNA DECISIÓN DE DISEÑO QUE SE VE AQUÍ</a:t>
            </a:r>
            <a:endParaRPr lang="en-US" sz="950" dirty="0"/>
          </a:p>
        </p:txBody>
      </p:sp>
      <p:sp>
        <p:nvSpPr>
          <p:cNvPr id="17" name="Text 13"/>
          <p:cNvSpPr/>
          <p:nvPr/>
        </p:nvSpPr>
        <p:spPr>
          <a:xfrm>
            <a:off x="804672" y="4718304"/>
            <a:ext cx="10582351" cy="630936"/>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vence se declaró uint64 y no uint256. Junto a una dirección (20 bytes) y un bool, caben en la misma ranura de 32 bytes del almacenamiento. Agrupar bien ahorra una escritura entera, y escribir en storage es lo más caro que hace un contrato.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5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PRESTAR CON PLAZO, Y EL LÍMITE DEL SIMULADOR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783080"/>
            <a:ext cx="11057839" cy="868680"/>
          </a:xfrm>
          <a:prstGeom prst="rect">
            <a:avLst/>
          </a:prstGeom>
          <a:solidFill>
            <a:srgbClr val="FFFFFF"/>
          </a:solidFill>
          <a:ln w="15875">
            <a:solidFill>
              <a:srgbClr val="D9D6E0"/>
            </a:solidFill>
            <a:prstDash val="solid"/>
          </a:ln>
        </p:spPr>
      </p:sp>
      <p:sp>
        <p:nvSpPr>
          <p:cNvPr id="9" name="Text 6"/>
          <p:cNvSpPr/>
          <p:nvPr/>
        </p:nvSpPr>
        <p:spPr>
          <a:xfrm>
            <a:off x="694944" y="1783080"/>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7111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PRESTAR POR 2 DÍAS</a:t>
            </a:r>
            <a:endParaRPr lang="en-US" sz="1000" dirty="0"/>
          </a:p>
        </p:txBody>
      </p:sp>
      <p:sp>
        <p:nvSpPr>
          <p:cNvPr id="11" name="Text 8"/>
          <p:cNvSpPr/>
          <p:nvPr/>
        </p:nvSpPr>
        <p:spPr>
          <a:xfrm>
            <a:off x="3566160" y="1874520"/>
            <a:ext cx="7948879" cy="722376"/>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prestar(1, 2). Leer equipos(1): aparece vence, un número grande. Son segundos desde 1970.</a:t>
            </a:r>
            <a:endParaRPr lang="en-US" sz="1250" dirty="0"/>
          </a:p>
        </p:txBody>
      </p:sp>
      <p:sp>
        <p:nvSpPr>
          <p:cNvPr id="12" name="Shape 9"/>
          <p:cNvSpPr/>
          <p:nvPr/>
        </p:nvSpPr>
        <p:spPr>
          <a:xfrm>
            <a:off x="566928" y="2743200"/>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743200"/>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3123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PREGUNTAR POR LA MORA</a:t>
            </a:r>
            <a:endParaRPr lang="en-US" sz="1000" dirty="0"/>
          </a:p>
        </p:txBody>
      </p:sp>
      <p:sp>
        <p:nvSpPr>
          <p:cNvPr id="15" name="Text 12"/>
          <p:cNvSpPr/>
          <p:nvPr/>
        </p:nvSpPr>
        <p:spPr>
          <a:xfrm>
            <a:off x="3566160" y="2834640"/>
            <a:ext cx="7948879" cy="722376"/>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estaVencido(1) devuelve false y diasDeMora(1) devuelve 0. Todavía está a tiempo.</a:t>
            </a:r>
            <a:endParaRPr lang="en-US" sz="1250" dirty="0"/>
          </a:p>
        </p:txBody>
      </p:sp>
      <p:sp>
        <p:nvSpPr>
          <p:cNvPr id="16" name="Shape 13"/>
          <p:cNvSpPr/>
          <p:nvPr/>
        </p:nvSpPr>
        <p:spPr>
          <a:xfrm>
            <a:off x="566928" y="3703320"/>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703320"/>
            <a:ext cx="548640" cy="868680"/>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99135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QUERER ADELANTAR EL RELOJ</a:t>
            </a:r>
            <a:endParaRPr lang="en-US" sz="1000" dirty="0"/>
          </a:p>
        </p:txBody>
      </p:sp>
      <p:sp>
        <p:nvSpPr>
          <p:cNvPr id="19" name="Text 16"/>
          <p:cNvSpPr/>
          <p:nvPr/>
        </p:nvSpPr>
        <p:spPr>
          <a:xfrm>
            <a:off x="3566160" y="3794760"/>
            <a:ext cx="7948879" cy="722376"/>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No se puede: ni en el simulador de Remix ni en una red pública se puede mover el tiempo. Hay que esperarlo.</a:t>
            </a:r>
            <a:endParaRPr lang="en-US" sz="1250" dirty="0"/>
          </a:p>
        </p:txBody>
      </p:sp>
      <p:sp>
        <p:nvSpPr>
          <p:cNvPr id="20" name="Text 17"/>
          <p:cNvSpPr/>
          <p:nvPr/>
        </p:nvSpPr>
        <p:spPr>
          <a:xfrm>
            <a:off x="566928" y="4800600"/>
            <a:ext cx="11057839" cy="73152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Para ver la mora de verdad: la red local del curso sí deja mover su reloj, o se proyectan las 25 pruebas automáticas, que la comprueban en segundos.</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5</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marL="0" indent="0">
              <a:lnSpc>
                <a:spcPct val="106000"/>
              </a:lnSpc>
              <a:buNone/>
            </a:pPr>
            <a:r>
              <a:rPr lang="en-US" sz="2200" dirty="0">
                <a:solidFill>
                  <a:srgbClr val="0F0F11"/>
                </a:solidFill>
                <a:latin typeface="Arial Black" pitchFamily="34" charset="0"/>
                <a:ea typeface="Arial Black" pitchFamily="34" charset="-122"/>
                <a:cs typeface="Arial Black" pitchFamily="34" charset="-120"/>
              </a:rPr>
              <a:t>El contrato ya sabe quién está en mora. ¿Y qué? ¿Qué puede hacer un contrato al respecto?</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marL="0" indent="0" algn="ctr">
              <a:lnSpc>
                <a:spcPct val="124000"/>
              </a:lnSpc>
              <a:buNone/>
            </a:pPr>
            <a:r>
              <a:rPr lang="en-US" sz="1400" dirty="0">
                <a:solidFill>
                  <a:srgbClr val="6F6B80"/>
                </a:solidFill>
                <a:latin typeface="Arial" pitchFamily="34" charset="0"/>
                <a:ea typeface="Arial" pitchFamily="34" charset="-122"/>
                <a:cs typeface="Arial" pitchFamily="34" charset="-120"/>
              </a:rPr>
              <a:t>Sean literales: ¿qué puede hacer un programa que vive en una cadena?</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5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NADA, SI NO HAY ALGO EN JUEGO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blurRad="101600" dist="63500" dir="2700000" algn="bl" rotWithShape="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marL="0" indent="0">
              <a:lnSpc>
                <a:spcPct val="106000"/>
              </a:lnSpc>
              <a:buNone/>
            </a:pPr>
            <a:r>
              <a:rPr lang="en-US" sz="1800" dirty="0">
                <a:solidFill>
                  <a:srgbClr val="0F0F11"/>
                </a:solidFill>
                <a:latin typeface="Arial Black" pitchFamily="34" charset="0"/>
                <a:ea typeface="Arial Black" pitchFamily="34" charset="-122"/>
                <a:cs typeface="Arial Black" pitchFamily="34" charset="-120"/>
              </a:rPr>
              <a:t>El contrato no puede ir a buscar el equipo, ni llamar a nadie, ni salir de la cadena. Solo puede hacer una cosa: que la mora tenga una consecuencia que él mismo sí controle.</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LO QUE NO PUEDE</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Mandar un correo, bloquear un carné, avisarle al coordinador. Nada de eso ocurre dentro de la cadena, y un contrato no sale de ahí.</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LO QUE SÍ PUEDE</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Retener un depósito que ya está en su poder. Si devolver a tiempo recupera la plata y devolver tarde no, la regla se hace cumplir sola.</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blurRad="101600" dist="63500" dir="2700000" algn="bl" rotWithShape="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Y ahí entra lo que convierte esto en un contrato de verdad: el dinero.</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marL="0" indent="0" algn="ctr">
              <a:buNone/>
            </a:pPr>
            <a:r>
              <a:rPr lang="en-US" sz="11800" dirty="0">
                <a:solidFill>
                  <a:srgbClr val="0F0F11"/>
                </a:solidFill>
                <a:latin typeface="Arial Black" pitchFamily="34" charset="0"/>
                <a:ea typeface="Arial Black" pitchFamily="34" charset="-122"/>
                <a:cs typeface="Arial Black" pitchFamily="34" charset="-120"/>
              </a:rPr>
              <a:t>6</a:t>
            </a:r>
            <a:endParaRPr lang="en-US" sz="11800" dirty="0"/>
          </a:p>
        </p:txBody>
      </p:sp>
      <p:pic>
        <p:nvPicPr>
          <p:cNvPr id="4" name="Image 0" descr="preencoded.png"/>
          <p:cNvPicPr>
            <a:picLocks noChangeAspect="1"/>
          </p:cNvPicPr>
          <p:nvPr/>
        </p:nvPicPr>
        <p:blipFill>
          <a:blip r:embed="rId3"/>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marL="0" indent="0">
              <a:buNone/>
            </a:pPr>
            <a:r>
              <a:rPr lang="en-US" sz="1100" kern="0" spc="180" dirty="0">
                <a:solidFill>
                  <a:srgbClr val="F07F06"/>
                </a:solidFill>
                <a:latin typeface="Courier New" pitchFamily="34" charset="0"/>
                <a:ea typeface="Courier New" pitchFamily="34" charset="-122"/>
                <a:cs typeface="Courier New" pitchFamily="34" charset="-120"/>
              </a:rPr>
              <a:t>payable · patrón de retiro · eventos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marL="0" indent="0">
              <a:lnSpc>
                <a:spcPct val="98000"/>
              </a:lnSpc>
              <a:buNone/>
            </a:pPr>
            <a:r>
              <a:rPr lang="en-US" sz="3400" dirty="0">
                <a:solidFill>
                  <a:srgbClr val="FFFFFF"/>
                </a:solidFill>
                <a:latin typeface="Arial Black" pitchFamily="34" charset="0"/>
                <a:ea typeface="Arial Black" pitchFamily="34" charset="-122"/>
                <a:cs typeface="Arial Black" pitchFamily="34" charset="-120"/>
              </a:rPr>
              <a:t>QUE LA MORA CUESTE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marL="0" indent="0">
              <a:lnSpc>
                <a:spcPct val="125000"/>
              </a:lnSpc>
              <a:buNone/>
            </a:pPr>
            <a:r>
              <a:rPr lang="en-US" sz="1400" dirty="0">
                <a:solidFill>
                  <a:srgbClr val="B9B4C4"/>
                </a:solidFill>
                <a:latin typeface="Arial" pitchFamily="34" charset="0"/>
                <a:ea typeface="Arial" pitchFamily="34" charset="-122"/>
                <a:cs typeface="Arial" pitchFamily="34" charset="-120"/>
              </a:rPr>
              <a:t>Entra el dinero, y con él la parte donde los errores se pagan caro.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E6A7C"/>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F07F06"/>
                </a:solidFill>
                <a:latin typeface="Courier New" pitchFamily="34" charset="0"/>
                <a:ea typeface="Courier New" pitchFamily="34" charset="-122"/>
                <a:cs typeface="Courier New"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6 · LO QUE AGREGAMOS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DEPÓSITO AL LLEVARSE EL EQUIPO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691640"/>
            <a:ext cx="11057839" cy="393192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675888"/>
          </a:xfrm>
          <a:prstGeom prst="rect">
            <a:avLst/>
          </a:prstGeom>
          <a:noFill/>
          <a:ln/>
        </p:spPr>
        <p:txBody>
          <a:bodyPr wrap="square" lIns="0" tIns="0" rIns="0" bIns="0" rtlCol="0" anchor="t"/>
          <a:lstStyle/>
          <a:p>
            <a:pPr marL="0" indent="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immutable</a:t>
            </a:r>
            <a:r>
              <a:rPr lang="en-US" sz="1150" dirty="0">
                <a:solidFill>
                  <a:srgbClr val="F4F2F7"/>
                </a:solidFill>
                <a:latin typeface="Courier New" pitchFamily="34" charset="0"/>
                <a:ea typeface="Courier New" pitchFamily="34" charset="-122"/>
                <a:cs typeface="Courier New" pitchFamily="34" charset="-120"/>
              </a:rPr>
              <a:t> deposito;          </a:t>
            </a:r>
            <a:r>
              <a:rPr lang="en-US" sz="1150" dirty="0">
                <a:solidFill>
                  <a:srgbClr val="8B8697"/>
                </a:solidFill>
                <a:latin typeface="Courier New" pitchFamily="34" charset="0"/>
                <a:ea typeface="Courier New" pitchFamily="34" charset="-122"/>
                <a:cs typeface="Courier New" pitchFamily="34" charset="-120"/>
              </a:rPr>
              <a:t>// se fija al desplegar</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mapping</a:t>
            </a:r>
            <a:r>
              <a:rPr lang="en-US" sz="1150" dirty="0">
                <a:solidFill>
                  <a:srgbClr val="F4F2F7"/>
                </a:solidFill>
                <a:latin typeface="Courier New" pitchFamily="34" charset="0"/>
                <a:ea typeface="Courier New" pitchFamily="34" charset="-122"/>
                <a:cs typeface="Courier New" pitchFamily="34" charset="-120"/>
              </a:rPr>
              <a:t>(</a:t>
            </a:r>
            <a:r>
              <a:rPr lang="en-US" sz="1150" dirty="0">
                <a:solidFill>
                  <a:srgbClr val="A897FF"/>
                </a:solidFill>
                <a:latin typeface="Courier New" pitchFamily="34" charset="0"/>
                <a:ea typeface="Courier New" pitchFamily="34" charset="-122"/>
                <a:cs typeface="Courier New" pitchFamily="34" charset="-120"/>
              </a:rPr>
              <a:t>address</a:t>
            </a:r>
            <a:r>
              <a:rPr lang="en-US" sz="1150" dirty="0">
                <a:solidFill>
                  <a:srgbClr val="F4F2F7"/>
                </a:solidFill>
                <a:latin typeface="Courier New" pitchFamily="34" charset="0"/>
                <a:ea typeface="Courier New" pitchFamily="34" charset="-122"/>
                <a:cs typeface="Courier New" pitchFamily="34" charset="-120"/>
              </a:rPr>
              <a:t> quien =&gt; </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wei_)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saldo;</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prestar(</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a:t>
            </a:r>
            <a:r>
              <a:rPr lang="en-US" sz="1150" dirty="0">
                <a:solidFill>
                  <a:srgbClr val="A897FF"/>
                </a:solidFill>
                <a:latin typeface="Courier New" pitchFamily="34" charset="0"/>
                <a:ea typeface="Courier New" pitchFamily="34" charset="-122"/>
                <a:cs typeface="Courier New" pitchFamily="34" charset="-120"/>
              </a:rPr>
              <a:t>uint64</a:t>
            </a:r>
            <a:r>
              <a:rPr lang="en-US" sz="1150" dirty="0">
                <a:solidFill>
                  <a:srgbClr val="F4F2F7"/>
                </a:solidFill>
                <a:latin typeface="Courier New" pitchFamily="34" charset="0"/>
                <a:ea typeface="Courier New" pitchFamily="34" charset="-122"/>
                <a:cs typeface="Courier New" pitchFamily="34" charset="-120"/>
              </a:rPr>
              <a:t> dias)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payable</a:t>
            </a: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if</a:t>
            </a:r>
            <a:r>
              <a:rPr lang="en-US" sz="1150" dirty="0">
                <a:solidFill>
                  <a:srgbClr val="F4F2F7"/>
                </a:solidFill>
                <a:latin typeface="Courier New" pitchFamily="34" charset="0"/>
                <a:ea typeface="Courier New" pitchFamily="34" charset="-122"/>
                <a:cs typeface="Courier New" pitchFamily="34" charset="-120"/>
              </a:rPr>
              <a:t> (msg.value != deposito) </a:t>
            </a:r>
            <a:r>
              <a:rPr lang="en-US" sz="1150" dirty="0">
                <a:solidFill>
                  <a:srgbClr val="F07F06"/>
                </a:solidFill>
                <a:latin typeface="Courier New" pitchFamily="34" charset="0"/>
                <a:ea typeface="Courier New" pitchFamily="34" charset="-122"/>
                <a:cs typeface="Courier New" pitchFamily="34" charset="-120"/>
              </a:rPr>
              <a:t>revert</a:t>
            </a:r>
            <a:r>
              <a:rPr lang="en-US" sz="1150" dirty="0">
                <a:solidFill>
                  <a:srgbClr val="F4F2F7"/>
                </a:solidFill>
                <a:latin typeface="Courier New" pitchFamily="34" charset="0"/>
                <a:ea typeface="Courier New" pitchFamily="34" charset="-122"/>
                <a:cs typeface="Courier New" pitchFamily="34" charset="-120"/>
              </a:rPr>
              <a:t> DepositoIncorrecto(deposito, msg.value);</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r>
              <a:rPr lang="en-US" sz="1150" dirty="0">
                <a:solidFill>
                  <a:srgbClr val="F4F2F7"/>
                </a:solidFill>
                <a:latin typeface="Courier New" pitchFamily="34" charset="0"/>
                <a:ea typeface="Courier New" pitchFamily="34" charset="-122"/>
                <a:cs typeface="Courier New" pitchFamily="34" charset="-120"/>
              </a:rPr>
              <a:t> devolver(</a:t>
            </a:r>
            <a:r>
              <a:rPr lang="en-US" sz="1150" dirty="0">
                <a:solidFill>
                  <a:srgbClr val="A897FF"/>
                </a:solidFill>
                <a:latin typeface="Courier New" pitchFamily="34" charset="0"/>
                <a:ea typeface="Courier New" pitchFamily="34" charset="-122"/>
                <a:cs typeface="Courier New" pitchFamily="34" charset="-120"/>
              </a:rPr>
              <a:t>uint256</a:t>
            </a:r>
            <a:r>
              <a:rPr lang="en-US" sz="1150" dirty="0">
                <a:solidFill>
                  <a:srgbClr val="F4F2F7"/>
                </a:solidFill>
                <a:latin typeface="Courier New" pitchFamily="34" charset="0"/>
                <a:ea typeface="Courier New" pitchFamily="34" charset="-122"/>
                <a:cs typeface="Courier New" pitchFamily="34" charset="-120"/>
              </a:rPr>
              <a:t> id) </a:t>
            </a:r>
            <a:r>
              <a:rPr lang="en-US" sz="1150" dirty="0">
                <a:solidFill>
                  <a:srgbClr val="F07F06"/>
                </a:solidFill>
                <a:latin typeface="Courier New" pitchFamily="34" charset="0"/>
                <a:ea typeface="Courier New" pitchFamily="34" charset="-122"/>
                <a:cs typeface="Courier New" pitchFamily="34" charset="-120"/>
              </a:rPr>
              <a:t>public</a:t>
            </a: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A897FF"/>
                </a:solidFill>
                <a:latin typeface="Courier New" pitchFamily="34" charset="0"/>
                <a:ea typeface="Courier New" pitchFamily="34" charset="-122"/>
                <a:cs typeface="Courier New" pitchFamily="34" charset="-120"/>
              </a:rPr>
              <a:t>bool</a:t>
            </a:r>
            <a:r>
              <a:rPr lang="en-US" sz="1150" dirty="0">
                <a:solidFill>
                  <a:srgbClr val="F4F2F7"/>
                </a:solidFill>
                <a:latin typeface="Courier New" pitchFamily="34" charset="0"/>
                <a:ea typeface="Courier New" pitchFamily="34" charset="-122"/>
                <a:cs typeface="Courier New" pitchFamily="34" charset="-120"/>
              </a:rPr>
              <a:t> aTiempo = block.timestamp &lt;= equipos[id].vence;</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saldo[aTiempo ? msg.sender : encargado] += deposito;   </a:t>
            </a:r>
            <a:r>
              <a:rPr lang="en-US" sz="1150" dirty="0">
                <a:solidFill>
                  <a:srgbClr val="8B8697"/>
                </a:solidFill>
                <a:latin typeface="Courier New" pitchFamily="34" charset="0"/>
                <a:ea typeface="Courier New" pitchFamily="34" charset="-122"/>
                <a:cs typeface="Courier New" pitchFamily="34" charset="-120"/>
              </a:rPr>
              <a:t>// se ANOTA, no se envía</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r>
              <a:rPr lang="en-US" sz="1150" dirty="0">
                <a:solidFill>
                  <a:srgbClr val="F07F06"/>
                </a:solidFill>
                <a:latin typeface="Courier New" pitchFamily="34" charset="0"/>
                <a:ea typeface="Courier New" pitchFamily="34" charset="-122"/>
                <a:cs typeface="Courier New" pitchFamily="34" charset="-120"/>
              </a:rPr>
              <a:t>emit</a:t>
            </a:r>
            <a:r>
              <a:rPr lang="en-US" sz="1150" dirty="0">
                <a:solidFill>
                  <a:srgbClr val="F4F2F7"/>
                </a:solidFill>
                <a:latin typeface="Courier New" pitchFamily="34" charset="0"/>
                <a:ea typeface="Courier New" pitchFamily="34" charset="-122"/>
                <a:cs typeface="Courier New" pitchFamily="34" charset="-120"/>
              </a:rPr>
              <a:t> Devuelto(id, msg.sender, aTiempo, aTiempo ? deposito : </a:t>
            </a:r>
            <a:r>
              <a:rPr lang="en-US" sz="1150" dirty="0">
                <a:solidFill>
                  <a:srgbClr val="FFA41B"/>
                </a:solidFill>
                <a:latin typeface="Courier New" pitchFamily="34" charset="0"/>
                <a:ea typeface="Courier New" pitchFamily="34" charset="-122"/>
                <a:cs typeface="Courier New" pitchFamily="34" charset="-120"/>
              </a:rPr>
              <a:t>0</a:t>
            </a: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marL="0" indent="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788152"/>
            <a:ext cx="11057839" cy="68580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payable es el interruptor que permite que entre dinero. Sin esa palabra, la función no ignora el ether: lo rechaza.</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6 · LA FUNCIÓN MÁS DELICADA DEL DÍA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CADA QUIEN RECLAMA LO SUYO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920240"/>
            <a:ext cx="11057839" cy="2651760"/>
          </a:xfrm>
          <a:prstGeom prst="rect">
            <a:avLst/>
          </a:prstGeom>
          <a:solidFill>
            <a:srgbClr val="16151B"/>
          </a:solidFill>
          <a:ln w="22225">
            <a:solidFill>
              <a:srgbClr val="16151B"/>
            </a:solidFill>
            <a:prstDash val="solid"/>
          </a:ln>
        </p:spPr>
      </p:sp>
      <p:sp>
        <p:nvSpPr>
          <p:cNvPr id="9" name="Text 6"/>
          <p:cNvSpPr/>
          <p:nvPr/>
        </p:nvSpPr>
        <p:spPr>
          <a:xfrm>
            <a:off x="768096" y="2066544"/>
            <a:ext cx="10655503" cy="2395728"/>
          </a:xfrm>
          <a:prstGeom prst="rect">
            <a:avLst/>
          </a:prstGeom>
          <a:noFill/>
          <a:ln/>
        </p:spPr>
        <p:txBody>
          <a:bodyPr wrap="square" lIns="0" tIns="0" rIns="0" bIns="0" rtlCol="0" anchor="t"/>
          <a:lstStyle/>
          <a:p>
            <a:pPr marL="0" indent="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r>
              <a:rPr lang="en-US" sz="1250" dirty="0">
                <a:solidFill>
                  <a:srgbClr val="F4F2F7"/>
                </a:solidFill>
                <a:latin typeface="Courier New" pitchFamily="34" charset="0"/>
                <a:ea typeface="Courier New" pitchFamily="34" charset="-122"/>
                <a:cs typeface="Courier New" pitchFamily="34" charset="-120"/>
              </a:rPr>
              <a:t> retirar() </a:t>
            </a:r>
            <a:r>
              <a:rPr lang="en-US" sz="1250" dirty="0">
                <a:solidFill>
                  <a:srgbClr val="F07F06"/>
                </a:solidFill>
                <a:latin typeface="Courier New" pitchFamily="34" charset="0"/>
                <a:ea typeface="Courier New" pitchFamily="34" charset="-122"/>
                <a:cs typeface="Courier New" pitchFamily="34" charset="-120"/>
              </a:rPr>
              <a:t>public</a:t>
            </a: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A897FF"/>
                </a:solidFill>
                <a:latin typeface="Courier New" pitchFamily="34" charset="0"/>
                <a:ea typeface="Courier New" pitchFamily="34" charset="-122"/>
                <a:cs typeface="Courier New" pitchFamily="34" charset="-120"/>
              </a:rPr>
              <a:t>uint256</a:t>
            </a:r>
            <a:r>
              <a:rPr lang="en-US" sz="1250" dirty="0">
                <a:solidFill>
                  <a:srgbClr val="F4F2F7"/>
                </a:solidFill>
                <a:latin typeface="Courier New" pitchFamily="34" charset="0"/>
                <a:ea typeface="Courier New" pitchFamily="34" charset="-122"/>
                <a:cs typeface="Courier New" pitchFamily="34" charset="-120"/>
              </a:rPr>
              <a:t> monto = saldo[msg.sender];</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F07F06"/>
                </a:solidFill>
                <a:latin typeface="Courier New" pitchFamily="34" charset="0"/>
                <a:ea typeface="Courier New" pitchFamily="34" charset="-122"/>
                <a:cs typeface="Courier New" pitchFamily="34" charset="-120"/>
              </a:rPr>
              <a:t>if</a:t>
            </a:r>
            <a:r>
              <a:rPr lang="en-US" sz="1250" dirty="0">
                <a:solidFill>
                  <a:srgbClr val="F4F2F7"/>
                </a:solidFill>
                <a:latin typeface="Courier New" pitchFamily="34" charset="0"/>
                <a:ea typeface="Courier New" pitchFamily="34" charset="-122"/>
                <a:cs typeface="Courier New" pitchFamily="34" charset="-120"/>
              </a:rPr>
              <a:t> (monto == </a:t>
            </a:r>
            <a:r>
              <a:rPr lang="en-US" sz="1250" dirty="0">
                <a:solidFill>
                  <a:srgbClr val="FFA41B"/>
                </a:solidFill>
                <a:latin typeface="Courier New" pitchFamily="34" charset="0"/>
                <a:ea typeface="Courier New" pitchFamily="34" charset="-122"/>
                <a:cs typeface="Courier New" pitchFamily="34" charset="-120"/>
              </a:rPr>
              <a:t>0</a:t>
            </a: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F07F06"/>
                </a:solidFill>
                <a:latin typeface="Courier New" pitchFamily="34" charset="0"/>
                <a:ea typeface="Courier New" pitchFamily="34" charset="-122"/>
                <a:cs typeface="Courier New" pitchFamily="34" charset="-120"/>
              </a:rPr>
              <a:t>revert</a:t>
            </a:r>
            <a:r>
              <a:rPr lang="en-US" sz="1250" dirty="0">
                <a:solidFill>
                  <a:srgbClr val="F4F2F7"/>
                </a:solidFill>
                <a:latin typeface="Courier New" pitchFamily="34" charset="0"/>
                <a:ea typeface="Courier New" pitchFamily="34" charset="-122"/>
                <a:cs typeface="Courier New" pitchFamily="34" charset="-120"/>
              </a:rPr>
              <a:t> SinSaldo();</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saldo[msg.sender] = </a:t>
            </a:r>
            <a:r>
              <a:rPr lang="en-US" sz="1250" dirty="0">
                <a:solidFill>
                  <a:srgbClr val="FFA41B"/>
                </a:solidFill>
                <a:latin typeface="Courier New" pitchFamily="34" charset="0"/>
                <a:ea typeface="Courier New" pitchFamily="34" charset="-122"/>
                <a:cs typeface="Courier New" pitchFamily="34" charset="-120"/>
              </a:rPr>
              <a:t>0</a:t>
            </a: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8B8697"/>
                </a:solidFill>
                <a:latin typeface="Courier New" pitchFamily="34" charset="0"/>
                <a:ea typeface="Courier New" pitchFamily="34" charset="-122"/>
                <a:cs typeface="Courier New" pitchFamily="34" charset="-120"/>
              </a:rPr>
              <a:t>// &lt;- PRIMERO en cero</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A897FF"/>
                </a:solidFill>
                <a:latin typeface="Courier New" pitchFamily="34" charset="0"/>
                <a:ea typeface="Courier New" pitchFamily="34" charset="-122"/>
                <a:cs typeface="Courier New" pitchFamily="34" charset="-120"/>
              </a:rPr>
              <a:t>bool</a:t>
            </a:r>
            <a:r>
              <a:rPr lang="en-US" sz="1250" dirty="0">
                <a:solidFill>
                  <a:srgbClr val="F4F2F7"/>
                </a:solidFill>
                <a:latin typeface="Courier New" pitchFamily="34" charset="0"/>
                <a:ea typeface="Courier New" pitchFamily="34" charset="-122"/>
                <a:cs typeface="Courier New" pitchFamily="34" charset="-120"/>
              </a:rPr>
              <a:t> ok, ) = msg.sender.call{value: monto}(</a:t>
            </a:r>
            <a:r>
              <a:rPr lang="en-US" sz="1250" dirty="0">
                <a:solidFill>
                  <a:srgbClr val="FFA41B"/>
                </a:solidFill>
                <a:latin typeface="Courier New" pitchFamily="34" charset="0"/>
                <a:ea typeface="Courier New" pitchFamily="34" charset="-122"/>
                <a:cs typeface="Courier New" pitchFamily="34" charset="-120"/>
              </a:rPr>
              <a:t>""</a:t>
            </a: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8B8697"/>
                </a:solidFill>
                <a:latin typeface="Courier New" pitchFamily="34" charset="0"/>
                <a:ea typeface="Courier New" pitchFamily="34" charset="-122"/>
                <a:cs typeface="Courier New" pitchFamily="34" charset="-120"/>
              </a:rPr>
              <a:t>// &lt;- DESPUÉS el envío</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r>
              <a:rPr lang="en-US" sz="1250" dirty="0">
                <a:solidFill>
                  <a:srgbClr val="F07F06"/>
                </a:solidFill>
                <a:latin typeface="Courier New" pitchFamily="34" charset="0"/>
                <a:ea typeface="Courier New" pitchFamily="34" charset="-122"/>
                <a:cs typeface="Courier New" pitchFamily="34" charset="-120"/>
              </a:rPr>
              <a:t>require</a:t>
            </a:r>
            <a:r>
              <a:rPr lang="en-US" sz="1250" dirty="0">
                <a:solidFill>
                  <a:srgbClr val="F4F2F7"/>
                </a:solidFill>
                <a:latin typeface="Courier New" pitchFamily="34" charset="0"/>
                <a:ea typeface="Courier New" pitchFamily="34" charset="-122"/>
                <a:cs typeface="Courier New" pitchFamily="34" charset="-120"/>
              </a:rPr>
              <a:t>(ok, </a:t>
            </a:r>
            <a:r>
              <a:rPr lang="en-US" sz="1250" dirty="0">
                <a:solidFill>
                  <a:srgbClr val="FFA41B"/>
                </a:solidFill>
                <a:latin typeface="Courier New" pitchFamily="34" charset="0"/>
                <a:ea typeface="Courier New" pitchFamily="34" charset="-122"/>
                <a:cs typeface="Courier New" pitchFamily="34" charset="-120"/>
              </a:rPr>
              <a:t>"el envio fallo"</a:t>
            </a: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marL="0" indent="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Text 7"/>
          <p:cNvSpPr/>
          <p:nvPr/>
        </p:nvSpPr>
        <p:spPr>
          <a:xfrm>
            <a:off x="566928" y="4736592"/>
            <a:ext cx="11057839" cy="685800"/>
          </a:xfrm>
          <a:prstGeom prst="rect">
            <a:avLst/>
          </a:prstGeom>
          <a:noFill/>
          <a:ln/>
        </p:spPr>
        <p:txBody>
          <a:bodyPr wrap="square" lIns="0" tIns="0" rIns="0" bIns="0" rtlCol="0" anchor="t"/>
          <a:lstStyle/>
          <a:p>
            <a:pPr marL="0" indent="0">
              <a:lnSpc>
                <a:spcPct val="124000"/>
              </a:lnSpc>
              <a:buNone/>
            </a:pPr>
            <a:r>
              <a:rPr lang="en-US" sz="1350" dirty="0">
                <a:solidFill>
                  <a:srgbClr val="A35604"/>
                </a:solidFill>
                <a:latin typeface="Arial" pitchFamily="34" charset="0"/>
                <a:ea typeface="Arial" pitchFamily="34" charset="-122"/>
                <a:cs typeface="Arial" pitchFamily="34" charset="-120"/>
              </a:rPr>
              <a:t>Si se invierten esas dos líneas, este contrato se puede vaciar. Es el error que costó 3,6 millones de ether en 2016, y lo vamos a explotar en la sesión de seguridad.</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6 · AHORA EN REMIX</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DINERO ENTRANDO Y SALIENDO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783080"/>
            <a:ext cx="11057839" cy="576072"/>
          </a:xfrm>
          <a:prstGeom prst="rect">
            <a:avLst/>
          </a:prstGeom>
          <a:solidFill>
            <a:srgbClr val="FFFFFF"/>
          </a:solidFill>
          <a:ln w="15875">
            <a:solidFill>
              <a:srgbClr val="D9D6E0"/>
            </a:solidFill>
            <a:prstDash val="solid"/>
          </a:ln>
        </p:spPr>
      </p:sp>
      <p:sp>
        <p:nvSpPr>
          <p:cNvPr id="9" name="Text 6"/>
          <p:cNvSpPr/>
          <p:nvPr/>
        </p:nvSpPr>
        <p:spPr>
          <a:xfrm>
            <a:off x="694944" y="1783080"/>
            <a:ext cx="548640" cy="576072"/>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4812"/>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DESPLEGAR CON DEPÓSITO</a:t>
            </a:r>
            <a:endParaRPr lang="en-US" sz="1000" dirty="0"/>
          </a:p>
        </p:txBody>
      </p:sp>
      <p:sp>
        <p:nvSpPr>
          <p:cNvPr id="11" name="Text 8"/>
          <p:cNvSpPr/>
          <p:nvPr/>
        </p:nvSpPr>
        <p:spPr>
          <a:xfrm>
            <a:off x="3566160" y="1874520"/>
            <a:ext cx="7948879" cy="429768"/>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En el campo del constructor: 100000000000000000 wei, que son 0,1 ETH. Ojo con el selector de unidad.</a:t>
            </a:r>
            <a:endParaRPr lang="en-US" sz="1250" dirty="0"/>
          </a:p>
        </p:txBody>
      </p:sp>
      <p:sp>
        <p:nvSpPr>
          <p:cNvPr id="12" name="Shape 9"/>
          <p:cNvSpPr/>
          <p:nvPr/>
        </p:nvSpPr>
        <p:spPr>
          <a:xfrm>
            <a:off x="566928" y="2450592"/>
            <a:ext cx="11057839" cy="576072"/>
          </a:xfrm>
          <a:prstGeom prst="rect">
            <a:avLst/>
          </a:prstGeom>
          <a:solidFill>
            <a:srgbClr val="FAF9FB"/>
          </a:solidFill>
          <a:ln w="15875">
            <a:solidFill>
              <a:srgbClr val="D9D6E0"/>
            </a:solidFill>
            <a:prstDash val="solid"/>
          </a:ln>
        </p:spPr>
      </p:sp>
      <p:sp>
        <p:nvSpPr>
          <p:cNvPr id="13" name="Text 10"/>
          <p:cNvSpPr/>
          <p:nvPr/>
        </p:nvSpPr>
        <p:spPr>
          <a:xfrm>
            <a:off x="694944" y="2450592"/>
            <a:ext cx="548640" cy="576072"/>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592324"/>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PRESTAR SIN PAGAR</a:t>
            </a:r>
            <a:endParaRPr lang="en-US" sz="1000" dirty="0"/>
          </a:p>
        </p:txBody>
      </p:sp>
      <p:sp>
        <p:nvSpPr>
          <p:cNvPr id="15" name="Text 12"/>
          <p:cNvSpPr/>
          <p:nvPr/>
        </p:nvSpPr>
        <p:spPr>
          <a:xfrm>
            <a:off x="3566160" y="2542032"/>
            <a:ext cx="7948879" cy="429768"/>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REVIERTE con DepositoIncorrecto, y el error dice cuánto esperaba y cuánto llegó.</a:t>
            </a:r>
            <a:endParaRPr lang="en-US" sz="1250" dirty="0"/>
          </a:p>
        </p:txBody>
      </p:sp>
      <p:sp>
        <p:nvSpPr>
          <p:cNvPr id="16" name="Shape 13"/>
          <p:cNvSpPr/>
          <p:nvPr/>
        </p:nvSpPr>
        <p:spPr>
          <a:xfrm>
            <a:off x="566928" y="3118104"/>
            <a:ext cx="11057839" cy="576072"/>
          </a:xfrm>
          <a:prstGeom prst="rect">
            <a:avLst/>
          </a:prstGeom>
          <a:solidFill>
            <a:srgbClr val="FFFFFF"/>
          </a:solidFill>
          <a:ln w="15875">
            <a:solidFill>
              <a:srgbClr val="D9D6E0"/>
            </a:solidFill>
            <a:prstDash val="solid"/>
          </a:ln>
        </p:spPr>
      </p:sp>
      <p:sp>
        <p:nvSpPr>
          <p:cNvPr id="17" name="Text 14"/>
          <p:cNvSpPr/>
          <p:nvPr/>
        </p:nvSpPr>
        <p:spPr>
          <a:xfrm>
            <a:off x="694944" y="3118104"/>
            <a:ext cx="548640" cy="576072"/>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259836"/>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PRESTAR PAGANDO</a:t>
            </a:r>
            <a:endParaRPr lang="en-US" sz="1000" dirty="0"/>
          </a:p>
        </p:txBody>
      </p:sp>
      <p:sp>
        <p:nvSpPr>
          <p:cNvPr id="19" name="Text 16"/>
          <p:cNvSpPr/>
          <p:nvPr/>
        </p:nvSpPr>
        <p:spPr>
          <a:xfrm>
            <a:off x="3566160" y="3209544"/>
            <a:ext cx="7948879" cy="429768"/>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Poner 0.1 Ether en Value y prestar. El saldo de la cuenta baja; el del contrato sube.</a:t>
            </a:r>
            <a:endParaRPr lang="en-US" sz="1250" dirty="0"/>
          </a:p>
        </p:txBody>
      </p:sp>
      <p:sp>
        <p:nvSpPr>
          <p:cNvPr id="20" name="Shape 17"/>
          <p:cNvSpPr/>
          <p:nvPr/>
        </p:nvSpPr>
        <p:spPr>
          <a:xfrm>
            <a:off x="566928" y="3785616"/>
            <a:ext cx="11057839" cy="576072"/>
          </a:xfrm>
          <a:prstGeom prst="rect">
            <a:avLst/>
          </a:prstGeom>
          <a:solidFill>
            <a:srgbClr val="FAF9FB"/>
          </a:solidFill>
          <a:ln w="15875">
            <a:solidFill>
              <a:srgbClr val="D9D6E0"/>
            </a:solidFill>
            <a:prstDash val="solid"/>
          </a:ln>
        </p:spPr>
      </p:sp>
      <p:sp>
        <p:nvSpPr>
          <p:cNvPr id="21" name="Text 18"/>
          <p:cNvSpPr/>
          <p:nvPr/>
        </p:nvSpPr>
        <p:spPr>
          <a:xfrm>
            <a:off x="694944" y="3785616"/>
            <a:ext cx="548640" cy="576072"/>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3927348"/>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DEVOLVER A TIEMPO</a:t>
            </a:r>
            <a:endParaRPr lang="en-US" sz="1000" dirty="0"/>
          </a:p>
        </p:txBody>
      </p:sp>
      <p:sp>
        <p:nvSpPr>
          <p:cNvPr id="23" name="Text 20"/>
          <p:cNvSpPr/>
          <p:nvPr/>
        </p:nvSpPr>
        <p:spPr>
          <a:xfrm>
            <a:off x="3566160" y="3877056"/>
            <a:ext cx="7948879" cy="429768"/>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Leer saldo(sucuenta): 0,1 ETH. El dinero NO llegó todavía: está anotado.</a:t>
            </a:r>
            <a:endParaRPr lang="en-US" sz="1250" dirty="0"/>
          </a:p>
        </p:txBody>
      </p:sp>
      <p:sp>
        <p:nvSpPr>
          <p:cNvPr id="24" name="Shape 21"/>
          <p:cNvSpPr/>
          <p:nvPr/>
        </p:nvSpPr>
        <p:spPr>
          <a:xfrm>
            <a:off x="566928" y="4453128"/>
            <a:ext cx="11057839" cy="576072"/>
          </a:xfrm>
          <a:prstGeom prst="rect">
            <a:avLst/>
          </a:prstGeom>
          <a:solidFill>
            <a:srgbClr val="FFFFFF"/>
          </a:solidFill>
          <a:ln w="15875">
            <a:solidFill>
              <a:srgbClr val="D9D6E0"/>
            </a:solidFill>
            <a:prstDash val="solid"/>
          </a:ln>
        </p:spPr>
      </p:sp>
      <p:sp>
        <p:nvSpPr>
          <p:cNvPr id="25" name="Text 22"/>
          <p:cNvSpPr/>
          <p:nvPr/>
        </p:nvSpPr>
        <p:spPr>
          <a:xfrm>
            <a:off x="694944" y="4453128"/>
            <a:ext cx="548640" cy="576072"/>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594860"/>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RETIRAR</a:t>
            </a:r>
            <a:endParaRPr lang="en-US" sz="1000" dirty="0"/>
          </a:p>
        </p:txBody>
      </p:sp>
      <p:sp>
        <p:nvSpPr>
          <p:cNvPr id="27" name="Text 24"/>
          <p:cNvSpPr/>
          <p:nvPr/>
        </p:nvSpPr>
        <p:spPr>
          <a:xfrm>
            <a:off x="3566160" y="4544568"/>
            <a:ext cx="7948879" cy="429768"/>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Ahora sí llega. Y retirar otra vez revierte con SinSaldo.</a:t>
            </a:r>
            <a:endParaRPr lang="en-US" sz="1250" dirty="0"/>
          </a:p>
        </p:txBody>
      </p:sp>
      <p:sp>
        <p:nvSpPr>
          <p:cNvPr id="28" name="Shape 25"/>
          <p:cNvSpPr/>
          <p:nvPr/>
        </p:nvSpPr>
        <p:spPr>
          <a:xfrm>
            <a:off x="566928" y="5120640"/>
            <a:ext cx="11057839" cy="576072"/>
          </a:xfrm>
          <a:prstGeom prst="rect">
            <a:avLst/>
          </a:prstGeom>
          <a:solidFill>
            <a:srgbClr val="FAF9FB"/>
          </a:solidFill>
          <a:ln w="15875">
            <a:solidFill>
              <a:srgbClr val="D9D6E0"/>
            </a:solidFill>
            <a:prstDash val="solid"/>
          </a:ln>
        </p:spPr>
      </p:sp>
      <p:sp>
        <p:nvSpPr>
          <p:cNvPr id="29" name="Text 26"/>
          <p:cNvSpPr/>
          <p:nvPr/>
        </p:nvSpPr>
        <p:spPr>
          <a:xfrm>
            <a:off x="694944" y="5120640"/>
            <a:ext cx="548640" cy="576072"/>
          </a:xfrm>
          <a:prstGeom prst="rect">
            <a:avLst/>
          </a:prstGeom>
          <a:noFill/>
          <a:ln/>
        </p:spPr>
        <p:txBody>
          <a:bodyPr wrap="square" lIns="0" tIns="0" rIns="0" bIns="0" rtlCol="0" anchor="ctr"/>
          <a:lstStyle/>
          <a:p>
            <a:pPr marL="0" indent="0">
              <a:buNone/>
            </a:pPr>
            <a:r>
              <a:rPr lang="en-US" sz="1600" dirty="0">
                <a:solidFill>
                  <a:srgbClr val="F07F06"/>
                </a:solidFill>
                <a:latin typeface="Arial Black" pitchFamily="34" charset="0"/>
                <a:ea typeface="Arial Black" pitchFamily="34" charset="-122"/>
                <a:cs typeface="Arial Black" pitchFamily="34" charset="-120"/>
              </a:rPr>
              <a:t>06</a:t>
            </a:r>
            <a:endParaRPr lang="en-US" sz="1600" dirty="0"/>
          </a:p>
        </p:txBody>
      </p:sp>
      <p:sp>
        <p:nvSpPr>
          <p:cNvPr id="30" name="Text 27"/>
          <p:cNvSpPr/>
          <p:nvPr/>
        </p:nvSpPr>
        <p:spPr>
          <a:xfrm>
            <a:off x="1280160" y="5262372"/>
            <a:ext cx="2011680" cy="292608"/>
          </a:xfrm>
          <a:prstGeom prst="rect">
            <a:avLst/>
          </a:prstGeom>
          <a:noFill/>
          <a:ln/>
        </p:spPr>
        <p:txBody>
          <a:bodyPr wrap="square" lIns="0" tIns="0" rIns="0" bIns="0" rtlCol="0" anchor="ctr"/>
          <a:lstStyle/>
          <a:p>
            <a:pPr marL="0" indent="0">
              <a:buNone/>
            </a:pPr>
            <a:r>
              <a:rPr lang="en-US" sz="1000" b="1" kern="0" spc="100" dirty="0">
                <a:solidFill>
                  <a:srgbClr val="0F0F11"/>
                </a:solidFill>
                <a:latin typeface="Courier New" pitchFamily="34" charset="0"/>
                <a:ea typeface="Courier New" pitchFamily="34" charset="-122"/>
                <a:cs typeface="Courier New" pitchFamily="34" charset="-120"/>
              </a:rPr>
              <a:t>MANDAR 1 WEI AL CONTRATO</a:t>
            </a:r>
            <a:endParaRPr lang="en-US" sz="1000" dirty="0"/>
          </a:p>
        </p:txBody>
      </p:sp>
      <p:sp>
        <p:nvSpPr>
          <p:cNvPr id="31" name="Text 28"/>
          <p:cNvSpPr/>
          <p:nvPr/>
        </p:nvSpPr>
        <p:spPr>
          <a:xfrm>
            <a:off x="3566160" y="5212080"/>
            <a:ext cx="7948879" cy="429768"/>
          </a:xfrm>
          <a:prstGeom prst="rect">
            <a:avLst/>
          </a:prstGeom>
          <a:noFill/>
          <a:ln/>
        </p:spPr>
        <p:txBody>
          <a:bodyPr wrap="square" lIns="0" tIns="0" rIns="0" bIns="0" rtlCol="0" anchor="ctr"/>
          <a:lstStyle/>
          <a:p>
            <a:pPr marL="0" indent="0">
              <a:lnSpc>
                <a:spcPct val="115000"/>
              </a:lnSpc>
              <a:buNone/>
            </a:pPr>
            <a:r>
              <a:rPr lang="en-US" sz="1250" dirty="0">
                <a:solidFill>
                  <a:srgbClr val="3A3844"/>
                </a:solidFill>
                <a:latin typeface="Arial" pitchFamily="34" charset="0"/>
                <a:ea typeface="Arial" pitchFamily="34" charset="-122"/>
                <a:cs typeface="Arial" pitchFamily="34" charset="-120"/>
              </a:rPr>
              <a:t>Sin llamar ninguna función: REVIERTE con EnvioDirectoNoPermitido.</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6</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Shape 5"/>
          <p:cNvSpPr/>
          <p:nvPr/>
        </p:nvSpPr>
        <p:spPr>
          <a:xfrm>
            <a:off x="566928" y="2148840"/>
            <a:ext cx="11057839" cy="210312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2331720"/>
            <a:ext cx="10289743" cy="1737360"/>
          </a:xfrm>
          <a:prstGeom prst="rect">
            <a:avLst/>
          </a:prstGeom>
          <a:noFill/>
          <a:ln/>
        </p:spPr>
        <p:txBody>
          <a:bodyPr wrap="square" lIns="0" tIns="0" rIns="0" bIns="0" rtlCol="0" anchor="ctr"/>
          <a:lstStyle/>
          <a:p>
            <a:pPr marL="0" indent="0">
              <a:lnSpc>
                <a:spcPct val="106000"/>
              </a:lnSpc>
              <a:buNone/>
            </a:pPr>
            <a:r>
              <a:rPr lang="en-US" sz="2200" dirty="0">
                <a:solidFill>
                  <a:srgbClr val="0F0F11"/>
                </a:solidFill>
                <a:latin typeface="Arial Black" pitchFamily="34" charset="0"/>
                <a:ea typeface="Arial Black" pitchFamily="34" charset="-122"/>
                <a:cs typeface="Arial Black" pitchFamily="34" charset="-120"/>
              </a:rPr>
              <a:t>¿Por qué el contrato no le envía el depósito de una vez al devolver, y en cambio lo deja anotado para que cada quien lo reclame?</a:t>
            </a:r>
            <a:endParaRPr lang="en-US" sz="2200" dirty="0"/>
          </a:p>
        </p:txBody>
      </p:sp>
      <p:sp>
        <p:nvSpPr>
          <p:cNvPr id="10" name="Text 7"/>
          <p:cNvSpPr/>
          <p:nvPr/>
        </p:nvSpPr>
        <p:spPr>
          <a:xfrm>
            <a:off x="566928" y="4526280"/>
            <a:ext cx="11057839" cy="731520"/>
          </a:xfrm>
          <a:prstGeom prst="rect">
            <a:avLst/>
          </a:prstGeom>
          <a:noFill/>
          <a:ln/>
        </p:spPr>
        <p:txBody>
          <a:bodyPr wrap="square" lIns="0" tIns="0" rIns="0" bIns="0" rtlCol="0" anchor="t"/>
          <a:lstStyle/>
          <a:p>
            <a:pPr marL="0" indent="0" algn="ctr">
              <a:lnSpc>
                <a:spcPct val="124000"/>
              </a:lnSpc>
              <a:buNone/>
            </a:pPr>
            <a:r>
              <a:rPr lang="en-US" sz="1400" dirty="0">
                <a:solidFill>
                  <a:srgbClr val="6F6B80"/>
                </a:solidFill>
                <a:latin typeface="Arial" pitchFamily="34" charset="0"/>
                <a:ea typeface="Arial" pitchFamily="34" charset="-122"/>
                <a:cs typeface="Arial" pitchFamily="34" charset="-120"/>
              </a:rPr>
              <a:t>Parece un rodeo inútil. No lo es.</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PASO 6 ·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PATRÓN DE RETIRO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Shape 5"/>
          <p:cNvSpPr/>
          <p:nvPr/>
        </p:nvSpPr>
        <p:spPr>
          <a:xfrm>
            <a:off x="566928" y="1737360"/>
            <a:ext cx="11057839" cy="1371600"/>
          </a:xfrm>
          <a:prstGeom prst="rect">
            <a:avLst/>
          </a:prstGeom>
          <a:solidFill>
            <a:srgbClr val="FFFFFF"/>
          </a:solidFill>
          <a:ln w="34925">
            <a:solidFill>
              <a:srgbClr val="1F7A4D"/>
            </a:solidFill>
            <a:prstDash val="solid"/>
          </a:ln>
          <a:effectLst>
            <a:outerShdw blurRad="101600" dist="63500" dir="2700000" algn="bl" rotWithShape="0">
              <a:srgbClr val="1F7A4D">
                <a:alpha val="100000"/>
              </a:srgbClr>
            </a:outerShdw>
          </a:effectLst>
        </p:spPr>
      </p:sp>
      <p:sp>
        <p:nvSpPr>
          <p:cNvPr id="9" name="Text 6"/>
          <p:cNvSpPr/>
          <p:nvPr/>
        </p:nvSpPr>
        <p:spPr>
          <a:xfrm>
            <a:off x="950976" y="1920240"/>
            <a:ext cx="10289743" cy="1005840"/>
          </a:xfrm>
          <a:prstGeom prst="rect">
            <a:avLst/>
          </a:prstGeom>
          <a:noFill/>
          <a:ln/>
        </p:spPr>
        <p:txBody>
          <a:bodyPr wrap="square" lIns="0" tIns="0" rIns="0" bIns="0" rtlCol="0" anchor="ctr"/>
          <a:lstStyle/>
          <a:p>
            <a:pPr marL="0" indent="0">
              <a:lnSpc>
                <a:spcPct val="106000"/>
              </a:lnSpc>
              <a:buNone/>
            </a:pPr>
            <a:r>
              <a:rPr lang="en-US" sz="1800" dirty="0">
                <a:solidFill>
                  <a:srgbClr val="0F0F11"/>
                </a:solidFill>
                <a:latin typeface="Arial Black" pitchFamily="34" charset="0"/>
                <a:ea typeface="Arial Black" pitchFamily="34" charset="-122"/>
                <a:cs typeface="Arial Black" pitchFamily="34" charset="-120"/>
              </a:rPr>
              <a:t>Porque enviar dinero es entregarle el control de la ejecución a quien lo recibe. Anotar primero y dejar que cada quien reclame quita dos problemas de un golpe.</a:t>
            </a:r>
            <a:endParaRPr lang="en-US" sz="1800" dirty="0"/>
          </a:p>
        </p:txBody>
      </p:sp>
      <p:sp>
        <p:nvSpPr>
          <p:cNvPr id="10" name="Shape 7"/>
          <p:cNvSpPr/>
          <p:nvPr/>
        </p:nvSpPr>
        <p:spPr>
          <a:xfrm>
            <a:off x="566928" y="3291840"/>
            <a:ext cx="5391760" cy="182880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47472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SI EL RECEPTOR RECHAZA EL ENVÍO</a:t>
            </a:r>
            <a:endParaRPr lang="en-US" sz="1050" dirty="0"/>
          </a:p>
        </p:txBody>
      </p:sp>
      <p:sp>
        <p:nvSpPr>
          <p:cNvPr id="12" name="Text 9"/>
          <p:cNvSpPr/>
          <p:nvPr/>
        </p:nvSpPr>
        <p:spPr>
          <a:xfrm>
            <a:off x="84124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Un contrato puede estar hecho para reventar al recibir dinero. Si el envío va dentro de devolver(), ese solo participante tumba la operación entera. Para todos.</a:t>
            </a:r>
            <a:endParaRPr lang="en-US" sz="1250" dirty="0"/>
          </a:p>
        </p:txBody>
      </p:sp>
      <p:sp>
        <p:nvSpPr>
          <p:cNvPr id="13" name="Shape 10"/>
          <p:cNvSpPr/>
          <p:nvPr/>
        </p:nvSpPr>
        <p:spPr>
          <a:xfrm>
            <a:off x="6233008" y="3291840"/>
            <a:ext cx="5391760" cy="182880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47472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SI EL RECEPTOR VUELVE A ENTRAR</a:t>
            </a:r>
            <a:endParaRPr lang="en-US" sz="1050" dirty="0"/>
          </a:p>
        </p:txBody>
      </p:sp>
      <p:sp>
        <p:nvSpPr>
          <p:cNvPr id="15" name="Text 12"/>
          <p:cNvSpPr/>
          <p:nvPr/>
        </p:nvSpPr>
        <p:spPr>
          <a:xfrm>
            <a:off x="6507328" y="3858768"/>
            <a:ext cx="4843120" cy="1097280"/>
          </a:xfrm>
          <a:prstGeom prst="rect">
            <a:avLst/>
          </a:prstGeom>
          <a:noFill/>
          <a:ln/>
        </p:spPr>
        <p:txBody>
          <a:bodyPr wrap="square" lIns="0" tIns="0" rIns="0" bIns="0" rtlCol="0" anchor="t"/>
          <a:lstStyle/>
          <a:p>
            <a:pPr marL="0" indent="0">
              <a:lnSpc>
                <a:spcPct val="124000"/>
              </a:lnSpc>
              <a:buNone/>
            </a:pPr>
            <a:r>
              <a:rPr lang="en-US" sz="1250" dirty="0">
                <a:solidFill>
                  <a:srgbClr val="3A3844"/>
                </a:solidFill>
                <a:latin typeface="Arial" pitchFamily="34" charset="0"/>
                <a:ea typeface="Arial" pitchFamily="34" charset="-122"/>
                <a:cs typeface="Arial" pitchFamily="34" charset="-120"/>
              </a:rPr>
              <a:t>Al recibir, su código corre. Si el estado no quedó en orden antes, puede llamar otra vez y cobrar dos veces. Así se perdieron 3,6 millones de ether en The DAO.</a:t>
            </a:r>
            <a:endParaRPr lang="en-US" sz="1250" dirty="0"/>
          </a:p>
        </p:txBody>
      </p:sp>
      <p:sp>
        <p:nvSpPr>
          <p:cNvPr id="16" name="Shape 13"/>
          <p:cNvSpPr/>
          <p:nvPr/>
        </p:nvSpPr>
        <p:spPr>
          <a:xfrm>
            <a:off x="566928" y="5303520"/>
            <a:ext cx="11057839" cy="777240"/>
          </a:xfrm>
          <a:prstGeom prst="rect">
            <a:avLst/>
          </a:prstGeom>
          <a:solidFill>
            <a:srgbClr val="F2F0F5"/>
          </a:solidFill>
          <a:ln w="22225">
            <a:solidFill>
              <a:srgbClr val="7152E9"/>
            </a:solidFill>
            <a:prstDash val="solid"/>
          </a:ln>
          <a:effectLst>
            <a:outerShdw blurRad="101600" dist="63500" dir="2700000" algn="bl" rotWithShape="0">
              <a:srgbClr val="5638C9">
                <a:alpha val="100000"/>
              </a:srgbClr>
            </a:outerShdw>
          </a:effectLst>
        </p:spPr>
      </p:sp>
      <p:sp>
        <p:nvSpPr>
          <p:cNvPr id="17" name="Text 14"/>
          <p:cNvSpPr/>
          <p:nvPr/>
        </p:nvSpPr>
        <p:spPr>
          <a:xfrm>
            <a:off x="841248" y="5440680"/>
            <a:ext cx="475488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Y ESO ES LO QUE ARREGLA EL PASO SIGUIENTE</a:t>
            </a:r>
            <a:endParaRPr lang="en-US" sz="1050" dirty="0"/>
          </a:p>
        </p:txBody>
      </p:sp>
      <p:sp>
        <p:nvSpPr>
          <p:cNvPr id="18" name="Text 15"/>
          <p:cNvSpPr/>
          <p:nvPr/>
        </p:nvSpPr>
        <p:spPr>
          <a:xfrm>
            <a:off x="841248" y="5669280"/>
            <a:ext cx="10509199" cy="457200"/>
          </a:xfrm>
          <a:prstGeom prst="rect">
            <a:avLst/>
          </a:prstGeom>
          <a:noFill/>
          <a:ln/>
        </p:spPr>
        <p:txBody>
          <a:bodyPr wrap="square" lIns="0" tIns="0" rIns="0" bIns="0" rtlCol="0" anchor="t"/>
          <a:lstStyle/>
          <a:p>
            <a:pPr marL="0" indent="0">
              <a:lnSpc>
                <a:spcPct val="124000"/>
              </a:lnSpc>
              <a:buNone/>
            </a:pPr>
            <a:r>
              <a:rPr lang="en-US" sz="1300" dirty="0">
                <a:solidFill>
                  <a:srgbClr val="3A3844"/>
                </a:solidFill>
                <a:latin typeface="Arial" pitchFamily="34" charset="0"/>
                <a:ea typeface="Arial" pitchFamily="34" charset="-122"/>
                <a:cs typeface="Arial" pitchFamily="34" charset="-120"/>
              </a:rPr>
              <a:t>Por eso saldo[msg.sender] = 0 va ANTES del envío, y no después.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CIERRE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LA CLASE ENTERA EN UNA TABLA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3291840"/>
        </p:xfrm>
        <a:graphic>
          <a:graphicData uri="http://schemas.openxmlformats.org/drawingml/2006/table">
            <a:tbl>
              <a:tblPr/>
              <a:tblGrid>
                <a:gridCol w="82296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gridCol w="4931359">
                  <a:extLst>
                    <a:ext uri="{9D8B030D-6E8A-4147-A177-3AD203B41FA5}">
                      <a16:colId xmlns:a16="http://schemas.microsoft.com/office/drawing/2014/main" val="20002"/>
                    </a:ext>
                  </a:extLst>
                </a:gridCol>
              </a:tblGrid>
              <a:tr h="310896">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PASO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LO QUE SE ROMPIÓ EN PANTALLA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marL="0" indent="0">
                        <a:buNone/>
                      </a:pPr>
                      <a:r>
                        <a:rPr lang="en-US" sz="900" b="1" kern="0" spc="110" dirty="0">
                          <a:solidFill>
                            <a:srgbClr val="FFFFFF"/>
                          </a:solidFill>
                          <a:latin typeface="Courier New" pitchFamily="34" charset="0"/>
                          <a:ea typeface="Courier New" pitchFamily="34" charset="-122"/>
                          <a:cs typeface="Courier New" pitchFamily="34" charset="-120"/>
                        </a:rPr>
                        <a:t>LO QUE LO ARREGLÓ</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extLst>
                  <a:ext uri="{0D108BD9-81ED-4DB2-BD59-A6C34878D82A}">
                    <a16:rowId xmlns:a16="http://schemas.microsoft.com/office/drawing/2014/main" val="10000"/>
                  </a:ext>
                </a:extLst>
              </a:tr>
              <a:tr h="49682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El equipo cambió de manos sin que nadie lo devolviera.</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Una guardia: el contrato aprende a decir NO.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682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Un contrato por equipo no escala.</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struct y mapping: una tabla adentro.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2"/>
                  </a:ext>
                </a:extLst>
              </a:tr>
              <a:tr h="49682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Un equipo que no existe aparecía como disponible.</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El campo existe, y revertir en vez de mentir.</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682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4</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Cualquiera registraba inventario inventado.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Constructor y modificador: alguien responde.</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4"/>
                  </a:ext>
                </a:extLst>
              </a:tr>
              <a:tr h="49682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5</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Nadie devolvía y la mora no se podía medir.</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Un plazo y el reloj del bloque.</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6824">
                <a:tc>
                  <a:txBody>
                    <a:bodyPr/>
                    <a:lstStyle/>
                    <a:p>
                      <a:pPr marL="0" indent="0">
                        <a:buNone/>
                      </a:pPr>
                      <a:r>
                        <a:rPr lang="en-US" sz="1250" b="1" dirty="0">
                          <a:solidFill>
                            <a:srgbClr val="0F0F11"/>
                          </a:solidFill>
                          <a:latin typeface="Courier New" pitchFamily="34" charset="0"/>
                          <a:ea typeface="Courier New" pitchFamily="34" charset="-122"/>
                          <a:cs typeface="Courier New" pitchFamily="34" charset="-120"/>
                        </a:rPr>
                        <a:t>6</a:t>
                      </a:r>
                      <a:endParaRPr lang="en-US" sz="1250" dirty="0">
                        <a:latin typeface="Courier New" charset="0"/>
                        <a:ea typeface="Courier New" charset="0"/>
                        <a:cs typeface="Courier New"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Estar en mora no costaba nada.</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marL="0" indent="0">
                        <a:buNone/>
                      </a:pPr>
                      <a:r>
                        <a:rPr lang="en-US" sz="1250" dirty="0">
                          <a:solidFill>
                            <a:srgbClr val="3A3844"/>
                          </a:solidFill>
                          <a:latin typeface="Arial" pitchFamily="34" charset="0"/>
                          <a:ea typeface="Arial" pitchFamily="34" charset="-122"/>
                          <a:cs typeface="Arial" pitchFamily="34" charset="-120"/>
                        </a:rPr>
                        <a:t>Un depósito, y el patrón de retiro para moverlo sin riesgo.</a:t>
                      </a:r>
                      <a:endParaRPr lang="en-US" sz="1250" dirty="0">
                        <a:latin typeface="Arial" charset="0"/>
                        <a:ea typeface="Arial" charset="0"/>
                        <a:cs typeface="Arial" charset="0"/>
                      </a:endParaRPr>
                    </a:p>
                  </a:txBody>
                  <a:tcPr marL="101600" marR="101600" marT="76200" marB="76200">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extLst>
                  <a:ext uri="{0D108BD9-81ED-4DB2-BD59-A6C34878D82A}">
                    <a16:rowId xmlns:a16="http://schemas.microsoft.com/office/drawing/2014/main" val="10006"/>
                  </a:ext>
                </a:extLst>
              </a:tr>
            </a:tbl>
          </a:graphicData>
        </a:graphic>
      </p:graphicFrame>
      <p:sp>
        <p:nvSpPr>
          <p:cNvPr id="9" name="Shape 5"/>
          <p:cNvSpPr/>
          <p:nvPr/>
        </p:nvSpPr>
        <p:spPr>
          <a:xfrm>
            <a:off x="548640" y="1764792"/>
            <a:ext cx="11094415" cy="3328416"/>
          </a:xfrm>
          <a:prstGeom prst="rect">
            <a:avLst/>
          </a:prstGeom>
          <a:ln w="22225">
            <a:solidFill>
              <a:srgbClr val="0F0F11"/>
            </a:solidFill>
            <a:prstDash val="solid"/>
          </a:ln>
        </p:spPr>
      </p:sp>
      <p:sp>
        <p:nvSpPr>
          <p:cNvPr id="10" name="Text 6"/>
          <p:cNvSpPr/>
          <p:nvPr/>
        </p:nvSpPr>
        <p:spPr>
          <a:xfrm>
            <a:off x="566928" y="5257800"/>
            <a:ext cx="11057839" cy="731520"/>
          </a:xfrm>
          <a:prstGeom prst="rect">
            <a:avLst/>
          </a:prstGeom>
          <a:noFill/>
          <a:ln/>
        </p:spPr>
        <p:txBody>
          <a:bodyPr wrap="square" lIns="0" tIns="0" rIns="0" bIns="0" rtlCol="0" anchor="t"/>
          <a:lstStyle/>
          <a:p>
            <a:pPr marL="0" indent="0">
              <a:lnSpc>
                <a:spcPct val="124000"/>
              </a:lnSpc>
              <a:buNone/>
            </a:pPr>
            <a:r>
              <a:rPr lang="en-US" sz="1500" dirty="0">
                <a:solidFill>
                  <a:srgbClr val="A35604"/>
                </a:solidFill>
                <a:latin typeface="Arial" pitchFamily="34" charset="0"/>
                <a:ea typeface="Arial" pitchFamily="34" charset="-122"/>
                <a:cs typeface="Arial" pitchFamily="34" charset="-120"/>
              </a:rPr>
              <a:t>Si mañana recuerdan una sola cosa de hoy, que sea esta: en un contrato, los errores caros casi nunca son errores de sintaxis. Son reglas que nadie escribió.</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LA PREGUNTA DE SIEMPRE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3000" dirty="0">
                <a:solidFill>
                  <a:srgbClr val="0F0F11"/>
                </a:solidFill>
                <a:latin typeface="Arial Black" pitchFamily="34" charset="0"/>
                <a:ea typeface="Arial Black" pitchFamily="34" charset="-122"/>
                <a:cs typeface="Arial Black" pitchFamily="34" charset="-120"/>
              </a:rPr>
              <a:t>¿ESTO NECESITABA UNA BLOCKCHAIN?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Shape 5"/>
          <p:cNvSpPr/>
          <p:nvPr/>
        </p:nvSpPr>
        <p:spPr>
          <a:xfrm>
            <a:off x="566928" y="1783080"/>
            <a:ext cx="11057839" cy="1371600"/>
          </a:xfrm>
          <a:prstGeom prst="rect">
            <a:avLst/>
          </a:prstGeom>
          <a:solidFill>
            <a:srgbClr val="FFFFFF"/>
          </a:solidFill>
          <a:ln w="34925">
            <a:solidFill>
              <a:srgbClr val="B3261E"/>
            </a:solidFill>
            <a:prstDash val="solid"/>
          </a:ln>
          <a:effectLst>
            <a:outerShdw blurRad="101600" dist="63500" dir="2700000" algn="bl" rotWithShape="0">
              <a:srgbClr val="B3261E">
                <a:alpha val="100000"/>
              </a:srgbClr>
            </a:outerShdw>
          </a:effectLst>
        </p:spPr>
      </p:sp>
      <p:sp>
        <p:nvSpPr>
          <p:cNvPr id="9" name="Text 6"/>
          <p:cNvSpPr/>
          <p:nvPr/>
        </p:nvSpPr>
        <p:spPr>
          <a:xfrm>
            <a:off x="950976" y="1965960"/>
            <a:ext cx="10289743" cy="1005840"/>
          </a:xfrm>
          <a:prstGeom prst="rect">
            <a:avLst/>
          </a:prstGeom>
          <a:noFill/>
          <a:ln/>
        </p:spPr>
        <p:txBody>
          <a:bodyPr wrap="square" lIns="0" tIns="0" rIns="0" bIns="0" rtlCol="0" anchor="ctr"/>
          <a:lstStyle/>
          <a:p>
            <a:pPr marL="0" indent="0">
              <a:lnSpc>
                <a:spcPct val="106000"/>
              </a:lnSpc>
              <a:buNone/>
            </a:pPr>
            <a:r>
              <a:rPr lang="en-US" sz="2000" dirty="0">
                <a:solidFill>
                  <a:srgbClr val="0F0F11"/>
                </a:solidFill>
                <a:latin typeface="Arial Black" pitchFamily="34" charset="0"/>
                <a:ea typeface="Arial Black" pitchFamily="34" charset="-122"/>
                <a:cs typeface="Arial Black" pitchFamily="34" charset="-120"/>
              </a:rPr>
              <a:t>Para el laboratorio de nuestra universidad: no. Una hoja de cálculo y una persona honesta hacen lo mismo, más rápido y gratis.</a:t>
            </a:r>
            <a:endParaRPr lang="en-US" sz="2000" dirty="0"/>
          </a:p>
        </p:txBody>
      </p:sp>
      <p:sp>
        <p:nvSpPr>
          <p:cNvPr id="10" name="Shape 7"/>
          <p:cNvSpPr/>
          <p:nvPr/>
        </p:nvSpPr>
        <p:spPr>
          <a:xfrm>
            <a:off x="566928" y="3337560"/>
            <a:ext cx="5391760" cy="1920240"/>
          </a:xfrm>
          <a:prstGeom prst="rect">
            <a:avLst/>
          </a:prstGeom>
          <a:solidFill>
            <a:srgbClr val="FFFFFF"/>
          </a:solidFill>
          <a:ln w="22225">
            <a:solidFill>
              <a:srgbClr val="F07F06"/>
            </a:solidFill>
            <a:prstDash val="solid"/>
          </a:ln>
          <a:effectLst>
            <a:outerShdw blurRad="101600" dist="63500" dir="2700000" algn="bl" rotWithShape="0">
              <a:srgbClr val="F07F06">
                <a:alpha val="100000"/>
              </a:srgbClr>
            </a:outerShdw>
          </a:effectLst>
        </p:spPr>
      </p:sp>
      <p:sp>
        <p:nvSpPr>
          <p:cNvPr id="11" name="Text 8"/>
          <p:cNvSpPr/>
          <p:nvPr/>
        </p:nvSpPr>
        <p:spPr>
          <a:xfrm>
            <a:off x="841248" y="3520440"/>
            <a:ext cx="4843120" cy="292608"/>
          </a:xfrm>
          <a:prstGeom prst="rect">
            <a:avLst/>
          </a:prstGeom>
          <a:noFill/>
          <a:ln/>
        </p:spPr>
        <p:txBody>
          <a:bodyPr wrap="square" lIns="0" tIns="0" rIns="0" bIns="0" rtlCol="0" anchor="ctr"/>
          <a:lstStyle/>
          <a:p>
            <a:pPr marL="0" indent="0">
              <a:buNone/>
            </a:pPr>
            <a:r>
              <a:rPr lang="en-US" sz="1050" b="1" kern="0" spc="130" dirty="0">
                <a:solidFill>
                  <a:srgbClr val="A35604"/>
                </a:solidFill>
                <a:latin typeface="Courier New" pitchFamily="34" charset="0"/>
                <a:ea typeface="Courier New" pitchFamily="34" charset="-122"/>
                <a:cs typeface="Courier New" pitchFamily="34" charset="-120"/>
              </a:rPr>
              <a:t>CUÁNDO SÍ TENDRÍA SENTIDO</a:t>
            </a:r>
            <a:endParaRPr lang="en-US" sz="1050" dirty="0"/>
          </a:p>
        </p:txBody>
      </p:sp>
      <p:sp>
        <p:nvSpPr>
          <p:cNvPr id="12" name="Text 9"/>
          <p:cNvSpPr/>
          <p:nvPr/>
        </p:nvSpPr>
        <p:spPr>
          <a:xfrm>
            <a:off x="841248" y="3904488"/>
            <a:ext cx="4843120" cy="1188720"/>
          </a:xfrm>
          <a:prstGeom prst="rect">
            <a:avLst/>
          </a:prstGeom>
          <a:noFill/>
          <a:ln/>
        </p:spPr>
        <p:txBody>
          <a:bodyPr wrap="square" lIns="0" tIns="0" rIns="0" bIns="0" rtlCol="0" anchor="t"/>
          <a:lstStyle/>
          <a:p>
            <a:pPr marL="0" indent="0">
              <a:lnSpc>
                <a:spcPct val="124000"/>
              </a:lnSpc>
              <a:buNone/>
            </a:pPr>
            <a:r>
              <a:rPr lang="en-US" sz="1350" dirty="0">
                <a:solidFill>
                  <a:srgbClr val="3A3844"/>
                </a:solidFill>
                <a:latin typeface="Arial" pitchFamily="34" charset="0"/>
                <a:ea typeface="Arial" pitchFamily="34" charset="-122"/>
                <a:cs typeface="Arial" pitchFamily="34" charset="-120"/>
              </a:rPr>
              <a:t>Si el inventario fuera compartido entre varias universidades que no se fían entre sí. O si el depósito tuviera que devolverse sin que nadie pueda decidir no devolverlo.</a:t>
            </a:r>
            <a:endParaRPr lang="en-US" sz="1350" dirty="0"/>
          </a:p>
        </p:txBody>
      </p:sp>
      <p:sp>
        <p:nvSpPr>
          <p:cNvPr id="13" name="Shape 10"/>
          <p:cNvSpPr/>
          <p:nvPr/>
        </p:nvSpPr>
        <p:spPr>
          <a:xfrm>
            <a:off x="6233008" y="3337560"/>
            <a:ext cx="5391760" cy="1920240"/>
          </a:xfrm>
          <a:prstGeom prst="rect">
            <a:avLst/>
          </a:prstGeom>
          <a:solidFill>
            <a:srgbClr val="FFFFFF"/>
          </a:solidFill>
          <a:ln w="22225">
            <a:solidFill>
              <a:srgbClr val="7152E9"/>
            </a:solidFill>
            <a:prstDash val="solid"/>
          </a:ln>
          <a:effectLst>
            <a:outerShdw blurRad="101600" dist="63500" dir="2700000" algn="bl" rotWithShape="0">
              <a:srgbClr val="7152E9">
                <a:alpha val="100000"/>
              </a:srgbClr>
            </a:outerShdw>
          </a:effectLst>
        </p:spPr>
      </p:sp>
      <p:sp>
        <p:nvSpPr>
          <p:cNvPr id="14" name="Text 11"/>
          <p:cNvSpPr/>
          <p:nvPr/>
        </p:nvSpPr>
        <p:spPr>
          <a:xfrm>
            <a:off x="6507328" y="3520440"/>
            <a:ext cx="4843120" cy="292608"/>
          </a:xfrm>
          <a:prstGeom prst="rect">
            <a:avLst/>
          </a:prstGeom>
          <a:noFill/>
          <a:ln/>
        </p:spPr>
        <p:txBody>
          <a:bodyPr wrap="square" lIns="0" tIns="0" rIns="0" bIns="0" rtlCol="0" anchor="ctr"/>
          <a:lstStyle/>
          <a:p>
            <a:pPr marL="0" indent="0">
              <a:buNone/>
            </a:pPr>
            <a:r>
              <a:rPr lang="en-US" sz="1050" b="1" kern="0" spc="130" dirty="0">
                <a:solidFill>
                  <a:srgbClr val="5638C9"/>
                </a:solidFill>
                <a:latin typeface="Courier New" pitchFamily="34" charset="0"/>
                <a:ea typeface="Courier New" pitchFamily="34" charset="-122"/>
                <a:cs typeface="Courier New" pitchFamily="34" charset="-120"/>
              </a:rPr>
              <a:t>LO QUE DE VERDAD APRENDIERON HOY</a:t>
            </a:r>
            <a:endParaRPr lang="en-US" sz="1050" dirty="0"/>
          </a:p>
        </p:txBody>
      </p:sp>
      <p:sp>
        <p:nvSpPr>
          <p:cNvPr id="15" name="Text 12"/>
          <p:cNvSpPr/>
          <p:nvPr/>
        </p:nvSpPr>
        <p:spPr>
          <a:xfrm>
            <a:off x="6507328" y="3904488"/>
            <a:ext cx="4843120" cy="1188720"/>
          </a:xfrm>
          <a:prstGeom prst="rect">
            <a:avLst/>
          </a:prstGeom>
          <a:noFill/>
          <a:ln/>
        </p:spPr>
        <p:txBody>
          <a:bodyPr wrap="square" lIns="0" tIns="0" rIns="0" bIns="0" rtlCol="0" anchor="t"/>
          <a:lstStyle/>
          <a:p>
            <a:pPr marL="0" indent="0">
              <a:lnSpc>
                <a:spcPct val="124000"/>
              </a:lnSpc>
              <a:buNone/>
            </a:pPr>
            <a:r>
              <a:rPr lang="en-US" sz="1350" dirty="0">
                <a:solidFill>
                  <a:srgbClr val="3A3844"/>
                </a:solidFill>
                <a:latin typeface="Arial" pitchFamily="34" charset="0"/>
                <a:ea typeface="Arial" pitchFamily="34" charset="-122"/>
                <a:cs typeface="Arial" pitchFamily="34" charset="-120"/>
              </a:rPr>
              <a:t>A leer un contrato y saber qué regla hace cumplir, cuánto cuesta, y quién manda adentro. Eso sirve igual para decidir que NO hace falta.</a:t>
            </a:r>
            <a:endParaRPr lang="en-US" sz="1350" dirty="0"/>
          </a:p>
        </p:txBody>
      </p:sp>
      <p:sp>
        <p:nvSpPr>
          <p:cNvPr id="16" name="Text 13"/>
          <p:cNvSpPr/>
          <p:nvPr/>
        </p:nvSpPr>
        <p:spPr>
          <a:xfrm>
            <a:off x="566928" y="5440680"/>
            <a:ext cx="11057839" cy="548640"/>
          </a:xfrm>
          <a:prstGeom prst="rect">
            <a:avLst/>
          </a:prstGeom>
          <a:noFill/>
          <a:ln/>
        </p:spPr>
        <p:txBody>
          <a:bodyPr wrap="square" lIns="0" tIns="0" rIns="0" bIns="0" rtlCol="0" anchor="t"/>
          <a:lstStyle/>
          <a:p>
            <a:pPr marL="0" indent="0" algn="ctr">
              <a:lnSpc>
                <a:spcPct val="124000"/>
              </a:lnSpc>
              <a:buNone/>
            </a:pPr>
            <a:r>
              <a:rPr lang="en-US" sz="1500" dirty="0">
                <a:solidFill>
                  <a:srgbClr val="A35604"/>
                </a:solidFill>
                <a:latin typeface="Arial" pitchFamily="34" charset="0"/>
                <a:ea typeface="Arial" pitchFamily="34" charset="-122"/>
                <a:cs typeface="Arial" pitchFamily="34" charset="-120"/>
              </a:rPr>
              <a:t>Saber distinguir esos dos casos vale más que saber escribir el contrato.</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marL="0" indent="0">
              <a:buNone/>
            </a:pPr>
            <a:r>
              <a:rPr lang="en-US" sz="950" kern="0" spc="16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marL="0" indent="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marL="0" indent="0">
              <a:buNone/>
            </a:pPr>
            <a:r>
              <a:rPr lang="en-US" sz="800" kern="0" spc="120" dirty="0">
                <a:solidFill>
                  <a:srgbClr val="6F6B80"/>
                </a:solidFill>
                <a:latin typeface="Courier New" pitchFamily="34" charset="0"/>
                <a:ea typeface="Courier New" pitchFamily="34" charset="-122"/>
                <a:cs typeface="Courier New" pitchFamily="34" charset="-120"/>
              </a:rPr>
              <a:t>UN CONTRATO, PASO A PASO · SOLIDITY EN VIVO</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marL="0" indent="0" algn="r">
              <a:buNone/>
            </a:pPr>
            <a:r>
              <a:rPr lang="en-US" sz="800" kern="0" spc="12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marL="0" indent="0" algn="r">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blurRad="101600" dist="63500" dir="2700000" algn="bl" rotWithShape="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marL="0" indent="0">
              <a:lnSpc>
                <a:spcPct val="106000"/>
              </a:lnSpc>
              <a:buNone/>
            </a:pPr>
            <a:r>
              <a:rPr lang="en-US" sz="2000" dirty="0">
                <a:solidFill>
                  <a:srgbClr val="0F0F11"/>
                </a:solidFill>
                <a:latin typeface="Arial Black" pitchFamily="34" charset="0"/>
                <a:ea typeface="Arial Black" pitchFamily="34" charset="-122"/>
                <a:cs typeface="Arial Black" pitchFamily="34" charset="-120"/>
              </a:rPr>
              <a:t>Repitan los seis pasos solos, de memoria hasta donde puedan, y con la guía cuando se traben. ¿En cuál paso se demoraron más, y por qué?</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marL="0" indent="0">
              <a:buNone/>
            </a:pPr>
            <a:r>
              <a:rPr lang="en-US" sz="1050" b="1" kern="0" spc="13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Repetir los seis pasos en Remix, solos. La guía del estudiante trae cada paso con su comprobación y una tabla de errores frecuentes.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Elegir UNO de los tres ejercicios de ampliación y contestar por escrito sus tres preguntas de diseño, antes de escribir código.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Evidencia: la dirección del contrato desplegado y una captura de una transacción que REVIERTA. La que revierte, no la que funciona.</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1"/>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icPr>
            <a:picLocks noChangeAspect="1"/>
          </p:cNvPicPr>
          <p:nvPr/>
        </p:nvPicPr>
        <p:blipFill>
          <a:blip r:embed="rId3"/>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marL="0" indent="0">
              <a:buNone/>
            </a:pPr>
            <a:r>
              <a:rPr lang="en-US" sz="1150" kern="0" spc="18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marL="0" indent="0">
              <a:lnSpc>
                <a:spcPct val="100000"/>
              </a:lnSpc>
              <a:buNone/>
            </a:pPr>
            <a:r>
              <a:rPr lang="en-US" sz="3600" dirty="0">
                <a:solidFill>
                  <a:srgbClr val="FFFFFF"/>
                </a:solidFill>
                <a:latin typeface="Arial Black" pitchFamily="34" charset="0"/>
                <a:ea typeface="Arial Black" pitchFamily="34" charset="-122"/>
                <a:cs typeface="Arial Black" pitchFamily="34" charset="-120"/>
              </a:rPr>
              <a:t>Un contrato no es inteligente: hace exactamente lo que está escrito, incluso cuando eso es un desastre.</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marL="0" indent="0">
              <a:lnSpc>
                <a:spcPct val="125000"/>
              </a:lnSpc>
              <a:buNone/>
            </a:pPr>
            <a:r>
              <a:rPr lang="en-US" sz="1500" dirty="0">
                <a:solidFill>
                  <a:srgbClr val="B9B4C4"/>
                </a:solidFill>
                <a:latin typeface="Arial" pitchFamily="34" charset="0"/>
                <a:ea typeface="Arial" pitchFamily="34" charset="-122"/>
                <a:cs typeface="Arial" pitchFamily="34" charset="-120"/>
              </a:rPr>
              <a:t>Hoy escribimos seis versiones y rompimos cinco. Cada función que quedó existe porque algo falló sin ella.</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marL="0" indent="0">
              <a:buNone/>
            </a:pPr>
            <a:r>
              <a:rPr lang="en-US" sz="1100" kern="0" spc="120" dirty="0">
                <a:solidFill>
                  <a:srgbClr val="F07F06"/>
                </a:solidFill>
                <a:latin typeface="Courier New" pitchFamily="34" charset="0"/>
                <a:ea typeface="Courier New" pitchFamily="34" charset="-122"/>
                <a:cs typeface="Courier New" pitchFamily="34" charset="-120"/>
              </a:rPr>
              <a:t>LA PRÓXIMA SESIÓN: LOS MISMOS PATRONES, PERO CON CÓDIGO YA AUDITADO POR MILES DE PERSONAS. Y LA PRIMERA VEZ QUE ESTO TOCA UNA RED DE VERDAD.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TotalTime>
  <Words>5503</Words>
  <Application>Microsoft Office PowerPoint</Application>
  <PresentationFormat>Panorámica</PresentationFormat>
  <Paragraphs>633</Paragraphs>
  <Slides>42</Slides>
  <Notes>42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42</vt:i4>
      </vt:variant>
    </vt:vector>
  </HeadingPairs>
  <TitlesOfParts>
    <vt:vector size="47" baseType="lpstr">
      <vt:lpstr>Arial</vt:lpstr>
      <vt:lpstr>Arial Black</vt:lpstr>
      <vt:lpstr>Calibri</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contrato, paso a paso</dc:title>
  <dc:subject>Un contrato, paso a paso</dc:subject>
  <dc:creator>Universidad de San Buenaventura Medellín</dc:creator>
  <cp:lastModifiedBy>Jorge Andres Dapena Ossa - Docente IUE</cp:lastModifiedBy>
  <cp:revision>3</cp:revision>
  <dcterms:created xsi:type="dcterms:W3CDTF">2026-10-01T19:41:36Z</dcterms:created>
  <dcterms:modified xsi:type="dcterms:W3CDTF">2026-10-01T20:47:47Z</dcterms:modified>
</cp:coreProperties>
</file>