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minutos. Bloque A el caso (22 min), bloque B el encargo (18 min), bloque C la entrega (5 min). No revelar el resultado de T1: es el hallazgo que deben hacer ellos.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Decir de entrada que la exposición es de 5 minutos y que habrá preguntas. Eso cambia cómo escuchan el resto.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Unos 22 minutos. Presentar el caso sin revelar un veredicto: el objetivo es que examinen la afirmación, no que adopten la del docente.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Preguntar a la clase quién ha visto esta afirmación antes. Casi todos levantan la mano. Ese es el punto.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Insistir: la crítica no va contra Estonia. Va contra una palabra. Si empezamos atacando el país, los estudiantes se ponen a la defensiva del lado equivocado.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Conectar con la sesión 2: esto es exactamente un árbol de Merkle sobre datos, con sellado de tiempo. Ya lo construimos.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gancho de la sesión. Leerlo despacio. No adelantar el hallazgo de T1: eso lo encuentran ellos.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alguien pregunta si publicar en periódico es serio: sí, lo es. Es una forma clásica y sólida de anclaje público. El punto no es que sea malo, es que es OTRA COSA.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Enlazar con el árbol de decisión de la sesión 1: la pregunta no es «¿es blockchain?» sino «¿qué propiedad necesito y este sistema la tiene?».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Unos 18 minutos. Presentar las seis tareas y marcar las tres NO-IA. Insistir en que las fuentes se abren y se miran; lo que no se abrió no se cita.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tercero es el que separa un trabajo bueno de uno excelente. Vale 15 % solo.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Repartir el PDF aquí. Cada equipo lo necesita abierto para el resto de la explicación.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hacer esta búsqueda en vivo. El hallazgo es de ellos. Si alguien lo grita en clase, pedirle que se lo guarde.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SÍ conviene demostrar la herramienta en vivo, pero con otro sitio cualquiera (la página de la universidad, por ejemplo). Enseña el método sin revelar el hallazgo.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tarea que más se parece a lo que hace un ingeniero cuando evalúa una tecnología para un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segunda pregunta de T6 es un ensayo del anteproyecto: mismo criterio de pertinencia, mismo filtro de enunciar el problema sin la tecnología.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verificadas y accesibles sin registro. Si alguna cae antes de la entrega, avisar por el canal del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fecha de consulta no es burocracia: en este caso las páginas cambian de redacción, y T2 se lo va a demostrar en carne propia.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Unos 5 minutos. Formato de la exposición de la próxima sesión, rúbrica y reglas sobre IA. Resolver dudas de entrega antes de cerrar.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equipos de tres y 5 minutos más preguntas, calcular unos 7-8 minutos por equipo en la sesión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Decir en voz alta que el 30 % se comprueba al azar. Esa frase hace la mitad del trabajo de disuasión.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Prohibirlo sería inaplicable y además falso: la herramienta se va a usar. Lo que se evalúa es si fueron a la fuente.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aprendizaje que sobrevive al curso. La tentación del escándalo es fuerte y hay que desactivarla antes de que empiecen.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Leer la frase y cerrar. Recordar: la próxima sesión, cinco minutos por equipo, con las fuentes abiertas para responder preguntas. 1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6858000"/>
          </a:xfrm>
          <a:prstGeom prst="rect">
            <a:avLst/>
          </a:prstGeom>
          <a:solidFill>
            <a:srgbClr val="F07F0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33172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7947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VERIFICAR</a:t>
            </a:r>
            <a:endParaRPr lang="en-US" sz="26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115568"/>
            <a:ext cx="310896" cy="3108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809744" y="109728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4 · ACTIVIDAD EN EQUIPO · TRABAJO AUTÓNOMO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4389120" y="1719072"/>
            <a:ext cx="7269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¿ESTONIA ESTÁ</a:t>
            </a:r>
            <a:endParaRPr lang="en-US" sz="38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 VERDAD EN LA</a:t>
            </a:r>
            <a:endParaRPr lang="en-US" sz="38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CADENA DE BLOQUES?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389120" y="4224528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país entero repetido como caso de éxito. Una afirmación que casi nadie ha ido a verificar.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4389120" y="5074920"/>
            <a:ext cx="7269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86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Blockchain y Web 3.0 · Ingeniería de Sistemas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86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de San Buenaventura Medellín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DE HOY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CÓMO VAMOS A USAR ESTOS 45 MINUTOS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04 · ACTIVIDAD · ¿ESTONIA ESTÁ DE VERDAD EN LA CADENA?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final de la sesión cada equipo se va con un encargo claro, las fuentes en la mano y una fecha. La exposición es la próxima clase.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423160"/>
            <a:ext cx="11057839" cy="100584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6928" y="2423160"/>
            <a:ext cx="777240" cy="1005840"/>
          </a:xfrm>
          <a:prstGeom prst="rect">
            <a:avLst/>
          </a:prstGeom>
          <a:solidFill>
            <a:srgbClr val="F07F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2423160"/>
            <a:ext cx="777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1572768" y="257860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CASO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572768" y="29260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se afirma sobre Estonia, quién lo afirma y por qué hay discusión.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9795967" y="242316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~22 min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630168"/>
            <a:ext cx="11057839" cy="100584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66928" y="3630168"/>
            <a:ext cx="777240" cy="1005840"/>
          </a:xfrm>
          <a:prstGeom prst="rect">
            <a:avLst/>
          </a:prstGeom>
          <a:solidFill>
            <a:srgbClr val="D9D6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3630168"/>
            <a:ext cx="777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1572768" y="378561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ENCARGO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1572768" y="413308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tareas. Tres de ellas no se pueden resolver sin abrir documentos.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795967" y="3630168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~18 min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4837176"/>
            <a:ext cx="11057839" cy="100584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6928" y="4837176"/>
            <a:ext cx="777240" cy="1005840"/>
          </a:xfrm>
          <a:prstGeom prst="rect">
            <a:avLst/>
          </a:prstGeom>
          <a:solidFill>
            <a:srgbClr val="D9D6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4837176"/>
            <a:ext cx="777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1572768" y="499262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ENTREGA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1572768" y="5340096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minutos por equipo, la próxima sesión. Y cómo se evalúa.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795967" y="4837176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~5 min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APROXIMADAMENTE 22 MINUTOS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CASO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afirmación que se repite tanto que dejó de examinarse. Vamos a examinarla.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04 · ACTIVIDAD · ¿ESTONIA ESTÁ DE VERDAD EN LA CADENA?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 · EL PUNTO DE PARTIDA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FRASE QUE TODO EL MUNDO REPITE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04 · ACTIVIDAD · ¿ESTONIA ESTÁ DE VERDAD EN LA CADENA?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cualquier lista de «casos de éxito de blockchain en el sector público», Estonia aparece de primera. Siempre con el mismo tono de hecho consumado.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487168"/>
            <a:ext cx="11057839" cy="105156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50976" y="2706624"/>
            <a:ext cx="10289743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2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«Estonia puso sus registros públicos en blockchain.»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1115568" y="3794760"/>
            <a:ext cx="99605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«Fue el primer país del mundo en hacerlo.»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41248" y="4023360"/>
            <a:ext cx="182880" cy="0"/>
          </a:xfrm>
          <a:prstGeom prst="line">
            <a:avLst/>
          </a:prstGeom>
          <a:noFill/>
          <a:ln w="25400">
            <a:solidFill>
              <a:srgbClr val="F07F0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15568" y="4361688"/>
            <a:ext cx="99605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«Las historias clínicas de sus ciudadanos están en la cadena.»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41248" y="4590288"/>
            <a:ext cx="182880" cy="0"/>
          </a:xfrm>
          <a:prstGeom prst="line">
            <a:avLst/>
          </a:prstGeom>
          <a:noFill/>
          <a:ln w="25400">
            <a:solidFill>
              <a:srgbClr val="F07F0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15568" y="4928616"/>
            <a:ext cx="99605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«Lo hace desde antes de que existiera Bitcoin.»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841248" y="5157216"/>
            <a:ext cx="182880" cy="0"/>
          </a:xfrm>
          <a:prstGeom prst="line">
            <a:avLst/>
          </a:prstGeom>
          <a:noFill/>
          <a:ln w="25400">
            <a:solidFill>
              <a:srgbClr val="F07F0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562356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Aparece en presentaciones corporativas, notas de prensa, trabajos de grado, informes de consultoría y material de cursos como este. Cuando algo se repite lo suficiente, deja de necesitar prueba: se vuelve paisaje.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A.2 · ANTES DE DUDAR DE NADA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QUE ESTONIA SÍ TIENE, Y NADIE DISCUTE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04 · ACTIVIDAD · ¿ESTONIA ESTÁ DE VERDAD EN LA CADENA?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Empezar por aquí es cuestión de honestidad. Lo que Estonia construyó es real y es admirable — y no requiere una cadena de bloques.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377440"/>
            <a:ext cx="11057839" cy="73152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450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5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DOCUMENTO DE IDENTIDAD ELECTRÓNICO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2960" y="274320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capacidad de firma digital reconocida legalmente.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3246120"/>
            <a:ext cx="11057839" cy="73152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331927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5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INFRAESTRUCTURA DE INTERCAMBIO DE DATOS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2960" y="361188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entidades del Estado se consultan entre sí sin pedirle papeles al ciudadano.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114800"/>
            <a:ext cx="11057839" cy="73152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4187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5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REGISTROS INTERCONECTADOS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22960" y="448056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Civil, judicial, de propiedad, de salud, empresarial.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66928" y="4983480"/>
            <a:ext cx="11057839" cy="73152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2960" y="505663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5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TRÁMITES SIN FILA NI PAPEL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2960" y="534924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en la mayoría de los países todavía exige presencia física.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66928" y="587044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de esto está en duda. Y nada de esto necesita una cadena de bloques para funcionar.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A.3 · LA PIEZA PEQUEÑA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QUE SÍ ESTÁ EN DUDA SE LLAMA KSI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04 · ACTIVIDAD · ¿ESTONIA ESTÁ DE VERDAD EN LA CADENA?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23444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59536" y="190195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KSI · KEYLESS SIGNATURE INFRASTRUCTURE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" y="2240280"/>
            <a:ext cx="1047262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«Infraestructura de firma sin llaves». La desarrolla Guardtime, una empresa estonia. Su función es detectar si un dato guardado en esos registros fue alterado.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66928" y="318211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Fíjense en lo que hace y en lo que no hace: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611880"/>
            <a:ext cx="5419192" cy="137160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" y="3776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GUARDA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41248" y="4114800"/>
            <a:ext cx="487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HUELLA del dato — su hash. Nunca el dato mismo. Los datos no salen de las instalaciones del cliente.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05576" y="3611880"/>
            <a:ext cx="5419192" cy="137160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79896" y="3776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QUÉ SIRVE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479896" y="4114800"/>
            <a:ext cx="487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Demostrar después que la huella coincide. Es un sistema de INTEGRIDAD: detecta la alteración, no la impide.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166360"/>
            <a:ext cx="11057839" cy="96012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385816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1133856" y="535838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HASTA AQUÍ NO HAY DISCUSIÓN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804672" y="5678424"/>
            <a:ext cx="105823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el mundo está de acuerdo en qué hace KSI. El desacuerdo empieza en cómo se llama.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A.4 · EL NUDO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DESACUERDO, EN UNA LÍNEA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04 · ACTIVIDAD · ¿ESTONIA ESTÁ DE VERDAD EN LA CADENA?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83080"/>
            <a:ext cx="5391760" cy="228600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41248" y="19933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DICEN ELLOS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377440"/>
            <a:ext cx="484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Estonia y Guardtime llaman «blockchain» a KSI, y sostienen que lo hacían desde antes de que se publicara el whitepaper de Bitcoin.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233008" y="1783080"/>
            <a:ext cx="5391760" cy="228600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07328" y="199339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DICEN LOS INDEPENDIENTES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07328" y="2377440"/>
            <a:ext cx="484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KSI es sellado de tiempo por encadenamiento de hashes — una técnica de 1991 — y que llamarlo cadena de bloques es una decisión de mercadeo, no una descripción técnica.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095848" y="4206240"/>
            <a:ext cx="0" cy="457200"/>
          </a:xfrm>
          <a:prstGeom prst="line">
            <a:avLst/>
          </a:prstGeom>
          <a:noFill/>
          <a:ln w="25400">
            <a:solidFill>
              <a:srgbClr val="0F0F11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566928" y="4754880"/>
            <a:ext cx="11057839" cy="132588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974336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133856" y="494690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AQUÍ ESTÁ LO INTERESANTE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804672" y="5285232"/>
            <a:ext cx="105823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propio documento oficial estonio reconoce que, cuando empezaron, ellos mismos llamaban a esta tecnología «hash-linked time-stamping» — sellado de tiempo por encadenamiento de hashes. La fuente oficial contiene el argumento de sus críticos.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A.5 · EL DETALLE TÉCNICO QUE DECIDE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¿DÓNDE ESTÁ LA RAÍZ DE CONFIANZA?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04 · ACTIVIDAD · ¿ESTONIA ESTÁ DE VERDAD EN LA CADENA?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cadena necesita un ancla: algo que haga costoso reescribir la historia. Comparen dónde está el ancla en cada sistema.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377440"/>
            <a:ext cx="5346040" cy="548640"/>
          </a:xfrm>
          <a:prstGeom prst="rect">
            <a:avLst/>
          </a:prstGeom>
          <a:solidFill>
            <a:srgbClr val="0F0F11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" y="2496312"/>
            <a:ext cx="512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1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BITCOIN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66928" y="2377440"/>
            <a:ext cx="534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BITCOIN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3017520"/>
            <a:ext cx="5346040" cy="137160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3200400"/>
            <a:ext cx="48339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competencia de trabajo computacional entre nodos anónimos. Reescribir la historia cuesta energía real, y cualquiera puede comprobarlo sin pedir permiso.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278728" y="2377440"/>
            <a:ext cx="5346040" cy="548640"/>
          </a:xfrm>
          <a:prstGeom prst="rect">
            <a:avLst/>
          </a:prstGeom>
          <a:solidFill>
            <a:srgbClr val="F07F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78728" y="2377440"/>
            <a:ext cx="534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KSI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278728" y="3017520"/>
            <a:ext cx="5346040" cy="137160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534760" y="3200400"/>
            <a:ext cx="48339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publicación periódica del hash en periódicos de circulación mundial. El ancla es un acto editorial, no un mecanismo de consenso.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572000"/>
            <a:ext cx="11057839" cy="1463040"/>
          </a:xfrm>
          <a:prstGeom prst="rect">
            <a:avLst/>
          </a:prstGeom>
          <a:solidFill>
            <a:srgbClr val="F2F0F5"/>
          </a:solidFill>
          <a:ln w="22225">
            <a:solidFill>
              <a:srgbClr val="0F0F11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791456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1133856" y="476402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QUIÉN LO DICE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804672" y="5102352"/>
            <a:ext cx="1058235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no lo afirma un crítico: está en un artículo técnico firmado por tres ingenieros de Guardtime y publicado en un congreso arbitrado. Es la fuente F4 que les entrego. Y no es una acusación — puede ser una decisión de diseño perfectamente razonable. Pero es una raíz de confianza distinta, y hay que llamarla por su nombre.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A.6 · POR QUÉ NO ES PEDANTERÍA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REPUTACIÓN QUE SE PIDE PRESTADA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04 · ACTIVIDAD · ¿ESTONIA ESTÁ DE VERDAD EN LA CADENA?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Podría parecer una discusión de palabras. No lo es, y la razón importa más que el caso.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286000"/>
            <a:ext cx="11057839" cy="109728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50976" y="2505456"/>
            <a:ext cx="1028974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21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Cuando alguien dice «esto es seguro porque está en blockchain», está pidiendo prestada una reputación.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566928" y="3493008"/>
            <a:ext cx="110578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Esa reputación viene de propiedades muy concretas. Un sistema puede tener integridad criptográfica impecable y no tener ninguna de ellas: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66928" y="3977640"/>
            <a:ext cx="1105783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cualquiera pueda participar sin pedir permiso.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nadie pueda censurar una operación.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no exista una entidad capaz de apagar el sistema.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reescribir la historia cueste energía real.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66928" y="5349240"/>
            <a:ext cx="11057839" cy="77724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568696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33856" y="554126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PUNTO QUE QUIERO QUE SE LLEVEN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04672" y="5806440"/>
            <a:ext cx="1058235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sistema depende de que una empresa siga existiendo, la confianza no se eliminó: se movió de sitio.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APROXIMADAMENTE 18 MINUTOS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ENCARGO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tareas. Tres de ellas no se pueden resolver sin abrir documentos y mirar.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04 · ACTIVIDAD · ¿ESTONIA ESTÁ DE VERDAD EN LA CADENA?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B.1 · LO QUE HAY QUE RESPONDER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1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PREGUNTA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04 · ACTIVIDAD · ¿ESTONIA ESTÁ DE VERDAD EN LA CADENA?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83080"/>
            <a:ext cx="11057839" cy="1371600"/>
          </a:xfrm>
          <a:prstGeom prst="rect">
            <a:avLst/>
          </a:prstGeom>
          <a:solidFill>
            <a:srgbClr val="FFFFFF"/>
          </a:solidFill>
          <a:ln w="349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50976" y="1965960"/>
            <a:ext cx="102897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¿El sistema KSI que protege los registros públicos de Estonia es una cadena de bloques?</a:t>
            </a:r>
            <a:endParaRPr lang="en-US" sz="2300" dirty="0"/>
          </a:p>
        </p:txBody>
      </p:sp>
      <p:sp>
        <p:nvSpPr>
          <p:cNvPr id="10" name="Text 7"/>
          <p:cNvSpPr/>
          <p:nvPr/>
        </p:nvSpPr>
        <p:spPr>
          <a:xfrm>
            <a:off x="566928" y="33375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Sí, no, o depende de la definición. Pero si eligen la tercera, quedan obligados a dar la definición y mostrar qué cambia con ella. «Depende» sin definición no es un veredicto: es una forma elegante de no responder.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66928" y="41148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veredicto defendible necesita tres cosas, y las tres se evalúan: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66928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115568" y="46177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 DEFINICIÓN OPERATIVA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047488" y="4700016"/>
            <a:ext cx="65772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Propiedades que se puedan verificar presentes o ausentes en un sistema concreto.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566928" y="5148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115568" y="51480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EVIDENCIA, CITADA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047488" y="5230368"/>
            <a:ext cx="65772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propiedades tiene KSI y cuáles no, con la fuente de cada una.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66928" y="5678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115568" y="5678424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LÍMITE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047488" y="5760720"/>
            <a:ext cx="65772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NO permite concluir la evidencia que reunieron.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B.2 · EL ENCARGO COMPLETO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SEIS TAREAS, TODAS OBLIGATORIAS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04 · ACTIVIDAD · ¿ESTONIA ESTÁ DE VERDAD EN LA CADENA?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tres primeras están marcadas NO-IA: exigen abrir un archivo o una herramienta y mirar. Si las responden sin hacerlo, se nota — las respuestas inventadas no coinciden con lo que hay.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423160"/>
          <a:ext cx="11057839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3017520"/>
                <a:gridCol w="726307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TAREA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EXIGE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T1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Verificación documental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Auditar una afirmación del documento oficial dentro del whitepaper de Bitcoin.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Arqueología web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Recuperar en la Wayback Machine dos versiones de la misma página, separadas por años.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Careo de fuentes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Enfrentar dos citas literales que se contradicen, con su ubicación exacta.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Investigación propia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Conseguir y clasificar tres fuentes nuevas, además de las cinco que entrego.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T5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veredicto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 operativa, tabla de propiedades con fuentes, y el párrafo del límite.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T6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Proyección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tendría que cambiar, y dónde sí sería decisiva la diferencia.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2404872"/>
            <a:ext cx="11094415" cy="369417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B.3 · TAREA 1 · NO-IA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AUDITEN LA AFIRMACIÓN OFICIAL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04 · ACTIVIDAD · ¿ESTONIA ESTÁ DE VERDAD EN LA CADENA?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14300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59536" y="190195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AFIRMACIÓN A AUDITAR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59536" y="2240280"/>
            <a:ext cx="1047262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documento oficial de e-Estonia afirma que el whitepaper de Bitcoin fue el que «acuñó el término blockchain».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66928" y="3035808"/>
            <a:ext cx="110578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Ustedes ya tienen ese whitepaper. Son nueve páginas y lo leyeron en la Sesión 1. Ábranlo y búsquenlo.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66160"/>
            <a:ext cx="2286000" cy="457200"/>
          </a:xfrm>
          <a:prstGeom prst="rect">
            <a:avLst/>
          </a:prstGeom>
          <a:solidFill>
            <a:srgbClr val="F2F0F5"/>
          </a:solidFill>
          <a:ln w="12700">
            <a:solidFill>
              <a:srgbClr val="7152E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3566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blockchain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127248" y="3639312"/>
            <a:ext cx="84975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¿Cuántas veces aparece?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4133088"/>
            <a:ext cx="2286000" cy="457200"/>
          </a:xfrm>
          <a:prstGeom prst="rect">
            <a:avLst/>
          </a:prstGeom>
          <a:solidFill>
            <a:srgbClr val="F2F0F5"/>
          </a:solidFill>
          <a:ln w="12700">
            <a:solidFill>
              <a:srgbClr val="7152E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41330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chain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27248" y="4206240"/>
            <a:ext cx="84975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¿Y separado en dos palabras?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700016"/>
            <a:ext cx="2286000" cy="457200"/>
          </a:xfrm>
          <a:prstGeom prst="rect">
            <a:avLst/>
          </a:prstGeom>
          <a:solidFill>
            <a:srgbClr val="F2F0F5"/>
          </a:solidFill>
          <a:ln w="12700">
            <a:solidFill>
              <a:srgbClr val="7152E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000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¿ ?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3127248" y="4773168"/>
            <a:ext cx="84975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expresiones usa Nakamoto en su lugar?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5266944"/>
            <a:ext cx="2286000" cy="457200"/>
          </a:xfrm>
          <a:prstGeom prst="rect">
            <a:avLst/>
          </a:prstGeom>
          <a:solidFill>
            <a:srgbClr val="F2F0F5"/>
          </a:solidFill>
          <a:ln w="12700">
            <a:solidFill>
              <a:srgbClr val="7152E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66928" y="52669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n ]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127248" y="5340096"/>
            <a:ext cx="84975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referencias corresponden a Haber y Stornetta, y de qué años?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66928" y="5870448"/>
            <a:ext cx="110578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Entregan los conteos exactos, la captura de la búsqueda, las referencias con sus años — y un párrafo sobre qué se sigue de esto, y qué NO se sigue.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B.4 · TAREA 2 · NO-IA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VEAN CÓMO CAMBIÓ EL DISCURSO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04 · ACTIVIDAD · ¿ESTONIA ESTÁ DE VERDAD EN LA CADENA?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páginas web cambian de redacción con los años, y casi nadie lo nota. La Wayback Machine guarda las versiones antiguas.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377440"/>
            <a:ext cx="11057839" cy="566928"/>
          </a:xfrm>
          <a:prstGeom prst="rect">
            <a:avLst/>
          </a:prstGeom>
          <a:solidFill>
            <a:srgbClr val="F2F0F5"/>
          </a:solidFill>
          <a:ln w="12700">
            <a:solidFill>
              <a:srgbClr val="7152E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246888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WAYBACK MACHINE · web.archive.org — el servicio de páginas archivadas de la fundación Internet Archive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66928" y="310896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Peguen ahí la dirección de las páginas de e-Estonia sobre KSI o blockchain y recuperen capturas de al menos dos momentos distintos, separados por varios años.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703320"/>
            <a:ext cx="3200400" cy="86868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76656" y="3822192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1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2016 / 2017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76656" y="4105656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frase de entonces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950208" y="4133088"/>
            <a:ext cx="1188720" cy="0"/>
          </a:xfrm>
          <a:prstGeom prst="line">
            <a:avLst/>
          </a:prstGeom>
          <a:noFill/>
          <a:ln w="31750">
            <a:solidFill>
              <a:srgbClr val="F07F06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5321808" y="3703320"/>
            <a:ext cx="3200400" cy="86868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31536" y="3822192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1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HOY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431536" y="4105656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frase de ahora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705088" y="4133088"/>
            <a:ext cx="411480" cy="0"/>
          </a:xfrm>
          <a:prstGeom prst="line">
            <a:avLst/>
          </a:prstGeom>
          <a:noFill/>
          <a:ln w="31750">
            <a:solidFill>
              <a:srgbClr val="F07F06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9253728" y="3703320"/>
            <a:ext cx="2368296" cy="868680"/>
          </a:xfrm>
          <a:prstGeom prst="rect">
            <a:avLst/>
          </a:prstGeom>
          <a:solidFill>
            <a:srgbClr val="F07F06"/>
          </a:solidFill>
          <a:ln w="22225">
            <a:solidFill>
              <a:srgbClr val="F07F0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53728" y="3703320"/>
            <a:ext cx="2368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¿QUÉ CAMBIÓ?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9253728" y="416052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por qué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66928" y="4800600"/>
            <a:ext cx="11057839" cy="128016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020056"/>
            <a:ext cx="237744" cy="237744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133856" y="499262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DÓNDE MIRAR CON LUPA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804672" y="5330952"/>
            <a:ext cx="105823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los adjetivos que acompañan a la palabra «blockchain», y en las fechas que se citan como origen del proyecto. Entregan las dos capturas con su fecha y enlace permanente, la frase literal de cada una, y una interpretación de por qué pudo cambiar.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B.5 · TAREA 3 · NO-IA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PONGAN A DOS FUENTES A CONTRADECIRSE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04 · ACTIVIDAD · ¿ESTONIA ESTÁ DE VERDAD EN LA CADENA?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Encuentren una afirmación concreta de una fuente oficial y la frase de una fuente independiente que la contradice o la matiza. Las dos, literales.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377440"/>
            <a:ext cx="5208880" cy="182880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" y="25603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FUENTE OFICIAL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41248" y="2926080"/>
            <a:ext cx="466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 literal + dónde está exactamente: página, sección o apartado.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821528" y="3063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VS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415888" y="2377440"/>
            <a:ext cx="5208880" cy="182880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690208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FUENTE INDEPENDIENTE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690208" y="2926080"/>
            <a:ext cx="466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 literal + dónde está exactamente: página, sección o apartado.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434840"/>
            <a:ext cx="11057839" cy="160020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654296"/>
            <a:ext cx="237744" cy="23774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133856" y="462686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SIRVE UN RESUMEN DEL DESACUERDO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804672" y="4965192"/>
            <a:ext cx="1058235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Necesito las dos frases textuales, una al lado de la otra, para poder verlas chocar. Y después, a cuál le creen y por qué.</a:t>
            </a:r>
            <a:endParaRPr lang="en-US" sz="1300" dirty="0"/>
          </a:p>
          <a:p>
            <a:pPr indent="0" marL="0">
              <a:lnSpc>
                <a:spcPct val="124000"/>
              </a:lnSpc>
              <a:buNone/>
            </a:pPr>
            <a:endParaRPr lang="en-US" sz="13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fuente F3 —el artículo arbitrado— es la mina para esta tarea: recoge entrevistas de las dos posiciones y las cita textualmente.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B.6 · TAREAS 5 Y 6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VEREDICTO Y LA PROYECCIÓN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04 · ACTIVIDAD · ¿ESTONIA ESTÁ DE VERDAD EN LA CADENA?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19072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T5 es el núcleo: una tabla con su definición operativa, una fila por propiedad, y para cada una si KSI la tiene, no la tiene o la tiene a medias — con la fuente que lo respalda.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77440"/>
          <a:ext cx="11057839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743200"/>
                <a:gridCol w="282823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PROPIEDAD A EVALUAR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¿LA TIENE KSI?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FUENTE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3368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Encadenamiento criptográfico por hashes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68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Participación abierta sin permiso previo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3368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Consenso entre partes que no confían entre sí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68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Ausencia de un operador que pueda detenerlo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3368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Réplica en múltiples nodos independientes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68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Verificable sin depender del operador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2359152"/>
            <a:ext cx="11094415" cy="236829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484632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Pueden añadir o quitar propiedades, justificando. T6 son dos preguntas cortas: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66928" y="5303520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4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tendría que cambiar —en el sistema, no en el nombre— para que su veredicto se invirtiera?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4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Nombren un problema de su entorno donde la diferencia SÍ sería decisiva. Enunciado sin nombrar la tecnología.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B.7 · LO QUE ENTREGO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CINCO FUENTES VERIFICADAS Y GRATUITAS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04 · ACTIVIDAD · ¿ESTONIA ESTÁ DE VERDAD EN LA CADENA?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1907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Escogidas para que se contradigan. Esa mezcla es deliberada: parte del trabajo es notar quién habla desde dónde.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11057839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017520"/>
                <a:gridCol w="3108960"/>
                <a:gridCol w="429127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FUENTE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ES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CÓMO HAY QUE LEERLA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55046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FAQ oficial de e-Estonia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PDF institucional, 3 páginas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 interesada. Es el objeto de T1.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046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Página KSI Blockchain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Sitio oficial vigente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 interesada. Punto de partida de T2.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5046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F3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Semenzin, Rozas y Hassan (2022)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Artículo arbitrado, acceso abierto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Independiente. La más valiosa. Material para T3.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046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F4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Buldas, Kroonmaa y Laanoja (2013)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Artículo técnico de Guardtime, acceso abierto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 proveedor Y arbitrada. La descripción técnica. Sirve para T5.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5046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Gerard (2017)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Blog personal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 declarado. La menos autorizada, a propósito.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2267712"/>
            <a:ext cx="11094415" cy="309981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66928" y="5468112"/>
            <a:ext cx="11057839" cy="777240"/>
          </a:xfrm>
          <a:prstGeom prst="rect">
            <a:avLst/>
          </a:prstGeom>
          <a:solidFill>
            <a:srgbClr val="F2F0F5"/>
          </a:solidFill>
          <a:ln w="22225">
            <a:solidFill>
              <a:srgbClr val="0F0F1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68756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33856" y="5660136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QUÉ INCLUYO UN BLOG A PROPÓSITO</a:t>
            </a:r>
            <a:endParaRPr lang="en-US" sz="950" dirty="0"/>
          </a:p>
        </p:txBody>
      </p:sp>
      <p:sp>
        <p:nvSpPr>
          <p:cNvPr id="14" name="Text 9"/>
          <p:cNvSpPr/>
          <p:nvPr/>
        </p:nvSpPr>
        <p:spPr>
          <a:xfrm>
            <a:off x="804672" y="5925312"/>
            <a:ext cx="1058235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 tengan que evaluarlo. En la exposición les voy a preguntar cómo decidieron cuánto peso darle.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B.8 · LO QUE TIENEN QUE CONSEGUIR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TRES FUENTES PROPIAS, CON REGLAS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04 · ACTIVIDAD · ¿ESTONIA ESTÁ DE VERDAD EN LA CADENA?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1907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Encontrar fuentes es una destreza profesional, y no se aprende recibiéndolas.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40280"/>
          <a:ext cx="11057839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21735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REGLA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POR QUÉ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48646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Máximo UNA de blog u opinión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 fácil llenar tres con opiniones. La dificultad está en las otras dos.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46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Mínimo UNA arbitrada o institucional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Artículo con revisión por pares, tesis, norma técnica o informe de organismo público.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8646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Ninguna puede ser un chatbot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es una fuente: no tiene autor responsable ni se puede verificar. Si lo usaron para encontrar algo, citen lo encontrado.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46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Todas deben abrirse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 el enlace no abre o exige pagar, no cuenta. Verifíquenlo el día que entregan.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8646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Cada una, clasificada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· interés · control de calidad. Sin clasificación, no se cuenta.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2221992"/>
            <a:ext cx="11094415" cy="277977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5120640"/>
            <a:ext cx="110578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el formato mínimo de cita, obligatorio para las ocho: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566928" y="5504688"/>
            <a:ext cx="11057839" cy="548640"/>
          </a:xfrm>
          <a:prstGeom prst="rect">
            <a:avLst/>
          </a:prstGeom>
          <a:solidFill>
            <a:srgbClr val="F2F0F5"/>
          </a:solidFill>
          <a:ln w="12700">
            <a:solidFill>
              <a:srgbClr val="7152E9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31520" y="5596128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Apellido, Inicial. (Año). Título. Editorial o sitio. URL — consultado el DD/MM/AAAA.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APROXIMADAMENTE 5 MINUTOS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ENTREGA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documento y cinco minutos. Con preguntas al final, y con la fuente abierta para responderlas.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04 · ACTIVIDAD · ¿ESTONIA ESTÁ DE VERDAD EN LA CADENA?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C.1 · LA PRÓXIMA SESIÓN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CINCO MINUTOS POR EQUIPO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04 · ACTIVIDAD · ¿ESTONIA ESTÁ DE VERDAD EN LA CADENA?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1907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minutos son cortos a propósito: no caben las seis tareas, así que tienen que elegir qué mostrar.</a:t>
            </a:r>
            <a:endParaRPr lang="en-US" sz="14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11057839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039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TIEMPO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VA AHÍ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4590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0:00 – 0:30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 veredicto, dicho de entrada. Sin suspenso.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90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0:30 – 1:30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 definición operativa: qué propiedades exigieron y por qué esas.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590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1:30 – 3:30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MEJOR EVIDENCIA QUE ENCONTRARON. Una sola, mostrada en pantalla.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90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3:30 – 4:15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límite: qué NO pueden concluir.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590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4:15 – 5:00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proyección: el problema donde la diferencia sí sería decisiva.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2267712"/>
            <a:ext cx="11094415" cy="264261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66928" y="5029200"/>
            <a:ext cx="11057839" cy="109728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24865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33856" y="522122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HABRÁ PREGUNTAS</a:t>
            </a:r>
            <a:endParaRPr lang="en-US" sz="950" dirty="0"/>
          </a:p>
        </p:txBody>
      </p:sp>
      <p:sp>
        <p:nvSpPr>
          <p:cNvPr id="14" name="Text 9"/>
          <p:cNvSpPr/>
          <p:nvPr/>
        </p:nvSpPr>
        <p:spPr>
          <a:xfrm>
            <a:off x="804672" y="5559552"/>
            <a:ext cx="10582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Cualquiera del curso, o yo, puede preguntarles de dónde salió un dato concreto. Deben poder abrir la fuente en el momento y señalar el lugar exacto. Un equipo que no puede hacerlo no reunió la evidencia: la contó.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C.2 · LA RÚBRICA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1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SE EVALÚA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04 · ACTIVIDAD · ¿ESTONIA ESTÁ DE VERDAD EN LA CADENA?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57839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926080"/>
                <a:gridCol w="694303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PESO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CRITERIO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DISTINGUE UN BUEN TRABAJO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7973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30 %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verificable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T1, T2 y T3 realmente se hicieron. Capturas con fecha, citas localizables, conteos exactos. Se comprueba al azar.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973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25 %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Calidad del veredicto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Hay definición operativa antes del juicio, y la tabla se llena con fuentes y no con impresiones.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7973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20 %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Manejo de fuentes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 tres propias cumplen las reglas, están clasificadas y aportan algo nuevo.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973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15 %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Honestidad intelectual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párrafo del límite. Reconocer qué no se puede concluir vale más que un veredicto rotundo mal sostenido.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7973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10 %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Exposición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Cinco minutos aprovechados y capacidad de señalar la fuente cuando se pregunta.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14300" marR="114300" marT="88900" marB="889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64792"/>
            <a:ext cx="11094415" cy="433425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C.3 · REGLAS DEL JUEGO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SOBRE EL USO DE ASISTENTES DE IA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04 · ACTIVIDAD · ¿ESTONIA ESTÁ DE VERDAD EN LA CADENA?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83080"/>
            <a:ext cx="5391760" cy="201168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41248" y="19751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 PERMITE · Y SE DECLARA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359152"/>
            <a:ext cx="484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Incluyan al final una nota corta diciendo para qué lo usaron: traducir, ordenar el texto, sugerir dónde buscar.</a:t>
            </a:r>
            <a:endParaRPr lang="en-US" sz="1300" dirty="0"/>
          </a:p>
          <a:p>
            <a:pPr indent="0" marL="0">
              <a:lnSpc>
                <a:spcPct val="124000"/>
              </a:lnSpc>
              <a:buNone/>
            </a:pPr>
            <a:endParaRPr lang="en-US" sz="13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no resta nada.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33008" y="1783080"/>
            <a:ext cx="5391760" cy="201168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07328" y="19751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SÍ RESTA, Y MUCHO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07328" y="2359152"/>
            <a:ext cx="484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Presentar como verificado algo que no se abrió. T1, T2 y T3 se comprueban.</a:t>
            </a:r>
            <a:endParaRPr lang="en-US" sz="1300" dirty="0"/>
          </a:p>
          <a:p>
            <a:pPr indent="0" marL="0">
              <a:lnSpc>
                <a:spcPct val="124000"/>
              </a:lnSpc>
              <a:buNone/>
            </a:pPr>
            <a:endParaRPr lang="en-US" sz="13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pierde el 30 % completo.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66928" y="397764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modelo de lenguaje que no tiene el documento delante produce conteos plausibles y falsos, citas que no existen y fechas de captura inventadas.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57839" cy="146304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950976" y="4837176"/>
            <a:ext cx="10289743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 eso aparece en la entrega, habrán demostrado en carne propia la tesis de la actividad: una afirmación repetida con seguridad no es una afirmación verificada.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C.4 · UNA ADVERTENCIA, EN SERIO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1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PRECISIÓN, NO ESCÁNDALO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04 · ACTIVIDAD · ¿ESTONIA ESTÁ DE VERDAD EN LA CADENA?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muy probable que encuentren imprecisiones en el material oficial. Vale la pena decir con claridad qué significa eso y qué no.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377440"/>
            <a:ext cx="11057839" cy="123444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59536" y="25603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NO SE SIGUE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59536" y="2926080"/>
            <a:ext cx="1047262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Estonia sea un fraude. Que KSI sea una mala tecnología. Que el sistema no funcione.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66928" y="3794760"/>
            <a:ext cx="11057839" cy="137160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59536" y="39776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SÍ SE SIGUE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59536" y="4343400"/>
            <a:ext cx="104726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un sistema de integridad por encadenamiento de hashes puede ser sólido, útil y estar bien diseñado — y aun así no ser una cadena de bloques en el sentido que este curso le da al término.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539496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equipo que confunda «el folleto exagera» con «la tecnología no sirve» va a perder puntos en honestidad intelectual.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07F0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201168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SE LLEVAN DE HOY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566928" y="2514600"/>
            <a:ext cx="1105783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Una afirmación repetida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 es una afirmación verificada.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66928" y="4434840"/>
            <a:ext cx="96862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Vale para Estonia, vale para el proveedor que les venda algo dentro de cinco años, y vale para su propio anteproyecto.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66928" y="5349240"/>
            <a:ext cx="11057839" cy="685800"/>
          </a:xfrm>
          <a:prstGeom prst="rect">
            <a:avLst/>
          </a:prstGeom>
          <a:solidFill>
            <a:srgbClr val="1C1B21"/>
          </a:solidFill>
          <a:ln w="12700">
            <a:solidFill>
              <a:srgbClr val="34324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5349240"/>
            <a:ext cx="1050919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4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PRÓXIMA SESIÓN · EXPOSICIÓN DE 5 MINUTOS POR EQUIPO · CON LAS FUENTES ABIERTAS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4 · El caso Estonia</dc:title>
  <dc:subject>¿Estonia está de verdad en la cadena de bloques?</dc:subject>
  <dc:creator>Universidad de San Buenaventura Medellín</dc:creator>
  <cp:lastModifiedBy>Universidad de San Buenaventura Medellín</cp:lastModifiedBy>
  <cp:revision>1</cp:revision>
  <dcterms:created xsi:type="dcterms:W3CDTF">2026-09-18T01:13:19Z</dcterms:created>
  <dcterms:modified xsi:type="dcterms:W3CDTF">2026-09-18T01:13:19Z</dcterms:modified>
</cp:coreProperties>
</file>