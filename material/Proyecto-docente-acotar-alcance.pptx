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crece una pieza por sesión, justo después de explicar el concepto que esa pieza necesita. Hoy toca la pieza cero: el alcance.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que el enunciado del problema no menciona blockchain, ni NFT, ni contratos. Si el problema solo se puede enunciar nombrando la tecnología, es que se partió de la solución.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filtro del criterio de pertinencia de la rúbrica, que vale el 15 %. Vale la pena decirlo explícitamente.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diamante es el que casi nadie hace. Es también el más barato: son conversaciones, no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Divergir cuesta una semana de conversaciones y no cuesta una línea de código. Es la fase con mejor retorno de todo 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cuatro descartados son buenos problemas. Simplemente no son problemas de este curso, y decirlo así es más honesto que forzarlos.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esconder que hay una solución más simple. Reconocerla y explicar por qué no sirve AQUÍ es lo que sostiene el criterio de pertinencia.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el diamante es aceptar el costo, no solo el beneficio. Es la diferencia entre elegir y desear.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entrevistas de veinte minutos caben en una semana y cambian por completo el enunciado. Es la inversión con mejor retorno de todo 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 «porque» es el hallazgo del primer diamante: no salió de la cabeza, salió de mirar quién gana con el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Nótese que la buena no menciona blockchain. La tecnología aparece al converger el segundo diamante, no 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explícitamente con los laboratorios 1 y 2: allí las pruebas venían dadas. Aquí se las escriben ellos, y son lo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H4 es grande y es la más riesgosa. Por eso, como se ve en la lámina siguiente, es la primera que hay que atacar y no la última.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llama esqueleto ambulante. Es feo a propósito. Lo que importa es que a partir de ahí cada mejora se puede probar de verdad.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Ataquen el riesgo primero. Si algo va a matar el proyecto, mejor saberlo en la semana tres que en la quince.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sustentación se pregunta explícitamente qué quedó fuera y por qué. Un equipo sin lista de exclusiones no acotó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que cada equipo escriba sus supuestos en el anteproyecto y marque cuál va a comprobar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cuarto punto es el que más se salta y el que más problemas causa en la sustentación: funciona en el portátil de uno y no en el proyector.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intercambio explícito —entra uno, sale uno— es lo que convierte la conversación sobre alcance en una decisión y no en una discusión.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cuatro ideas, no cuatro metodologías. Nadie está pidiendo certificarse en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criterio general: en un equipo pequeño, la comunicación directa reemplaza al proceso. El proceso existe para escalar la comunicación, y aquí no hace falta escalarla.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columna derecha no es una lista de fracasos: es la lista que se señala cuando alguien —incluido yo— quiera añadir algo en la semana ocho.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son decisiones de producto, no técnicas. La técnica viene después y se subordina a ellas.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segunda decisión es la que más discusión da: el contrato tiene marcarUsada aunque el flujo normal no lo use. Está a propósito, para poder enseñar las dos opciones.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última fila es la más incómoda y la más importante: la inmutabilidad no es un beneficio unilateral. Corta también contra quien la eligió.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contrato se construye en vivo entre las sesiones 6 y 11. Lo que se muestra aquí es el destino, no lo que existirá en la sesión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primera de tres entregas del anteproyecto. Las siguientes son la arquitectura con la especificación, y el plan de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entrega 2 traerá el diagrama de contexto, el reparto en componentes, la interfaz del contrato función por función, y el flujo crítico en secuencia.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1234440" y="2377440"/>
            <a:ext cx="1280160" cy="1280160"/>
          </a:xfrm>
          <a:prstGeom prst="rect">
            <a:avLst/>
          </a:prstGeom>
        </p:spPr>
      </p:pic>
      <p:sp>
        <p:nvSpPr>
          <p:cNvPr id="4" name="Text 1"/>
          <p:cNvSpPr/>
          <p:nvPr/>
        </p:nvSpPr>
        <p:spPr>
          <a:xfrm>
            <a:off x="0" y="3749040"/>
            <a:ext cx="3749040" cy="640080"/>
          </a:xfrm>
          <a:prstGeom prst="rect">
            <a:avLst/>
          </a:prstGeom>
          <a:noFill/>
          <a:ln/>
        </p:spPr>
        <p:txBody>
          <a:bodyPr wrap="square" lIns="0" tIns="0" rIns="0" bIns="0" rtlCol="0" anchor="ctr"/>
          <a:lstStyle/>
          <a:p>
            <a:pPr algn="ctr" indent="0" marL="0">
              <a:buNone/>
            </a:pPr>
            <a:r>
              <a:rPr lang="en-US" sz="3400" dirty="0">
                <a:solidFill>
                  <a:srgbClr val="0F0F11"/>
                </a:solidFill>
                <a:latin typeface="Arial Black" pitchFamily="34" charset="0"/>
                <a:ea typeface="Arial Black" pitchFamily="34" charset="-122"/>
                <a:cs typeface="Arial Black" pitchFamily="34" charset="-120"/>
              </a:rPr>
              <a:t>ACOTAR</a:t>
            </a:r>
            <a:endParaRPr lang="en-US" sz="3400" dirty="0"/>
          </a:p>
        </p:txBody>
      </p:sp>
      <p:pic>
        <p:nvPicPr>
          <p:cNvPr id="5" name="Image 1" descr="preencoded.png">    </p:cNvPr>
          <p:cNvPicPr>
            <a:picLocks noChangeAspect="1"/>
          </p:cNvPicPr>
          <p:nvPr/>
        </p:nvPicPr>
        <p:blipFill>
          <a:blip r:embed="rId2"/>
          <a:stretch>
            <a:fillRect/>
          </a:stretch>
        </p:blipFill>
        <p:spPr>
          <a:xfrm>
            <a:off x="4389120" y="1170432"/>
            <a:ext cx="310896" cy="310896"/>
          </a:xfrm>
          <a:prstGeom prst="rect">
            <a:avLst/>
          </a:prstGeom>
        </p:spPr>
      </p:pic>
      <p:sp>
        <p:nvSpPr>
          <p:cNvPr id="6" name="Text 2"/>
          <p:cNvSpPr/>
          <p:nvPr/>
        </p:nvSpPr>
        <p:spPr>
          <a:xfrm>
            <a:off x="4809744" y="1152144"/>
            <a:ext cx="6858000" cy="347472"/>
          </a:xfrm>
          <a:prstGeom prst="rect">
            <a:avLst/>
          </a:prstGeom>
          <a:noFill/>
          <a:ln/>
        </p:spPr>
        <p:txBody>
          <a:bodyPr wrap="square" lIns="0" tIns="0" rIns="0" bIns="0" rtlCol="0" anchor="ctr"/>
          <a:lstStyle/>
          <a:p>
            <a:pPr indent="0" marL="0">
              <a:buNone/>
            </a:pPr>
            <a:r>
              <a:rPr lang="en-US" sz="1050" spc="150" kern="0" dirty="0">
                <a:solidFill>
                  <a:srgbClr val="F07F06"/>
                </a:solidFill>
                <a:latin typeface="Courier New" pitchFamily="34" charset="0"/>
                <a:ea typeface="Courier New" pitchFamily="34" charset="-122"/>
                <a:cs typeface="Courier New" pitchFamily="34" charset="-120"/>
              </a:rPr>
              <a:t>EL PROYECTO DEL DOCENTE · EN ESTE CURSO YO TAMBIÉN CONSTRUYO</a:t>
            </a:r>
            <a:endParaRPr lang="en-US" sz="1050" dirty="0"/>
          </a:p>
        </p:txBody>
      </p:sp>
      <p:sp>
        <p:nvSpPr>
          <p:cNvPr id="7" name="Text 3"/>
          <p:cNvSpPr/>
          <p:nvPr/>
        </p:nvSpPr>
        <p:spPr>
          <a:xfrm>
            <a:off x="4389120" y="1783080"/>
            <a:ext cx="7269480" cy="2011680"/>
          </a:xfrm>
          <a:prstGeom prst="rect">
            <a:avLst/>
          </a:prstGeom>
          <a:noFill/>
          <a:ln/>
        </p:spPr>
        <p:txBody>
          <a:bodyPr wrap="square" lIns="0" tIns="0" rIns="0" bIns="0" rtlCol="0" anchor="t"/>
          <a:lstStyle/>
          <a:p>
            <a:pPr indent="0" marL="0">
              <a:lnSpc>
                <a:spcPct val="95000"/>
              </a:lnSpc>
              <a:buNone/>
            </a:pPr>
            <a:r>
              <a:rPr lang="en-US" sz="4600" dirty="0">
                <a:solidFill>
                  <a:srgbClr val="FFFFFF"/>
                </a:solidFill>
                <a:latin typeface="Arial Black" pitchFamily="34" charset="0"/>
                <a:ea typeface="Arial Black" pitchFamily="34" charset="-122"/>
                <a:cs typeface="Arial Black" pitchFamily="34" charset="-120"/>
              </a:rPr>
              <a:t>CÓMO SE ACOTA</a:t>
            </a:r>
            <a:endParaRPr lang="en-US" sz="4600" dirty="0"/>
          </a:p>
          <a:p>
            <a:pPr indent="0" marL="0">
              <a:lnSpc>
                <a:spcPct val="95000"/>
              </a:lnSpc>
              <a:buNone/>
            </a:pPr>
            <a:r>
              <a:rPr lang="en-US" sz="4600" dirty="0">
                <a:solidFill>
                  <a:srgbClr val="FFFFFF"/>
                </a:solidFill>
                <a:latin typeface="Arial Black" pitchFamily="34" charset="0"/>
                <a:ea typeface="Arial Black" pitchFamily="34" charset="-122"/>
                <a:cs typeface="Arial Black" pitchFamily="34" charset="-120"/>
              </a:rPr>
              <a:t>UN ALCANCE</a:t>
            </a:r>
            <a:endParaRPr lang="en-US" sz="4600" dirty="0"/>
          </a:p>
        </p:txBody>
      </p:sp>
      <p:sp>
        <p:nvSpPr>
          <p:cNvPr id="8" name="Text 4"/>
          <p:cNvSpPr/>
          <p:nvPr/>
        </p:nvSpPr>
        <p:spPr>
          <a:xfrm>
            <a:off x="4389120" y="3977640"/>
            <a:ext cx="7269480" cy="457200"/>
          </a:xfrm>
          <a:prstGeom prst="rect">
            <a:avLst/>
          </a:prstGeom>
          <a:noFill/>
          <a:ln/>
        </p:spPr>
        <p:txBody>
          <a:bodyPr wrap="square" lIns="0" tIns="0" rIns="0" bIns="0" rtlCol="0" anchor="t"/>
          <a:lstStyle/>
          <a:p>
            <a:pPr indent="0" marL="0">
              <a:buNone/>
            </a:pPr>
            <a:r>
              <a:rPr lang="en-US" sz="1600" dirty="0">
                <a:solidFill>
                  <a:srgbClr val="B9B4C4"/>
                </a:solidFill>
                <a:latin typeface="Arial" pitchFamily="34" charset="0"/>
                <a:ea typeface="Arial" pitchFamily="34" charset="-122"/>
                <a:cs typeface="Arial" pitchFamily="34" charset="-120"/>
              </a:rPr>
              <a:t>Entradas con reventa controlada · el caso con el que lo voy a mostrar</a:t>
            </a:r>
            <a:endParaRPr lang="en-US" sz="1600" dirty="0"/>
          </a:p>
        </p:txBody>
      </p:sp>
      <p:sp>
        <p:nvSpPr>
          <p:cNvPr id="9" name="Text 5"/>
          <p:cNvSpPr/>
          <p:nvPr/>
        </p:nvSpPr>
        <p:spPr>
          <a:xfrm>
            <a:off x="4389120" y="4892040"/>
            <a:ext cx="7269480" cy="731520"/>
          </a:xfrm>
          <a:prstGeom prst="rect">
            <a:avLst/>
          </a:prstGeom>
          <a:noFill/>
          <a:ln/>
        </p:spPr>
        <p:txBody>
          <a:bodyPr wrap="square" lIns="0" tIns="0" rIns="0" bIns="0" rtlCol="0" anchor="t"/>
          <a:lstStyle/>
          <a:p>
            <a:pPr indent="0" marL="0">
              <a:lnSpc>
                <a:spcPct val="125000"/>
              </a:lnSpc>
              <a:buNone/>
            </a:pPr>
            <a:r>
              <a:rPr lang="en-US" sz="1350" dirty="0">
                <a:solidFill>
                  <a:srgbClr val="8B8697"/>
                </a:solidFill>
                <a:latin typeface="Arial" pitchFamily="34" charset="0"/>
                <a:ea typeface="Arial" pitchFamily="34" charset="-122"/>
                <a:cs typeface="Arial" pitchFamily="34" charset="-120"/>
              </a:rPr>
              <a:t>Blockchain y Web 3.0 · Ingeniería de Sistemas</a:t>
            </a:r>
            <a:endParaRPr lang="en-US" sz="1350" dirty="0"/>
          </a:p>
          <a:p>
            <a:pPr indent="0" marL="0">
              <a:lnSpc>
                <a:spcPct val="125000"/>
              </a:lnSpc>
              <a:buNone/>
            </a:pPr>
            <a:r>
              <a:rPr lang="en-US" sz="1350" dirty="0">
                <a:solidFill>
                  <a:srgbClr val="8B8697"/>
                </a:solidFill>
                <a:latin typeface="Arial" pitchFamily="34" charset="0"/>
                <a:ea typeface="Arial" pitchFamily="34" charset="-122"/>
                <a:cs typeface="Arial" pitchFamily="34" charset="-120"/>
              </a:rPr>
              <a:t>Universidad de San Buenaventura Medellín</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ENCUADRE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EN ESTE CURSO YO TAMBIÉN HAGO PROYECTO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02</a:t>
            </a:r>
            <a:endParaRPr lang="en-US" sz="900" dirty="0"/>
          </a:p>
        </p:txBody>
      </p:sp>
      <p:sp>
        <p:nvSpPr>
          <p:cNvPr id="8" name="Text 5"/>
          <p:cNvSpPr/>
          <p:nvPr/>
        </p:nvSpPr>
        <p:spPr>
          <a:xfrm>
            <a:off x="566928" y="1737360"/>
            <a:ext cx="11057839" cy="45720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No para competir con ustedes ni para tener algo bonito que mostrar. Por tres razones concretas.</a:t>
            </a:r>
            <a:endParaRPr lang="en-US" sz="1450" dirty="0"/>
          </a:p>
        </p:txBody>
      </p:sp>
      <p:sp>
        <p:nvSpPr>
          <p:cNvPr id="9" name="Text 6"/>
          <p:cNvSpPr/>
          <p:nvPr/>
        </p:nvSpPr>
        <p:spPr>
          <a:xfrm>
            <a:off x="566928" y="2423160"/>
            <a:ext cx="731520" cy="457200"/>
          </a:xfrm>
          <a:prstGeom prst="rect">
            <a:avLst/>
          </a:prstGeom>
          <a:noFill/>
          <a:ln/>
        </p:spPr>
        <p:txBody>
          <a:bodyPr wrap="square" lIns="0" tIns="0" rIns="0" bIns="0" rtlCol="0" anchor="ctr"/>
          <a:lstStyle/>
          <a:p>
            <a:pPr indent="0" marL="0">
              <a:buNone/>
            </a:pPr>
            <a:r>
              <a:rPr lang="en-US" sz="2600" dirty="0">
                <a:solidFill>
                  <a:srgbClr val="F07F06"/>
                </a:solidFill>
                <a:latin typeface="Arial Black" pitchFamily="34" charset="0"/>
                <a:ea typeface="Arial Black" pitchFamily="34" charset="-122"/>
                <a:cs typeface="Arial Black" pitchFamily="34" charset="-120"/>
              </a:rPr>
              <a:t>01</a:t>
            </a:r>
            <a:endParaRPr lang="en-US" sz="2600" dirty="0"/>
          </a:p>
        </p:txBody>
      </p:sp>
      <p:sp>
        <p:nvSpPr>
          <p:cNvPr id="10" name="Text 7"/>
          <p:cNvSpPr/>
          <p:nvPr/>
        </p:nvSpPr>
        <p:spPr>
          <a:xfrm>
            <a:off x="1435608" y="2377440"/>
            <a:ext cx="4754880" cy="365760"/>
          </a:xfrm>
          <a:prstGeom prst="rect">
            <a:avLst/>
          </a:prstGeom>
          <a:noFill/>
          <a:ln/>
        </p:spPr>
        <p:txBody>
          <a:bodyPr wrap="square" lIns="0" tIns="0" rIns="0" bIns="0" rtlCol="0" anchor="ctr"/>
          <a:lstStyle/>
          <a:p>
            <a:pPr indent="0" marL="0">
              <a:buNone/>
            </a:pPr>
            <a:r>
              <a:rPr lang="en-US" sz="1100" b="1" spc="115" kern="0" dirty="0">
                <a:solidFill>
                  <a:srgbClr val="0F0F11"/>
                </a:solidFill>
                <a:latin typeface="Courier New" pitchFamily="34" charset="0"/>
                <a:ea typeface="Courier New" pitchFamily="34" charset="-122"/>
                <a:cs typeface="Courier New" pitchFamily="34" charset="-120"/>
              </a:rPr>
              <a:t>VAN A VER EL PROCESO, NO EL RESULTADO</a:t>
            </a:r>
            <a:endParaRPr lang="en-US" sz="1100" dirty="0"/>
          </a:p>
        </p:txBody>
      </p:sp>
      <p:sp>
        <p:nvSpPr>
          <p:cNvPr id="11" name="Text 8"/>
          <p:cNvSpPr/>
          <p:nvPr/>
        </p:nvSpPr>
        <p:spPr>
          <a:xfrm>
            <a:off x="6327648" y="2359152"/>
            <a:ext cx="5297119" cy="10058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Un proyecto terminado no enseña nada sobre cómo se llegó ahí. Van a ver el código feo de la semana tres y cómo se refactoriza en la nueve.</a:t>
            </a:r>
            <a:endParaRPr lang="en-US" sz="1300" dirty="0"/>
          </a:p>
        </p:txBody>
      </p:sp>
      <p:sp>
        <p:nvSpPr>
          <p:cNvPr id="12" name="Shape 9"/>
          <p:cNvSpPr/>
          <p:nvPr/>
        </p:nvSpPr>
        <p:spPr>
          <a:xfrm>
            <a:off x="566928" y="2212848"/>
            <a:ext cx="11057839" cy="0"/>
          </a:xfrm>
          <a:prstGeom prst="line">
            <a:avLst/>
          </a:prstGeom>
          <a:noFill/>
          <a:ln w="12700">
            <a:solidFill>
              <a:srgbClr val="D9D6E0"/>
            </a:solidFill>
            <a:prstDash val="solid"/>
          </a:ln>
        </p:spPr>
      </p:sp>
      <p:sp>
        <p:nvSpPr>
          <p:cNvPr id="13" name="Text 10"/>
          <p:cNvSpPr/>
          <p:nvPr/>
        </p:nvSpPr>
        <p:spPr>
          <a:xfrm>
            <a:off x="566928" y="3657600"/>
            <a:ext cx="731520" cy="457200"/>
          </a:xfrm>
          <a:prstGeom prst="rect">
            <a:avLst/>
          </a:prstGeom>
          <a:noFill/>
          <a:ln/>
        </p:spPr>
        <p:txBody>
          <a:bodyPr wrap="square" lIns="0" tIns="0" rIns="0" bIns="0" rtlCol="0" anchor="ctr"/>
          <a:lstStyle/>
          <a:p>
            <a:pPr indent="0" marL="0">
              <a:buNone/>
            </a:pPr>
            <a:r>
              <a:rPr lang="en-US" sz="2600" dirty="0">
                <a:solidFill>
                  <a:srgbClr val="F07F06"/>
                </a:solidFill>
                <a:latin typeface="Arial Black" pitchFamily="34" charset="0"/>
                <a:ea typeface="Arial Black" pitchFamily="34" charset="-122"/>
                <a:cs typeface="Arial Black" pitchFamily="34" charset="-120"/>
              </a:rPr>
              <a:t>02</a:t>
            </a:r>
            <a:endParaRPr lang="en-US" sz="2600" dirty="0"/>
          </a:p>
        </p:txBody>
      </p:sp>
      <p:sp>
        <p:nvSpPr>
          <p:cNvPr id="14" name="Text 11"/>
          <p:cNvSpPr/>
          <p:nvPr/>
        </p:nvSpPr>
        <p:spPr>
          <a:xfrm>
            <a:off x="1435608" y="3611880"/>
            <a:ext cx="4754880" cy="365760"/>
          </a:xfrm>
          <a:prstGeom prst="rect">
            <a:avLst/>
          </a:prstGeom>
          <a:noFill/>
          <a:ln/>
        </p:spPr>
        <p:txBody>
          <a:bodyPr wrap="square" lIns="0" tIns="0" rIns="0" bIns="0" rtlCol="0" anchor="ctr"/>
          <a:lstStyle/>
          <a:p>
            <a:pPr indent="0" marL="0">
              <a:buNone/>
            </a:pPr>
            <a:r>
              <a:rPr lang="en-US" sz="1100" b="1" spc="115" kern="0" dirty="0">
                <a:solidFill>
                  <a:srgbClr val="0F0F11"/>
                </a:solidFill>
                <a:latin typeface="Courier New" pitchFamily="34" charset="0"/>
                <a:ea typeface="Courier New" pitchFamily="34" charset="-122"/>
                <a:cs typeface="Courier New" pitchFamily="34" charset="-120"/>
              </a:rPr>
              <a:t>VOY A EQUIVOCARME EN VIVO</a:t>
            </a:r>
            <a:endParaRPr lang="en-US" sz="1100" dirty="0"/>
          </a:p>
        </p:txBody>
      </p:sp>
      <p:sp>
        <p:nvSpPr>
          <p:cNvPr id="15" name="Text 12"/>
          <p:cNvSpPr/>
          <p:nvPr/>
        </p:nvSpPr>
        <p:spPr>
          <a:xfrm>
            <a:off x="6327648" y="3593592"/>
            <a:ext cx="5297119" cy="10058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Y a corregirlo delante de ustedes. Eso es más útil que veinte diapositivas sobre buenas prácticas.</a:t>
            </a:r>
            <a:endParaRPr lang="en-US" sz="1300" dirty="0"/>
          </a:p>
        </p:txBody>
      </p:sp>
      <p:sp>
        <p:nvSpPr>
          <p:cNvPr id="16" name="Shape 13"/>
          <p:cNvSpPr/>
          <p:nvPr/>
        </p:nvSpPr>
        <p:spPr>
          <a:xfrm>
            <a:off x="566928" y="3447288"/>
            <a:ext cx="11057839" cy="0"/>
          </a:xfrm>
          <a:prstGeom prst="line">
            <a:avLst/>
          </a:prstGeom>
          <a:noFill/>
          <a:ln w="12700">
            <a:solidFill>
              <a:srgbClr val="D9D6E0"/>
            </a:solidFill>
            <a:prstDash val="solid"/>
          </a:ln>
        </p:spPr>
      </p:sp>
      <p:sp>
        <p:nvSpPr>
          <p:cNvPr id="17" name="Text 14"/>
          <p:cNvSpPr/>
          <p:nvPr/>
        </p:nvSpPr>
        <p:spPr>
          <a:xfrm>
            <a:off x="566928" y="4892040"/>
            <a:ext cx="731520" cy="457200"/>
          </a:xfrm>
          <a:prstGeom prst="rect">
            <a:avLst/>
          </a:prstGeom>
          <a:noFill/>
          <a:ln/>
        </p:spPr>
        <p:txBody>
          <a:bodyPr wrap="square" lIns="0" tIns="0" rIns="0" bIns="0" rtlCol="0" anchor="ctr"/>
          <a:lstStyle/>
          <a:p>
            <a:pPr indent="0" marL="0">
              <a:buNone/>
            </a:pPr>
            <a:r>
              <a:rPr lang="en-US" sz="2600" dirty="0">
                <a:solidFill>
                  <a:srgbClr val="F07F06"/>
                </a:solidFill>
                <a:latin typeface="Arial Black" pitchFamily="34" charset="0"/>
                <a:ea typeface="Arial Black" pitchFamily="34" charset="-122"/>
                <a:cs typeface="Arial Black" pitchFamily="34" charset="-120"/>
              </a:rPr>
              <a:t>03</a:t>
            </a:r>
            <a:endParaRPr lang="en-US" sz="2600" dirty="0"/>
          </a:p>
        </p:txBody>
      </p:sp>
      <p:sp>
        <p:nvSpPr>
          <p:cNvPr id="18" name="Text 15"/>
          <p:cNvSpPr/>
          <p:nvPr/>
        </p:nvSpPr>
        <p:spPr>
          <a:xfrm>
            <a:off x="1435608" y="4846320"/>
            <a:ext cx="4754880" cy="365760"/>
          </a:xfrm>
          <a:prstGeom prst="rect">
            <a:avLst/>
          </a:prstGeom>
          <a:noFill/>
          <a:ln/>
        </p:spPr>
        <p:txBody>
          <a:bodyPr wrap="square" lIns="0" tIns="0" rIns="0" bIns="0" rtlCol="0" anchor="ctr"/>
          <a:lstStyle/>
          <a:p>
            <a:pPr indent="0" marL="0">
              <a:buNone/>
            </a:pPr>
            <a:r>
              <a:rPr lang="en-US" sz="1100" b="1" spc="115" kern="0" dirty="0">
                <a:solidFill>
                  <a:srgbClr val="0F0F11"/>
                </a:solidFill>
                <a:latin typeface="Courier New" pitchFamily="34" charset="0"/>
                <a:ea typeface="Courier New" pitchFamily="34" charset="-122"/>
                <a:cs typeface="Courier New" pitchFamily="34" charset="-120"/>
              </a:rPr>
              <a:t>TENDRÁN UNA VARA DE MEDIDA</a:t>
            </a:r>
            <a:endParaRPr lang="en-US" sz="1100" dirty="0"/>
          </a:p>
        </p:txBody>
      </p:sp>
      <p:sp>
        <p:nvSpPr>
          <p:cNvPr id="19" name="Text 16"/>
          <p:cNvSpPr/>
          <p:nvPr/>
        </p:nvSpPr>
        <p:spPr>
          <a:xfrm>
            <a:off x="6327648" y="4828032"/>
            <a:ext cx="5297119" cy="10058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Cuando pregunten «¿esto está bien?», habrá un referente concreto que también se está construyendo, con las mismas restricciones de tiempo.</a:t>
            </a:r>
            <a:endParaRPr lang="en-US" sz="1300" dirty="0"/>
          </a:p>
        </p:txBody>
      </p:sp>
      <p:sp>
        <p:nvSpPr>
          <p:cNvPr id="20" name="Shape 17"/>
          <p:cNvSpPr/>
          <p:nvPr/>
        </p:nvSpPr>
        <p:spPr>
          <a:xfrm>
            <a:off x="566928" y="4681728"/>
            <a:ext cx="11057839" cy="0"/>
          </a:xfrm>
          <a:prstGeom prst="line">
            <a:avLst/>
          </a:prstGeom>
          <a:noFill/>
          <a:ln w="12700">
            <a:solidFill>
              <a:srgbClr val="D9D6E0"/>
            </a:solidFill>
            <a:prstDash val="solid"/>
          </a:ln>
        </p:spPr>
      </p:sp>
      <p:sp>
        <p:nvSpPr>
          <p:cNvPr id="21" name="Shape 18"/>
          <p:cNvSpPr/>
          <p:nvPr/>
        </p:nvSpPr>
        <p:spPr>
          <a:xfrm>
            <a:off x="566928" y="5916168"/>
            <a:ext cx="11057839" cy="0"/>
          </a:xfrm>
          <a:prstGeom prst="line">
            <a:avLst/>
          </a:prstGeom>
          <a:noFill/>
          <a:ln w="12700">
            <a:solidFill>
              <a:srgbClr val="D9D6E0"/>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EL CASO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ENTRADAS CON REVENTA CONTROLADA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03</a:t>
            </a:r>
            <a:endParaRPr lang="en-US" sz="900" dirty="0"/>
          </a:p>
        </p:txBody>
      </p:sp>
      <p:sp>
        <p:nvSpPr>
          <p:cNvPr id="8" name="Text 5"/>
          <p:cNvSpPr/>
          <p:nvPr/>
        </p:nvSpPr>
        <p:spPr>
          <a:xfrm>
            <a:off x="566928" y="1737360"/>
            <a:ext cx="11057839" cy="6400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En los eventos universitarios y culturales pasan dos cosas, y ambas por la misma razón: la entrada es un dato que se puede copiar, y una promesa que nadie puede hacer cumplir.</a:t>
            </a:r>
            <a:endParaRPr lang="en-US" sz="1450" dirty="0"/>
          </a:p>
        </p:txBody>
      </p:sp>
      <p:sp>
        <p:nvSpPr>
          <p:cNvPr id="9" name="Shape 6"/>
          <p:cNvSpPr/>
          <p:nvPr/>
        </p:nvSpPr>
        <p:spPr>
          <a:xfrm>
            <a:off x="566928" y="2514600"/>
            <a:ext cx="5419192" cy="1371600"/>
          </a:xfrm>
          <a:prstGeom prst="rect">
            <a:avLst/>
          </a:prstGeom>
          <a:solidFill>
            <a:srgbClr val="FAF9FB"/>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Text 7"/>
          <p:cNvSpPr/>
          <p:nvPr/>
        </p:nvSpPr>
        <p:spPr>
          <a:xfrm>
            <a:off x="841248" y="2697480"/>
            <a:ext cx="3657600" cy="292608"/>
          </a:xfrm>
          <a:prstGeom prst="rect">
            <a:avLst/>
          </a:prstGeom>
          <a:noFill/>
          <a:ln/>
        </p:spPr>
        <p:txBody>
          <a:bodyPr wrap="square" lIns="0" tIns="0" rIns="0" bIns="0" rtlCol="0" anchor="ctr"/>
          <a:lstStyle/>
          <a:p>
            <a:pPr indent="0" marL="0">
              <a:buNone/>
            </a:pPr>
            <a:r>
              <a:rPr lang="en-US" sz="1100" b="1" spc="130" kern="0" dirty="0">
                <a:solidFill>
                  <a:srgbClr val="A35604"/>
                </a:solidFill>
                <a:latin typeface="Courier New" pitchFamily="34" charset="0"/>
                <a:ea typeface="Courier New" pitchFamily="34" charset="-122"/>
                <a:cs typeface="Courier New" pitchFamily="34" charset="-120"/>
              </a:rPr>
              <a:t>FALSIFICACIÓN</a:t>
            </a:r>
            <a:endParaRPr lang="en-US" sz="1100" dirty="0"/>
          </a:p>
        </p:txBody>
      </p:sp>
      <p:sp>
        <p:nvSpPr>
          <p:cNvPr id="11" name="Text 8"/>
          <p:cNvSpPr/>
          <p:nvPr/>
        </p:nvSpPr>
        <p:spPr>
          <a:xfrm>
            <a:off x="841248" y="3035808"/>
            <a:ext cx="4870552" cy="7315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Una imagen con un código se reenvía y varias personas llegan con la misma entrada.</a:t>
            </a:r>
            <a:endParaRPr lang="en-US" sz="1300" dirty="0"/>
          </a:p>
        </p:txBody>
      </p:sp>
      <p:sp>
        <p:nvSpPr>
          <p:cNvPr id="12" name="Shape 9"/>
          <p:cNvSpPr/>
          <p:nvPr/>
        </p:nvSpPr>
        <p:spPr>
          <a:xfrm>
            <a:off x="6205576" y="2514600"/>
            <a:ext cx="5419192" cy="1371600"/>
          </a:xfrm>
          <a:prstGeom prst="rect">
            <a:avLst/>
          </a:prstGeom>
          <a:solidFill>
            <a:srgbClr val="FAF9FB"/>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3" name="Text 10"/>
          <p:cNvSpPr/>
          <p:nvPr/>
        </p:nvSpPr>
        <p:spPr>
          <a:xfrm>
            <a:off x="6479896" y="2697480"/>
            <a:ext cx="4114800" cy="292608"/>
          </a:xfrm>
          <a:prstGeom prst="rect">
            <a:avLst/>
          </a:prstGeom>
          <a:noFill/>
          <a:ln/>
        </p:spPr>
        <p:txBody>
          <a:bodyPr wrap="square" lIns="0" tIns="0" rIns="0" bIns="0" rtlCol="0" anchor="ctr"/>
          <a:lstStyle/>
          <a:p>
            <a:pPr indent="0" marL="0">
              <a:buNone/>
            </a:pPr>
            <a:r>
              <a:rPr lang="en-US" sz="1100" b="1" spc="130" kern="0" dirty="0">
                <a:solidFill>
                  <a:srgbClr val="A35604"/>
                </a:solidFill>
                <a:latin typeface="Courier New" pitchFamily="34" charset="0"/>
                <a:ea typeface="Courier New" pitchFamily="34" charset="-122"/>
                <a:cs typeface="Courier New" pitchFamily="34" charset="-120"/>
              </a:rPr>
              <a:t>REVENTA A SOBREPRECIO</a:t>
            </a:r>
            <a:endParaRPr lang="en-US" sz="1100" dirty="0"/>
          </a:p>
        </p:txBody>
      </p:sp>
      <p:sp>
        <p:nvSpPr>
          <p:cNvPr id="14" name="Text 11"/>
          <p:cNvSpPr/>
          <p:nvPr/>
        </p:nvSpPr>
        <p:spPr>
          <a:xfrm>
            <a:off x="6479896" y="3035808"/>
            <a:ext cx="4870552" cy="7315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El organizador la prohíbe en sus términos y condiciones, y no tiene forma de impedirla.</a:t>
            </a:r>
            <a:endParaRPr lang="en-US" sz="1300" dirty="0"/>
          </a:p>
        </p:txBody>
      </p:sp>
      <p:sp>
        <p:nvSpPr>
          <p:cNvPr id="15" name="Shape 12"/>
          <p:cNvSpPr/>
          <p:nvPr/>
        </p:nvSpPr>
        <p:spPr>
          <a:xfrm>
            <a:off x="566928" y="4114800"/>
            <a:ext cx="11057839" cy="123444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6" name="Text 13"/>
          <p:cNvSpPr/>
          <p:nvPr/>
        </p:nvSpPr>
        <p:spPr>
          <a:xfrm>
            <a:off x="950976" y="4334256"/>
            <a:ext cx="10289743" cy="795528"/>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Quien emite la entrada pierde el control sobre ella en el momento en que la entrega. A partir de ahí solo puede confiar.</a:t>
            </a:r>
            <a:endParaRPr lang="en-US" sz="2000" dirty="0"/>
          </a:p>
        </p:txBody>
      </p:sp>
      <p:sp>
        <p:nvSpPr>
          <p:cNvPr id="17" name="Text 14"/>
          <p:cNvSpPr/>
          <p:nvPr/>
        </p:nvSpPr>
        <p:spPr>
          <a:xfrm>
            <a:off x="566928" y="5532120"/>
            <a:ext cx="11057839" cy="502920"/>
          </a:xfrm>
          <a:prstGeom prst="rect">
            <a:avLst/>
          </a:prstGeom>
          <a:noFill/>
          <a:ln/>
        </p:spPr>
        <p:txBody>
          <a:bodyPr wrap="square" lIns="0" tIns="0" rIns="0" bIns="0" rtlCol="0" anchor="t"/>
          <a:lstStyle/>
          <a:p>
            <a:pPr indent="0" marL="0">
              <a:lnSpc>
                <a:spcPct val="124000"/>
              </a:lnSpc>
              <a:buNone/>
            </a:pPr>
            <a:r>
              <a:rPr lang="en-US" sz="1300" dirty="0">
                <a:solidFill>
                  <a:srgbClr val="6F6B80"/>
                </a:solidFill>
                <a:latin typeface="Arial" pitchFamily="34" charset="0"/>
                <a:ea typeface="Arial" pitchFamily="34" charset="-122"/>
                <a:cs typeface="Arial" pitchFamily="34" charset="-120"/>
              </a:rPr>
              <a:t>Ese es el problema. Todavía no he dicho ni una palabra sobre la solución — y ese orden importa más de lo que parece.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A</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LO QUE HAY QUE APRENDER HOY</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CÓMO SE ACOTA UN ALCANCE</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Lo que separa un proyecto que se termina de uno que se abandona en la semana diez.</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EL ERROR DE PARTIDA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LLEGAR CON LA SOLUCIÓN EN LA MANO</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05</a:t>
            </a:r>
            <a:endParaRPr lang="en-US" sz="900" dirty="0"/>
          </a:p>
        </p:txBody>
      </p:sp>
      <p:sp>
        <p:nvSpPr>
          <p:cNvPr id="8" name="Text 5"/>
          <p:cNvSpPr/>
          <p:nvPr/>
        </p:nvSpPr>
        <p:spPr>
          <a:xfrm>
            <a:off x="566928" y="1737360"/>
            <a:ext cx="11057839" cy="6400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La mayoría de los anteproyectos empiezan por «quiero hacer una aplicación de…». Eso ya es una solución, y detrás no hay un problema examinado: hay una tecnología que llamó la atención.</a:t>
            </a:r>
            <a:endParaRPr lang="en-US" sz="14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2560320"/>
          <a:ext cx="11057839" cy="914400"/>
        </p:xfrm>
        <a:graphic>
          <a:graphicData uri="http://schemas.openxmlformats.org/drawingml/2006/table">
            <a:tbl>
              <a:tblPr/>
              <a:tblGrid>
                <a:gridCol w="4114800"/>
                <a:gridCol w="69430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SE DICE ASÍ</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Y ESCONDE ESTO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7360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«Quiero hacer un NFT de diplomas»</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¿Qué problema tiene hoy alguien con los diplomas? ¿Quién sufre, cuánto, y cuánto le cuesta?</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7360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«Una app de trazabilidad con blockchain»</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¿Trazabilidad de qué, para quién, y quién no le cree hoy a quién?</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7360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«Un sistema de votación descentralizado»</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¿Qué votación concreta? ¿El voto es secreto? Porque si lo es, cambia todo.</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542032"/>
            <a:ext cx="11094415" cy="2368296"/>
          </a:xfrm>
          <a:prstGeom prst="rect">
            <a:avLst/>
          </a:prstGeom>
          <a:ln w="22225">
            <a:solidFill>
              <a:srgbClr val="0F0F11"/>
            </a:solidFill>
            <a:prstDash val="solid"/>
          </a:ln>
        </p:spPr>
      </p:sp>
      <p:sp>
        <p:nvSpPr>
          <p:cNvPr id="11" name="Shape 7"/>
          <p:cNvSpPr/>
          <p:nvPr/>
        </p:nvSpPr>
        <p:spPr>
          <a:xfrm>
            <a:off x="566928" y="5120640"/>
            <a:ext cx="11057839" cy="9601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2" name="Image 1" descr="preencoded.png">    </p:cNvPr>
          <p:cNvPicPr>
            <a:picLocks noChangeAspect="1"/>
          </p:cNvPicPr>
          <p:nvPr/>
        </p:nvPicPr>
        <p:blipFill>
          <a:blip r:embed="rId2"/>
          <a:stretch>
            <a:fillRect/>
          </a:stretch>
        </p:blipFill>
        <p:spPr>
          <a:xfrm>
            <a:off x="804672" y="5340096"/>
            <a:ext cx="237744" cy="237744"/>
          </a:xfrm>
          <a:prstGeom prst="rect">
            <a:avLst/>
          </a:prstGeom>
        </p:spPr>
      </p:pic>
      <p:sp>
        <p:nvSpPr>
          <p:cNvPr id="13" name="Text 8"/>
          <p:cNvSpPr/>
          <p:nvPr/>
        </p:nvSpPr>
        <p:spPr>
          <a:xfrm>
            <a:off x="1133856" y="531266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LA PRUEBA DE FUEGO</a:t>
            </a:r>
            <a:endParaRPr lang="en-US" sz="950" dirty="0"/>
          </a:p>
        </p:txBody>
      </p:sp>
      <p:sp>
        <p:nvSpPr>
          <p:cNvPr id="14" name="Text 9"/>
          <p:cNvSpPr/>
          <p:nvPr/>
        </p:nvSpPr>
        <p:spPr>
          <a:xfrm>
            <a:off x="804672" y="5632704"/>
            <a:ext cx="10582351" cy="4114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Si no pueden enunciar su problema SIN nombrar la tecnología, todavía no tienen un problema: tienen una solución buscando dónde aplicarse.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DISEÑO CENTRADO EN EL PROBLEMA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DIVERGIR, DESPUÉS CONVERGER. DOS VECES.</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06</a:t>
            </a:r>
            <a:endParaRPr lang="en-US" sz="900" dirty="0"/>
          </a:p>
        </p:txBody>
      </p:sp>
      <p:sp>
        <p:nvSpPr>
          <p:cNvPr id="8" name="Text 5"/>
          <p:cNvSpPr/>
          <p:nvPr/>
        </p:nvSpPr>
        <p:spPr>
          <a:xfrm>
            <a:off x="566928" y="1691640"/>
            <a:ext cx="11057839" cy="5943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El doble diamante viene del diseño, y es la herramienta más útil que hay para acotar. Se abre para explorar y se cierra para decidir — y se hace dos veces: una sobre el problema y otra sobre la solución.</a:t>
            </a:r>
            <a:endParaRPr lang="en-US" sz="1350" dirty="0"/>
          </a:p>
        </p:txBody>
      </p:sp>
      <p:sp>
        <p:nvSpPr>
          <p:cNvPr id="9" name="Shape 6"/>
          <p:cNvSpPr/>
          <p:nvPr/>
        </p:nvSpPr>
        <p:spPr>
          <a:xfrm>
            <a:off x="841248" y="2743200"/>
            <a:ext cx="4572000" cy="1737360"/>
          </a:xfrm>
          <a:prstGeom prst="diamond">
            <a:avLst/>
          </a:prstGeom>
          <a:ln w="31750">
            <a:solidFill>
              <a:srgbClr val="0F0F11"/>
            </a:solidFill>
            <a:prstDash val="solid"/>
          </a:ln>
        </p:spPr>
      </p:sp>
      <p:sp>
        <p:nvSpPr>
          <p:cNvPr id="10" name="Shape 7"/>
          <p:cNvSpPr/>
          <p:nvPr/>
        </p:nvSpPr>
        <p:spPr>
          <a:xfrm>
            <a:off x="6510528" y="2743200"/>
            <a:ext cx="4572000" cy="1737360"/>
          </a:xfrm>
          <a:prstGeom prst="diamond">
            <a:avLst/>
          </a:prstGeom>
          <a:ln w="31750">
            <a:solidFill>
              <a:srgbClr val="F07F06"/>
            </a:solidFill>
            <a:prstDash val="solid"/>
          </a:ln>
        </p:spPr>
      </p:sp>
      <p:sp>
        <p:nvSpPr>
          <p:cNvPr id="11" name="Text 8"/>
          <p:cNvSpPr/>
          <p:nvPr/>
        </p:nvSpPr>
        <p:spPr>
          <a:xfrm>
            <a:off x="841248" y="3310128"/>
            <a:ext cx="4572000" cy="365760"/>
          </a:xfrm>
          <a:prstGeom prst="rect">
            <a:avLst/>
          </a:prstGeom>
          <a:noFill/>
          <a:ln/>
        </p:spPr>
        <p:txBody>
          <a:bodyPr wrap="square" lIns="0" tIns="0" rIns="0" bIns="0" rtlCol="0" anchor="ctr"/>
          <a:lstStyle/>
          <a:p>
            <a:pPr algn="ctr" indent="0" marL="0">
              <a:buNone/>
            </a:pPr>
            <a:r>
              <a:rPr lang="en-US" sz="1500" dirty="0">
                <a:solidFill>
                  <a:srgbClr val="0F0F11"/>
                </a:solidFill>
                <a:latin typeface="Arial Black" pitchFamily="34" charset="0"/>
                <a:ea typeface="Arial Black" pitchFamily="34" charset="-122"/>
                <a:cs typeface="Arial Black" pitchFamily="34" charset="-120"/>
              </a:rPr>
              <a:t>EL PROBLEMA</a:t>
            </a:r>
            <a:endParaRPr lang="en-US" sz="1500" dirty="0"/>
          </a:p>
        </p:txBody>
      </p:sp>
      <p:sp>
        <p:nvSpPr>
          <p:cNvPr id="12" name="Text 9"/>
          <p:cNvSpPr/>
          <p:nvPr/>
        </p:nvSpPr>
        <p:spPr>
          <a:xfrm>
            <a:off x="6510528" y="3310128"/>
            <a:ext cx="4572000" cy="365760"/>
          </a:xfrm>
          <a:prstGeom prst="rect">
            <a:avLst/>
          </a:prstGeom>
          <a:noFill/>
          <a:ln/>
        </p:spPr>
        <p:txBody>
          <a:bodyPr wrap="square" lIns="0" tIns="0" rIns="0" bIns="0" rtlCol="0" anchor="ctr"/>
          <a:lstStyle/>
          <a:p>
            <a:pPr algn="ctr" indent="0" marL="0">
              <a:buNone/>
            </a:pPr>
            <a:r>
              <a:rPr lang="en-US" sz="1500" dirty="0">
                <a:solidFill>
                  <a:srgbClr val="A35604"/>
                </a:solidFill>
                <a:latin typeface="Arial Black" pitchFamily="34" charset="0"/>
                <a:ea typeface="Arial Black" pitchFamily="34" charset="-122"/>
                <a:cs typeface="Arial Black" pitchFamily="34" charset="-120"/>
              </a:rPr>
              <a:t>LA SOLUCIÓN</a:t>
            </a:r>
            <a:endParaRPr lang="en-US" sz="1500" dirty="0"/>
          </a:p>
        </p:txBody>
      </p:sp>
      <p:sp>
        <p:nvSpPr>
          <p:cNvPr id="13" name="Text 10"/>
          <p:cNvSpPr/>
          <p:nvPr/>
        </p:nvSpPr>
        <p:spPr>
          <a:xfrm>
            <a:off x="841248" y="2377440"/>
            <a:ext cx="2286000" cy="274320"/>
          </a:xfrm>
          <a:prstGeom prst="rect">
            <a:avLst/>
          </a:prstGeom>
          <a:noFill/>
          <a:ln/>
        </p:spPr>
        <p:txBody>
          <a:bodyPr wrap="square" lIns="0" tIns="0" rIns="0" bIns="0" rtlCol="0" anchor="ctr"/>
          <a:lstStyle/>
          <a:p>
            <a:pPr algn="ctr" indent="0" marL="0">
              <a:buNone/>
            </a:pPr>
            <a:r>
              <a:rPr lang="en-US" sz="950" b="1" spc="110" kern="0" dirty="0">
                <a:solidFill>
                  <a:srgbClr val="0F0F11"/>
                </a:solidFill>
                <a:latin typeface="Courier New" pitchFamily="34" charset="0"/>
                <a:ea typeface="Courier New" pitchFamily="34" charset="-122"/>
                <a:cs typeface="Courier New" pitchFamily="34" charset="-120"/>
              </a:rPr>
              <a:t>1 · DESCUBRIR</a:t>
            </a:r>
            <a:endParaRPr lang="en-US" sz="950" dirty="0"/>
          </a:p>
        </p:txBody>
      </p:sp>
      <p:sp>
        <p:nvSpPr>
          <p:cNvPr id="14" name="Text 11"/>
          <p:cNvSpPr/>
          <p:nvPr/>
        </p:nvSpPr>
        <p:spPr>
          <a:xfrm>
            <a:off x="841248" y="4553712"/>
            <a:ext cx="2286000" cy="274320"/>
          </a:xfrm>
          <a:prstGeom prst="rect">
            <a:avLst/>
          </a:prstGeom>
          <a:noFill/>
          <a:ln/>
        </p:spPr>
        <p:txBody>
          <a:bodyPr wrap="square" lIns="0" tIns="0" rIns="0" bIns="0" rtlCol="0" anchor="ctr"/>
          <a:lstStyle/>
          <a:p>
            <a:pPr algn="ctr" indent="0" marL="0">
              <a:buNone/>
            </a:pPr>
            <a:r>
              <a:rPr lang="en-US" sz="950" dirty="0">
                <a:solidFill>
                  <a:srgbClr val="6F6B80"/>
                </a:solidFill>
                <a:latin typeface="Courier New" pitchFamily="34" charset="0"/>
                <a:ea typeface="Courier New" pitchFamily="34" charset="-122"/>
                <a:cs typeface="Courier New" pitchFamily="34" charset="-120"/>
              </a:rPr>
              <a:t>muchas preguntas</a:t>
            </a:r>
            <a:endParaRPr lang="en-US" sz="950" dirty="0"/>
          </a:p>
        </p:txBody>
      </p:sp>
      <p:sp>
        <p:nvSpPr>
          <p:cNvPr id="15" name="Text 12"/>
          <p:cNvSpPr/>
          <p:nvPr/>
        </p:nvSpPr>
        <p:spPr>
          <a:xfrm>
            <a:off x="3127248" y="2377440"/>
            <a:ext cx="2286000" cy="274320"/>
          </a:xfrm>
          <a:prstGeom prst="rect">
            <a:avLst/>
          </a:prstGeom>
          <a:noFill/>
          <a:ln/>
        </p:spPr>
        <p:txBody>
          <a:bodyPr wrap="square" lIns="0" tIns="0" rIns="0" bIns="0" rtlCol="0" anchor="ctr"/>
          <a:lstStyle/>
          <a:p>
            <a:pPr algn="ctr" indent="0" marL="0">
              <a:buNone/>
            </a:pPr>
            <a:r>
              <a:rPr lang="en-US" sz="950" b="1" spc="110" kern="0" dirty="0">
                <a:solidFill>
                  <a:srgbClr val="0F0F11"/>
                </a:solidFill>
                <a:latin typeface="Courier New" pitchFamily="34" charset="0"/>
                <a:ea typeface="Courier New" pitchFamily="34" charset="-122"/>
                <a:cs typeface="Courier New" pitchFamily="34" charset="-120"/>
              </a:rPr>
              <a:t>2 · DEFINIR</a:t>
            </a:r>
            <a:endParaRPr lang="en-US" sz="950" dirty="0"/>
          </a:p>
        </p:txBody>
      </p:sp>
      <p:sp>
        <p:nvSpPr>
          <p:cNvPr id="16" name="Text 13"/>
          <p:cNvSpPr/>
          <p:nvPr/>
        </p:nvSpPr>
        <p:spPr>
          <a:xfrm>
            <a:off x="3127248" y="4553712"/>
            <a:ext cx="2286000" cy="274320"/>
          </a:xfrm>
          <a:prstGeom prst="rect">
            <a:avLst/>
          </a:prstGeom>
          <a:noFill/>
          <a:ln/>
        </p:spPr>
        <p:txBody>
          <a:bodyPr wrap="square" lIns="0" tIns="0" rIns="0" bIns="0" rtlCol="0" anchor="ctr"/>
          <a:lstStyle/>
          <a:p>
            <a:pPr algn="ctr" indent="0" marL="0">
              <a:buNone/>
            </a:pPr>
            <a:r>
              <a:rPr lang="en-US" sz="950" dirty="0">
                <a:solidFill>
                  <a:srgbClr val="6F6B80"/>
                </a:solidFill>
                <a:latin typeface="Courier New" pitchFamily="34" charset="0"/>
                <a:ea typeface="Courier New" pitchFamily="34" charset="-122"/>
                <a:cs typeface="Courier New" pitchFamily="34" charset="-120"/>
              </a:rPr>
              <a:t>un solo problema</a:t>
            </a:r>
            <a:endParaRPr lang="en-US" sz="950" dirty="0"/>
          </a:p>
        </p:txBody>
      </p:sp>
      <p:sp>
        <p:nvSpPr>
          <p:cNvPr id="17" name="Text 14"/>
          <p:cNvSpPr/>
          <p:nvPr/>
        </p:nvSpPr>
        <p:spPr>
          <a:xfrm>
            <a:off x="6510528" y="2377440"/>
            <a:ext cx="2286000" cy="274320"/>
          </a:xfrm>
          <a:prstGeom prst="rect">
            <a:avLst/>
          </a:prstGeom>
          <a:noFill/>
          <a:ln/>
        </p:spPr>
        <p:txBody>
          <a:bodyPr wrap="square" lIns="0" tIns="0" rIns="0" bIns="0" rtlCol="0" anchor="ctr"/>
          <a:lstStyle/>
          <a:p>
            <a:pPr algn="ctr" indent="0" marL="0">
              <a:buNone/>
            </a:pPr>
            <a:r>
              <a:rPr lang="en-US" sz="950" b="1" spc="110" kern="0" dirty="0">
                <a:solidFill>
                  <a:srgbClr val="0F0F11"/>
                </a:solidFill>
                <a:latin typeface="Courier New" pitchFamily="34" charset="0"/>
                <a:ea typeface="Courier New" pitchFamily="34" charset="-122"/>
                <a:cs typeface="Courier New" pitchFamily="34" charset="-120"/>
              </a:rPr>
              <a:t>3 · IDEAR</a:t>
            </a:r>
            <a:endParaRPr lang="en-US" sz="950" dirty="0"/>
          </a:p>
        </p:txBody>
      </p:sp>
      <p:sp>
        <p:nvSpPr>
          <p:cNvPr id="18" name="Text 15"/>
          <p:cNvSpPr/>
          <p:nvPr/>
        </p:nvSpPr>
        <p:spPr>
          <a:xfrm>
            <a:off x="6510528" y="4553712"/>
            <a:ext cx="2286000" cy="274320"/>
          </a:xfrm>
          <a:prstGeom prst="rect">
            <a:avLst/>
          </a:prstGeom>
          <a:noFill/>
          <a:ln/>
        </p:spPr>
        <p:txBody>
          <a:bodyPr wrap="square" lIns="0" tIns="0" rIns="0" bIns="0" rtlCol="0" anchor="ctr"/>
          <a:lstStyle/>
          <a:p>
            <a:pPr algn="ctr" indent="0" marL="0">
              <a:buNone/>
            </a:pPr>
            <a:r>
              <a:rPr lang="en-US" sz="950" dirty="0">
                <a:solidFill>
                  <a:srgbClr val="6F6B80"/>
                </a:solidFill>
                <a:latin typeface="Courier New" pitchFamily="34" charset="0"/>
                <a:ea typeface="Courier New" pitchFamily="34" charset="-122"/>
                <a:cs typeface="Courier New" pitchFamily="34" charset="-120"/>
              </a:rPr>
              <a:t>muchas opciones</a:t>
            </a:r>
            <a:endParaRPr lang="en-US" sz="950" dirty="0"/>
          </a:p>
        </p:txBody>
      </p:sp>
      <p:sp>
        <p:nvSpPr>
          <p:cNvPr id="19" name="Text 16"/>
          <p:cNvSpPr/>
          <p:nvPr/>
        </p:nvSpPr>
        <p:spPr>
          <a:xfrm>
            <a:off x="8796528" y="2377440"/>
            <a:ext cx="2286000" cy="274320"/>
          </a:xfrm>
          <a:prstGeom prst="rect">
            <a:avLst/>
          </a:prstGeom>
          <a:noFill/>
          <a:ln/>
        </p:spPr>
        <p:txBody>
          <a:bodyPr wrap="square" lIns="0" tIns="0" rIns="0" bIns="0" rtlCol="0" anchor="ctr"/>
          <a:lstStyle/>
          <a:p>
            <a:pPr algn="ctr" indent="0" marL="0">
              <a:buNone/>
            </a:pPr>
            <a:r>
              <a:rPr lang="en-US" sz="950" b="1" spc="110" kern="0" dirty="0">
                <a:solidFill>
                  <a:srgbClr val="0F0F11"/>
                </a:solidFill>
                <a:latin typeface="Courier New" pitchFamily="34" charset="0"/>
                <a:ea typeface="Courier New" pitchFamily="34" charset="-122"/>
                <a:cs typeface="Courier New" pitchFamily="34" charset="-120"/>
              </a:rPr>
              <a:t>4 · ENTREGAR</a:t>
            </a:r>
            <a:endParaRPr lang="en-US" sz="950" dirty="0"/>
          </a:p>
        </p:txBody>
      </p:sp>
      <p:sp>
        <p:nvSpPr>
          <p:cNvPr id="20" name="Text 17"/>
          <p:cNvSpPr/>
          <p:nvPr/>
        </p:nvSpPr>
        <p:spPr>
          <a:xfrm>
            <a:off x="8796528" y="4553712"/>
            <a:ext cx="2286000" cy="274320"/>
          </a:xfrm>
          <a:prstGeom prst="rect">
            <a:avLst/>
          </a:prstGeom>
          <a:noFill/>
          <a:ln/>
        </p:spPr>
        <p:txBody>
          <a:bodyPr wrap="square" lIns="0" tIns="0" rIns="0" bIns="0" rtlCol="0" anchor="ctr"/>
          <a:lstStyle/>
          <a:p>
            <a:pPr algn="ctr" indent="0" marL="0">
              <a:buNone/>
            </a:pPr>
            <a:r>
              <a:rPr lang="en-US" sz="950" dirty="0">
                <a:solidFill>
                  <a:srgbClr val="6F6B80"/>
                </a:solidFill>
                <a:latin typeface="Courier New" pitchFamily="34" charset="0"/>
                <a:ea typeface="Courier New" pitchFamily="34" charset="-122"/>
                <a:cs typeface="Courier New" pitchFamily="34" charset="-120"/>
              </a:rPr>
              <a:t>una sola solución</a:t>
            </a:r>
            <a:endParaRPr lang="en-US" sz="950" dirty="0"/>
          </a:p>
        </p:txBody>
      </p:sp>
      <p:sp>
        <p:nvSpPr>
          <p:cNvPr id="21" name="Shape 18"/>
          <p:cNvSpPr/>
          <p:nvPr/>
        </p:nvSpPr>
        <p:spPr>
          <a:xfrm>
            <a:off x="566928" y="5029200"/>
            <a:ext cx="11057839" cy="105156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22" name="Image 1" descr="preencoded.png">    </p:cNvPr>
          <p:cNvPicPr>
            <a:picLocks noChangeAspect="1"/>
          </p:cNvPicPr>
          <p:nvPr/>
        </p:nvPicPr>
        <p:blipFill>
          <a:blip r:embed="rId2"/>
          <a:stretch>
            <a:fillRect/>
          </a:stretch>
        </p:blipFill>
        <p:spPr>
          <a:xfrm>
            <a:off x="804672" y="5248656"/>
            <a:ext cx="237744" cy="237744"/>
          </a:xfrm>
          <a:prstGeom prst="rect">
            <a:avLst/>
          </a:prstGeom>
        </p:spPr>
      </p:pic>
      <p:sp>
        <p:nvSpPr>
          <p:cNvPr id="23" name="Text 19"/>
          <p:cNvSpPr/>
          <p:nvPr/>
        </p:nvSpPr>
        <p:spPr>
          <a:xfrm>
            <a:off x="1133856" y="522122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EL ERROR QUE HAY QUE EVITAR</a:t>
            </a:r>
            <a:endParaRPr lang="en-US" sz="950" dirty="0"/>
          </a:p>
        </p:txBody>
      </p:sp>
      <p:sp>
        <p:nvSpPr>
          <p:cNvPr id="24" name="Text 20"/>
          <p:cNvSpPr/>
          <p:nvPr/>
        </p:nvSpPr>
        <p:spPr>
          <a:xfrm>
            <a:off x="804672" y="5559552"/>
            <a:ext cx="10582351" cy="548640"/>
          </a:xfrm>
          <a:prstGeom prst="rect">
            <a:avLst/>
          </a:prstGeom>
          <a:noFill/>
          <a:ln/>
        </p:spPr>
        <p:txBody>
          <a:bodyPr wrap="square" lIns="0" tIns="0" rIns="0" bIns="0" rtlCol="0" anchor="t"/>
          <a:lstStyle/>
          <a:p>
            <a:pPr indent="0" marL="0">
              <a:lnSpc>
                <a:spcPct val="124000"/>
              </a:lnSpc>
              <a:buNone/>
            </a:pPr>
            <a:r>
              <a:rPr lang="en-US" sz="1300" dirty="0">
                <a:solidFill>
                  <a:srgbClr val="0F0F11"/>
                </a:solidFill>
                <a:latin typeface="Arial" pitchFamily="34" charset="0"/>
                <a:ea typeface="Arial" pitchFamily="34" charset="-122"/>
                <a:cs typeface="Arial" pitchFamily="34" charset="-120"/>
              </a:rPr>
              <a:t>Saltar directo al segundo diamante. Llegar con la solución significa empezar en el paso 3 sin haber hecho nunca el 1 ni el 2 — y entonces el proyecto resuelve un problema que nadie examinó.</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A.2.1 · PRIMER DIAMANTE · DESCUBRIR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LO QUE ENCONTRÉ AL PREGUNTAR</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07</a:t>
            </a:r>
            <a:endParaRPr lang="en-US" sz="900" dirty="0"/>
          </a:p>
        </p:txBody>
      </p:sp>
      <p:sp>
        <p:nvSpPr>
          <p:cNvPr id="8" name="Text 5"/>
          <p:cNvSpPr/>
          <p:nvPr/>
        </p:nvSpPr>
        <p:spPr>
          <a:xfrm>
            <a:off x="566928" y="1719072"/>
            <a:ext cx="1105783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Cinco conversaciones de veinte minutos: dos organizadores de eventos pequeños, dos personas que compran entradas con frecuencia, y alguien que ha trabajado en puerta. Nada más. Una semana.</a:t>
            </a:r>
            <a:endParaRPr lang="en-US" sz="1350" dirty="0"/>
          </a:p>
        </p:txBody>
      </p:sp>
      <p:sp>
        <p:nvSpPr>
          <p:cNvPr id="9" name="Shape 6"/>
          <p:cNvSpPr/>
          <p:nvPr/>
        </p:nvSpPr>
        <p:spPr>
          <a:xfrm>
            <a:off x="566928" y="2423160"/>
            <a:ext cx="11057839" cy="822960"/>
          </a:xfrm>
          <a:prstGeom prst="rect">
            <a:avLst/>
          </a:prstGeom>
          <a:solidFill>
            <a:srgbClr val="FAF9FB"/>
          </a:solidFill>
          <a:ln w="22225">
            <a:solidFill>
              <a:srgbClr val="0F0F11"/>
            </a:solidFill>
            <a:prstDash val="solid"/>
          </a:ln>
        </p:spPr>
      </p:sp>
      <p:sp>
        <p:nvSpPr>
          <p:cNvPr id="10" name="Text 7"/>
          <p:cNvSpPr/>
          <p:nvPr/>
        </p:nvSpPr>
        <p:spPr>
          <a:xfrm>
            <a:off x="822960" y="2514600"/>
            <a:ext cx="3291840" cy="274320"/>
          </a:xfrm>
          <a:prstGeom prst="rect">
            <a:avLst/>
          </a:prstGeom>
          <a:noFill/>
          <a:ln/>
        </p:spPr>
        <p:txBody>
          <a:bodyPr wrap="square" lIns="0" tIns="0" rIns="0" bIns="0" rtlCol="0" anchor="ctr"/>
          <a:lstStyle/>
          <a:p>
            <a:pPr indent="0" marL="0">
              <a:buNone/>
            </a:pPr>
            <a:r>
              <a:rPr lang="en-US" sz="1000" b="1" spc="115" kern="0" dirty="0">
                <a:solidFill>
                  <a:srgbClr val="6F6B80"/>
                </a:solidFill>
                <a:latin typeface="Courier New" pitchFamily="34" charset="0"/>
                <a:ea typeface="Courier New" pitchFamily="34" charset="-122"/>
                <a:cs typeface="Courier New" pitchFamily="34" charset="-120"/>
              </a:rPr>
              <a:t>EL ORGANIZADOR</a:t>
            </a:r>
            <a:endParaRPr lang="en-US" sz="1000" dirty="0"/>
          </a:p>
        </p:txBody>
      </p:sp>
      <p:sp>
        <p:nvSpPr>
          <p:cNvPr id="11" name="Text 8"/>
          <p:cNvSpPr/>
          <p:nvPr/>
        </p:nvSpPr>
        <p:spPr>
          <a:xfrm>
            <a:off x="822960" y="2807208"/>
            <a:ext cx="10545775" cy="4114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«Yo prohíbo la reventa en las condiciones, pero no tengo cómo saber si pasó. Me entero cuando alguien llega bravo a la puerta.»</a:t>
            </a:r>
            <a:endParaRPr lang="en-US" sz="1250" dirty="0"/>
          </a:p>
        </p:txBody>
      </p:sp>
      <p:sp>
        <p:nvSpPr>
          <p:cNvPr id="12" name="Shape 9"/>
          <p:cNvSpPr/>
          <p:nvPr/>
        </p:nvSpPr>
        <p:spPr>
          <a:xfrm>
            <a:off x="566928" y="3383280"/>
            <a:ext cx="11057839" cy="822960"/>
          </a:xfrm>
          <a:prstGeom prst="rect">
            <a:avLst/>
          </a:prstGeom>
          <a:solidFill>
            <a:srgbClr val="FAF9FB"/>
          </a:solidFill>
          <a:ln w="22225">
            <a:solidFill>
              <a:srgbClr val="0F0F11"/>
            </a:solidFill>
            <a:prstDash val="solid"/>
          </a:ln>
        </p:spPr>
      </p:sp>
      <p:sp>
        <p:nvSpPr>
          <p:cNvPr id="13" name="Text 10"/>
          <p:cNvSpPr/>
          <p:nvPr/>
        </p:nvSpPr>
        <p:spPr>
          <a:xfrm>
            <a:off x="822960" y="3474720"/>
            <a:ext cx="3291840" cy="274320"/>
          </a:xfrm>
          <a:prstGeom prst="rect">
            <a:avLst/>
          </a:prstGeom>
          <a:noFill/>
          <a:ln/>
        </p:spPr>
        <p:txBody>
          <a:bodyPr wrap="square" lIns="0" tIns="0" rIns="0" bIns="0" rtlCol="0" anchor="ctr"/>
          <a:lstStyle/>
          <a:p>
            <a:pPr indent="0" marL="0">
              <a:buNone/>
            </a:pPr>
            <a:r>
              <a:rPr lang="en-US" sz="1000" b="1" spc="115" kern="0" dirty="0">
                <a:solidFill>
                  <a:srgbClr val="6F6B80"/>
                </a:solidFill>
                <a:latin typeface="Courier New" pitchFamily="34" charset="0"/>
                <a:ea typeface="Courier New" pitchFamily="34" charset="-122"/>
                <a:cs typeface="Courier New" pitchFamily="34" charset="-120"/>
              </a:rPr>
              <a:t>QUIEN COMPRA</a:t>
            </a:r>
            <a:endParaRPr lang="en-US" sz="1000" dirty="0"/>
          </a:p>
        </p:txBody>
      </p:sp>
      <p:sp>
        <p:nvSpPr>
          <p:cNvPr id="14" name="Text 11"/>
          <p:cNvSpPr/>
          <p:nvPr/>
        </p:nvSpPr>
        <p:spPr>
          <a:xfrm>
            <a:off x="822960" y="3767328"/>
            <a:ext cx="10545775" cy="4114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«Compré por fuera y me tocó arriesgarme. El vendedor me mandó una foto del código y recé.»</a:t>
            </a:r>
            <a:endParaRPr lang="en-US" sz="1250" dirty="0"/>
          </a:p>
        </p:txBody>
      </p:sp>
      <p:sp>
        <p:nvSpPr>
          <p:cNvPr id="15" name="Shape 12"/>
          <p:cNvSpPr/>
          <p:nvPr/>
        </p:nvSpPr>
        <p:spPr>
          <a:xfrm>
            <a:off x="566928" y="4343400"/>
            <a:ext cx="11057839" cy="822960"/>
          </a:xfrm>
          <a:prstGeom prst="rect">
            <a:avLst/>
          </a:prstGeom>
          <a:solidFill>
            <a:srgbClr val="FAF9FB"/>
          </a:solidFill>
          <a:ln w="22225">
            <a:solidFill>
              <a:srgbClr val="0F0F11"/>
            </a:solidFill>
            <a:prstDash val="solid"/>
          </a:ln>
        </p:spPr>
      </p:sp>
      <p:sp>
        <p:nvSpPr>
          <p:cNvPr id="16" name="Text 13"/>
          <p:cNvSpPr/>
          <p:nvPr/>
        </p:nvSpPr>
        <p:spPr>
          <a:xfrm>
            <a:off x="822960" y="4434840"/>
            <a:ext cx="3291840" cy="274320"/>
          </a:xfrm>
          <a:prstGeom prst="rect">
            <a:avLst/>
          </a:prstGeom>
          <a:noFill/>
          <a:ln/>
        </p:spPr>
        <p:txBody>
          <a:bodyPr wrap="square" lIns="0" tIns="0" rIns="0" bIns="0" rtlCol="0" anchor="ctr"/>
          <a:lstStyle/>
          <a:p>
            <a:pPr indent="0" marL="0">
              <a:buNone/>
            </a:pPr>
            <a:r>
              <a:rPr lang="en-US" sz="1000" b="1" spc="115" kern="0" dirty="0">
                <a:solidFill>
                  <a:srgbClr val="6F6B80"/>
                </a:solidFill>
                <a:latin typeface="Courier New" pitchFamily="34" charset="0"/>
                <a:ea typeface="Courier New" pitchFamily="34" charset="-122"/>
                <a:cs typeface="Courier New" pitchFamily="34" charset="-120"/>
              </a:rPr>
              <a:t>QUIEN TRABAJA EN PUERTA</a:t>
            </a:r>
            <a:endParaRPr lang="en-US" sz="1000" dirty="0"/>
          </a:p>
        </p:txBody>
      </p:sp>
      <p:sp>
        <p:nvSpPr>
          <p:cNvPr id="17" name="Text 14"/>
          <p:cNvSpPr/>
          <p:nvPr/>
        </p:nvSpPr>
        <p:spPr>
          <a:xfrm>
            <a:off x="822960" y="4727448"/>
            <a:ext cx="10545775" cy="4114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«Cuando hay dos con el mismo código, entra el que llegó primero. Al otro le toca discutir conmigo, y yo no decido nada.»</a:t>
            </a:r>
            <a:endParaRPr lang="en-US" sz="1250" dirty="0"/>
          </a:p>
        </p:txBody>
      </p:sp>
      <p:sp>
        <p:nvSpPr>
          <p:cNvPr id="18" name="Shape 15"/>
          <p:cNvSpPr/>
          <p:nvPr/>
        </p:nvSpPr>
        <p:spPr>
          <a:xfrm>
            <a:off x="566928" y="5303520"/>
            <a:ext cx="11057839" cy="8229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9" name="Text 16"/>
          <p:cNvSpPr/>
          <p:nvPr/>
        </p:nvSpPr>
        <p:spPr>
          <a:xfrm>
            <a:off x="822960" y="5394960"/>
            <a:ext cx="3291840" cy="274320"/>
          </a:xfrm>
          <a:prstGeom prst="rect">
            <a:avLst/>
          </a:prstGeom>
          <a:noFill/>
          <a:ln/>
        </p:spPr>
        <p:txBody>
          <a:bodyPr wrap="square" lIns="0" tIns="0" rIns="0" bIns="0" rtlCol="0" anchor="ctr"/>
          <a:lstStyle/>
          <a:p>
            <a:pPr indent="0" marL="0">
              <a:buNone/>
            </a:pPr>
            <a:r>
              <a:rPr lang="en-US" sz="1000" b="1" spc="115" kern="0" dirty="0">
                <a:solidFill>
                  <a:srgbClr val="A35604"/>
                </a:solidFill>
                <a:latin typeface="Courier New" pitchFamily="34" charset="0"/>
                <a:ea typeface="Courier New" pitchFamily="34" charset="-122"/>
                <a:cs typeface="Courier New" pitchFamily="34" charset="-120"/>
              </a:rPr>
              <a:t>EL HALLAZGO QUE NO ESPERABA</a:t>
            </a:r>
            <a:endParaRPr lang="en-US" sz="1000" dirty="0"/>
          </a:p>
        </p:txBody>
      </p:sp>
      <p:sp>
        <p:nvSpPr>
          <p:cNvPr id="20" name="Text 17"/>
          <p:cNvSpPr/>
          <p:nvPr/>
        </p:nvSpPr>
        <p:spPr>
          <a:xfrm>
            <a:off x="822960" y="5687568"/>
            <a:ext cx="10545775" cy="411480"/>
          </a:xfrm>
          <a:prstGeom prst="rect">
            <a:avLst/>
          </a:prstGeom>
          <a:noFill/>
          <a:ln/>
        </p:spPr>
        <p:txBody>
          <a:bodyPr wrap="square" lIns="0" tIns="0" rIns="0" bIns="0" rtlCol="0" anchor="t"/>
          <a:lstStyle/>
          <a:p>
            <a:pPr indent="0" marL="0">
              <a:lnSpc>
                <a:spcPct val="124000"/>
              </a:lnSpc>
              <a:buNone/>
            </a:pPr>
            <a:r>
              <a:rPr lang="en-US" sz="1250" dirty="0">
                <a:solidFill>
                  <a:srgbClr val="0F0F11"/>
                </a:solidFill>
                <a:latin typeface="Arial" pitchFamily="34" charset="0"/>
                <a:ea typeface="Arial" pitchFamily="34" charset="-122"/>
                <a:cs typeface="Arial" pitchFamily="34" charset="-120"/>
              </a:rPr>
              <a:t>La plataforma que vende las entradas COBRA COMISIÓN POR CADA REVENTA. Es el actor con menos incentivo para limitarla — y es justo a quien el organizador le delegó el problema.</a:t>
            </a:r>
            <a:endParaRPr lang="en-US" sz="1250" dirty="0"/>
          </a:p>
        </p:txBody>
      </p:sp>
      <p:sp>
        <p:nvSpPr>
          <p:cNvPr id="21" name="Text 18"/>
          <p:cNvSpPr/>
          <p:nvPr/>
        </p:nvSpPr>
        <p:spPr>
          <a:xfrm>
            <a:off x="566928" y="6355080"/>
            <a:ext cx="11057839" cy="365760"/>
          </a:xfrm>
          <a:prstGeom prst="rect">
            <a:avLst/>
          </a:prstGeom>
          <a:noFill/>
          <a:ln/>
        </p:spPr>
        <p:txBody>
          <a:bodyPr wrap="square" lIns="0" tIns="0" rIns="0" bIns="0" rtlCol="0" anchor="t"/>
          <a:lstStyle/>
          <a:p>
            <a:pPr indent="0" marL="0">
              <a:lnSpc>
                <a:spcPct val="124000"/>
              </a:lnSpc>
              <a:buNone/>
            </a:pPr>
            <a:r>
              <a:rPr lang="en-US" sz="1250" dirty="0">
                <a:solidFill>
                  <a:srgbClr val="6F6B80"/>
                </a:solidFill>
                <a:latin typeface="Arial" pitchFamily="34" charset="0"/>
                <a:ea typeface="Arial" pitchFamily="34" charset="-122"/>
                <a:cs typeface="Arial" pitchFamily="34" charset="-120"/>
              </a:rPr>
              <a:t>Ese último renglón cambió el proyecto. Sin él, la respuesta obvia habría sido «que el organizador monte su propia plataforma».</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A.2.2 · PRIMER DIAMANTE · DEFINIR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DE CINCO PROBLEMAS A UNO</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08</a:t>
            </a:r>
            <a:endParaRPr lang="en-US" sz="900" dirty="0"/>
          </a:p>
        </p:txBody>
      </p:sp>
      <p:sp>
        <p:nvSpPr>
          <p:cNvPr id="8" name="Text 5"/>
          <p:cNvSpPr/>
          <p:nvPr/>
        </p:nvSpPr>
        <p:spPr>
          <a:xfrm>
            <a:off x="566928" y="1719072"/>
            <a:ext cx="11057839" cy="45720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Converger duele, porque hay que soltar problemas reales. Estos cinco salieron de las conversaciones. Cuatro se descartaron.</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2331720"/>
          <a:ext cx="11057839" cy="914400"/>
        </p:xfrm>
        <a:graphic>
          <a:graphicData uri="http://schemas.openxmlformats.org/drawingml/2006/table">
            <a:tbl>
              <a:tblPr/>
              <a:tblGrid>
                <a:gridCol w="4389120"/>
                <a:gridCol w="66687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PROBLEMA CANDIDATO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POR QUÉ NO LO ELEGÍ</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14477">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La fila en la puerta es lenta</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Es un problema de operación y de personal, no de confianza. Se resuelve con más lectores y más gente.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14477">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No se sabe cuánta gente entró de verdad</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Es un problema de instrumentación. Un contador y una hoja de cálculo lo resuelven.</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14477">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El pago al artista se demora</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Real, pero es un problema contractual entre dos partes que ya se conocen y tienen contrato firmado.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14477">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La entrada se falsifica</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Es la mitad del problema, y se resuelve sin cadena: un código dinámico desde un servidor basta.</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14477">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LA REGLA DE REVENTA NO SE PUEDE HACER CUMPLIR</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ELEGIDO. Es el único donde hay partes con intereses opuestos y el árbitro disponible es parte interesada.</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313432"/>
            <a:ext cx="11094415" cy="3419856"/>
          </a:xfrm>
          <a:prstGeom prst="rect">
            <a:avLst/>
          </a:prstGeom>
          <a:ln w="22225">
            <a:solidFill>
              <a:srgbClr val="0F0F11"/>
            </a:solidFill>
            <a:prstDash val="solid"/>
          </a:ln>
        </p:spPr>
      </p:sp>
      <p:sp>
        <p:nvSpPr>
          <p:cNvPr id="11" name="Shape 7"/>
          <p:cNvSpPr/>
          <p:nvPr/>
        </p:nvSpPr>
        <p:spPr>
          <a:xfrm>
            <a:off x="566928" y="5897880"/>
            <a:ext cx="11057839" cy="82296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2" name="Image 1" descr="preencoded.png">    </p:cNvPr>
          <p:cNvPicPr>
            <a:picLocks noChangeAspect="1"/>
          </p:cNvPicPr>
          <p:nvPr/>
        </p:nvPicPr>
        <p:blipFill>
          <a:blip r:embed="rId2"/>
          <a:stretch>
            <a:fillRect/>
          </a:stretch>
        </p:blipFill>
        <p:spPr>
          <a:xfrm>
            <a:off x="804672" y="6117336"/>
            <a:ext cx="237744" cy="237744"/>
          </a:xfrm>
          <a:prstGeom prst="rect">
            <a:avLst/>
          </a:prstGeom>
        </p:spPr>
      </p:pic>
      <p:sp>
        <p:nvSpPr>
          <p:cNvPr id="13" name="Text 8"/>
          <p:cNvSpPr/>
          <p:nvPr/>
        </p:nvSpPr>
        <p:spPr>
          <a:xfrm>
            <a:off x="1133856" y="60899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EL CRITERIO DE CORTE</a:t>
            </a:r>
            <a:endParaRPr lang="en-US" sz="950" dirty="0"/>
          </a:p>
        </p:txBody>
      </p:sp>
      <p:sp>
        <p:nvSpPr>
          <p:cNvPr id="14" name="Text 9"/>
          <p:cNvSpPr/>
          <p:nvPr/>
        </p:nvSpPr>
        <p:spPr>
          <a:xfrm>
            <a:off x="804672" y="6336792"/>
            <a:ext cx="10582351" cy="365760"/>
          </a:xfrm>
          <a:prstGeom prst="rect">
            <a:avLst/>
          </a:prstGeom>
          <a:noFill/>
          <a:ln/>
        </p:spPr>
        <p:txBody>
          <a:bodyPr wrap="square" lIns="0" tIns="0" rIns="0" bIns="0" rtlCol="0" anchor="ctr"/>
          <a:lstStyle/>
          <a:p>
            <a:pPr indent="0" marL="0">
              <a:buNone/>
            </a:pPr>
            <a:r>
              <a:rPr lang="en-US" sz="1400" dirty="0">
                <a:solidFill>
                  <a:srgbClr val="0F0F11"/>
                </a:solidFill>
                <a:latin typeface="Arial Black" pitchFamily="34" charset="0"/>
                <a:ea typeface="Arial Black" pitchFamily="34" charset="-122"/>
                <a:cs typeface="Arial Black" pitchFamily="34" charset="-120"/>
              </a:rPr>
              <a:t>Me quedé con el único problema donde la tecnología aporta algo que la organización no puede aportar sola.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A.2.3 · SEGUNDO DIAMANTE · IDEAR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CINCO CAMINOS, NO UNO</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09</a:t>
            </a:r>
            <a:endParaRPr lang="en-US" sz="900" dirty="0"/>
          </a:p>
        </p:txBody>
      </p:sp>
      <p:sp>
        <p:nvSpPr>
          <p:cNvPr id="8" name="Text 5"/>
          <p:cNvSpPr/>
          <p:nvPr/>
        </p:nvSpPr>
        <p:spPr>
          <a:xfrm>
            <a:off x="566928" y="1719072"/>
            <a:ext cx="11057839" cy="41148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Con el problema fijado, se abre otra vez. La tecnología aparece aquí — y solo como una opción entre varias.</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11057839" cy="914400"/>
        </p:xfrm>
        <a:graphic>
          <a:graphicData uri="http://schemas.openxmlformats.org/drawingml/2006/table">
            <a:tbl>
              <a:tblPr/>
              <a:tblGrid>
                <a:gridCol w="3291840"/>
                <a:gridCol w="2468880"/>
                <a:gridCol w="2743200"/>
                <a:gridCol w="25539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CAMINO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¿FRENA LA FALSIFICACIÓN?</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¿FRENA LA REVENTA?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¿EXIGE CONFIAR EN EL ORGANIZADOR?</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7790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Reglamento y sanciones</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 solo castiga si se entera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790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Entrada nominal con documento</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Parcialmente</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complica, no la impide</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Sí, y trata datos personales</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7790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Plataforma propia con tope</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Sí, si toda la reventa pasa por ahí</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Sí, del todo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790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Código dinámico desde un servidor</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Sí, del todo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7790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La regla dentro de un contrato</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Sí, y no se puede rodear</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267712"/>
            <a:ext cx="11094415" cy="3236976"/>
          </a:xfrm>
          <a:prstGeom prst="rect">
            <a:avLst/>
          </a:prstGeom>
          <a:ln w="22225">
            <a:solidFill>
              <a:srgbClr val="0F0F11"/>
            </a:solidFill>
            <a:prstDash val="solid"/>
          </a:ln>
        </p:spPr>
      </p:sp>
      <p:sp>
        <p:nvSpPr>
          <p:cNvPr id="11" name="Shape 7"/>
          <p:cNvSpPr/>
          <p:nvPr/>
        </p:nvSpPr>
        <p:spPr>
          <a:xfrm>
            <a:off x="566928" y="5669280"/>
            <a:ext cx="11057839" cy="10515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2" name="Image 1" descr="preencoded.png">    </p:cNvPr>
          <p:cNvPicPr>
            <a:picLocks noChangeAspect="1"/>
          </p:cNvPicPr>
          <p:nvPr/>
        </p:nvPicPr>
        <p:blipFill>
          <a:blip r:embed="rId2"/>
          <a:stretch>
            <a:fillRect/>
          </a:stretch>
        </p:blipFill>
        <p:spPr>
          <a:xfrm>
            <a:off x="804672" y="5888736"/>
            <a:ext cx="237744" cy="237744"/>
          </a:xfrm>
          <a:prstGeom prst="rect">
            <a:avLst/>
          </a:prstGeom>
        </p:spPr>
      </p:pic>
      <p:sp>
        <p:nvSpPr>
          <p:cNvPr id="13" name="Text 8"/>
          <p:cNvSpPr/>
          <p:nvPr/>
        </p:nvSpPr>
        <p:spPr>
          <a:xfrm>
            <a:off x="1133856" y="58613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LECTURA HONESTA DE LA TABLA</a:t>
            </a:r>
            <a:endParaRPr lang="en-US" sz="950" dirty="0"/>
          </a:p>
        </p:txBody>
      </p:sp>
      <p:sp>
        <p:nvSpPr>
          <p:cNvPr id="14" name="Text 9"/>
          <p:cNvSpPr/>
          <p:nvPr/>
        </p:nvSpPr>
        <p:spPr>
          <a:xfrm>
            <a:off x="804672" y="6199632"/>
            <a:ext cx="10582351" cy="5486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tercera opción —plataforma propia— resuelve las dos columnas del medio y es mucho más barata de construir. Si el organizador fuera de fiar, sería la respuesta correcta y este proyecto no existiría.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A.2.4 · SEGUNDO DIAMANTE · ENTREGAR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POR QUÉ GANA EL CONTRATO, Y QUÉ CUESTA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10</a:t>
            </a:r>
            <a:endParaRPr lang="en-US" sz="900" dirty="0"/>
          </a:p>
        </p:txBody>
      </p:sp>
      <p:sp>
        <p:nvSpPr>
          <p:cNvPr id="8" name="Shape 5"/>
          <p:cNvSpPr/>
          <p:nvPr/>
        </p:nvSpPr>
        <p:spPr>
          <a:xfrm>
            <a:off x="566928" y="1737360"/>
            <a:ext cx="11057839" cy="13716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9" name="Text 6"/>
          <p:cNvSpPr/>
          <p:nvPr/>
        </p:nvSpPr>
        <p:spPr>
          <a:xfrm>
            <a:off x="859536" y="1938528"/>
            <a:ext cx="548640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LA ÚNICA COLUMNA QUE LO DECIDE</a:t>
            </a:r>
            <a:endParaRPr lang="en-US" sz="1050" dirty="0"/>
          </a:p>
        </p:txBody>
      </p:sp>
      <p:sp>
        <p:nvSpPr>
          <p:cNvPr id="10" name="Text 7"/>
          <p:cNvSpPr/>
          <p:nvPr/>
        </p:nvSpPr>
        <p:spPr>
          <a:xfrm>
            <a:off x="859536" y="2286000"/>
            <a:ext cx="10472623" cy="7315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La última: «¿exige confiar en el organizador?». Y esa columna solo importa por el hallazgo del primer diamante — que el intermediario gana con la reventa. Sin ese dato, ninguna de las dos últimas opciones se distinguiría.</a:t>
            </a:r>
            <a:endParaRPr lang="en-US" sz="1350" dirty="0"/>
          </a:p>
        </p:txBody>
      </p:sp>
      <p:sp>
        <p:nvSpPr>
          <p:cNvPr id="11" name="Text 8"/>
          <p:cNvSpPr/>
          <p:nvPr/>
        </p:nvSpPr>
        <p:spPr>
          <a:xfrm>
            <a:off x="566928" y="3291840"/>
            <a:ext cx="11057839" cy="3657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Elegir no es solo quedarse con lo bueno. Es aceptar lo que viene con ello:</a:t>
            </a:r>
            <a:endParaRPr lang="en-US" sz="1400" dirty="0"/>
          </a:p>
        </p:txBody>
      </p:sp>
      <p:sp>
        <p:nvSpPr>
          <p:cNvPr id="12" name="Shape 9"/>
          <p:cNvSpPr/>
          <p:nvPr/>
        </p:nvSpPr>
        <p:spPr>
          <a:xfrm>
            <a:off x="566928" y="3794760"/>
            <a:ext cx="11057839" cy="713232"/>
          </a:xfrm>
          <a:prstGeom prst="rect">
            <a:avLst/>
          </a:prstGeom>
          <a:solidFill>
            <a:srgbClr val="FAF9FB"/>
          </a:solidFill>
          <a:ln w="22225">
            <a:solidFill>
              <a:srgbClr val="0F0F11"/>
            </a:solidFill>
            <a:prstDash val="solid"/>
          </a:ln>
        </p:spPr>
      </p:sp>
      <p:sp>
        <p:nvSpPr>
          <p:cNvPr id="13" name="Text 10"/>
          <p:cNvSpPr/>
          <p:nvPr/>
        </p:nvSpPr>
        <p:spPr>
          <a:xfrm>
            <a:off x="822960" y="3794760"/>
            <a:ext cx="2651760" cy="713232"/>
          </a:xfrm>
          <a:prstGeom prst="rect">
            <a:avLst/>
          </a:prstGeom>
          <a:noFill/>
          <a:ln/>
        </p:spPr>
        <p:txBody>
          <a:bodyPr wrap="square" lIns="0" tIns="0" rIns="0" bIns="0" rtlCol="0" anchor="ctr"/>
          <a:lstStyle/>
          <a:p>
            <a:pPr indent="0" marL="0">
              <a:buNone/>
            </a:pPr>
            <a:r>
              <a:rPr lang="en-US" sz="1000" b="1" spc="115" kern="0" dirty="0">
                <a:solidFill>
                  <a:srgbClr val="0F0F11"/>
                </a:solidFill>
                <a:latin typeface="Courier New" pitchFamily="34" charset="0"/>
                <a:ea typeface="Courier New" pitchFamily="34" charset="-122"/>
                <a:cs typeface="Courier New" pitchFamily="34" charset="-120"/>
              </a:rPr>
              <a:t>LO QUE GANO</a:t>
            </a:r>
            <a:endParaRPr lang="en-US" sz="1000" dirty="0"/>
          </a:p>
        </p:txBody>
      </p:sp>
      <p:sp>
        <p:nvSpPr>
          <p:cNvPr id="14" name="Text 11"/>
          <p:cNvSpPr/>
          <p:nvPr/>
        </p:nvSpPr>
        <p:spPr>
          <a:xfrm>
            <a:off x="3584448" y="3941064"/>
            <a:ext cx="7765999" cy="4572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regla se ejecuta sola. Nadie puede rodearla, ni siquiera el organizador.</a:t>
            </a:r>
            <a:endParaRPr lang="en-US" sz="1250" dirty="0"/>
          </a:p>
        </p:txBody>
      </p:sp>
      <p:sp>
        <p:nvSpPr>
          <p:cNvPr id="15" name="Shape 12"/>
          <p:cNvSpPr/>
          <p:nvPr/>
        </p:nvSpPr>
        <p:spPr>
          <a:xfrm>
            <a:off x="566928" y="4617720"/>
            <a:ext cx="11057839" cy="713232"/>
          </a:xfrm>
          <a:prstGeom prst="rect">
            <a:avLst/>
          </a:prstGeom>
          <a:solidFill>
            <a:srgbClr val="FFFFFF"/>
          </a:solidFill>
          <a:ln w="22225">
            <a:solidFill>
              <a:srgbClr val="F07F06"/>
            </a:solidFill>
            <a:prstDash val="solid"/>
          </a:ln>
        </p:spPr>
      </p:sp>
      <p:sp>
        <p:nvSpPr>
          <p:cNvPr id="16" name="Text 13"/>
          <p:cNvSpPr/>
          <p:nvPr/>
        </p:nvSpPr>
        <p:spPr>
          <a:xfrm>
            <a:off x="822960" y="4617720"/>
            <a:ext cx="2651760" cy="713232"/>
          </a:xfrm>
          <a:prstGeom prst="rect">
            <a:avLst/>
          </a:prstGeom>
          <a:noFill/>
          <a:ln/>
        </p:spPr>
        <p:txBody>
          <a:bodyPr wrap="square" lIns="0" tIns="0" rIns="0" bIns="0" rtlCol="0" anchor="ctr"/>
          <a:lstStyle/>
          <a:p>
            <a:pPr indent="0" marL="0">
              <a:buNone/>
            </a:pPr>
            <a:r>
              <a:rPr lang="en-US" sz="1000" b="1" spc="115" kern="0" dirty="0">
                <a:solidFill>
                  <a:srgbClr val="A35604"/>
                </a:solidFill>
                <a:latin typeface="Courier New" pitchFamily="34" charset="0"/>
                <a:ea typeface="Courier New" pitchFamily="34" charset="-122"/>
                <a:cs typeface="Courier New" pitchFamily="34" charset="-120"/>
              </a:rPr>
              <a:t>LO QUE PIERDO</a:t>
            </a:r>
            <a:endParaRPr lang="en-US" sz="1000" dirty="0"/>
          </a:p>
        </p:txBody>
      </p:sp>
      <p:sp>
        <p:nvSpPr>
          <p:cNvPr id="17" name="Text 14"/>
          <p:cNvSpPr/>
          <p:nvPr/>
        </p:nvSpPr>
        <p:spPr>
          <a:xfrm>
            <a:off x="3584448" y="4764024"/>
            <a:ext cx="7765999" cy="4572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Quien no tiene billetera no puede comprar. Quien la pierde, pierde la entrada.</a:t>
            </a:r>
            <a:endParaRPr lang="en-US" sz="1250" dirty="0"/>
          </a:p>
        </p:txBody>
      </p:sp>
      <p:sp>
        <p:nvSpPr>
          <p:cNvPr id="18" name="Shape 15"/>
          <p:cNvSpPr/>
          <p:nvPr/>
        </p:nvSpPr>
        <p:spPr>
          <a:xfrm>
            <a:off x="566928" y="5440680"/>
            <a:ext cx="11057839" cy="713232"/>
          </a:xfrm>
          <a:prstGeom prst="rect">
            <a:avLst/>
          </a:prstGeom>
          <a:solidFill>
            <a:srgbClr val="FFFFFF"/>
          </a:solidFill>
          <a:ln w="22225">
            <a:solidFill>
              <a:srgbClr val="F07F06"/>
            </a:solidFill>
            <a:prstDash val="solid"/>
          </a:ln>
        </p:spPr>
      </p:sp>
      <p:sp>
        <p:nvSpPr>
          <p:cNvPr id="19" name="Text 16"/>
          <p:cNvSpPr/>
          <p:nvPr/>
        </p:nvSpPr>
        <p:spPr>
          <a:xfrm>
            <a:off x="822960" y="5440680"/>
            <a:ext cx="2651760" cy="713232"/>
          </a:xfrm>
          <a:prstGeom prst="rect">
            <a:avLst/>
          </a:prstGeom>
          <a:noFill/>
          <a:ln/>
        </p:spPr>
        <p:txBody>
          <a:bodyPr wrap="square" lIns="0" tIns="0" rIns="0" bIns="0" rtlCol="0" anchor="ctr"/>
          <a:lstStyle/>
          <a:p>
            <a:pPr indent="0" marL="0">
              <a:buNone/>
            </a:pPr>
            <a:r>
              <a:rPr lang="en-US" sz="1000" b="1" spc="115" kern="0" dirty="0">
                <a:solidFill>
                  <a:srgbClr val="A35604"/>
                </a:solidFill>
                <a:latin typeface="Courier New" pitchFamily="34" charset="0"/>
                <a:ea typeface="Courier New" pitchFamily="34" charset="-122"/>
                <a:cs typeface="Courier New" pitchFamily="34" charset="-120"/>
              </a:rPr>
              <a:t>LO QUE NO RESUELVO</a:t>
            </a:r>
            <a:endParaRPr lang="en-US" sz="1000" dirty="0"/>
          </a:p>
        </p:txBody>
      </p:sp>
      <p:sp>
        <p:nvSpPr>
          <p:cNvPr id="20" name="Text 17"/>
          <p:cNvSpPr/>
          <p:nvPr/>
        </p:nvSpPr>
        <p:spPr>
          <a:xfrm>
            <a:off x="3584448" y="5586984"/>
            <a:ext cx="7765999" cy="4572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Que quien escanea en la puerta haga bien su trabajo. Eso sigue siendo un problema humano.</a:t>
            </a:r>
            <a:endParaRPr lang="en-US" sz="1250" dirty="0"/>
          </a:p>
        </p:txBody>
      </p:sp>
      <p:sp>
        <p:nvSpPr>
          <p:cNvPr id="21" name="Text 18"/>
          <p:cNvSpPr/>
          <p:nvPr/>
        </p:nvSpPr>
        <p:spPr>
          <a:xfrm>
            <a:off x="566928" y="6309360"/>
            <a:ext cx="11057839" cy="365760"/>
          </a:xfrm>
          <a:prstGeom prst="rect">
            <a:avLst/>
          </a:prstGeom>
          <a:noFill/>
          <a:ln/>
        </p:spPr>
        <p:txBody>
          <a:bodyPr wrap="square" lIns="0" tIns="0" rIns="0" bIns="0" rtlCol="0" anchor="t"/>
          <a:lstStyle/>
          <a:p>
            <a:pPr indent="0" marL="0">
              <a:lnSpc>
                <a:spcPct val="124000"/>
              </a:lnSpc>
              <a:buNone/>
            </a:pPr>
            <a:r>
              <a:rPr lang="en-US" sz="1250" dirty="0">
                <a:solidFill>
                  <a:srgbClr val="6F6B80"/>
                </a:solidFill>
                <a:latin typeface="Arial" pitchFamily="34" charset="0"/>
                <a:ea typeface="Arial" pitchFamily="34" charset="-122"/>
                <a:cs typeface="Arial" pitchFamily="34" charset="-120"/>
              </a:rPr>
              <a:t>Un equipo que solo enumera la primera fila no terminó de decidir: solo eligió lo que le gustaba.</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PRIMER DIAMANTE · DESCUBRIR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LAS PREGUNTAS QUE ABREN EL PROBLEMA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11</a:t>
            </a:r>
            <a:endParaRPr lang="en-US" sz="900" dirty="0"/>
          </a:p>
        </p:txBody>
      </p:sp>
      <p:sp>
        <p:nvSpPr>
          <p:cNvPr id="8" name="Text 5"/>
          <p:cNvSpPr/>
          <p:nvPr/>
        </p:nvSpPr>
        <p:spPr>
          <a:xfrm>
            <a:off x="566928" y="1719072"/>
            <a:ext cx="1105783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Antes de decidir nada. No hace falta investigación etnográfica: con cinco conversaciones dirigidas y una tarde de observación se aprende más que con dos semanas de suposiciones.</a:t>
            </a:r>
            <a:endParaRPr lang="en-US" sz="1350" dirty="0"/>
          </a:p>
        </p:txBody>
      </p:sp>
      <p:sp>
        <p:nvSpPr>
          <p:cNvPr id="9" name="Text 6"/>
          <p:cNvSpPr/>
          <p:nvPr/>
        </p:nvSpPr>
        <p:spPr>
          <a:xfrm>
            <a:off x="566928" y="2423160"/>
            <a:ext cx="3200400" cy="365760"/>
          </a:xfrm>
          <a:prstGeom prst="rect">
            <a:avLst/>
          </a:prstGeom>
          <a:noFill/>
          <a:ln/>
        </p:spPr>
        <p:txBody>
          <a:bodyPr wrap="square" lIns="0" tIns="0" rIns="0" bIns="0" rtlCol="0" anchor="ctr"/>
          <a:lstStyle/>
          <a:p>
            <a:pPr indent="0" marL="0">
              <a:buNone/>
            </a:pPr>
            <a:r>
              <a:rPr lang="en-US" sz="1100" b="1" spc="120" kern="0" dirty="0">
                <a:solidFill>
                  <a:srgbClr val="A35604"/>
                </a:solidFill>
                <a:latin typeface="Courier New" pitchFamily="34" charset="0"/>
                <a:ea typeface="Courier New" pitchFamily="34" charset="-122"/>
                <a:cs typeface="Courier New" pitchFamily="34" charset="-120"/>
              </a:rPr>
              <a:t>¿QUIÉN SUFRE ESTO?</a:t>
            </a:r>
            <a:endParaRPr lang="en-US" sz="1100" dirty="0"/>
          </a:p>
        </p:txBody>
      </p:sp>
      <p:sp>
        <p:nvSpPr>
          <p:cNvPr id="10" name="Text 7"/>
          <p:cNvSpPr/>
          <p:nvPr/>
        </p:nvSpPr>
        <p:spPr>
          <a:xfrm>
            <a:off x="3950208" y="2404872"/>
            <a:ext cx="7674559" cy="7772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Nombres y roles concretos, no «los usuarios». En el caso de las entradas: el organizador, quien compra, quien revende, quien vigila la puerta.</a:t>
            </a:r>
            <a:endParaRPr lang="en-US" sz="1250" dirty="0"/>
          </a:p>
        </p:txBody>
      </p:sp>
      <p:sp>
        <p:nvSpPr>
          <p:cNvPr id="11" name="Shape 8"/>
          <p:cNvSpPr/>
          <p:nvPr/>
        </p:nvSpPr>
        <p:spPr>
          <a:xfrm>
            <a:off x="566928" y="2295144"/>
            <a:ext cx="11057839" cy="0"/>
          </a:xfrm>
          <a:prstGeom prst="line">
            <a:avLst/>
          </a:prstGeom>
          <a:noFill/>
          <a:ln w="12700">
            <a:solidFill>
              <a:srgbClr val="D9D6E0"/>
            </a:solidFill>
            <a:prstDash val="solid"/>
          </a:ln>
        </p:spPr>
      </p:sp>
      <p:sp>
        <p:nvSpPr>
          <p:cNvPr id="12" name="Text 9"/>
          <p:cNvSpPr/>
          <p:nvPr/>
        </p:nvSpPr>
        <p:spPr>
          <a:xfrm>
            <a:off x="566928" y="3383280"/>
            <a:ext cx="3200400" cy="365760"/>
          </a:xfrm>
          <a:prstGeom prst="rect">
            <a:avLst/>
          </a:prstGeom>
          <a:noFill/>
          <a:ln/>
        </p:spPr>
        <p:txBody>
          <a:bodyPr wrap="square" lIns="0" tIns="0" rIns="0" bIns="0" rtlCol="0" anchor="ctr"/>
          <a:lstStyle/>
          <a:p>
            <a:pPr indent="0" marL="0">
              <a:buNone/>
            </a:pPr>
            <a:r>
              <a:rPr lang="en-US" sz="1100" b="1" spc="120" kern="0" dirty="0">
                <a:solidFill>
                  <a:srgbClr val="A35604"/>
                </a:solidFill>
                <a:latin typeface="Courier New" pitchFamily="34" charset="0"/>
                <a:ea typeface="Courier New" pitchFamily="34" charset="-122"/>
                <a:cs typeface="Courier New" pitchFamily="34" charset="-120"/>
              </a:rPr>
              <a:t>¿CUÁNTO LE CUESTA?</a:t>
            </a:r>
            <a:endParaRPr lang="en-US" sz="1100" dirty="0"/>
          </a:p>
        </p:txBody>
      </p:sp>
      <p:sp>
        <p:nvSpPr>
          <p:cNvPr id="13" name="Text 10"/>
          <p:cNvSpPr/>
          <p:nvPr/>
        </p:nvSpPr>
        <p:spPr>
          <a:xfrm>
            <a:off x="3950208" y="3364992"/>
            <a:ext cx="7674559" cy="7772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En dinero, en tiempo o en riesgo. Si nadie puede cuantificarlo ni aproximadamente, probablemente no duele tanto.</a:t>
            </a:r>
            <a:endParaRPr lang="en-US" sz="1250" dirty="0"/>
          </a:p>
        </p:txBody>
      </p:sp>
      <p:sp>
        <p:nvSpPr>
          <p:cNvPr id="14" name="Shape 11"/>
          <p:cNvSpPr/>
          <p:nvPr/>
        </p:nvSpPr>
        <p:spPr>
          <a:xfrm>
            <a:off x="566928" y="3255264"/>
            <a:ext cx="11057839" cy="0"/>
          </a:xfrm>
          <a:prstGeom prst="line">
            <a:avLst/>
          </a:prstGeom>
          <a:noFill/>
          <a:ln w="12700">
            <a:solidFill>
              <a:srgbClr val="D9D6E0"/>
            </a:solidFill>
            <a:prstDash val="solid"/>
          </a:ln>
        </p:spPr>
      </p:sp>
      <p:sp>
        <p:nvSpPr>
          <p:cNvPr id="15" name="Text 12"/>
          <p:cNvSpPr/>
          <p:nvPr/>
        </p:nvSpPr>
        <p:spPr>
          <a:xfrm>
            <a:off x="566928" y="4343400"/>
            <a:ext cx="3200400" cy="365760"/>
          </a:xfrm>
          <a:prstGeom prst="rect">
            <a:avLst/>
          </a:prstGeom>
          <a:noFill/>
          <a:ln/>
        </p:spPr>
        <p:txBody>
          <a:bodyPr wrap="square" lIns="0" tIns="0" rIns="0" bIns="0" rtlCol="0" anchor="ctr"/>
          <a:lstStyle/>
          <a:p>
            <a:pPr indent="0" marL="0">
              <a:buNone/>
            </a:pPr>
            <a:r>
              <a:rPr lang="en-US" sz="1100" b="1" spc="120" kern="0" dirty="0">
                <a:solidFill>
                  <a:srgbClr val="A35604"/>
                </a:solidFill>
                <a:latin typeface="Courier New" pitchFamily="34" charset="0"/>
                <a:ea typeface="Courier New" pitchFamily="34" charset="-122"/>
                <a:cs typeface="Courier New" pitchFamily="34" charset="-120"/>
              </a:rPr>
              <a:t>¿QUÉ HACEN HOY?</a:t>
            </a:r>
            <a:endParaRPr lang="en-US" sz="1100" dirty="0"/>
          </a:p>
        </p:txBody>
      </p:sp>
      <p:sp>
        <p:nvSpPr>
          <p:cNvPr id="16" name="Text 13"/>
          <p:cNvSpPr/>
          <p:nvPr/>
        </p:nvSpPr>
        <p:spPr>
          <a:xfrm>
            <a:off x="3950208" y="4325112"/>
            <a:ext cx="7674559" cy="7772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Siempre hay una solución actual, aunque sea un cuaderno o un grupo de WhatsApp. Entenderla dice qué es lo mínimo que hay que superar.</a:t>
            </a:r>
            <a:endParaRPr lang="en-US" sz="1250" dirty="0"/>
          </a:p>
        </p:txBody>
      </p:sp>
      <p:sp>
        <p:nvSpPr>
          <p:cNvPr id="17" name="Shape 14"/>
          <p:cNvSpPr/>
          <p:nvPr/>
        </p:nvSpPr>
        <p:spPr>
          <a:xfrm>
            <a:off x="566928" y="4215384"/>
            <a:ext cx="11057839" cy="0"/>
          </a:xfrm>
          <a:prstGeom prst="line">
            <a:avLst/>
          </a:prstGeom>
          <a:noFill/>
          <a:ln w="12700">
            <a:solidFill>
              <a:srgbClr val="D9D6E0"/>
            </a:solidFill>
            <a:prstDash val="solid"/>
          </a:ln>
        </p:spPr>
      </p:sp>
      <p:sp>
        <p:nvSpPr>
          <p:cNvPr id="18" name="Text 15"/>
          <p:cNvSpPr/>
          <p:nvPr/>
        </p:nvSpPr>
        <p:spPr>
          <a:xfrm>
            <a:off x="566928" y="5303520"/>
            <a:ext cx="3200400" cy="365760"/>
          </a:xfrm>
          <a:prstGeom prst="rect">
            <a:avLst/>
          </a:prstGeom>
          <a:noFill/>
          <a:ln/>
        </p:spPr>
        <p:txBody>
          <a:bodyPr wrap="square" lIns="0" tIns="0" rIns="0" bIns="0" rtlCol="0" anchor="ctr"/>
          <a:lstStyle/>
          <a:p>
            <a:pPr indent="0" marL="0">
              <a:buNone/>
            </a:pPr>
            <a:r>
              <a:rPr lang="en-US" sz="1100" b="1" spc="120" kern="0" dirty="0">
                <a:solidFill>
                  <a:srgbClr val="A35604"/>
                </a:solidFill>
                <a:latin typeface="Courier New" pitchFamily="34" charset="0"/>
                <a:ea typeface="Courier New" pitchFamily="34" charset="-122"/>
                <a:cs typeface="Courier New" pitchFamily="34" charset="-120"/>
              </a:rPr>
              <a:t>¿POR QUÉ NO SE HA RESUELTO?</a:t>
            </a:r>
            <a:endParaRPr lang="en-US" sz="1100" dirty="0"/>
          </a:p>
        </p:txBody>
      </p:sp>
      <p:sp>
        <p:nvSpPr>
          <p:cNvPr id="19" name="Text 16"/>
          <p:cNvSpPr/>
          <p:nvPr/>
        </p:nvSpPr>
        <p:spPr>
          <a:xfrm>
            <a:off x="3950208" y="5285232"/>
            <a:ext cx="7674559" cy="7772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Si es un problema evidente y sigue abierto, hay una razón. Encontrarla evita repetir el fracaso de otros.</a:t>
            </a:r>
            <a:endParaRPr lang="en-US" sz="1250" dirty="0"/>
          </a:p>
        </p:txBody>
      </p:sp>
      <p:sp>
        <p:nvSpPr>
          <p:cNvPr id="20" name="Shape 17"/>
          <p:cNvSpPr/>
          <p:nvPr/>
        </p:nvSpPr>
        <p:spPr>
          <a:xfrm>
            <a:off x="566928" y="5175504"/>
            <a:ext cx="11057839" cy="0"/>
          </a:xfrm>
          <a:prstGeom prst="line">
            <a:avLst/>
          </a:prstGeom>
          <a:noFill/>
          <a:ln w="12700">
            <a:solidFill>
              <a:srgbClr val="D9D6E0"/>
            </a:solidFill>
            <a:prstDash val="solid"/>
          </a:ln>
        </p:spPr>
      </p:sp>
      <p:sp>
        <p:nvSpPr>
          <p:cNvPr id="21" name="Shape 18"/>
          <p:cNvSpPr/>
          <p:nvPr/>
        </p:nvSpPr>
        <p:spPr>
          <a:xfrm>
            <a:off x="566928" y="6135624"/>
            <a:ext cx="11057839" cy="0"/>
          </a:xfrm>
          <a:prstGeom prst="line">
            <a:avLst/>
          </a:prstGeom>
          <a:noFill/>
          <a:ln w="12700">
            <a:solidFill>
              <a:srgbClr val="D9D6E0"/>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 · PRIMER DIAMANTE · DEFINIR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DEL PROBLEMA AL PUNTO DE VISTA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12</a:t>
            </a:r>
            <a:endParaRPr lang="en-US" sz="900" dirty="0"/>
          </a:p>
        </p:txBody>
      </p:sp>
      <p:sp>
        <p:nvSpPr>
          <p:cNvPr id="8" name="Text 5"/>
          <p:cNvSpPr/>
          <p:nvPr/>
        </p:nvSpPr>
        <p:spPr>
          <a:xfrm>
            <a:off x="566928" y="1719072"/>
            <a:ext cx="11057839"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Converger significa escribir UNA frase. Hay una fórmula que obliga a no hacer trampa, porque si falta cualquiera de las tres partes se nota.</a:t>
            </a:r>
            <a:endParaRPr lang="en-US" sz="1400" dirty="0"/>
          </a:p>
        </p:txBody>
      </p:sp>
      <p:sp>
        <p:nvSpPr>
          <p:cNvPr id="9" name="Shape 6"/>
          <p:cNvSpPr/>
          <p:nvPr/>
        </p:nvSpPr>
        <p:spPr>
          <a:xfrm>
            <a:off x="566928" y="2286000"/>
            <a:ext cx="11057839" cy="11430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0" name="Text 7"/>
          <p:cNvSpPr/>
          <p:nvPr/>
        </p:nvSpPr>
        <p:spPr>
          <a:xfrm>
            <a:off x="841248" y="2286000"/>
            <a:ext cx="10509199" cy="1143000"/>
          </a:xfrm>
          <a:prstGeom prst="rect">
            <a:avLst/>
          </a:prstGeom>
          <a:noFill/>
          <a:ln/>
        </p:spPr>
        <p:txBody>
          <a:bodyPr wrap="square" lIns="0" tIns="0" rIns="0" bIns="0" rtlCol="0" anchor="ctr"/>
          <a:lstStyle/>
          <a:p>
            <a:pPr algn="ctr" indent="0" marL="0">
              <a:buNone/>
            </a:pPr>
            <a:r>
              <a:rPr lang="en-US" sz="1700" b="1" dirty="0">
                <a:solidFill>
                  <a:srgbClr val="5638C9"/>
                </a:solidFill>
                <a:latin typeface="Courier New" pitchFamily="34" charset="0"/>
                <a:ea typeface="Courier New" pitchFamily="34" charset="-122"/>
                <a:cs typeface="Courier New" pitchFamily="34" charset="-120"/>
              </a:rPr>
              <a:t>[quién] </a:t>
            </a:r>
            <a:pPr algn="ctr" indent="0" marL="0">
              <a:buNone/>
            </a:pPr>
            <a:r>
              <a:rPr lang="en-US" sz="1700" dirty="0">
                <a:solidFill>
                  <a:srgbClr val="3A3844"/>
                </a:solidFill>
                <a:latin typeface="Courier New" pitchFamily="34" charset="0"/>
                <a:ea typeface="Courier New" pitchFamily="34" charset="-122"/>
                <a:cs typeface="Courier New" pitchFamily="34" charset="-120"/>
              </a:rPr>
              <a:t>necesita </a:t>
            </a:r>
            <a:pPr algn="ctr" indent="0" marL="0">
              <a:buNone/>
            </a:pPr>
            <a:r>
              <a:rPr lang="en-US" sz="1700" b="1" dirty="0">
                <a:solidFill>
                  <a:srgbClr val="5638C9"/>
                </a:solidFill>
                <a:latin typeface="Courier New" pitchFamily="34" charset="0"/>
                <a:ea typeface="Courier New" pitchFamily="34" charset="-122"/>
                <a:cs typeface="Courier New" pitchFamily="34" charset="-120"/>
              </a:rPr>
              <a:t>[qué] </a:t>
            </a:r>
            <a:pPr algn="ctr" indent="0" marL="0">
              <a:buNone/>
            </a:pPr>
            <a:r>
              <a:rPr lang="en-US" sz="1700" dirty="0">
                <a:solidFill>
                  <a:srgbClr val="3A3844"/>
                </a:solidFill>
                <a:latin typeface="Courier New" pitchFamily="34" charset="0"/>
                <a:ea typeface="Courier New" pitchFamily="34" charset="-122"/>
                <a:cs typeface="Courier New" pitchFamily="34" charset="-120"/>
              </a:rPr>
              <a:t>porque </a:t>
            </a:r>
            <a:pPr algn="ctr" indent="0" marL="0">
              <a:buNone/>
            </a:pPr>
            <a:r>
              <a:rPr lang="en-US" sz="1700" b="1" dirty="0">
                <a:solidFill>
                  <a:srgbClr val="5638C9"/>
                </a:solidFill>
                <a:latin typeface="Courier New" pitchFamily="34" charset="0"/>
                <a:ea typeface="Courier New" pitchFamily="34" charset="-122"/>
                <a:cs typeface="Courier New" pitchFamily="34" charset="-120"/>
              </a:rPr>
              <a:t>[por qué, sorprendente]</a:t>
            </a:r>
            <a:endParaRPr lang="en-US" sz="1700" dirty="0"/>
          </a:p>
        </p:txBody>
      </p:sp>
      <p:sp>
        <p:nvSpPr>
          <p:cNvPr id="11" name="Text 8"/>
          <p:cNvSpPr/>
          <p:nvPr/>
        </p:nvSpPr>
        <p:spPr>
          <a:xfrm>
            <a:off x="566928" y="3611880"/>
            <a:ext cx="11057839" cy="45720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La tercera parte es la que hace el trabajo. Si el «porque» es obvio, el problema no da para un semestre. Si sorprende, hay proyecto.</a:t>
            </a:r>
            <a:endParaRPr lang="en-US" sz="1350" dirty="0"/>
          </a:p>
        </p:txBody>
      </p:sp>
      <p:sp>
        <p:nvSpPr>
          <p:cNvPr id="12" name="Shape 9"/>
          <p:cNvSpPr/>
          <p:nvPr/>
        </p:nvSpPr>
        <p:spPr>
          <a:xfrm>
            <a:off x="566928" y="4206240"/>
            <a:ext cx="11057839" cy="1737360"/>
          </a:xfrm>
          <a:prstGeom prst="rect">
            <a:avLst/>
          </a:prstGeom>
          <a:solidFill>
            <a:srgbClr val="FAF9FB"/>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3" name="Text 10"/>
          <p:cNvSpPr/>
          <p:nvPr/>
        </p:nvSpPr>
        <p:spPr>
          <a:xfrm>
            <a:off x="859536" y="4407408"/>
            <a:ext cx="548640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APLICADO AL PROYECTO DEL DOCENTE</a:t>
            </a:r>
            <a:endParaRPr lang="en-US" sz="1050" dirty="0"/>
          </a:p>
        </p:txBody>
      </p:sp>
      <p:sp>
        <p:nvSpPr>
          <p:cNvPr id="14" name="Text 11"/>
          <p:cNvSpPr/>
          <p:nvPr/>
        </p:nvSpPr>
        <p:spPr>
          <a:xfrm>
            <a:off x="859536" y="4754880"/>
            <a:ext cx="10472623" cy="1097280"/>
          </a:xfrm>
          <a:prstGeom prst="rect">
            <a:avLst/>
          </a:prstGeom>
          <a:noFill/>
          <a:ln/>
        </p:spPr>
        <p:txBody>
          <a:bodyPr wrap="square" lIns="0" tIns="0" rIns="0" bIns="0" rtlCol="0" anchor="t"/>
          <a:lstStyle/>
          <a:p>
            <a:pPr indent="0" marL="0">
              <a:lnSpc>
                <a:spcPct val="122000"/>
              </a:lnSpc>
              <a:buNone/>
            </a:pPr>
            <a:r>
              <a:rPr lang="en-US" sz="1450" dirty="0">
                <a:solidFill>
                  <a:srgbClr val="0F0F11"/>
                </a:solidFill>
                <a:latin typeface="Arial" pitchFamily="34" charset="0"/>
                <a:ea typeface="Arial" pitchFamily="34" charset="-122"/>
                <a:cs typeface="Arial" pitchFamily="34" charset="-120"/>
              </a:rPr>
              <a:t>Un organizador de eventos pequeños necesita que su regla de reventa se cumpla sin depender de nadie, porque la plataforma que le vende las entradas cobra comisión por cada reventa — y es, por tanto, el actor con menos incentivo para limitarla.</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 · EL PUENTE AL SEGUNDO DIAMANTE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«¿CÓMO PODRÍAMOS…?»</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13</a:t>
            </a:r>
            <a:endParaRPr lang="en-US" sz="900" dirty="0"/>
          </a:p>
        </p:txBody>
      </p:sp>
      <p:sp>
        <p:nvSpPr>
          <p:cNvPr id="8" name="Text 5"/>
          <p:cNvSpPr/>
          <p:nvPr/>
        </p:nvSpPr>
        <p:spPr>
          <a:xfrm>
            <a:off x="566928" y="1737360"/>
            <a:ext cx="11057839" cy="54864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Es un giro de una sola línea que convierte el problema en una pregunta de diseño, sin decidir todavía la solución. Sirve para abrir el segundo diamante sin cerrarlo de entrada.</a:t>
            </a:r>
            <a:endParaRPr lang="en-US" sz="1400" dirty="0"/>
          </a:p>
        </p:txBody>
      </p:sp>
      <p:sp>
        <p:nvSpPr>
          <p:cNvPr id="9" name="Shape 6"/>
          <p:cNvSpPr/>
          <p:nvPr/>
        </p:nvSpPr>
        <p:spPr>
          <a:xfrm>
            <a:off x="566928" y="2468880"/>
            <a:ext cx="11057839" cy="960120"/>
          </a:xfrm>
          <a:prstGeom prst="rect">
            <a:avLst/>
          </a:prstGeom>
          <a:solidFill>
            <a:srgbClr val="FAF9FB"/>
          </a:solidFill>
          <a:ln w="22225">
            <a:solidFill>
              <a:srgbClr val="0F0F11"/>
            </a:solidFill>
            <a:prstDash val="solid"/>
          </a:ln>
        </p:spPr>
      </p:sp>
      <p:sp>
        <p:nvSpPr>
          <p:cNvPr id="10" name="Text 7"/>
          <p:cNvSpPr/>
          <p:nvPr/>
        </p:nvSpPr>
        <p:spPr>
          <a:xfrm>
            <a:off x="841248" y="2578608"/>
            <a:ext cx="2926080" cy="274320"/>
          </a:xfrm>
          <a:prstGeom prst="rect">
            <a:avLst/>
          </a:prstGeom>
          <a:noFill/>
          <a:ln/>
        </p:spPr>
        <p:txBody>
          <a:bodyPr wrap="square" lIns="0" tIns="0" rIns="0" bIns="0" rtlCol="0" anchor="ctr"/>
          <a:lstStyle/>
          <a:p>
            <a:pPr indent="0" marL="0">
              <a:buNone/>
            </a:pPr>
            <a:r>
              <a:rPr lang="en-US" sz="1000" b="1" spc="120" kern="0" dirty="0">
                <a:solidFill>
                  <a:srgbClr val="6F6B80"/>
                </a:solidFill>
                <a:latin typeface="Courier New" pitchFamily="34" charset="0"/>
                <a:ea typeface="Courier New" pitchFamily="34" charset="-122"/>
                <a:cs typeface="Courier New" pitchFamily="34" charset="-120"/>
              </a:rPr>
              <a:t>DEMASIADO ANCHA</a:t>
            </a:r>
            <a:endParaRPr lang="en-US" sz="1000" dirty="0"/>
          </a:p>
        </p:txBody>
      </p:sp>
      <p:sp>
        <p:nvSpPr>
          <p:cNvPr id="11" name="Text 8"/>
          <p:cNvSpPr/>
          <p:nvPr/>
        </p:nvSpPr>
        <p:spPr>
          <a:xfrm>
            <a:off x="841248" y="2880360"/>
            <a:ext cx="7765999" cy="411480"/>
          </a:xfrm>
          <a:prstGeom prst="rect">
            <a:avLst/>
          </a:prstGeom>
          <a:noFill/>
          <a:ln/>
        </p:spPr>
        <p:txBody>
          <a:bodyPr wrap="square" lIns="0" tIns="0" rIns="0" bIns="0" rtlCol="0" anchor="ctr"/>
          <a:lstStyle/>
          <a:p>
            <a:pPr indent="0" marL="0">
              <a:buNone/>
            </a:pPr>
            <a:r>
              <a:rPr lang="en-US" sz="1400" dirty="0">
                <a:solidFill>
                  <a:srgbClr val="0F0F11"/>
                </a:solidFill>
                <a:latin typeface="Arial" pitchFamily="34" charset="0"/>
                <a:ea typeface="Arial" pitchFamily="34" charset="-122"/>
                <a:cs typeface="Arial" pitchFamily="34" charset="-120"/>
              </a:rPr>
              <a:t>¿Cómo podríamos arreglar la venta de entradas?</a:t>
            </a:r>
            <a:endParaRPr lang="en-US" sz="1400" dirty="0"/>
          </a:p>
        </p:txBody>
      </p:sp>
      <p:sp>
        <p:nvSpPr>
          <p:cNvPr id="12" name="Text 9"/>
          <p:cNvSpPr/>
          <p:nvPr/>
        </p:nvSpPr>
        <p:spPr>
          <a:xfrm>
            <a:off x="8698687" y="2578608"/>
            <a:ext cx="2651760" cy="274320"/>
          </a:xfrm>
          <a:prstGeom prst="rect">
            <a:avLst/>
          </a:prstGeom>
          <a:noFill/>
          <a:ln/>
        </p:spPr>
        <p:txBody>
          <a:bodyPr wrap="square" lIns="0" tIns="0" rIns="0" bIns="0" rtlCol="0" anchor="ctr"/>
          <a:lstStyle/>
          <a:p>
            <a:pPr algn="r" indent="0" marL="0">
              <a:buNone/>
            </a:pPr>
            <a:r>
              <a:rPr lang="en-US" sz="950" dirty="0">
                <a:solidFill>
                  <a:srgbClr val="6F6B80"/>
                </a:solidFill>
                <a:latin typeface="Courier New" pitchFamily="34" charset="0"/>
                <a:ea typeface="Courier New" pitchFamily="34" charset="-122"/>
                <a:cs typeface="Courier New" pitchFamily="34" charset="-120"/>
              </a:rPr>
              <a:t>no se puede empezar por ningún lado</a:t>
            </a:r>
            <a:endParaRPr lang="en-US" sz="950" dirty="0"/>
          </a:p>
        </p:txBody>
      </p:sp>
      <p:sp>
        <p:nvSpPr>
          <p:cNvPr id="13" name="Shape 10"/>
          <p:cNvSpPr/>
          <p:nvPr/>
        </p:nvSpPr>
        <p:spPr>
          <a:xfrm>
            <a:off x="566928" y="3611880"/>
            <a:ext cx="11057839" cy="960120"/>
          </a:xfrm>
          <a:prstGeom prst="rect">
            <a:avLst/>
          </a:prstGeom>
          <a:solidFill>
            <a:srgbClr val="FAF9FB"/>
          </a:solidFill>
          <a:ln w="22225">
            <a:solidFill>
              <a:srgbClr val="0F0F11"/>
            </a:solidFill>
            <a:prstDash val="solid"/>
          </a:ln>
        </p:spPr>
      </p:sp>
      <p:sp>
        <p:nvSpPr>
          <p:cNvPr id="14" name="Text 11"/>
          <p:cNvSpPr/>
          <p:nvPr/>
        </p:nvSpPr>
        <p:spPr>
          <a:xfrm>
            <a:off x="841248" y="3721608"/>
            <a:ext cx="2926080" cy="274320"/>
          </a:xfrm>
          <a:prstGeom prst="rect">
            <a:avLst/>
          </a:prstGeom>
          <a:noFill/>
          <a:ln/>
        </p:spPr>
        <p:txBody>
          <a:bodyPr wrap="square" lIns="0" tIns="0" rIns="0" bIns="0" rtlCol="0" anchor="ctr"/>
          <a:lstStyle/>
          <a:p>
            <a:pPr indent="0" marL="0">
              <a:buNone/>
            </a:pPr>
            <a:r>
              <a:rPr lang="en-US" sz="1000" b="1" spc="120" kern="0" dirty="0">
                <a:solidFill>
                  <a:srgbClr val="6F6B80"/>
                </a:solidFill>
                <a:latin typeface="Courier New" pitchFamily="34" charset="0"/>
                <a:ea typeface="Courier New" pitchFamily="34" charset="-122"/>
                <a:cs typeface="Courier New" pitchFamily="34" charset="-120"/>
              </a:rPr>
              <a:t>DEMASIADO ESTRECHA</a:t>
            </a:r>
            <a:endParaRPr lang="en-US" sz="1000" dirty="0"/>
          </a:p>
        </p:txBody>
      </p:sp>
      <p:sp>
        <p:nvSpPr>
          <p:cNvPr id="15" name="Text 12"/>
          <p:cNvSpPr/>
          <p:nvPr/>
        </p:nvSpPr>
        <p:spPr>
          <a:xfrm>
            <a:off x="841248" y="4023360"/>
            <a:ext cx="7765999" cy="411480"/>
          </a:xfrm>
          <a:prstGeom prst="rect">
            <a:avLst/>
          </a:prstGeom>
          <a:noFill/>
          <a:ln/>
        </p:spPr>
        <p:txBody>
          <a:bodyPr wrap="square" lIns="0" tIns="0" rIns="0" bIns="0" rtlCol="0" anchor="ctr"/>
          <a:lstStyle/>
          <a:p>
            <a:pPr indent="0" marL="0">
              <a:buNone/>
            </a:pPr>
            <a:r>
              <a:rPr lang="en-US" sz="1400" dirty="0">
                <a:solidFill>
                  <a:srgbClr val="0F0F11"/>
                </a:solidFill>
                <a:latin typeface="Arial" pitchFamily="34" charset="0"/>
                <a:ea typeface="Arial" pitchFamily="34" charset="-122"/>
                <a:cs typeface="Arial" pitchFamily="34" charset="-120"/>
              </a:rPr>
              <a:t>¿Cómo podríamos hacer un NFT con tope de precio?</a:t>
            </a:r>
            <a:endParaRPr lang="en-US" sz="1400" dirty="0"/>
          </a:p>
        </p:txBody>
      </p:sp>
      <p:sp>
        <p:nvSpPr>
          <p:cNvPr id="16" name="Text 13"/>
          <p:cNvSpPr/>
          <p:nvPr/>
        </p:nvSpPr>
        <p:spPr>
          <a:xfrm>
            <a:off x="8698687" y="3721608"/>
            <a:ext cx="2651760" cy="274320"/>
          </a:xfrm>
          <a:prstGeom prst="rect">
            <a:avLst/>
          </a:prstGeom>
          <a:noFill/>
          <a:ln/>
        </p:spPr>
        <p:txBody>
          <a:bodyPr wrap="square" lIns="0" tIns="0" rIns="0" bIns="0" rtlCol="0" anchor="ctr"/>
          <a:lstStyle/>
          <a:p>
            <a:pPr algn="r" indent="0" marL="0">
              <a:buNone/>
            </a:pPr>
            <a:r>
              <a:rPr lang="en-US" sz="950" dirty="0">
                <a:solidFill>
                  <a:srgbClr val="6F6B80"/>
                </a:solidFill>
                <a:latin typeface="Courier New" pitchFamily="34" charset="0"/>
                <a:ea typeface="Courier New" pitchFamily="34" charset="-122"/>
                <a:cs typeface="Courier New" pitchFamily="34" charset="-120"/>
              </a:rPr>
              <a:t>ya trae la solución dentro</a:t>
            </a:r>
            <a:endParaRPr lang="en-US" sz="950" dirty="0"/>
          </a:p>
        </p:txBody>
      </p:sp>
      <p:sp>
        <p:nvSpPr>
          <p:cNvPr id="17" name="Shape 14"/>
          <p:cNvSpPr/>
          <p:nvPr/>
        </p:nvSpPr>
        <p:spPr>
          <a:xfrm>
            <a:off x="566928" y="4754880"/>
            <a:ext cx="11057839" cy="9601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8" name="Text 15"/>
          <p:cNvSpPr/>
          <p:nvPr/>
        </p:nvSpPr>
        <p:spPr>
          <a:xfrm>
            <a:off x="841248" y="4864608"/>
            <a:ext cx="2926080" cy="274320"/>
          </a:xfrm>
          <a:prstGeom prst="rect">
            <a:avLst/>
          </a:prstGeom>
          <a:noFill/>
          <a:ln/>
        </p:spPr>
        <p:txBody>
          <a:bodyPr wrap="square" lIns="0" tIns="0" rIns="0" bIns="0" rtlCol="0" anchor="ctr"/>
          <a:lstStyle/>
          <a:p>
            <a:pPr indent="0" marL="0">
              <a:buNone/>
            </a:pPr>
            <a:r>
              <a:rPr lang="en-US" sz="1000" b="1" spc="120" kern="0" dirty="0">
                <a:solidFill>
                  <a:srgbClr val="A35604"/>
                </a:solidFill>
                <a:latin typeface="Courier New" pitchFamily="34" charset="0"/>
                <a:ea typeface="Courier New" pitchFamily="34" charset="-122"/>
                <a:cs typeface="Courier New" pitchFamily="34" charset="-120"/>
              </a:rPr>
              <a:t>EN SU PUNTO</a:t>
            </a:r>
            <a:endParaRPr lang="en-US" sz="1000" dirty="0"/>
          </a:p>
        </p:txBody>
      </p:sp>
      <p:sp>
        <p:nvSpPr>
          <p:cNvPr id="19" name="Text 16"/>
          <p:cNvSpPr/>
          <p:nvPr/>
        </p:nvSpPr>
        <p:spPr>
          <a:xfrm>
            <a:off x="841248" y="5166360"/>
            <a:ext cx="7765999" cy="411480"/>
          </a:xfrm>
          <a:prstGeom prst="rect">
            <a:avLst/>
          </a:prstGeom>
          <a:noFill/>
          <a:ln/>
        </p:spPr>
        <p:txBody>
          <a:bodyPr wrap="square" lIns="0" tIns="0" rIns="0" bIns="0" rtlCol="0" anchor="ctr"/>
          <a:lstStyle/>
          <a:p>
            <a:pPr indent="0" marL="0">
              <a:buNone/>
            </a:pPr>
            <a:r>
              <a:rPr lang="en-US" sz="1400" b="1" dirty="0">
                <a:solidFill>
                  <a:srgbClr val="0F0F11"/>
                </a:solidFill>
                <a:latin typeface="Arial" pitchFamily="34" charset="0"/>
                <a:ea typeface="Arial" pitchFamily="34" charset="-122"/>
                <a:cs typeface="Arial" pitchFamily="34" charset="-120"/>
              </a:rPr>
              <a:t>¿Cómo podríamos hacer que una regla de reventa se cumpla sin depender de la buena voluntad de nadie?</a:t>
            </a:r>
            <a:endParaRPr lang="en-US" sz="1400" dirty="0"/>
          </a:p>
        </p:txBody>
      </p:sp>
      <p:sp>
        <p:nvSpPr>
          <p:cNvPr id="20" name="Text 17"/>
          <p:cNvSpPr/>
          <p:nvPr/>
        </p:nvSpPr>
        <p:spPr>
          <a:xfrm>
            <a:off x="8698687" y="4864608"/>
            <a:ext cx="2651760" cy="274320"/>
          </a:xfrm>
          <a:prstGeom prst="rect">
            <a:avLst/>
          </a:prstGeom>
          <a:noFill/>
          <a:ln/>
        </p:spPr>
        <p:txBody>
          <a:bodyPr wrap="square" lIns="0" tIns="0" rIns="0" bIns="0" rtlCol="0" anchor="ctr"/>
          <a:lstStyle/>
          <a:p>
            <a:pPr algn="r" indent="0" marL="0">
              <a:buNone/>
            </a:pPr>
            <a:r>
              <a:rPr lang="en-US" sz="950" dirty="0">
                <a:solidFill>
                  <a:srgbClr val="6F6B80"/>
                </a:solidFill>
                <a:latin typeface="Courier New" pitchFamily="34" charset="0"/>
                <a:ea typeface="Courier New" pitchFamily="34" charset="-122"/>
                <a:cs typeface="Courier New" pitchFamily="34" charset="-120"/>
              </a:rPr>
              <a:t>abre opciones y no prescribe ninguna</a:t>
            </a:r>
            <a:endParaRPr lang="en-US" sz="950" dirty="0"/>
          </a:p>
        </p:txBody>
      </p:sp>
      <p:sp>
        <p:nvSpPr>
          <p:cNvPr id="21" name="Text 18"/>
          <p:cNvSpPr/>
          <p:nvPr/>
        </p:nvSpPr>
        <p:spPr>
          <a:xfrm>
            <a:off x="566928" y="5989320"/>
            <a:ext cx="11057839" cy="365760"/>
          </a:xfrm>
          <a:prstGeom prst="rect">
            <a:avLst/>
          </a:prstGeom>
          <a:noFill/>
          <a:ln/>
        </p:spPr>
        <p:txBody>
          <a:bodyPr wrap="square" lIns="0" tIns="0" rIns="0" bIns="0" rtlCol="0" anchor="t"/>
          <a:lstStyle/>
          <a:p>
            <a:pPr indent="0" marL="0">
              <a:lnSpc>
                <a:spcPct val="124000"/>
              </a:lnSpc>
              <a:buNone/>
            </a:pPr>
            <a:r>
              <a:rPr lang="en-US" sz="1300" dirty="0">
                <a:solidFill>
                  <a:srgbClr val="6F6B80"/>
                </a:solidFill>
                <a:latin typeface="Arial" pitchFamily="34" charset="0"/>
                <a:ea typeface="Arial" pitchFamily="34" charset="-122"/>
                <a:cs typeface="Arial" pitchFamily="34" charset="-120"/>
              </a:rPr>
              <a:t>Escriban tres. La buena casi nunca es la primera.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A.6 · SEGUNDO DIAMANTE · CONVERTIR EN TRABAJO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HISTORIAS CON CRITERIOS DE ACEPTACIÓN</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14</a:t>
            </a:r>
            <a:endParaRPr lang="en-US" sz="900" dirty="0"/>
          </a:p>
        </p:txBody>
      </p:sp>
      <p:sp>
        <p:nvSpPr>
          <p:cNvPr id="8" name="Text 5"/>
          <p:cNvSpPr/>
          <p:nvPr/>
        </p:nvSpPr>
        <p:spPr>
          <a:xfrm>
            <a:off x="566928" y="1719072"/>
            <a:ext cx="1105783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Una vez elegida la solución, hay que partirla en trozos que se puedan terminar. La unidad no es «la pantalla de compra»: es algo que alguien puede hacer de principio a fin.</a:t>
            </a:r>
            <a:endParaRPr lang="en-US" sz="1350" dirty="0"/>
          </a:p>
        </p:txBody>
      </p:sp>
      <p:sp>
        <p:nvSpPr>
          <p:cNvPr id="9" name="Shape 6"/>
          <p:cNvSpPr/>
          <p:nvPr/>
        </p:nvSpPr>
        <p:spPr>
          <a:xfrm>
            <a:off x="566928" y="2331720"/>
            <a:ext cx="11057839" cy="9144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0" name="Text 7"/>
          <p:cNvSpPr/>
          <p:nvPr/>
        </p:nvSpPr>
        <p:spPr>
          <a:xfrm>
            <a:off x="566928" y="2331720"/>
            <a:ext cx="11057839" cy="914400"/>
          </a:xfrm>
          <a:prstGeom prst="rect">
            <a:avLst/>
          </a:prstGeom>
          <a:noFill/>
          <a:ln/>
        </p:spPr>
        <p:txBody>
          <a:bodyPr wrap="square" lIns="0" tIns="0" rIns="0" bIns="0" rtlCol="0" anchor="ctr"/>
          <a:lstStyle/>
          <a:p>
            <a:pPr algn="ctr" indent="0" marL="0">
              <a:buNone/>
            </a:pPr>
            <a:r>
              <a:rPr lang="en-US" sz="1600" dirty="0">
                <a:solidFill>
                  <a:srgbClr val="0F0F11"/>
                </a:solidFill>
                <a:latin typeface="Courier New" pitchFamily="34" charset="0"/>
                <a:ea typeface="Courier New" pitchFamily="34" charset="-122"/>
                <a:cs typeface="Courier New" pitchFamily="34" charset="-120"/>
              </a:rPr>
              <a:t>Como [rol], quiero [acción] para [beneficio]</a:t>
            </a:r>
            <a:endParaRPr lang="en-US" sz="1600" dirty="0"/>
          </a:p>
        </p:txBody>
      </p:sp>
      <p:sp>
        <p:nvSpPr>
          <p:cNvPr id="11" name="Text 8"/>
          <p:cNvSpPr/>
          <p:nvPr/>
        </p:nvSpPr>
        <p:spPr>
          <a:xfrm>
            <a:off x="566928" y="3429000"/>
            <a:ext cx="11057839" cy="5029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Y el trozo no está listo cuando «funciona», sino cuando se cumple una condición observable que se escribió ANTES. Eso es un criterio de aceptación:</a:t>
            </a:r>
            <a:endParaRPr lang="en-US" sz="1350" dirty="0"/>
          </a:p>
        </p:txBody>
      </p:sp>
      <p:sp>
        <p:nvSpPr>
          <p:cNvPr id="12" name="Shape 9"/>
          <p:cNvSpPr/>
          <p:nvPr/>
        </p:nvSpPr>
        <p:spPr>
          <a:xfrm>
            <a:off x="566928" y="4023360"/>
            <a:ext cx="11057839" cy="1371600"/>
          </a:xfrm>
          <a:prstGeom prst="rect">
            <a:avLst/>
          </a:prstGeom>
          <a:solidFill>
            <a:srgbClr val="0F0F11"/>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3" name="Text 10"/>
          <p:cNvSpPr/>
          <p:nvPr/>
        </p:nvSpPr>
        <p:spPr>
          <a:xfrm>
            <a:off x="841248" y="4224528"/>
            <a:ext cx="10509199" cy="1005840"/>
          </a:xfrm>
          <a:prstGeom prst="rect">
            <a:avLst/>
          </a:prstGeom>
          <a:noFill/>
          <a:ln/>
        </p:spPr>
        <p:txBody>
          <a:bodyPr wrap="square" lIns="0" tIns="0" rIns="0" bIns="0" rtlCol="0" anchor="t"/>
          <a:lstStyle/>
          <a:p>
            <a:pPr indent="0" marL="0">
              <a:lnSpc>
                <a:spcPct val="130000"/>
              </a:lnSpc>
              <a:buNone/>
            </a:pPr>
            <a:r>
              <a:rPr lang="en-US" sz="1250" dirty="0">
                <a:solidFill>
                  <a:srgbClr val="F07F06"/>
                </a:solidFill>
                <a:latin typeface="Courier New" pitchFamily="34" charset="0"/>
                <a:ea typeface="Courier New" pitchFamily="34" charset="-122"/>
                <a:cs typeface="Courier New" pitchFamily="34" charset="-120"/>
              </a:rPr>
              <a:t>DADO QUE   </a:t>
            </a:r>
            <a:pPr indent="0" marL="0">
              <a:lnSpc>
                <a:spcPct val="130000"/>
              </a:lnSpc>
              <a:buNone/>
            </a:pPr>
            <a:r>
              <a:rPr lang="en-US" sz="1250" dirty="0">
                <a:solidFill>
                  <a:srgbClr val="F4F2F7"/>
                </a:solidFill>
                <a:latin typeface="Courier New" pitchFamily="34" charset="0"/>
                <a:ea typeface="Courier New" pitchFamily="34" charset="-122"/>
                <a:cs typeface="Courier New" pitchFamily="34" charset="-120"/>
              </a:rPr>
              <a:t>Ana es dueña de la entrada 7 y la puso en venta en el tope
</a:t>
            </a:r>
            <a:pPr indent="0" marL="0">
              <a:lnSpc>
                <a:spcPct val="130000"/>
              </a:lnSpc>
              <a:buNone/>
            </a:pPr>
            <a:r>
              <a:rPr lang="en-US" sz="1250" dirty="0">
                <a:solidFill>
                  <a:srgbClr val="F07F06"/>
                </a:solidFill>
                <a:latin typeface="Courier New" pitchFamily="34" charset="0"/>
                <a:ea typeface="Courier New" pitchFamily="34" charset="-122"/>
                <a:cs typeface="Courier New" pitchFamily="34" charset="-120"/>
              </a:rPr>
              <a:t>CUANDO     </a:t>
            </a:r>
            <a:pPr indent="0" marL="0">
              <a:lnSpc>
                <a:spcPct val="130000"/>
              </a:lnSpc>
              <a:buNone/>
            </a:pPr>
            <a:r>
              <a:rPr lang="en-US" sz="1250" dirty="0">
                <a:solidFill>
                  <a:srgbClr val="F4F2F7"/>
                </a:solidFill>
                <a:latin typeface="Courier New" pitchFamily="34" charset="0"/>
                <a:ea typeface="Courier New" pitchFamily="34" charset="-122"/>
                <a:cs typeface="Courier New" pitchFamily="34" charset="-120"/>
              </a:rPr>
              <a:t>Bruno paga exactamente ese precio
</a:t>
            </a:r>
            <a:pPr indent="0" marL="0">
              <a:lnSpc>
                <a:spcPct val="130000"/>
              </a:lnSpc>
              <a:buNone/>
            </a:pPr>
            <a:r>
              <a:rPr lang="en-US" sz="1250" dirty="0">
                <a:solidFill>
                  <a:srgbClr val="F07F06"/>
                </a:solidFill>
                <a:latin typeface="Courier New" pitchFamily="34" charset="0"/>
                <a:ea typeface="Courier New" pitchFamily="34" charset="-122"/>
                <a:cs typeface="Courier New" pitchFamily="34" charset="-120"/>
              </a:rPr>
              <a:t>ENTONCES   </a:t>
            </a:r>
            <a:pPr indent="0" marL="0">
              <a:lnSpc>
                <a:spcPct val="130000"/>
              </a:lnSpc>
              <a:buNone/>
            </a:pPr>
            <a:r>
              <a:rPr lang="en-US" sz="1250" dirty="0">
                <a:solidFill>
                  <a:srgbClr val="F4F2F7"/>
                </a:solidFill>
                <a:latin typeface="Courier New" pitchFamily="34" charset="0"/>
                <a:ea typeface="Courier New" pitchFamily="34" charset="-122"/>
                <a:cs typeface="Courier New" pitchFamily="34" charset="-120"/>
              </a:rPr>
              <a:t>Bruno queda como dueño y a Ana se le acredita el monto</a:t>
            </a:r>
            <a:endParaRPr lang="en-US" sz="1250" dirty="0"/>
          </a:p>
        </p:txBody>
      </p:sp>
      <p:sp>
        <p:nvSpPr>
          <p:cNvPr id="14" name="Shape 11"/>
          <p:cNvSpPr/>
          <p:nvPr/>
        </p:nvSpPr>
        <p:spPr>
          <a:xfrm>
            <a:off x="566928" y="5440680"/>
            <a:ext cx="11057839" cy="9144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5" name="Image 1" descr="preencoded.png">    </p:cNvPr>
          <p:cNvPicPr>
            <a:picLocks noChangeAspect="1"/>
          </p:cNvPicPr>
          <p:nvPr/>
        </p:nvPicPr>
        <p:blipFill>
          <a:blip r:embed="rId2"/>
          <a:stretch>
            <a:fillRect/>
          </a:stretch>
        </p:blipFill>
        <p:spPr>
          <a:xfrm>
            <a:off x="804672" y="5660136"/>
            <a:ext cx="237744" cy="237744"/>
          </a:xfrm>
          <a:prstGeom prst="rect">
            <a:avLst/>
          </a:prstGeom>
        </p:spPr>
      </p:pic>
      <p:sp>
        <p:nvSpPr>
          <p:cNvPr id="16" name="Text 12"/>
          <p:cNvSpPr/>
          <p:nvPr/>
        </p:nvSpPr>
        <p:spPr>
          <a:xfrm>
            <a:off x="1133856" y="56327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ESTO YA LO HICIERON</a:t>
            </a:r>
            <a:endParaRPr lang="en-US" sz="950" dirty="0"/>
          </a:p>
        </p:txBody>
      </p:sp>
      <p:sp>
        <p:nvSpPr>
          <p:cNvPr id="17" name="Text 13"/>
          <p:cNvSpPr/>
          <p:nvPr/>
        </p:nvSpPr>
        <p:spPr>
          <a:xfrm>
            <a:off x="804672" y="5879592"/>
            <a:ext cx="10582351" cy="384048"/>
          </a:xfrm>
          <a:prstGeom prst="rect">
            <a:avLst/>
          </a:prstGeom>
          <a:noFill/>
          <a:ln/>
        </p:spPr>
        <p:txBody>
          <a:bodyPr wrap="square" lIns="0" tIns="0" rIns="0" bIns="0" rtlCol="0" anchor="ctr"/>
          <a:lstStyle/>
          <a:p>
            <a:pPr indent="0" marL="0">
              <a:buNone/>
            </a:pPr>
            <a:r>
              <a:rPr lang="en-US" sz="1400" dirty="0">
                <a:solidFill>
                  <a:srgbClr val="0F0F11"/>
                </a:solidFill>
                <a:latin typeface="Arial Black" pitchFamily="34" charset="0"/>
                <a:ea typeface="Arial Black" pitchFamily="34" charset="-122"/>
                <a:cs typeface="Arial Black" pitchFamily="34" charset="-120"/>
              </a:rPr>
              <a:t>Es lo mismo que hacían las pruebas del laboratorio: la prueba es la especificación, y el trabajo termina cuando pasa.</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A.6 · APLICADO AL PROYECTO DEL DOCENTE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LAS HISTORIAS, Y SU TALLA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15</a:t>
            </a:r>
            <a:endParaRPr lang="en-US" sz="900" dirty="0"/>
          </a:p>
        </p:txBody>
      </p:sp>
      <p:sp>
        <p:nvSpPr>
          <p:cNvPr id="8" name="Text 5"/>
          <p:cNvSpPr/>
          <p:nvPr/>
        </p:nvSpPr>
        <p:spPr>
          <a:xfrm>
            <a:off x="566928" y="1719072"/>
            <a:ext cx="11057839" cy="5029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Sin histórico no se puede estimar en horas con seriedad. Se usa talla relativa: pequeña, mediana, grande. Y se fija un presupuesto total que no se puede exceder.</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2377440"/>
          <a:ext cx="11057839" cy="914400"/>
        </p:xfrm>
        <a:graphic>
          <a:graphicData uri="http://schemas.openxmlformats.org/drawingml/2006/table">
            <a:tbl>
              <a:tblPr/>
              <a:tblGrid>
                <a:gridCol w="640080"/>
                <a:gridCol w="6949440"/>
                <a:gridCol w="1188720"/>
                <a:gridCol w="22795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HISTORIA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TALLA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¿MÍNIMO?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5197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H1</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Como asistente, quiero comprar una entrada para tenerla a mi nombre.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M</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SÍ</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5197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H2</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Como asistente, quiero ponerla en venta dentro del tope para recuperar mi dinero.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M</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SÍ</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5197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H3</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Como asistente, quiero comprar una entrada en reventa para ir al evento.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M</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SÍ</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5197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H4</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Como personal de puerta, quiero comprobar que quien llega es el dueño real.</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G</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SÍ</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5197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H5</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Como organizador, quiero retirar lo recaudado.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SÍ</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5197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H6</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Como asistente, quiero ver mis entradas con su imagen y datos del evento.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M</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5197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H7</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Como organizador, quiero ver estadísticas de venta.</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M</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359152"/>
            <a:ext cx="11094415" cy="3511296"/>
          </a:xfrm>
          <a:prstGeom prst="rect">
            <a:avLst/>
          </a:prstGeom>
          <a:ln w="22225">
            <a:solidFill>
              <a:srgbClr val="0F0F11"/>
            </a:solidFill>
            <a:prstDash val="solid"/>
          </a:ln>
        </p:spPr>
      </p:sp>
      <p:sp>
        <p:nvSpPr>
          <p:cNvPr id="11" name="Text 7"/>
          <p:cNvSpPr/>
          <p:nvPr/>
        </p:nvSpPr>
        <p:spPr>
          <a:xfrm>
            <a:off x="566928" y="5989320"/>
            <a:ext cx="11057839" cy="365760"/>
          </a:xfrm>
          <a:prstGeom prst="rect">
            <a:avLst/>
          </a:prstGeom>
          <a:noFill/>
          <a:ln/>
        </p:spPr>
        <p:txBody>
          <a:bodyPr wrap="square" lIns="0" tIns="0" rIns="0" bIns="0" rtlCol="0" anchor="t"/>
          <a:lstStyle/>
          <a:p>
            <a:pPr indent="0" marL="0">
              <a:lnSpc>
                <a:spcPct val="124000"/>
              </a:lnSpc>
              <a:buNone/>
            </a:pPr>
            <a:r>
              <a:rPr lang="en-US" sz="1300" dirty="0">
                <a:solidFill>
                  <a:srgbClr val="6F6B80"/>
                </a:solidFill>
                <a:latin typeface="Arial" pitchFamily="34" charset="0"/>
                <a:ea typeface="Arial" pitchFamily="34" charset="-122"/>
                <a:cs typeface="Arial" pitchFamily="34" charset="-120"/>
              </a:rPr>
              <a:t>Cinco historias en el mínimo, dos aparcadas. Ese recorte es el alcance.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 · EL ORDEN DE CONSTRUCCIÓN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CORTE VERTICAL, NO CAPAS HORIZONTALES</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16</a:t>
            </a:r>
            <a:endParaRPr lang="en-US" sz="900" dirty="0"/>
          </a:p>
        </p:txBody>
      </p:sp>
      <p:sp>
        <p:nvSpPr>
          <p:cNvPr id="8" name="Text 5"/>
          <p:cNvSpPr/>
          <p:nvPr/>
        </p:nvSpPr>
        <p:spPr>
          <a:xfrm>
            <a:off x="566928" y="1691640"/>
            <a:ext cx="1105783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El error de secuencia más caro: construir toda una capa antes de pasar a la siguiente. Al final del semestre hay tres piezas y ninguna se ha visto funcionar junta.</a:t>
            </a:r>
            <a:endParaRPr lang="en-US" sz="1350" dirty="0"/>
          </a:p>
        </p:txBody>
      </p:sp>
      <p:sp>
        <p:nvSpPr>
          <p:cNvPr id="9" name="Shape 6"/>
          <p:cNvSpPr/>
          <p:nvPr/>
        </p:nvSpPr>
        <p:spPr>
          <a:xfrm>
            <a:off x="566928" y="2423160"/>
            <a:ext cx="4846320" cy="457200"/>
          </a:xfrm>
          <a:prstGeom prst="rect">
            <a:avLst/>
          </a:prstGeom>
          <a:solidFill>
            <a:srgbClr val="FAF9FB"/>
          </a:solidFill>
          <a:ln w="22225">
            <a:solidFill>
              <a:srgbClr val="0F0F11"/>
            </a:solidFill>
            <a:prstDash val="solid"/>
          </a:ln>
        </p:spPr>
      </p:sp>
      <p:sp>
        <p:nvSpPr>
          <p:cNvPr id="10" name="Text 7"/>
          <p:cNvSpPr/>
          <p:nvPr/>
        </p:nvSpPr>
        <p:spPr>
          <a:xfrm>
            <a:off x="749808" y="2423160"/>
            <a:ext cx="4572000" cy="457200"/>
          </a:xfrm>
          <a:prstGeom prst="rect">
            <a:avLst/>
          </a:prstGeom>
          <a:noFill/>
          <a:ln/>
        </p:spPr>
        <p:txBody>
          <a:bodyPr wrap="square" lIns="0" tIns="0" rIns="0" bIns="0" rtlCol="0" anchor="ctr"/>
          <a:lstStyle/>
          <a:p>
            <a:pPr indent="0" marL="0">
              <a:buNone/>
            </a:pPr>
            <a:r>
              <a:rPr lang="en-US" sz="1050" b="1" spc="120" kern="0" dirty="0">
                <a:solidFill>
                  <a:srgbClr val="6F6B80"/>
                </a:solidFill>
                <a:latin typeface="Courier New" pitchFamily="34" charset="0"/>
                <a:ea typeface="Courier New" pitchFamily="34" charset="-122"/>
                <a:cs typeface="Courier New" pitchFamily="34" charset="-120"/>
              </a:rPr>
              <a:t>CONTRATO</a:t>
            </a:r>
            <a:endParaRPr lang="en-US" sz="1050" dirty="0"/>
          </a:p>
        </p:txBody>
      </p:sp>
      <p:sp>
        <p:nvSpPr>
          <p:cNvPr id="11" name="Shape 8"/>
          <p:cNvSpPr/>
          <p:nvPr/>
        </p:nvSpPr>
        <p:spPr>
          <a:xfrm>
            <a:off x="566928" y="2990088"/>
            <a:ext cx="4846320" cy="457200"/>
          </a:xfrm>
          <a:prstGeom prst="rect">
            <a:avLst/>
          </a:prstGeom>
          <a:solidFill>
            <a:srgbClr val="FAF9FB"/>
          </a:solidFill>
          <a:ln w="22225">
            <a:solidFill>
              <a:srgbClr val="0F0F11"/>
            </a:solidFill>
            <a:prstDash val="solid"/>
          </a:ln>
        </p:spPr>
      </p:sp>
      <p:sp>
        <p:nvSpPr>
          <p:cNvPr id="12" name="Text 9"/>
          <p:cNvSpPr/>
          <p:nvPr/>
        </p:nvSpPr>
        <p:spPr>
          <a:xfrm>
            <a:off x="749808" y="2990088"/>
            <a:ext cx="4572000" cy="457200"/>
          </a:xfrm>
          <a:prstGeom prst="rect">
            <a:avLst/>
          </a:prstGeom>
          <a:noFill/>
          <a:ln/>
        </p:spPr>
        <p:txBody>
          <a:bodyPr wrap="square" lIns="0" tIns="0" rIns="0" bIns="0" rtlCol="0" anchor="ctr"/>
          <a:lstStyle/>
          <a:p>
            <a:pPr indent="0" marL="0">
              <a:buNone/>
            </a:pPr>
            <a:r>
              <a:rPr lang="en-US" sz="1050" b="1" spc="120" kern="0" dirty="0">
                <a:solidFill>
                  <a:srgbClr val="6F6B80"/>
                </a:solidFill>
                <a:latin typeface="Courier New" pitchFamily="34" charset="0"/>
                <a:ea typeface="Courier New" pitchFamily="34" charset="-122"/>
                <a:cs typeface="Courier New" pitchFamily="34" charset="-120"/>
              </a:rPr>
              <a:t>INTERFAZ</a:t>
            </a:r>
            <a:endParaRPr lang="en-US" sz="1050" dirty="0"/>
          </a:p>
        </p:txBody>
      </p:sp>
      <p:sp>
        <p:nvSpPr>
          <p:cNvPr id="13" name="Shape 10"/>
          <p:cNvSpPr/>
          <p:nvPr/>
        </p:nvSpPr>
        <p:spPr>
          <a:xfrm>
            <a:off x="566928" y="3557016"/>
            <a:ext cx="4846320" cy="457200"/>
          </a:xfrm>
          <a:prstGeom prst="rect">
            <a:avLst/>
          </a:prstGeom>
          <a:solidFill>
            <a:srgbClr val="FAF9FB"/>
          </a:solidFill>
          <a:ln w="22225">
            <a:solidFill>
              <a:srgbClr val="0F0F11"/>
            </a:solidFill>
            <a:prstDash val="solid"/>
          </a:ln>
        </p:spPr>
      </p:sp>
      <p:sp>
        <p:nvSpPr>
          <p:cNvPr id="14" name="Text 11"/>
          <p:cNvSpPr/>
          <p:nvPr/>
        </p:nvSpPr>
        <p:spPr>
          <a:xfrm>
            <a:off x="749808" y="3557016"/>
            <a:ext cx="4572000" cy="457200"/>
          </a:xfrm>
          <a:prstGeom prst="rect">
            <a:avLst/>
          </a:prstGeom>
          <a:noFill/>
          <a:ln/>
        </p:spPr>
        <p:txBody>
          <a:bodyPr wrap="square" lIns="0" tIns="0" rIns="0" bIns="0" rtlCol="0" anchor="ctr"/>
          <a:lstStyle/>
          <a:p>
            <a:pPr indent="0" marL="0">
              <a:buNone/>
            </a:pPr>
            <a:r>
              <a:rPr lang="en-US" sz="1050" b="1" spc="120" kern="0" dirty="0">
                <a:solidFill>
                  <a:srgbClr val="6F6B80"/>
                </a:solidFill>
                <a:latin typeface="Courier New" pitchFamily="34" charset="0"/>
                <a:ea typeface="Courier New" pitchFamily="34" charset="-122"/>
                <a:cs typeface="Courier New" pitchFamily="34" charset="-120"/>
              </a:rPr>
              <a:t>INTEGRACIÓN</a:t>
            </a:r>
            <a:endParaRPr lang="en-US" sz="1050" dirty="0"/>
          </a:p>
        </p:txBody>
      </p:sp>
      <p:sp>
        <p:nvSpPr>
          <p:cNvPr id="15" name="Text 12"/>
          <p:cNvSpPr/>
          <p:nvPr/>
        </p:nvSpPr>
        <p:spPr>
          <a:xfrm>
            <a:off x="566928" y="2057400"/>
            <a:ext cx="4846320" cy="274320"/>
          </a:xfrm>
          <a:prstGeom prst="rect">
            <a:avLst/>
          </a:prstGeom>
          <a:noFill/>
          <a:ln/>
        </p:spPr>
        <p:txBody>
          <a:bodyPr wrap="square" lIns="0" tIns="0" rIns="0" bIns="0" rtlCol="0" anchor="ctr"/>
          <a:lstStyle/>
          <a:p>
            <a:pPr indent="0" marL="0">
              <a:buNone/>
            </a:pPr>
            <a:r>
              <a:rPr lang="en-US" sz="1050" b="1" spc="130" kern="0" dirty="0">
                <a:solidFill>
                  <a:srgbClr val="0F0F11"/>
                </a:solidFill>
                <a:latin typeface="Courier New" pitchFamily="34" charset="0"/>
                <a:ea typeface="Courier New" pitchFamily="34" charset="-122"/>
                <a:cs typeface="Courier New" pitchFamily="34" charset="-120"/>
              </a:rPr>
              <a:t>POR CAPAS</a:t>
            </a:r>
            <a:endParaRPr lang="en-US" sz="1050" dirty="0"/>
          </a:p>
        </p:txBody>
      </p:sp>
      <p:sp>
        <p:nvSpPr>
          <p:cNvPr id="16" name="Shape 13"/>
          <p:cNvSpPr/>
          <p:nvPr/>
        </p:nvSpPr>
        <p:spPr>
          <a:xfrm>
            <a:off x="1024128" y="2560320"/>
            <a:ext cx="3931920" cy="1463040"/>
          </a:xfrm>
          <a:prstGeom prst="line">
            <a:avLst/>
          </a:prstGeom>
          <a:noFill/>
          <a:ln w="38100">
            <a:solidFill>
              <a:srgbClr val="A35604"/>
            </a:solidFill>
            <a:prstDash val="solid"/>
          </a:ln>
        </p:spPr>
      </p:sp>
      <p:sp>
        <p:nvSpPr>
          <p:cNvPr id="17" name="Shape 14"/>
          <p:cNvSpPr/>
          <p:nvPr/>
        </p:nvSpPr>
        <p:spPr>
          <a:xfrm flipH="1">
            <a:off x="1024128" y="2560320"/>
            <a:ext cx="3931920" cy="1463040"/>
          </a:xfrm>
          <a:prstGeom prst="line">
            <a:avLst/>
          </a:prstGeom>
          <a:noFill/>
          <a:ln w="38100">
            <a:solidFill>
              <a:srgbClr val="A35604"/>
            </a:solidFill>
            <a:prstDash val="solid"/>
          </a:ln>
        </p:spPr>
      </p:sp>
      <p:sp>
        <p:nvSpPr>
          <p:cNvPr id="18" name="Text 15"/>
          <p:cNvSpPr/>
          <p:nvPr/>
        </p:nvSpPr>
        <p:spPr>
          <a:xfrm>
            <a:off x="566928" y="4224528"/>
            <a:ext cx="4846320" cy="54864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Nada funciona hasta el final. Y el riesgo se descubre en la última semana.</a:t>
            </a:r>
            <a:endParaRPr lang="en-US" sz="1250" dirty="0"/>
          </a:p>
        </p:txBody>
      </p:sp>
      <p:sp>
        <p:nvSpPr>
          <p:cNvPr id="19" name="Shape 16"/>
          <p:cNvSpPr/>
          <p:nvPr/>
        </p:nvSpPr>
        <p:spPr>
          <a:xfrm>
            <a:off x="6510528" y="2423160"/>
            <a:ext cx="5111496" cy="457200"/>
          </a:xfrm>
          <a:prstGeom prst="rect">
            <a:avLst/>
          </a:prstGeom>
          <a:solidFill>
            <a:srgbClr val="FAF9FB"/>
          </a:solidFill>
          <a:ln w="22225">
            <a:solidFill>
              <a:srgbClr val="0F0F11"/>
            </a:solidFill>
            <a:prstDash val="solid"/>
          </a:ln>
        </p:spPr>
      </p:sp>
      <p:sp>
        <p:nvSpPr>
          <p:cNvPr id="20" name="Text 17"/>
          <p:cNvSpPr/>
          <p:nvPr/>
        </p:nvSpPr>
        <p:spPr>
          <a:xfrm>
            <a:off x="6693408" y="2423160"/>
            <a:ext cx="2743200" cy="457200"/>
          </a:xfrm>
          <a:prstGeom prst="rect">
            <a:avLst/>
          </a:prstGeom>
          <a:noFill/>
          <a:ln/>
        </p:spPr>
        <p:txBody>
          <a:bodyPr wrap="square" lIns="0" tIns="0" rIns="0" bIns="0" rtlCol="0" anchor="ctr"/>
          <a:lstStyle/>
          <a:p>
            <a:pPr indent="0" marL="0">
              <a:buNone/>
            </a:pPr>
            <a:r>
              <a:rPr lang="en-US" sz="1050" b="1" spc="120" kern="0" dirty="0">
                <a:solidFill>
                  <a:srgbClr val="6F6B80"/>
                </a:solidFill>
                <a:latin typeface="Courier New" pitchFamily="34" charset="0"/>
                <a:ea typeface="Courier New" pitchFamily="34" charset="-122"/>
                <a:cs typeface="Courier New" pitchFamily="34" charset="-120"/>
              </a:rPr>
              <a:t>CONTRATO</a:t>
            </a:r>
            <a:endParaRPr lang="en-US" sz="1050" dirty="0"/>
          </a:p>
        </p:txBody>
      </p:sp>
      <p:sp>
        <p:nvSpPr>
          <p:cNvPr id="21" name="Shape 18"/>
          <p:cNvSpPr/>
          <p:nvPr/>
        </p:nvSpPr>
        <p:spPr>
          <a:xfrm>
            <a:off x="6510528" y="2990088"/>
            <a:ext cx="5111496" cy="457200"/>
          </a:xfrm>
          <a:prstGeom prst="rect">
            <a:avLst/>
          </a:prstGeom>
          <a:solidFill>
            <a:srgbClr val="FAF9FB"/>
          </a:solidFill>
          <a:ln w="22225">
            <a:solidFill>
              <a:srgbClr val="0F0F11"/>
            </a:solidFill>
            <a:prstDash val="solid"/>
          </a:ln>
        </p:spPr>
      </p:sp>
      <p:sp>
        <p:nvSpPr>
          <p:cNvPr id="22" name="Text 19"/>
          <p:cNvSpPr/>
          <p:nvPr/>
        </p:nvSpPr>
        <p:spPr>
          <a:xfrm>
            <a:off x="6693408" y="2990088"/>
            <a:ext cx="2743200" cy="457200"/>
          </a:xfrm>
          <a:prstGeom prst="rect">
            <a:avLst/>
          </a:prstGeom>
          <a:noFill/>
          <a:ln/>
        </p:spPr>
        <p:txBody>
          <a:bodyPr wrap="square" lIns="0" tIns="0" rIns="0" bIns="0" rtlCol="0" anchor="ctr"/>
          <a:lstStyle/>
          <a:p>
            <a:pPr indent="0" marL="0">
              <a:buNone/>
            </a:pPr>
            <a:r>
              <a:rPr lang="en-US" sz="1050" b="1" spc="120" kern="0" dirty="0">
                <a:solidFill>
                  <a:srgbClr val="6F6B80"/>
                </a:solidFill>
                <a:latin typeface="Courier New" pitchFamily="34" charset="0"/>
                <a:ea typeface="Courier New" pitchFamily="34" charset="-122"/>
                <a:cs typeface="Courier New" pitchFamily="34" charset="-120"/>
              </a:rPr>
              <a:t>INTERFAZ</a:t>
            </a:r>
            <a:endParaRPr lang="en-US" sz="1050" dirty="0"/>
          </a:p>
        </p:txBody>
      </p:sp>
      <p:sp>
        <p:nvSpPr>
          <p:cNvPr id="23" name="Shape 20"/>
          <p:cNvSpPr/>
          <p:nvPr/>
        </p:nvSpPr>
        <p:spPr>
          <a:xfrm>
            <a:off x="6510528" y="3557016"/>
            <a:ext cx="5111496" cy="457200"/>
          </a:xfrm>
          <a:prstGeom prst="rect">
            <a:avLst/>
          </a:prstGeom>
          <a:solidFill>
            <a:srgbClr val="FAF9FB"/>
          </a:solidFill>
          <a:ln w="22225">
            <a:solidFill>
              <a:srgbClr val="0F0F11"/>
            </a:solidFill>
            <a:prstDash val="solid"/>
          </a:ln>
        </p:spPr>
      </p:sp>
      <p:sp>
        <p:nvSpPr>
          <p:cNvPr id="24" name="Text 21"/>
          <p:cNvSpPr/>
          <p:nvPr/>
        </p:nvSpPr>
        <p:spPr>
          <a:xfrm>
            <a:off x="6693408" y="3557016"/>
            <a:ext cx="2743200" cy="457200"/>
          </a:xfrm>
          <a:prstGeom prst="rect">
            <a:avLst/>
          </a:prstGeom>
          <a:noFill/>
          <a:ln/>
        </p:spPr>
        <p:txBody>
          <a:bodyPr wrap="square" lIns="0" tIns="0" rIns="0" bIns="0" rtlCol="0" anchor="ctr"/>
          <a:lstStyle/>
          <a:p>
            <a:pPr indent="0" marL="0">
              <a:buNone/>
            </a:pPr>
            <a:r>
              <a:rPr lang="en-US" sz="1050" b="1" spc="120" kern="0" dirty="0">
                <a:solidFill>
                  <a:srgbClr val="6F6B80"/>
                </a:solidFill>
                <a:latin typeface="Courier New" pitchFamily="34" charset="0"/>
                <a:ea typeface="Courier New" pitchFamily="34" charset="-122"/>
                <a:cs typeface="Courier New" pitchFamily="34" charset="-120"/>
              </a:rPr>
              <a:t>INTEGRACIÓN</a:t>
            </a:r>
            <a:endParaRPr lang="en-US" sz="1050" dirty="0"/>
          </a:p>
        </p:txBody>
      </p:sp>
      <p:sp>
        <p:nvSpPr>
          <p:cNvPr id="25" name="Text 22"/>
          <p:cNvSpPr/>
          <p:nvPr/>
        </p:nvSpPr>
        <p:spPr>
          <a:xfrm>
            <a:off x="6510528" y="2057400"/>
            <a:ext cx="5111496" cy="274320"/>
          </a:xfrm>
          <a:prstGeom prst="rect">
            <a:avLst/>
          </a:prstGeom>
          <a:noFill/>
          <a:ln/>
        </p:spPr>
        <p:txBody>
          <a:bodyPr wrap="square" lIns="0" tIns="0" rIns="0" bIns="0" rtlCol="0" anchor="ctr"/>
          <a:lstStyle/>
          <a:p>
            <a:pPr indent="0" marL="0">
              <a:buNone/>
            </a:pPr>
            <a:r>
              <a:rPr lang="en-US" sz="1050" b="1" spc="130" kern="0" dirty="0">
                <a:solidFill>
                  <a:srgbClr val="0F0F11"/>
                </a:solidFill>
                <a:latin typeface="Courier New" pitchFamily="34" charset="0"/>
                <a:ea typeface="Courier New" pitchFamily="34" charset="-122"/>
                <a:cs typeface="Courier New" pitchFamily="34" charset="-120"/>
              </a:rPr>
              <a:t>POR CORTE VERTICAL</a:t>
            </a:r>
            <a:endParaRPr lang="en-US" sz="1050" dirty="0"/>
          </a:p>
        </p:txBody>
      </p:sp>
      <p:sp>
        <p:nvSpPr>
          <p:cNvPr id="26" name="Shape 23"/>
          <p:cNvSpPr/>
          <p:nvPr/>
        </p:nvSpPr>
        <p:spPr>
          <a:xfrm>
            <a:off x="9802368" y="2377440"/>
            <a:ext cx="1371600" cy="1636776"/>
          </a:xfrm>
          <a:prstGeom prst="rect">
            <a:avLst/>
          </a:prstGeom>
          <a:ln w="38100">
            <a:solidFill>
              <a:srgbClr val="F07F06"/>
            </a:solidFill>
            <a:prstDash val="solid"/>
          </a:ln>
        </p:spPr>
      </p:sp>
      <p:sp>
        <p:nvSpPr>
          <p:cNvPr id="27" name="Text 24"/>
          <p:cNvSpPr/>
          <p:nvPr/>
        </p:nvSpPr>
        <p:spPr>
          <a:xfrm>
            <a:off x="6510528" y="4224528"/>
            <a:ext cx="5111496" cy="54864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Una entrada, de punta a punta, en la semana dos. Fea, pero completa.</a:t>
            </a:r>
            <a:endParaRPr lang="en-US" sz="1250" dirty="0"/>
          </a:p>
        </p:txBody>
      </p:sp>
      <p:sp>
        <p:nvSpPr>
          <p:cNvPr id="28" name="Shape 25"/>
          <p:cNvSpPr/>
          <p:nvPr/>
        </p:nvSpPr>
        <p:spPr>
          <a:xfrm>
            <a:off x="566928" y="4937760"/>
            <a:ext cx="11057839" cy="100584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29" name="Text 26"/>
          <p:cNvSpPr/>
          <p:nvPr/>
        </p:nvSpPr>
        <p:spPr>
          <a:xfrm>
            <a:off x="950976" y="5157216"/>
            <a:ext cx="10289743" cy="566928"/>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El primer objetivo no es que esté bien hecho: es que exista un camino completo por el que pase un caso real.</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A.8 · QUÉ ES Y QUÉ NO ES UN MÍNIMO VIABLE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EL MÍNIMO LO DEFINE EL RIESGO, NO EL CONTEO</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5029200"/>
                <a:gridCol w="60286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NO ES</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SÍ ES</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93776">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Una versión fea de lo mismo.</a:t>
                      </a:r>
                      <a:endParaRPr lang="en-US" sz="12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La cosa más pequeña que pone a prueba el supuesto más riesgoso.</a:t>
                      </a:r>
                      <a:endParaRPr lang="en-US" sz="12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3776">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La mitad de las funciones.</a:t>
                      </a:r>
                      <a:endParaRPr lang="en-US" sz="12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Un camino completo, aunque estrecho.</a:t>
                      </a:r>
                      <a:endParaRPr lang="en-US" sz="12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93776">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Lo que alcancemos a hacer.</a:t>
                      </a:r>
                      <a:endParaRPr lang="en-US" sz="12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Lo que se decidió antes de empezar, y se defendió.</a:t>
                      </a:r>
                      <a:endParaRPr lang="en-US" sz="12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3776">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Un prototipo desechable.</a:t>
                      </a:r>
                      <a:endParaRPr lang="en-US" sz="12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Código que se conserva y se mejora.</a:t>
                      </a:r>
                      <a:endParaRPr lang="en-US" sz="12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64792"/>
            <a:ext cx="11094415" cy="2322576"/>
          </a:xfrm>
          <a:prstGeom prst="rect">
            <a:avLst/>
          </a:prstGeom>
          <a:ln w="22225">
            <a:solidFill>
              <a:srgbClr val="0F0F11"/>
            </a:solidFill>
            <a:prstDash val="solid"/>
          </a:ln>
        </p:spPr>
      </p:sp>
      <p:sp>
        <p:nvSpPr>
          <p:cNvPr id="10" name="Shape 6"/>
          <p:cNvSpPr/>
          <p:nvPr/>
        </p:nvSpPr>
        <p:spPr>
          <a:xfrm>
            <a:off x="566928" y="4206240"/>
            <a:ext cx="11057839" cy="20574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4425696"/>
            <a:ext cx="237744" cy="237744"/>
          </a:xfrm>
          <a:prstGeom prst="rect">
            <a:avLst/>
          </a:prstGeom>
        </p:spPr>
      </p:pic>
      <p:sp>
        <p:nvSpPr>
          <p:cNvPr id="12" name="Text 7"/>
          <p:cNvSpPr/>
          <p:nvPr/>
        </p:nvSpPr>
        <p:spPr>
          <a:xfrm>
            <a:off x="1133856" y="439826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APLICADO AL PROYECTO DEL DOCENTE</a:t>
            </a:r>
            <a:endParaRPr lang="en-US" sz="950" dirty="0"/>
          </a:p>
        </p:txBody>
      </p:sp>
      <p:sp>
        <p:nvSpPr>
          <p:cNvPr id="13" name="Text 8"/>
          <p:cNvSpPr/>
          <p:nvPr/>
        </p:nvSpPr>
        <p:spPr>
          <a:xfrm>
            <a:off x="804672" y="4791456"/>
            <a:ext cx="10582351" cy="7772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El supuesto más riesgoso no es que la gente compre entradas: eso ya se sabe que funciona. Es que LA REGLA DE REVENTA SE PUEDA HACER CUMPLIR de verdad, incluso contra alguien que escriba su propio programa.</a:t>
            </a:r>
            <a:endParaRPr lang="en-US" sz="1350" dirty="0"/>
          </a:p>
        </p:txBody>
      </p:sp>
      <p:sp>
        <p:nvSpPr>
          <p:cNvPr id="14" name="Text 9"/>
          <p:cNvSpPr/>
          <p:nvPr/>
        </p:nvSpPr>
        <p:spPr>
          <a:xfrm>
            <a:off x="804672" y="5614416"/>
            <a:ext cx="10582351" cy="640080"/>
          </a:xfrm>
          <a:prstGeom prst="rect">
            <a:avLst/>
          </a:prstGeom>
          <a:noFill/>
          <a:ln/>
        </p:spPr>
        <p:txBody>
          <a:bodyPr wrap="square" lIns="0" tIns="0" rIns="0" bIns="0" rtlCol="0" anchor="t"/>
          <a:lstStyle/>
          <a:p>
            <a:pPr indent="0" marL="0">
              <a:lnSpc>
                <a:spcPct val="124000"/>
              </a:lnSpc>
              <a:buNone/>
            </a:pPr>
            <a:r>
              <a:rPr lang="en-US" sz="1350" dirty="0">
                <a:solidFill>
                  <a:srgbClr val="0F0F11"/>
                </a:solidFill>
                <a:latin typeface="Arial" pitchFamily="34" charset="0"/>
                <a:ea typeface="Arial" pitchFamily="34" charset="-122"/>
                <a:cs typeface="Arial" pitchFamily="34" charset="-120"/>
              </a:rPr>
              <a:t>Por eso el bloqueo de transferencia entra en el mínimo aunque sea la parte más difícil. Si eso no se sostiene, el proyecto entero no tiene tesis.</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A.9 · EL ARTEFACTO QUE CASI NADIE ESCRIBE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EL ALCANCE ES LO QUE DECIDISTE NO HACER</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18</a:t>
            </a:r>
            <a:endParaRPr lang="en-US" sz="900" dirty="0"/>
          </a:p>
        </p:txBody>
      </p:sp>
      <p:sp>
        <p:nvSpPr>
          <p:cNvPr id="8" name="Text 5"/>
          <p:cNvSpPr/>
          <p:nvPr/>
        </p:nvSpPr>
        <p:spPr>
          <a:xfrm>
            <a:off x="566928" y="1719072"/>
            <a:ext cx="11057839" cy="54864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La lista de exclusiones es más útil que la de inclusiones, porque es la que se puede señalar cuando alguien —o uno mismo— quiera añadir algo a mitad de camino.</a:t>
            </a:r>
            <a:endParaRPr lang="en-US" sz="1400" dirty="0"/>
          </a:p>
        </p:txBody>
      </p:sp>
      <p:sp>
        <p:nvSpPr>
          <p:cNvPr id="9" name="Shape 6"/>
          <p:cNvSpPr/>
          <p:nvPr/>
        </p:nvSpPr>
        <p:spPr>
          <a:xfrm>
            <a:off x="566928" y="2377440"/>
            <a:ext cx="11057839" cy="23774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0" name="Text 7"/>
          <p:cNvSpPr/>
          <p:nvPr/>
        </p:nvSpPr>
        <p:spPr>
          <a:xfrm>
            <a:off x="859536" y="2578608"/>
            <a:ext cx="640080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FUERA DE ALCANCE · PROYECTO DEL DOCENTE</a:t>
            </a:r>
            <a:endParaRPr lang="en-US" sz="1050" dirty="0"/>
          </a:p>
        </p:txBody>
      </p:sp>
      <p:sp>
        <p:nvSpPr>
          <p:cNvPr id="11" name="Text 8"/>
          <p:cNvSpPr/>
          <p:nvPr/>
        </p:nvSpPr>
        <p:spPr>
          <a:xfrm>
            <a:off x="859536" y="2944368"/>
            <a:ext cx="10472623" cy="169164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Pasarela de pago con dinero real — todo ocurre en red de prueba.</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Aplicación móvil nativa — dos páginas web bastan.</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Diseño gráfico elaborado — que se entienda qué pasa es suficiente.</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Categorías de entrada, mapas de asientos y descuentos.</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Recuperación de cuentas — se describe como decisión, no se implementa.</a:t>
            </a:r>
            <a:endParaRPr lang="en-US" sz="1300" dirty="0"/>
          </a:p>
        </p:txBody>
      </p:sp>
      <p:sp>
        <p:nvSpPr>
          <p:cNvPr id="12" name="Shape 9"/>
          <p:cNvSpPr/>
          <p:nvPr/>
        </p:nvSpPr>
        <p:spPr>
          <a:xfrm>
            <a:off x="566928" y="4937760"/>
            <a:ext cx="11057839" cy="11430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3" name="Image 1" descr="preencoded.png">    </p:cNvPr>
          <p:cNvPicPr>
            <a:picLocks noChangeAspect="1"/>
          </p:cNvPicPr>
          <p:nvPr/>
        </p:nvPicPr>
        <p:blipFill>
          <a:blip r:embed="rId2"/>
          <a:stretch>
            <a:fillRect/>
          </a:stretch>
        </p:blipFill>
        <p:spPr>
          <a:xfrm>
            <a:off x="804672" y="5157216"/>
            <a:ext cx="237744" cy="237744"/>
          </a:xfrm>
          <a:prstGeom prst="rect">
            <a:avLst/>
          </a:prstGeom>
        </p:spPr>
      </p:pic>
      <p:sp>
        <p:nvSpPr>
          <p:cNvPr id="14" name="Text 10"/>
          <p:cNvSpPr/>
          <p:nvPr/>
        </p:nvSpPr>
        <p:spPr>
          <a:xfrm>
            <a:off x="1133856" y="512978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REGLA DEL «TODAVÍA NO»</a:t>
            </a:r>
            <a:endParaRPr lang="en-US" sz="950" dirty="0"/>
          </a:p>
        </p:txBody>
      </p:sp>
      <p:sp>
        <p:nvSpPr>
          <p:cNvPr id="15" name="Text 11"/>
          <p:cNvSpPr/>
          <p:nvPr/>
        </p:nvSpPr>
        <p:spPr>
          <a:xfrm>
            <a:off x="804672" y="5486400"/>
            <a:ext cx="10582351" cy="5486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Las ideas que se caen no se tiran: se aparcan en una lista con la fecha en que se revisarán. Eso quita la ansiedad de perderlas y evita meterlas por la puerta de atrás.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A.10 · LO QUE CONDICIONA SIN SER UNA DECISIÓN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SUPUESTOS Y RESTRICCIONES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19</a:t>
            </a:r>
            <a:endParaRPr lang="en-US" sz="900" dirty="0"/>
          </a:p>
        </p:txBody>
      </p:sp>
      <p:sp>
        <p:nvSpPr>
          <p:cNvPr id="8" name="Shape 5"/>
          <p:cNvSpPr/>
          <p:nvPr/>
        </p:nvSpPr>
        <p:spPr>
          <a:xfrm>
            <a:off x="566928" y="1783080"/>
            <a:ext cx="5419192" cy="2286000"/>
          </a:xfrm>
          <a:prstGeom prst="rect">
            <a:avLst/>
          </a:prstGeom>
          <a:solidFill>
            <a:srgbClr val="FAF9FB"/>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841248" y="1965960"/>
            <a:ext cx="4572000" cy="292608"/>
          </a:xfrm>
          <a:prstGeom prst="rect">
            <a:avLst/>
          </a:prstGeom>
          <a:noFill/>
          <a:ln/>
        </p:spPr>
        <p:txBody>
          <a:bodyPr wrap="square" lIns="0" tIns="0" rIns="0" bIns="0" rtlCol="0" anchor="ctr"/>
          <a:lstStyle/>
          <a:p>
            <a:pPr indent="0" marL="0">
              <a:buNone/>
            </a:pPr>
            <a:r>
              <a:rPr lang="en-US" sz="1050" b="1" spc="120" kern="0" dirty="0">
                <a:solidFill>
                  <a:srgbClr val="A35604"/>
                </a:solidFill>
                <a:latin typeface="Courier New" pitchFamily="34" charset="0"/>
                <a:ea typeface="Courier New" pitchFamily="34" charset="-122"/>
                <a:cs typeface="Courier New" pitchFamily="34" charset="-120"/>
              </a:rPr>
              <a:t>RESTRICCIONES · no se negocian</a:t>
            </a:r>
            <a:endParaRPr lang="en-US" sz="1050" dirty="0"/>
          </a:p>
        </p:txBody>
      </p:sp>
      <p:sp>
        <p:nvSpPr>
          <p:cNvPr id="10" name="Text 7"/>
          <p:cNvSpPr/>
          <p:nvPr/>
        </p:nvSpPr>
        <p:spPr>
          <a:xfrm>
            <a:off x="841248" y="2331720"/>
            <a:ext cx="4870552" cy="1600200"/>
          </a:xfrm>
          <a:prstGeom prst="rect">
            <a:avLst/>
          </a:prstGeom>
          <a:noFill/>
          <a:ln/>
        </p:spPr>
        <p:txBody>
          <a:bodyPr wrap="square" lIns="0" tIns="0" rIns="0" bIns="0" rtlCol="0" anchor="t"/>
          <a:lstStyle/>
          <a:p>
            <a:pPr marL="203200" indent="-203200">
              <a:lnSpc>
                <a:spcPct val="118000"/>
              </a:lnSpc>
              <a:spcAft>
                <a:spcPts val="400"/>
              </a:spcAft>
              <a:buSzPct val="100000"/>
              <a:buChar char="■"/>
            </a:pPr>
            <a:r>
              <a:rPr lang="en-US" sz="1250" dirty="0">
                <a:solidFill>
                  <a:srgbClr val="3A3844"/>
                </a:solidFill>
                <a:latin typeface="Arial" pitchFamily="34" charset="0"/>
                <a:ea typeface="Arial" pitchFamily="34" charset="-122"/>
                <a:cs typeface="Arial" pitchFamily="34" charset="-120"/>
              </a:rPr>
              <a:t>Dieciséis semanas, ni una más.</a:t>
            </a:r>
            <a:endParaRPr lang="en-US" sz="1250" dirty="0"/>
          </a:p>
          <a:p>
            <a:pPr marL="203200" indent="-203200">
              <a:lnSpc>
                <a:spcPct val="118000"/>
              </a:lnSpc>
              <a:spcAft>
                <a:spcPts val="400"/>
              </a:spcAft>
              <a:buSzPct val="100000"/>
              <a:buChar char="■"/>
            </a:pPr>
            <a:r>
              <a:rPr lang="en-US" sz="1250" dirty="0">
                <a:solidFill>
                  <a:srgbClr val="3A3844"/>
                </a:solidFill>
                <a:latin typeface="Arial" pitchFamily="34" charset="0"/>
                <a:ea typeface="Arial" pitchFamily="34" charset="-122"/>
                <a:cs typeface="Arial" pitchFamily="34" charset="-120"/>
              </a:rPr>
              <a:t>Tres personas, con otras materias.</a:t>
            </a:r>
            <a:endParaRPr lang="en-US" sz="1250" dirty="0"/>
          </a:p>
          <a:p>
            <a:pPr marL="203200" indent="-203200">
              <a:lnSpc>
                <a:spcPct val="118000"/>
              </a:lnSpc>
              <a:spcAft>
                <a:spcPts val="400"/>
              </a:spcAft>
              <a:buSzPct val="100000"/>
              <a:buChar char="■"/>
            </a:pPr>
            <a:r>
              <a:rPr lang="en-US" sz="1250" dirty="0">
                <a:solidFill>
                  <a:srgbClr val="3A3844"/>
                </a:solidFill>
                <a:latin typeface="Arial" pitchFamily="34" charset="0"/>
                <a:ea typeface="Arial" pitchFamily="34" charset="-122"/>
                <a:cs typeface="Arial" pitchFamily="34" charset="-120"/>
              </a:rPr>
              <a:t>Sin presupuesto: solo red de prueba.</a:t>
            </a:r>
            <a:endParaRPr lang="en-US" sz="1250" dirty="0"/>
          </a:p>
          <a:p>
            <a:pPr marL="203200" indent="-203200">
              <a:lnSpc>
                <a:spcPct val="118000"/>
              </a:lnSpc>
              <a:spcAft>
                <a:spcPts val="400"/>
              </a:spcAft>
              <a:buSzPct val="100000"/>
              <a:buChar char="■"/>
            </a:pPr>
            <a:r>
              <a:rPr lang="en-US" sz="1250" dirty="0">
                <a:solidFill>
                  <a:srgbClr val="3A3844"/>
                </a:solidFill>
                <a:latin typeface="Arial" pitchFamily="34" charset="0"/>
                <a:ea typeface="Arial" pitchFamily="34" charset="-122"/>
                <a:cs typeface="Arial" pitchFamily="34" charset="-120"/>
              </a:rPr>
              <a:t>El calendario del curso decide qué se puede usar y cuándo.</a:t>
            </a:r>
            <a:endParaRPr lang="en-US" sz="1250" dirty="0"/>
          </a:p>
        </p:txBody>
      </p:sp>
      <p:sp>
        <p:nvSpPr>
          <p:cNvPr id="11" name="Shape 8"/>
          <p:cNvSpPr/>
          <p:nvPr/>
        </p:nvSpPr>
        <p:spPr>
          <a:xfrm>
            <a:off x="6205576" y="1783080"/>
            <a:ext cx="5419192" cy="22860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479896" y="1965960"/>
            <a:ext cx="4572000" cy="292608"/>
          </a:xfrm>
          <a:prstGeom prst="rect">
            <a:avLst/>
          </a:prstGeom>
          <a:noFill/>
          <a:ln/>
        </p:spPr>
        <p:txBody>
          <a:bodyPr wrap="square" lIns="0" tIns="0" rIns="0" bIns="0" rtlCol="0" anchor="ctr"/>
          <a:lstStyle/>
          <a:p>
            <a:pPr indent="0" marL="0">
              <a:buNone/>
            </a:pPr>
            <a:r>
              <a:rPr lang="en-US" sz="1050" b="1" spc="120" kern="0" dirty="0">
                <a:solidFill>
                  <a:srgbClr val="5638C9"/>
                </a:solidFill>
                <a:latin typeface="Courier New" pitchFamily="34" charset="0"/>
                <a:ea typeface="Courier New" pitchFamily="34" charset="-122"/>
                <a:cs typeface="Courier New" pitchFamily="34" charset="-120"/>
              </a:rPr>
              <a:t>SUPUESTOS · pueden ser falsos</a:t>
            </a:r>
            <a:endParaRPr lang="en-US" sz="1050" dirty="0"/>
          </a:p>
        </p:txBody>
      </p:sp>
      <p:sp>
        <p:nvSpPr>
          <p:cNvPr id="13" name="Text 10"/>
          <p:cNvSpPr/>
          <p:nvPr/>
        </p:nvSpPr>
        <p:spPr>
          <a:xfrm>
            <a:off x="6479896" y="2331720"/>
            <a:ext cx="4870552" cy="1600200"/>
          </a:xfrm>
          <a:prstGeom prst="rect">
            <a:avLst/>
          </a:prstGeom>
          <a:noFill/>
          <a:ln/>
        </p:spPr>
        <p:txBody>
          <a:bodyPr wrap="square" lIns="0" tIns="0" rIns="0" bIns="0" rtlCol="0" anchor="t"/>
          <a:lstStyle/>
          <a:p>
            <a:pPr marL="203200" indent="-203200">
              <a:lnSpc>
                <a:spcPct val="118000"/>
              </a:lnSpc>
              <a:spcAft>
                <a:spcPts val="400"/>
              </a:spcAft>
              <a:buSzPct val="100000"/>
              <a:buChar char="■"/>
            </a:pPr>
            <a:r>
              <a:rPr lang="en-US" sz="1250" dirty="0">
                <a:solidFill>
                  <a:srgbClr val="3A3844"/>
                </a:solidFill>
                <a:latin typeface="Arial" pitchFamily="34" charset="0"/>
                <a:ea typeface="Arial" pitchFamily="34" charset="-122"/>
                <a:cs typeface="Arial" pitchFamily="34" charset="-120"/>
              </a:rPr>
              <a:t>El asistente tiene o puede instalar una billetera.</a:t>
            </a:r>
            <a:endParaRPr lang="en-US" sz="1250" dirty="0"/>
          </a:p>
          <a:p>
            <a:pPr marL="203200" indent="-203200">
              <a:lnSpc>
                <a:spcPct val="118000"/>
              </a:lnSpc>
              <a:spcAft>
                <a:spcPts val="400"/>
              </a:spcAft>
              <a:buSzPct val="100000"/>
              <a:buChar char="■"/>
            </a:pPr>
            <a:r>
              <a:rPr lang="en-US" sz="1250" dirty="0">
                <a:solidFill>
                  <a:srgbClr val="3A3844"/>
                </a:solidFill>
                <a:latin typeface="Arial" pitchFamily="34" charset="0"/>
                <a:ea typeface="Arial" pitchFamily="34" charset="-122"/>
                <a:cs typeface="Arial" pitchFamily="34" charset="-120"/>
              </a:rPr>
              <a:t>En la puerta hay al menos un teléfono con cámara.</a:t>
            </a:r>
            <a:endParaRPr lang="en-US" sz="1250" dirty="0"/>
          </a:p>
          <a:p>
            <a:pPr marL="203200" indent="-203200">
              <a:lnSpc>
                <a:spcPct val="118000"/>
              </a:lnSpc>
              <a:spcAft>
                <a:spcPts val="400"/>
              </a:spcAft>
              <a:buSzPct val="100000"/>
              <a:buChar char="■"/>
            </a:pPr>
            <a:r>
              <a:rPr lang="en-US" sz="1250" dirty="0">
                <a:solidFill>
                  <a:srgbClr val="3A3844"/>
                </a:solidFill>
                <a:latin typeface="Arial" pitchFamily="34" charset="0"/>
                <a:ea typeface="Arial" pitchFamily="34" charset="-122"/>
                <a:cs typeface="Arial" pitchFamily="34" charset="-120"/>
              </a:rPr>
              <a:t>El organizador acepta fijar un tope público.</a:t>
            </a:r>
            <a:endParaRPr lang="en-US" sz="1250" dirty="0"/>
          </a:p>
        </p:txBody>
      </p:sp>
      <p:sp>
        <p:nvSpPr>
          <p:cNvPr id="14" name="Text 11"/>
          <p:cNvSpPr/>
          <p:nvPr/>
        </p:nvSpPr>
        <p:spPr>
          <a:xfrm>
            <a:off x="566928" y="4297680"/>
            <a:ext cx="11057839" cy="54864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La diferencia importa: una restricción se acepta y se diseña alrededor de ella. Un supuesto hay que ir a comprobarlo, porque si es falso el proyecto cambia.</a:t>
            </a:r>
            <a:endParaRPr lang="en-US" sz="1400" dirty="0"/>
          </a:p>
        </p:txBody>
      </p:sp>
      <p:sp>
        <p:nvSpPr>
          <p:cNvPr id="15" name="Shape 12"/>
          <p:cNvSpPr/>
          <p:nvPr/>
        </p:nvSpPr>
        <p:spPr>
          <a:xfrm>
            <a:off x="566928" y="4983480"/>
            <a:ext cx="11057839" cy="10972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6" name="Image 1" descr="preencoded.png">    </p:cNvPr>
          <p:cNvPicPr>
            <a:picLocks noChangeAspect="1"/>
          </p:cNvPicPr>
          <p:nvPr/>
        </p:nvPicPr>
        <p:blipFill>
          <a:blip r:embed="rId2"/>
          <a:stretch>
            <a:fillRect/>
          </a:stretch>
        </p:blipFill>
        <p:spPr>
          <a:xfrm>
            <a:off x="804672" y="5202936"/>
            <a:ext cx="237744" cy="237744"/>
          </a:xfrm>
          <a:prstGeom prst="rect">
            <a:avLst/>
          </a:prstGeom>
        </p:spPr>
      </p:pic>
      <p:sp>
        <p:nvSpPr>
          <p:cNvPr id="17" name="Text 13"/>
          <p:cNvSpPr/>
          <p:nvPr/>
        </p:nvSpPr>
        <p:spPr>
          <a:xfrm>
            <a:off x="1133856" y="51755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LAS RESTRICCIONES SON ALIADAS</a:t>
            </a:r>
            <a:endParaRPr lang="en-US" sz="950" dirty="0"/>
          </a:p>
        </p:txBody>
      </p:sp>
      <p:sp>
        <p:nvSpPr>
          <p:cNvPr id="18" name="Text 14"/>
          <p:cNvSpPr/>
          <p:nvPr/>
        </p:nvSpPr>
        <p:spPr>
          <a:xfrm>
            <a:off x="804672" y="5532120"/>
            <a:ext cx="10582351" cy="5486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«Dieciséis semanas y tres personas» no es una queja: es lo que hace decidible el alcance. Un proyecto sin límites de tiempo ni de gente no se acota nunca, porque siempre cabe una función más.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A.11 · CUÁNDO SE PUEDE DECIR «YA ESTÁ»</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DEFINICIÓN DE TERMINADO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20</a:t>
            </a:r>
            <a:endParaRPr lang="en-US" sz="900" dirty="0"/>
          </a:p>
        </p:txBody>
      </p:sp>
      <p:sp>
        <p:nvSpPr>
          <p:cNvPr id="8" name="Text 5"/>
          <p:cNvSpPr/>
          <p:nvPr/>
        </p:nvSpPr>
        <p:spPr>
          <a:xfrm>
            <a:off x="566928" y="1737360"/>
            <a:ext cx="11057839" cy="54864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Se acuerda una vez, al principio, y se aplica a todo. Sin ella cada quien tiene su propia idea de «terminado» y las entregas se discuten en vez de revisarse.</a:t>
            </a:r>
            <a:endParaRPr lang="en-US" sz="1400" dirty="0"/>
          </a:p>
        </p:txBody>
      </p:sp>
      <p:sp>
        <p:nvSpPr>
          <p:cNvPr id="9" name="Shape 6"/>
          <p:cNvSpPr/>
          <p:nvPr/>
        </p:nvSpPr>
        <p:spPr>
          <a:xfrm>
            <a:off x="566928" y="2569464"/>
            <a:ext cx="256032" cy="256032"/>
          </a:xfrm>
          <a:prstGeom prst="rect">
            <a:avLst/>
          </a:prstGeom>
          <a:ln w="25400">
            <a:solidFill>
              <a:srgbClr val="0F0F11"/>
            </a:solidFill>
            <a:prstDash val="solid"/>
          </a:ln>
        </p:spPr>
      </p:sp>
      <p:sp>
        <p:nvSpPr>
          <p:cNvPr id="10" name="Text 7"/>
          <p:cNvSpPr/>
          <p:nvPr/>
        </p:nvSpPr>
        <p:spPr>
          <a:xfrm>
            <a:off x="1069848" y="2496312"/>
            <a:ext cx="1055491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El criterio de aceptación se cumple, y hay una prueba automática que lo comprueba.</a:t>
            </a:r>
            <a:endParaRPr lang="en-US" sz="1350" dirty="0"/>
          </a:p>
        </p:txBody>
      </p:sp>
      <p:sp>
        <p:nvSpPr>
          <p:cNvPr id="11" name="Shape 8"/>
          <p:cNvSpPr/>
          <p:nvPr/>
        </p:nvSpPr>
        <p:spPr>
          <a:xfrm>
            <a:off x="566928" y="2386584"/>
            <a:ext cx="11057839" cy="0"/>
          </a:xfrm>
          <a:prstGeom prst="line">
            <a:avLst/>
          </a:prstGeom>
          <a:noFill/>
          <a:ln w="12700">
            <a:solidFill>
              <a:srgbClr val="D9D6E0"/>
            </a:solidFill>
            <a:prstDash val="solid"/>
          </a:ln>
        </p:spPr>
      </p:sp>
      <p:sp>
        <p:nvSpPr>
          <p:cNvPr id="12" name="Shape 9"/>
          <p:cNvSpPr/>
          <p:nvPr/>
        </p:nvSpPr>
        <p:spPr>
          <a:xfrm>
            <a:off x="566928" y="3227832"/>
            <a:ext cx="256032" cy="256032"/>
          </a:xfrm>
          <a:prstGeom prst="rect">
            <a:avLst/>
          </a:prstGeom>
          <a:ln w="25400">
            <a:solidFill>
              <a:srgbClr val="0F0F11"/>
            </a:solidFill>
            <a:prstDash val="solid"/>
          </a:ln>
        </p:spPr>
      </p:sp>
      <p:sp>
        <p:nvSpPr>
          <p:cNvPr id="13" name="Text 10"/>
          <p:cNvSpPr/>
          <p:nvPr/>
        </p:nvSpPr>
        <p:spPr>
          <a:xfrm>
            <a:off x="1069848" y="3154680"/>
            <a:ext cx="1055491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El código está en el repositorio, en la rama principal.</a:t>
            </a:r>
            <a:endParaRPr lang="en-US" sz="1350" dirty="0"/>
          </a:p>
        </p:txBody>
      </p:sp>
      <p:sp>
        <p:nvSpPr>
          <p:cNvPr id="14" name="Shape 11"/>
          <p:cNvSpPr/>
          <p:nvPr/>
        </p:nvSpPr>
        <p:spPr>
          <a:xfrm>
            <a:off x="566928" y="3044952"/>
            <a:ext cx="11057839" cy="0"/>
          </a:xfrm>
          <a:prstGeom prst="line">
            <a:avLst/>
          </a:prstGeom>
          <a:noFill/>
          <a:ln w="12700">
            <a:solidFill>
              <a:srgbClr val="D9D6E0"/>
            </a:solidFill>
            <a:prstDash val="solid"/>
          </a:ln>
        </p:spPr>
      </p:sp>
      <p:sp>
        <p:nvSpPr>
          <p:cNvPr id="15" name="Shape 12"/>
          <p:cNvSpPr/>
          <p:nvPr/>
        </p:nvSpPr>
        <p:spPr>
          <a:xfrm>
            <a:off x="566928" y="3886200"/>
            <a:ext cx="256032" cy="256032"/>
          </a:xfrm>
          <a:prstGeom prst="rect">
            <a:avLst/>
          </a:prstGeom>
          <a:ln w="25400">
            <a:solidFill>
              <a:srgbClr val="0F0F11"/>
            </a:solidFill>
            <a:prstDash val="solid"/>
          </a:ln>
        </p:spPr>
      </p:sp>
      <p:sp>
        <p:nvSpPr>
          <p:cNvPr id="16" name="Text 13"/>
          <p:cNvSpPr/>
          <p:nvPr/>
        </p:nvSpPr>
        <p:spPr>
          <a:xfrm>
            <a:off x="1069848" y="3813048"/>
            <a:ext cx="1055491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Otra persona del equipo lo leyó.</a:t>
            </a:r>
            <a:endParaRPr lang="en-US" sz="1350" dirty="0"/>
          </a:p>
        </p:txBody>
      </p:sp>
      <p:sp>
        <p:nvSpPr>
          <p:cNvPr id="17" name="Shape 14"/>
          <p:cNvSpPr/>
          <p:nvPr/>
        </p:nvSpPr>
        <p:spPr>
          <a:xfrm>
            <a:off x="566928" y="3703320"/>
            <a:ext cx="11057839" cy="0"/>
          </a:xfrm>
          <a:prstGeom prst="line">
            <a:avLst/>
          </a:prstGeom>
          <a:noFill/>
          <a:ln w="12700">
            <a:solidFill>
              <a:srgbClr val="D9D6E0"/>
            </a:solidFill>
            <a:prstDash val="solid"/>
          </a:ln>
        </p:spPr>
      </p:sp>
      <p:sp>
        <p:nvSpPr>
          <p:cNvPr id="18" name="Shape 15"/>
          <p:cNvSpPr/>
          <p:nvPr/>
        </p:nvSpPr>
        <p:spPr>
          <a:xfrm>
            <a:off x="566928" y="4544568"/>
            <a:ext cx="256032" cy="256032"/>
          </a:xfrm>
          <a:prstGeom prst="rect">
            <a:avLst/>
          </a:prstGeom>
          <a:ln w="25400">
            <a:solidFill>
              <a:srgbClr val="0F0F11"/>
            </a:solidFill>
            <a:prstDash val="solid"/>
          </a:ln>
        </p:spPr>
      </p:sp>
      <p:sp>
        <p:nvSpPr>
          <p:cNvPr id="19" name="Text 16"/>
          <p:cNvSpPr/>
          <p:nvPr/>
        </p:nvSpPr>
        <p:spPr>
          <a:xfrm>
            <a:off x="1069848" y="4471416"/>
            <a:ext cx="1055491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Funciona en la red de prueba, no solo en la máquina de quien lo escribió.</a:t>
            </a:r>
            <a:endParaRPr lang="en-US" sz="1350" dirty="0"/>
          </a:p>
        </p:txBody>
      </p:sp>
      <p:sp>
        <p:nvSpPr>
          <p:cNvPr id="20" name="Shape 17"/>
          <p:cNvSpPr/>
          <p:nvPr/>
        </p:nvSpPr>
        <p:spPr>
          <a:xfrm>
            <a:off x="566928" y="4361688"/>
            <a:ext cx="11057839" cy="0"/>
          </a:xfrm>
          <a:prstGeom prst="line">
            <a:avLst/>
          </a:prstGeom>
          <a:noFill/>
          <a:ln w="12700">
            <a:solidFill>
              <a:srgbClr val="D9D6E0"/>
            </a:solidFill>
            <a:prstDash val="solid"/>
          </a:ln>
        </p:spPr>
      </p:sp>
      <p:sp>
        <p:nvSpPr>
          <p:cNvPr id="21" name="Shape 18"/>
          <p:cNvSpPr/>
          <p:nvPr/>
        </p:nvSpPr>
        <p:spPr>
          <a:xfrm>
            <a:off x="566928" y="5202936"/>
            <a:ext cx="256032" cy="256032"/>
          </a:xfrm>
          <a:prstGeom prst="rect">
            <a:avLst/>
          </a:prstGeom>
          <a:ln w="25400">
            <a:solidFill>
              <a:srgbClr val="0F0F11"/>
            </a:solidFill>
            <a:prstDash val="solid"/>
          </a:ln>
        </p:spPr>
      </p:sp>
      <p:sp>
        <p:nvSpPr>
          <p:cNvPr id="22" name="Text 19"/>
          <p:cNvSpPr/>
          <p:nvPr/>
        </p:nvSpPr>
        <p:spPr>
          <a:xfrm>
            <a:off x="1069848" y="5129784"/>
            <a:ext cx="1055491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Si cambió una decisión, quedó anotada en el documento del proyecto.</a:t>
            </a:r>
            <a:endParaRPr lang="en-US" sz="1350" dirty="0"/>
          </a:p>
        </p:txBody>
      </p:sp>
      <p:sp>
        <p:nvSpPr>
          <p:cNvPr id="23" name="Shape 20"/>
          <p:cNvSpPr/>
          <p:nvPr/>
        </p:nvSpPr>
        <p:spPr>
          <a:xfrm>
            <a:off x="566928" y="5020056"/>
            <a:ext cx="11057839" cy="0"/>
          </a:xfrm>
          <a:prstGeom prst="line">
            <a:avLst/>
          </a:prstGeom>
          <a:noFill/>
          <a:ln w="12700">
            <a:solidFill>
              <a:srgbClr val="D9D6E0"/>
            </a:solidFill>
            <a:prstDash val="solid"/>
          </a:ln>
        </p:spPr>
      </p:sp>
      <p:sp>
        <p:nvSpPr>
          <p:cNvPr id="24" name="Shape 21"/>
          <p:cNvSpPr/>
          <p:nvPr/>
        </p:nvSpPr>
        <p:spPr>
          <a:xfrm>
            <a:off x="566928" y="5678424"/>
            <a:ext cx="11057839" cy="0"/>
          </a:xfrm>
          <a:prstGeom prst="line">
            <a:avLst/>
          </a:prstGeom>
          <a:noFill/>
          <a:ln w="12700">
            <a:solidFill>
              <a:srgbClr val="D9D6E0"/>
            </a:solidFill>
            <a:prstDash val="solid"/>
          </a:ln>
        </p:spPr>
      </p:sp>
      <p:sp>
        <p:nvSpPr>
          <p:cNvPr id="25" name="Text 22"/>
          <p:cNvSpPr/>
          <p:nvPr/>
        </p:nvSpPr>
        <p:spPr>
          <a:xfrm>
            <a:off x="566928" y="5897880"/>
            <a:ext cx="11057839" cy="365760"/>
          </a:xfrm>
          <a:prstGeom prst="rect">
            <a:avLst/>
          </a:prstGeom>
          <a:noFill/>
          <a:ln/>
        </p:spPr>
        <p:txBody>
          <a:bodyPr wrap="square" lIns="0" tIns="0" rIns="0" bIns="0" rtlCol="0" anchor="t"/>
          <a:lstStyle/>
          <a:p>
            <a:pPr indent="0" marL="0">
              <a:lnSpc>
                <a:spcPct val="124000"/>
              </a:lnSpc>
              <a:buNone/>
            </a:pPr>
            <a:r>
              <a:rPr lang="en-US" sz="1300" dirty="0">
                <a:solidFill>
                  <a:srgbClr val="6F6B80"/>
                </a:solidFill>
                <a:latin typeface="Arial" pitchFamily="34" charset="0"/>
                <a:ea typeface="Arial" pitchFamily="34" charset="-122"/>
                <a:cs typeface="Arial" pitchFamily="34" charset="-120"/>
              </a:rPr>
              <a:t>Cinco puntos. Si son quince, nadie los aplica.</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A.12 · EL ENEMIGO SILENCIOSO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DERIVA DEL ALCANCE</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21</a:t>
            </a:r>
            <a:endParaRPr lang="en-US" sz="900" dirty="0"/>
          </a:p>
        </p:txBody>
      </p:sp>
      <p:sp>
        <p:nvSpPr>
          <p:cNvPr id="8" name="Text 5"/>
          <p:cNvSpPr/>
          <p:nvPr/>
        </p:nvSpPr>
        <p:spPr>
          <a:xfrm>
            <a:off x="566928" y="1737360"/>
            <a:ext cx="11057839" cy="5943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Nunca llega como «vamos a duplicar el proyecto». Llega en frases pequeñas y razonables, una por semana, y para la semana diez el proyecto es otro y va tarde.</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2468880"/>
          <a:ext cx="11057839" cy="914400"/>
        </p:xfrm>
        <a:graphic>
          <a:graphicData uri="http://schemas.openxmlformats.org/drawingml/2006/table">
            <a:tbl>
              <a:tblPr/>
              <a:tblGrid>
                <a:gridCol w="4572000"/>
                <a:gridCol w="64858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CÓMO SUENA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HACER</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0807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«Ya que estamos, podríamos añadir…»</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A la lista de «todavía no», con fecha de revisión. No al alcance.</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0807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«Es solo un campo más»</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Ningún campo es solo un campo: es interfaz, validación, prueba y documentación.</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0807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«Vi una librería que hace esto mejor»</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Si el corte vertical ya funciona, se evalúa. Si todavía no, se anota y se sigue.</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0807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«El profesor dijo que estaría bien que…»</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Preguntar si es requisito o sugerencia. Casi siempre es sugerencia.</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450592"/>
            <a:ext cx="11094415" cy="2779776"/>
          </a:xfrm>
          <a:prstGeom prst="rect">
            <a:avLst/>
          </a:prstGeom>
          <a:ln w="22225">
            <a:solidFill>
              <a:srgbClr val="0F0F11"/>
            </a:solidFill>
            <a:prstDash val="solid"/>
          </a:ln>
        </p:spPr>
      </p:sp>
      <p:sp>
        <p:nvSpPr>
          <p:cNvPr id="11" name="Shape 7"/>
          <p:cNvSpPr/>
          <p:nvPr/>
        </p:nvSpPr>
        <p:spPr>
          <a:xfrm>
            <a:off x="566928" y="5440680"/>
            <a:ext cx="11057839" cy="8686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2" name="Image 1" descr="preencoded.png">    </p:cNvPr>
          <p:cNvPicPr>
            <a:picLocks noChangeAspect="1"/>
          </p:cNvPicPr>
          <p:nvPr/>
        </p:nvPicPr>
        <p:blipFill>
          <a:blip r:embed="rId2"/>
          <a:stretch>
            <a:fillRect/>
          </a:stretch>
        </p:blipFill>
        <p:spPr>
          <a:xfrm>
            <a:off x="804672" y="5660136"/>
            <a:ext cx="237744" cy="237744"/>
          </a:xfrm>
          <a:prstGeom prst="rect">
            <a:avLst/>
          </a:prstGeom>
        </p:spPr>
      </p:pic>
      <p:sp>
        <p:nvSpPr>
          <p:cNvPr id="13" name="Text 8"/>
          <p:cNvSpPr/>
          <p:nvPr/>
        </p:nvSpPr>
        <p:spPr>
          <a:xfrm>
            <a:off x="1133856" y="56327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REGLA DE UNA LÍNEA</a:t>
            </a:r>
            <a:endParaRPr lang="en-US" sz="950" dirty="0"/>
          </a:p>
        </p:txBody>
      </p:sp>
      <p:sp>
        <p:nvSpPr>
          <p:cNvPr id="14" name="Text 9"/>
          <p:cNvSpPr/>
          <p:nvPr/>
        </p:nvSpPr>
        <p:spPr>
          <a:xfrm>
            <a:off x="804672" y="5916168"/>
            <a:ext cx="10582351" cy="365760"/>
          </a:xfrm>
          <a:prstGeom prst="rect">
            <a:avLst/>
          </a:prstGeom>
          <a:noFill/>
          <a:ln/>
        </p:spPr>
        <p:txBody>
          <a:bodyPr wrap="square" lIns="0" tIns="0" rIns="0" bIns="0" rtlCol="0" anchor="ctr"/>
          <a:lstStyle/>
          <a:p>
            <a:pPr indent="0" marL="0">
              <a:buNone/>
            </a:pPr>
            <a:r>
              <a:rPr lang="en-US" sz="1500" dirty="0">
                <a:solidFill>
                  <a:srgbClr val="0F0F11"/>
                </a:solidFill>
                <a:latin typeface="Arial Black" pitchFamily="34" charset="0"/>
                <a:ea typeface="Arial Black" pitchFamily="34" charset="-122"/>
                <a:cs typeface="Arial Black" pitchFamily="34" charset="-120"/>
              </a:rPr>
              <a:t>Si entra algo nuevo, sale algo. El presupuesto de esfuerzo no crece porque aparezca una buena idea.</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B</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HONESTIDAD METODOLÓGICA</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QUÉ APLICA Y QUÉ NO</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Estas disciplinas están pensadas para equipos grandes y proyectos largos. No todo se traslada.</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LO QUE SÍ SE TRASLADA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LO QUE SÍ VALE LA PENA EN UN SEMESTRE</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23</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2743200"/>
                <a:gridCol w="4023360"/>
                <a:gridCol w="42912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 DÓNDE VIENE</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SE USA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PARA QUÉ SIRVE AQUÍ</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92811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Diseño (design thinking)</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Doble diamante · punto de vista · «¿cómo podríamos?»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Impide llegar con la solución hecha y no haber mirado el problema.</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92811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Gestión de proyectos</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Enunciado de alcance · lista de exclusiones · supuestos y restricciones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Convierte «vamos a hacer una app» en algo que se puede terminar y defender.</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92811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Ingeniería de software</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Historias con criterios de aceptación · corte vertical · definición de terminado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Hace que «terminado» signifique lo mismo para todos y que se pueda comprobar.</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92811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Gestión de riesgos</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Atacar primero lo más incierto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Descubrir en la semana tres, no en la quince, si la tesis no se sostiene.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64792"/>
            <a:ext cx="11094415" cy="4059936"/>
          </a:xfrm>
          <a:prstGeom prst="rect">
            <a:avLst/>
          </a:prstGeom>
          <a:ln w="22225">
            <a:solidFill>
              <a:srgbClr val="0F0F11"/>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B.2 · LO QUE NO SE TRASLADA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LO QUE NO VALE LA PENA AQUÍ</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24</a:t>
            </a:r>
            <a:endParaRPr lang="en-US" sz="900" dirty="0"/>
          </a:p>
        </p:txBody>
      </p:sp>
      <p:sp>
        <p:nvSpPr>
          <p:cNvPr id="8" name="Text 5"/>
          <p:cNvSpPr/>
          <p:nvPr/>
        </p:nvSpPr>
        <p:spPr>
          <a:xfrm>
            <a:off x="566928" y="1719072"/>
            <a:ext cx="11057839" cy="384048"/>
          </a:xfrm>
          <a:prstGeom prst="rect">
            <a:avLst/>
          </a:prstGeom>
          <a:noFill/>
          <a:ln/>
        </p:spPr>
        <p:txBody>
          <a:bodyPr wrap="square" lIns="0" tIns="0" rIns="0" bIns="0" rtlCol="0" anchor="t"/>
          <a:lstStyle/>
          <a:p>
            <a:pPr indent="0" marL="0">
              <a:lnSpc>
                <a:spcPct val="124000"/>
              </a:lnSpc>
              <a:buNone/>
            </a:pPr>
            <a:r>
              <a:rPr lang="en-US" sz="1350" dirty="0">
                <a:solidFill>
                  <a:srgbClr val="6F6B80"/>
                </a:solidFill>
                <a:latin typeface="Arial" pitchFamily="34" charset="0"/>
                <a:ea typeface="Arial" pitchFamily="34" charset="-122"/>
                <a:cs typeface="Arial" pitchFamily="34" charset="-120"/>
              </a:rPr>
              <a:t>Decirlo evita que gasten tiempo en ceremonias que no les devuelven nada a esta escala.</a:t>
            </a:r>
            <a:endParaRPr lang="en-US" sz="13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657600"/>
                <a:gridCol w="74002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POR QUÉ NO, Y QUÉ HACER EN SU LUGAR</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6934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Scrum completo con ceremonias</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Tres personas y dieciséis semanas no necesitan cuatro reuniones por sprint. Un tablero con tres columnas y una reunión semanal de treinta minutos.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6934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Estimación en puntos de historia</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Sin histórico propio, los puntos son horas disfrazadas. Tallas relativas —pequeña, mediana, grande— y un presupuesto total que no se excede.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6934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Documentación UML exhaustiva</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Nadie la lee ni la mantiene. Un diagrama de contexto y uno de secuencia del flujo crítico. Nada más.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6934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Investigación de usuarios formal</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 hay tiempo ni acceso. Cinco conversaciones dirigidas de veinte minutos rinden casi lo mismo para este alcance.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6934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Arquitectura completa antes de codificar</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 decide sobre supuestos no comprobados. Corte vertical primero; la arquitectura emerge de lo que ya funciona.</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221992"/>
            <a:ext cx="11094415" cy="3694176"/>
          </a:xfrm>
          <a:prstGeom prst="rect">
            <a:avLst/>
          </a:prstGeom>
          <a:ln w="22225">
            <a:solidFill>
              <a:srgbClr val="0F0F11"/>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C</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EL CASO COMPLETO</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EL ALCANCE DE NUESTRO PROYECTO</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Todo lo anterior, aplicado. Con el porqué de cada recorte, y lo que cada recorte costó.</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C.1 · EL ALCANCE, DE UN VISTAZO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DENTRO Y FUERA</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26</a:t>
            </a:r>
            <a:endParaRPr lang="en-US" sz="900" dirty="0"/>
          </a:p>
        </p:txBody>
      </p:sp>
      <p:sp>
        <p:nvSpPr>
          <p:cNvPr id="8" name="Text 5"/>
          <p:cNvSpPr/>
          <p:nvPr/>
        </p:nvSpPr>
        <p:spPr>
          <a:xfrm>
            <a:off x="566928" y="1719072"/>
            <a:ext cx="1105783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Cinco historias dentro, todo lo demás fuera. Esta lámina es el contrato conmigo mismo: lo que esté a la izquierda se termina, lo que esté a la derecha no se toca.</a:t>
            </a:r>
            <a:endParaRPr lang="en-US" sz="1350" dirty="0"/>
          </a:p>
        </p:txBody>
      </p:sp>
      <p:sp>
        <p:nvSpPr>
          <p:cNvPr id="9" name="Shape 6"/>
          <p:cNvSpPr/>
          <p:nvPr/>
        </p:nvSpPr>
        <p:spPr>
          <a:xfrm>
            <a:off x="566928" y="2286000"/>
            <a:ext cx="5419192" cy="301752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0" name="Text 7"/>
          <p:cNvSpPr/>
          <p:nvPr/>
        </p:nvSpPr>
        <p:spPr>
          <a:xfrm>
            <a:off x="841248" y="2487168"/>
            <a:ext cx="4114800" cy="292608"/>
          </a:xfrm>
          <a:prstGeom prst="rect">
            <a:avLst/>
          </a:prstGeom>
          <a:noFill/>
          <a:ln/>
        </p:spPr>
        <p:txBody>
          <a:bodyPr wrap="square" lIns="0" tIns="0" rIns="0" bIns="0" rtlCol="0" anchor="ctr"/>
          <a:lstStyle/>
          <a:p>
            <a:pPr indent="0" marL="0">
              <a:buNone/>
            </a:pPr>
            <a:r>
              <a:rPr lang="en-US" sz="1050" b="1" spc="120" kern="0" dirty="0">
                <a:solidFill>
                  <a:srgbClr val="5638C9"/>
                </a:solidFill>
                <a:latin typeface="Courier New" pitchFamily="34" charset="0"/>
                <a:ea typeface="Courier New" pitchFamily="34" charset="-122"/>
                <a:cs typeface="Courier New" pitchFamily="34" charset="-120"/>
              </a:rPr>
              <a:t>DENTRO · se termina</a:t>
            </a:r>
            <a:endParaRPr lang="en-US" sz="1050" dirty="0"/>
          </a:p>
        </p:txBody>
      </p:sp>
      <p:sp>
        <p:nvSpPr>
          <p:cNvPr id="11" name="Text 8"/>
          <p:cNvSpPr/>
          <p:nvPr/>
        </p:nvSpPr>
        <p:spPr>
          <a:xfrm>
            <a:off x="841248" y="2852928"/>
            <a:ext cx="4870552" cy="2331720"/>
          </a:xfrm>
          <a:prstGeom prst="rect">
            <a:avLst/>
          </a:prstGeom>
          <a:noFill/>
          <a:ln/>
        </p:spPr>
        <p:txBody>
          <a:bodyPr wrap="square" lIns="0" tIns="0" rIns="0" bIns="0" rtlCol="0" anchor="t"/>
          <a:lstStyle/>
          <a:p>
            <a:pPr marL="203200" indent="-203200">
              <a:lnSpc>
                <a:spcPct val="118000"/>
              </a:lnSpc>
              <a:spcAft>
                <a:spcPts val="400"/>
              </a:spcAft>
              <a:buSzPct val="100000"/>
              <a:buChar char="■"/>
            </a:pPr>
            <a:r>
              <a:rPr lang="en-US" sz="1250" dirty="0">
                <a:solidFill>
                  <a:srgbClr val="3A3844"/>
                </a:solidFill>
                <a:latin typeface="Arial" pitchFamily="34" charset="0"/>
                <a:ea typeface="Arial" pitchFamily="34" charset="-122"/>
                <a:cs typeface="Arial" pitchFamily="34" charset="-120"/>
              </a:rPr>
              <a:t>Emitir un lote con aforo fijo.</a:t>
            </a:r>
            <a:endParaRPr lang="en-US" sz="1250" dirty="0"/>
          </a:p>
          <a:p>
            <a:pPr marL="203200" indent="-203200">
              <a:lnSpc>
                <a:spcPct val="118000"/>
              </a:lnSpc>
              <a:spcAft>
                <a:spcPts val="400"/>
              </a:spcAft>
              <a:buSzPct val="100000"/>
              <a:buChar char="■"/>
            </a:pPr>
            <a:r>
              <a:rPr lang="en-US" sz="1250" dirty="0">
                <a:solidFill>
                  <a:srgbClr val="3A3844"/>
                </a:solidFill>
                <a:latin typeface="Arial" pitchFamily="34" charset="0"/>
                <a:ea typeface="Arial" pitchFamily="34" charset="-122"/>
                <a:cs typeface="Arial" pitchFamily="34" charset="-120"/>
              </a:rPr>
              <a:t>Comprar una entrada del lote original.</a:t>
            </a:r>
            <a:endParaRPr lang="en-US" sz="1250" dirty="0"/>
          </a:p>
          <a:p>
            <a:pPr marL="203200" indent="-203200">
              <a:lnSpc>
                <a:spcPct val="118000"/>
              </a:lnSpc>
              <a:spcAft>
                <a:spcPts val="400"/>
              </a:spcAft>
              <a:buSzPct val="100000"/>
              <a:buChar char="■"/>
            </a:pPr>
            <a:r>
              <a:rPr lang="en-US" sz="1250" dirty="0">
                <a:solidFill>
                  <a:srgbClr val="3A3844"/>
                </a:solidFill>
                <a:latin typeface="Arial" pitchFamily="34" charset="0"/>
                <a:ea typeface="Arial" pitchFamily="34" charset="-122"/>
                <a:cs typeface="Arial" pitchFamily="34" charset="-120"/>
              </a:rPr>
              <a:t>Ponerla en venta, dentro del tope.</a:t>
            </a:r>
            <a:endParaRPr lang="en-US" sz="1250" dirty="0"/>
          </a:p>
          <a:p>
            <a:pPr marL="203200" indent="-203200">
              <a:lnSpc>
                <a:spcPct val="118000"/>
              </a:lnSpc>
              <a:spcAft>
                <a:spcPts val="400"/>
              </a:spcAft>
              <a:buSzPct val="100000"/>
              <a:buChar char="■"/>
            </a:pPr>
            <a:r>
              <a:rPr lang="en-US" sz="1250" dirty="0">
                <a:solidFill>
                  <a:srgbClr val="3A3844"/>
                </a:solidFill>
                <a:latin typeface="Arial" pitchFamily="34" charset="0"/>
                <a:ea typeface="Arial" pitchFamily="34" charset="-122"/>
                <a:cs typeface="Arial" pitchFamily="34" charset="-120"/>
              </a:rPr>
              <a:t>Comprarla en reventa.</a:t>
            </a:r>
            <a:endParaRPr lang="en-US" sz="1250" dirty="0"/>
          </a:p>
          <a:p>
            <a:pPr marL="203200" indent="-203200">
              <a:lnSpc>
                <a:spcPct val="118000"/>
              </a:lnSpc>
              <a:spcAft>
                <a:spcPts val="400"/>
              </a:spcAft>
              <a:buSzPct val="100000"/>
              <a:buChar char="■"/>
            </a:pPr>
            <a:r>
              <a:rPr lang="en-US" sz="1250" dirty="0">
                <a:solidFill>
                  <a:srgbClr val="3A3844"/>
                </a:solidFill>
                <a:latin typeface="Arial" pitchFamily="34" charset="0"/>
                <a:ea typeface="Arial" pitchFamily="34" charset="-122"/>
                <a:cs typeface="Arial" pitchFamily="34" charset="-120"/>
              </a:rPr>
              <a:t>Validar en puerta que quien llega es el dueño.</a:t>
            </a:r>
            <a:endParaRPr lang="en-US" sz="1250" dirty="0"/>
          </a:p>
          <a:p>
            <a:pPr marL="203200" indent="-203200">
              <a:lnSpc>
                <a:spcPct val="118000"/>
              </a:lnSpc>
              <a:spcAft>
                <a:spcPts val="400"/>
              </a:spcAft>
              <a:buSzPct val="100000"/>
              <a:buChar char="■"/>
            </a:pPr>
            <a:r>
              <a:rPr lang="en-US" sz="1250" dirty="0">
                <a:solidFill>
                  <a:srgbClr val="3A3844"/>
                </a:solidFill>
                <a:latin typeface="Arial" pitchFamily="34" charset="0"/>
                <a:ea typeface="Arial" pitchFamily="34" charset="-122"/>
                <a:cs typeface="Arial" pitchFamily="34" charset="-120"/>
              </a:rPr>
              <a:t>Que el organizador retire lo recaudado.</a:t>
            </a:r>
            <a:endParaRPr lang="en-US" sz="1250" dirty="0"/>
          </a:p>
        </p:txBody>
      </p:sp>
      <p:sp>
        <p:nvSpPr>
          <p:cNvPr id="12" name="Shape 9"/>
          <p:cNvSpPr/>
          <p:nvPr/>
        </p:nvSpPr>
        <p:spPr>
          <a:xfrm>
            <a:off x="6205576" y="2286000"/>
            <a:ext cx="5419192" cy="3017520"/>
          </a:xfrm>
          <a:prstGeom prst="rect">
            <a:avLst/>
          </a:prstGeom>
          <a:solidFill>
            <a:srgbClr val="FAF9FB"/>
          </a:solidFill>
          <a:ln w="22225">
            <a:solidFill>
              <a:srgbClr val="0F0F11"/>
            </a:solidFill>
            <a:prstDash val="solid"/>
          </a:ln>
        </p:spPr>
      </p:sp>
      <p:sp>
        <p:nvSpPr>
          <p:cNvPr id="13" name="Text 10"/>
          <p:cNvSpPr/>
          <p:nvPr/>
        </p:nvSpPr>
        <p:spPr>
          <a:xfrm>
            <a:off x="6479896" y="2487168"/>
            <a:ext cx="4114800" cy="292608"/>
          </a:xfrm>
          <a:prstGeom prst="rect">
            <a:avLst/>
          </a:prstGeom>
          <a:noFill/>
          <a:ln/>
        </p:spPr>
        <p:txBody>
          <a:bodyPr wrap="square" lIns="0" tIns="0" rIns="0" bIns="0" rtlCol="0" anchor="ctr"/>
          <a:lstStyle/>
          <a:p>
            <a:pPr indent="0" marL="0">
              <a:buNone/>
            </a:pPr>
            <a:r>
              <a:rPr lang="en-US" sz="1050" b="1" spc="120" kern="0" dirty="0">
                <a:solidFill>
                  <a:srgbClr val="6F6B80"/>
                </a:solidFill>
                <a:latin typeface="Courier New" pitchFamily="34" charset="0"/>
                <a:ea typeface="Courier New" pitchFamily="34" charset="-122"/>
                <a:cs typeface="Courier New" pitchFamily="34" charset="-120"/>
              </a:rPr>
              <a:t>FUERA · ni se empieza</a:t>
            </a:r>
            <a:endParaRPr lang="en-US" sz="1050" dirty="0"/>
          </a:p>
        </p:txBody>
      </p:sp>
      <p:sp>
        <p:nvSpPr>
          <p:cNvPr id="14" name="Text 11"/>
          <p:cNvSpPr/>
          <p:nvPr/>
        </p:nvSpPr>
        <p:spPr>
          <a:xfrm>
            <a:off x="6479896" y="2852928"/>
            <a:ext cx="4870552" cy="2331720"/>
          </a:xfrm>
          <a:prstGeom prst="rect">
            <a:avLst/>
          </a:prstGeom>
          <a:noFill/>
          <a:ln/>
        </p:spPr>
        <p:txBody>
          <a:bodyPr wrap="square" lIns="0" tIns="0" rIns="0" bIns="0" rtlCol="0" anchor="t"/>
          <a:lstStyle/>
          <a:p>
            <a:pPr marL="203200" indent="-203200">
              <a:lnSpc>
                <a:spcPct val="118000"/>
              </a:lnSpc>
              <a:spcAft>
                <a:spcPts val="400"/>
              </a:spcAft>
              <a:buSzPct val="100000"/>
              <a:buChar char="■"/>
            </a:pPr>
            <a:r>
              <a:rPr lang="en-US" sz="1250" dirty="0">
                <a:solidFill>
                  <a:srgbClr val="6F6B80"/>
                </a:solidFill>
                <a:latin typeface="Arial" pitchFamily="34" charset="0"/>
                <a:ea typeface="Arial" pitchFamily="34" charset="-122"/>
                <a:cs typeface="Arial" pitchFamily="34" charset="-120"/>
              </a:rPr>
              <a:t>Pago con dinero real.</a:t>
            </a:r>
            <a:endParaRPr lang="en-US" sz="1250" dirty="0"/>
          </a:p>
          <a:p>
            <a:pPr marL="203200" indent="-203200">
              <a:lnSpc>
                <a:spcPct val="118000"/>
              </a:lnSpc>
              <a:spcAft>
                <a:spcPts val="400"/>
              </a:spcAft>
              <a:buSzPct val="100000"/>
              <a:buChar char="■"/>
            </a:pPr>
            <a:r>
              <a:rPr lang="en-US" sz="1250" dirty="0">
                <a:solidFill>
                  <a:srgbClr val="6F6B80"/>
                </a:solidFill>
                <a:latin typeface="Arial" pitchFamily="34" charset="0"/>
                <a:ea typeface="Arial" pitchFamily="34" charset="-122"/>
                <a:cs typeface="Arial" pitchFamily="34" charset="-120"/>
              </a:rPr>
              <a:t>Aplicación móvil nativa.</a:t>
            </a:r>
            <a:endParaRPr lang="en-US" sz="1250" dirty="0"/>
          </a:p>
          <a:p>
            <a:pPr marL="203200" indent="-203200">
              <a:lnSpc>
                <a:spcPct val="118000"/>
              </a:lnSpc>
              <a:spcAft>
                <a:spcPts val="400"/>
              </a:spcAft>
              <a:buSzPct val="100000"/>
              <a:buChar char="■"/>
            </a:pPr>
            <a:r>
              <a:rPr lang="en-US" sz="1250" dirty="0">
                <a:solidFill>
                  <a:srgbClr val="6F6B80"/>
                </a:solidFill>
                <a:latin typeface="Arial" pitchFamily="34" charset="0"/>
                <a:ea typeface="Arial" pitchFamily="34" charset="-122"/>
                <a:cs typeface="Arial" pitchFamily="34" charset="-120"/>
              </a:rPr>
              <a:t>Diseño gráfico elaborado.</a:t>
            </a:r>
            <a:endParaRPr lang="en-US" sz="1250" dirty="0"/>
          </a:p>
          <a:p>
            <a:pPr marL="203200" indent="-203200">
              <a:lnSpc>
                <a:spcPct val="118000"/>
              </a:lnSpc>
              <a:spcAft>
                <a:spcPts val="400"/>
              </a:spcAft>
              <a:buSzPct val="100000"/>
              <a:buChar char="■"/>
            </a:pPr>
            <a:r>
              <a:rPr lang="en-US" sz="1250" dirty="0">
                <a:solidFill>
                  <a:srgbClr val="6F6B80"/>
                </a:solidFill>
                <a:latin typeface="Arial" pitchFamily="34" charset="0"/>
                <a:ea typeface="Arial" pitchFamily="34" charset="-122"/>
                <a:cs typeface="Arial" pitchFamily="34" charset="-120"/>
              </a:rPr>
              <a:t>Categorías de entrada y mapa de asientos.</a:t>
            </a:r>
            <a:endParaRPr lang="en-US" sz="1250" dirty="0"/>
          </a:p>
          <a:p>
            <a:pPr marL="203200" indent="-203200">
              <a:lnSpc>
                <a:spcPct val="118000"/>
              </a:lnSpc>
              <a:spcAft>
                <a:spcPts val="400"/>
              </a:spcAft>
              <a:buSzPct val="100000"/>
              <a:buChar char="■"/>
            </a:pPr>
            <a:r>
              <a:rPr lang="en-US" sz="1250" dirty="0">
                <a:solidFill>
                  <a:srgbClr val="6F6B80"/>
                </a:solidFill>
                <a:latin typeface="Arial" pitchFamily="34" charset="0"/>
                <a:ea typeface="Arial" pitchFamily="34" charset="-122"/>
                <a:cs typeface="Arial" pitchFamily="34" charset="-120"/>
              </a:rPr>
              <a:t>Recuperación de cuentas.</a:t>
            </a:r>
            <a:endParaRPr lang="en-US" sz="1250" dirty="0"/>
          </a:p>
          <a:p>
            <a:pPr marL="203200" indent="-203200">
              <a:lnSpc>
                <a:spcPct val="118000"/>
              </a:lnSpc>
              <a:spcAft>
                <a:spcPts val="400"/>
              </a:spcAft>
              <a:buSzPct val="100000"/>
              <a:buChar char="■"/>
            </a:pPr>
            <a:r>
              <a:rPr lang="en-US" sz="1250" dirty="0">
                <a:solidFill>
                  <a:srgbClr val="6F6B80"/>
                </a:solidFill>
                <a:latin typeface="Arial" pitchFamily="34" charset="0"/>
                <a:ea typeface="Arial" pitchFamily="34" charset="-122"/>
                <a:cs typeface="Arial" pitchFamily="34" charset="-120"/>
              </a:rPr>
              <a:t>Estadísticas para el organizador.</a:t>
            </a:r>
            <a:endParaRPr lang="en-US" sz="1250" dirty="0"/>
          </a:p>
        </p:txBody>
      </p:sp>
      <p:sp>
        <p:nvSpPr>
          <p:cNvPr id="15" name="Shape 12"/>
          <p:cNvSpPr/>
          <p:nvPr/>
        </p:nvSpPr>
        <p:spPr>
          <a:xfrm>
            <a:off x="566928" y="5440680"/>
            <a:ext cx="11057839" cy="82296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6" name="Image 1" descr="preencoded.png">    </p:cNvPr>
          <p:cNvPicPr>
            <a:picLocks noChangeAspect="1"/>
          </p:cNvPicPr>
          <p:nvPr/>
        </p:nvPicPr>
        <p:blipFill>
          <a:blip r:embed="rId2"/>
          <a:stretch>
            <a:fillRect/>
          </a:stretch>
        </p:blipFill>
        <p:spPr>
          <a:xfrm>
            <a:off x="804672" y="5660136"/>
            <a:ext cx="237744" cy="237744"/>
          </a:xfrm>
          <a:prstGeom prst="rect">
            <a:avLst/>
          </a:prstGeom>
        </p:spPr>
      </p:pic>
      <p:sp>
        <p:nvSpPr>
          <p:cNvPr id="17" name="Text 13"/>
          <p:cNvSpPr/>
          <p:nvPr/>
        </p:nvSpPr>
        <p:spPr>
          <a:xfrm>
            <a:off x="1133856" y="56327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PRUEBA DE QUE ESTÁ ACOTADO</a:t>
            </a:r>
            <a:endParaRPr lang="en-US" sz="950" dirty="0"/>
          </a:p>
        </p:txBody>
      </p:sp>
      <p:sp>
        <p:nvSpPr>
          <p:cNvPr id="18" name="Text 14"/>
          <p:cNvSpPr/>
          <p:nvPr/>
        </p:nvSpPr>
        <p:spPr>
          <a:xfrm>
            <a:off x="804672" y="5879592"/>
            <a:ext cx="10582351" cy="365760"/>
          </a:xfrm>
          <a:prstGeom prst="rect">
            <a:avLst/>
          </a:prstGeom>
          <a:noFill/>
          <a:ln/>
        </p:spPr>
        <p:txBody>
          <a:bodyPr wrap="square" lIns="0" tIns="0" rIns="0" bIns="0" rtlCol="0" anchor="ctr"/>
          <a:lstStyle/>
          <a:p>
            <a:pPr indent="0" marL="0">
              <a:buNone/>
            </a:pPr>
            <a:r>
              <a:rPr lang="en-US" sz="1500" dirty="0">
                <a:solidFill>
                  <a:srgbClr val="0F0F11"/>
                </a:solidFill>
                <a:latin typeface="Arial Black" pitchFamily="34" charset="0"/>
                <a:ea typeface="Arial Black" pitchFamily="34" charset="-122"/>
                <a:cs typeface="Arial Black" pitchFamily="34" charset="-120"/>
              </a:rPr>
              <a:t>Cabe en una lámina. Si no cupiera, todavía no estaría decidido.</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C.2 · LAS DECISIONES Y SU PORQUÉ · 1 DE 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SOBRE LA REGLA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27</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3017520"/>
                <a:gridCol w="4297680"/>
                <a:gridCol w="37426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DECISIÓN</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POR QUÉ</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DESCARTÉ</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132892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Poner un TOPE a la reventa, no prohibirla</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Prohibir castiga a quien de verdad no puede ir y empuja la venta a un canal donde nadie protege a nadie. El tope conserva el uso legítimo y mata el especulativo.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entrada intransferible. Es hostil con el usuario honesto y no resuelve nada que el tope no resuelva.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132892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BLOQUEAR la transferencia directa</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Es lo único que hace real el tope. Si la entrada se puede mover por fuera, la regla vuelve a ser una promesa.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Cobrar un porcentaje por cada transferencia. No pone techo al precio: solo lo grava, y el revendedor lo traslada al comprador.</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132892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CERRAR la reventa antes del evento</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Es lo que permite que la puerta funcione sin conexión: se descarga la lista de dueños y ya no cambia.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Reventa abierta hasta el último minuto. Obligaría a consultar la cadena en vivo, justo donde peor señal hay.</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64792"/>
            <a:ext cx="11094415" cy="4334256"/>
          </a:xfrm>
          <a:prstGeom prst="rect">
            <a:avLst/>
          </a:prstGeom>
          <a:ln w="22225">
            <a:solidFill>
              <a:srgbClr val="0F0F11"/>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C.3 · LAS DECISIONES Y SU PORQUÉ · 2 DE 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SOBRE LA CONSTRUCCIÓN</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28</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3017520"/>
                <a:gridCol w="4297680"/>
                <a:gridCol w="37426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DECISIÓN</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POR QUÉ</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DESCARTÉ</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1042416">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Validar en puerta con RETO Y RESPUESTA</a:t>
                      </a:r>
                      <a:endParaRPr lang="en-US" sz="10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Un código fijo en pantalla se toma en pantallazo y se reenvía. Firmar un número que cambia cada vez lo vuelve inútil.</a:t>
                      </a:r>
                      <a:endParaRPr lang="en-US" sz="10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El QR estático con el número de entrada. Es lo más fácil de construir y lo primero que se rompe.</a:t>
                      </a:r>
                      <a:endParaRPr lang="en-US" sz="10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1042416">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Marcar la entrada como usada FUERA de la cadena</a:t>
                      </a:r>
                      <a:endParaRPr lang="en-US" sz="10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Registrarlo en cadena obliga a la fila a esperar una confirmación. La firma queda igual como evidencia de quién entró.</a:t>
                      </a:r>
                      <a:endParaRPr lang="en-US" sz="10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Marcarla en cadena en la puerta. Queda en el contrato para poder mostrar el intercambio, pero no es el camino normal.</a:t>
                      </a:r>
                      <a:endParaRPr lang="en-US" sz="10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1042416">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DOS interfaces separadas, no una con roles</a:t>
                      </a:r>
                      <a:endParaRPr lang="en-US" sz="10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El dispositivo de la puerta se presta, se pierde y lo manejan varias personas en una noche. Si además firmara, sería el punto más débil.</a:t>
                      </a:r>
                      <a:endParaRPr lang="en-US" sz="10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Una sola aplicación con permisos. Más cómoda de construir y mucho peor de defender.</a:t>
                      </a:r>
                      <a:endParaRPr lang="en-US" sz="10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1042416">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Patrón de RETIRO en lugar de enviar el dinero</a:t>
                      </a:r>
                      <a:endParaRPr lang="en-US" sz="10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Si el destinatario rechaza el envío, la venta entera fallaría. Y quita un camino de reentrada.</a:t>
                      </a:r>
                      <a:endParaRPr lang="en-US" sz="10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Transferir al vendedor dentro de la misma operación. Un paso menos para el usuario, un riesgo más para todos.</a:t>
                      </a:r>
                      <a:endParaRPr lang="en-US" sz="10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64792"/>
            <a:ext cx="11094415" cy="4517136"/>
          </a:xfrm>
          <a:prstGeom prst="rect">
            <a:avLst/>
          </a:prstGeom>
          <a:ln w="22225">
            <a:solidFill>
              <a:srgbClr val="0F0F11"/>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C.4 · LO QUE ACEPTÉ PERDER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LOS INTERCAMBIOS, DICHOS EN VOZ ALTA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29</a:t>
            </a:r>
            <a:endParaRPr lang="en-US" sz="900" dirty="0"/>
          </a:p>
        </p:txBody>
      </p:sp>
      <p:sp>
        <p:nvSpPr>
          <p:cNvPr id="8" name="Text 5"/>
          <p:cNvSpPr/>
          <p:nvPr/>
        </p:nvSpPr>
        <p:spPr>
          <a:xfrm>
            <a:off x="566928" y="1719072"/>
            <a:ext cx="11057839"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Ninguna decisión es gratis. Estas son las facturas que este alcance deja sin pagar, y las asumo a sabiendas.</a:t>
            </a:r>
            <a:endParaRPr lang="en-US" sz="1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11057839" cy="914400"/>
        </p:xfrm>
        <a:graphic>
          <a:graphicData uri="http://schemas.openxmlformats.org/drawingml/2006/table">
            <a:tbl>
              <a:tblPr/>
              <a:tblGrid>
                <a:gridCol w="4937760"/>
                <a:gridCol w="61200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GANO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CUESTA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9618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La regla se cumple sola, sin depender de nadie.</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Quien no tiene billetera no puede comprar. Es la mayoría del público real.</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9618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Nadie puede revender por encima del tope.</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Quien pierde su billetera pierde la entrada. No hay «olvidé mi contraseña».</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9618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La puerta funciona sin conexión.</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Nadie puede vender su entrada en las últimas horas, que es cuando más falta hace.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9618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Todo movimiento queda registrado y es auditable.</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tope es público. El organizador pierde margen de maniobra comercial.</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9618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El organizador no puede alterar el registro.</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Tampoco puede corregir un error de emisión. La inmutabilidad corta para los dos lados.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267712"/>
            <a:ext cx="11094415" cy="3328416"/>
          </a:xfrm>
          <a:prstGeom prst="rect">
            <a:avLst/>
          </a:prstGeom>
          <a:ln w="22225">
            <a:solidFill>
              <a:srgbClr val="0F0F11"/>
            </a:solidFill>
            <a:prstDash val="solid"/>
          </a:ln>
        </p:spPr>
      </p:sp>
      <p:sp>
        <p:nvSpPr>
          <p:cNvPr id="11" name="Shape 7"/>
          <p:cNvSpPr/>
          <p:nvPr/>
        </p:nvSpPr>
        <p:spPr>
          <a:xfrm>
            <a:off x="566928" y="5669280"/>
            <a:ext cx="11057839" cy="9601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2" name="Image 1" descr="preencoded.png">    </p:cNvPr>
          <p:cNvPicPr>
            <a:picLocks noChangeAspect="1"/>
          </p:cNvPicPr>
          <p:nvPr/>
        </p:nvPicPr>
        <p:blipFill>
          <a:blip r:embed="rId2"/>
          <a:stretch>
            <a:fillRect/>
          </a:stretch>
        </p:blipFill>
        <p:spPr>
          <a:xfrm>
            <a:off x="804672" y="5888736"/>
            <a:ext cx="237744" cy="237744"/>
          </a:xfrm>
          <a:prstGeom prst="rect">
            <a:avLst/>
          </a:prstGeom>
        </p:spPr>
      </p:pic>
      <p:sp>
        <p:nvSpPr>
          <p:cNvPr id="13" name="Text 8"/>
          <p:cNvSpPr/>
          <p:nvPr/>
        </p:nvSpPr>
        <p:spPr>
          <a:xfrm>
            <a:off x="1133856" y="58613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LO QUE SE PREGUNTA EN LA SUSTENTACIÓN</a:t>
            </a:r>
            <a:endParaRPr lang="en-US" sz="950" dirty="0"/>
          </a:p>
        </p:txBody>
      </p:sp>
      <p:sp>
        <p:nvSpPr>
          <p:cNvPr id="14" name="Text 9"/>
          <p:cNvSpPr/>
          <p:nvPr/>
        </p:nvSpPr>
        <p:spPr>
          <a:xfrm>
            <a:off x="804672" y="6181344"/>
            <a:ext cx="10582351" cy="4114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Esta lámina, o su equivalente. Un equipo que solo puede llenar la columna izquierda no ha terminado de decidir: todavía está deseando.</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CIERRE · DÓNDE VA EL PROYECTO DEL DOCENTE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LO QUE YA EXISTE</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30</a:t>
            </a:r>
            <a:endParaRPr lang="en-US" sz="900" dirty="0"/>
          </a:p>
        </p:txBody>
      </p:sp>
      <p:sp>
        <p:nvSpPr>
          <p:cNvPr id="8" name="Text 5"/>
          <p:cNvSpPr/>
          <p:nvPr/>
        </p:nvSpPr>
        <p:spPr>
          <a:xfrm>
            <a:off x="566928" y="1737360"/>
            <a:ext cx="11057839" cy="4114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El alcance está acotado y el riesgo principal, atacado. Esto es lo que hay hoy:</a:t>
            </a:r>
            <a:endParaRPr lang="en-US" sz="1400" dirty="0"/>
          </a:p>
        </p:txBody>
      </p:sp>
      <p:sp>
        <p:nvSpPr>
          <p:cNvPr id="9" name="Shape 6"/>
          <p:cNvSpPr/>
          <p:nvPr/>
        </p:nvSpPr>
        <p:spPr>
          <a:xfrm>
            <a:off x="566928" y="2286000"/>
            <a:ext cx="3520440" cy="146304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Text 7"/>
          <p:cNvSpPr/>
          <p:nvPr/>
        </p:nvSpPr>
        <p:spPr>
          <a:xfrm>
            <a:off x="749808" y="2487168"/>
            <a:ext cx="3154680" cy="672998"/>
          </a:xfrm>
          <a:prstGeom prst="rect">
            <a:avLst/>
          </a:prstGeom>
          <a:noFill/>
          <a:ln/>
        </p:spPr>
        <p:txBody>
          <a:bodyPr wrap="square" lIns="0" tIns="0" rIns="0" bIns="0" rtlCol="0" anchor="ctr"/>
          <a:lstStyle/>
          <a:p>
            <a:pPr indent="0" marL="0">
              <a:buNone/>
            </a:pPr>
            <a:r>
              <a:rPr lang="en-US" sz="4400" dirty="0">
                <a:solidFill>
                  <a:srgbClr val="F07F06"/>
                </a:solidFill>
                <a:latin typeface="Arial Black" pitchFamily="34" charset="0"/>
                <a:ea typeface="Arial Black" pitchFamily="34" charset="-122"/>
                <a:cs typeface="Arial Black" pitchFamily="34" charset="-120"/>
              </a:rPr>
              <a:t>28</a:t>
            </a:r>
            <a:endParaRPr lang="en-US" sz="4400" dirty="0"/>
          </a:p>
        </p:txBody>
      </p:sp>
      <p:sp>
        <p:nvSpPr>
          <p:cNvPr id="11" name="Text 8"/>
          <p:cNvSpPr/>
          <p:nvPr/>
        </p:nvSpPr>
        <p:spPr>
          <a:xfrm>
            <a:off x="749808" y="3134563"/>
            <a:ext cx="3154680" cy="526694"/>
          </a:xfrm>
          <a:prstGeom prst="rect">
            <a:avLst/>
          </a:prstGeom>
          <a:noFill/>
          <a:ln/>
        </p:spPr>
        <p:txBody>
          <a:bodyPr wrap="square" lIns="0" tIns="0" rIns="0" bIns="0" rtlCol="0" anchor="t"/>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Pruebas automáticas, todas pasando. Dos de ellas son la tesis del proyecto.</a:t>
            </a:r>
            <a:endParaRPr lang="en-US" sz="1200" dirty="0"/>
          </a:p>
        </p:txBody>
      </p:sp>
      <p:sp>
        <p:nvSpPr>
          <p:cNvPr id="12" name="Shape 9"/>
          <p:cNvSpPr/>
          <p:nvPr/>
        </p:nvSpPr>
        <p:spPr>
          <a:xfrm>
            <a:off x="4334256" y="2286000"/>
            <a:ext cx="3520440" cy="146304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3" name="Text 10"/>
          <p:cNvSpPr/>
          <p:nvPr/>
        </p:nvSpPr>
        <p:spPr>
          <a:xfrm>
            <a:off x="4517136" y="2487168"/>
            <a:ext cx="3154680" cy="672998"/>
          </a:xfrm>
          <a:prstGeom prst="rect">
            <a:avLst/>
          </a:prstGeom>
          <a:noFill/>
          <a:ln/>
        </p:spPr>
        <p:txBody>
          <a:bodyPr wrap="square" lIns="0" tIns="0" rIns="0" bIns="0" rtlCol="0" anchor="ctr"/>
          <a:lstStyle/>
          <a:p>
            <a:pPr indent="0" marL="0">
              <a:buNone/>
            </a:pPr>
            <a:r>
              <a:rPr lang="en-US" sz="3400" dirty="0">
                <a:solidFill>
                  <a:srgbClr val="A35604"/>
                </a:solidFill>
                <a:latin typeface="Arial Black" pitchFamily="34" charset="0"/>
                <a:ea typeface="Arial Black" pitchFamily="34" charset="-122"/>
                <a:cs typeface="Arial Black" pitchFamily="34" charset="-120"/>
              </a:rPr>
              <a:t>7 995</a:t>
            </a:r>
            <a:endParaRPr lang="en-US" sz="3400" dirty="0"/>
          </a:p>
        </p:txBody>
      </p:sp>
      <p:sp>
        <p:nvSpPr>
          <p:cNvPr id="14" name="Text 11"/>
          <p:cNvSpPr/>
          <p:nvPr/>
        </p:nvSpPr>
        <p:spPr>
          <a:xfrm>
            <a:off x="4517136" y="3134563"/>
            <a:ext cx="3154680" cy="526694"/>
          </a:xfrm>
          <a:prstGeom prst="rect">
            <a:avLst/>
          </a:prstGeom>
          <a:noFill/>
          <a:ln/>
        </p:spPr>
        <p:txBody>
          <a:bodyPr wrap="square" lIns="0" tIns="0" rIns="0" bIns="0" rtlCol="0" anchor="t"/>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Bytes del contrato desplegado. El límite son 24 576.</a:t>
            </a:r>
            <a:endParaRPr lang="en-US" sz="1200" dirty="0"/>
          </a:p>
        </p:txBody>
      </p:sp>
      <p:sp>
        <p:nvSpPr>
          <p:cNvPr id="15" name="Shape 12"/>
          <p:cNvSpPr/>
          <p:nvPr/>
        </p:nvSpPr>
        <p:spPr>
          <a:xfrm>
            <a:off x="8101584" y="2286000"/>
            <a:ext cx="3520440" cy="146304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6" name="Text 13"/>
          <p:cNvSpPr/>
          <p:nvPr/>
        </p:nvSpPr>
        <p:spPr>
          <a:xfrm>
            <a:off x="8284464" y="2487168"/>
            <a:ext cx="3154680" cy="672998"/>
          </a:xfrm>
          <a:prstGeom prst="rect">
            <a:avLst/>
          </a:prstGeom>
          <a:noFill/>
          <a:ln/>
        </p:spPr>
        <p:txBody>
          <a:bodyPr wrap="square" lIns="0" tIns="0" rIns="0" bIns="0" rtlCol="0" anchor="ctr"/>
          <a:lstStyle/>
          <a:p>
            <a:pPr indent="0" marL="0">
              <a:buNone/>
            </a:pPr>
            <a:r>
              <a:rPr lang="en-US" sz="4400" dirty="0">
                <a:solidFill>
                  <a:srgbClr val="7152E9"/>
                </a:solidFill>
                <a:latin typeface="Arial Black" pitchFamily="34" charset="0"/>
                <a:ea typeface="Arial Black" pitchFamily="34" charset="-122"/>
                <a:cs typeface="Arial Black" pitchFamily="34" charset="-120"/>
              </a:rPr>
              <a:t>0</a:t>
            </a:r>
            <a:endParaRPr lang="en-US" sz="4400" dirty="0"/>
          </a:p>
        </p:txBody>
      </p:sp>
      <p:sp>
        <p:nvSpPr>
          <p:cNvPr id="17" name="Text 14"/>
          <p:cNvSpPr/>
          <p:nvPr/>
        </p:nvSpPr>
        <p:spPr>
          <a:xfrm>
            <a:off x="8284464" y="3134563"/>
            <a:ext cx="3154680" cy="526694"/>
          </a:xfrm>
          <a:prstGeom prst="rect">
            <a:avLst/>
          </a:prstGeom>
          <a:noFill/>
          <a:ln/>
        </p:spPr>
        <p:txBody>
          <a:bodyPr wrap="square" lIns="0" tIns="0" rIns="0" bIns="0" rtlCol="0" anchor="t"/>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Gas que cuesta validar en la puerta: es una consulta, no una transacción.</a:t>
            </a:r>
            <a:endParaRPr lang="en-US" sz="1200" dirty="0"/>
          </a:p>
        </p:txBody>
      </p:sp>
      <p:sp>
        <p:nvSpPr>
          <p:cNvPr id="18" name="Shape 15"/>
          <p:cNvSpPr/>
          <p:nvPr/>
        </p:nvSpPr>
        <p:spPr>
          <a:xfrm>
            <a:off x="566928" y="3931920"/>
            <a:ext cx="11057839" cy="1234440"/>
          </a:xfrm>
          <a:prstGeom prst="rect">
            <a:avLst/>
          </a:prstGeom>
          <a:solidFill>
            <a:srgbClr val="0F0F11"/>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9" name="Text 16"/>
          <p:cNvSpPr/>
          <p:nvPr/>
        </p:nvSpPr>
        <p:spPr>
          <a:xfrm>
            <a:off x="841248" y="4114800"/>
            <a:ext cx="10509199" cy="914400"/>
          </a:xfrm>
          <a:prstGeom prst="rect">
            <a:avLst/>
          </a:prstGeom>
          <a:noFill/>
          <a:ln/>
        </p:spPr>
        <p:txBody>
          <a:bodyPr wrap="square" lIns="0" tIns="0" rIns="0" bIns="0" rtlCol="0" anchor="t"/>
          <a:lstStyle/>
          <a:p>
            <a:pPr indent="0" marL="0">
              <a:lnSpc>
                <a:spcPct val="125000"/>
              </a:lnSpc>
              <a:buNone/>
            </a:pPr>
            <a:r>
              <a:rPr lang="en-US" sz="1250" dirty="0">
                <a:solidFill>
                  <a:srgbClr val="9A95A8"/>
                </a:solidFill>
                <a:latin typeface="Courier New" pitchFamily="34" charset="0"/>
                <a:ea typeface="Courier New" pitchFamily="34" charset="-122"/>
                <a:cs typeface="Courier New" pitchFamily="34" charset="-120"/>
              </a:rPr>
              <a:t>Entradas · transferencia directa
</a:t>
            </a:r>
            <a:pPr indent="0" marL="0">
              <a:lnSpc>
                <a:spcPct val="125000"/>
              </a:lnSpc>
              <a:buNone/>
            </a:pPr>
            <a:r>
              <a:rPr lang="en-US" sz="1250" dirty="0">
                <a:solidFill>
                  <a:srgbClr val="8FD98F"/>
                </a:solidFill>
                <a:latin typeface="Courier New" pitchFamily="34" charset="0"/>
                <a:ea typeface="Courier New" pitchFamily="34" charset="-122"/>
                <a:cs typeface="Courier New" pitchFamily="34" charset="-120"/>
              </a:rPr>
              <a:t>  ✔ bloquea transferFrom aunque lo llame el propietario
</a:t>
            </a:r>
            <a:pPr indent="0" marL="0">
              <a:lnSpc>
                <a:spcPct val="125000"/>
              </a:lnSpc>
              <a:buNone/>
            </a:pPr>
            <a:r>
              <a:rPr lang="en-US" sz="1250" dirty="0">
                <a:solidFill>
                  <a:srgbClr val="8FD98F"/>
                </a:solidFill>
                <a:latin typeface="Courier New" pitchFamily="34" charset="0"/>
                <a:ea typeface="Courier New" pitchFamily="34" charset="-122"/>
                <a:cs typeface="Courier New" pitchFamily="34" charset="-120"/>
              </a:rPr>
              <a:t>  ✔ rechaza poner en venta por encima del tope</a:t>
            </a:r>
            <a:endParaRPr lang="en-US" sz="1250" dirty="0"/>
          </a:p>
        </p:txBody>
      </p:sp>
      <p:sp>
        <p:nvSpPr>
          <p:cNvPr id="20" name="Text 17"/>
          <p:cNvSpPr/>
          <p:nvPr/>
        </p:nvSpPr>
        <p:spPr>
          <a:xfrm>
            <a:off x="566928" y="5303520"/>
            <a:ext cx="11057839" cy="5029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Esas dos líneas verdes son el proyecto entero. Si alguna se pusiera en rojo, no habría tesis que defender.</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ENTREGA 1 DE 3 · QUÉ ENTREGAN USTEDES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SU ENTREGA DE ESTA ETAPA: EL ALCANCE</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31</a:t>
            </a:r>
            <a:endParaRPr lang="en-US" sz="900" dirty="0"/>
          </a:p>
        </p:txBody>
      </p:sp>
      <p:sp>
        <p:nvSpPr>
          <p:cNvPr id="8" name="Text 5"/>
          <p:cNvSpPr/>
          <p:nvPr/>
        </p:nvSpPr>
        <p:spPr>
          <a:xfrm>
            <a:off x="566928" y="1737360"/>
            <a:ext cx="11057839" cy="4114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Todo lo de hoy cabe en una página. Si no cabe, es que todavía no está acotado.</a:t>
            </a:r>
            <a:endParaRPr lang="en-US" sz="1400" dirty="0"/>
          </a:p>
        </p:txBody>
      </p:sp>
      <p:sp>
        <p:nvSpPr>
          <p:cNvPr id="9" name="Text 6"/>
          <p:cNvSpPr/>
          <p:nvPr/>
        </p:nvSpPr>
        <p:spPr>
          <a:xfrm>
            <a:off x="566928" y="2304288"/>
            <a:ext cx="548640" cy="365760"/>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01</a:t>
            </a:r>
            <a:endParaRPr lang="en-US" sz="1800" dirty="0"/>
          </a:p>
        </p:txBody>
      </p:sp>
      <p:sp>
        <p:nvSpPr>
          <p:cNvPr id="10" name="Text 7"/>
          <p:cNvSpPr/>
          <p:nvPr/>
        </p:nvSpPr>
        <p:spPr>
          <a:xfrm>
            <a:off x="1252728" y="2286000"/>
            <a:ext cx="3931920" cy="365760"/>
          </a:xfrm>
          <a:prstGeom prst="rect">
            <a:avLst/>
          </a:prstGeom>
          <a:noFill/>
          <a:ln/>
        </p:spPr>
        <p:txBody>
          <a:bodyPr wrap="square" lIns="0" tIns="0" rIns="0" bIns="0" rtlCol="0" anchor="ctr"/>
          <a:lstStyle/>
          <a:p>
            <a:pPr indent="0" marL="0">
              <a:buNone/>
            </a:pPr>
            <a:r>
              <a:rPr lang="en-US" sz="1050" b="1" spc="115" kern="0" dirty="0">
                <a:solidFill>
                  <a:srgbClr val="0F0F11"/>
                </a:solidFill>
                <a:latin typeface="Courier New" pitchFamily="34" charset="0"/>
                <a:ea typeface="Courier New" pitchFamily="34" charset="-122"/>
                <a:cs typeface="Courier New" pitchFamily="34" charset="-120"/>
              </a:rPr>
              <a:t>EL PUNTO DE VISTA</a:t>
            </a:r>
            <a:endParaRPr lang="en-US" sz="1050" dirty="0"/>
          </a:p>
        </p:txBody>
      </p:sp>
      <p:sp>
        <p:nvSpPr>
          <p:cNvPr id="11" name="Text 8"/>
          <p:cNvSpPr/>
          <p:nvPr/>
        </p:nvSpPr>
        <p:spPr>
          <a:xfrm>
            <a:off x="5413248" y="2267712"/>
            <a:ext cx="6211519" cy="5486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Una frase con la fórmula: quién, qué, y el porqué sorprendente.</a:t>
            </a:r>
            <a:endParaRPr lang="en-US" sz="1250" dirty="0"/>
          </a:p>
        </p:txBody>
      </p:sp>
      <p:sp>
        <p:nvSpPr>
          <p:cNvPr id="12" name="Shape 9"/>
          <p:cNvSpPr/>
          <p:nvPr/>
        </p:nvSpPr>
        <p:spPr>
          <a:xfrm>
            <a:off x="566928" y="2167128"/>
            <a:ext cx="11057839" cy="0"/>
          </a:xfrm>
          <a:prstGeom prst="line">
            <a:avLst/>
          </a:prstGeom>
          <a:noFill/>
          <a:ln w="12700">
            <a:solidFill>
              <a:srgbClr val="D9D6E0"/>
            </a:solidFill>
            <a:prstDash val="solid"/>
          </a:ln>
        </p:spPr>
      </p:sp>
      <p:sp>
        <p:nvSpPr>
          <p:cNvPr id="13" name="Text 10"/>
          <p:cNvSpPr/>
          <p:nvPr/>
        </p:nvSpPr>
        <p:spPr>
          <a:xfrm>
            <a:off x="566928" y="2944368"/>
            <a:ext cx="548640" cy="365760"/>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02</a:t>
            </a:r>
            <a:endParaRPr lang="en-US" sz="1800" dirty="0"/>
          </a:p>
        </p:txBody>
      </p:sp>
      <p:sp>
        <p:nvSpPr>
          <p:cNvPr id="14" name="Text 11"/>
          <p:cNvSpPr/>
          <p:nvPr/>
        </p:nvSpPr>
        <p:spPr>
          <a:xfrm>
            <a:off x="1252728" y="2926080"/>
            <a:ext cx="3931920" cy="365760"/>
          </a:xfrm>
          <a:prstGeom prst="rect">
            <a:avLst/>
          </a:prstGeom>
          <a:noFill/>
          <a:ln/>
        </p:spPr>
        <p:txBody>
          <a:bodyPr wrap="square" lIns="0" tIns="0" rIns="0" bIns="0" rtlCol="0" anchor="ctr"/>
          <a:lstStyle/>
          <a:p>
            <a:pPr indent="0" marL="0">
              <a:buNone/>
            </a:pPr>
            <a:r>
              <a:rPr lang="en-US" sz="1050" b="1" spc="115" kern="0" dirty="0">
                <a:solidFill>
                  <a:srgbClr val="0F0F11"/>
                </a:solidFill>
                <a:latin typeface="Courier New" pitchFamily="34" charset="0"/>
                <a:ea typeface="Courier New" pitchFamily="34" charset="-122"/>
                <a:cs typeface="Courier New" pitchFamily="34" charset="-120"/>
              </a:rPr>
              <a:t>LA PREGUNTA DE DISEÑO</a:t>
            </a:r>
            <a:endParaRPr lang="en-US" sz="1050" dirty="0"/>
          </a:p>
        </p:txBody>
      </p:sp>
      <p:sp>
        <p:nvSpPr>
          <p:cNvPr id="15" name="Text 12"/>
          <p:cNvSpPr/>
          <p:nvPr/>
        </p:nvSpPr>
        <p:spPr>
          <a:xfrm>
            <a:off x="5413248" y="2907792"/>
            <a:ext cx="6211519" cy="5486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 «¿cómo podríamos…?» que no nombre la tecnología.</a:t>
            </a:r>
            <a:endParaRPr lang="en-US" sz="1250" dirty="0"/>
          </a:p>
        </p:txBody>
      </p:sp>
      <p:sp>
        <p:nvSpPr>
          <p:cNvPr id="16" name="Shape 13"/>
          <p:cNvSpPr/>
          <p:nvPr/>
        </p:nvSpPr>
        <p:spPr>
          <a:xfrm>
            <a:off x="566928" y="2807208"/>
            <a:ext cx="11057839" cy="0"/>
          </a:xfrm>
          <a:prstGeom prst="line">
            <a:avLst/>
          </a:prstGeom>
          <a:noFill/>
          <a:ln w="12700">
            <a:solidFill>
              <a:srgbClr val="D9D6E0"/>
            </a:solidFill>
            <a:prstDash val="solid"/>
          </a:ln>
        </p:spPr>
      </p:sp>
      <p:sp>
        <p:nvSpPr>
          <p:cNvPr id="17" name="Text 14"/>
          <p:cNvSpPr/>
          <p:nvPr/>
        </p:nvSpPr>
        <p:spPr>
          <a:xfrm>
            <a:off x="566928" y="3584448"/>
            <a:ext cx="548640" cy="365760"/>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03</a:t>
            </a:r>
            <a:endParaRPr lang="en-US" sz="1800" dirty="0"/>
          </a:p>
        </p:txBody>
      </p:sp>
      <p:sp>
        <p:nvSpPr>
          <p:cNvPr id="18" name="Text 15"/>
          <p:cNvSpPr/>
          <p:nvPr/>
        </p:nvSpPr>
        <p:spPr>
          <a:xfrm>
            <a:off x="1252728" y="3566160"/>
            <a:ext cx="3931920" cy="365760"/>
          </a:xfrm>
          <a:prstGeom prst="rect">
            <a:avLst/>
          </a:prstGeom>
          <a:noFill/>
          <a:ln/>
        </p:spPr>
        <p:txBody>
          <a:bodyPr wrap="square" lIns="0" tIns="0" rIns="0" bIns="0" rtlCol="0" anchor="ctr"/>
          <a:lstStyle/>
          <a:p>
            <a:pPr indent="0" marL="0">
              <a:buNone/>
            </a:pPr>
            <a:r>
              <a:rPr lang="en-US" sz="1050" b="1" spc="115" kern="0" dirty="0">
                <a:solidFill>
                  <a:srgbClr val="0F0F11"/>
                </a:solidFill>
                <a:latin typeface="Courier New" pitchFamily="34" charset="0"/>
                <a:ea typeface="Courier New" pitchFamily="34" charset="-122"/>
                <a:cs typeface="Courier New" pitchFamily="34" charset="-120"/>
              </a:rPr>
              <a:t>DÓNDE ENTRA BLOCKCHAIN</a:t>
            </a:r>
            <a:endParaRPr lang="en-US" sz="1050" dirty="0"/>
          </a:p>
        </p:txBody>
      </p:sp>
      <p:sp>
        <p:nvSpPr>
          <p:cNvPr id="19" name="Text 16"/>
          <p:cNvSpPr/>
          <p:nvPr/>
        </p:nvSpPr>
        <p:spPr>
          <a:xfrm>
            <a:off x="5413248" y="3547872"/>
            <a:ext cx="6211519" cy="5486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Y dónde no. Con el recorrido por el árbol de decisión.</a:t>
            </a:r>
            <a:endParaRPr lang="en-US" sz="1250" dirty="0"/>
          </a:p>
        </p:txBody>
      </p:sp>
      <p:sp>
        <p:nvSpPr>
          <p:cNvPr id="20" name="Shape 17"/>
          <p:cNvSpPr/>
          <p:nvPr/>
        </p:nvSpPr>
        <p:spPr>
          <a:xfrm>
            <a:off x="566928" y="3447288"/>
            <a:ext cx="11057839" cy="0"/>
          </a:xfrm>
          <a:prstGeom prst="line">
            <a:avLst/>
          </a:prstGeom>
          <a:noFill/>
          <a:ln w="12700">
            <a:solidFill>
              <a:srgbClr val="D9D6E0"/>
            </a:solidFill>
            <a:prstDash val="solid"/>
          </a:ln>
        </p:spPr>
      </p:sp>
      <p:sp>
        <p:nvSpPr>
          <p:cNvPr id="21" name="Text 18"/>
          <p:cNvSpPr/>
          <p:nvPr/>
        </p:nvSpPr>
        <p:spPr>
          <a:xfrm>
            <a:off x="566928" y="4224528"/>
            <a:ext cx="548640" cy="365760"/>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04</a:t>
            </a:r>
            <a:endParaRPr lang="en-US" sz="1800" dirty="0"/>
          </a:p>
        </p:txBody>
      </p:sp>
      <p:sp>
        <p:nvSpPr>
          <p:cNvPr id="22" name="Text 19"/>
          <p:cNvSpPr/>
          <p:nvPr/>
        </p:nvSpPr>
        <p:spPr>
          <a:xfrm>
            <a:off x="1252728" y="4206240"/>
            <a:ext cx="3931920" cy="365760"/>
          </a:xfrm>
          <a:prstGeom prst="rect">
            <a:avLst/>
          </a:prstGeom>
          <a:noFill/>
          <a:ln/>
        </p:spPr>
        <p:txBody>
          <a:bodyPr wrap="square" lIns="0" tIns="0" rIns="0" bIns="0" rtlCol="0" anchor="ctr"/>
          <a:lstStyle/>
          <a:p>
            <a:pPr indent="0" marL="0">
              <a:buNone/>
            </a:pPr>
            <a:r>
              <a:rPr lang="en-US" sz="1050" b="1" spc="115" kern="0" dirty="0">
                <a:solidFill>
                  <a:srgbClr val="0F0F11"/>
                </a:solidFill>
                <a:latin typeface="Courier New" pitchFamily="34" charset="0"/>
                <a:ea typeface="Courier New" pitchFamily="34" charset="-122"/>
                <a:cs typeface="Courier New" pitchFamily="34" charset="-120"/>
              </a:rPr>
              <a:t>LAS HISTORIAS DEL MÍNIMO</a:t>
            </a:r>
            <a:endParaRPr lang="en-US" sz="1050" dirty="0"/>
          </a:p>
        </p:txBody>
      </p:sp>
      <p:sp>
        <p:nvSpPr>
          <p:cNvPr id="23" name="Text 20"/>
          <p:cNvSpPr/>
          <p:nvPr/>
        </p:nvSpPr>
        <p:spPr>
          <a:xfrm>
            <a:off x="5413248" y="4187952"/>
            <a:ext cx="6211519" cy="5486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Entre cuatro y seis, con su talla y su criterio de aceptación.</a:t>
            </a:r>
            <a:endParaRPr lang="en-US" sz="1250" dirty="0"/>
          </a:p>
        </p:txBody>
      </p:sp>
      <p:sp>
        <p:nvSpPr>
          <p:cNvPr id="24" name="Shape 21"/>
          <p:cNvSpPr/>
          <p:nvPr/>
        </p:nvSpPr>
        <p:spPr>
          <a:xfrm>
            <a:off x="566928" y="4087368"/>
            <a:ext cx="11057839" cy="0"/>
          </a:xfrm>
          <a:prstGeom prst="line">
            <a:avLst/>
          </a:prstGeom>
          <a:noFill/>
          <a:ln w="12700">
            <a:solidFill>
              <a:srgbClr val="D9D6E0"/>
            </a:solidFill>
            <a:prstDash val="solid"/>
          </a:ln>
        </p:spPr>
      </p:sp>
      <p:sp>
        <p:nvSpPr>
          <p:cNvPr id="25" name="Text 22"/>
          <p:cNvSpPr/>
          <p:nvPr/>
        </p:nvSpPr>
        <p:spPr>
          <a:xfrm>
            <a:off x="566928" y="4864608"/>
            <a:ext cx="548640" cy="365760"/>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05</a:t>
            </a:r>
            <a:endParaRPr lang="en-US" sz="1800" dirty="0"/>
          </a:p>
        </p:txBody>
      </p:sp>
      <p:sp>
        <p:nvSpPr>
          <p:cNvPr id="26" name="Text 23"/>
          <p:cNvSpPr/>
          <p:nvPr/>
        </p:nvSpPr>
        <p:spPr>
          <a:xfrm>
            <a:off x="1252728" y="4846320"/>
            <a:ext cx="3931920" cy="365760"/>
          </a:xfrm>
          <a:prstGeom prst="rect">
            <a:avLst/>
          </a:prstGeom>
          <a:noFill/>
          <a:ln/>
        </p:spPr>
        <p:txBody>
          <a:bodyPr wrap="square" lIns="0" tIns="0" rIns="0" bIns="0" rtlCol="0" anchor="ctr"/>
          <a:lstStyle/>
          <a:p>
            <a:pPr indent="0" marL="0">
              <a:buNone/>
            </a:pPr>
            <a:r>
              <a:rPr lang="en-US" sz="1050" b="1" spc="115" kern="0" dirty="0">
                <a:solidFill>
                  <a:srgbClr val="0F0F11"/>
                </a:solidFill>
                <a:latin typeface="Courier New" pitchFamily="34" charset="0"/>
                <a:ea typeface="Courier New" pitchFamily="34" charset="-122"/>
                <a:cs typeface="Courier New" pitchFamily="34" charset="-120"/>
              </a:rPr>
              <a:t>LO QUE QUEDA FUERA</a:t>
            </a:r>
            <a:endParaRPr lang="en-US" sz="1050" dirty="0"/>
          </a:p>
        </p:txBody>
      </p:sp>
      <p:sp>
        <p:nvSpPr>
          <p:cNvPr id="27" name="Text 24"/>
          <p:cNvSpPr/>
          <p:nvPr/>
        </p:nvSpPr>
        <p:spPr>
          <a:xfrm>
            <a:off x="5413248" y="4828032"/>
            <a:ext cx="6211519" cy="5486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lista explícita. Es la parte que se revisa primero.</a:t>
            </a:r>
            <a:endParaRPr lang="en-US" sz="1250" dirty="0"/>
          </a:p>
        </p:txBody>
      </p:sp>
      <p:sp>
        <p:nvSpPr>
          <p:cNvPr id="28" name="Shape 25"/>
          <p:cNvSpPr/>
          <p:nvPr/>
        </p:nvSpPr>
        <p:spPr>
          <a:xfrm>
            <a:off x="566928" y="4727448"/>
            <a:ext cx="11057839" cy="0"/>
          </a:xfrm>
          <a:prstGeom prst="line">
            <a:avLst/>
          </a:prstGeom>
          <a:noFill/>
          <a:ln w="12700">
            <a:solidFill>
              <a:srgbClr val="D9D6E0"/>
            </a:solidFill>
            <a:prstDash val="solid"/>
          </a:ln>
        </p:spPr>
      </p:sp>
      <p:sp>
        <p:nvSpPr>
          <p:cNvPr id="29" name="Text 26"/>
          <p:cNvSpPr/>
          <p:nvPr/>
        </p:nvSpPr>
        <p:spPr>
          <a:xfrm>
            <a:off x="566928" y="5504688"/>
            <a:ext cx="548640" cy="365760"/>
          </a:xfrm>
          <a:prstGeom prst="rect">
            <a:avLst/>
          </a:prstGeom>
          <a:noFill/>
          <a:ln/>
        </p:spPr>
        <p:txBody>
          <a:bodyPr wrap="square" lIns="0" tIns="0" rIns="0" bIns="0" rtlCol="0" anchor="ctr"/>
          <a:lstStyle/>
          <a:p>
            <a:pPr indent="0" marL="0">
              <a:buNone/>
            </a:pPr>
            <a:r>
              <a:rPr lang="en-US" sz="1800" dirty="0">
                <a:solidFill>
                  <a:srgbClr val="F07F06"/>
                </a:solidFill>
                <a:latin typeface="Arial Black" pitchFamily="34" charset="0"/>
                <a:ea typeface="Arial Black" pitchFamily="34" charset="-122"/>
                <a:cs typeface="Arial Black" pitchFamily="34" charset="-120"/>
              </a:rPr>
              <a:t>06</a:t>
            </a:r>
            <a:endParaRPr lang="en-US" sz="1800" dirty="0"/>
          </a:p>
        </p:txBody>
      </p:sp>
      <p:sp>
        <p:nvSpPr>
          <p:cNvPr id="30" name="Text 27"/>
          <p:cNvSpPr/>
          <p:nvPr/>
        </p:nvSpPr>
        <p:spPr>
          <a:xfrm>
            <a:off x="1252728" y="5486400"/>
            <a:ext cx="3931920" cy="365760"/>
          </a:xfrm>
          <a:prstGeom prst="rect">
            <a:avLst/>
          </a:prstGeom>
          <a:noFill/>
          <a:ln/>
        </p:spPr>
        <p:txBody>
          <a:bodyPr wrap="square" lIns="0" tIns="0" rIns="0" bIns="0" rtlCol="0" anchor="ctr"/>
          <a:lstStyle/>
          <a:p>
            <a:pPr indent="0" marL="0">
              <a:buNone/>
            </a:pPr>
            <a:r>
              <a:rPr lang="en-US" sz="1050" b="1" spc="115" kern="0" dirty="0">
                <a:solidFill>
                  <a:srgbClr val="0F0F11"/>
                </a:solidFill>
                <a:latin typeface="Courier New" pitchFamily="34" charset="0"/>
                <a:ea typeface="Courier New" pitchFamily="34" charset="-122"/>
                <a:cs typeface="Courier New" pitchFamily="34" charset="-120"/>
              </a:rPr>
              <a:t>SUPUESTOS Y RESTRICCIONES</a:t>
            </a:r>
            <a:endParaRPr lang="en-US" sz="1050" dirty="0"/>
          </a:p>
        </p:txBody>
      </p:sp>
      <p:sp>
        <p:nvSpPr>
          <p:cNvPr id="31" name="Text 28"/>
          <p:cNvSpPr/>
          <p:nvPr/>
        </p:nvSpPr>
        <p:spPr>
          <a:xfrm>
            <a:off x="5413248" y="5468112"/>
            <a:ext cx="6211519" cy="5486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Y cuál supuesto van a comprobar antes que los demás.</a:t>
            </a:r>
            <a:endParaRPr lang="en-US" sz="1250" dirty="0"/>
          </a:p>
        </p:txBody>
      </p:sp>
      <p:sp>
        <p:nvSpPr>
          <p:cNvPr id="32" name="Shape 29"/>
          <p:cNvSpPr/>
          <p:nvPr/>
        </p:nvSpPr>
        <p:spPr>
          <a:xfrm>
            <a:off x="566928" y="5367528"/>
            <a:ext cx="11057839" cy="0"/>
          </a:xfrm>
          <a:prstGeom prst="line">
            <a:avLst/>
          </a:prstGeom>
          <a:noFill/>
          <a:ln w="12700">
            <a:solidFill>
              <a:srgbClr val="D9D6E0"/>
            </a:solidFill>
            <a:prstDash val="solid"/>
          </a:ln>
        </p:spPr>
      </p:sp>
      <p:sp>
        <p:nvSpPr>
          <p:cNvPr id="33" name="Shape 30"/>
          <p:cNvSpPr/>
          <p:nvPr/>
        </p:nvSpPr>
        <p:spPr>
          <a:xfrm>
            <a:off x="566928" y="6007608"/>
            <a:ext cx="11057839" cy="0"/>
          </a:xfrm>
          <a:prstGeom prst="line">
            <a:avLst/>
          </a:prstGeom>
          <a:noFill/>
          <a:ln w="12700">
            <a:solidFill>
              <a:srgbClr val="D9D6E0"/>
            </a:solidFill>
            <a:prstDash val="solid"/>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ENTREGA 2 · LA PRÓXIMA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LO QUE SIGUE: ARQUITECTURA Y ESPECIFICACIÓN</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PROYECTO DEL DOCENTE · CÓMO SE ACOTA UN ALCANCE</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32</a:t>
            </a:r>
            <a:endParaRPr lang="en-US" sz="900" dirty="0"/>
          </a:p>
        </p:txBody>
      </p:sp>
      <p:sp>
        <p:nvSpPr>
          <p:cNvPr id="8" name="Text 5"/>
          <p:cNvSpPr/>
          <p:nvPr/>
        </p:nvSpPr>
        <p:spPr>
          <a:xfrm>
            <a:off x="566928" y="1737360"/>
            <a:ext cx="11057839" cy="6400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El alcance dice QUÉ se va a construir. La arquitectura dice CÓMO se reparte, y la especificación dice exactamente qué hace cada pieza. Se presenta por partes porque en ese orden se puede corregir barato.</a:t>
            </a:r>
            <a:endParaRPr lang="en-US" sz="1400" dirty="0"/>
          </a:p>
        </p:txBody>
      </p:sp>
      <p:sp>
        <p:nvSpPr>
          <p:cNvPr id="9" name="Shape 6"/>
          <p:cNvSpPr/>
          <p:nvPr/>
        </p:nvSpPr>
        <p:spPr>
          <a:xfrm>
            <a:off x="566928" y="2468880"/>
            <a:ext cx="11057839" cy="841248"/>
          </a:xfrm>
          <a:prstGeom prst="rect">
            <a:avLst/>
          </a:prstGeom>
          <a:solidFill>
            <a:srgbClr val="FAF9FB"/>
          </a:solidFill>
          <a:ln w="22225">
            <a:solidFill>
              <a:srgbClr val="0F0F11"/>
            </a:solidFill>
            <a:prstDash val="solid"/>
          </a:ln>
        </p:spPr>
      </p:sp>
      <p:sp>
        <p:nvSpPr>
          <p:cNvPr id="10" name="Text 7"/>
          <p:cNvSpPr/>
          <p:nvPr/>
        </p:nvSpPr>
        <p:spPr>
          <a:xfrm>
            <a:off x="841248" y="2560320"/>
            <a:ext cx="1737360" cy="310896"/>
          </a:xfrm>
          <a:prstGeom prst="rect">
            <a:avLst/>
          </a:prstGeom>
          <a:noFill/>
          <a:ln/>
        </p:spPr>
        <p:txBody>
          <a:bodyPr wrap="square" lIns="0" tIns="0" rIns="0" bIns="0" rtlCol="0" anchor="ctr"/>
          <a:lstStyle/>
          <a:p>
            <a:pPr indent="0" marL="0">
              <a:buNone/>
            </a:pPr>
            <a:r>
              <a:rPr lang="en-US" sz="1000" b="1" spc="120" kern="0" dirty="0">
                <a:solidFill>
                  <a:srgbClr val="6F6B80"/>
                </a:solidFill>
                <a:latin typeface="Courier New" pitchFamily="34" charset="0"/>
                <a:ea typeface="Courier New" pitchFamily="34" charset="-122"/>
                <a:cs typeface="Courier New" pitchFamily="34" charset="-120"/>
              </a:rPr>
              <a:t>ENTREGA 1</a:t>
            </a:r>
            <a:endParaRPr lang="en-US" sz="1000" dirty="0"/>
          </a:p>
        </p:txBody>
      </p:sp>
      <p:sp>
        <p:nvSpPr>
          <p:cNvPr id="11" name="Text 8"/>
          <p:cNvSpPr/>
          <p:nvPr/>
        </p:nvSpPr>
        <p:spPr>
          <a:xfrm>
            <a:off x="841248" y="2889504"/>
            <a:ext cx="4114800" cy="347472"/>
          </a:xfrm>
          <a:prstGeom prst="rect">
            <a:avLst/>
          </a:prstGeom>
          <a:noFill/>
          <a:ln/>
        </p:spPr>
        <p:txBody>
          <a:bodyPr wrap="square" lIns="0" tIns="0" rIns="0" bIns="0" rtlCol="0" anchor="ctr"/>
          <a:lstStyle/>
          <a:p>
            <a:pPr indent="0" marL="0">
              <a:buNone/>
            </a:pPr>
            <a:r>
              <a:rPr lang="en-US" sz="1500" dirty="0">
                <a:solidFill>
                  <a:srgbClr val="6F6B80"/>
                </a:solidFill>
                <a:latin typeface="Arial Black" pitchFamily="34" charset="0"/>
                <a:ea typeface="Arial Black" pitchFamily="34" charset="-122"/>
                <a:cs typeface="Arial Black" pitchFamily="34" charset="-120"/>
              </a:rPr>
              <a:t>EL ALCANCE</a:t>
            </a:r>
            <a:endParaRPr lang="en-US" sz="1500" dirty="0"/>
          </a:p>
        </p:txBody>
      </p:sp>
      <p:sp>
        <p:nvSpPr>
          <p:cNvPr id="12" name="Text 9"/>
          <p:cNvSpPr/>
          <p:nvPr/>
        </p:nvSpPr>
        <p:spPr>
          <a:xfrm>
            <a:off x="5321808" y="2651760"/>
            <a:ext cx="6028639" cy="594360"/>
          </a:xfrm>
          <a:prstGeom prst="rect">
            <a:avLst/>
          </a:prstGeom>
          <a:noFill/>
          <a:ln/>
        </p:spPr>
        <p:txBody>
          <a:bodyPr wrap="square" lIns="0" tIns="0" rIns="0" bIns="0" rtlCol="0" anchor="t"/>
          <a:lstStyle/>
          <a:p>
            <a:pPr indent="0" marL="0">
              <a:lnSpc>
                <a:spcPct val="124000"/>
              </a:lnSpc>
              <a:buNone/>
            </a:pPr>
            <a:r>
              <a:rPr lang="en-US" sz="1250" dirty="0">
                <a:solidFill>
                  <a:srgbClr val="6F6B80"/>
                </a:solidFill>
                <a:latin typeface="Arial" pitchFamily="34" charset="0"/>
                <a:ea typeface="Arial" pitchFamily="34" charset="-122"/>
                <a:cs typeface="Arial" pitchFamily="34" charset="-120"/>
              </a:rPr>
              <a:t>Punto de vista, historias del mínimo, lo que queda fuera.</a:t>
            </a:r>
            <a:endParaRPr lang="en-US" sz="1250" dirty="0"/>
          </a:p>
        </p:txBody>
      </p:sp>
      <p:sp>
        <p:nvSpPr>
          <p:cNvPr id="13" name="Text 10"/>
          <p:cNvSpPr/>
          <p:nvPr/>
        </p:nvSpPr>
        <p:spPr>
          <a:xfrm>
            <a:off x="10253167" y="2560320"/>
            <a:ext cx="1097280" cy="310896"/>
          </a:xfrm>
          <a:prstGeom prst="rect">
            <a:avLst/>
          </a:prstGeom>
          <a:noFill/>
          <a:ln/>
        </p:spPr>
        <p:txBody>
          <a:bodyPr wrap="square" lIns="0" tIns="0" rIns="0" bIns="0" rtlCol="0" anchor="ctr"/>
          <a:lstStyle/>
          <a:p>
            <a:pPr algn="r" indent="0" marL="0">
              <a:buNone/>
            </a:pPr>
            <a:r>
              <a:rPr lang="en-US" sz="950" b="1" dirty="0">
                <a:solidFill>
                  <a:srgbClr val="6F6B80"/>
                </a:solidFill>
                <a:latin typeface="Courier New" pitchFamily="34" charset="0"/>
                <a:ea typeface="Courier New" pitchFamily="34" charset="-122"/>
                <a:cs typeface="Courier New" pitchFamily="34" charset="-120"/>
              </a:rPr>
              <a:t>HECHA</a:t>
            </a:r>
            <a:endParaRPr lang="en-US" sz="950" dirty="0"/>
          </a:p>
        </p:txBody>
      </p:sp>
      <p:sp>
        <p:nvSpPr>
          <p:cNvPr id="14" name="Shape 11"/>
          <p:cNvSpPr/>
          <p:nvPr/>
        </p:nvSpPr>
        <p:spPr>
          <a:xfrm>
            <a:off x="566928" y="3456432"/>
            <a:ext cx="11057839" cy="841248"/>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5" name="Text 12"/>
          <p:cNvSpPr/>
          <p:nvPr/>
        </p:nvSpPr>
        <p:spPr>
          <a:xfrm>
            <a:off x="841248" y="3547872"/>
            <a:ext cx="1737360" cy="310896"/>
          </a:xfrm>
          <a:prstGeom prst="rect">
            <a:avLst/>
          </a:prstGeom>
          <a:noFill/>
          <a:ln/>
        </p:spPr>
        <p:txBody>
          <a:bodyPr wrap="square" lIns="0" tIns="0" rIns="0" bIns="0" rtlCol="0" anchor="ctr"/>
          <a:lstStyle/>
          <a:p>
            <a:pPr indent="0" marL="0">
              <a:buNone/>
            </a:pPr>
            <a:r>
              <a:rPr lang="en-US" sz="1000" b="1" spc="120" kern="0" dirty="0">
                <a:solidFill>
                  <a:srgbClr val="A35604"/>
                </a:solidFill>
                <a:latin typeface="Courier New" pitchFamily="34" charset="0"/>
                <a:ea typeface="Courier New" pitchFamily="34" charset="-122"/>
                <a:cs typeface="Courier New" pitchFamily="34" charset="-120"/>
              </a:rPr>
              <a:t>ENTREGA 2</a:t>
            </a:r>
            <a:endParaRPr lang="en-US" sz="1000" dirty="0"/>
          </a:p>
        </p:txBody>
      </p:sp>
      <p:sp>
        <p:nvSpPr>
          <p:cNvPr id="16" name="Text 13"/>
          <p:cNvSpPr/>
          <p:nvPr/>
        </p:nvSpPr>
        <p:spPr>
          <a:xfrm>
            <a:off x="841248" y="3877056"/>
            <a:ext cx="4114800" cy="347472"/>
          </a:xfrm>
          <a:prstGeom prst="rect">
            <a:avLst/>
          </a:prstGeom>
          <a:noFill/>
          <a:ln/>
        </p:spPr>
        <p:txBody>
          <a:bodyPr wrap="square" lIns="0" tIns="0" rIns="0" bIns="0" rtlCol="0" anchor="ctr"/>
          <a:lstStyle/>
          <a:p>
            <a:pPr indent="0" marL="0">
              <a:buNone/>
            </a:pPr>
            <a:r>
              <a:rPr lang="en-US" sz="1500" dirty="0">
                <a:solidFill>
                  <a:srgbClr val="0F0F11"/>
                </a:solidFill>
                <a:latin typeface="Arial Black" pitchFamily="34" charset="0"/>
                <a:ea typeface="Arial Black" pitchFamily="34" charset="-122"/>
                <a:cs typeface="Arial Black" pitchFamily="34" charset="-120"/>
              </a:rPr>
              <a:t>ARQUITECTURA Y SPEC</a:t>
            </a:r>
            <a:endParaRPr lang="en-US" sz="1500" dirty="0"/>
          </a:p>
        </p:txBody>
      </p:sp>
      <p:sp>
        <p:nvSpPr>
          <p:cNvPr id="17" name="Text 14"/>
          <p:cNvSpPr/>
          <p:nvPr/>
        </p:nvSpPr>
        <p:spPr>
          <a:xfrm>
            <a:off x="5321808" y="3639312"/>
            <a:ext cx="6028639" cy="59436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Las piezas, cómo se hablan, y qué hace cada una exactamente.</a:t>
            </a:r>
            <a:endParaRPr lang="en-US" sz="1250" dirty="0"/>
          </a:p>
        </p:txBody>
      </p:sp>
      <p:sp>
        <p:nvSpPr>
          <p:cNvPr id="18" name="Shape 15"/>
          <p:cNvSpPr/>
          <p:nvPr/>
        </p:nvSpPr>
        <p:spPr>
          <a:xfrm>
            <a:off x="566928" y="4443984"/>
            <a:ext cx="11057839" cy="841248"/>
          </a:xfrm>
          <a:prstGeom prst="rect">
            <a:avLst/>
          </a:prstGeom>
          <a:solidFill>
            <a:srgbClr val="FFFFFF"/>
          </a:solidFill>
          <a:ln w="22225">
            <a:solidFill>
              <a:srgbClr val="0F0F11"/>
            </a:solidFill>
            <a:prstDash val="solid"/>
          </a:ln>
        </p:spPr>
      </p:sp>
      <p:sp>
        <p:nvSpPr>
          <p:cNvPr id="19" name="Text 16"/>
          <p:cNvSpPr/>
          <p:nvPr/>
        </p:nvSpPr>
        <p:spPr>
          <a:xfrm>
            <a:off x="841248" y="4535424"/>
            <a:ext cx="1737360" cy="310896"/>
          </a:xfrm>
          <a:prstGeom prst="rect">
            <a:avLst/>
          </a:prstGeom>
          <a:noFill/>
          <a:ln/>
        </p:spPr>
        <p:txBody>
          <a:bodyPr wrap="square" lIns="0" tIns="0" rIns="0" bIns="0" rtlCol="0" anchor="ctr"/>
          <a:lstStyle/>
          <a:p>
            <a:pPr indent="0" marL="0">
              <a:buNone/>
            </a:pPr>
            <a:r>
              <a:rPr lang="en-US" sz="1000" b="1" spc="120" kern="0" dirty="0">
                <a:solidFill>
                  <a:srgbClr val="A35604"/>
                </a:solidFill>
                <a:latin typeface="Courier New" pitchFamily="34" charset="0"/>
                <a:ea typeface="Courier New" pitchFamily="34" charset="-122"/>
                <a:cs typeface="Courier New" pitchFamily="34" charset="-120"/>
              </a:rPr>
              <a:t>ENTREGA 3</a:t>
            </a:r>
            <a:endParaRPr lang="en-US" sz="1000" dirty="0"/>
          </a:p>
        </p:txBody>
      </p:sp>
      <p:sp>
        <p:nvSpPr>
          <p:cNvPr id="20" name="Text 17"/>
          <p:cNvSpPr/>
          <p:nvPr/>
        </p:nvSpPr>
        <p:spPr>
          <a:xfrm>
            <a:off x="841248" y="4864608"/>
            <a:ext cx="4114800" cy="347472"/>
          </a:xfrm>
          <a:prstGeom prst="rect">
            <a:avLst/>
          </a:prstGeom>
          <a:noFill/>
          <a:ln/>
        </p:spPr>
        <p:txBody>
          <a:bodyPr wrap="square" lIns="0" tIns="0" rIns="0" bIns="0" rtlCol="0" anchor="ctr"/>
          <a:lstStyle/>
          <a:p>
            <a:pPr indent="0" marL="0">
              <a:buNone/>
            </a:pPr>
            <a:r>
              <a:rPr lang="en-US" sz="1500" dirty="0">
                <a:solidFill>
                  <a:srgbClr val="0F0F11"/>
                </a:solidFill>
                <a:latin typeface="Arial Black" pitchFamily="34" charset="0"/>
                <a:ea typeface="Arial Black" pitchFamily="34" charset="-122"/>
                <a:cs typeface="Arial Black" pitchFamily="34" charset="-120"/>
              </a:rPr>
              <a:t>PLAN DE TRABAJO</a:t>
            </a:r>
            <a:endParaRPr lang="en-US" sz="1500" dirty="0"/>
          </a:p>
        </p:txBody>
      </p:sp>
      <p:sp>
        <p:nvSpPr>
          <p:cNvPr id="21" name="Text 18"/>
          <p:cNvSpPr/>
          <p:nvPr/>
        </p:nvSpPr>
        <p:spPr>
          <a:xfrm>
            <a:off x="5321808" y="4626864"/>
            <a:ext cx="6028639" cy="59436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Quién hace qué, en qué orden, y contra qué riesgo.</a:t>
            </a:r>
            <a:endParaRPr lang="en-US" sz="1250" dirty="0"/>
          </a:p>
        </p:txBody>
      </p:sp>
      <p:sp>
        <p:nvSpPr>
          <p:cNvPr id="22" name="Shape 19"/>
          <p:cNvSpPr/>
          <p:nvPr/>
        </p:nvSpPr>
        <p:spPr>
          <a:xfrm>
            <a:off x="566928" y="5440680"/>
            <a:ext cx="11057839" cy="8686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23" name="Image 1" descr="preencoded.png">    </p:cNvPr>
          <p:cNvPicPr>
            <a:picLocks noChangeAspect="1"/>
          </p:cNvPicPr>
          <p:nvPr/>
        </p:nvPicPr>
        <p:blipFill>
          <a:blip r:embed="rId2"/>
          <a:stretch>
            <a:fillRect/>
          </a:stretch>
        </p:blipFill>
        <p:spPr>
          <a:xfrm>
            <a:off x="804672" y="5660136"/>
            <a:ext cx="237744" cy="237744"/>
          </a:xfrm>
          <a:prstGeom prst="rect">
            <a:avLst/>
          </a:prstGeom>
        </p:spPr>
      </p:pic>
      <p:sp>
        <p:nvSpPr>
          <p:cNvPr id="24" name="Text 20"/>
          <p:cNvSpPr/>
          <p:nvPr/>
        </p:nvSpPr>
        <p:spPr>
          <a:xfrm>
            <a:off x="1133856" y="56327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POR QUÉ EN ESTE ORDEN</a:t>
            </a:r>
            <a:endParaRPr lang="en-US" sz="950" dirty="0"/>
          </a:p>
        </p:txBody>
      </p:sp>
      <p:sp>
        <p:nvSpPr>
          <p:cNvPr id="25" name="Text 21"/>
          <p:cNvSpPr/>
          <p:nvPr/>
        </p:nvSpPr>
        <p:spPr>
          <a:xfrm>
            <a:off x="804672" y="5879592"/>
            <a:ext cx="10582351" cy="365760"/>
          </a:xfrm>
          <a:prstGeom prst="rect">
            <a:avLst/>
          </a:prstGeom>
          <a:noFill/>
          <a:ln/>
        </p:spPr>
        <p:txBody>
          <a:bodyPr wrap="square" lIns="0" tIns="0" rIns="0" bIns="0" rtlCol="0" anchor="ctr"/>
          <a:lstStyle/>
          <a:p>
            <a:pPr indent="0" marL="0">
              <a:buNone/>
            </a:pPr>
            <a:r>
              <a:rPr lang="en-US" sz="1400" dirty="0">
                <a:solidFill>
                  <a:srgbClr val="0F0F11"/>
                </a:solidFill>
                <a:latin typeface="Arial Black" pitchFamily="34" charset="0"/>
                <a:ea typeface="Arial Black" pitchFamily="34" charset="-122"/>
                <a:cs typeface="Arial Black" pitchFamily="34" charset="-120"/>
              </a:rPr>
              <a:t>Cambiar el alcance cuesta una conversación. Cambiar la arquitectura cuesta una semana. Cambiar el código cuesta el semestre.</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0F1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1371600"/>
            <a:ext cx="457200" cy="457200"/>
          </a:xfrm>
          <a:prstGeom prst="rect">
            <a:avLst/>
          </a:prstGeom>
        </p:spPr>
      </p:pic>
      <p:sp>
        <p:nvSpPr>
          <p:cNvPr id="3" name="Text 0"/>
          <p:cNvSpPr/>
          <p:nvPr/>
        </p:nvSpPr>
        <p:spPr>
          <a:xfrm>
            <a:off x="1207008" y="1399032"/>
            <a:ext cx="8229600" cy="402336"/>
          </a:xfrm>
          <a:prstGeom prst="rect">
            <a:avLst/>
          </a:prstGeom>
          <a:noFill/>
          <a:ln/>
        </p:spPr>
        <p:txBody>
          <a:bodyPr wrap="square" lIns="0" tIns="0" rIns="0" bIns="0" rtlCol="0" anchor="ctr"/>
          <a:lstStyle/>
          <a:p>
            <a:pPr indent="0" marL="0">
              <a:buNone/>
            </a:pPr>
            <a:r>
              <a:rPr lang="en-US" sz="1200" spc="200" kern="0" dirty="0">
                <a:solidFill>
                  <a:srgbClr val="F07F06"/>
                </a:solidFill>
                <a:latin typeface="Courier New" pitchFamily="34" charset="0"/>
                <a:ea typeface="Courier New" pitchFamily="34" charset="-122"/>
                <a:cs typeface="Courier New" pitchFamily="34" charset="-120"/>
              </a:rPr>
              <a:t>LO ÚNICO QUE HAY QUE RECORDAR</a:t>
            </a:r>
            <a:endParaRPr lang="en-US" sz="1200" dirty="0"/>
          </a:p>
        </p:txBody>
      </p:sp>
      <p:sp>
        <p:nvSpPr>
          <p:cNvPr id="4" name="Text 1"/>
          <p:cNvSpPr/>
          <p:nvPr/>
        </p:nvSpPr>
        <p:spPr>
          <a:xfrm>
            <a:off x="566928" y="2194560"/>
            <a:ext cx="10515600" cy="2743200"/>
          </a:xfrm>
          <a:prstGeom prst="rect">
            <a:avLst/>
          </a:prstGeom>
          <a:noFill/>
          <a:ln/>
        </p:spPr>
        <p:txBody>
          <a:bodyPr wrap="square" lIns="0" tIns="0" rIns="0" bIns="0" rtlCol="0" anchor="t"/>
          <a:lstStyle/>
          <a:p>
            <a:pPr indent="0" marL="0">
              <a:lnSpc>
                <a:spcPct val="102000"/>
              </a:lnSpc>
              <a:buNone/>
            </a:pPr>
            <a:r>
              <a:rPr lang="en-US" sz="4000" dirty="0">
                <a:solidFill>
                  <a:srgbClr val="FFFFFF"/>
                </a:solidFill>
                <a:latin typeface="Arial Black" pitchFamily="34" charset="0"/>
                <a:ea typeface="Arial Black" pitchFamily="34" charset="-122"/>
                <a:cs typeface="Arial Black" pitchFamily="34" charset="-120"/>
              </a:rPr>
              <a:t>EL ALCANCE NO ES</a:t>
            </a:r>
            <a:endParaRPr lang="en-US" sz="4000" dirty="0"/>
          </a:p>
          <a:p>
            <a:pPr indent="0" marL="0">
              <a:lnSpc>
                <a:spcPct val="102000"/>
              </a:lnSpc>
              <a:buNone/>
            </a:pPr>
            <a:r>
              <a:rPr lang="en-US" sz="4000" dirty="0">
                <a:solidFill>
                  <a:srgbClr val="FFFFFF"/>
                </a:solidFill>
                <a:latin typeface="Arial Black" pitchFamily="34" charset="0"/>
                <a:ea typeface="Arial Black" pitchFamily="34" charset="-122"/>
                <a:cs typeface="Arial Black" pitchFamily="34" charset="-120"/>
              </a:rPr>
              <a:t>LO QUE VAS A HACER.</a:t>
            </a:r>
            <a:endParaRPr lang="en-US" sz="4000" dirty="0"/>
          </a:p>
          <a:p>
            <a:pPr indent="0" marL="0">
              <a:lnSpc>
                <a:spcPct val="102000"/>
              </a:lnSpc>
              <a:buNone/>
            </a:pPr>
            <a:r>
              <a:rPr lang="en-US" sz="4000" dirty="0">
                <a:solidFill>
                  <a:srgbClr val="FFFFFF"/>
                </a:solidFill>
                <a:latin typeface="Arial Black" pitchFamily="34" charset="0"/>
                <a:ea typeface="Arial Black" pitchFamily="34" charset="-122"/>
                <a:cs typeface="Arial Black" pitchFamily="34" charset="-120"/>
              </a:rPr>
              <a:t>ES LO QUE DECIDISTE</a:t>
            </a:r>
            <a:endParaRPr lang="en-US" sz="4000" dirty="0"/>
          </a:p>
          <a:p>
            <a:pPr indent="0" marL="0">
              <a:lnSpc>
                <a:spcPct val="102000"/>
              </a:lnSpc>
              <a:buNone/>
            </a:pPr>
            <a:r>
              <a:rPr lang="en-US" sz="4000" dirty="0">
                <a:solidFill>
                  <a:srgbClr val="FFFFFF"/>
                </a:solidFill>
                <a:latin typeface="Arial Black" pitchFamily="34" charset="0"/>
                <a:ea typeface="Arial Black" pitchFamily="34" charset="-122"/>
                <a:cs typeface="Arial Black" pitchFamily="34" charset="-120"/>
              </a:rPr>
              <a:t>NO HACER.</a:t>
            </a:r>
            <a:endParaRPr lang="en-US" sz="4000" dirty="0"/>
          </a:p>
        </p:txBody>
      </p:sp>
      <p:sp>
        <p:nvSpPr>
          <p:cNvPr id="5" name="Text 2"/>
          <p:cNvSpPr/>
          <p:nvPr/>
        </p:nvSpPr>
        <p:spPr>
          <a:xfrm>
            <a:off x="566928" y="5486400"/>
            <a:ext cx="8686800" cy="731520"/>
          </a:xfrm>
          <a:prstGeom prst="rect">
            <a:avLst/>
          </a:prstGeom>
          <a:noFill/>
          <a:ln/>
        </p:spPr>
        <p:txBody>
          <a:bodyPr wrap="square" lIns="0" tIns="0" rIns="0" bIns="0" rtlCol="0" anchor="t"/>
          <a:lstStyle/>
          <a:p>
            <a:pPr indent="0" marL="0">
              <a:lnSpc>
                <a:spcPct val="135000"/>
              </a:lnSpc>
              <a:buNone/>
            </a:pPr>
            <a:r>
              <a:rPr lang="en-US" sz="1000" dirty="0">
                <a:solidFill>
                  <a:srgbClr val="6E6A7C"/>
                </a:solidFill>
                <a:latin typeface="Courier New" pitchFamily="34" charset="0"/>
                <a:ea typeface="Courier New" pitchFamily="34" charset="-122"/>
                <a:cs typeface="Courier New" pitchFamily="34" charset="-120"/>
              </a:rPr>
              <a:t>Universidad de San Buenaventura Medellín · Facultad de Ingeniería</a:t>
            </a:r>
            <a:endParaRPr lang="en-US" sz="1000" dirty="0"/>
          </a:p>
          <a:p>
            <a:pPr indent="0" marL="0">
              <a:lnSpc>
                <a:spcPct val="135000"/>
              </a:lnSpc>
              <a:buNone/>
            </a:pPr>
            <a:r>
              <a:rPr lang="en-US" sz="1000" dirty="0">
                <a:solidFill>
                  <a:srgbClr val="6E6A7C"/>
                </a:solidFill>
                <a:latin typeface="Courier New" pitchFamily="34" charset="0"/>
                <a:ea typeface="Courier New" pitchFamily="34" charset="-122"/>
                <a:cs typeface="Courier New" pitchFamily="34" charset="-120"/>
              </a:rPr>
              <a:t>Blockchain y Web 3.0 · El proyecto del docente · Acotar el alcance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proyecto del docente · Acotar el alcance</dc:title>
  <dc:subject>Entradas con reventa controlada</dc:subject>
  <dc:creator>Universidad de San Buenaventura Medellín</dc:creator>
  <cp:lastModifiedBy>Universidad de San Buenaventura Medellín</cp:lastModifiedBy>
  <cp:revision>1</cp:revision>
  <dcterms:created xsi:type="dcterms:W3CDTF">2026-08-28T12:27:54Z</dcterms:created>
  <dcterms:modified xsi:type="dcterms:W3CDTF">2026-08-28T12:27:54Z</dcterms:modified>
</cp:coreProperties>
</file>