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Lst>
  <p:notesMasterIdLst>
    <p:notesMasterId r:id="rId6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notesMaster" Target="notesMasters/notesMaster1.xml"/><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Dedicar dos minutos a esto. El grupo debe reconocer los cuatro tipos de caja antes de que aparezca la primera. Aclarar que las fichas de profundidad no se evalúan salvo que el proyecto del estudiante toque ese 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marcas de minuto son referencia de ritmo, no camisa de fuerza. Si el grupo llega sin base de redes, extender A.2 y recortar A.6, que es el más prescindible.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Anunciar explícitamente que hoy no se califica nada. Baja la ansiedad del primer día y permite que las preguntas fluyan.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Ana firma dos transferencias válidas de la misma moneda, ambas son criptográficamente impecables. El problema es decidir cuál ocurrió primero, y lograr que todos los participantes coincidan en esa decisión sin consultar a una autoridad. Este es el punto que hay que dejar clavado antes de seguir.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Insistir en la distinción: criptografía resuelve autenticidad e integridad. No resuelve orden ni acuerdo. Esa es la brecha que quedó abierta desde los años ochenta.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reencuadre es la bisagra de toda la sesión. La segunda pregunta sí tiene solución, y esa solución es el objeto de estudio del curso completo. Si el grupo no cruza este puente, el resto no se sostiene.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Señalar que DLT es el término que aparece en documentos regulatorios y de banca central, donde «blockchain» se evita por su carga de mercadeo.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esencial: NINGÚN componente falló. Las firmas eran válidas, los mensajes íntegros, los nodos honestos. El fallo es arquitectónico: falta un mecanismo para establecer un orden único y global.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el diagrama de izquierda a derecha. El punto es la caja naranja del centro: ambas ramas son legítimas por separado y solo entran en conflicto cuando la red intenta unificarlas.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Ese endurecimiento del modelo de fallas es lo que hace el problema difícil. Se formaliza en la Sesión 4 con el problema de los generales bizantinos (Lamport, Shostak y Pease, 1982).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corregir todavía. Dejar que el grupo llegue solo a que sí funciona, y que la objeción no es técnica sino de poder y de dependencia.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Marcar el tono: esta sección no es un ataque a la banca. Es un análisis de qué garantiza y qué cuesta. El estudiante que sale de aquí creyendo que los bancos están rotos no entendió la sesión.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reversibilidad es la que más cuesta aceptar a los entusiastas. Insistir: poder revertir un fraude es una propiedad valiosa, y renunciar a ella tiene que estar justificado.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Enfatizar que ninguno de estos cuatro se arregla con mejor software. Son consecuencias de la topología, no de la implementación.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Determinar cuándo se cumple esa condición es la competencia profesional que el curso busca formar. Vuelve en A.7 como árbol de decisión y en la rúbrica del proyecto como criterio de pertinencia.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Durante veinte años nadie cerró esa brecha. Es importante que el grupo vea la genealogía antes de la tabla: evita la narrativa del genio solitario.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Chaum es el padre fundador del campo. Su fracaso empresarial no fue técnico: fue de modelo, porque el emisor central era él mismo.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b-money y bit gold llegaron conceptualmente hasta el borde. Lo que les faltó fue exactamente el mecanismo de consenso con incentivos, que es la contribución de 2008.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formaliza en la Sesión 4 y se implementa en la Sesión 3. Hoy basta la intuición de la asimetría costo/verificación.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contexto no es anecdótico. Explica por qué el diseño prioriza resistencia a la censura y ausencia de emisor por encima del rendimiento.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Quien aporta cómputo recibe monedas y comisiones; ese ingreso solo tiene valor si la red conserva credibilidad; atacar la red destruiría el valor de la recompensa que se busca. El atacante racional descubre que atacar le cuesta más de lo que le rinde.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sistema puede ser técnicamente vulnerable y en la práctica seguro porque el ataque no es rentable, y puede ser técnicamente sólido y en la práctica quebrado porque un incentivo mal calibrado hace que los honestos abandonen. Vuelve en la Sesión 9 y en la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Desarmar la definición cláusula por cláusula. Cada una carga un requisito de diseño, y todas se implementan en la Sesión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ambigüedad del nonce confunde a todo el mundo en la Sesión 5. Dejarla advertida hoy ahorra media hora entonces.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Señalar con el cursor que el valor del hash de un bloque aparece literalmente copiado en el campo «hash anterior» del siguiente. Ese es todo el mecanismo. La detección de manipulación es inmediata y no requiere confiar en nadie.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uno de los puntos donde más se exagera en la divulgación. La inmutabilidad es probabilística y creciente, no binaria.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Pedir a los estudiantes que, cuando propongan proyecto en la Sesión 6, digan explícitamente en qué fila se ubican y por qué.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Matizar: el caso de consorcio, con varias organizaciones que NO confían entre sí, es legítimo y frecuente en la industria. Lo que no se sostiene es la cadena privada de dueño único.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la Web 2.0 la identidad la otorga un servidor y por lo tanto la puede quitar. En Web3 la identidad es una clave que el usuario genera por su cuenta, sin pedir permiso y sin registro previo. Se ve en vivo en la demostración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Detalle menor pero útil para trabajos de grado: evita citas mal atribuidas.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lámina se puede proyectar de nuevo en la Sesión 6, cuando se entreguen los anteproyectos. Es el filtro de alcance.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Aplicar en orden estricto. La mayoría de las propuestas de proyecto mueren en el paso 1 o en el 3, y eso está bien: descartar con argumento es el aprendizaje.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paso 6 es el que más proyectos salva de ser malos. El último kilómetro —la conexión entre el mundo físico y el registro— no lo resuelve la tecnología sino el diseño institucional.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trata a fondo en la Sesión 14 con oráculos descentralizados. Hoy basta con que quede enunciado, porque condiciona los anteproyectos de la Sesión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tabla sirve para razonar en órdenes de magnitud, que es lo que se necesita para decidir una arquitectura — no como dato duro.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Pausa de 10 minutos al terminar. El bloque B empieza en el minuto 115.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pregunta cierra el círculo abierto en A.2 —el costo de confiar en un tercero— y en A.6 —la descentralización como variable continua—.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poder de ordenar transacciones tiene nombre propio y mercado detrás: se llama MEV y se ve en la lámina de profundidad de este mismo bloque.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tres son los que faltan en casi toda la divulgación, y son justamente donde se concentra el poder real del ecosistema.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tensión central del ecosistema. Sirve para aterrizar la pregunta del aula que cierra B.1.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Pedir que, en el anteproyecto de la Sesión 6, cada equipo diga en qué dimensiones necesita descentralización y en cuáles no. Casi nunca las necesita todas.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Cuando alguien afirme que un sistema «es descentralizado», la pregunta profesional es siempre: ¿en qué dimensión, y comparado con qué?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error de encuadre más común es tratarlos como competidores. Sirven propósitos distintos y sus decisiones de diseño se siguen de ahí.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argumento de empleabilidad del curso, y conviene decirlo explícitamente.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Buena parte de la actividad real ya no ocurre en la capa base. Sin las capas 2 el mapa del territorio queda incompleto.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Insistir en la honestidad del segundo renglón. Un curso que oculta que la especulación es el uso dominante pierde credibilidad ante los estudiantes que ya lo saben.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fila remite a un paso concreto del árbol de A.7. Eso convierte el árbol en una herramienta con respaldo empírico, no en una opinión del docente.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dar cifras concretas sin fuente y fecha. Si algún estudiante pregunta por números, remitir a la Sesión 16 y al requisito de citar fuente en el proyecto.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Repartir los casos, no dejar que elijan: si eligen, casi todos toman el 1. El caso 2 es el más rico para discutir.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Pedir al grupo que digan cuál de las cinco les resultó más contraintuitiva. Suele ser la 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de la semana: si una cadena de bloques garantiza que un registro no fue alterado después de escrito, ¿qué garantiza sobre la veracidad de ese registro en el momento de escribirlo? Ilústrelo con un ejemplo propio.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la sesión aquí. Es el gancho para que lleguen con la lectura hecha.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anexo se puede usar como quiz rápido: leer la frase y pedir al grupo que explique por qué es falsa.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última es la más importante para el criterio profesional: obliga a preguntar «descentralizado en qué dimensión».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Glosario acumulativo: cada sesión añade entradas y ninguna se elimina.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Glosario acumulativo: cada sesión añade entradas y ninguna se elimina.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Glosario acumulativo: cada sesión añade entradas y ninguna se elimina.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Glosario acumulativo: cada sesión añade entradas y ninguna se elimina.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Glosario acumulativo: cada sesión añade entradas y ninguna se elimina.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Glosario acumulativo: cada sesión añade entradas y ninguna se elimina.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fuentes primarias son estables y no requieren verificación de vigencia. Los datos de rendimiento y las redes de prueba sí.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1.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4.png"/><Relationship Id="rId5" Type="http://schemas.openxmlformats.org/officeDocument/2006/relationships/slideLayout" Target="../slideLayouts/slideLayout1.xml"/><Relationship Id="rId6"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slideLayout" Target="../slideLayouts/slideLayout1.xml"/><Relationship Id="rId5"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image" Target="../media/image-48-3.png"/><Relationship Id="rId4" Type="http://schemas.openxmlformats.org/officeDocument/2006/relationships/slideLayout" Target="../slideLayouts/slideLayout1.xml"/><Relationship Id="rId5"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slideLayout" Target="../slideLayouts/slideLayout1.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slideLayout" Target="../slideLayouts/slideLayout1.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F07F06"/>
          </a:solidFill>
          <a:ln w="12700">
            <a:solidFill>
              <a:srgbClr val="333333"/>
            </a:solidFill>
            <a:prstDash val="solid"/>
          </a:ln>
        </p:spPr>
      </p:sp>
      <p:sp>
        <p:nvSpPr>
          <p:cNvPr id="3" name="Text 1"/>
          <p:cNvSpPr/>
          <p:nvPr/>
        </p:nvSpPr>
        <p:spPr>
          <a:xfrm>
            <a:off x="0" y="1920240"/>
            <a:ext cx="3749040" cy="2743200"/>
          </a:xfrm>
          <a:prstGeom prst="rect">
            <a:avLst/>
          </a:prstGeom>
          <a:noFill/>
          <a:ln/>
        </p:spPr>
        <p:txBody>
          <a:bodyPr wrap="square" lIns="0" tIns="0" rIns="0" bIns="0" rtlCol="0" anchor="ctr"/>
          <a:lstStyle/>
          <a:p>
            <a:pPr algn="ctr" indent="0" marL="0">
              <a:buNone/>
            </a:pPr>
            <a:r>
              <a:rPr lang="en-US" sz="19000" dirty="0">
                <a:solidFill>
                  <a:srgbClr val="0F0F11"/>
                </a:solidFill>
                <a:latin typeface="Arial Black" pitchFamily="34" charset="0"/>
                <a:ea typeface="Arial Black" pitchFamily="34" charset="-122"/>
                <a:cs typeface="Arial Black" pitchFamily="34" charset="-120"/>
              </a:rPr>
              <a:t>01</a:t>
            </a:r>
            <a:endParaRPr lang="en-US" sz="19000" dirty="0"/>
          </a:p>
        </p:txBody>
      </p:sp>
      <p:pic>
        <p:nvPicPr>
          <p:cNvPr id="4" name="Image 0" descr="preencoded.png">    </p:cNvPr>
          <p:cNvPicPr>
            <a:picLocks noChangeAspect="1"/>
          </p:cNvPicPr>
          <p:nvPr/>
        </p:nvPicPr>
        <p:blipFill>
          <a:blip r:embed="rId1"/>
          <a:stretch>
            <a:fillRect/>
          </a:stretch>
        </p:blipFill>
        <p:spPr>
          <a:xfrm>
            <a:off x="4389120" y="1170432"/>
            <a:ext cx="310896" cy="310896"/>
          </a:xfrm>
          <a:prstGeom prst="rect">
            <a:avLst/>
          </a:prstGeom>
        </p:spPr>
      </p:pic>
      <p:sp>
        <p:nvSpPr>
          <p:cNvPr id="5" name="Text 2"/>
          <p:cNvSpPr/>
          <p:nvPr/>
        </p:nvSpPr>
        <p:spPr>
          <a:xfrm>
            <a:off x="4809744" y="1152144"/>
            <a:ext cx="6858000" cy="347472"/>
          </a:xfrm>
          <a:prstGeom prst="rect">
            <a:avLst/>
          </a:prstGeom>
          <a:noFill/>
          <a:ln/>
        </p:spPr>
        <p:txBody>
          <a:bodyPr wrap="square" lIns="0" tIns="0" rIns="0" bIns="0" rtlCol="0" anchor="ctr"/>
          <a:lstStyle/>
          <a:p>
            <a:pPr indent="0" marL="0">
              <a:buNone/>
            </a:pPr>
            <a:r>
              <a:rPr lang="en-US" sz="1050" spc="160" kern="0" dirty="0">
                <a:solidFill>
                  <a:srgbClr val="F07F06"/>
                </a:solidFill>
                <a:latin typeface="Courier New" pitchFamily="34" charset="0"/>
                <a:ea typeface="Courier New" pitchFamily="34" charset="-122"/>
                <a:cs typeface="Courier New" pitchFamily="34" charset="-120"/>
              </a:rPr>
              <a:t>UNIDAD I · FUNDAMENTOS DE SISTEMAS DISTRIBUIDOS CONFIABLES</a:t>
            </a:r>
            <a:endParaRPr lang="en-US" sz="1050" dirty="0"/>
          </a:p>
        </p:txBody>
      </p:sp>
      <p:sp>
        <p:nvSpPr>
          <p:cNvPr id="6" name="Text 3"/>
          <p:cNvSpPr/>
          <p:nvPr/>
        </p:nvSpPr>
        <p:spPr>
          <a:xfrm>
            <a:off x="4389120" y="1783080"/>
            <a:ext cx="7269480" cy="2286000"/>
          </a:xfrm>
          <a:prstGeom prst="rect">
            <a:avLst/>
          </a:prstGeom>
          <a:noFill/>
          <a:ln/>
        </p:spPr>
        <p:txBody>
          <a:bodyPr wrap="square" lIns="0" tIns="0" rIns="0" bIns="0" rtlCol="0" anchor="t"/>
          <a:lstStyle/>
          <a:p>
            <a:pPr indent="0" marL="0">
              <a:lnSpc>
                <a:spcPct val="95000"/>
              </a:lnSpc>
              <a:buNone/>
            </a:pPr>
            <a:r>
              <a:rPr lang="en-US" sz="4300" dirty="0">
                <a:solidFill>
                  <a:srgbClr val="FFFFFF"/>
                </a:solidFill>
                <a:latin typeface="Arial Black" pitchFamily="34" charset="0"/>
                <a:ea typeface="Arial Black" pitchFamily="34" charset="-122"/>
                <a:cs typeface="Arial Black" pitchFamily="34" charset="-120"/>
              </a:rPr>
              <a:t>¿QUÉ PROBLEMA RESUELVE REALMENTE BLOCKCHAIN?</a:t>
            </a:r>
            <a:endParaRPr lang="en-US" sz="4300" dirty="0"/>
          </a:p>
        </p:txBody>
      </p:sp>
      <p:sp>
        <p:nvSpPr>
          <p:cNvPr id="7" name="Text 4"/>
          <p:cNvSpPr/>
          <p:nvPr/>
        </p:nvSpPr>
        <p:spPr>
          <a:xfrm>
            <a:off x="4389120" y="4224528"/>
            <a:ext cx="7269480" cy="731520"/>
          </a:xfrm>
          <a:prstGeom prst="rect">
            <a:avLst/>
          </a:prstGeom>
          <a:noFill/>
          <a:ln/>
        </p:spPr>
        <p:txBody>
          <a:bodyPr wrap="square" lIns="0" tIns="0" rIns="0" bIns="0" rtlCol="0" anchor="t"/>
          <a:lstStyle/>
          <a:p>
            <a:pPr indent="0" marL="0">
              <a:lnSpc>
                <a:spcPct val="125000"/>
              </a:lnSpc>
              <a:buNone/>
            </a:pPr>
            <a:r>
              <a:rPr lang="en-US" sz="1450" dirty="0">
                <a:solidFill>
                  <a:srgbClr val="B9B4C4"/>
                </a:solidFill>
                <a:latin typeface="Arial" pitchFamily="34" charset="0"/>
                <a:ea typeface="Arial" pitchFamily="34" charset="-122"/>
                <a:cs typeface="Arial" pitchFamily="34" charset="-120"/>
              </a:rPr>
              <a:t>Blockchain y Web 3.0 · Ingeniería de Sistemas</a:t>
            </a:r>
            <a:endParaRPr lang="en-US" sz="1450" dirty="0"/>
          </a:p>
          <a:p>
            <a:pPr indent="0" marL="0">
              <a:lnSpc>
                <a:spcPct val="125000"/>
              </a:lnSpc>
              <a:buNone/>
            </a:pPr>
            <a:r>
              <a:rPr lang="en-US" sz="1450" dirty="0">
                <a:solidFill>
                  <a:srgbClr val="B9B4C4"/>
                </a:solidFill>
                <a:latin typeface="Arial" pitchFamily="34" charset="0"/>
                <a:ea typeface="Arial" pitchFamily="34" charset="-122"/>
                <a:cs typeface="Arial" pitchFamily="34" charset="-120"/>
              </a:rPr>
              <a:t>Universidad de San Buenaventura Medellín</a:t>
            </a:r>
            <a:endParaRPr lang="en-US" sz="1450" dirty="0"/>
          </a:p>
        </p:txBody>
      </p:sp>
      <p:sp>
        <p:nvSpPr>
          <p:cNvPr id="8" name="Text 5"/>
          <p:cNvSpPr/>
          <p:nvPr/>
        </p:nvSpPr>
        <p:spPr>
          <a:xfrm>
            <a:off x="4389120" y="5230368"/>
            <a:ext cx="1691640" cy="457200"/>
          </a:xfrm>
          <a:prstGeom prst="rect">
            <a:avLst/>
          </a:prstGeom>
          <a:noFill/>
          <a:ln/>
        </p:spPr>
        <p:txBody>
          <a:bodyPr wrap="square" lIns="0" tIns="0" rIns="0" bIns="0" rtlCol="0" anchor="t"/>
          <a:lstStyle/>
          <a:p>
            <a:pPr indent="0" marL="0">
              <a:lnSpc>
                <a:spcPct val="105000"/>
              </a:lnSpc>
              <a:buNone/>
            </a:pPr>
            <a:r>
              <a:rPr lang="en-US" sz="1150" b="1" dirty="0">
                <a:solidFill>
                  <a:srgbClr val="FFFFFF"/>
                </a:solidFill>
                <a:latin typeface="Courier New" pitchFamily="34" charset="0"/>
                <a:ea typeface="Courier New" pitchFamily="34" charset="-122"/>
                <a:cs typeface="Courier New" pitchFamily="34" charset="-120"/>
              </a:rPr>
              <a:t>180 MIN</a:t>
            </a:r>
            <a:endParaRPr lang="en-US" sz="1150" dirty="0"/>
          </a:p>
        </p:txBody>
      </p:sp>
      <p:sp>
        <p:nvSpPr>
          <p:cNvPr id="9" name="Text 6"/>
          <p:cNvSpPr/>
          <p:nvPr/>
        </p:nvSpPr>
        <p:spPr>
          <a:xfrm>
            <a:off x="4389120" y="5705856"/>
            <a:ext cx="1691640" cy="256032"/>
          </a:xfrm>
          <a:prstGeom prst="rect">
            <a:avLst/>
          </a:prstGeom>
          <a:noFill/>
          <a:ln/>
        </p:spPr>
        <p:txBody>
          <a:bodyPr wrap="square" lIns="0" tIns="0" rIns="0" bIns="0" rtlCol="0" anchor="t"/>
          <a:lstStyle/>
          <a:p>
            <a:pPr indent="0" marL="0">
              <a:buNone/>
            </a:pPr>
            <a:r>
              <a:rPr lang="en-US" sz="850" spc="120" kern="0" dirty="0">
                <a:solidFill>
                  <a:srgbClr val="A39EAF"/>
                </a:solidFill>
                <a:latin typeface="Courier New" pitchFamily="34" charset="0"/>
                <a:ea typeface="Courier New" pitchFamily="34" charset="-122"/>
                <a:cs typeface="Courier New" pitchFamily="34" charset="-120"/>
              </a:rPr>
              <a:t>DURACIÓN</a:t>
            </a:r>
            <a:endParaRPr lang="en-US" sz="850" dirty="0"/>
          </a:p>
        </p:txBody>
      </p:sp>
      <p:sp>
        <p:nvSpPr>
          <p:cNvPr id="10" name="Text 7"/>
          <p:cNvSpPr/>
          <p:nvPr/>
        </p:nvSpPr>
        <p:spPr>
          <a:xfrm>
            <a:off x="6217920" y="5230368"/>
            <a:ext cx="1691640" cy="457200"/>
          </a:xfrm>
          <a:prstGeom prst="rect">
            <a:avLst/>
          </a:prstGeom>
          <a:noFill/>
          <a:ln/>
        </p:spPr>
        <p:txBody>
          <a:bodyPr wrap="square" lIns="0" tIns="0" rIns="0" bIns="0" rtlCol="0" anchor="t"/>
          <a:lstStyle/>
          <a:p>
            <a:pPr indent="0" marL="0">
              <a:lnSpc>
                <a:spcPct val="105000"/>
              </a:lnSpc>
              <a:buNone/>
            </a:pPr>
            <a:r>
              <a:rPr lang="en-US" sz="1150" b="1" dirty="0">
                <a:solidFill>
                  <a:srgbClr val="FFFFFF"/>
                </a:solidFill>
                <a:latin typeface="Courier New" pitchFamily="34" charset="0"/>
                <a:ea typeface="Courier New" pitchFamily="34" charset="-122"/>
                <a:cs typeface="Courier New" pitchFamily="34" charset="-120"/>
              </a:rPr>
              <a:t>TEÓRICO-</a:t>
            </a:r>
            <a:endParaRPr lang="en-US" sz="1150" dirty="0"/>
          </a:p>
          <a:p>
            <a:pPr indent="0" marL="0">
              <a:lnSpc>
                <a:spcPct val="105000"/>
              </a:lnSpc>
              <a:buNone/>
            </a:pPr>
            <a:r>
              <a:rPr lang="en-US" sz="1150" b="1" dirty="0">
                <a:solidFill>
                  <a:srgbClr val="FFFFFF"/>
                </a:solidFill>
                <a:latin typeface="Courier New" pitchFamily="34" charset="0"/>
                <a:ea typeface="Courier New" pitchFamily="34" charset="-122"/>
                <a:cs typeface="Courier New" pitchFamily="34" charset="-120"/>
              </a:rPr>
              <a:t>CONCEPTUAL</a:t>
            </a:r>
            <a:endParaRPr lang="en-US" sz="1150" dirty="0"/>
          </a:p>
        </p:txBody>
      </p:sp>
      <p:sp>
        <p:nvSpPr>
          <p:cNvPr id="11" name="Text 8"/>
          <p:cNvSpPr/>
          <p:nvPr/>
        </p:nvSpPr>
        <p:spPr>
          <a:xfrm>
            <a:off x="6217920" y="5705856"/>
            <a:ext cx="1691640" cy="256032"/>
          </a:xfrm>
          <a:prstGeom prst="rect">
            <a:avLst/>
          </a:prstGeom>
          <a:noFill/>
          <a:ln/>
        </p:spPr>
        <p:txBody>
          <a:bodyPr wrap="square" lIns="0" tIns="0" rIns="0" bIns="0" rtlCol="0" anchor="t"/>
          <a:lstStyle/>
          <a:p>
            <a:pPr indent="0" marL="0">
              <a:buNone/>
            </a:pPr>
            <a:r>
              <a:rPr lang="en-US" sz="850" spc="120" kern="0" dirty="0">
                <a:solidFill>
                  <a:srgbClr val="A39EAF"/>
                </a:solidFill>
                <a:latin typeface="Courier New" pitchFamily="34" charset="0"/>
                <a:ea typeface="Courier New" pitchFamily="34" charset="-122"/>
                <a:cs typeface="Courier New" pitchFamily="34" charset="-120"/>
              </a:rPr>
              <a:t>MODALIDAD</a:t>
            </a:r>
            <a:endParaRPr lang="en-US" sz="850" dirty="0"/>
          </a:p>
        </p:txBody>
      </p:sp>
      <p:sp>
        <p:nvSpPr>
          <p:cNvPr id="12" name="Text 9"/>
          <p:cNvSpPr/>
          <p:nvPr/>
        </p:nvSpPr>
        <p:spPr>
          <a:xfrm>
            <a:off x="8046720" y="5230368"/>
            <a:ext cx="1691640" cy="457200"/>
          </a:xfrm>
          <a:prstGeom prst="rect">
            <a:avLst/>
          </a:prstGeom>
          <a:noFill/>
          <a:ln/>
        </p:spPr>
        <p:txBody>
          <a:bodyPr wrap="square" lIns="0" tIns="0" rIns="0" bIns="0" rtlCol="0" anchor="t"/>
          <a:lstStyle/>
          <a:p>
            <a:pPr indent="0" marL="0">
              <a:lnSpc>
                <a:spcPct val="105000"/>
              </a:lnSpc>
              <a:buNone/>
            </a:pPr>
            <a:r>
              <a:rPr lang="en-US" sz="1150" b="1" dirty="0">
                <a:solidFill>
                  <a:srgbClr val="FFFFFF"/>
                </a:solidFill>
                <a:latin typeface="Courier New" pitchFamily="34" charset="0"/>
                <a:ea typeface="Courier New" pitchFamily="34" charset="-122"/>
                <a:cs typeface="Courier New" pitchFamily="34" charset="-120"/>
              </a:rPr>
              <a:t>NO SE</a:t>
            </a:r>
            <a:endParaRPr lang="en-US" sz="1150" dirty="0"/>
          </a:p>
          <a:p>
            <a:pPr indent="0" marL="0">
              <a:lnSpc>
                <a:spcPct val="105000"/>
              </a:lnSpc>
              <a:buNone/>
            </a:pPr>
            <a:r>
              <a:rPr lang="en-US" sz="1150" b="1" dirty="0">
                <a:solidFill>
                  <a:srgbClr val="FFFFFF"/>
                </a:solidFill>
                <a:latin typeface="Courier New" pitchFamily="34" charset="0"/>
                <a:ea typeface="Courier New" pitchFamily="34" charset="-122"/>
                <a:cs typeface="Courier New" pitchFamily="34" charset="-120"/>
              </a:rPr>
              <a:t>REQUIERE</a:t>
            </a:r>
            <a:endParaRPr lang="en-US" sz="1150" dirty="0"/>
          </a:p>
        </p:txBody>
      </p:sp>
      <p:sp>
        <p:nvSpPr>
          <p:cNvPr id="13" name="Text 10"/>
          <p:cNvSpPr/>
          <p:nvPr/>
        </p:nvSpPr>
        <p:spPr>
          <a:xfrm>
            <a:off x="8046720" y="5705856"/>
            <a:ext cx="1691640" cy="256032"/>
          </a:xfrm>
          <a:prstGeom prst="rect">
            <a:avLst/>
          </a:prstGeom>
          <a:noFill/>
          <a:ln/>
        </p:spPr>
        <p:txBody>
          <a:bodyPr wrap="square" lIns="0" tIns="0" rIns="0" bIns="0" rtlCol="0" anchor="t"/>
          <a:lstStyle/>
          <a:p>
            <a:pPr indent="0" marL="0">
              <a:buNone/>
            </a:pPr>
            <a:r>
              <a:rPr lang="en-US" sz="850" spc="120" kern="0" dirty="0">
                <a:solidFill>
                  <a:srgbClr val="A39EAF"/>
                </a:solidFill>
                <a:latin typeface="Courier New" pitchFamily="34" charset="0"/>
                <a:ea typeface="Courier New" pitchFamily="34" charset="-122"/>
                <a:cs typeface="Courier New" pitchFamily="34" charset="-120"/>
              </a:rPr>
              <a:t>EQUIPO</a:t>
            </a:r>
            <a:endParaRPr lang="en-US" sz="850" dirty="0"/>
          </a:p>
        </p:txBody>
      </p:sp>
      <p:sp>
        <p:nvSpPr>
          <p:cNvPr id="14" name="Text 11"/>
          <p:cNvSpPr/>
          <p:nvPr/>
        </p:nvSpPr>
        <p:spPr>
          <a:xfrm>
            <a:off x="9875520" y="5230368"/>
            <a:ext cx="1691640" cy="457200"/>
          </a:xfrm>
          <a:prstGeom prst="rect">
            <a:avLst/>
          </a:prstGeom>
          <a:noFill/>
          <a:ln/>
        </p:spPr>
        <p:txBody>
          <a:bodyPr wrap="square" lIns="0" tIns="0" rIns="0" bIns="0" rtlCol="0" anchor="t"/>
          <a:lstStyle/>
          <a:p>
            <a:pPr indent="0" marL="0">
              <a:lnSpc>
                <a:spcPct val="105000"/>
              </a:lnSpc>
              <a:buNone/>
            </a:pPr>
            <a:r>
              <a:rPr lang="en-US" sz="1150" b="1" dirty="0">
                <a:solidFill>
                  <a:srgbClr val="FFFFFF"/>
                </a:solidFill>
                <a:latin typeface="Courier New" pitchFamily="34" charset="0"/>
                <a:ea typeface="Courier New" pitchFamily="34" charset="-122"/>
                <a:cs typeface="Courier New" pitchFamily="34" charset="-120"/>
              </a:rPr>
              <a:t>NINGUNO</a:t>
            </a:r>
            <a:endParaRPr lang="en-US" sz="1150" dirty="0"/>
          </a:p>
        </p:txBody>
      </p:sp>
      <p:sp>
        <p:nvSpPr>
          <p:cNvPr id="15" name="Text 12"/>
          <p:cNvSpPr/>
          <p:nvPr/>
        </p:nvSpPr>
        <p:spPr>
          <a:xfrm>
            <a:off x="9875520" y="5705856"/>
            <a:ext cx="1691640" cy="256032"/>
          </a:xfrm>
          <a:prstGeom prst="rect">
            <a:avLst/>
          </a:prstGeom>
          <a:noFill/>
          <a:ln/>
        </p:spPr>
        <p:txBody>
          <a:bodyPr wrap="square" lIns="0" tIns="0" rIns="0" bIns="0" rtlCol="0" anchor="t"/>
          <a:lstStyle/>
          <a:p>
            <a:pPr indent="0" marL="0">
              <a:buNone/>
            </a:pPr>
            <a:r>
              <a:rPr lang="en-US" sz="850" spc="120" kern="0" dirty="0">
                <a:solidFill>
                  <a:srgbClr val="A39EAF"/>
                </a:solidFill>
                <a:latin typeface="Courier New" pitchFamily="34" charset="0"/>
                <a:ea typeface="Courier New" pitchFamily="34" charset="-122"/>
                <a:cs typeface="Courier New" pitchFamily="34" charset="-120"/>
              </a:rPr>
              <a:t>ENTREGABLE</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PRELIMINAR · CÓMO LEER ESTE MATERIAL</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CONVENCIONES DEL DOCUMENTO</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01 · ¿QUÉ PROBLEMA RESUELVE REALMENTE BLOCKCHAIN?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02</a:t>
            </a:r>
            <a:endParaRPr lang="en-US" sz="900" dirty="0"/>
          </a:p>
        </p:txBody>
      </p:sp>
      <p:sp>
        <p:nvSpPr>
          <p:cNvPr id="8" name="Text 5"/>
          <p:cNvSpPr/>
          <p:nvPr/>
        </p:nvSpPr>
        <p:spPr>
          <a:xfrm>
            <a:off x="566928" y="1755648"/>
            <a:ext cx="11057839" cy="658368"/>
          </a:xfrm>
          <a:prstGeom prst="rect">
            <a:avLst/>
          </a:prstGeom>
          <a:noFill/>
          <a:ln/>
        </p:spPr>
        <p:txBody>
          <a:bodyPr wrap="square" lIns="0" tIns="0" rIns="0" bIns="0" rtlCol="0" anchor="t"/>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El material funciona a la vez como guion proyectado y como texto de estudio. Todo concepto se explica dentro del propio documento: ninguna sigla ni término técnico exige buscar información en otra parte.</a:t>
            </a:r>
            <a:endParaRPr lang="en-US" sz="1450" dirty="0"/>
          </a:p>
        </p:txBody>
      </p:sp>
      <p:sp>
        <p:nvSpPr>
          <p:cNvPr id="9" name="Shape 6"/>
          <p:cNvSpPr/>
          <p:nvPr/>
        </p:nvSpPr>
        <p:spPr>
          <a:xfrm>
            <a:off x="566928" y="2578608"/>
            <a:ext cx="5419192" cy="1133856"/>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pic>
        <p:nvPicPr>
          <p:cNvPr id="10" name="Image 1" descr="preencoded.png">    </p:cNvPr>
          <p:cNvPicPr>
            <a:picLocks noChangeAspect="1"/>
          </p:cNvPicPr>
          <p:nvPr/>
        </p:nvPicPr>
        <p:blipFill>
          <a:blip r:embed="rId2"/>
          <a:stretch>
            <a:fillRect/>
          </a:stretch>
        </p:blipFill>
        <p:spPr>
          <a:xfrm>
            <a:off x="804672" y="2798064"/>
            <a:ext cx="237744" cy="237744"/>
          </a:xfrm>
          <a:prstGeom prst="rect">
            <a:avLst/>
          </a:prstGeom>
        </p:spPr>
      </p:pic>
      <p:sp>
        <p:nvSpPr>
          <p:cNvPr id="11" name="Text 7"/>
          <p:cNvSpPr/>
          <p:nvPr/>
        </p:nvSpPr>
        <p:spPr>
          <a:xfrm>
            <a:off x="1133856" y="2770632"/>
            <a:ext cx="4596232" cy="292608"/>
          </a:xfrm>
          <a:prstGeom prst="rect">
            <a:avLst/>
          </a:prstGeom>
          <a:noFill/>
          <a:ln/>
        </p:spPr>
        <p:txBody>
          <a:bodyPr wrap="square" lIns="0" tIns="0" rIns="0" bIns="0" rtlCol="0" anchor="ctr"/>
          <a:lstStyle/>
          <a:p>
            <a:pPr indent="0" marL="0">
              <a:buNone/>
            </a:pPr>
            <a:r>
              <a:rPr lang="en-US" sz="950" b="1" spc="150" kern="0" dirty="0">
                <a:solidFill>
                  <a:srgbClr val="5638C9"/>
                </a:solidFill>
                <a:latin typeface="Courier New" pitchFamily="34" charset="0"/>
                <a:ea typeface="Courier New" pitchFamily="34" charset="-122"/>
                <a:cs typeface="Courier New" pitchFamily="34" charset="-120"/>
              </a:rPr>
              <a:t>FICHA DE TÉRMINO</a:t>
            </a:r>
            <a:endParaRPr lang="en-US" sz="950" dirty="0"/>
          </a:p>
        </p:txBody>
      </p:sp>
      <p:sp>
        <p:nvSpPr>
          <p:cNvPr id="12" name="Text 8"/>
          <p:cNvSpPr/>
          <p:nvPr/>
        </p:nvSpPr>
        <p:spPr>
          <a:xfrm>
            <a:off x="804672" y="3136392"/>
            <a:ext cx="4943704" cy="50292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Concepto central con definición formal, origen del nombre y explicación extendida.</a:t>
            </a:r>
            <a:endParaRPr lang="en-US" sz="1250" dirty="0"/>
          </a:p>
        </p:txBody>
      </p:sp>
      <p:sp>
        <p:nvSpPr>
          <p:cNvPr id="13" name="Shape 9"/>
          <p:cNvSpPr/>
          <p:nvPr/>
        </p:nvSpPr>
        <p:spPr>
          <a:xfrm>
            <a:off x="6205576" y="2578608"/>
            <a:ext cx="5419192" cy="1133856"/>
          </a:xfrm>
          <a:prstGeom prst="rect">
            <a:avLst/>
          </a:prstGeom>
          <a:solidFill>
            <a:srgbClr val="F2F0F5"/>
          </a:solidFill>
          <a:ln w="22225">
            <a:solidFill>
              <a:srgbClr val="0F0F11"/>
            </a:solidFill>
            <a:prstDash val="solid"/>
          </a:ln>
        </p:spPr>
      </p:sp>
      <p:pic>
        <p:nvPicPr>
          <p:cNvPr id="14" name="Image 2" descr="preencoded.png">    </p:cNvPr>
          <p:cNvPicPr>
            <a:picLocks noChangeAspect="1"/>
          </p:cNvPicPr>
          <p:nvPr/>
        </p:nvPicPr>
        <p:blipFill>
          <a:blip r:embed="rId3"/>
          <a:stretch>
            <a:fillRect/>
          </a:stretch>
        </p:blipFill>
        <p:spPr>
          <a:xfrm>
            <a:off x="6443320" y="2798064"/>
            <a:ext cx="237744" cy="237744"/>
          </a:xfrm>
          <a:prstGeom prst="rect">
            <a:avLst/>
          </a:prstGeom>
        </p:spPr>
      </p:pic>
      <p:sp>
        <p:nvSpPr>
          <p:cNvPr id="15" name="Text 10"/>
          <p:cNvSpPr/>
          <p:nvPr/>
        </p:nvSpPr>
        <p:spPr>
          <a:xfrm>
            <a:off x="6772504" y="2770632"/>
            <a:ext cx="4596232" cy="292608"/>
          </a:xfrm>
          <a:prstGeom prst="rect">
            <a:avLst/>
          </a:prstGeom>
          <a:noFill/>
          <a:ln/>
        </p:spPr>
        <p:txBody>
          <a:bodyPr wrap="square" lIns="0" tIns="0" rIns="0" bIns="0" rtlCol="0" anchor="ctr"/>
          <a:lstStyle/>
          <a:p>
            <a:pPr indent="0" marL="0">
              <a:buNone/>
            </a:pPr>
            <a:r>
              <a:rPr lang="en-US" sz="950" b="1" spc="150" kern="0" dirty="0">
                <a:solidFill>
                  <a:srgbClr val="6F6B80"/>
                </a:solidFill>
                <a:latin typeface="Courier New" pitchFamily="34" charset="0"/>
                <a:ea typeface="Courier New" pitchFamily="34" charset="-122"/>
                <a:cs typeface="Courier New" pitchFamily="34" charset="-120"/>
              </a:rPr>
              <a:t>PROFUNDIDAD</a:t>
            </a:r>
            <a:endParaRPr lang="en-US" sz="950" dirty="0"/>
          </a:p>
        </p:txBody>
      </p:sp>
      <p:sp>
        <p:nvSpPr>
          <p:cNvPr id="16" name="Text 11"/>
          <p:cNvSpPr/>
          <p:nvPr/>
        </p:nvSpPr>
        <p:spPr>
          <a:xfrm>
            <a:off x="6443320" y="3136392"/>
            <a:ext cx="4943704" cy="50292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Material que excede el mínimo evaluable. Opcional en primera lectura.</a:t>
            </a:r>
            <a:endParaRPr lang="en-US" sz="1250" dirty="0"/>
          </a:p>
        </p:txBody>
      </p:sp>
      <p:sp>
        <p:nvSpPr>
          <p:cNvPr id="17" name="Shape 12"/>
          <p:cNvSpPr/>
          <p:nvPr/>
        </p:nvSpPr>
        <p:spPr>
          <a:xfrm>
            <a:off x="566928" y="3877056"/>
            <a:ext cx="5419192" cy="1133856"/>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18" name="Image 3" descr="preencoded.png">    </p:cNvPr>
          <p:cNvPicPr>
            <a:picLocks noChangeAspect="1"/>
          </p:cNvPicPr>
          <p:nvPr/>
        </p:nvPicPr>
        <p:blipFill>
          <a:blip r:embed="rId4"/>
          <a:stretch>
            <a:fillRect/>
          </a:stretch>
        </p:blipFill>
        <p:spPr>
          <a:xfrm>
            <a:off x="804672" y="4096512"/>
            <a:ext cx="237744" cy="237744"/>
          </a:xfrm>
          <a:prstGeom prst="rect">
            <a:avLst/>
          </a:prstGeom>
        </p:spPr>
      </p:pic>
      <p:sp>
        <p:nvSpPr>
          <p:cNvPr id="19" name="Text 13"/>
          <p:cNvSpPr/>
          <p:nvPr/>
        </p:nvSpPr>
        <p:spPr>
          <a:xfrm>
            <a:off x="1133856" y="4069080"/>
            <a:ext cx="4596232"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ALERTA</a:t>
            </a:r>
            <a:endParaRPr lang="en-US" sz="950" dirty="0"/>
          </a:p>
        </p:txBody>
      </p:sp>
      <p:sp>
        <p:nvSpPr>
          <p:cNvPr id="20" name="Text 14"/>
          <p:cNvSpPr/>
          <p:nvPr/>
        </p:nvSpPr>
        <p:spPr>
          <a:xfrm>
            <a:off x="804672" y="4434840"/>
            <a:ext cx="4943704" cy="50292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Seguridad, errores frecuentes y afirmaciones falsas de circulación común. Se leen siempre.</a:t>
            </a:r>
            <a:endParaRPr lang="en-US" sz="1250" dirty="0"/>
          </a:p>
        </p:txBody>
      </p:sp>
      <p:sp>
        <p:nvSpPr>
          <p:cNvPr id="21" name="Text 15"/>
          <p:cNvSpPr/>
          <p:nvPr/>
        </p:nvSpPr>
        <p:spPr>
          <a:xfrm>
            <a:off x="566928" y="5285232"/>
            <a:ext cx="11057839" cy="548640"/>
          </a:xfrm>
          <a:prstGeom prst="rect">
            <a:avLst/>
          </a:prstGeom>
          <a:noFill/>
          <a:ln/>
        </p:spPr>
        <p:txBody>
          <a:bodyPr wrap="square" lIns="0" tIns="0" rIns="0" bIns="0" rtlCol="0" anchor="t"/>
          <a:lstStyle/>
          <a:p>
            <a:pPr indent="0" marL="0">
              <a:lnSpc>
                <a:spcPct val="124000"/>
              </a:lnSpc>
              <a:buNone/>
            </a:pPr>
            <a:r>
              <a:rPr lang="en-US" sz="1300" dirty="0">
                <a:solidFill>
                  <a:srgbClr val="6F6B80"/>
                </a:solidFill>
                <a:latin typeface="Arial" pitchFamily="34" charset="0"/>
                <a:ea typeface="Arial" pitchFamily="34" charset="-122"/>
                <a:cs typeface="Arial" pitchFamily="34" charset="-120"/>
              </a:rPr>
              <a:t>Las siglas se expanden entre corchetes en el mismo renglón, siempre visibles. Los diagramas no ilustran: cada uno sustituye a un párrafo.</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PRELIMINAR · ESTRUCTURA DE LOS 180 MINUTOS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MAPA DE LA SESIÓN</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01 · ¿QUÉ PROBLEMA RESUELVE REALMENTE BLOCKCHAIN?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03</a:t>
            </a:r>
            <a:endParaRPr lang="en-US"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66928" y="1755648"/>
          <a:ext cx="11057839" cy="914400"/>
        </p:xfrm>
        <a:graphic>
          <a:graphicData uri="http://schemas.openxmlformats.org/drawingml/2006/table">
            <a:tbl>
              <a:tblPr/>
              <a:tblGrid>
                <a:gridCol w="1051560"/>
                <a:gridCol w="1371600"/>
                <a:gridCol w="863467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MIN</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BLOQUE</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CONTENIDO</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304365">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00–10</a:t>
                      </a:r>
                      <a:endParaRPr lang="en-US" sz="110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Apertura</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Presentación del curso, del proyecto integrador y de la regla de oro: nunca dinero real.</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304365">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10–30</a:t>
                      </a:r>
                      <a:endParaRPr lang="en-US" sz="110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A.1</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El doble gasto: por qué el dinero digital sin intermediario fue un problema abierto treinta años.</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304365">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30–45</a:t>
                      </a:r>
                      <a:endParaRPr lang="en-US" sz="110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A.2</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El tercero de confianza: qué garantiza realmente un banco y cuál es el costo de esa garantía.</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304365">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45–60</a:t>
                      </a:r>
                      <a:endParaRPr lang="en-US" sz="110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A.3</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Los intentos fallidos: DigiCash, Hashcash, b-money, bit gold.</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304365">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60–72</a:t>
                      </a:r>
                      <a:endParaRPr lang="en-US" sz="110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A.4</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2008 y la síntesis: Bitcoin no inventó ninguna pieza; ensambló cinco existentes.</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304365">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72–82</a:t>
                      </a:r>
                      <a:endParaRPr lang="en-US" sz="110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A.5</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Anatomía conceptual: qué es una cadena de bloques en términos de estructuras de datos.</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304365">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82–92</a:t>
                      </a:r>
                      <a:endParaRPr lang="en-US" sz="110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A.6</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Taxonomía de redes y qué significa —y qué no— «Web 3.0».</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304365">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92–105</a:t>
                      </a:r>
                      <a:endParaRPr lang="en-US" sz="110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A.7</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Cuándo NO usar blockchain. La sección más importante de la sesión.</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304365">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105–115</a:t>
                      </a:r>
                      <a:endParaRPr lang="en-US" sz="110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Pausa</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304365">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115–132</a:t>
                      </a:r>
                      <a:endParaRPr lang="en-US" sz="110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B.1</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El ecosistema: quién sostiene la red y por qué la descentralización es un vector.</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304365">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132–147</a:t>
                      </a:r>
                      <a:endParaRPr lang="en-US" sz="110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B.2</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Mapa del territorio: Bitcoin, Ethereum, compatibilidad con la EVM y las capas.</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304365">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147–160</a:t>
                      </a:r>
                      <a:endParaRPr lang="en-US" sz="110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B.3</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Adopción real: qué encontró uso sostenido después de quince años y qué no.</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304365">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160–172</a:t>
                      </a:r>
                      <a:endParaRPr lang="en-US" sz="110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B.4</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Taller de casos en grupos de tres. Aplicar el árbol de decisión y defenderlo.</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304365">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172–180</a:t>
                      </a:r>
                      <a:endParaRPr lang="en-US" sz="110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BLOQUE C</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Síntesis, pregunta de la semana y lectura obligatoria para la Sesión 2.</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9" name="Shape 5"/>
          <p:cNvSpPr/>
          <p:nvPr/>
        </p:nvSpPr>
        <p:spPr>
          <a:xfrm>
            <a:off x="548640" y="1737360"/>
            <a:ext cx="11094415" cy="4608576"/>
          </a:xfrm>
          <a:prstGeom prst="rect">
            <a:avLst/>
          </a:prstGeom>
          <a:ln w="22225">
            <a:solidFill>
              <a:srgbClr val="0F0F11"/>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PRELIMINAR · QUÉ SE ESPERA AL TERMINAR</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RESULTADOS DE APRENDIZAJE</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01 · ¿QUÉ PROBLEMA RESUELVE REALMENTE BLOCKCHAIN?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04</a:t>
            </a:r>
            <a:endParaRPr lang="en-US" sz="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66928" y="1783080"/>
          <a:ext cx="11057839" cy="914400"/>
        </p:xfrm>
        <a:graphic>
          <a:graphicData uri="http://schemas.openxmlformats.org/drawingml/2006/table">
            <a:tbl>
              <a:tblPr/>
              <a:tblGrid>
                <a:gridCol w="777240"/>
                <a:gridCol w="5120640"/>
                <a:gridCol w="1417320"/>
                <a:gridCol w="374263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RA</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RESULTADO DE APRENDIZAJE</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NIVEL</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DÓNDE SE EVIDENCIA</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658368">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RA1</a:t>
                      </a:r>
                      <a:endParaRPr lang="en-US" sz="120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Explicar los fundamentos criptográficos que sustentan la integridad de un registro distribuido.</a:t>
                      </a:r>
                      <a:endParaRPr lang="en-US" sz="12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Comprender</a:t>
                      </a:r>
                      <a:endParaRPr lang="en-US" sz="12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Se introduce hoy · se evalúa en el Quiz 1 (S4)</a:t>
                      </a:r>
                      <a:endParaRPr lang="en-US" sz="12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RA2</a:t>
                      </a:r>
                      <a:endParaRPr lang="en-US" sz="120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Comparar arquitecturas y justificar la elección frente a un problema concreto.</a:t>
                      </a:r>
                      <a:endParaRPr lang="en-US" sz="12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Analizar</a:t>
                      </a:r>
                      <a:endParaRPr lang="en-US" sz="12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Taller A.7 · Anteproyecto (S6)</a:t>
                      </a:r>
                      <a:endParaRPr lang="en-US" sz="12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658368">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RA7</a:t>
                      </a:r>
                      <a:endParaRPr lang="en-US" sz="120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Evaluar críticamente implicaciones económicas, éticas y regulatorias.</a:t>
                      </a:r>
                      <a:endParaRPr lang="en-US" sz="12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Evaluar</a:t>
                      </a:r>
                      <a:endParaRPr lang="en-US" sz="12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Discusión A.4 y A.7 · Ensayo final</a:t>
                      </a:r>
                      <a:endParaRPr lang="en-US" sz="12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1764792"/>
            <a:ext cx="11094415" cy="2322576"/>
          </a:xfrm>
          <a:prstGeom prst="rect">
            <a:avLst/>
          </a:prstGeom>
          <a:ln w="22225">
            <a:solidFill>
              <a:srgbClr val="0F0F11"/>
            </a:solidFill>
            <a:prstDash val="solid"/>
          </a:ln>
        </p:spPr>
      </p:sp>
      <p:sp>
        <p:nvSpPr>
          <p:cNvPr id="10" name="Shape 6"/>
          <p:cNvSpPr/>
          <p:nvPr/>
        </p:nvSpPr>
        <p:spPr>
          <a:xfrm>
            <a:off x="566928" y="4434840"/>
            <a:ext cx="11057839" cy="1572768"/>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pic>
        <p:nvPicPr>
          <p:cNvPr id="11" name="Image 1" descr="preencoded.png">    </p:cNvPr>
          <p:cNvPicPr>
            <a:picLocks noChangeAspect="1"/>
          </p:cNvPicPr>
          <p:nvPr/>
        </p:nvPicPr>
        <p:blipFill>
          <a:blip r:embed="rId2"/>
          <a:stretch>
            <a:fillRect/>
          </a:stretch>
        </p:blipFill>
        <p:spPr>
          <a:xfrm>
            <a:off x="804672" y="4654296"/>
            <a:ext cx="237744" cy="237744"/>
          </a:xfrm>
          <a:prstGeom prst="rect">
            <a:avLst/>
          </a:prstGeom>
        </p:spPr>
      </p:pic>
      <p:sp>
        <p:nvSpPr>
          <p:cNvPr id="12" name="Text 7"/>
          <p:cNvSpPr/>
          <p:nvPr/>
        </p:nvSpPr>
        <p:spPr>
          <a:xfrm>
            <a:off x="1133856" y="4626864"/>
            <a:ext cx="10234879" cy="292608"/>
          </a:xfrm>
          <a:prstGeom prst="rect">
            <a:avLst/>
          </a:prstGeom>
          <a:noFill/>
          <a:ln/>
        </p:spPr>
        <p:txBody>
          <a:bodyPr wrap="square" lIns="0" tIns="0" rIns="0" bIns="0" rtlCol="0" anchor="ctr"/>
          <a:lstStyle/>
          <a:p>
            <a:pPr indent="0" marL="0">
              <a:buNone/>
            </a:pPr>
            <a:r>
              <a:rPr lang="en-US" sz="950" b="1" spc="150" kern="0" dirty="0">
                <a:solidFill>
                  <a:srgbClr val="0F0F11"/>
                </a:solidFill>
                <a:latin typeface="Courier New" pitchFamily="34" charset="0"/>
                <a:ea typeface="Courier New" pitchFamily="34" charset="-122"/>
                <a:cs typeface="Courier New" pitchFamily="34" charset="-120"/>
              </a:rPr>
              <a:t>SOBRE ESTA SESIÓN</a:t>
            </a:r>
            <a:endParaRPr lang="en-US" sz="950" dirty="0"/>
          </a:p>
        </p:txBody>
      </p:sp>
      <p:sp>
        <p:nvSpPr>
          <p:cNvPr id="13" name="Text 8"/>
          <p:cNvSpPr/>
          <p:nvPr/>
        </p:nvSpPr>
        <p:spPr>
          <a:xfrm>
            <a:off x="804672" y="5020056"/>
            <a:ext cx="10582351" cy="86868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Esta sesión es íntegramente teórica: sin computadores, sin laboratorio y sin entregable. Su función es construir el modelo mental sobre el que descansa el resto del semestre. La Sesión 2 abre con la demostración en vivo y sigue con el primer laboratorio en máquina.</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2240280"/>
            <a:ext cx="3017520" cy="2377440"/>
          </a:xfrm>
          <a:prstGeom prst="rect">
            <a:avLst/>
          </a:prstGeom>
          <a:solidFill>
            <a:srgbClr val="F07F06"/>
          </a:solidFill>
          <a:ln w="12700">
            <a:solidFill>
              <a:srgbClr val="F07F06"/>
            </a:solidFill>
            <a:prstDash val="solid"/>
          </a:ln>
        </p:spPr>
      </p:sp>
      <p:sp>
        <p:nvSpPr>
          <p:cNvPr id="3" name="Text 1"/>
          <p:cNvSpPr/>
          <p:nvPr/>
        </p:nvSpPr>
        <p:spPr>
          <a:xfrm>
            <a:off x="0" y="2240280"/>
            <a:ext cx="3017520" cy="2377440"/>
          </a:xfrm>
          <a:prstGeom prst="rect">
            <a:avLst/>
          </a:prstGeom>
          <a:noFill/>
          <a:ln/>
        </p:spPr>
        <p:txBody>
          <a:bodyPr wrap="square" lIns="0" tIns="0" rIns="0" bIns="0" rtlCol="0" anchor="ctr"/>
          <a:lstStyle/>
          <a:p>
            <a:pPr algn="ctr" indent="0" marL="0">
              <a:buNone/>
            </a:pPr>
            <a:r>
              <a:rPr lang="en-US" sz="11800" dirty="0">
                <a:solidFill>
                  <a:srgbClr val="0F0F11"/>
                </a:solidFill>
                <a:latin typeface="Arial Black" pitchFamily="34" charset="0"/>
                <a:ea typeface="Arial Black" pitchFamily="34" charset="-122"/>
                <a:cs typeface="Arial Black" pitchFamily="34" charset="-120"/>
              </a:rPr>
              <a:t>A</a:t>
            </a:r>
            <a:endParaRPr lang="en-US" sz="11800" dirty="0"/>
          </a:p>
        </p:txBody>
      </p:sp>
      <p:pic>
        <p:nvPicPr>
          <p:cNvPr id="4" name="Image 0" descr="preencoded.png">    </p:cNvPr>
          <p:cNvPicPr>
            <a:picLocks noChangeAspect="1"/>
          </p:cNvPicPr>
          <p:nvPr/>
        </p:nvPicPr>
        <p:blipFill>
          <a:blip r:embed="rId1"/>
          <a:stretch>
            <a:fillRect/>
          </a:stretch>
        </p:blipFill>
        <p:spPr>
          <a:xfrm>
            <a:off x="3611880" y="2286000"/>
            <a:ext cx="329184" cy="329184"/>
          </a:xfrm>
          <a:prstGeom prst="rect">
            <a:avLst/>
          </a:prstGeom>
        </p:spPr>
      </p:pic>
      <p:sp>
        <p:nvSpPr>
          <p:cNvPr id="5" name="Text 2"/>
          <p:cNvSpPr/>
          <p:nvPr/>
        </p:nvSpPr>
        <p:spPr>
          <a:xfrm>
            <a:off x="4069080" y="2258568"/>
            <a:ext cx="7223760" cy="365760"/>
          </a:xfrm>
          <a:prstGeom prst="rect">
            <a:avLst/>
          </a:prstGeom>
          <a:noFill/>
          <a:ln/>
        </p:spPr>
        <p:txBody>
          <a:bodyPr wrap="square" lIns="0" tIns="0" rIns="0" bIns="0" rtlCol="0" anchor="ctr"/>
          <a:lstStyle/>
          <a:p>
            <a:pPr indent="0" marL="0">
              <a:buNone/>
            </a:pPr>
            <a:r>
              <a:rPr lang="en-US" sz="1100" spc="180" kern="0" dirty="0">
                <a:solidFill>
                  <a:srgbClr val="F07F06"/>
                </a:solidFill>
                <a:latin typeface="Courier New" pitchFamily="34" charset="0"/>
                <a:ea typeface="Courier New" pitchFamily="34" charset="-122"/>
                <a:cs typeface="Courier New" pitchFamily="34" charset="-120"/>
              </a:rPr>
              <a:t>MIN 10 — 105 · EXPOSICIÓN DIALOGADA</a:t>
            </a:r>
            <a:endParaRPr lang="en-US" sz="1100" dirty="0"/>
          </a:p>
        </p:txBody>
      </p:sp>
      <p:sp>
        <p:nvSpPr>
          <p:cNvPr id="6" name="Text 3"/>
          <p:cNvSpPr/>
          <p:nvPr/>
        </p:nvSpPr>
        <p:spPr>
          <a:xfrm>
            <a:off x="3611880" y="2724912"/>
            <a:ext cx="7955280" cy="1325880"/>
          </a:xfrm>
          <a:prstGeom prst="rect">
            <a:avLst/>
          </a:prstGeom>
          <a:noFill/>
          <a:ln/>
        </p:spPr>
        <p:txBody>
          <a:bodyPr wrap="square" lIns="0" tIns="0" rIns="0" bIns="0" rtlCol="0" anchor="t"/>
          <a:lstStyle/>
          <a:p>
            <a:pPr indent="0" marL="0">
              <a:lnSpc>
                <a:spcPct val="98000"/>
              </a:lnSpc>
              <a:buNone/>
            </a:pPr>
            <a:r>
              <a:rPr lang="en-US" sz="3400" dirty="0">
                <a:solidFill>
                  <a:srgbClr val="FFFFFF"/>
                </a:solidFill>
                <a:latin typeface="Arial Black" pitchFamily="34" charset="0"/>
                <a:ea typeface="Arial Black" pitchFamily="34" charset="-122"/>
                <a:cs typeface="Arial Black" pitchFamily="34" charset="-120"/>
              </a:rPr>
              <a:t>EL PROBLEMA Y SU HISTORIA</a:t>
            </a:r>
            <a:endParaRPr lang="en-US" sz="3400" dirty="0"/>
          </a:p>
        </p:txBody>
      </p:sp>
      <p:sp>
        <p:nvSpPr>
          <p:cNvPr id="7" name="Text 4"/>
          <p:cNvSpPr/>
          <p:nvPr/>
        </p:nvSpPr>
        <p:spPr>
          <a:xfrm>
            <a:off x="3611880" y="4133088"/>
            <a:ext cx="7680960" cy="1051560"/>
          </a:xfrm>
          <a:prstGeom prst="rect">
            <a:avLst/>
          </a:prstGeom>
          <a:noFill/>
          <a:ln/>
        </p:spPr>
        <p:txBody>
          <a:bodyPr wrap="square" lIns="0" tIns="0" rIns="0" bIns="0" rtlCol="0" anchor="t"/>
          <a:lstStyle/>
          <a:p>
            <a:pPr indent="0" marL="0">
              <a:lnSpc>
                <a:spcPct val="125000"/>
              </a:lnSpc>
              <a:buNone/>
            </a:pPr>
            <a:r>
              <a:rPr lang="en-US" sz="1400" dirty="0">
                <a:solidFill>
                  <a:srgbClr val="B9B4C4"/>
                </a:solidFill>
                <a:latin typeface="Arial" pitchFamily="34" charset="0"/>
                <a:ea typeface="Arial" pitchFamily="34" charset="-122"/>
                <a:cs typeface="Arial" pitchFamily="34" charset="-120"/>
              </a:rPr>
              <a:t>Siete secciones encadenadas: del doble gasto a la decisión de no usar blockchain.</a:t>
            </a:r>
            <a:endParaRPr lang="en-US" sz="1400" dirty="0"/>
          </a:p>
        </p:txBody>
      </p:sp>
      <p:sp>
        <p:nvSpPr>
          <p:cNvPr id="8" name="Text 5"/>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E6A7C"/>
                </a:solidFill>
                <a:latin typeface="Courier New" pitchFamily="34" charset="0"/>
                <a:ea typeface="Courier New" pitchFamily="34" charset="-122"/>
                <a:cs typeface="Courier New" pitchFamily="34" charset="-120"/>
              </a:rPr>
              <a:t>SESIÓN 01 · ¿QUÉ PROBLEMA RESUELVE REALMENTE BLOCKCHAIN?</a:t>
            </a:r>
            <a:endParaRPr lang="en-US" sz="800" dirty="0"/>
          </a:p>
        </p:txBody>
      </p:sp>
      <p:sp>
        <p:nvSpPr>
          <p:cNvPr id="9" name="Text 6"/>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E6A7C"/>
                </a:solidFill>
                <a:latin typeface="Courier New" pitchFamily="34" charset="0"/>
                <a:ea typeface="Courier New" pitchFamily="34" charset="-122"/>
                <a:cs typeface="Courier New" pitchFamily="34" charset="-120"/>
              </a:rPr>
              <a:t>USB MEDELLÍN</a:t>
            </a:r>
            <a:endParaRPr lang="en-US" sz="800" dirty="0"/>
          </a:p>
        </p:txBody>
      </p:sp>
      <p:sp>
        <p:nvSpPr>
          <p:cNvPr id="10" name="Text 7"/>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F07F06"/>
                </a:solidFill>
                <a:latin typeface="Courier New" pitchFamily="34" charset="0"/>
                <a:ea typeface="Courier New" pitchFamily="34" charset="-122"/>
                <a:cs typeface="Courier New"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 · MIN 10–30 · EL DOBLE GASTO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600" dirty="0">
                <a:solidFill>
                  <a:srgbClr val="0F0F11"/>
                </a:solidFill>
                <a:latin typeface="Arial Black" pitchFamily="34" charset="0"/>
                <a:ea typeface="Arial Black" pitchFamily="34" charset="-122"/>
                <a:cs typeface="Arial Black" pitchFamily="34" charset="-120"/>
              </a:rPr>
              <a:t>COPIAR ES GRATIS. ESE ES EL PROBLEMA.</a:t>
            </a:r>
            <a:endParaRPr lang="en-US" sz="26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01 · ¿QUÉ PROBLEMA RESUELVE REALMENTE BLOCKCHAIN?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06</a:t>
            </a:r>
            <a:endParaRPr lang="en-US" sz="900" dirty="0"/>
          </a:p>
        </p:txBody>
      </p:sp>
      <p:sp>
        <p:nvSpPr>
          <p:cNvPr id="8" name="Text 5"/>
          <p:cNvSpPr/>
          <p:nvPr/>
        </p:nvSpPr>
        <p:spPr>
          <a:xfrm>
            <a:off x="566928" y="1737360"/>
            <a:ext cx="11057839" cy="868680"/>
          </a:xfrm>
          <a:prstGeom prst="rect">
            <a:avLst/>
          </a:prstGeom>
          <a:noFill/>
          <a:ln/>
        </p:spPr>
        <p:txBody>
          <a:bodyPr wrap="square" lIns="0" tIns="0" rIns="0" bIns="0" rtlCol="0" anchor="t"/>
          <a:lstStyle/>
          <a:p>
            <a:pPr indent="0" marL="0">
              <a:lnSpc>
                <a:spcPct val="124000"/>
              </a:lnSpc>
              <a:buNone/>
            </a:pPr>
            <a:r>
              <a:rPr lang="en-US" sz="1500" dirty="0">
                <a:solidFill>
                  <a:srgbClr val="3A3844"/>
                </a:solidFill>
                <a:latin typeface="Arial" pitchFamily="34" charset="0"/>
                <a:ea typeface="Arial" pitchFamily="34" charset="-122"/>
                <a:cs typeface="Arial" pitchFamily="34" charset="-120"/>
              </a:rPr>
              <a:t>Copiar un archivo digital es gratis, instantáneo y perfecto. Esa propiedad —la razón por la cual internet funciona tan bien para distribuir información— es exactamente la razón por la cual el dinero digital fue un problema irresuelto durante décadas.</a:t>
            </a:r>
            <a:endParaRPr lang="en-US" sz="1500" dirty="0"/>
          </a:p>
        </p:txBody>
      </p:sp>
      <p:sp>
        <p:nvSpPr>
          <p:cNvPr id="9" name="Shape 6"/>
          <p:cNvSpPr/>
          <p:nvPr/>
        </p:nvSpPr>
        <p:spPr>
          <a:xfrm>
            <a:off x="566928" y="2743200"/>
            <a:ext cx="3520440" cy="1600200"/>
          </a:xfrm>
          <a:prstGeom prst="rect">
            <a:avLst/>
          </a:prstGeom>
          <a:solidFill>
            <a:srgbClr val="FFFFFF"/>
          </a:solidFill>
          <a:ln w="22225">
            <a:solidFill>
              <a:srgbClr val="0F0F11"/>
            </a:solidFill>
            <a:prstDash val="solid"/>
          </a:ln>
          <a:effectLst>
            <a:outerShdw sx="100000" sy="100000" kx="0" ky="0" algn="bl" rotWithShape="0" blurRad="101600" dist="63500" dir="2700000">
              <a:srgbClr val="0F0F11">
                <a:alpha val="100000"/>
              </a:srgbClr>
            </a:outerShdw>
          </a:effectLst>
        </p:spPr>
      </p:sp>
      <p:sp>
        <p:nvSpPr>
          <p:cNvPr id="10" name="Text 7"/>
          <p:cNvSpPr/>
          <p:nvPr/>
        </p:nvSpPr>
        <p:spPr>
          <a:xfrm>
            <a:off x="749808" y="2944368"/>
            <a:ext cx="3154680" cy="736092"/>
          </a:xfrm>
          <a:prstGeom prst="rect">
            <a:avLst/>
          </a:prstGeom>
          <a:noFill/>
          <a:ln/>
        </p:spPr>
        <p:txBody>
          <a:bodyPr wrap="square" lIns="0" tIns="0" rIns="0" bIns="0" rtlCol="0" anchor="ctr"/>
          <a:lstStyle/>
          <a:p>
            <a:pPr indent="0" marL="0">
              <a:buNone/>
            </a:pPr>
            <a:r>
              <a:rPr lang="en-US" sz="4000" dirty="0">
                <a:solidFill>
                  <a:srgbClr val="F07F06"/>
                </a:solidFill>
                <a:latin typeface="Arial Black" pitchFamily="34" charset="0"/>
                <a:ea typeface="Arial Black" pitchFamily="34" charset="-122"/>
                <a:cs typeface="Arial Black" pitchFamily="34" charset="-120"/>
              </a:rPr>
              <a:t>1 → 2</a:t>
            </a:r>
            <a:endParaRPr lang="en-US" sz="4000" dirty="0"/>
          </a:p>
        </p:txBody>
      </p:sp>
      <p:sp>
        <p:nvSpPr>
          <p:cNvPr id="11" name="Text 8"/>
          <p:cNvSpPr/>
          <p:nvPr/>
        </p:nvSpPr>
        <p:spPr>
          <a:xfrm>
            <a:off x="749808" y="3671316"/>
            <a:ext cx="3154680" cy="576072"/>
          </a:xfrm>
          <a:prstGeom prst="rect">
            <a:avLst/>
          </a:prstGeom>
          <a:noFill/>
          <a:ln/>
        </p:spPr>
        <p:txBody>
          <a:bodyPr wrap="square" lIns="0" tIns="0" rIns="0" bIns="0" rtlCol="0" anchor="t"/>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Si envío una fotografía, ambos terminamos con la fotografía. Eso es deseable.</a:t>
            </a:r>
            <a:endParaRPr lang="en-US" sz="1200" dirty="0"/>
          </a:p>
        </p:txBody>
      </p:sp>
      <p:sp>
        <p:nvSpPr>
          <p:cNvPr id="12" name="Shape 9"/>
          <p:cNvSpPr/>
          <p:nvPr/>
        </p:nvSpPr>
        <p:spPr>
          <a:xfrm>
            <a:off x="4334256" y="2743200"/>
            <a:ext cx="3520440" cy="1600200"/>
          </a:xfrm>
          <a:prstGeom prst="rect">
            <a:avLst/>
          </a:prstGeom>
          <a:solidFill>
            <a:srgbClr val="FFFFFF"/>
          </a:solidFill>
          <a:ln w="22225">
            <a:solidFill>
              <a:srgbClr val="0F0F11"/>
            </a:solidFill>
            <a:prstDash val="solid"/>
          </a:ln>
          <a:effectLst>
            <a:outerShdw sx="100000" sy="100000" kx="0" ky="0" algn="bl" rotWithShape="0" blurRad="101600" dist="63500" dir="2700000">
              <a:srgbClr val="0F0F11">
                <a:alpha val="100000"/>
              </a:srgbClr>
            </a:outerShdw>
          </a:effectLst>
        </p:spPr>
      </p:sp>
      <p:sp>
        <p:nvSpPr>
          <p:cNvPr id="13" name="Text 10"/>
          <p:cNvSpPr/>
          <p:nvPr/>
        </p:nvSpPr>
        <p:spPr>
          <a:xfrm>
            <a:off x="4517136" y="2944368"/>
            <a:ext cx="3154680" cy="736092"/>
          </a:xfrm>
          <a:prstGeom prst="rect">
            <a:avLst/>
          </a:prstGeom>
          <a:noFill/>
          <a:ln/>
        </p:spPr>
        <p:txBody>
          <a:bodyPr wrap="square" lIns="0" tIns="0" rIns="0" bIns="0" rtlCol="0" anchor="ctr"/>
          <a:lstStyle/>
          <a:p>
            <a:pPr indent="0" marL="0">
              <a:buNone/>
            </a:pPr>
            <a:r>
              <a:rPr lang="en-US" sz="4000" dirty="0">
                <a:solidFill>
                  <a:srgbClr val="A35604"/>
                </a:solidFill>
                <a:latin typeface="Arial Black" pitchFamily="34" charset="0"/>
                <a:ea typeface="Arial Black" pitchFamily="34" charset="-122"/>
                <a:cs typeface="Arial Black" pitchFamily="34" charset="-120"/>
              </a:rPr>
              <a:t>$ → $$</a:t>
            </a:r>
            <a:endParaRPr lang="en-US" sz="4000" dirty="0"/>
          </a:p>
        </p:txBody>
      </p:sp>
      <p:sp>
        <p:nvSpPr>
          <p:cNvPr id="14" name="Text 11"/>
          <p:cNvSpPr/>
          <p:nvPr/>
        </p:nvSpPr>
        <p:spPr>
          <a:xfrm>
            <a:off x="4517136" y="3671316"/>
            <a:ext cx="3154680" cy="576072"/>
          </a:xfrm>
          <a:prstGeom prst="rect">
            <a:avLst/>
          </a:prstGeom>
          <a:noFill/>
          <a:ln/>
        </p:spPr>
        <p:txBody>
          <a:bodyPr wrap="square" lIns="0" tIns="0" rIns="0" bIns="0" rtlCol="0" anchor="t"/>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Si el archivo representara un billete, ambos terminaríamos con el billete. El sistema colapsa.</a:t>
            </a:r>
            <a:endParaRPr lang="en-US" sz="1200" dirty="0"/>
          </a:p>
        </p:txBody>
      </p:sp>
      <p:sp>
        <p:nvSpPr>
          <p:cNvPr id="15" name="Shape 12"/>
          <p:cNvSpPr/>
          <p:nvPr/>
        </p:nvSpPr>
        <p:spPr>
          <a:xfrm>
            <a:off x="8101584" y="2743200"/>
            <a:ext cx="3520440" cy="1600200"/>
          </a:xfrm>
          <a:prstGeom prst="rect">
            <a:avLst/>
          </a:prstGeom>
          <a:solidFill>
            <a:srgbClr val="FFFFFF"/>
          </a:solidFill>
          <a:ln w="22225">
            <a:solidFill>
              <a:srgbClr val="0F0F11"/>
            </a:solidFill>
            <a:prstDash val="solid"/>
          </a:ln>
          <a:effectLst>
            <a:outerShdw sx="100000" sy="100000" kx="0" ky="0" algn="bl" rotWithShape="0" blurRad="101600" dist="63500" dir="2700000">
              <a:srgbClr val="0F0F11">
                <a:alpha val="100000"/>
              </a:srgbClr>
            </a:outerShdw>
          </a:effectLst>
        </p:spPr>
      </p:sp>
      <p:sp>
        <p:nvSpPr>
          <p:cNvPr id="16" name="Text 13"/>
          <p:cNvSpPr/>
          <p:nvPr/>
        </p:nvSpPr>
        <p:spPr>
          <a:xfrm>
            <a:off x="8284464" y="2944368"/>
            <a:ext cx="3154680" cy="736092"/>
          </a:xfrm>
          <a:prstGeom prst="rect">
            <a:avLst/>
          </a:prstGeom>
          <a:noFill/>
          <a:ln/>
        </p:spPr>
        <p:txBody>
          <a:bodyPr wrap="square" lIns="0" tIns="0" rIns="0" bIns="0" rtlCol="0" anchor="ctr"/>
          <a:lstStyle/>
          <a:p>
            <a:pPr indent="0" marL="0">
              <a:buNone/>
            </a:pPr>
            <a:r>
              <a:rPr lang="en-US" sz="4000" dirty="0">
                <a:solidFill>
                  <a:srgbClr val="7152E9"/>
                </a:solidFill>
                <a:latin typeface="Arial Black" pitchFamily="34" charset="0"/>
                <a:ea typeface="Arial Black" pitchFamily="34" charset="-122"/>
                <a:cs typeface="Arial Black" pitchFamily="34" charset="-120"/>
              </a:rPr>
              <a:t>0</a:t>
            </a:r>
            <a:endParaRPr lang="en-US" sz="4000" dirty="0"/>
          </a:p>
        </p:txBody>
      </p:sp>
      <p:sp>
        <p:nvSpPr>
          <p:cNvPr id="17" name="Text 14"/>
          <p:cNvSpPr/>
          <p:nvPr/>
        </p:nvSpPr>
        <p:spPr>
          <a:xfrm>
            <a:off x="8284464" y="3671316"/>
            <a:ext cx="3154680" cy="576072"/>
          </a:xfrm>
          <a:prstGeom prst="rect">
            <a:avLst/>
          </a:prstGeom>
          <a:noFill/>
          <a:ln/>
        </p:spPr>
        <p:txBody>
          <a:bodyPr wrap="square" lIns="0" tIns="0" rIns="0" bIns="0" rtlCol="0" anchor="t"/>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Veces que un bien digital puede transferirse. Solo puede duplicarse.</a:t>
            </a:r>
            <a:endParaRPr lang="en-US" sz="1200" dirty="0"/>
          </a:p>
        </p:txBody>
      </p:sp>
      <p:sp>
        <p:nvSpPr>
          <p:cNvPr id="18" name="Shape 15"/>
          <p:cNvSpPr/>
          <p:nvPr/>
        </p:nvSpPr>
        <p:spPr>
          <a:xfrm>
            <a:off x="566928" y="4617720"/>
            <a:ext cx="11057839" cy="132588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sp>
        <p:nvSpPr>
          <p:cNvPr id="19" name="Text 16"/>
          <p:cNvSpPr/>
          <p:nvPr/>
        </p:nvSpPr>
        <p:spPr>
          <a:xfrm>
            <a:off x="950976" y="4837176"/>
            <a:ext cx="10289743" cy="886968"/>
          </a:xfrm>
          <a:prstGeom prst="rect">
            <a:avLst/>
          </a:prstGeom>
          <a:noFill/>
          <a:ln/>
        </p:spPr>
        <p:txBody>
          <a:bodyPr wrap="square" lIns="0" tIns="0" rIns="0" bIns="0" rtlCol="0" anchor="ctr"/>
          <a:lstStyle/>
          <a:p>
            <a:pPr indent="0" marL="0">
              <a:lnSpc>
                <a:spcPct val="106000"/>
              </a:lnSpc>
              <a:buNone/>
            </a:pPr>
            <a:r>
              <a:rPr lang="en-US" sz="1800" dirty="0">
                <a:solidFill>
                  <a:srgbClr val="0F0F11"/>
                </a:solidFill>
                <a:latin typeface="Arial Black" pitchFamily="34" charset="0"/>
                <a:ea typeface="Arial Black" pitchFamily="34" charset="-122"/>
                <a:cs typeface="Arial Black" pitchFamily="34" charset="-120"/>
              </a:rPr>
              <a:t>El problema no es criptográfico. Con criptografía sabemos, desde los años setenta, probar autoría e integridad. Lo que la criptografía no resuelve por sí sola es el ORDEN.</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 · FICHA DE TÉRMINO 01</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DOBLE GASTO</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01 · ¿QUÉ PROBLEMA RESUELVE REALMENTE BLOCKCHAIN?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07</a:t>
            </a:r>
            <a:endParaRPr lang="en-US" sz="900" dirty="0"/>
          </a:p>
        </p:txBody>
      </p:sp>
      <p:sp>
        <p:nvSpPr>
          <p:cNvPr id="8" name="Shape 5"/>
          <p:cNvSpPr/>
          <p:nvPr/>
        </p:nvSpPr>
        <p:spPr>
          <a:xfrm>
            <a:off x="566928" y="1737360"/>
            <a:ext cx="11057839" cy="420624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pic>
        <p:nvPicPr>
          <p:cNvPr id="9" name="Image 1" descr="preencoded.png">    </p:cNvPr>
          <p:cNvPicPr>
            <a:picLocks noChangeAspect="1"/>
          </p:cNvPicPr>
          <p:nvPr/>
        </p:nvPicPr>
        <p:blipFill>
          <a:blip r:embed="rId2"/>
          <a:stretch>
            <a:fillRect/>
          </a:stretch>
        </p:blipFill>
        <p:spPr>
          <a:xfrm>
            <a:off x="804672" y="1956816"/>
            <a:ext cx="237744" cy="237744"/>
          </a:xfrm>
          <a:prstGeom prst="rect">
            <a:avLst/>
          </a:prstGeom>
        </p:spPr>
      </p:pic>
      <p:sp>
        <p:nvSpPr>
          <p:cNvPr id="10" name="Text 6"/>
          <p:cNvSpPr/>
          <p:nvPr/>
        </p:nvSpPr>
        <p:spPr>
          <a:xfrm>
            <a:off x="1133856" y="1929384"/>
            <a:ext cx="10234879" cy="292608"/>
          </a:xfrm>
          <a:prstGeom prst="rect">
            <a:avLst/>
          </a:prstGeom>
          <a:noFill/>
          <a:ln/>
        </p:spPr>
        <p:txBody>
          <a:bodyPr wrap="square" lIns="0" tIns="0" rIns="0" bIns="0" rtlCol="0" anchor="ctr"/>
          <a:lstStyle/>
          <a:p>
            <a:pPr indent="0" marL="0">
              <a:buNone/>
            </a:pPr>
            <a:r>
              <a:rPr lang="en-US" sz="950" b="1" spc="150" kern="0" dirty="0">
                <a:solidFill>
                  <a:srgbClr val="5638C9"/>
                </a:solidFill>
                <a:latin typeface="Courier New" pitchFamily="34" charset="0"/>
                <a:ea typeface="Courier New" pitchFamily="34" charset="-122"/>
                <a:cs typeface="Courier New" pitchFamily="34" charset="-120"/>
              </a:rPr>
              <a:t>FICHA DE TÉRMINO 01 · DOBLE GASTO</a:t>
            </a:r>
            <a:endParaRPr lang="en-US" sz="950" dirty="0"/>
          </a:p>
        </p:txBody>
      </p:sp>
      <p:sp>
        <p:nvSpPr>
          <p:cNvPr id="11" name="Shape 7"/>
          <p:cNvSpPr/>
          <p:nvPr/>
        </p:nvSpPr>
        <p:spPr>
          <a:xfrm>
            <a:off x="804672" y="2322576"/>
            <a:ext cx="10582351" cy="960120"/>
          </a:xfrm>
          <a:prstGeom prst="rect">
            <a:avLst/>
          </a:prstGeom>
          <a:solidFill>
            <a:srgbClr val="F2F0F5"/>
          </a:solidFill>
          <a:ln w="12700">
            <a:solidFill>
              <a:srgbClr val="7152E9"/>
            </a:solidFill>
            <a:prstDash val="solid"/>
          </a:ln>
        </p:spPr>
      </p:sp>
      <p:sp>
        <p:nvSpPr>
          <p:cNvPr id="12" name="Text 8"/>
          <p:cNvSpPr/>
          <p:nvPr/>
        </p:nvSpPr>
        <p:spPr>
          <a:xfrm>
            <a:off x="969264" y="2414016"/>
            <a:ext cx="10253167" cy="777240"/>
          </a:xfrm>
          <a:prstGeom prst="rect">
            <a:avLst/>
          </a:prstGeom>
          <a:noFill/>
          <a:ln/>
        </p:spPr>
        <p:txBody>
          <a:bodyPr wrap="square" lIns="0" tIns="0" rIns="0" bIns="0" rtlCol="0" anchor="ctr"/>
          <a:lstStyle/>
          <a:p>
            <a:pPr indent="0" marL="0">
              <a:lnSpc>
                <a:spcPct val="120000"/>
              </a:lnSpc>
              <a:buNone/>
            </a:pPr>
            <a:r>
              <a:rPr lang="en-US" sz="1100" dirty="0">
                <a:solidFill>
                  <a:srgbClr val="3A3844"/>
                </a:solidFill>
                <a:latin typeface="Courier New" pitchFamily="34" charset="0"/>
                <a:ea typeface="Courier New" pitchFamily="34" charset="-122"/>
                <a:cs typeface="Courier New" pitchFamily="34" charset="-120"/>
              </a:rPr>
              <a:t>DOBLE GASTO (en inglés, double-spending): posibilidad de que una misma unidad de</a:t>
            </a:r>
            <a:endParaRPr lang="en-US" sz="1100" dirty="0"/>
          </a:p>
          <a:p>
            <a:pPr indent="0" marL="0">
              <a:lnSpc>
                <a:spcPct val="120000"/>
              </a:lnSpc>
              <a:buNone/>
            </a:pPr>
            <a:r>
              <a:rPr lang="en-US" sz="1100" dirty="0">
                <a:solidFill>
                  <a:srgbClr val="3A3844"/>
                </a:solidFill>
                <a:latin typeface="Courier New" pitchFamily="34" charset="0"/>
                <a:ea typeface="Courier New" pitchFamily="34" charset="-122"/>
                <a:cs typeface="Courier New" pitchFamily="34" charset="-120"/>
              </a:rPr>
              <a:t>dinero digital sea gastada más de una vez, porque el gasto consiste en transmitir</a:t>
            </a:r>
            <a:endParaRPr lang="en-US" sz="1100" dirty="0"/>
          </a:p>
          <a:p>
            <a:pPr indent="0" marL="0">
              <a:lnSpc>
                <a:spcPct val="120000"/>
              </a:lnSpc>
              <a:buNone/>
            </a:pPr>
            <a:r>
              <a:rPr lang="en-US" sz="1100" dirty="0">
                <a:solidFill>
                  <a:srgbClr val="3A3844"/>
                </a:solidFill>
                <a:latin typeface="Courier New" pitchFamily="34" charset="0"/>
                <a:ea typeface="Courier New" pitchFamily="34" charset="-122"/>
                <a:cs typeface="Courier New" pitchFamily="34" charset="-120"/>
              </a:rPr>
              <a:t>una copia de un dato y el emisor conserva el original.</a:t>
            </a:r>
            <a:endParaRPr lang="en-US" sz="1100" dirty="0"/>
          </a:p>
        </p:txBody>
      </p:sp>
      <p:sp>
        <p:nvSpPr>
          <p:cNvPr id="13" name="Text 9"/>
          <p:cNvSpPr/>
          <p:nvPr/>
        </p:nvSpPr>
        <p:spPr>
          <a:xfrm>
            <a:off x="804672" y="3456432"/>
            <a:ext cx="10582351" cy="86868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Es el problema fundacional de todo el campo. Formulado con precisión: en un sistema donde el dinero es información, y la información es perfectamente replicable, ¿cómo se garantiza que quien transfiere una unidad deje efectivamente de poseerla?</a:t>
            </a:r>
            <a:endParaRPr lang="en-US" sz="1400" dirty="0"/>
          </a:p>
        </p:txBody>
      </p:sp>
      <p:sp>
        <p:nvSpPr>
          <p:cNvPr id="14" name="Text 10"/>
          <p:cNvSpPr/>
          <p:nvPr/>
        </p:nvSpPr>
        <p:spPr>
          <a:xfrm>
            <a:off x="804672" y="4443984"/>
            <a:ext cx="10582351" cy="86868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Nótese que el problema no es criptográfico en su núcleo. Si Ana firma dos transferencias válidas de la misma moneda, ambas son impecables. El reto es decidir cuál ocurrió primero y lograr que todos coincidan en esa decisión sin autoridad central.</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 · REENCUADRE DEL PROBLEMA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500" dirty="0">
                <a:solidFill>
                  <a:srgbClr val="0F0F11"/>
                </a:solidFill>
                <a:latin typeface="Arial Black" pitchFamily="34" charset="0"/>
                <a:ea typeface="Arial Black" pitchFamily="34" charset="-122"/>
                <a:cs typeface="Arial Black" pitchFamily="34" charset="-120"/>
              </a:rPr>
              <a:t>EL DINERO NO ES UN OBJETO: ES UN REGISTRO</a:t>
            </a:r>
            <a:endParaRPr lang="en-US" sz="25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01 · ¿QUÉ PROBLEMA RESUELVE REALMENTE BLOCKCHAIN?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08</a:t>
            </a:r>
            <a:endParaRPr lang="en-US" sz="900" dirty="0"/>
          </a:p>
        </p:txBody>
      </p:sp>
      <p:sp>
        <p:nvSpPr>
          <p:cNvPr id="8" name="Text 5"/>
          <p:cNvSpPr/>
          <p:nvPr/>
        </p:nvSpPr>
        <p:spPr>
          <a:xfrm>
            <a:off x="566928" y="1719072"/>
            <a:ext cx="11057839" cy="713232"/>
          </a:xfrm>
          <a:prstGeom prst="rect">
            <a:avLst/>
          </a:prstGeom>
          <a:noFill/>
          <a:ln/>
        </p:spPr>
        <p:txBody>
          <a:bodyPr wrap="square" lIns="0" tIns="0" rIns="0" bIns="0" rtlCol="0" anchor="t"/>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Tendemos a pensar el dinero como una cosa que pasa de mano en mano. Pero en el sistema financiero moderno la enorme mayoría del dinero no existe como objeto: existe como una anotación en un libro contable.</a:t>
            </a:r>
            <a:endParaRPr lang="en-US" sz="1450" dirty="0"/>
          </a:p>
        </p:txBody>
      </p:sp>
      <p:sp>
        <p:nvSpPr>
          <p:cNvPr id="9" name="Shape 6"/>
          <p:cNvSpPr/>
          <p:nvPr/>
        </p:nvSpPr>
        <p:spPr>
          <a:xfrm>
            <a:off x="566928" y="2578608"/>
            <a:ext cx="11057839" cy="1170432"/>
          </a:xfrm>
          <a:prstGeom prst="rect">
            <a:avLst/>
          </a:prstGeom>
          <a:solidFill>
            <a:srgbClr val="FAF9FB"/>
          </a:solidFill>
          <a:ln w="22225">
            <a:solidFill>
              <a:srgbClr val="0F0F11"/>
            </a:solidFill>
            <a:prstDash val="solid"/>
          </a:ln>
          <a:effectLst>
            <a:outerShdw sx="100000" sy="100000" kx="0" ky="0" algn="bl" rotWithShape="0" blurRad="101600" dist="63500" dir="2700000">
              <a:srgbClr val="0F0F11">
                <a:alpha val="100000"/>
              </a:srgbClr>
            </a:outerShdw>
          </a:effectLst>
        </p:spPr>
      </p:sp>
      <p:sp>
        <p:nvSpPr>
          <p:cNvPr id="10" name="Text 7"/>
          <p:cNvSpPr/>
          <p:nvPr/>
        </p:nvSpPr>
        <p:spPr>
          <a:xfrm>
            <a:off x="877824" y="2798064"/>
            <a:ext cx="10436047" cy="777240"/>
          </a:xfrm>
          <a:prstGeom prst="rect">
            <a:avLst/>
          </a:prstGeom>
          <a:noFill/>
          <a:ln/>
        </p:spPr>
        <p:txBody>
          <a:bodyPr wrap="square" lIns="0" tIns="0" rIns="0" bIns="0" rtlCol="0" anchor="t"/>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Cuando alguien transfiere cien mil pesos entre bancos, ningún objeto viaja. Un banco resta cien mil de un renglón, otro banco suma cien mil en otro renglón, y ambos concilian a través de un tercero.  El dinero ES el registro. No hay nada más.</a:t>
            </a:r>
            <a:endParaRPr lang="en-US" sz="1450" dirty="0"/>
          </a:p>
        </p:txBody>
      </p:sp>
      <p:sp>
        <p:nvSpPr>
          <p:cNvPr id="11" name="Shape 8"/>
          <p:cNvSpPr/>
          <p:nvPr/>
        </p:nvSpPr>
        <p:spPr>
          <a:xfrm>
            <a:off x="566928" y="4023360"/>
            <a:ext cx="11057839" cy="187452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sp>
        <p:nvSpPr>
          <p:cNvPr id="12" name="Text 9"/>
          <p:cNvSpPr/>
          <p:nvPr/>
        </p:nvSpPr>
        <p:spPr>
          <a:xfrm>
            <a:off x="950976" y="4242816"/>
            <a:ext cx="10289743" cy="1435608"/>
          </a:xfrm>
          <a:prstGeom prst="rect">
            <a:avLst/>
          </a:prstGeom>
          <a:noFill/>
          <a:ln/>
        </p:spPr>
        <p:txBody>
          <a:bodyPr wrap="square" lIns="0" tIns="0" rIns="0" bIns="0" rtlCol="0" anchor="ctr"/>
          <a:lstStyle/>
          <a:p>
            <a:pPr indent="0" marL="0">
              <a:lnSpc>
                <a:spcPct val="106000"/>
              </a:lnSpc>
              <a:buNone/>
            </a:pPr>
            <a:r>
              <a:rPr lang="en-US" sz="1900" dirty="0">
                <a:solidFill>
                  <a:srgbClr val="0F0F11"/>
                </a:solidFill>
                <a:latin typeface="Arial Black" pitchFamily="34" charset="0"/>
                <a:ea typeface="Arial Black" pitchFamily="34" charset="-122"/>
                <a:cs typeface="Arial Black" pitchFamily="34" charset="-120"/>
              </a:rPr>
              <a:t>La pregunta deja de ser «¿cómo hago único un objeto digital?» —que no tiene solución— y pasa a ser «¿cómo construyo un libro contable en el que todos confíen, sin que nadie sea dueño del libro?»</a:t>
            </a:r>
            <a:endParaRPr lang="en-US" sz="1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 · FICHA DE TÉRMINO 02</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LIBRO MAYOR Y DLT</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01 · ¿QUÉ PROBLEMA RESUELVE REALMENTE BLOCKCHAIN?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09</a:t>
            </a:r>
            <a:endParaRPr lang="en-US" sz="900" dirty="0"/>
          </a:p>
        </p:txBody>
      </p:sp>
      <p:sp>
        <p:nvSpPr>
          <p:cNvPr id="8" name="Shape 5"/>
          <p:cNvSpPr/>
          <p:nvPr/>
        </p:nvSpPr>
        <p:spPr>
          <a:xfrm>
            <a:off x="566928" y="1737360"/>
            <a:ext cx="11057839" cy="420624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pic>
        <p:nvPicPr>
          <p:cNvPr id="9" name="Image 1" descr="preencoded.png">    </p:cNvPr>
          <p:cNvPicPr>
            <a:picLocks noChangeAspect="1"/>
          </p:cNvPicPr>
          <p:nvPr/>
        </p:nvPicPr>
        <p:blipFill>
          <a:blip r:embed="rId2"/>
          <a:stretch>
            <a:fillRect/>
          </a:stretch>
        </p:blipFill>
        <p:spPr>
          <a:xfrm>
            <a:off x="804672" y="1956816"/>
            <a:ext cx="237744" cy="237744"/>
          </a:xfrm>
          <a:prstGeom prst="rect">
            <a:avLst/>
          </a:prstGeom>
        </p:spPr>
      </p:pic>
      <p:sp>
        <p:nvSpPr>
          <p:cNvPr id="10" name="Text 6"/>
          <p:cNvSpPr/>
          <p:nvPr/>
        </p:nvSpPr>
        <p:spPr>
          <a:xfrm>
            <a:off x="1133856" y="1929384"/>
            <a:ext cx="10234879" cy="292608"/>
          </a:xfrm>
          <a:prstGeom prst="rect">
            <a:avLst/>
          </a:prstGeom>
          <a:noFill/>
          <a:ln/>
        </p:spPr>
        <p:txBody>
          <a:bodyPr wrap="square" lIns="0" tIns="0" rIns="0" bIns="0" rtlCol="0" anchor="ctr"/>
          <a:lstStyle/>
          <a:p>
            <a:pPr indent="0" marL="0">
              <a:buNone/>
            </a:pPr>
            <a:r>
              <a:rPr lang="en-US" sz="950" b="1" spc="150" kern="0" dirty="0">
                <a:solidFill>
                  <a:srgbClr val="5638C9"/>
                </a:solidFill>
                <a:latin typeface="Courier New" pitchFamily="34" charset="0"/>
                <a:ea typeface="Courier New" pitchFamily="34" charset="-122"/>
                <a:cs typeface="Courier New" pitchFamily="34" charset="-120"/>
              </a:rPr>
              <a:t>FICHA DE TÉRMINO 02 · LIBRO MAYOR / LEDGER</a:t>
            </a:r>
            <a:endParaRPr lang="en-US" sz="950" dirty="0"/>
          </a:p>
        </p:txBody>
      </p:sp>
      <p:sp>
        <p:nvSpPr>
          <p:cNvPr id="11" name="Shape 7"/>
          <p:cNvSpPr/>
          <p:nvPr/>
        </p:nvSpPr>
        <p:spPr>
          <a:xfrm>
            <a:off x="804672" y="2322576"/>
            <a:ext cx="10582351" cy="960120"/>
          </a:xfrm>
          <a:prstGeom prst="rect">
            <a:avLst/>
          </a:prstGeom>
          <a:solidFill>
            <a:srgbClr val="F2F0F5"/>
          </a:solidFill>
          <a:ln w="12700">
            <a:solidFill>
              <a:srgbClr val="7152E9"/>
            </a:solidFill>
            <a:prstDash val="solid"/>
          </a:ln>
        </p:spPr>
      </p:sp>
      <p:sp>
        <p:nvSpPr>
          <p:cNvPr id="12" name="Text 8"/>
          <p:cNvSpPr/>
          <p:nvPr/>
        </p:nvSpPr>
        <p:spPr>
          <a:xfrm>
            <a:off x="969264" y="2414016"/>
            <a:ext cx="10253167" cy="777240"/>
          </a:xfrm>
          <a:prstGeom prst="rect">
            <a:avLst/>
          </a:prstGeom>
          <a:noFill/>
          <a:ln/>
        </p:spPr>
        <p:txBody>
          <a:bodyPr wrap="square" lIns="0" tIns="0" rIns="0" bIns="0" rtlCol="0" anchor="ctr"/>
          <a:lstStyle/>
          <a:p>
            <a:pPr indent="0" marL="0">
              <a:lnSpc>
                <a:spcPct val="120000"/>
              </a:lnSpc>
              <a:buNone/>
            </a:pPr>
            <a:r>
              <a:rPr lang="en-US" sz="1100" dirty="0">
                <a:solidFill>
                  <a:srgbClr val="3A3844"/>
                </a:solidFill>
                <a:latin typeface="Courier New" pitchFamily="34" charset="0"/>
                <a:ea typeface="Courier New" pitchFamily="34" charset="-122"/>
                <a:cs typeface="Courier New" pitchFamily="34" charset="-120"/>
              </a:rPr>
              <a:t>LIBRO MAYOR (en inglés, ledger): registro ordenado y acumulativo de todas las</a:t>
            </a:r>
            <a:endParaRPr lang="en-US" sz="1100" dirty="0"/>
          </a:p>
          <a:p>
            <a:pPr indent="0" marL="0">
              <a:lnSpc>
                <a:spcPct val="120000"/>
              </a:lnSpc>
              <a:buNone/>
            </a:pPr>
            <a:r>
              <a:rPr lang="en-US" sz="1100" dirty="0">
                <a:solidFill>
                  <a:srgbClr val="3A3844"/>
                </a:solidFill>
                <a:latin typeface="Courier New" pitchFamily="34" charset="0"/>
                <a:ea typeface="Courier New" pitchFamily="34" charset="-122"/>
                <a:cs typeface="Courier New" pitchFamily="34" charset="-120"/>
              </a:rPr>
              <a:t>transacciones de un sistema, a partir del cual se puede derivar el estado actual</a:t>
            </a:r>
            <a:endParaRPr lang="en-US" sz="1100" dirty="0"/>
          </a:p>
          <a:p>
            <a:pPr indent="0" marL="0">
              <a:lnSpc>
                <a:spcPct val="120000"/>
              </a:lnSpc>
              <a:buNone/>
            </a:pPr>
            <a:r>
              <a:rPr lang="en-US" sz="1100" dirty="0">
                <a:solidFill>
                  <a:srgbClr val="3A3844"/>
                </a:solidFill>
                <a:latin typeface="Courier New" pitchFamily="34" charset="0"/>
                <a:ea typeface="Courier New" pitchFamily="34" charset="-122"/>
                <a:cs typeface="Courier New" pitchFamily="34" charset="-120"/>
              </a:rPr>
              <a:t>—los saldos— de cada participante.</a:t>
            </a:r>
            <a:endParaRPr lang="en-US" sz="1100" dirty="0"/>
          </a:p>
        </p:txBody>
      </p:sp>
      <p:sp>
        <p:nvSpPr>
          <p:cNvPr id="13" name="Text 9"/>
          <p:cNvSpPr/>
          <p:nvPr/>
        </p:nvSpPr>
        <p:spPr>
          <a:xfrm>
            <a:off x="804672" y="3438144"/>
            <a:ext cx="10582351" cy="86868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El término viene de la contabilidad de partida doble, formalizada por Luca Pacioli en 1494. No se almacenan los saldos: se almacenan los movimientos, y el saldo se calcula sumándolos desde el inicio. Eso permite auditar, porque cada peso tiene una historia rastreable.</a:t>
            </a:r>
            <a:endParaRPr lang="en-US" sz="1400" dirty="0"/>
          </a:p>
        </p:txBody>
      </p:sp>
      <p:sp>
        <p:nvSpPr>
          <p:cNvPr id="14" name="Text 10"/>
          <p:cNvSpPr/>
          <p:nvPr/>
        </p:nvSpPr>
        <p:spPr>
          <a:xfrm>
            <a:off x="804672" y="4471416"/>
            <a:ext cx="10582351" cy="1005840"/>
          </a:xfrm>
          <a:prstGeom prst="rect">
            <a:avLst/>
          </a:prstGeom>
          <a:noFill/>
          <a:ln/>
        </p:spPr>
        <p:txBody>
          <a:bodyPr wrap="square" lIns="0" tIns="0" rIns="0" bIns="0" rtlCol="0" anchor="t"/>
          <a:lstStyle/>
          <a:p>
            <a:pPr indent="0" marL="0">
              <a:lnSpc>
                <a:spcPct val="124000"/>
              </a:lnSpc>
              <a:buNone/>
            </a:pPr>
            <a:r>
              <a:rPr lang="en-US" sz="1400" b="1" dirty="0">
                <a:solidFill>
                  <a:srgbClr val="0F0F11"/>
                </a:solidFill>
                <a:latin typeface="Courier New" pitchFamily="34" charset="0"/>
                <a:ea typeface="Courier New" pitchFamily="34" charset="-122"/>
                <a:cs typeface="Courier New" pitchFamily="34" charset="-120"/>
              </a:rPr>
              <a:t>DLT </a:t>
            </a:r>
            <a:pPr indent="0" marL="0">
              <a:lnSpc>
                <a:spcPct val="124000"/>
              </a:lnSpc>
              <a:buNone/>
            </a:pPr>
            <a:r>
              <a:rPr lang="en-US" sz="1200" dirty="0">
                <a:solidFill>
                  <a:srgbClr val="5638C9"/>
                </a:solidFill>
                <a:latin typeface="Courier New" pitchFamily="34" charset="0"/>
                <a:ea typeface="Courier New" pitchFamily="34" charset="-122"/>
                <a:cs typeface="Courier New" pitchFamily="34" charset="-120"/>
              </a:rPr>
              <a:t>[Distributed Ledger Technology · tecnología de libro mayor distribuido] </a:t>
            </a:r>
            <a:pPr indent="0" marL="0">
              <a:lnSpc>
                <a:spcPct val="124000"/>
              </a:lnSpc>
              <a:buNone/>
            </a:pPr>
            <a:r>
              <a:rPr lang="en-US" sz="1400" dirty="0">
                <a:solidFill>
                  <a:srgbClr val="3A3844"/>
                </a:solidFill>
                <a:latin typeface="Arial" pitchFamily="34" charset="0"/>
                <a:ea typeface="Arial" pitchFamily="34" charset="-122"/>
                <a:cs typeface="Arial" pitchFamily="34" charset="-120"/>
              </a:rPr>
              <a:t>es el término técnico y neutral que engloba a blockchain y a otras estructuras similares. Toda blockchain es un DLT; no todo DLT es una blockchain, porque algunos no agrupan las transacciones en bloques encadenados.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 · EL ATAQUE, PASO A PASO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500" dirty="0">
                <a:solidFill>
                  <a:srgbClr val="0F0F11"/>
                </a:solidFill>
                <a:latin typeface="Arial Black" pitchFamily="34" charset="0"/>
                <a:ea typeface="Arial Black" pitchFamily="34" charset="-122"/>
                <a:cs typeface="Arial Black" pitchFamily="34" charset="-120"/>
              </a:rPr>
              <a:t>CÓMO SE VE CONCRETAMENTE UN DOBLE GASTO</a:t>
            </a:r>
            <a:endParaRPr lang="en-US" sz="25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01 · ¿QUÉ PROBLEMA RESUELVE REALMENTE BLOCKCHAIN?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10</a:t>
            </a:r>
            <a:endParaRPr lang="en-US" sz="900" dirty="0"/>
          </a:p>
        </p:txBody>
      </p:sp>
      <p:sp>
        <p:nvSpPr>
          <p:cNvPr id="8" name="Text 5"/>
          <p:cNvSpPr/>
          <p:nvPr/>
        </p:nvSpPr>
        <p:spPr>
          <a:xfrm>
            <a:off x="566928" y="1719072"/>
            <a:ext cx="11057839" cy="502920"/>
          </a:xfrm>
          <a:prstGeom prst="rect">
            <a:avLst/>
          </a:prstGeom>
          <a:noFill/>
          <a:ln/>
        </p:spPr>
        <p:txBody>
          <a:bodyPr wrap="square" lIns="0" tIns="0" rIns="0" bIns="0" rtlCol="0" anchor="t"/>
          <a:lstStyle/>
          <a:p>
            <a:pPr indent="0" marL="0">
              <a:lnSpc>
                <a:spcPct val="124000"/>
              </a:lnSpc>
              <a:buNone/>
            </a:pPr>
            <a:r>
              <a:rPr lang="en-US" sz="1350" dirty="0">
                <a:solidFill>
                  <a:srgbClr val="6F6B80"/>
                </a:solidFill>
                <a:latin typeface="Arial" pitchFamily="34" charset="0"/>
                <a:ea typeface="Arial" pitchFamily="34" charset="-122"/>
                <a:cs typeface="Arial" pitchFamily="34" charset="-120"/>
              </a:rPr>
              <a:t>Sistema ingenuo: cada usuario tiene un par de claves y una transferencia es un mensaje firmado que se difunde por la red. Ana puede hacer lo siguiente.</a:t>
            </a:r>
            <a:endParaRPr lang="en-US" sz="1350" dirty="0"/>
          </a:p>
        </p:txBody>
      </p:sp>
      <p:sp>
        <p:nvSpPr>
          <p:cNvPr id="9" name="Text 6"/>
          <p:cNvSpPr/>
          <p:nvPr/>
        </p:nvSpPr>
        <p:spPr>
          <a:xfrm>
            <a:off x="566928" y="2340864"/>
            <a:ext cx="713232" cy="566928"/>
          </a:xfrm>
          <a:prstGeom prst="rect">
            <a:avLst/>
          </a:prstGeom>
          <a:noFill/>
          <a:ln/>
        </p:spPr>
        <p:txBody>
          <a:bodyPr wrap="square" lIns="0" tIns="0" rIns="0" bIns="0" rtlCol="0" anchor="ctr"/>
          <a:lstStyle/>
          <a:p>
            <a:pPr indent="0" marL="0">
              <a:buNone/>
            </a:pPr>
            <a:r>
              <a:rPr lang="en-US" sz="2400" dirty="0">
                <a:solidFill>
                  <a:srgbClr val="F07F06"/>
                </a:solidFill>
                <a:latin typeface="Arial Black" pitchFamily="34" charset="0"/>
                <a:ea typeface="Arial Black" pitchFamily="34" charset="-122"/>
                <a:cs typeface="Arial Black" pitchFamily="34" charset="-120"/>
              </a:rPr>
              <a:t>01</a:t>
            </a:r>
            <a:endParaRPr lang="en-US" sz="2400" dirty="0"/>
          </a:p>
        </p:txBody>
      </p:sp>
      <p:sp>
        <p:nvSpPr>
          <p:cNvPr id="10" name="Text 7"/>
          <p:cNvSpPr/>
          <p:nvPr/>
        </p:nvSpPr>
        <p:spPr>
          <a:xfrm>
            <a:off x="1344168" y="2377440"/>
            <a:ext cx="10280599" cy="566928"/>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Firma «M → Bruno» y lo envía solo a Bruno y a los nodos cercanos a Bruno.</a:t>
            </a:r>
            <a:endParaRPr lang="en-US" sz="1350" dirty="0"/>
          </a:p>
        </p:txBody>
      </p:sp>
      <p:sp>
        <p:nvSpPr>
          <p:cNvPr id="11" name="Shape 8"/>
          <p:cNvSpPr/>
          <p:nvPr/>
        </p:nvSpPr>
        <p:spPr>
          <a:xfrm>
            <a:off x="566928" y="2258568"/>
            <a:ext cx="11057839" cy="0"/>
          </a:xfrm>
          <a:prstGeom prst="line">
            <a:avLst/>
          </a:prstGeom>
          <a:noFill/>
          <a:ln w="12700">
            <a:solidFill>
              <a:srgbClr val="D9D6E0"/>
            </a:solidFill>
            <a:prstDash val="solid"/>
          </a:ln>
        </p:spPr>
      </p:sp>
      <p:sp>
        <p:nvSpPr>
          <p:cNvPr id="12" name="Text 9"/>
          <p:cNvSpPr/>
          <p:nvPr/>
        </p:nvSpPr>
        <p:spPr>
          <a:xfrm>
            <a:off x="566928" y="3063240"/>
            <a:ext cx="713232" cy="566928"/>
          </a:xfrm>
          <a:prstGeom prst="rect">
            <a:avLst/>
          </a:prstGeom>
          <a:noFill/>
          <a:ln/>
        </p:spPr>
        <p:txBody>
          <a:bodyPr wrap="square" lIns="0" tIns="0" rIns="0" bIns="0" rtlCol="0" anchor="ctr"/>
          <a:lstStyle/>
          <a:p>
            <a:pPr indent="0" marL="0">
              <a:buNone/>
            </a:pPr>
            <a:r>
              <a:rPr lang="en-US" sz="2400" dirty="0">
                <a:solidFill>
                  <a:srgbClr val="F07F06"/>
                </a:solidFill>
                <a:latin typeface="Arial Black" pitchFamily="34" charset="0"/>
                <a:ea typeface="Arial Black" pitchFamily="34" charset="-122"/>
                <a:cs typeface="Arial Black" pitchFamily="34" charset="-120"/>
              </a:rPr>
              <a:t>02</a:t>
            </a:r>
            <a:endParaRPr lang="en-US" sz="2400" dirty="0"/>
          </a:p>
        </p:txBody>
      </p:sp>
      <p:sp>
        <p:nvSpPr>
          <p:cNvPr id="13" name="Text 10"/>
          <p:cNvSpPr/>
          <p:nvPr/>
        </p:nvSpPr>
        <p:spPr>
          <a:xfrm>
            <a:off x="1344168" y="3099816"/>
            <a:ext cx="10280599" cy="566928"/>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En el mismo instante firma «M → Carlos» y lo envía solo a Carlos y a los nodos cercanos a él.</a:t>
            </a:r>
            <a:endParaRPr lang="en-US" sz="1350" dirty="0"/>
          </a:p>
        </p:txBody>
      </p:sp>
      <p:sp>
        <p:nvSpPr>
          <p:cNvPr id="14" name="Shape 11"/>
          <p:cNvSpPr/>
          <p:nvPr/>
        </p:nvSpPr>
        <p:spPr>
          <a:xfrm>
            <a:off x="566928" y="2980944"/>
            <a:ext cx="11057839" cy="0"/>
          </a:xfrm>
          <a:prstGeom prst="line">
            <a:avLst/>
          </a:prstGeom>
          <a:noFill/>
          <a:ln w="12700">
            <a:solidFill>
              <a:srgbClr val="D9D6E0"/>
            </a:solidFill>
            <a:prstDash val="solid"/>
          </a:ln>
        </p:spPr>
      </p:sp>
      <p:sp>
        <p:nvSpPr>
          <p:cNvPr id="15" name="Text 12"/>
          <p:cNvSpPr/>
          <p:nvPr/>
        </p:nvSpPr>
        <p:spPr>
          <a:xfrm>
            <a:off x="566928" y="3785616"/>
            <a:ext cx="713232" cy="566928"/>
          </a:xfrm>
          <a:prstGeom prst="rect">
            <a:avLst/>
          </a:prstGeom>
          <a:noFill/>
          <a:ln/>
        </p:spPr>
        <p:txBody>
          <a:bodyPr wrap="square" lIns="0" tIns="0" rIns="0" bIns="0" rtlCol="0" anchor="ctr"/>
          <a:lstStyle/>
          <a:p>
            <a:pPr indent="0" marL="0">
              <a:buNone/>
            </a:pPr>
            <a:r>
              <a:rPr lang="en-US" sz="2400" dirty="0">
                <a:solidFill>
                  <a:srgbClr val="F07F06"/>
                </a:solidFill>
                <a:latin typeface="Arial Black" pitchFamily="34" charset="0"/>
                <a:ea typeface="Arial Black" pitchFamily="34" charset="-122"/>
                <a:cs typeface="Arial Black" pitchFamily="34" charset="-120"/>
              </a:rPr>
              <a:t>03</a:t>
            </a:r>
            <a:endParaRPr lang="en-US" sz="2400" dirty="0"/>
          </a:p>
        </p:txBody>
      </p:sp>
      <p:sp>
        <p:nvSpPr>
          <p:cNvPr id="16" name="Text 13"/>
          <p:cNvSpPr/>
          <p:nvPr/>
        </p:nvSpPr>
        <p:spPr>
          <a:xfrm>
            <a:off x="1344168" y="3822192"/>
            <a:ext cx="10280599" cy="566928"/>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Bruno verifica la firma: válida. Ve la moneda M en su copia del libro. Entrega la mercancía.</a:t>
            </a:r>
            <a:endParaRPr lang="en-US" sz="1350" dirty="0"/>
          </a:p>
        </p:txBody>
      </p:sp>
      <p:sp>
        <p:nvSpPr>
          <p:cNvPr id="17" name="Shape 14"/>
          <p:cNvSpPr/>
          <p:nvPr/>
        </p:nvSpPr>
        <p:spPr>
          <a:xfrm>
            <a:off x="566928" y="3703320"/>
            <a:ext cx="11057839" cy="0"/>
          </a:xfrm>
          <a:prstGeom prst="line">
            <a:avLst/>
          </a:prstGeom>
          <a:noFill/>
          <a:ln w="12700">
            <a:solidFill>
              <a:srgbClr val="D9D6E0"/>
            </a:solidFill>
            <a:prstDash val="solid"/>
          </a:ln>
        </p:spPr>
      </p:sp>
      <p:sp>
        <p:nvSpPr>
          <p:cNvPr id="18" name="Text 15"/>
          <p:cNvSpPr/>
          <p:nvPr/>
        </p:nvSpPr>
        <p:spPr>
          <a:xfrm>
            <a:off x="566928" y="4507992"/>
            <a:ext cx="713232" cy="566928"/>
          </a:xfrm>
          <a:prstGeom prst="rect">
            <a:avLst/>
          </a:prstGeom>
          <a:noFill/>
          <a:ln/>
        </p:spPr>
        <p:txBody>
          <a:bodyPr wrap="square" lIns="0" tIns="0" rIns="0" bIns="0" rtlCol="0" anchor="ctr"/>
          <a:lstStyle/>
          <a:p>
            <a:pPr indent="0" marL="0">
              <a:buNone/>
            </a:pPr>
            <a:r>
              <a:rPr lang="en-US" sz="2400" dirty="0">
                <a:solidFill>
                  <a:srgbClr val="F07F06"/>
                </a:solidFill>
                <a:latin typeface="Arial Black" pitchFamily="34" charset="0"/>
                <a:ea typeface="Arial Black" pitchFamily="34" charset="-122"/>
                <a:cs typeface="Arial Black" pitchFamily="34" charset="-120"/>
              </a:rPr>
              <a:t>04</a:t>
            </a:r>
            <a:endParaRPr lang="en-US" sz="2400" dirty="0"/>
          </a:p>
        </p:txBody>
      </p:sp>
      <p:sp>
        <p:nvSpPr>
          <p:cNvPr id="19" name="Text 16"/>
          <p:cNvSpPr/>
          <p:nvPr/>
        </p:nvSpPr>
        <p:spPr>
          <a:xfrm>
            <a:off x="1344168" y="4544568"/>
            <a:ext cx="10280599" cy="566928"/>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Carlos hace exactamente lo mismo. También entrega la mercancía.</a:t>
            </a:r>
            <a:endParaRPr lang="en-US" sz="1350" dirty="0"/>
          </a:p>
        </p:txBody>
      </p:sp>
      <p:sp>
        <p:nvSpPr>
          <p:cNvPr id="20" name="Shape 17"/>
          <p:cNvSpPr/>
          <p:nvPr/>
        </p:nvSpPr>
        <p:spPr>
          <a:xfrm>
            <a:off x="566928" y="4425696"/>
            <a:ext cx="11057839" cy="0"/>
          </a:xfrm>
          <a:prstGeom prst="line">
            <a:avLst/>
          </a:prstGeom>
          <a:noFill/>
          <a:ln w="12700">
            <a:solidFill>
              <a:srgbClr val="D9D6E0"/>
            </a:solidFill>
            <a:prstDash val="solid"/>
          </a:ln>
        </p:spPr>
      </p:sp>
      <p:sp>
        <p:nvSpPr>
          <p:cNvPr id="21" name="Text 18"/>
          <p:cNvSpPr/>
          <p:nvPr/>
        </p:nvSpPr>
        <p:spPr>
          <a:xfrm>
            <a:off x="566928" y="5230368"/>
            <a:ext cx="713232" cy="566928"/>
          </a:xfrm>
          <a:prstGeom prst="rect">
            <a:avLst/>
          </a:prstGeom>
          <a:noFill/>
          <a:ln/>
        </p:spPr>
        <p:txBody>
          <a:bodyPr wrap="square" lIns="0" tIns="0" rIns="0" bIns="0" rtlCol="0" anchor="ctr"/>
          <a:lstStyle/>
          <a:p>
            <a:pPr indent="0" marL="0">
              <a:buNone/>
            </a:pPr>
            <a:r>
              <a:rPr lang="en-US" sz="2400" dirty="0">
                <a:solidFill>
                  <a:srgbClr val="F07F06"/>
                </a:solidFill>
                <a:latin typeface="Arial Black" pitchFamily="34" charset="0"/>
                <a:ea typeface="Arial Black" pitchFamily="34" charset="-122"/>
                <a:cs typeface="Arial Black" pitchFamily="34" charset="-120"/>
              </a:rPr>
              <a:t>05</a:t>
            </a:r>
            <a:endParaRPr lang="en-US" sz="2400" dirty="0"/>
          </a:p>
        </p:txBody>
      </p:sp>
      <p:sp>
        <p:nvSpPr>
          <p:cNvPr id="22" name="Text 19"/>
          <p:cNvSpPr/>
          <p:nvPr/>
        </p:nvSpPr>
        <p:spPr>
          <a:xfrm>
            <a:off x="1344168" y="5266944"/>
            <a:ext cx="10280599" cy="566928"/>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Al propagarse ambos mensajes existen dos versiones incompatibles del libro. Alguien fue estafado y no hay criterio para decidir quién.</a:t>
            </a:r>
            <a:endParaRPr lang="en-US" sz="1350" dirty="0"/>
          </a:p>
        </p:txBody>
      </p:sp>
      <p:sp>
        <p:nvSpPr>
          <p:cNvPr id="23" name="Shape 20"/>
          <p:cNvSpPr/>
          <p:nvPr/>
        </p:nvSpPr>
        <p:spPr>
          <a:xfrm>
            <a:off x="566928" y="5148072"/>
            <a:ext cx="11057839" cy="0"/>
          </a:xfrm>
          <a:prstGeom prst="line">
            <a:avLst/>
          </a:prstGeom>
          <a:noFill/>
          <a:ln w="12700">
            <a:solidFill>
              <a:srgbClr val="D9D6E0"/>
            </a:solidFill>
            <a:prstDash val="solid"/>
          </a:ln>
        </p:spPr>
      </p:sp>
      <p:sp>
        <p:nvSpPr>
          <p:cNvPr id="24" name="Shape 21"/>
          <p:cNvSpPr/>
          <p:nvPr/>
        </p:nvSpPr>
        <p:spPr>
          <a:xfrm>
            <a:off x="566928" y="5870448"/>
            <a:ext cx="11057839" cy="0"/>
          </a:xfrm>
          <a:prstGeom prst="line">
            <a:avLst/>
          </a:prstGeom>
          <a:noFill/>
          <a:ln w="12700">
            <a:solidFill>
              <a:srgbClr val="D9D6E0"/>
            </a:solid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 · FIGURA 1</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200" dirty="0">
                <a:solidFill>
                  <a:srgbClr val="0F0F11"/>
                </a:solidFill>
                <a:latin typeface="Arial Black" pitchFamily="34" charset="0"/>
                <a:ea typeface="Arial Black" pitchFamily="34" charset="-122"/>
                <a:cs typeface="Arial Black" pitchFamily="34" charset="-120"/>
              </a:rPr>
              <a:t>EL DOBLE GASTO NO ROMPE LA CRIPTOGRAFÍA: ROMPE EL ORDEN</a:t>
            </a:r>
            <a:endParaRPr lang="en-US" sz="22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01 · ¿QUÉ PROBLEMA RESUELVE REALMENTE BLOCKCHAIN?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11</a:t>
            </a:r>
            <a:endParaRPr lang="en-US" sz="900" dirty="0"/>
          </a:p>
        </p:txBody>
      </p:sp>
      <p:sp>
        <p:nvSpPr>
          <p:cNvPr id="8" name="Text 5"/>
          <p:cNvSpPr/>
          <p:nvPr/>
        </p:nvSpPr>
        <p:spPr>
          <a:xfrm>
            <a:off x="3474720" y="1664208"/>
            <a:ext cx="4572000" cy="219456"/>
          </a:xfrm>
          <a:prstGeom prst="rect">
            <a:avLst/>
          </a:prstGeom>
          <a:noFill/>
          <a:ln/>
        </p:spPr>
        <p:txBody>
          <a:bodyPr wrap="square" lIns="0" tIns="0" rIns="0" bIns="0" rtlCol="0" anchor="ctr"/>
          <a:lstStyle/>
          <a:p>
            <a:pPr indent="0" marL="0">
              <a:buNone/>
            </a:pPr>
            <a:r>
              <a:rPr lang="en-US" sz="950" spc="100" kern="0" dirty="0">
                <a:solidFill>
                  <a:srgbClr val="6F6B80"/>
                </a:solidFill>
                <a:latin typeface="Courier New" pitchFamily="34" charset="0"/>
                <a:ea typeface="Courier New" pitchFamily="34" charset="-122"/>
                <a:cs typeface="Courier New" pitchFamily="34" charset="-120"/>
              </a:rPr>
              <a:t>TX 1 · FIRMADA POR ANA · M → BRUNO</a:t>
            </a:r>
            <a:endParaRPr lang="en-US" sz="950" dirty="0"/>
          </a:p>
        </p:txBody>
      </p:sp>
      <p:sp>
        <p:nvSpPr>
          <p:cNvPr id="9" name="Shape 6"/>
          <p:cNvSpPr/>
          <p:nvPr/>
        </p:nvSpPr>
        <p:spPr>
          <a:xfrm>
            <a:off x="3474720" y="1920240"/>
            <a:ext cx="1920240" cy="868680"/>
          </a:xfrm>
          <a:prstGeom prst="rect">
            <a:avLst/>
          </a:prstGeom>
          <a:solidFill>
            <a:srgbClr val="FAF9FB"/>
          </a:solidFill>
          <a:ln w="22225">
            <a:solidFill>
              <a:srgbClr val="0F0F11"/>
            </a:solidFill>
            <a:prstDash val="solid"/>
          </a:ln>
        </p:spPr>
      </p:sp>
      <p:sp>
        <p:nvSpPr>
          <p:cNvPr id="10" name="Text 7"/>
          <p:cNvSpPr/>
          <p:nvPr/>
        </p:nvSpPr>
        <p:spPr>
          <a:xfrm>
            <a:off x="3584448" y="2039112"/>
            <a:ext cx="1700784" cy="274320"/>
          </a:xfrm>
          <a:prstGeom prst="rect">
            <a:avLst/>
          </a:prstGeom>
          <a:noFill/>
          <a:ln/>
        </p:spPr>
        <p:txBody>
          <a:bodyPr wrap="square" lIns="0" tIns="0" rIns="0" bIns="0" rtlCol="0" anchor="ctr"/>
          <a:lstStyle/>
          <a:p>
            <a:pPr algn="ctr" indent="0" marL="0">
              <a:buNone/>
            </a:pPr>
            <a:r>
              <a:rPr lang="en-US" sz="1150" b="1" spc="110" kern="0" dirty="0">
                <a:solidFill>
                  <a:srgbClr val="0F0F11"/>
                </a:solidFill>
                <a:latin typeface="Courier New" pitchFamily="34" charset="0"/>
                <a:ea typeface="Courier New" pitchFamily="34" charset="-122"/>
                <a:cs typeface="Courier New" pitchFamily="34" charset="-120"/>
              </a:rPr>
              <a:t>BRUNO</a:t>
            </a:r>
            <a:endParaRPr lang="en-US" sz="1150" dirty="0"/>
          </a:p>
        </p:txBody>
      </p:sp>
      <p:sp>
        <p:nvSpPr>
          <p:cNvPr id="11" name="Text 8"/>
          <p:cNvSpPr/>
          <p:nvPr/>
        </p:nvSpPr>
        <p:spPr>
          <a:xfrm>
            <a:off x="3584448" y="2322576"/>
            <a:ext cx="1700784" cy="292608"/>
          </a:xfrm>
          <a:prstGeom prst="rect">
            <a:avLst/>
          </a:prstGeom>
          <a:noFill/>
          <a:ln/>
        </p:spPr>
        <p:txBody>
          <a:bodyPr wrap="square" lIns="0" tIns="0" rIns="0" bIns="0" rtlCol="0" anchor="ctr"/>
          <a:lstStyle/>
          <a:p>
            <a:pPr algn="ctr" indent="0" marL="0">
              <a:buNone/>
            </a:pPr>
            <a:r>
              <a:rPr lang="en-US" sz="1000" dirty="0">
                <a:solidFill>
                  <a:srgbClr val="6F6B80"/>
                </a:solidFill>
                <a:latin typeface="Courier New" pitchFamily="34" charset="0"/>
                <a:ea typeface="Courier New" pitchFamily="34" charset="-122"/>
                <a:cs typeface="Courier New" pitchFamily="34" charset="-120"/>
              </a:rPr>
              <a:t>verifica y entrega</a:t>
            </a:r>
            <a:endParaRPr lang="en-US" sz="1000" dirty="0"/>
          </a:p>
        </p:txBody>
      </p:sp>
      <p:sp>
        <p:nvSpPr>
          <p:cNvPr id="12" name="Shape 9"/>
          <p:cNvSpPr/>
          <p:nvPr/>
        </p:nvSpPr>
        <p:spPr>
          <a:xfrm>
            <a:off x="5394960" y="2354580"/>
            <a:ext cx="475488" cy="0"/>
          </a:xfrm>
          <a:prstGeom prst="line">
            <a:avLst/>
          </a:prstGeom>
          <a:noFill/>
          <a:ln w="22225">
            <a:solidFill>
              <a:srgbClr val="0F0F11"/>
            </a:solidFill>
            <a:prstDash val="solid"/>
            <a:tailEnd type="triangle"/>
          </a:ln>
        </p:spPr>
      </p:sp>
      <p:sp>
        <p:nvSpPr>
          <p:cNvPr id="13" name="Shape 10"/>
          <p:cNvSpPr/>
          <p:nvPr/>
        </p:nvSpPr>
        <p:spPr>
          <a:xfrm>
            <a:off x="5943600" y="1920240"/>
            <a:ext cx="5678424" cy="868680"/>
          </a:xfrm>
          <a:prstGeom prst="rect">
            <a:avLst/>
          </a:prstGeom>
          <a:solidFill>
            <a:srgbClr val="FAF9FB"/>
          </a:solidFill>
          <a:ln w="22225">
            <a:solidFill>
              <a:srgbClr val="0F0F11"/>
            </a:solidFill>
            <a:prstDash val="solid"/>
          </a:ln>
        </p:spPr>
      </p:sp>
      <p:sp>
        <p:nvSpPr>
          <p:cNvPr id="14" name="Text 11"/>
          <p:cNvSpPr/>
          <p:nvPr/>
        </p:nvSpPr>
        <p:spPr>
          <a:xfrm>
            <a:off x="6053328" y="2039112"/>
            <a:ext cx="5458968" cy="274320"/>
          </a:xfrm>
          <a:prstGeom prst="rect">
            <a:avLst/>
          </a:prstGeom>
          <a:noFill/>
          <a:ln/>
        </p:spPr>
        <p:txBody>
          <a:bodyPr wrap="square" lIns="0" tIns="0" rIns="0" bIns="0" rtlCol="0" anchor="ctr"/>
          <a:lstStyle/>
          <a:p>
            <a:pPr algn="ctr" indent="0" marL="0">
              <a:buNone/>
            </a:pPr>
            <a:r>
              <a:rPr lang="en-US" sz="1150" b="1" spc="110" kern="0" dirty="0">
                <a:solidFill>
                  <a:srgbClr val="0F0F11"/>
                </a:solidFill>
                <a:latin typeface="Courier New" pitchFamily="34" charset="0"/>
                <a:ea typeface="Courier New" pitchFamily="34" charset="-122"/>
                <a:cs typeface="Courier New" pitchFamily="34" charset="-120"/>
              </a:rPr>
              <a:t>LIBRO DE LA MITAD A DE LA RED</a:t>
            </a:r>
            <a:endParaRPr lang="en-US" sz="1150" dirty="0"/>
          </a:p>
        </p:txBody>
      </p:sp>
      <p:sp>
        <p:nvSpPr>
          <p:cNvPr id="15" name="Text 12"/>
          <p:cNvSpPr/>
          <p:nvPr/>
        </p:nvSpPr>
        <p:spPr>
          <a:xfrm>
            <a:off x="6053328" y="2322576"/>
            <a:ext cx="5458968" cy="292608"/>
          </a:xfrm>
          <a:prstGeom prst="rect">
            <a:avLst/>
          </a:prstGeom>
          <a:noFill/>
          <a:ln/>
        </p:spPr>
        <p:txBody>
          <a:bodyPr wrap="square" lIns="0" tIns="0" rIns="0" bIns="0" rtlCol="0" anchor="ctr"/>
          <a:lstStyle/>
          <a:p>
            <a:pPr algn="ctr" indent="0" marL="0">
              <a:buNone/>
            </a:pPr>
            <a:r>
              <a:rPr lang="en-US" sz="1000" dirty="0">
                <a:solidFill>
                  <a:srgbClr val="6F6B80"/>
                </a:solidFill>
                <a:latin typeface="Courier New" pitchFamily="34" charset="0"/>
                <a:ea typeface="Courier New" pitchFamily="34" charset="-122"/>
                <a:cs typeface="Courier New" pitchFamily="34" charset="-120"/>
              </a:rPr>
              <a:t>M pertenece a Bruno</a:t>
            </a:r>
            <a:endParaRPr lang="en-US" sz="1000" dirty="0"/>
          </a:p>
        </p:txBody>
      </p:sp>
      <p:sp>
        <p:nvSpPr>
          <p:cNvPr id="16" name="Shape 13"/>
          <p:cNvSpPr/>
          <p:nvPr/>
        </p:nvSpPr>
        <p:spPr>
          <a:xfrm>
            <a:off x="566928" y="3291840"/>
            <a:ext cx="1828800" cy="868680"/>
          </a:xfrm>
          <a:prstGeom prst="rect">
            <a:avLst/>
          </a:prstGeom>
          <a:solidFill>
            <a:srgbClr val="FAF9FB"/>
          </a:solidFill>
          <a:ln w="22225">
            <a:solidFill>
              <a:srgbClr val="0F0F11"/>
            </a:solidFill>
            <a:prstDash val="solid"/>
          </a:ln>
        </p:spPr>
      </p:sp>
      <p:sp>
        <p:nvSpPr>
          <p:cNvPr id="17" name="Text 14"/>
          <p:cNvSpPr/>
          <p:nvPr/>
        </p:nvSpPr>
        <p:spPr>
          <a:xfrm>
            <a:off x="676656" y="3410712"/>
            <a:ext cx="1609344" cy="274320"/>
          </a:xfrm>
          <a:prstGeom prst="rect">
            <a:avLst/>
          </a:prstGeom>
          <a:noFill/>
          <a:ln/>
        </p:spPr>
        <p:txBody>
          <a:bodyPr wrap="square" lIns="0" tIns="0" rIns="0" bIns="0" rtlCol="0" anchor="ctr"/>
          <a:lstStyle/>
          <a:p>
            <a:pPr algn="ctr" indent="0" marL="0">
              <a:buNone/>
            </a:pPr>
            <a:r>
              <a:rPr lang="en-US" sz="1150" b="1" spc="110" kern="0" dirty="0">
                <a:solidFill>
                  <a:srgbClr val="0F0F11"/>
                </a:solidFill>
                <a:latin typeface="Courier New" pitchFamily="34" charset="0"/>
                <a:ea typeface="Courier New" pitchFamily="34" charset="-122"/>
                <a:cs typeface="Courier New" pitchFamily="34" charset="-120"/>
              </a:rPr>
              <a:t>ANA</a:t>
            </a:r>
            <a:endParaRPr lang="en-US" sz="1150" dirty="0"/>
          </a:p>
        </p:txBody>
      </p:sp>
      <p:sp>
        <p:nvSpPr>
          <p:cNvPr id="18" name="Text 15"/>
          <p:cNvSpPr/>
          <p:nvPr/>
        </p:nvSpPr>
        <p:spPr>
          <a:xfrm>
            <a:off x="676656" y="3694176"/>
            <a:ext cx="1609344" cy="292608"/>
          </a:xfrm>
          <a:prstGeom prst="rect">
            <a:avLst/>
          </a:prstGeom>
          <a:noFill/>
          <a:ln/>
        </p:spPr>
        <p:txBody>
          <a:bodyPr wrap="square" lIns="0" tIns="0" rIns="0" bIns="0" rtlCol="0" anchor="ctr"/>
          <a:lstStyle/>
          <a:p>
            <a:pPr algn="ctr" indent="0" marL="0">
              <a:buNone/>
            </a:pPr>
            <a:r>
              <a:rPr lang="en-US" sz="1000" dirty="0">
                <a:solidFill>
                  <a:srgbClr val="6F6B80"/>
                </a:solidFill>
                <a:latin typeface="Courier New" pitchFamily="34" charset="0"/>
                <a:ea typeface="Courier New" pitchFamily="34" charset="-122"/>
                <a:cs typeface="Courier New" pitchFamily="34" charset="-120"/>
              </a:rPr>
              <a:t>posee la moneda M</a:t>
            </a:r>
            <a:endParaRPr lang="en-US" sz="1000" dirty="0"/>
          </a:p>
        </p:txBody>
      </p:sp>
      <p:sp>
        <p:nvSpPr>
          <p:cNvPr id="19" name="Shape 16"/>
          <p:cNvSpPr/>
          <p:nvPr/>
        </p:nvSpPr>
        <p:spPr>
          <a:xfrm>
            <a:off x="2395728" y="3726180"/>
            <a:ext cx="393192" cy="0"/>
          </a:xfrm>
          <a:prstGeom prst="line">
            <a:avLst/>
          </a:prstGeom>
          <a:noFill/>
          <a:ln w="22225">
            <a:solidFill>
              <a:srgbClr val="0F0F11"/>
            </a:solidFill>
            <a:prstDash val="solid"/>
          </a:ln>
        </p:spPr>
      </p:sp>
      <p:sp>
        <p:nvSpPr>
          <p:cNvPr id="20" name="Shape 17"/>
          <p:cNvSpPr/>
          <p:nvPr/>
        </p:nvSpPr>
        <p:spPr>
          <a:xfrm>
            <a:off x="2788920" y="2354580"/>
            <a:ext cx="0" cy="2724912"/>
          </a:xfrm>
          <a:prstGeom prst="line">
            <a:avLst/>
          </a:prstGeom>
          <a:noFill/>
          <a:ln w="22225">
            <a:solidFill>
              <a:srgbClr val="0F0F11"/>
            </a:solidFill>
            <a:prstDash val="solid"/>
          </a:ln>
        </p:spPr>
      </p:sp>
      <p:sp>
        <p:nvSpPr>
          <p:cNvPr id="21" name="Shape 18"/>
          <p:cNvSpPr/>
          <p:nvPr/>
        </p:nvSpPr>
        <p:spPr>
          <a:xfrm>
            <a:off x="2788920" y="2354580"/>
            <a:ext cx="612648" cy="0"/>
          </a:xfrm>
          <a:prstGeom prst="line">
            <a:avLst/>
          </a:prstGeom>
          <a:noFill/>
          <a:ln w="22225">
            <a:solidFill>
              <a:srgbClr val="0F0F11"/>
            </a:solidFill>
            <a:prstDash val="solid"/>
            <a:tailEnd type="triangle"/>
          </a:ln>
        </p:spPr>
      </p:sp>
      <p:sp>
        <p:nvSpPr>
          <p:cNvPr id="22" name="Shape 19"/>
          <p:cNvSpPr/>
          <p:nvPr/>
        </p:nvSpPr>
        <p:spPr>
          <a:xfrm>
            <a:off x="2788920" y="5079492"/>
            <a:ext cx="612648" cy="0"/>
          </a:xfrm>
          <a:prstGeom prst="line">
            <a:avLst/>
          </a:prstGeom>
          <a:noFill/>
          <a:ln w="22225">
            <a:solidFill>
              <a:srgbClr val="0F0F11"/>
            </a:solidFill>
            <a:prstDash val="solid"/>
            <a:tailEnd type="triangle"/>
          </a:ln>
        </p:spPr>
      </p:sp>
      <p:sp>
        <p:nvSpPr>
          <p:cNvPr id="23" name="Shape 20"/>
          <p:cNvSpPr/>
          <p:nvPr/>
        </p:nvSpPr>
        <p:spPr>
          <a:xfrm>
            <a:off x="3474720" y="3291840"/>
            <a:ext cx="8147304" cy="86868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24" name="Text 21"/>
          <p:cNvSpPr/>
          <p:nvPr/>
        </p:nvSpPr>
        <p:spPr>
          <a:xfrm>
            <a:off x="3611880" y="3401568"/>
            <a:ext cx="7863840" cy="292608"/>
          </a:xfrm>
          <a:prstGeom prst="rect">
            <a:avLst/>
          </a:prstGeom>
          <a:noFill/>
          <a:ln/>
        </p:spPr>
        <p:txBody>
          <a:bodyPr wrap="square" lIns="0" tIns="0" rIns="0" bIns="0" rtlCol="0" anchor="ctr"/>
          <a:lstStyle/>
          <a:p>
            <a:pPr algn="ctr" indent="0" marL="0">
              <a:buNone/>
            </a:pPr>
            <a:r>
              <a:rPr lang="en-US" sz="1150" b="1" spc="120" kern="0" dirty="0">
                <a:solidFill>
                  <a:srgbClr val="A35604"/>
                </a:solidFill>
                <a:latin typeface="Courier New" pitchFamily="34" charset="0"/>
                <a:ea typeface="Courier New" pitchFamily="34" charset="-122"/>
                <a:cs typeface="Courier New" pitchFamily="34" charset="-120"/>
              </a:rPr>
              <a:t>LAS DOS TRANSACCIONES SON VÁLIDAS</a:t>
            </a:r>
            <a:endParaRPr lang="en-US" sz="1150" dirty="0"/>
          </a:p>
        </p:txBody>
      </p:sp>
      <p:sp>
        <p:nvSpPr>
          <p:cNvPr id="25" name="Text 22"/>
          <p:cNvSpPr/>
          <p:nvPr/>
        </p:nvSpPr>
        <p:spPr>
          <a:xfrm>
            <a:off x="3611880" y="3712464"/>
            <a:ext cx="7863840" cy="292608"/>
          </a:xfrm>
          <a:prstGeom prst="rect">
            <a:avLst/>
          </a:prstGeom>
          <a:noFill/>
          <a:ln/>
        </p:spPr>
        <p:txBody>
          <a:bodyPr wrap="square" lIns="0" tIns="0" rIns="0" bIns="0" rtlCol="0" anchor="ctr"/>
          <a:lstStyle/>
          <a:p>
            <a:pPr algn="ctr" indent="0" marL="0">
              <a:buNone/>
            </a:pPr>
            <a:r>
              <a:rPr lang="en-US" sz="1000" dirty="0">
                <a:solidFill>
                  <a:srgbClr val="6F6B80"/>
                </a:solidFill>
                <a:latin typeface="Courier New" pitchFamily="34" charset="0"/>
                <a:ea typeface="Courier New" pitchFamily="34" charset="-122"/>
                <a:cs typeface="Courier New" pitchFamily="34" charset="-120"/>
              </a:rPr>
              <a:t>ninguna es fraude; el sistema no tiene criterio interno para ordenarlas</a:t>
            </a:r>
            <a:endParaRPr lang="en-US" sz="1000" dirty="0"/>
          </a:p>
        </p:txBody>
      </p:sp>
      <p:sp>
        <p:nvSpPr>
          <p:cNvPr id="26" name="Text 23"/>
          <p:cNvSpPr/>
          <p:nvPr/>
        </p:nvSpPr>
        <p:spPr>
          <a:xfrm>
            <a:off x="3474720" y="4389120"/>
            <a:ext cx="4572000" cy="219456"/>
          </a:xfrm>
          <a:prstGeom prst="rect">
            <a:avLst/>
          </a:prstGeom>
          <a:noFill/>
          <a:ln/>
        </p:spPr>
        <p:txBody>
          <a:bodyPr wrap="square" lIns="0" tIns="0" rIns="0" bIns="0" rtlCol="0" anchor="ctr"/>
          <a:lstStyle/>
          <a:p>
            <a:pPr indent="0" marL="0">
              <a:buNone/>
            </a:pPr>
            <a:r>
              <a:rPr lang="en-US" sz="950" spc="100" kern="0" dirty="0">
                <a:solidFill>
                  <a:srgbClr val="6F6B80"/>
                </a:solidFill>
                <a:latin typeface="Courier New" pitchFamily="34" charset="0"/>
                <a:ea typeface="Courier New" pitchFamily="34" charset="-122"/>
                <a:cs typeface="Courier New" pitchFamily="34" charset="-120"/>
              </a:rPr>
              <a:t>TX 2 · FIRMADA POR ANA · M → CARLOS</a:t>
            </a:r>
            <a:endParaRPr lang="en-US" sz="950" dirty="0"/>
          </a:p>
        </p:txBody>
      </p:sp>
      <p:sp>
        <p:nvSpPr>
          <p:cNvPr id="27" name="Shape 24"/>
          <p:cNvSpPr/>
          <p:nvPr/>
        </p:nvSpPr>
        <p:spPr>
          <a:xfrm>
            <a:off x="3474720" y="4645152"/>
            <a:ext cx="1920240" cy="868680"/>
          </a:xfrm>
          <a:prstGeom prst="rect">
            <a:avLst/>
          </a:prstGeom>
          <a:solidFill>
            <a:srgbClr val="FAF9FB"/>
          </a:solidFill>
          <a:ln w="22225">
            <a:solidFill>
              <a:srgbClr val="0F0F11"/>
            </a:solidFill>
            <a:prstDash val="solid"/>
          </a:ln>
        </p:spPr>
      </p:sp>
      <p:sp>
        <p:nvSpPr>
          <p:cNvPr id="28" name="Text 25"/>
          <p:cNvSpPr/>
          <p:nvPr/>
        </p:nvSpPr>
        <p:spPr>
          <a:xfrm>
            <a:off x="3584448" y="4764024"/>
            <a:ext cx="1700784" cy="274320"/>
          </a:xfrm>
          <a:prstGeom prst="rect">
            <a:avLst/>
          </a:prstGeom>
          <a:noFill/>
          <a:ln/>
        </p:spPr>
        <p:txBody>
          <a:bodyPr wrap="square" lIns="0" tIns="0" rIns="0" bIns="0" rtlCol="0" anchor="ctr"/>
          <a:lstStyle/>
          <a:p>
            <a:pPr algn="ctr" indent="0" marL="0">
              <a:buNone/>
            </a:pPr>
            <a:r>
              <a:rPr lang="en-US" sz="1150" b="1" spc="110" kern="0" dirty="0">
                <a:solidFill>
                  <a:srgbClr val="0F0F11"/>
                </a:solidFill>
                <a:latin typeface="Courier New" pitchFamily="34" charset="0"/>
                <a:ea typeface="Courier New" pitchFamily="34" charset="-122"/>
                <a:cs typeface="Courier New" pitchFamily="34" charset="-120"/>
              </a:rPr>
              <a:t>CARLOS</a:t>
            </a:r>
            <a:endParaRPr lang="en-US" sz="1150" dirty="0"/>
          </a:p>
        </p:txBody>
      </p:sp>
      <p:sp>
        <p:nvSpPr>
          <p:cNvPr id="29" name="Text 26"/>
          <p:cNvSpPr/>
          <p:nvPr/>
        </p:nvSpPr>
        <p:spPr>
          <a:xfrm>
            <a:off x="3584448" y="5047488"/>
            <a:ext cx="1700784" cy="292608"/>
          </a:xfrm>
          <a:prstGeom prst="rect">
            <a:avLst/>
          </a:prstGeom>
          <a:noFill/>
          <a:ln/>
        </p:spPr>
        <p:txBody>
          <a:bodyPr wrap="square" lIns="0" tIns="0" rIns="0" bIns="0" rtlCol="0" anchor="ctr"/>
          <a:lstStyle/>
          <a:p>
            <a:pPr algn="ctr" indent="0" marL="0">
              <a:buNone/>
            </a:pPr>
            <a:r>
              <a:rPr lang="en-US" sz="1000" dirty="0">
                <a:solidFill>
                  <a:srgbClr val="6F6B80"/>
                </a:solidFill>
                <a:latin typeface="Courier New" pitchFamily="34" charset="0"/>
                <a:ea typeface="Courier New" pitchFamily="34" charset="-122"/>
                <a:cs typeface="Courier New" pitchFamily="34" charset="-120"/>
              </a:rPr>
              <a:t>verifica y entrega</a:t>
            </a:r>
            <a:endParaRPr lang="en-US" sz="1000" dirty="0"/>
          </a:p>
        </p:txBody>
      </p:sp>
      <p:sp>
        <p:nvSpPr>
          <p:cNvPr id="30" name="Shape 27"/>
          <p:cNvSpPr/>
          <p:nvPr/>
        </p:nvSpPr>
        <p:spPr>
          <a:xfrm>
            <a:off x="5394960" y="5079492"/>
            <a:ext cx="475488" cy="0"/>
          </a:xfrm>
          <a:prstGeom prst="line">
            <a:avLst/>
          </a:prstGeom>
          <a:noFill/>
          <a:ln w="22225">
            <a:solidFill>
              <a:srgbClr val="0F0F11"/>
            </a:solidFill>
            <a:prstDash val="solid"/>
            <a:tailEnd type="triangle"/>
          </a:ln>
        </p:spPr>
      </p:sp>
      <p:sp>
        <p:nvSpPr>
          <p:cNvPr id="31" name="Shape 28"/>
          <p:cNvSpPr/>
          <p:nvPr/>
        </p:nvSpPr>
        <p:spPr>
          <a:xfrm>
            <a:off x="5943600" y="4645152"/>
            <a:ext cx="5678424" cy="868680"/>
          </a:xfrm>
          <a:prstGeom prst="rect">
            <a:avLst/>
          </a:prstGeom>
          <a:solidFill>
            <a:srgbClr val="FAF9FB"/>
          </a:solidFill>
          <a:ln w="22225">
            <a:solidFill>
              <a:srgbClr val="0F0F11"/>
            </a:solidFill>
            <a:prstDash val="solid"/>
          </a:ln>
        </p:spPr>
      </p:sp>
      <p:sp>
        <p:nvSpPr>
          <p:cNvPr id="32" name="Text 29"/>
          <p:cNvSpPr/>
          <p:nvPr/>
        </p:nvSpPr>
        <p:spPr>
          <a:xfrm>
            <a:off x="6053328" y="4764024"/>
            <a:ext cx="5458968" cy="274320"/>
          </a:xfrm>
          <a:prstGeom prst="rect">
            <a:avLst/>
          </a:prstGeom>
          <a:noFill/>
          <a:ln/>
        </p:spPr>
        <p:txBody>
          <a:bodyPr wrap="square" lIns="0" tIns="0" rIns="0" bIns="0" rtlCol="0" anchor="ctr"/>
          <a:lstStyle/>
          <a:p>
            <a:pPr algn="ctr" indent="0" marL="0">
              <a:buNone/>
            </a:pPr>
            <a:r>
              <a:rPr lang="en-US" sz="1150" b="1" spc="110" kern="0" dirty="0">
                <a:solidFill>
                  <a:srgbClr val="0F0F11"/>
                </a:solidFill>
                <a:latin typeface="Courier New" pitchFamily="34" charset="0"/>
                <a:ea typeface="Courier New" pitchFamily="34" charset="-122"/>
                <a:cs typeface="Courier New" pitchFamily="34" charset="-120"/>
              </a:rPr>
              <a:t>LIBRO DE LA MITAD B DE LA RED</a:t>
            </a:r>
            <a:endParaRPr lang="en-US" sz="1150" dirty="0"/>
          </a:p>
        </p:txBody>
      </p:sp>
      <p:sp>
        <p:nvSpPr>
          <p:cNvPr id="33" name="Text 30"/>
          <p:cNvSpPr/>
          <p:nvPr/>
        </p:nvSpPr>
        <p:spPr>
          <a:xfrm>
            <a:off x="6053328" y="5047488"/>
            <a:ext cx="5458968" cy="292608"/>
          </a:xfrm>
          <a:prstGeom prst="rect">
            <a:avLst/>
          </a:prstGeom>
          <a:noFill/>
          <a:ln/>
        </p:spPr>
        <p:txBody>
          <a:bodyPr wrap="square" lIns="0" tIns="0" rIns="0" bIns="0" rtlCol="0" anchor="ctr"/>
          <a:lstStyle/>
          <a:p>
            <a:pPr algn="ctr" indent="0" marL="0">
              <a:buNone/>
            </a:pPr>
            <a:r>
              <a:rPr lang="en-US" sz="1000" dirty="0">
                <a:solidFill>
                  <a:srgbClr val="6F6B80"/>
                </a:solidFill>
                <a:latin typeface="Courier New" pitchFamily="34" charset="0"/>
                <a:ea typeface="Courier New" pitchFamily="34" charset="-122"/>
                <a:cs typeface="Courier New" pitchFamily="34" charset="-120"/>
              </a:rPr>
              <a:t>M pertenece a Carlos</a:t>
            </a:r>
            <a:endParaRPr lang="en-US" sz="1000" dirty="0"/>
          </a:p>
        </p:txBody>
      </p:sp>
      <p:sp>
        <p:nvSpPr>
          <p:cNvPr id="34" name="Text 31"/>
          <p:cNvSpPr/>
          <p:nvPr/>
        </p:nvSpPr>
        <p:spPr>
          <a:xfrm>
            <a:off x="566928" y="5760720"/>
            <a:ext cx="1828800" cy="237744"/>
          </a:xfrm>
          <a:prstGeom prst="rect">
            <a:avLst/>
          </a:prstGeom>
          <a:noFill/>
          <a:ln/>
        </p:spPr>
        <p:txBody>
          <a:bodyPr wrap="square" lIns="0" tIns="0" rIns="0" bIns="0" rtlCol="0" anchor="ctr"/>
          <a:lstStyle/>
          <a:p>
            <a:pPr indent="0" marL="0">
              <a:buNone/>
            </a:pPr>
            <a:r>
              <a:rPr lang="en-US" sz="900" spc="120" kern="0" dirty="0">
                <a:solidFill>
                  <a:srgbClr val="6F6B80"/>
                </a:solidFill>
                <a:latin typeface="Courier New" pitchFamily="34" charset="0"/>
                <a:ea typeface="Courier New" pitchFamily="34" charset="-122"/>
                <a:cs typeface="Courier New" pitchFamily="34" charset="-120"/>
              </a:rPr>
              <a:t>Fig. 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 · PROFUNDIDAD</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CONEXIÓN CON SISTEMAS DISTRIBUIDOS</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01 · ¿QUÉ PROBLEMA RESUELVE REALMENTE BLOCKCHAIN?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12</a:t>
            </a:r>
            <a:endParaRPr lang="en-US" sz="900" dirty="0"/>
          </a:p>
        </p:txBody>
      </p:sp>
      <p:sp>
        <p:nvSpPr>
          <p:cNvPr id="8" name="Shape 5"/>
          <p:cNvSpPr/>
          <p:nvPr/>
        </p:nvSpPr>
        <p:spPr>
          <a:xfrm>
            <a:off x="566928" y="1737360"/>
            <a:ext cx="11057839" cy="1874520"/>
          </a:xfrm>
          <a:prstGeom prst="rect">
            <a:avLst/>
          </a:prstGeom>
          <a:solidFill>
            <a:srgbClr val="F2F0F5"/>
          </a:solidFill>
          <a:ln w="22225">
            <a:solidFill>
              <a:srgbClr val="0F0F11"/>
            </a:solidFill>
            <a:prstDash val="solid"/>
          </a:ln>
        </p:spPr>
      </p:sp>
      <p:pic>
        <p:nvPicPr>
          <p:cNvPr id="9" name="Image 1" descr="preencoded.png">    </p:cNvPr>
          <p:cNvPicPr>
            <a:picLocks noChangeAspect="1"/>
          </p:cNvPicPr>
          <p:nvPr/>
        </p:nvPicPr>
        <p:blipFill>
          <a:blip r:embed="rId2"/>
          <a:stretch>
            <a:fillRect/>
          </a:stretch>
        </p:blipFill>
        <p:spPr>
          <a:xfrm>
            <a:off x="804672" y="1956816"/>
            <a:ext cx="237744" cy="237744"/>
          </a:xfrm>
          <a:prstGeom prst="rect">
            <a:avLst/>
          </a:prstGeom>
        </p:spPr>
      </p:pic>
      <p:sp>
        <p:nvSpPr>
          <p:cNvPr id="10" name="Text 6"/>
          <p:cNvSpPr/>
          <p:nvPr/>
        </p:nvSpPr>
        <p:spPr>
          <a:xfrm>
            <a:off x="1133856" y="1929384"/>
            <a:ext cx="10234879" cy="292608"/>
          </a:xfrm>
          <a:prstGeom prst="rect">
            <a:avLst/>
          </a:prstGeom>
          <a:noFill/>
          <a:ln/>
        </p:spPr>
        <p:txBody>
          <a:bodyPr wrap="square" lIns="0" tIns="0" rIns="0" bIns="0" rtlCol="0" anchor="ctr"/>
          <a:lstStyle/>
          <a:p>
            <a:pPr indent="0" marL="0">
              <a:buNone/>
            </a:pPr>
            <a:r>
              <a:rPr lang="en-US" sz="950" b="1" spc="150" kern="0" dirty="0">
                <a:solidFill>
                  <a:srgbClr val="6F6B80"/>
                </a:solidFill>
                <a:latin typeface="Courier New" pitchFamily="34" charset="0"/>
                <a:ea typeface="Courier New" pitchFamily="34" charset="-122"/>
                <a:cs typeface="Courier New" pitchFamily="34" charset="-120"/>
              </a:rPr>
              <a:t>PROFUNDIDAD · NO EVALUABLE</a:t>
            </a:r>
            <a:endParaRPr lang="en-US" sz="950" dirty="0"/>
          </a:p>
        </p:txBody>
      </p:sp>
      <p:sp>
        <p:nvSpPr>
          <p:cNvPr id="11" name="Text 7"/>
          <p:cNvSpPr/>
          <p:nvPr/>
        </p:nvSpPr>
        <p:spPr>
          <a:xfrm>
            <a:off x="804672" y="2322576"/>
            <a:ext cx="10582351" cy="100584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Este es el problema del orden total de eventos en ausencia de un reloj global, tratado por Leslie Lamport en «Time, Clocks, and the Ordering of Events in a Distributed System» (1978). Blockchain no es un tema nuevo desconectado de la carrera: es una solución particular a un problema que la disciplina lleva medio siglo estudiando.</a:t>
            </a:r>
            <a:endParaRPr lang="en-US" sz="1350" dirty="0"/>
          </a:p>
        </p:txBody>
      </p:sp>
      <p:sp>
        <p:nvSpPr>
          <p:cNvPr id="12" name="Text 8"/>
          <p:cNvSpPr/>
          <p:nvPr/>
        </p:nvSpPr>
        <p:spPr>
          <a:xfrm>
            <a:off x="566928" y="3840480"/>
            <a:ext cx="11057839" cy="292608"/>
          </a:xfrm>
          <a:prstGeom prst="rect">
            <a:avLst/>
          </a:prstGeom>
          <a:noFill/>
          <a:ln/>
        </p:spPr>
        <p:txBody>
          <a:bodyPr wrap="square" lIns="0" tIns="0" rIns="0" bIns="0" rtlCol="0" anchor="t"/>
          <a:lstStyle/>
          <a:p>
            <a:pPr indent="0" marL="0">
              <a:lnSpc>
                <a:spcPct val="124000"/>
              </a:lnSpc>
              <a:buNone/>
            </a:pPr>
            <a:r>
              <a:rPr lang="en-US" sz="1300" dirty="0">
                <a:solidFill>
                  <a:srgbClr val="6F6B80"/>
                </a:solidFill>
                <a:latin typeface="Arial" pitchFamily="34" charset="0"/>
                <a:ea typeface="Arial" pitchFamily="34" charset="-122"/>
                <a:cs typeface="Arial" pitchFamily="34" charset="-120"/>
              </a:rPr>
              <a:t>La diferencia crítica está en el modelo de fallas</a:t>
            </a:r>
            <a:endParaRPr lang="en-US" sz="1300" dirty="0"/>
          </a:p>
        </p:txBody>
      </p:sp>
      <p:sp>
        <p:nvSpPr>
          <p:cNvPr id="13" name="Shape 9"/>
          <p:cNvSpPr/>
          <p:nvPr/>
        </p:nvSpPr>
        <p:spPr>
          <a:xfrm>
            <a:off x="566928" y="4206240"/>
            <a:ext cx="5419192" cy="1417320"/>
          </a:xfrm>
          <a:prstGeom prst="rect">
            <a:avLst/>
          </a:prstGeom>
          <a:solidFill>
            <a:srgbClr val="FFFFFF"/>
          </a:solidFill>
          <a:ln w="22225">
            <a:solidFill>
              <a:srgbClr val="0F0F11"/>
            </a:solidFill>
            <a:prstDash val="solid"/>
          </a:ln>
          <a:effectLst>
            <a:outerShdw sx="100000" sy="100000" kx="0" ky="0" algn="bl" rotWithShape="0" blurRad="101600" dist="63500" dir="2700000">
              <a:srgbClr val="0F0F11">
                <a:alpha val="100000"/>
              </a:srgbClr>
            </a:outerShdw>
          </a:effectLst>
        </p:spPr>
      </p:sp>
      <p:sp>
        <p:nvSpPr>
          <p:cNvPr id="14" name="Text 10"/>
          <p:cNvSpPr/>
          <p:nvPr/>
        </p:nvSpPr>
        <p:spPr>
          <a:xfrm>
            <a:off x="822960" y="4370832"/>
            <a:ext cx="4907128" cy="274320"/>
          </a:xfrm>
          <a:prstGeom prst="rect">
            <a:avLst/>
          </a:prstGeom>
          <a:noFill/>
          <a:ln/>
        </p:spPr>
        <p:txBody>
          <a:bodyPr wrap="square" lIns="0" tIns="0" rIns="0" bIns="0" rtlCol="0" anchor="ctr"/>
          <a:lstStyle/>
          <a:p>
            <a:pPr indent="0" marL="0">
              <a:buNone/>
            </a:pPr>
            <a:r>
              <a:rPr lang="en-US" sz="1050" b="1" spc="130" kern="0" dirty="0">
                <a:solidFill>
                  <a:srgbClr val="6F6B80"/>
                </a:solidFill>
                <a:latin typeface="Courier New" pitchFamily="34" charset="0"/>
                <a:ea typeface="Courier New" pitchFamily="34" charset="-122"/>
                <a:cs typeface="Courier New" pitchFamily="34" charset="-120"/>
              </a:rPr>
              <a:t>FALLAS POR CAÍDA</a:t>
            </a:r>
            <a:endParaRPr lang="en-US" sz="1050" dirty="0"/>
          </a:p>
        </p:txBody>
      </p:sp>
      <p:sp>
        <p:nvSpPr>
          <p:cNvPr id="15" name="Text 11"/>
          <p:cNvSpPr/>
          <p:nvPr/>
        </p:nvSpPr>
        <p:spPr>
          <a:xfrm>
            <a:off x="822960" y="4700016"/>
            <a:ext cx="4907128" cy="77724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Paxos, Raft. Un nodo puede apagarse o perder mensajes, pero si responde, responde honestamente.</a:t>
            </a:r>
            <a:endParaRPr lang="en-US" sz="1300" dirty="0"/>
          </a:p>
        </p:txBody>
      </p:sp>
      <p:sp>
        <p:nvSpPr>
          <p:cNvPr id="16" name="Shape 12"/>
          <p:cNvSpPr/>
          <p:nvPr/>
        </p:nvSpPr>
        <p:spPr>
          <a:xfrm>
            <a:off x="6205576" y="4206240"/>
            <a:ext cx="5419192" cy="141732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17" name="Text 13"/>
          <p:cNvSpPr/>
          <p:nvPr/>
        </p:nvSpPr>
        <p:spPr>
          <a:xfrm>
            <a:off x="6461608" y="4370832"/>
            <a:ext cx="4907128" cy="274320"/>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FALLAS BIZANTINAS</a:t>
            </a:r>
            <a:endParaRPr lang="en-US" sz="1050" dirty="0"/>
          </a:p>
        </p:txBody>
      </p:sp>
      <p:sp>
        <p:nvSpPr>
          <p:cNvPr id="18" name="Text 14"/>
          <p:cNvSpPr/>
          <p:nvPr/>
        </p:nvSpPr>
        <p:spPr>
          <a:xfrm>
            <a:off x="6461608" y="4700016"/>
            <a:ext cx="4907128" cy="77724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Blockchain. Un nodo puede mentir activamente, coludirse con otros y tener incentivos económicos para hacerlo.</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 · CIERRE · DISCUSIÓN ABIERTA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PREGUNTA PARA EL AULA</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01 · ¿QUÉ PROBLEMA RESUELVE REALMENTE BLOCKCHAIN?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13</a:t>
            </a:r>
            <a:endParaRPr lang="en-US" sz="900" dirty="0"/>
          </a:p>
        </p:txBody>
      </p:sp>
      <p:sp>
        <p:nvSpPr>
          <p:cNvPr id="8" name="Shape 5"/>
          <p:cNvSpPr/>
          <p:nvPr/>
        </p:nvSpPr>
        <p:spPr>
          <a:xfrm>
            <a:off x="566928" y="1965960"/>
            <a:ext cx="11057839" cy="228600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pic>
        <p:nvPicPr>
          <p:cNvPr id="9" name="Image 1" descr="preencoded.png">    </p:cNvPr>
          <p:cNvPicPr>
            <a:picLocks noChangeAspect="1"/>
          </p:cNvPicPr>
          <p:nvPr/>
        </p:nvPicPr>
        <p:blipFill>
          <a:blip r:embed="rId2"/>
          <a:stretch>
            <a:fillRect/>
          </a:stretch>
        </p:blipFill>
        <p:spPr>
          <a:xfrm>
            <a:off x="804672" y="2185416"/>
            <a:ext cx="237744" cy="237744"/>
          </a:xfrm>
          <a:prstGeom prst="rect">
            <a:avLst/>
          </a:prstGeom>
        </p:spPr>
      </p:pic>
      <p:sp>
        <p:nvSpPr>
          <p:cNvPr id="10" name="Text 6"/>
          <p:cNvSpPr/>
          <p:nvPr/>
        </p:nvSpPr>
        <p:spPr>
          <a:xfrm>
            <a:off x="1133856" y="2157984"/>
            <a:ext cx="10234879" cy="292608"/>
          </a:xfrm>
          <a:prstGeom prst="rect">
            <a:avLst/>
          </a:prstGeom>
          <a:noFill/>
          <a:ln/>
        </p:spPr>
        <p:txBody>
          <a:bodyPr wrap="square" lIns="0" tIns="0" rIns="0" bIns="0" rtlCol="0" anchor="ctr"/>
          <a:lstStyle/>
          <a:p>
            <a:pPr indent="0" marL="0">
              <a:buNone/>
            </a:pPr>
            <a:r>
              <a:rPr lang="en-US" sz="950" b="1" spc="150" kern="0" dirty="0">
                <a:solidFill>
                  <a:srgbClr val="0F0F11"/>
                </a:solidFill>
                <a:latin typeface="Courier New" pitchFamily="34" charset="0"/>
                <a:ea typeface="Courier New" pitchFamily="34" charset="-122"/>
                <a:cs typeface="Courier New" pitchFamily="34" charset="-120"/>
              </a:rPr>
              <a:t>DISCUSIÓN · 3 MINUTOS</a:t>
            </a:r>
            <a:endParaRPr lang="en-US" sz="950" dirty="0"/>
          </a:p>
        </p:txBody>
      </p:sp>
      <p:sp>
        <p:nvSpPr>
          <p:cNvPr id="11" name="Text 7"/>
          <p:cNvSpPr/>
          <p:nvPr/>
        </p:nvSpPr>
        <p:spPr>
          <a:xfrm>
            <a:off x="987552" y="2596896"/>
            <a:ext cx="10216591" cy="1097280"/>
          </a:xfrm>
          <a:prstGeom prst="rect">
            <a:avLst/>
          </a:prstGeom>
          <a:noFill/>
          <a:ln/>
        </p:spPr>
        <p:txBody>
          <a:bodyPr wrap="square" lIns="0" tIns="0" rIns="0" bIns="0" rtlCol="0" anchor="t"/>
          <a:lstStyle/>
          <a:p>
            <a:pPr indent="0" marL="0">
              <a:lnSpc>
                <a:spcPct val="108000"/>
              </a:lnSpc>
              <a:buNone/>
            </a:pPr>
            <a:r>
              <a:rPr lang="en-US" sz="2100" dirty="0">
                <a:solidFill>
                  <a:srgbClr val="0F0F11"/>
                </a:solidFill>
                <a:latin typeface="Arial Black" pitchFamily="34" charset="0"/>
                <a:ea typeface="Arial Black" pitchFamily="34" charset="-122"/>
                <a:cs typeface="Arial Black" pitchFamily="34" charset="-120"/>
              </a:rPr>
              <a:t>Si el problema es lograr que todos coincidan en el orden de los eventos, ¿por qué no basta con poner un servidor que reciba todo y decida el orden?</a:t>
            </a:r>
            <a:endParaRPr lang="en-US" sz="2100" dirty="0"/>
          </a:p>
        </p:txBody>
      </p:sp>
      <p:sp>
        <p:nvSpPr>
          <p:cNvPr id="12" name="Text 8"/>
          <p:cNvSpPr/>
          <p:nvPr/>
        </p:nvSpPr>
        <p:spPr>
          <a:xfrm>
            <a:off x="987552" y="3785616"/>
            <a:ext cx="10216591" cy="365760"/>
          </a:xfrm>
          <a:prstGeom prst="rect">
            <a:avLst/>
          </a:prstGeom>
          <a:noFill/>
          <a:ln/>
        </p:spPr>
        <p:txBody>
          <a:bodyPr wrap="square" lIns="0" tIns="0" rIns="0" bIns="0" rtlCol="0" anchor="t"/>
          <a:lstStyle/>
          <a:p>
            <a:pPr indent="0" marL="0">
              <a:lnSpc>
                <a:spcPct val="124000"/>
              </a:lnSpc>
              <a:buNone/>
            </a:pPr>
            <a:r>
              <a:rPr lang="en-US" sz="1500" dirty="0">
                <a:solidFill>
                  <a:srgbClr val="6F6B80"/>
                </a:solidFill>
                <a:latin typeface="Arial" pitchFamily="34" charset="0"/>
                <a:ea typeface="Arial" pitchFamily="34" charset="-122"/>
                <a:cs typeface="Arial" pitchFamily="34" charset="-120"/>
              </a:rPr>
              <a:t>¿Qué se gana y qué se pierde con esa decisión?</a:t>
            </a:r>
            <a:endParaRPr lang="en-US" sz="1500" dirty="0"/>
          </a:p>
        </p:txBody>
      </p:sp>
      <p:sp>
        <p:nvSpPr>
          <p:cNvPr id="13" name="Text 9"/>
          <p:cNvSpPr/>
          <p:nvPr/>
        </p:nvSpPr>
        <p:spPr>
          <a:xfrm>
            <a:off x="566928" y="4663440"/>
            <a:ext cx="11057839" cy="457200"/>
          </a:xfrm>
          <a:prstGeom prst="rect">
            <a:avLst/>
          </a:prstGeom>
          <a:noFill/>
          <a:ln/>
        </p:spPr>
        <p:txBody>
          <a:bodyPr wrap="square" lIns="0" tIns="0" rIns="0" bIns="0" rtlCol="0" anchor="t"/>
          <a:lstStyle/>
          <a:p>
            <a:pPr indent="0" marL="0">
              <a:lnSpc>
                <a:spcPct val="124000"/>
              </a:lnSpc>
              <a:buNone/>
            </a:pPr>
            <a:r>
              <a:rPr lang="en-US" sz="1300" dirty="0">
                <a:solidFill>
                  <a:srgbClr val="6F6B80"/>
                </a:solidFill>
                <a:latin typeface="Arial" pitchFamily="34" charset="0"/>
                <a:ea typeface="Arial" pitchFamily="34" charset="-122"/>
                <a:cs typeface="Arial" pitchFamily="34" charset="-120"/>
              </a:rPr>
              <a:t>Recoger tres respuestas antes de pasar a A.2. La respuesta correcta —que sí basta— es la que abre la sección siguiente.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A.2 · MIN 30–45 · EL TERCERO DE CONFIANZA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600" dirty="0">
                <a:solidFill>
                  <a:srgbClr val="0F0F11"/>
                </a:solidFill>
                <a:latin typeface="Arial Black" pitchFamily="34" charset="0"/>
                <a:ea typeface="Arial Black" pitchFamily="34" charset="-122"/>
                <a:cs typeface="Arial Black" pitchFamily="34" charset="-120"/>
              </a:rPr>
              <a:t>LA SOLUCIÓN QUE YA USAMOS HACE SIGLOS</a:t>
            </a:r>
            <a:endParaRPr lang="en-US" sz="26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01 · ¿QUÉ PROBLEMA RESUELVE REALMENTE BLOCKCHAIN?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14</a:t>
            </a:r>
            <a:endParaRPr lang="en-US" sz="900" dirty="0"/>
          </a:p>
        </p:txBody>
      </p:sp>
      <p:sp>
        <p:nvSpPr>
          <p:cNvPr id="8" name="Text 5"/>
          <p:cNvSpPr/>
          <p:nvPr/>
        </p:nvSpPr>
        <p:spPr>
          <a:xfrm>
            <a:off x="566928" y="1737360"/>
            <a:ext cx="11057839" cy="777240"/>
          </a:xfrm>
          <a:prstGeom prst="rect">
            <a:avLst/>
          </a:prstGeom>
          <a:noFill/>
          <a:ln/>
        </p:spPr>
        <p:txBody>
          <a:bodyPr wrap="square" lIns="0" tIns="0" rIns="0" bIns="0" rtlCol="0" anchor="t"/>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Sí basta con poner un servidor. Esa es la solución que la humanidad usa desde hace siglos: se llama banco. Es importante entender que esta solución funciona bien, porque el discurso entusiasta del sector suele presentarla como si estuviera rota, y no lo está.</a:t>
            </a:r>
            <a:endParaRPr lang="en-US" sz="1450" dirty="0"/>
          </a:p>
        </p:txBody>
      </p:sp>
      <p:sp>
        <p:nvSpPr>
          <p:cNvPr id="9" name="Shape 6"/>
          <p:cNvSpPr/>
          <p:nvPr/>
        </p:nvSpPr>
        <p:spPr>
          <a:xfrm>
            <a:off x="566928" y="2697480"/>
            <a:ext cx="11057839" cy="310896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pic>
        <p:nvPicPr>
          <p:cNvPr id="10" name="Image 1" descr="preencoded.png">    </p:cNvPr>
          <p:cNvPicPr>
            <a:picLocks noChangeAspect="1"/>
          </p:cNvPicPr>
          <p:nvPr/>
        </p:nvPicPr>
        <p:blipFill>
          <a:blip r:embed="rId2"/>
          <a:stretch>
            <a:fillRect/>
          </a:stretch>
        </p:blipFill>
        <p:spPr>
          <a:xfrm>
            <a:off x="804672" y="2916936"/>
            <a:ext cx="237744" cy="237744"/>
          </a:xfrm>
          <a:prstGeom prst="rect">
            <a:avLst/>
          </a:prstGeom>
        </p:spPr>
      </p:pic>
      <p:sp>
        <p:nvSpPr>
          <p:cNvPr id="11" name="Text 7"/>
          <p:cNvSpPr/>
          <p:nvPr/>
        </p:nvSpPr>
        <p:spPr>
          <a:xfrm>
            <a:off x="1133856" y="2889504"/>
            <a:ext cx="10234879" cy="292608"/>
          </a:xfrm>
          <a:prstGeom prst="rect">
            <a:avLst/>
          </a:prstGeom>
          <a:noFill/>
          <a:ln/>
        </p:spPr>
        <p:txBody>
          <a:bodyPr wrap="square" lIns="0" tIns="0" rIns="0" bIns="0" rtlCol="0" anchor="ctr"/>
          <a:lstStyle/>
          <a:p>
            <a:pPr indent="0" marL="0">
              <a:buNone/>
            </a:pPr>
            <a:r>
              <a:rPr lang="en-US" sz="950" b="1" spc="150" kern="0" dirty="0">
                <a:solidFill>
                  <a:srgbClr val="5638C9"/>
                </a:solidFill>
                <a:latin typeface="Courier New" pitchFamily="34" charset="0"/>
                <a:ea typeface="Courier New" pitchFamily="34" charset="-122"/>
                <a:cs typeface="Courier New" pitchFamily="34" charset="-120"/>
              </a:rPr>
              <a:t>FICHA DE TÉRMINO 03 · TERCERO DE CONFIANZA</a:t>
            </a:r>
            <a:endParaRPr lang="en-US" sz="950" dirty="0"/>
          </a:p>
        </p:txBody>
      </p:sp>
      <p:sp>
        <p:nvSpPr>
          <p:cNvPr id="12" name="Shape 8"/>
          <p:cNvSpPr/>
          <p:nvPr/>
        </p:nvSpPr>
        <p:spPr>
          <a:xfrm>
            <a:off x="804672" y="3282696"/>
            <a:ext cx="10582351" cy="960120"/>
          </a:xfrm>
          <a:prstGeom prst="rect">
            <a:avLst/>
          </a:prstGeom>
          <a:solidFill>
            <a:srgbClr val="F2F0F5"/>
          </a:solidFill>
          <a:ln w="12700">
            <a:solidFill>
              <a:srgbClr val="7152E9"/>
            </a:solidFill>
            <a:prstDash val="solid"/>
          </a:ln>
        </p:spPr>
      </p:sp>
      <p:sp>
        <p:nvSpPr>
          <p:cNvPr id="13" name="Text 9"/>
          <p:cNvSpPr/>
          <p:nvPr/>
        </p:nvSpPr>
        <p:spPr>
          <a:xfrm>
            <a:off x="969264" y="3374136"/>
            <a:ext cx="10253167" cy="777240"/>
          </a:xfrm>
          <a:prstGeom prst="rect">
            <a:avLst/>
          </a:prstGeom>
          <a:noFill/>
          <a:ln/>
        </p:spPr>
        <p:txBody>
          <a:bodyPr wrap="square" lIns="0" tIns="0" rIns="0" bIns="0" rtlCol="0" anchor="ctr"/>
          <a:lstStyle/>
          <a:p>
            <a:pPr indent="0" marL="0">
              <a:lnSpc>
                <a:spcPct val="120000"/>
              </a:lnSpc>
              <a:buNone/>
            </a:pPr>
            <a:r>
              <a:rPr lang="en-US" sz="1100" dirty="0">
                <a:solidFill>
                  <a:srgbClr val="3A3844"/>
                </a:solidFill>
                <a:latin typeface="Courier New" pitchFamily="34" charset="0"/>
                <a:ea typeface="Courier New" pitchFamily="34" charset="-122"/>
                <a:cs typeface="Courier New" pitchFamily="34" charset="-120"/>
              </a:rPr>
              <a:t>TERCERO DE CONFIANZA (trusted third party, TTP): entidad en la que dos partes que</a:t>
            </a:r>
            <a:endParaRPr lang="en-US" sz="1100" dirty="0"/>
          </a:p>
          <a:p>
            <a:pPr indent="0" marL="0">
              <a:lnSpc>
                <a:spcPct val="120000"/>
              </a:lnSpc>
              <a:buNone/>
            </a:pPr>
            <a:r>
              <a:rPr lang="en-US" sz="1100" dirty="0">
                <a:solidFill>
                  <a:srgbClr val="3A3844"/>
                </a:solidFill>
                <a:latin typeface="Courier New" pitchFamily="34" charset="0"/>
                <a:ea typeface="Courier New" pitchFamily="34" charset="-122"/>
                <a:cs typeface="Courier New" pitchFamily="34" charset="-120"/>
              </a:rPr>
              <a:t>no confían entre sí delegan la verificación y el registro de una transacción,</a:t>
            </a:r>
            <a:endParaRPr lang="en-US" sz="1100" dirty="0"/>
          </a:p>
          <a:p>
            <a:pPr indent="0" marL="0">
              <a:lnSpc>
                <a:spcPct val="120000"/>
              </a:lnSpc>
              <a:buNone/>
            </a:pPr>
            <a:r>
              <a:rPr lang="en-US" sz="1100" dirty="0">
                <a:solidFill>
                  <a:srgbClr val="3A3844"/>
                </a:solidFill>
                <a:latin typeface="Courier New" pitchFamily="34" charset="0"/>
                <a:ea typeface="Courier New" pitchFamily="34" charset="-122"/>
                <a:cs typeface="Courier New" pitchFamily="34" charset="-120"/>
              </a:rPr>
              <a:t>porque ambas confían en ella.</a:t>
            </a:r>
            <a:endParaRPr lang="en-US" sz="1100" dirty="0"/>
          </a:p>
        </p:txBody>
      </p:sp>
      <p:sp>
        <p:nvSpPr>
          <p:cNvPr id="14" name="Text 10"/>
          <p:cNvSpPr/>
          <p:nvPr/>
        </p:nvSpPr>
        <p:spPr>
          <a:xfrm>
            <a:off x="804672" y="4416552"/>
            <a:ext cx="10582351" cy="91440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Un banco, una cámara de compensación, una notaría, una autoridad certificadora y una plataforma de pagos son todos terceros de confianza. Resuelven el doble gasto de la forma más simple posible: hay una sola copia autorizada del libro —la del tercero— y si dos transacciones entran en conflicto, el tercero decide.</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A.2 · EL LADO POSITIVO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400" dirty="0">
                <a:solidFill>
                  <a:srgbClr val="0F0F11"/>
                </a:solidFill>
                <a:latin typeface="Arial Black" pitchFamily="34" charset="0"/>
                <a:ea typeface="Arial Black" pitchFamily="34" charset="-122"/>
                <a:cs typeface="Arial Black" pitchFamily="34" charset="-120"/>
              </a:rPr>
              <a:t>QUÉ GARANTIZA REALMENTE UN TERCERO DE CONFIANZA</a:t>
            </a:r>
            <a:endParaRPr lang="en-US" sz="24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01 · ¿QUÉ PROBLEMA RESUELVE REALMENTE BLOCKCHAIN?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15</a:t>
            </a:r>
            <a:endParaRPr lang="en-US" sz="900" dirty="0"/>
          </a:p>
        </p:txBody>
      </p:sp>
      <p:sp>
        <p:nvSpPr>
          <p:cNvPr id="8" name="Shape 5"/>
          <p:cNvSpPr/>
          <p:nvPr/>
        </p:nvSpPr>
        <p:spPr>
          <a:xfrm>
            <a:off x="566928" y="1783080"/>
            <a:ext cx="5419192" cy="1993392"/>
          </a:xfrm>
          <a:prstGeom prst="rect">
            <a:avLst/>
          </a:prstGeom>
          <a:solidFill>
            <a:srgbClr val="FFFFFF"/>
          </a:solidFill>
          <a:ln w="22225">
            <a:solidFill>
              <a:srgbClr val="0F0F11"/>
            </a:solidFill>
            <a:prstDash val="solid"/>
          </a:ln>
          <a:effectLst>
            <a:outerShdw sx="100000" sy="100000" kx="0" ky="0" algn="bl" rotWithShape="0" blurRad="101600" dist="63500" dir="2700000">
              <a:srgbClr val="0F0F11">
                <a:alpha val="100000"/>
              </a:srgbClr>
            </a:outerShdw>
          </a:effectLst>
        </p:spPr>
      </p:sp>
      <p:sp>
        <p:nvSpPr>
          <p:cNvPr id="9" name="Text 6"/>
          <p:cNvSpPr/>
          <p:nvPr/>
        </p:nvSpPr>
        <p:spPr>
          <a:xfrm>
            <a:off x="841248" y="2020824"/>
            <a:ext cx="4870552" cy="310896"/>
          </a:xfrm>
          <a:prstGeom prst="rect">
            <a:avLst/>
          </a:prstGeom>
          <a:noFill/>
          <a:ln/>
        </p:spPr>
        <p:txBody>
          <a:bodyPr wrap="square" lIns="0" tIns="0" rIns="0" bIns="0" rtlCol="0" anchor="ctr"/>
          <a:lstStyle/>
          <a:p>
            <a:pPr indent="0" marL="0">
              <a:buNone/>
            </a:pPr>
            <a:r>
              <a:rPr lang="en-US" sz="1150" b="1" spc="140" kern="0" dirty="0">
                <a:solidFill>
                  <a:srgbClr val="A35604"/>
                </a:solidFill>
                <a:latin typeface="Courier New" pitchFamily="34" charset="0"/>
                <a:ea typeface="Courier New" pitchFamily="34" charset="-122"/>
                <a:cs typeface="Courier New" pitchFamily="34" charset="-120"/>
              </a:rPr>
              <a:t>ORDEN</a:t>
            </a:r>
            <a:endParaRPr lang="en-US" sz="1150" dirty="0"/>
          </a:p>
        </p:txBody>
      </p:sp>
      <p:sp>
        <p:nvSpPr>
          <p:cNvPr id="10" name="Text 7"/>
          <p:cNvSpPr/>
          <p:nvPr/>
        </p:nvSpPr>
        <p:spPr>
          <a:xfrm>
            <a:off x="841248" y="2441448"/>
            <a:ext cx="4870552" cy="114300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Al haber un único punto de escritura no hay ambigüedad sobre qué ocurrió primero. El doble gasto es imposible por construcción.</a:t>
            </a:r>
            <a:endParaRPr lang="en-US" sz="1350" dirty="0"/>
          </a:p>
        </p:txBody>
      </p:sp>
      <p:sp>
        <p:nvSpPr>
          <p:cNvPr id="11" name="Shape 8"/>
          <p:cNvSpPr/>
          <p:nvPr/>
        </p:nvSpPr>
        <p:spPr>
          <a:xfrm>
            <a:off x="6205576" y="1783080"/>
            <a:ext cx="5419192" cy="1993392"/>
          </a:xfrm>
          <a:prstGeom prst="rect">
            <a:avLst/>
          </a:prstGeom>
          <a:solidFill>
            <a:srgbClr val="FFFFFF"/>
          </a:solidFill>
          <a:ln w="22225">
            <a:solidFill>
              <a:srgbClr val="0F0F11"/>
            </a:solidFill>
            <a:prstDash val="solid"/>
          </a:ln>
          <a:effectLst>
            <a:outerShdw sx="100000" sy="100000" kx="0" ky="0" algn="bl" rotWithShape="0" blurRad="101600" dist="63500" dir="2700000">
              <a:srgbClr val="0F0F11">
                <a:alpha val="100000"/>
              </a:srgbClr>
            </a:outerShdw>
          </a:effectLst>
        </p:spPr>
      </p:sp>
      <p:sp>
        <p:nvSpPr>
          <p:cNvPr id="12" name="Text 9"/>
          <p:cNvSpPr/>
          <p:nvPr/>
        </p:nvSpPr>
        <p:spPr>
          <a:xfrm>
            <a:off x="6479896" y="2020824"/>
            <a:ext cx="4870552" cy="310896"/>
          </a:xfrm>
          <a:prstGeom prst="rect">
            <a:avLst/>
          </a:prstGeom>
          <a:noFill/>
          <a:ln/>
        </p:spPr>
        <p:txBody>
          <a:bodyPr wrap="square" lIns="0" tIns="0" rIns="0" bIns="0" rtlCol="0" anchor="ctr"/>
          <a:lstStyle/>
          <a:p>
            <a:pPr indent="0" marL="0">
              <a:buNone/>
            </a:pPr>
            <a:r>
              <a:rPr lang="en-US" sz="1150" b="1" spc="140" kern="0" dirty="0">
                <a:solidFill>
                  <a:srgbClr val="A35604"/>
                </a:solidFill>
                <a:latin typeface="Courier New" pitchFamily="34" charset="0"/>
                <a:ea typeface="Courier New" pitchFamily="34" charset="-122"/>
                <a:cs typeface="Courier New" pitchFamily="34" charset="-120"/>
              </a:rPr>
              <a:t>REVERSIBILIDAD</a:t>
            </a:r>
            <a:endParaRPr lang="en-US" sz="1150" dirty="0"/>
          </a:p>
        </p:txBody>
      </p:sp>
      <p:sp>
        <p:nvSpPr>
          <p:cNvPr id="13" name="Text 10"/>
          <p:cNvSpPr/>
          <p:nvPr/>
        </p:nvSpPr>
        <p:spPr>
          <a:xfrm>
            <a:off x="6479896" y="2441448"/>
            <a:ext cx="4870552" cy="114300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Si hay fraude o error, existe una autoridad que puede revertir la operación. Las cadenas públicas pierden esta propiedad por completo.</a:t>
            </a:r>
            <a:endParaRPr lang="en-US" sz="1350" dirty="0"/>
          </a:p>
        </p:txBody>
      </p:sp>
      <p:sp>
        <p:nvSpPr>
          <p:cNvPr id="14" name="Shape 11"/>
          <p:cNvSpPr/>
          <p:nvPr/>
        </p:nvSpPr>
        <p:spPr>
          <a:xfrm>
            <a:off x="566928" y="3995928"/>
            <a:ext cx="5419192" cy="1993392"/>
          </a:xfrm>
          <a:prstGeom prst="rect">
            <a:avLst/>
          </a:prstGeom>
          <a:solidFill>
            <a:srgbClr val="FFFFFF"/>
          </a:solidFill>
          <a:ln w="22225">
            <a:solidFill>
              <a:srgbClr val="0F0F11"/>
            </a:solidFill>
            <a:prstDash val="solid"/>
          </a:ln>
          <a:effectLst>
            <a:outerShdw sx="100000" sy="100000" kx="0" ky="0" algn="bl" rotWithShape="0" blurRad="101600" dist="63500" dir="2700000">
              <a:srgbClr val="0F0F11">
                <a:alpha val="100000"/>
              </a:srgbClr>
            </a:outerShdw>
          </a:effectLst>
        </p:spPr>
      </p:sp>
      <p:sp>
        <p:nvSpPr>
          <p:cNvPr id="15" name="Text 12"/>
          <p:cNvSpPr/>
          <p:nvPr/>
        </p:nvSpPr>
        <p:spPr>
          <a:xfrm>
            <a:off x="841248" y="4233672"/>
            <a:ext cx="4870552" cy="310896"/>
          </a:xfrm>
          <a:prstGeom prst="rect">
            <a:avLst/>
          </a:prstGeom>
          <a:noFill/>
          <a:ln/>
        </p:spPr>
        <p:txBody>
          <a:bodyPr wrap="square" lIns="0" tIns="0" rIns="0" bIns="0" rtlCol="0" anchor="ctr"/>
          <a:lstStyle/>
          <a:p>
            <a:pPr indent="0" marL="0">
              <a:buNone/>
            </a:pPr>
            <a:r>
              <a:rPr lang="en-US" sz="1150" b="1" spc="140" kern="0" dirty="0">
                <a:solidFill>
                  <a:srgbClr val="A35604"/>
                </a:solidFill>
                <a:latin typeface="Courier New" pitchFamily="34" charset="0"/>
                <a:ea typeface="Courier New" pitchFamily="34" charset="-122"/>
                <a:cs typeface="Courier New" pitchFamily="34" charset="-120"/>
              </a:rPr>
              <a:t>IDENTIDAD Y CUMPLIMIENTO</a:t>
            </a:r>
            <a:endParaRPr lang="en-US" sz="1150" dirty="0"/>
          </a:p>
        </p:txBody>
      </p:sp>
      <p:sp>
        <p:nvSpPr>
          <p:cNvPr id="16" name="Text 13"/>
          <p:cNvSpPr/>
          <p:nvPr/>
        </p:nvSpPr>
        <p:spPr>
          <a:xfrm>
            <a:off x="841248" y="4654296"/>
            <a:ext cx="4870552" cy="114300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El tercero sabe quién es cada parte. Permite aplicar KYC [conozca a su cliente] y AML [antilavado de activos], y responder ante un juez.</a:t>
            </a:r>
            <a:endParaRPr lang="en-US" sz="1350" dirty="0"/>
          </a:p>
        </p:txBody>
      </p:sp>
      <p:sp>
        <p:nvSpPr>
          <p:cNvPr id="17" name="Shape 14"/>
          <p:cNvSpPr/>
          <p:nvPr/>
        </p:nvSpPr>
        <p:spPr>
          <a:xfrm>
            <a:off x="6205576" y="3995928"/>
            <a:ext cx="5419192" cy="1993392"/>
          </a:xfrm>
          <a:prstGeom prst="rect">
            <a:avLst/>
          </a:prstGeom>
          <a:solidFill>
            <a:srgbClr val="FFFFFF"/>
          </a:solidFill>
          <a:ln w="22225">
            <a:solidFill>
              <a:srgbClr val="0F0F11"/>
            </a:solidFill>
            <a:prstDash val="solid"/>
          </a:ln>
          <a:effectLst>
            <a:outerShdw sx="100000" sy="100000" kx="0" ky="0" algn="bl" rotWithShape="0" blurRad="101600" dist="63500" dir="2700000">
              <a:srgbClr val="0F0F11">
                <a:alpha val="100000"/>
              </a:srgbClr>
            </a:outerShdw>
          </a:effectLst>
        </p:spPr>
      </p:sp>
      <p:sp>
        <p:nvSpPr>
          <p:cNvPr id="18" name="Text 15"/>
          <p:cNvSpPr/>
          <p:nvPr/>
        </p:nvSpPr>
        <p:spPr>
          <a:xfrm>
            <a:off x="6479896" y="4233672"/>
            <a:ext cx="4870552" cy="310896"/>
          </a:xfrm>
          <a:prstGeom prst="rect">
            <a:avLst/>
          </a:prstGeom>
          <a:noFill/>
          <a:ln/>
        </p:spPr>
        <p:txBody>
          <a:bodyPr wrap="square" lIns="0" tIns="0" rIns="0" bIns="0" rtlCol="0" anchor="ctr"/>
          <a:lstStyle/>
          <a:p>
            <a:pPr indent="0" marL="0">
              <a:buNone/>
            </a:pPr>
            <a:r>
              <a:rPr lang="en-US" sz="1150" b="1" spc="140" kern="0" dirty="0">
                <a:solidFill>
                  <a:srgbClr val="A35604"/>
                </a:solidFill>
                <a:latin typeface="Courier New" pitchFamily="34" charset="0"/>
                <a:ea typeface="Courier New" pitchFamily="34" charset="-122"/>
                <a:cs typeface="Courier New" pitchFamily="34" charset="-120"/>
              </a:rPr>
              <a:t>EFICIENCIA</a:t>
            </a:r>
            <a:endParaRPr lang="en-US" sz="1150" dirty="0"/>
          </a:p>
        </p:txBody>
      </p:sp>
      <p:sp>
        <p:nvSpPr>
          <p:cNvPr id="19" name="Text 16"/>
          <p:cNvSpPr/>
          <p:nvPr/>
        </p:nvSpPr>
        <p:spPr>
          <a:xfrm>
            <a:off x="6479896" y="4654296"/>
            <a:ext cx="4870552" cy="114300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Varios órdenes de magnitud más rápido y barato por transacción. No es una limitación temporal: es consecuencia de replicar y verificar en miles de nodos.</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A.2 · EL PRECIO DE ESAS GARANTÍAS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500" dirty="0">
                <a:solidFill>
                  <a:srgbClr val="0F0F11"/>
                </a:solidFill>
                <a:latin typeface="Arial Black" pitchFamily="34" charset="0"/>
                <a:ea typeface="Arial Black" pitchFamily="34" charset="-122"/>
                <a:cs typeface="Arial Black" pitchFamily="34" charset="-120"/>
              </a:rPr>
              <a:t>QUÉ CUESTA: CUATRO RIESGOS ESTRUCTURALES</a:t>
            </a:r>
            <a:endParaRPr lang="en-US" sz="25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01 · ¿QUÉ PROBLEMA RESUELVE REALMENTE BLOCKCHAIN?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16</a:t>
            </a:r>
            <a:endParaRPr lang="en-US" sz="900" dirty="0"/>
          </a:p>
        </p:txBody>
      </p:sp>
      <p:sp>
        <p:nvSpPr>
          <p:cNvPr id="8" name="Text 5"/>
          <p:cNvSpPr/>
          <p:nvPr/>
        </p:nvSpPr>
        <p:spPr>
          <a:xfrm>
            <a:off x="566928" y="1737360"/>
            <a:ext cx="11057839" cy="502920"/>
          </a:xfrm>
          <a:prstGeom prst="rect">
            <a:avLst/>
          </a:prstGeom>
          <a:noFill/>
          <a:ln/>
        </p:spPr>
        <p:txBody>
          <a:bodyPr wrap="square" lIns="0" tIns="0" rIns="0" bIns="0" rtlCol="0" anchor="t"/>
          <a:lstStyle/>
          <a:p>
            <a:pPr indent="0" marL="0">
              <a:lnSpc>
                <a:spcPct val="124000"/>
              </a:lnSpc>
              <a:buNone/>
            </a:pPr>
            <a:r>
              <a:rPr lang="en-US" sz="1350" dirty="0">
                <a:solidFill>
                  <a:srgbClr val="6F6B80"/>
                </a:solidFill>
                <a:latin typeface="Arial" pitchFamily="34" charset="0"/>
                <a:ea typeface="Arial" pitchFamily="34" charset="-122"/>
                <a:cs typeface="Arial" pitchFamily="34" charset="-120"/>
              </a:rPr>
              <a:t>El tercero debe ser confiable, permanentemente y para todos. Eso implica riesgos que no se eliminan con mejor ingeniería, porque son propiedades del modelo.</a:t>
            </a:r>
            <a:endParaRPr lang="en-US" sz="1350" dirty="0"/>
          </a:p>
        </p:txBody>
      </p:sp>
      <p:sp>
        <p:nvSpPr>
          <p:cNvPr id="9" name="Text 6"/>
          <p:cNvSpPr/>
          <p:nvPr/>
        </p:nvSpPr>
        <p:spPr>
          <a:xfrm>
            <a:off x="566928" y="2377440"/>
            <a:ext cx="3017520" cy="347472"/>
          </a:xfrm>
          <a:prstGeom prst="rect">
            <a:avLst/>
          </a:prstGeom>
          <a:noFill/>
          <a:ln/>
        </p:spPr>
        <p:txBody>
          <a:bodyPr wrap="square" lIns="0" tIns="0" rIns="0" bIns="0" rtlCol="0" anchor="t"/>
          <a:lstStyle/>
          <a:p>
            <a:pPr indent="0" marL="0">
              <a:buNone/>
            </a:pPr>
            <a:r>
              <a:rPr lang="en-US" sz="1100" b="1" spc="130" kern="0" dirty="0">
                <a:solidFill>
                  <a:srgbClr val="0F0F11"/>
                </a:solidFill>
                <a:latin typeface="Courier New" pitchFamily="34" charset="0"/>
                <a:ea typeface="Courier New" pitchFamily="34" charset="-122"/>
                <a:cs typeface="Courier New" pitchFamily="34" charset="-120"/>
              </a:rPr>
              <a:t>PUNTO ÚNICO DE FALLA</a:t>
            </a:r>
            <a:endParaRPr lang="en-US" sz="1100" dirty="0"/>
          </a:p>
        </p:txBody>
      </p:sp>
      <p:sp>
        <p:nvSpPr>
          <p:cNvPr id="10" name="Text 7"/>
          <p:cNvSpPr/>
          <p:nvPr/>
        </p:nvSpPr>
        <p:spPr>
          <a:xfrm>
            <a:off x="3767328" y="2359152"/>
            <a:ext cx="7857439" cy="82296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SPOF [Single Point Of Failure]. Si el tercero cae, se corrompe o es capturado, el sistema entero cae con él.</a:t>
            </a:r>
            <a:endParaRPr lang="en-US" sz="1350" dirty="0"/>
          </a:p>
        </p:txBody>
      </p:sp>
      <p:sp>
        <p:nvSpPr>
          <p:cNvPr id="11" name="Shape 8"/>
          <p:cNvSpPr/>
          <p:nvPr/>
        </p:nvSpPr>
        <p:spPr>
          <a:xfrm>
            <a:off x="566928" y="2249424"/>
            <a:ext cx="11057839" cy="0"/>
          </a:xfrm>
          <a:prstGeom prst="line">
            <a:avLst/>
          </a:prstGeom>
          <a:noFill/>
          <a:ln w="12700">
            <a:solidFill>
              <a:srgbClr val="D9D6E0"/>
            </a:solidFill>
            <a:prstDash val="solid"/>
          </a:ln>
        </p:spPr>
      </p:sp>
      <p:sp>
        <p:nvSpPr>
          <p:cNvPr id="12" name="Text 9"/>
          <p:cNvSpPr/>
          <p:nvPr/>
        </p:nvSpPr>
        <p:spPr>
          <a:xfrm>
            <a:off x="566928" y="3346704"/>
            <a:ext cx="3017520" cy="347472"/>
          </a:xfrm>
          <a:prstGeom prst="rect">
            <a:avLst/>
          </a:prstGeom>
          <a:noFill/>
          <a:ln/>
        </p:spPr>
        <p:txBody>
          <a:bodyPr wrap="square" lIns="0" tIns="0" rIns="0" bIns="0" rtlCol="0" anchor="t"/>
          <a:lstStyle/>
          <a:p>
            <a:pPr indent="0" marL="0">
              <a:buNone/>
            </a:pPr>
            <a:r>
              <a:rPr lang="en-US" sz="1100" b="1" spc="130" kern="0" dirty="0">
                <a:solidFill>
                  <a:srgbClr val="0F0F11"/>
                </a:solidFill>
                <a:latin typeface="Courier New" pitchFamily="34" charset="0"/>
                <a:ea typeface="Courier New" pitchFamily="34" charset="-122"/>
                <a:cs typeface="Courier New" pitchFamily="34" charset="-120"/>
              </a:rPr>
              <a:t>PODER DE EXCLUSIÓN</a:t>
            </a:r>
            <a:endParaRPr lang="en-US" sz="1100" dirty="0"/>
          </a:p>
        </p:txBody>
      </p:sp>
      <p:sp>
        <p:nvSpPr>
          <p:cNvPr id="13" name="Text 10"/>
          <p:cNvSpPr/>
          <p:nvPr/>
        </p:nvSpPr>
        <p:spPr>
          <a:xfrm>
            <a:off x="3767328" y="3328416"/>
            <a:ext cx="7857439" cy="82296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Decide quién participa. Puede negar el servicio, congelar fondos o excluir a una población entera. No es hipotético: es la experiencia de la población no bancarizada.</a:t>
            </a:r>
            <a:endParaRPr lang="en-US" sz="1350" dirty="0"/>
          </a:p>
        </p:txBody>
      </p:sp>
      <p:sp>
        <p:nvSpPr>
          <p:cNvPr id="14" name="Shape 11"/>
          <p:cNvSpPr/>
          <p:nvPr/>
        </p:nvSpPr>
        <p:spPr>
          <a:xfrm>
            <a:off x="566928" y="3218688"/>
            <a:ext cx="11057839" cy="0"/>
          </a:xfrm>
          <a:prstGeom prst="line">
            <a:avLst/>
          </a:prstGeom>
          <a:noFill/>
          <a:ln w="12700">
            <a:solidFill>
              <a:srgbClr val="D9D6E0"/>
            </a:solidFill>
            <a:prstDash val="solid"/>
          </a:ln>
        </p:spPr>
      </p:sp>
      <p:sp>
        <p:nvSpPr>
          <p:cNvPr id="15" name="Text 12"/>
          <p:cNvSpPr/>
          <p:nvPr/>
        </p:nvSpPr>
        <p:spPr>
          <a:xfrm>
            <a:off x="566928" y="4315968"/>
            <a:ext cx="3017520" cy="347472"/>
          </a:xfrm>
          <a:prstGeom prst="rect">
            <a:avLst/>
          </a:prstGeom>
          <a:noFill/>
          <a:ln/>
        </p:spPr>
        <p:txBody>
          <a:bodyPr wrap="square" lIns="0" tIns="0" rIns="0" bIns="0" rtlCol="0" anchor="t"/>
          <a:lstStyle/>
          <a:p>
            <a:pPr indent="0" marL="0">
              <a:buNone/>
            </a:pPr>
            <a:r>
              <a:rPr lang="en-US" sz="1100" b="1" spc="130" kern="0" dirty="0">
                <a:solidFill>
                  <a:srgbClr val="0F0F11"/>
                </a:solidFill>
                <a:latin typeface="Courier New" pitchFamily="34" charset="0"/>
                <a:ea typeface="Courier New" pitchFamily="34" charset="-122"/>
                <a:cs typeface="Courier New" pitchFamily="34" charset="-120"/>
              </a:rPr>
              <a:t>PODER DE CENSURA</a:t>
            </a:r>
            <a:endParaRPr lang="en-US" sz="1100" dirty="0"/>
          </a:p>
        </p:txBody>
      </p:sp>
      <p:sp>
        <p:nvSpPr>
          <p:cNvPr id="16" name="Text 13"/>
          <p:cNvSpPr/>
          <p:nvPr/>
        </p:nvSpPr>
        <p:spPr>
          <a:xfrm>
            <a:off x="3767328" y="4297680"/>
            <a:ext cx="7857439" cy="82296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Puede negarse a procesar una transacción concreta entre dos partes que sí quieren realizarla.</a:t>
            </a:r>
            <a:endParaRPr lang="en-US" sz="1350" dirty="0"/>
          </a:p>
        </p:txBody>
      </p:sp>
      <p:sp>
        <p:nvSpPr>
          <p:cNvPr id="17" name="Shape 14"/>
          <p:cNvSpPr/>
          <p:nvPr/>
        </p:nvSpPr>
        <p:spPr>
          <a:xfrm>
            <a:off x="566928" y="4187952"/>
            <a:ext cx="11057839" cy="0"/>
          </a:xfrm>
          <a:prstGeom prst="line">
            <a:avLst/>
          </a:prstGeom>
          <a:noFill/>
          <a:ln w="12700">
            <a:solidFill>
              <a:srgbClr val="D9D6E0"/>
            </a:solidFill>
            <a:prstDash val="solid"/>
          </a:ln>
        </p:spPr>
      </p:sp>
      <p:sp>
        <p:nvSpPr>
          <p:cNvPr id="18" name="Text 15"/>
          <p:cNvSpPr/>
          <p:nvPr/>
        </p:nvSpPr>
        <p:spPr>
          <a:xfrm>
            <a:off x="566928" y="5285232"/>
            <a:ext cx="3017520" cy="347472"/>
          </a:xfrm>
          <a:prstGeom prst="rect">
            <a:avLst/>
          </a:prstGeom>
          <a:noFill/>
          <a:ln/>
        </p:spPr>
        <p:txBody>
          <a:bodyPr wrap="square" lIns="0" tIns="0" rIns="0" bIns="0" rtlCol="0" anchor="t"/>
          <a:lstStyle/>
          <a:p>
            <a:pPr indent="0" marL="0">
              <a:buNone/>
            </a:pPr>
            <a:r>
              <a:rPr lang="en-US" sz="1100" b="1" spc="130" kern="0" dirty="0">
                <a:solidFill>
                  <a:srgbClr val="0F0F11"/>
                </a:solidFill>
                <a:latin typeface="Courier New" pitchFamily="34" charset="0"/>
                <a:ea typeface="Courier New" pitchFamily="34" charset="-122"/>
                <a:cs typeface="Courier New" pitchFamily="34" charset="-120"/>
              </a:rPr>
              <a:t>OPACIDAD</a:t>
            </a:r>
            <a:endParaRPr lang="en-US" sz="1100" dirty="0"/>
          </a:p>
        </p:txBody>
      </p:sp>
      <p:sp>
        <p:nvSpPr>
          <p:cNvPr id="19" name="Text 16"/>
          <p:cNvSpPr/>
          <p:nvPr/>
        </p:nvSpPr>
        <p:spPr>
          <a:xfrm>
            <a:off x="3767328" y="5266944"/>
            <a:ext cx="7857439" cy="82296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El usuario no puede auditar el libro. Debe creer en el saldo que le muestran. Los grandes fraudes contables del último siglo consistieron exactamente en esto.</a:t>
            </a:r>
            <a:endParaRPr lang="en-US" sz="1350" dirty="0"/>
          </a:p>
        </p:txBody>
      </p:sp>
      <p:sp>
        <p:nvSpPr>
          <p:cNvPr id="20" name="Shape 17"/>
          <p:cNvSpPr/>
          <p:nvPr/>
        </p:nvSpPr>
        <p:spPr>
          <a:xfrm>
            <a:off x="566928" y="5157216"/>
            <a:ext cx="11057839" cy="0"/>
          </a:xfrm>
          <a:prstGeom prst="line">
            <a:avLst/>
          </a:prstGeom>
          <a:noFill/>
          <a:ln w="12700">
            <a:solidFill>
              <a:srgbClr val="D9D6E0"/>
            </a:solidFill>
            <a:prstDash val="solid"/>
          </a:ln>
        </p:spPr>
      </p:sp>
      <p:sp>
        <p:nvSpPr>
          <p:cNvPr id="21" name="Shape 18"/>
          <p:cNvSpPr/>
          <p:nvPr/>
        </p:nvSpPr>
        <p:spPr>
          <a:xfrm>
            <a:off x="566928" y="6126480"/>
            <a:ext cx="11057839" cy="0"/>
          </a:xfrm>
          <a:prstGeom prst="line">
            <a:avLst/>
          </a:prstGeom>
          <a:noFill/>
          <a:ln w="12700">
            <a:solidFill>
              <a:srgbClr val="D9D6E0"/>
            </a:solidFill>
            <a:prstDash val="solid"/>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A.2 · EL APORTE REAL, SIN ENTUSIASMO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300" dirty="0">
                <a:solidFill>
                  <a:srgbClr val="0F0F11"/>
                </a:solidFill>
                <a:latin typeface="Arial Black" pitchFamily="34" charset="0"/>
                <a:ea typeface="Arial Black" pitchFamily="34" charset="-122"/>
                <a:cs typeface="Arial Black" pitchFamily="34" charset="-120"/>
              </a:rPr>
              <a:t>CAMBIAR CONFIAR EN UNA ENTIDAD POR VERIFICAR UN MECANISMO</a:t>
            </a:r>
            <a:endParaRPr lang="en-US" sz="23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01 · ¿QUÉ PROBLEMA RESUELVE REALMENTE BLOCKCHAIN?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17</a:t>
            </a:r>
            <a:endParaRPr lang="en-US" sz="900" dirty="0"/>
          </a:p>
        </p:txBody>
      </p:sp>
      <p:sp>
        <p:nvSpPr>
          <p:cNvPr id="8" name="Shape 5"/>
          <p:cNvSpPr/>
          <p:nvPr/>
        </p:nvSpPr>
        <p:spPr>
          <a:xfrm>
            <a:off x="566928" y="1737360"/>
            <a:ext cx="11057839" cy="169164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sp>
        <p:nvSpPr>
          <p:cNvPr id="9" name="Text 6"/>
          <p:cNvSpPr/>
          <p:nvPr/>
        </p:nvSpPr>
        <p:spPr>
          <a:xfrm>
            <a:off x="950976" y="1956816"/>
            <a:ext cx="10289743" cy="1252728"/>
          </a:xfrm>
          <a:prstGeom prst="rect">
            <a:avLst/>
          </a:prstGeom>
          <a:noFill/>
          <a:ln/>
        </p:spPr>
        <p:txBody>
          <a:bodyPr wrap="square" lIns="0" tIns="0" rIns="0" bIns="0" rtlCol="0" anchor="ctr"/>
          <a:lstStyle/>
          <a:p>
            <a:pPr indent="0" marL="0">
              <a:lnSpc>
                <a:spcPct val="106000"/>
              </a:lnSpc>
              <a:buNone/>
            </a:pPr>
            <a:r>
              <a:rPr lang="en-US" sz="1800" dirty="0">
                <a:solidFill>
                  <a:srgbClr val="0F0F11"/>
                </a:solidFill>
                <a:latin typeface="Arial Black" pitchFamily="34" charset="0"/>
                <a:ea typeface="Arial Black" pitchFamily="34" charset="-122"/>
                <a:cs typeface="Arial Black" pitchFamily="34" charset="-120"/>
              </a:rPr>
              <a:t>Blockchain ofrece un conjunto de garantías distinto, a un costo distinto. No es mejor en abstracto. Es mejor cuando y solo cuando el costo de confiar en un tercero supera el costo enorme de replicar y verificar todo en una red abierta.</a:t>
            </a:r>
            <a:endParaRPr lang="en-US" sz="1800" dirty="0"/>
          </a:p>
        </p:txBody>
      </p:sp>
      <p:sp>
        <p:nvSpPr>
          <p:cNvPr id="10" name="Shape 7"/>
          <p:cNvSpPr/>
          <p:nvPr/>
        </p:nvSpPr>
        <p:spPr>
          <a:xfrm>
            <a:off x="566928" y="3657600"/>
            <a:ext cx="11057839" cy="224028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11" name="Image 1" descr="preencoded.png">    </p:cNvPr>
          <p:cNvPicPr>
            <a:picLocks noChangeAspect="1"/>
          </p:cNvPicPr>
          <p:nvPr/>
        </p:nvPicPr>
        <p:blipFill>
          <a:blip r:embed="rId2"/>
          <a:stretch>
            <a:fillRect/>
          </a:stretch>
        </p:blipFill>
        <p:spPr>
          <a:xfrm>
            <a:off x="804672" y="3877056"/>
            <a:ext cx="237744" cy="237744"/>
          </a:xfrm>
          <a:prstGeom prst="rect">
            <a:avLst/>
          </a:prstGeom>
        </p:spPr>
      </p:pic>
      <p:sp>
        <p:nvSpPr>
          <p:cNvPr id="12" name="Text 8"/>
          <p:cNvSpPr/>
          <p:nvPr/>
        </p:nvSpPr>
        <p:spPr>
          <a:xfrm>
            <a:off x="1133856" y="3849624"/>
            <a:ext cx="10234879"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ALERTA CONCEPTUAL · «SIN CONFIANZA» ES UNA MALA TRADUCCIÓN</a:t>
            </a:r>
            <a:endParaRPr lang="en-US" sz="950" dirty="0"/>
          </a:p>
        </p:txBody>
      </p:sp>
      <p:sp>
        <p:nvSpPr>
          <p:cNvPr id="13" name="Text 9"/>
          <p:cNvSpPr/>
          <p:nvPr/>
        </p:nvSpPr>
        <p:spPr>
          <a:xfrm>
            <a:off x="804672" y="4242816"/>
            <a:ext cx="10582351" cy="86868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Un sistema trustless SÍ requiere confianza; solo la traslada. Hay que confiar en la matemática de las funciones criptográficas, en la corrección del código del cliente, en que la mayoría del poder de la red no está coludida y en que el contrato con el que se interactúa no tiene puerta trasera.</a:t>
            </a:r>
            <a:endParaRPr lang="en-US" sz="1350" dirty="0"/>
          </a:p>
        </p:txBody>
      </p:sp>
      <p:sp>
        <p:nvSpPr>
          <p:cNvPr id="14" name="Text 10"/>
          <p:cNvSpPr/>
          <p:nvPr/>
        </p:nvSpPr>
        <p:spPr>
          <a:xfrm>
            <a:off x="804672" y="5175504"/>
            <a:ext cx="10582351" cy="777240"/>
          </a:xfrm>
          <a:prstGeom prst="rect">
            <a:avLst/>
          </a:prstGeom>
          <a:noFill/>
          <a:ln/>
        </p:spPr>
        <p:txBody>
          <a:bodyPr wrap="square" lIns="0" tIns="0" rIns="0" bIns="0" rtlCol="0" anchor="t"/>
          <a:lstStyle/>
          <a:p>
            <a:pPr indent="0" marL="0">
              <a:lnSpc>
                <a:spcPct val="124000"/>
              </a:lnSpc>
              <a:buNone/>
            </a:pPr>
            <a:r>
              <a:rPr lang="en-US" sz="1350" dirty="0">
                <a:solidFill>
                  <a:srgbClr val="0F0F11"/>
                </a:solidFill>
                <a:latin typeface="Arial" pitchFamily="34" charset="0"/>
                <a:ea typeface="Arial" pitchFamily="34" charset="-122"/>
                <a:cs typeface="Arial" pitchFamily="34" charset="-120"/>
              </a:rPr>
              <a:t>La traducción honesta es «que no exige confiar en una contraparte identificada», o mejor: minimizado en confianza. Quien cree que no confía en nada, no audita nada — y ese es el perfil de la víctima típica de una estafa cripto.</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A.3 · MIN 45–60 · GENEALOGÍA TÉCNICA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TREINTA AÑOS DE INTENTOS FALLIDOS</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01 · ¿QUÉ PROBLEMA RESUELVE REALMENTE BLOCKCHAIN?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18</a:t>
            </a:r>
            <a:endParaRPr lang="en-US" sz="900" dirty="0"/>
          </a:p>
        </p:txBody>
      </p:sp>
      <p:sp>
        <p:nvSpPr>
          <p:cNvPr id="8" name="Text 5"/>
          <p:cNvSpPr/>
          <p:nvPr/>
        </p:nvSpPr>
        <p:spPr>
          <a:xfrm>
            <a:off x="566928" y="1737360"/>
            <a:ext cx="11057839" cy="713232"/>
          </a:xfrm>
          <a:prstGeom prst="rect">
            <a:avLst/>
          </a:prstGeom>
          <a:noFill/>
          <a:ln/>
        </p:spPr>
        <p:txBody>
          <a:bodyPr wrap="square" lIns="0" tIns="0" rIns="0" bIns="0" rtlCol="0" anchor="t"/>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Bitcoin no apareció de la nada en 2008. Fue el resultado de una tradición de investigación que se puede fechar con precisión y cuyos fracasos son más instructivos que el éxito final, porque cada uno aisló una pieza del problema.</a:t>
            </a:r>
            <a:endParaRPr lang="en-US" sz="1450" dirty="0"/>
          </a:p>
        </p:txBody>
      </p:sp>
      <p:sp>
        <p:nvSpPr>
          <p:cNvPr id="9" name="Shape 6"/>
          <p:cNvSpPr/>
          <p:nvPr/>
        </p:nvSpPr>
        <p:spPr>
          <a:xfrm>
            <a:off x="566928" y="2606040"/>
            <a:ext cx="11057839" cy="1463040"/>
          </a:xfrm>
          <a:prstGeom prst="rect">
            <a:avLst/>
          </a:prstGeom>
          <a:solidFill>
            <a:srgbClr val="FAF9FB"/>
          </a:solidFill>
          <a:ln w="22225">
            <a:solidFill>
              <a:srgbClr val="0F0F11"/>
            </a:solidFill>
            <a:prstDash val="solid"/>
          </a:ln>
          <a:effectLst>
            <a:outerShdw sx="100000" sy="100000" kx="0" ky="0" algn="bl" rotWithShape="0" blurRad="101600" dist="63500" dir="2700000">
              <a:srgbClr val="0F0F11">
                <a:alpha val="100000"/>
              </a:srgbClr>
            </a:outerShdw>
          </a:effectLst>
        </p:spPr>
      </p:sp>
      <p:sp>
        <p:nvSpPr>
          <p:cNvPr id="10" name="Text 7"/>
          <p:cNvSpPr/>
          <p:nvPr/>
        </p:nvSpPr>
        <p:spPr>
          <a:xfrm>
            <a:off x="877824" y="2788920"/>
            <a:ext cx="2743200" cy="310896"/>
          </a:xfrm>
          <a:prstGeom prst="rect">
            <a:avLst/>
          </a:prstGeom>
          <a:noFill/>
          <a:ln/>
        </p:spPr>
        <p:txBody>
          <a:bodyPr wrap="square" lIns="0" tIns="0" rIns="0" bIns="0" rtlCol="0" anchor="ctr"/>
          <a:lstStyle/>
          <a:p>
            <a:pPr indent="0" marL="0">
              <a:buNone/>
            </a:pPr>
            <a:r>
              <a:rPr lang="en-US" sz="1150" b="1" spc="140" kern="0" dirty="0">
                <a:solidFill>
                  <a:srgbClr val="A35604"/>
                </a:solidFill>
                <a:latin typeface="Courier New" pitchFamily="34" charset="0"/>
                <a:ea typeface="Courier New" pitchFamily="34" charset="-122"/>
                <a:cs typeface="Courier New" pitchFamily="34" charset="-120"/>
              </a:rPr>
              <a:t>CYPHERPUNK</a:t>
            </a:r>
            <a:endParaRPr lang="en-US" sz="1150" dirty="0"/>
          </a:p>
        </p:txBody>
      </p:sp>
      <p:sp>
        <p:nvSpPr>
          <p:cNvPr id="11" name="Text 8"/>
          <p:cNvSpPr/>
          <p:nvPr/>
        </p:nvSpPr>
        <p:spPr>
          <a:xfrm>
            <a:off x="877824" y="3145536"/>
            <a:ext cx="10436047" cy="82296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Movimiento de criptógrafos, matemáticos y activistas que desde finales de los ochenta sostuvo que la criptografía fuerte, en manos de individuos, era condición necesaria para la privacidad en una sociedad digital. Su lista de correo fue el laboratorio donde se discutieron casi todas las ideas que hoy estudiamos.</a:t>
            </a:r>
            <a:endParaRPr lang="en-US" sz="1350" dirty="0"/>
          </a:p>
        </p:txBody>
      </p:sp>
      <p:sp>
        <p:nvSpPr>
          <p:cNvPr id="12" name="Shape 9"/>
          <p:cNvSpPr/>
          <p:nvPr/>
        </p:nvSpPr>
        <p:spPr>
          <a:xfrm>
            <a:off x="566928" y="4343400"/>
            <a:ext cx="11057839" cy="155448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sp>
        <p:nvSpPr>
          <p:cNvPr id="13" name="Text 10"/>
          <p:cNvSpPr/>
          <p:nvPr/>
        </p:nvSpPr>
        <p:spPr>
          <a:xfrm>
            <a:off x="950976" y="4562856"/>
            <a:ext cx="10289743" cy="1115568"/>
          </a:xfrm>
          <a:prstGeom prst="rect">
            <a:avLst/>
          </a:prstGeom>
          <a:noFill/>
          <a:ln/>
        </p:spPr>
        <p:txBody>
          <a:bodyPr wrap="square" lIns="0" tIns="0" rIns="0" bIns="0" rtlCol="0" anchor="ctr"/>
          <a:lstStyle/>
          <a:p>
            <a:pPr indent="0" marL="0">
              <a:lnSpc>
                <a:spcPct val="106000"/>
              </a:lnSpc>
              <a:buNone/>
            </a:pPr>
            <a:r>
              <a:rPr lang="en-US" sz="1900" dirty="0">
                <a:solidFill>
                  <a:srgbClr val="0F0F11"/>
                </a:solidFill>
                <a:latin typeface="Arial Black" pitchFamily="34" charset="0"/>
                <a:ea typeface="Arial Black" pitchFamily="34" charset="-122"/>
                <a:cs typeface="Arial Black" pitchFamily="34" charset="-120"/>
              </a:rPr>
              <a:t>El patrón que se repite: o la propuesta tenía un emisor central y por lo tanto era clausurable, o no tenía emisor central pero no explicaba cómo lograr acuerdo.</a:t>
            </a:r>
            <a:endParaRPr lang="en-US" sz="1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A.3 · LA GENEALOGÍA, PRIMERA PARTE</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500" dirty="0">
                <a:solidFill>
                  <a:srgbClr val="0F0F11"/>
                </a:solidFill>
                <a:latin typeface="Arial Black" pitchFamily="34" charset="0"/>
                <a:ea typeface="Arial Black" pitchFamily="34" charset="-122"/>
                <a:cs typeface="Arial Black" pitchFamily="34" charset="-120"/>
              </a:rPr>
              <a:t>DE LAS FIRMAS CIEGAS AL ORO DIGITAL</a:t>
            </a:r>
            <a:endParaRPr lang="en-US" sz="25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01 · ¿QUÉ PROBLEMA RESUELVE REALMENTE BLOCKCHAIN?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19</a:t>
            </a:r>
            <a:endParaRPr lang="en-US" sz="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66928" y="1783080"/>
          <a:ext cx="11057839" cy="914400"/>
        </p:xfrm>
        <a:graphic>
          <a:graphicData uri="http://schemas.openxmlformats.org/drawingml/2006/table">
            <a:tbl>
              <a:tblPr/>
              <a:tblGrid>
                <a:gridCol w="685800"/>
                <a:gridCol w="1737360"/>
                <a:gridCol w="1417320"/>
                <a:gridCol w="3383280"/>
                <a:gridCol w="383407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AÑO</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PROPUESTA</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AUTOR</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APORTE CONSERVADO</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POR QUÉ NO BASTÓ</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123748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1982</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Firmas ciegas</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David Chaum</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Permite firmar un mensaje sin ver su contenido: base del dinero digital anónimo.</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Es una primitiva criptográfica, no un sistema. No dice nada sobre el orden ni sobre quién lleva el libro.</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123748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1989</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DigiCash / eCash</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David Chaum</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Primer dinero digital con privacidad real puesto en producción.</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El emisor seguía siendo una empresa central. Al quebrar en 1998, el dinero desapareció con ella.</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123748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1996</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e-gold</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Douglas Jackson</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Demostró que existía demanda real y masiva de pagos digitales transfronterizos.</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Centralizado y respaldado en oro físico. Fue cerrado por las autoridades. Ilustra la vulnerabilidad regulatoria del emisor único.</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1764792"/>
            <a:ext cx="11094415" cy="4059936"/>
          </a:xfrm>
          <a:prstGeom prst="rect">
            <a:avLst/>
          </a:prstGeom>
          <a:ln w="22225">
            <a:solidFill>
              <a:srgbClr val="0F0F11"/>
            </a:solidFill>
            <a:prstDash val="solid"/>
          </a:ln>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A.3 · LA GENEALOGÍA, SEGUNDA PARTE</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500" dirty="0">
                <a:solidFill>
                  <a:srgbClr val="0F0F11"/>
                </a:solidFill>
                <a:latin typeface="Arial Black" pitchFamily="34" charset="0"/>
                <a:ea typeface="Arial Black" pitchFamily="34" charset="-122"/>
                <a:cs typeface="Arial Black" pitchFamily="34" charset="-120"/>
              </a:rPr>
              <a:t>LAS TRES PIEZAS QUE BITCOIN HEREDÓ</a:t>
            </a:r>
            <a:endParaRPr lang="en-US" sz="25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01 · ¿QUÉ PROBLEMA RESUELVE REALMENTE BLOCKCHAIN?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20</a:t>
            </a:r>
            <a:endParaRPr lang="en-US" sz="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66928" y="1783080"/>
          <a:ext cx="11057839" cy="914400"/>
        </p:xfrm>
        <a:graphic>
          <a:graphicData uri="http://schemas.openxmlformats.org/drawingml/2006/table">
            <a:tbl>
              <a:tblPr/>
              <a:tblGrid>
                <a:gridCol w="685800"/>
                <a:gridCol w="1737360"/>
                <a:gridCol w="1417320"/>
                <a:gridCol w="3383280"/>
                <a:gridCol w="383407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AÑO</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PROPUESTA</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AUTOR</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APORTE CONSERVADO</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POR QUÉ NO BASTÓ</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123748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1997</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Hashcash</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Adam Back</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PRUEBA DE TRABAJO. Obligar al emisor a gastar cómputo verificable. Diseñado contra el correo no deseado.</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Resolvía el costo de emitir, no el registro ni el consenso. Es la pieza que Bitcoin toma casi sin modificar.</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123748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1998</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b-money</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Wei Dai</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Propuso que todos los participantes mantuvieran una copia del libro y que crear dinero costara trabajo computacional.</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Nunca se implementó. No especificaba cómo lograr acuerdo cuando las copias divergieran.</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123748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1998</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bit gold</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Nick Szabo</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Cadenas de pruebas de trabajo encadenadas por hash, con sellado temporal. Muy cercano a lo que vendría.</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Tampoco se implementó, y dependía de un registro de títulos que requería consenso bizantino no resuelto.</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1764792"/>
            <a:ext cx="11094415" cy="4059936"/>
          </a:xfrm>
          <a:prstGeom prst="rect">
            <a:avLst/>
          </a:prstGeom>
          <a:ln w="22225">
            <a:solidFill>
              <a:srgbClr val="0F0F11"/>
            </a:solidFill>
            <a:prstDash val="solid"/>
          </a:ln>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A.3 · FICHA DE TÉRMINO 04</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PRUEBA DE TRABAJO</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01 · ¿QUÉ PROBLEMA RESUELVE REALMENTE BLOCKCHAIN?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21</a:t>
            </a:r>
            <a:endParaRPr lang="en-US" sz="900" dirty="0"/>
          </a:p>
        </p:txBody>
      </p:sp>
      <p:sp>
        <p:nvSpPr>
          <p:cNvPr id="8" name="Shape 5"/>
          <p:cNvSpPr/>
          <p:nvPr/>
        </p:nvSpPr>
        <p:spPr>
          <a:xfrm>
            <a:off x="566928" y="1737360"/>
            <a:ext cx="11057839" cy="278892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pic>
        <p:nvPicPr>
          <p:cNvPr id="9" name="Image 1" descr="preencoded.png">    </p:cNvPr>
          <p:cNvPicPr>
            <a:picLocks noChangeAspect="1"/>
          </p:cNvPicPr>
          <p:nvPr/>
        </p:nvPicPr>
        <p:blipFill>
          <a:blip r:embed="rId2"/>
          <a:stretch>
            <a:fillRect/>
          </a:stretch>
        </p:blipFill>
        <p:spPr>
          <a:xfrm>
            <a:off x="804672" y="1956816"/>
            <a:ext cx="237744" cy="237744"/>
          </a:xfrm>
          <a:prstGeom prst="rect">
            <a:avLst/>
          </a:prstGeom>
        </p:spPr>
      </p:pic>
      <p:sp>
        <p:nvSpPr>
          <p:cNvPr id="10" name="Text 6"/>
          <p:cNvSpPr/>
          <p:nvPr/>
        </p:nvSpPr>
        <p:spPr>
          <a:xfrm>
            <a:off x="1133856" y="1929384"/>
            <a:ext cx="10234879" cy="292608"/>
          </a:xfrm>
          <a:prstGeom prst="rect">
            <a:avLst/>
          </a:prstGeom>
          <a:noFill/>
          <a:ln/>
        </p:spPr>
        <p:txBody>
          <a:bodyPr wrap="square" lIns="0" tIns="0" rIns="0" bIns="0" rtlCol="0" anchor="ctr"/>
          <a:lstStyle/>
          <a:p>
            <a:pPr indent="0" marL="0">
              <a:buNone/>
            </a:pPr>
            <a:r>
              <a:rPr lang="en-US" sz="950" b="1" spc="150" kern="0" dirty="0">
                <a:solidFill>
                  <a:srgbClr val="5638C9"/>
                </a:solidFill>
                <a:latin typeface="Courier New" pitchFamily="34" charset="0"/>
                <a:ea typeface="Courier New" pitchFamily="34" charset="-122"/>
                <a:cs typeface="Courier New" pitchFamily="34" charset="-120"/>
              </a:rPr>
              <a:t>FICHA DE TÉRMINO 04 · PROOF OF WORK (POW)</a:t>
            </a:r>
            <a:endParaRPr lang="en-US" sz="950" dirty="0"/>
          </a:p>
        </p:txBody>
      </p:sp>
      <p:sp>
        <p:nvSpPr>
          <p:cNvPr id="11" name="Shape 7"/>
          <p:cNvSpPr/>
          <p:nvPr/>
        </p:nvSpPr>
        <p:spPr>
          <a:xfrm>
            <a:off x="804672" y="2322576"/>
            <a:ext cx="10582351" cy="960120"/>
          </a:xfrm>
          <a:prstGeom prst="rect">
            <a:avLst/>
          </a:prstGeom>
          <a:solidFill>
            <a:srgbClr val="F2F0F5"/>
          </a:solidFill>
          <a:ln w="12700">
            <a:solidFill>
              <a:srgbClr val="7152E9"/>
            </a:solidFill>
            <a:prstDash val="solid"/>
          </a:ln>
        </p:spPr>
      </p:sp>
      <p:sp>
        <p:nvSpPr>
          <p:cNvPr id="12" name="Text 8"/>
          <p:cNvSpPr/>
          <p:nvPr/>
        </p:nvSpPr>
        <p:spPr>
          <a:xfrm>
            <a:off x="969264" y="2414016"/>
            <a:ext cx="10253167" cy="777240"/>
          </a:xfrm>
          <a:prstGeom prst="rect">
            <a:avLst/>
          </a:prstGeom>
          <a:noFill/>
          <a:ln/>
        </p:spPr>
        <p:txBody>
          <a:bodyPr wrap="square" lIns="0" tIns="0" rIns="0" bIns="0" rtlCol="0" anchor="ctr"/>
          <a:lstStyle/>
          <a:p>
            <a:pPr indent="0" marL="0">
              <a:lnSpc>
                <a:spcPct val="120000"/>
              </a:lnSpc>
              <a:buNone/>
            </a:pPr>
            <a:r>
              <a:rPr lang="en-US" sz="1100" dirty="0">
                <a:solidFill>
                  <a:srgbClr val="3A3844"/>
                </a:solidFill>
                <a:latin typeface="Courier New" pitchFamily="34" charset="0"/>
                <a:ea typeface="Courier New" pitchFamily="34" charset="-122"/>
                <a:cs typeface="Courier New" pitchFamily="34" charset="-120"/>
              </a:rPr>
              <a:t>PRUEBA DE TRABAJO (Proof of Work, PoW): mecanismo por el cual un participante</a:t>
            </a:r>
            <a:endParaRPr lang="en-US" sz="1100" dirty="0"/>
          </a:p>
          <a:p>
            <a:pPr indent="0" marL="0">
              <a:lnSpc>
                <a:spcPct val="120000"/>
              </a:lnSpc>
              <a:buNone/>
            </a:pPr>
            <a:r>
              <a:rPr lang="en-US" sz="1100" dirty="0">
                <a:solidFill>
                  <a:srgbClr val="3A3844"/>
                </a:solidFill>
                <a:latin typeface="Courier New" pitchFamily="34" charset="0"/>
                <a:ea typeface="Courier New" pitchFamily="34" charset="-122"/>
                <a:cs typeface="Courier New" pitchFamily="34" charset="-120"/>
              </a:rPr>
              <a:t>demuestra que invirtió una cantidad medible de cómputo, mediante un resultado que es</a:t>
            </a:r>
            <a:endParaRPr lang="en-US" sz="1100" dirty="0"/>
          </a:p>
          <a:p>
            <a:pPr indent="0" marL="0">
              <a:lnSpc>
                <a:spcPct val="120000"/>
              </a:lnSpc>
              <a:buNone/>
            </a:pPr>
            <a:r>
              <a:rPr lang="en-US" sz="1100" dirty="0">
                <a:solidFill>
                  <a:srgbClr val="3A3844"/>
                </a:solidFill>
                <a:latin typeface="Courier New" pitchFamily="34" charset="0"/>
                <a:ea typeface="Courier New" pitchFamily="34" charset="-122"/>
                <a:cs typeface="Courier New" pitchFamily="34" charset="-120"/>
              </a:rPr>
              <a:t>COSTOSO DE PRODUCIR y BARATO DE VERIFICAR.</a:t>
            </a:r>
            <a:endParaRPr lang="en-US" sz="1100" dirty="0"/>
          </a:p>
        </p:txBody>
      </p:sp>
      <p:sp>
        <p:nvSpPr>
          <p:cNvPr id="13" name="Text 9"/>
          <p:cNvSpPr/>
          <p:nvPr/>
        </p:nvSpPr>
        <p:spPr>
          <a:xfrm>
            <a:off x="804672" y="3438144"/>
            <a:ext cx="10582351" cy="91440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Esa asimetría es toda la idea. Encontrar la solución exige millones de intentos aleatorios; comprobar que una solución propuesta es correcta exige una sola operación. Así, cualquier participante —incluso con un teléfono— puede verificar el trabajo de una granja industrial en microsegundos.</a:t>
            </a:r>
            <a:endParaRPr lang="en-US" sz="1400" dirty="0"/>
          </a:p>
        </p:txBody>
      </p:sp>
      <p:sp>
        <p:nvSpPr>
          <p:cNvPr id="14" name="Shape 10"/>
          <p:cNvSpPr/>
          <p:nvPr/>
        </p:nvSpPr>
        <p:spPr>
          <a:xfrm>
            <a:off x="566928" y="4754880"/>
            <a:ext cx="11057839" cy="118872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sp>
        <p:nvSpPr>
          <p:cNvPr id="15" name="Text 11"/>
          <p:cNvSpPr/>
          <p:nvPr/>
        </p:nvSpPr>
        <p:spPr>
          <a:xfrm>
            <a:off x="950976" y="4974336"/>
            <a:ext cx="10289743" cy="749808"/>
          </a:xfrm>
          <a:prstGeom prst="rect">
            <a:avLst/>
          </a:prstGeom>
          <a:noFill/>
          <a:ln/>
        </p:spPr>
        <p:txBody>
          <a:bodyPr wrap="square" lIns="0" tIns="0" rIns="0" bIns="0" rtlCol="0" anchor="ctr"/>
          <a:lstStyle/>
          <a:p>
            <a:pPr indent="0" marL="0">
              <a:lnSpc>
                <a:spcPct val="106000"/>
              </a:lnSpc>
              <a:buNone/>
            </a:pPr>
            <a:r>
              <a:rPr lang="en-US" sz="1900" dirty="0">
                <a:solidFill>
                  <a:srgbClr val="0F0F11"/>
                </a:solidFill>
                <a:latin typeface="Arial Black" pitchFamily="34" charset="0"/>
                <a:ea typeface="Arial Black" pitchFamily="34" charset="-122"/>
                <a:cs typeface="Arial Black" pitchFamily="34" charset="-120"/>
              </a:rPr>
              <a:t>Convierte el derecho a escribir en el libro en algo que cuesta dinero real, y por lo tanto en algo que un atacante no puede acaparar gratuitamente.</a:t>
            </a:r>
            <a:endParaRPr lang="en-US" sz="1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A.4 · MIN 60–72 · LA SÍNTESIS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31 DE OCTUBRE DE 2008</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01 · ¿QUÉ PROBLEMA RESUELVE REALMENTE BLOCKCHAIN?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22</a:t>
            </a:r>
            <a:endParaRPr lang="en-US" sz="900" dirty="0"/>
          </a:p>
        </p:txBody>
      </p:sp>
      <p:sp>
        <p:nvSpPr>
          <p:cNvPr id="8" name="Text 5"/>
          <p:cNvSpPr/>
          <p:nvPr/>
        </p:nvSpPr>
        <p:spPr>
          <a:xfrm>
            <a:off x="566928" y="1737360"/>
            <a:ext cx="11057839" cy="868680"/>
          </a:xfrm>
          <a:prstGeom prst="rect">
            <a:avLst/>
          </a:prstGeom>
          <a:noFill/>
          <a:ln/>
        </p:spPr>
        <p:txBody>
          <a:bodyPr wrap="square" lIns="0" tIns="0" rIns="0" bIns="0" rtlCol="0" anchor="t"/>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Alguien que firmaba como Satoshi Nakamoto —seudónimo cuya identidad real sigue sin establecerse— publicó en una lista de correo de criptografía un documento de nueve páginas: «Bitcoin: A Peer-to-Peer Electronic Cash System». El 3 de enero de 2009 se generó el primer bloque de la red.</a:t>
            </a:r>
            <a:endParaRPr lang="en-US" sz="1450" dirty="0"/>
          </a:p>
        </p:txBody>
      </p:sp>
      <p:sp>
        <p:nvSpPr>
          <p:cNvPr id="9" name="Shape 6"/>
          <p:cNvSpPr/>
          <p:nvPr/>
        </p:nvSpPr>
        <p:spPr>
          <a:xfrm>
            <a:off x="566928" y="2761488"/>
            <a:ext cx="2606040" cy="1481328"/>
          </a:xfrm>
          <a:prstGeom prst="rect">
            <a:avLst/>
          </a:prstGeom>
          <a:solidFill>
            <a:srgbClr val="FFFFFF"/>
          </a:solidFill>
          <a:ln w="22225">
            <a:solidFill>
              <a:srgbClr val="0F0F11"/>
            </a:solidFill>
            <a:prstDash val="solid"/>
          </a:ln>
          <a:effectLst>
            <a:outerShdw sx="100000" sy="100000" kx="0" ky="0" algn="bl" rotWithShape="0" blurRad="101600" dist="63500" dir="2700000">
              <a:srgbClr val="0F0F11">
                <a:alpha val="100000"/>
              </a:srgbClr>
            </a:outerShdw>
          </a:effectLst>
        </p:spPr>
      </p:sp>
      <p:sp>
        <p:nvSpPr>
          <p:cNvPr id="10" name="Text 7"/>
          <p:cNvSpPr/>
          <p:nvPr/>
        </p:nvSpPr>
        <p:spPr>
          <a:xfrm>
            <a:off x="749808" y="2962656"/>
            <a:ext cx="2240280" cy="681411"/>
          </a:xfrm>
          <a:prstGeom prst="rect">
            <a:avLst/>
          </a:prstGeom>
          <a:noFill/>
          <a:ln/>
        </p:spPr>
        <p:txBody>
          <a:bodyPr wrap="square" lIns="0" tIns="0" rIns="0" bIns="0" rtlCol="0" anchor="ctr"/>
          <a:lstStyle/>
          <a:p>
            <a:pPr indent="0" marL="0">
              <a:buNone/>
            </a:pPr>
            <a:r>
              <a:rPr lang="en-US" sz="4600" dirty="0">
                <a:solidFill>
                  <a:srgbClr val="F07F06"/>
                </a:solidFill>
                <a:latin typeface="Arial Black" pitchFamily="34" charset="0"/>
                <a:ea typeface="Arial Black" pitchFamily="34" charset="-122"/>
                <a:cs typeface="Arial Black" pitchFamily="34" charset="-120"/>
              </a:rPr>
              <a:t>9</a:t>
            </a:r>
            <a:endParaRPr lang="en-US" sz="4600" dirty="0"/>
          </a:p>
        </p:txBody>
      </p:sp>
      <p:sp>
        <p:nvSpPr>
          <p:cNvPr id="11" name="Text 8"/>
          <p:cNvSpPr/>
          <p:nvPr/>
        </p:nvSpPr>
        <p:spPr>
          <a:xfrm>
            <a:off x="749808" y="3620658"/>
            <a:ext cx="2240280" cy="533278"/>
          </a:xfrm>
          <a:prstGeom prst="rect">
            <a:avLst/>
          </a:prstGeom>
          <a:noFill/>
          <a:ln/>
        </p:spPr>
        <p:txBody>
          <a:bodyPr wrap="square" lIns="0" tIns="0" rIns="0" bIns="0" rtlCol="0" anchor="t"/>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Páginas del documento que abrió el campo.</a:t>
            </a:r>
            <a:endParaRPr lang="en-US" sz="1200" dirty="0"/>
          </a:p>
        </p:txBody>
      </p:sp>
      <p:sp>
        <p:nvSpPr>
          <p:cNvPr id="12" name="Shape 9"/>
          <p:cNvSpPr/>
          <p:nvPr/>
        </p:nvSpPr>
        <p:spPr>
          <a:xfrm>
            <a:off x="3401568" y="2761488"/>
            <a:ext cx="3977640" cy="1481328"/>
          </a:xfrm>
          <a:prstGeom prst="rect">
            <a:avLst/>
          </a:prstGeom>
          <a:solidFill>
            <a:srgbClr val="FFFFFF"/>
          </a:solidFill>
          <a:ln w="22225">
            <a:solidFill>
              <a:srgbClr val="0F0F11"/>
            </a:solidFill>
            <a:prstDash val="solid"/>
          </a:ln>
          <a:effectLst>
            <a:outerShdw sx="100000" sy="100000" kx="0" ky="0" algn="bl" rotWithShape="0" blurRad="101600" dist="63500" dir="2700000">
              <a:srgbClr val="0F0F11">
                <a:alpha val="100000"/>
              </a:srgbClr>
            </a:outerShdw>
          </a:effectLst>
        </p:spPr>
      </p:sp>
      <p:sp>
        <p:nvSpPr>
          <p:cNvPr id="13" name="Text 10"/>
          <p:cNvSpPr/>
          <p:nvPr/>
        </p:nvSpPr>
        <p:spPr>
          <a:xfrm>
            <a:off x="3584448" y="2962656"/>
            <a:ext cx="3611880" cy="681411"/>
          </a:xfrm>
          <a:prstGeom prst="rect">
            <a:avLst/>
          </a:prstGeom>
          <a:noFill/>
          <a:ln/>
        </p:spPr>
        <p:txBody>
          <a:bodyPr wrap="square" lIns="0" tIns="0" rIns="0" bIns="0" rtlCol="0" anchor="ctr"/>
          <a:lstStyle/>
          <a:p>
            <a:pPr indent="0" marL="0">
              <a:buNone/>
            </a:pPr>
            <a:r>
              <a:rPr lang="en-US" sz="3600" dirty="0">
                <a:solidFill>
                  <a:srgbClr val="A35604"/>
                </a:solidFill>
                <a:latin typeface="Arial Black" pitchFamily="34" charset="0"/>
                <a:ea typeface="Arial Black" pitchFamily="34" charset="-122"/>
                <a:cs typeface="Arial Black" pitchFamily="34" charset="-120"/>
              </a:rPr>
              <a:t>2008</a:t>
            </a:r>
            <a:endParaRPr lang="en-US" sz="3600" dirty="0"/>
          </a:p>
        </p:txBody>
      </p:sp>
      <p:sp>
        <p:nvSpPr>
          <p:cNvPr id="14" name="Text 11"/>
          <p:cNvSpPr/>
          <p:nvPr/>
        </p:nvSpPr>
        <p:spPr>
          <a:xfrm>
            <a:off x="3584448" y="3620658"/>
            <a:ext cx="3611880" cy="533278"/>
          </a:xfrm>
          <a:prstGeom prst="rect">
            <a:avLst/>
          </a:prstGeom>
          <a:noFill/>
          <a:ln/>
        </p:spPr>
        <p:txBody>
          <a:bodyPr wrap="square" lIns="0" tIns="0" rIns="0" bIns="0" rtlCol="0" anchor="t"/>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Crisis financiera más grave desde 1929. Los rescates bancarios con dinero público en el centro del debate.</a:t>
            </a:r>
            <a:endParaRPr lang="en-US" sz="1200" dirty="0"/>
          </a:p>
        </p:txBody>
      </p:sp>
      <p:sp>
        <p:nvSpPr>
          <p:cNvPr id="15" name="Shape 12"/>
          <p:cNvSpPr/>
          <p:nvPr/>
        </p:nvSpPr>
        <p:spPr>
          <a:xfrm>
            <a:off x="7607808" y="2761488"/>
            <a:ext cx="4014216" cy="1481328"/>
          </a:xfrm>
          <a:prstGeom prst="rect">
            <a:avLst/>
          </a:prstGeom>
          <a:solidFill>
            <a:srgbClr val="FFFFFF"/>
          </a:solidFill>
          <a:ln w="22225">
            <a:solidFill>
              <a:srgbClr val="0F0F11"/>
            </a:solidFill>
            <a:prstDash val="solid"/>
          </a:ln>
          <a:effectLst>
            <a:outerShdw sx="100000" sy="100000" kx="0" ky="0" algn="bl" rotWithShape="0" blurRad="101600" dist="63500" dir="2700000">
              <a:srgbClr val="0F0F11">
                <a:alpha val="100000"/>
              </a:srgbClr>
            </a:outerShdw>
          </a:effectLst>
        </p:spPr>
      </p:sp>
      <p:sp>
        <p:nvSpPr>
          <p:cNvPr id="16" name="Text 13"/>
          <p:cNvSpPr/>
          <p:nvPr/>
        </p:nvSpPr>
        <p:spPr>
          <a:xfrm>
            <a:off x="7790688" y="2962656"/>
            <a:ext cx="3648456" cy="681411"/>
          </a:xfrm>
          <a:prstGeom prst="rect">
            <a:avLst/>
          </a:prstGeom>
          <a:noFill/>
          <a:ln/>
        </p:spPr>
        <p:txBody>
          <a:bodyPr wrap="square" lIns="0" tIns="0" rIns="0" bIns="0" rtlCol="0" anchor="ctr"/>
          <a:lstStyle/>
          <a:p>
            <a:pPr indent="0" marL="0">
              <a:buNone/>
            </a:pPr>
            <a:r>
              <a:rPr lang="en-US" sz="4600" dirty="0">
                <a:solidFill>
                  <a:srgbClr val="7152E9"/>
                </a:solidFill>
                <a:latin typeface="Arial Black" pitchFamily="34" charset="0"/>
                <a:ea typeface="Arial Black" pitchFamily="34" charset="-122"/>
                <a:cs typeface="Arial Black" pitchFamily="34" charset="-120"/>
              </a:rPr>
              <a:t>0</a:t>
            </a:r>
            <a:endParaRPr lang="en-US" sz="4600" dirty="0"/>
          </a:p>
        </p:txBody>
      </p:sp>
      <p:sp>
        <p:nvSpPr>
          <p:cNvPr id="17" name="Text 14"/>
          <p:cNvSpPr/>
          <p:nvPr/>
        </p:nvSpPr>
        <p:spPr>
          <a:xfrm>
            <a:off x="7790688" y="3620658"/>
            <a:ext cx="3648456" cy="533278"/>
          </a:xfrm>
          <a:prstGeom prst="rect">
            <a:avLst/>
          </a:prstGeom>
          <a:noFill/>
          <a:ln/>
        </p:spPr>
        <p:txBody>
          <a:bodyPr wrap="square" lIns="0" tIns="0" rIns="0" bIns="0" rtlCol="0" anchor="t"/>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Piezas nuevas inventadas. Todas existían ya.</a:t>
            </a:r>
            <a:endParaRPr lang="en-US" sz="1200" dirty="0"/>
          </a:p>
        </p:txBody>
      </p:sp>
      <p:sp>
        <p:nvSpPr>
          <p:cNvPr id="18" name="Shape 15"/>
          <p:cNvSpPr/>
          <p:nvPr/>
        </p:nvSpPr>
        <p:spPr>
          <a:xfrm>
            <a:off x="566928" y="4434840"/>
            <a:ext cx="11057839" cy="1481328"/>
          </a:xfrm>
          <a:prstGeom prst="rect">
            <a:avLst/>
          </a:prstGeom>
          <a:solidFill>
            <a:srgbClr val="F2F0F5"/>
          </a:solidFill>
          <a:ln w="22225">
            <a:solidFill>
              <a:srgbClr val="0F0F11"/>
            </a:solidFill>
            <a:prstDash val="solid"/>
          </a:ln>
        </p:spPr>
      </p:sp>
      <p:pic>
        <p:nvPicPr>
          <p:cNvPr id="19" name="Image 1" descr="preencoded.png">    </p:cNvPr>
          <p:cNvPicPr>
            <a:picLocks noChangeAspect="1"/>
          </p:cNvPicPr>
          <p:nvPr/>
        </p:nvPicPr>
        <p:blipFill>
          <a:blip r:embed="rId2"/>
          <a:stretch>
            <a:fillRect/>
          </a:stretch>
        </p:blipFill>
        <p:spPr>
          <a:xfrm>
            <a:off x="804672" y="4654296"/>
            <a:ext cx="237744" cy="237744"/>
          </a:xfrm>
          <a:prstGeom prst="rect">
            <a:avLst/>
          </a:prstGeom>
        </p:spPr>
      </p:pic>
      <p:sp>
        <p:nvSpPr>
          <p:cNvPr id="20" name="Text 16"/>
          <p:cNvSpPr/>
          <p:nvPr/>
        </p:nvSpPr>
        <p:spPr>
          <a:xfrm>
            <a:off x="1133856" y="4626864"/>
            <a:ext cx="10234879" cy="292608"/>
          </a:xfrm>
          <a:prstGeom prst="rect">
            <a:avLst/>
          </a:prstGeom>
          <a:noFill/>
          <a:ln/>
        </p:spPr>
        <p:txBody>
          <a:bodyPr wrap="square" lIns="0" tIns="0" rIns="0" bIns="0" rtlCol="0" anchor="ctr"/>
          <a:lstStyle/>
          <a:p>
            <a:pPr indent="0" marL="0">
              <a:buNone/>
            </a:pPr>
            <a:r>
              <a:rPr lang="en-US" sz="950" b="1" spc="150" kern="0" dirty="0">
                <a:solidFill>
                  <a:srgbClr val="6F6B80"/>
                </a:solidFill>
                <a:latin typeface="Courier New" pitchFamily="34" charset="0"/>
                <a:ea typeface="Courier New" pitchFamily="34" charset="-122"/>
                <a:cs typeface="Courier New" pitchFamily="34" charset="-120"/>
              </a:rPr>
              <a:t>EL BLOQUE GÉNESIS</a:t>
            </a:r>
            <a:endParaRPr lang="en-US" sz="950" dirty="0"/>
          </a:p>
        </p:txBody>
      </p:sp>
      <p:sp>
        <p:nvSpPr>
          <p:cNvPr id="21" name="Text 17"/>
          <p:cNvSpPr/>
          <p:nvPr/>
        </p:nvSpPr>
        <p:spPr>
          <a:xfrm>
            <a:off x="804672" y="5020056"/>
            <a:ext cx="10582351" cy="86868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En el primer bloque quedó grabado, de forma permanente, el titular de portada de The Times del 3 de enero de 2009 sobre un segundo rescate bancario. Cumple dos funciones: es prueba criptográfica de que el bloque no pudo crearse antes de esa fecha, y es una declaración política inequívoca sobre el objeto del proyecto.</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A.4 · LA CONTRIBUCIÓN REAL</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600" dirty="0">
                <a:solidFill>
                  <a:srgbClr val="0F0F11"/>
                </a:solidFill>
                <a:latin typeface="Arial Black" pitchFamily="34" charset="0"/>
                <a:ea typeface="Arial Black" pitchFamily="34" charset="-122"/>
                <a:cs typeface="Arial Black" pitchFamily="34" charset="-120"/>
              </a:rPr>
              <a:t>BITCOIN NO INVENTÓ NINGUNA DE SUS PIEZAS</a:t>
            </a:r>
            <a:endParaRPr lang="en-US" sz="26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01 · ¿QUÉ PROBLEMA RESUELVE REALMENTE BLOCKCHAIN?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23</a:t>
            </a:r>
            <a:endParaRPr lang="en-US" sz="9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66928" y="1783080"/>
          <a:ext cx="11057839" cy="914400"/>
        </p:xfrm>
        <a:graphic>
          <a:graphicData uri="http://schemas.openxmlformats.org/drawingml/2006/table">
            <a:tbl>
              <a:tblPr/>
              <a:tblGrid>
                <a:gridCol w="3200400"/>
                <a:gridCol w="1737360"/>
                <a:gridCol w="4754880"/>
                <a:gridCol w="136519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PIEZA</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YA EXISTÍA DESDE</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FUNCIÓN DENTRO DEL SISTEMA</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SE VE EN</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23037">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Funciones hash criptográficas</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Años 70–90</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Encadenar bloques y hacer detectable cualquier alteración.</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Sesión 2</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23037">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Firmas digitales de clave pública</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1976 en adelante</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Probar la autoría de una transacción sin revelar la clave privada.</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Sesión 2</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23037">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Árboles de Merkle</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1979</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Resumir miles de transacciones en un único valor verificable.</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Sesión 2</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23037">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Prueba de trabajo (Hashcash)</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1997</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Hacer costoso el derecho a proponer un bloque.</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Sesión 4</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23037">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Redes P2P [peer-to-peer, de par a par]</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Años 90–2000</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Propagar transacciones y bloques sin servidor central.</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Sesión 3</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1764792"/>
            <a:ext cx="11094415" cy="2962656"/>
          </a:xfrm>
          <a:prstGeom prst="rect">
            <a:avLst/>
          </a:prstGeom>
          <a:ln w="22225">
            <a:solidFill>
              <a:srgbClr val="0F0F11"/>
            </a:solidFill>
            <a:prstDash val="solid"/>
          </a:ln>
        </p:spPr>
      </p:sp>
      <p:sp>
        <p:nvSpPr>
          <p:cNvPr id="10" name="Shape 6"/>
          <p:cNvSpPr/>
          <p:nvPr/>
        </p:nvSpPr>
        <p:spPr>
          <a:xfrm>
            <a:off x="566928" y="4846320"/>
            <a:ext cx="11057839" cy="109728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sp>
        <p:nvSpPr>
          <p:cNvPr id="11" name="Text 7"/>
          <p:cNvSpPr/>
          <p:nvPr/>
        </p:nvSpPr>
        <p:spPr>
          <a:xfrm>
            <a:off x="950976" y="5065776"/>
            <a:ext cx="10289743" cy="658368"/>
          </a:xfrm>
          <a:prstGeom prst="rect">
            <a:avLst/>
          </a:prstGeom>
          <a:noFill/>
          <a:ln/>
        </p:spPr>
        <p:txBody>
          <a:bodyPr wrap="square" lIns="0" tIns="0" rIns="0" bIns="0" rtlCol="0" anchor="ctr"/>
          <a:lstStyle/>
          <a:p>
            <a:pPr indent="0" marL="0">
              <a:lnSpc>
                <a:spcPct val="106000"/>
              </a:lnSpc>
              <a:buNone/>
            </a:pPr>
            <a:r>
              <a:rPr lang="en-US" sz="1700" dirty="0">
                <a:solidFill>
                  <a:srgbClr val="0F0F11"/>
                </a:solidFill>
                <a:latin typeface="Arial Black" pitchFamily="34" charset="0"/>
                <a:ea typeface="Arial Black" pitchFamily="34" charset="-122"/>
                <a:cs typeface="Arial Black" pitchFamily="34" charset="-120"/>
              </a:rPr>
              <a:t>La pieza genuinamente nueva es la sexta, y no es tecnológica sino económica: un esquema de incentivos que hace que comportarse honestamente sea más rentable que atacar el sistema.</a:t>
            </a:r>
            <a:endParaRPr lang="en-US" sz="1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A.4 · IDEA CENTRAL DE LA SESIÓN</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600" dirty="0">
                <a:solidFill>
                  <a:srgbClr val="0F0F11"/>
                </a:solidFill>
                <a:latin typeface="Arial Black" pitchFamily="34" charset="0"/>
                <a:ea typeface="Arial Black" pitchFamily="34" charset="-122"/>
                <a:cs typeface="Arial Black" pitchFamily="34" charset="-120"/>
              </a:rPr>
              <a:t>CÓMO SE LOGRÓ EL ACUERDO ENTRE DESCONOCIDOS</a:t>
            </a:r>
            <a:endParaRPr lang="en-US" sz="26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01 · ¿QUÉ PROBLEMA RESUELVE REALMENTE BLOCKCHAIN?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24</a:t>
            </a:r>
            <a:endParaRPr lang="en-US" sz="900" dirty="0"/>
          </a:p>
        </p:txBody>
      </p:sp>
      <p:sp>
        <p:nvSpPr>
          <p:cNvPr id="8" name="Shape 5"/>
          <p:cNvSpPr/>
          <p:nvPr/>
        </p:nvSpPr>
        <p:spPr>
          <a:xfrm>
            <a:off x="566928" y="1783080"/>
            <a:ext cx="11057839" cy="192024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pic>
        <p:nvPicPr>
          <p:cNvPr id="9" name="Image 1" descr="preencoded.png">    </p:cNvPr>
          <p:cNvPicPr>
            <a:picLocks noChangeAspect="1"/>
          </p:cNvPicPr>
          <p:nvPr/>
        </p:nvPicPr>
        <p:blipFill>
          <a:blip r:embed="rId2"/>
          <a:stretch>
            <a:fillRect/>
          </a:stretch>
        </p:blipFill>
        <p:spPr>
          <a:xfrm>
            <a:off x="804672" y="2002536"/>
            <a:ext cx="237744" cy="237744"/>
          </a:xfrm>
          <a:prstGeom prst="rect">
            <a:avLst/>
          </a:prstGeom>
        </p:spPr>
      </p:pic>
      <p:sp>
        <p:nvSpPr>
          <p:cNvPr id="10" name="Text 6"/>
          <p:cNvSpPr/>
          <p:nvPr/>
        </p:nvSpPr>
        <p:spPr>
          <a:xfrm>
            <a:off x="1133856" y="1975104"/>
            <a:ext cx="10234879" cy="292608"/>
          </a:xfrm>
          <a:prstGeom prst="rect">
            <a:avLst/>
          </a:prstGeom>
          <a:noFill/>
          <a:ln/>
        </p:spPr>
        <p:txBody>
          <a:bodyPr wrap="square" lIns="0" tIns="0" rIns="0" bIns="0" rtlCol="0" anchor="ctr"/>
          <a:lstStyle/>
          <a:p>
            <a:pPr indent="0" marL="0">
              <a:buNone/>
            </a:pPr>
            <a:r>
              <a:rPr lang="en-US" sz="950" b="1" spc="150" kern="0" dirty="0">
                <a:solidFill>
                  <a:srgbClr val="0F0F11"/>
                </a:solidFill>
                <a:latin typeface="Courier New" pitchFamily="34" charset="0"/>
                <a:ea typeface="Courier New" pitchFamily="34" charset="-122"/>
                <a:cs typeface="Courier New" pitchFamily="34" charset="-120"/>
              </a:rPr>
              <a:t>IDEA CENTRAL</a:t>
            </a:r>
            <a:endParaRPr lang="en-US" sz="950" dirty="0"/>
          </a:p>
        </p:txBody>
      </p:sp>
      <p:sp>
        <p:nvSpPr>
          <p:cNvPr id="11" name="Text 7"/>
          <p:cNvSpPr/>
          <p:nvPr/>
        </p:nvSpPr>
        <p:spPr>
          <a:xfrm>
            <a:off x="987552" y="2368296"/>
            <a:ext cx="10216591" cy="1097280"/>
          </a:xfrm>
          <a:prstGeom prst="rect">
            <a:avLst/>
          </a:prstGeom>
          <a:noFill/>
          <a:ln/>
        </p:spPr>
        <p:txBody>
          <a:bodyPr wrap="square" lIns="0" tIns="0" rIns="0" bIns="0" rtlCol="0" anchor="t"/>
          <a:lstStyle/>
          <a:p>
            <a:pPr indent="0" marL="0">
              <a:lnSpc>
                <a:spcPct val="108000"/>
              </a:lnSpc>
              <a:buNone/>
            </a:pPr>
            <a:r>
              <a:rPr lang="en-US" sz="2000" dirty="0">
                <a:solidFill>
                  <a:srgbClr val="0F0F11"/>
                </a:solidFill>
                <a:latin typeface="Arial Black" pitchFamily="34" charset="0"/>
                <a:ea typeface="Arial Black" pitchFamily="34" charset="-122"/>
                <a:cs typeface="Arial Black" pitchFamily="34" charset="-120"/>
              </a:rPr>
              <a:t>El acuerdo entre desconocidos no se logró con más criptografía. Se logró alineando incentivos económicos con el comportamiento honesto, y usando criptografía para que las trampas fueran DETECTABLES.</a:t>
            </a:r>
            <a:endParaRPr lang="en-US" sz="2000" dirty="0"/>
          </a:p>
        </p:txBody>
      </p:sp>
      <p:sp>
        <p:nvSpPr>
          <p:cNvPr id="12" name="Shape 8"/>
          <p:cNvSpPr/>
          <p:nvPr/>
        </p:nvSpPr>
        <p:spPr>
          <a:xfrm>
            <a:off x="566928" y="3886200"/>
            <a:ext cx="11057839" cy="2011680"/>
          </a:xfrm>
          <a:prstGeom prst="rect">
            <a:avLst/>
          </a:prstGeom>
          <a:solidFill>
            <a:srgbClr val="F2F0F5"/>
          </a:solidFill>
          <a:ln w="22225">
            <a:solidFill>
              <a:srgbClr val="0F0F11"/>
            </a:solidFill>
            <a:prstDash val="solid"/>
          </a:ln>
        </p:spPr>
      </p:sp>
      <p:pic>
        <p:nvPicPr>
          <p:cNvPr id="13" name="Image 2" descr="preencoded.png">    </p:cNvPr>
          <p:cNvPicPr>
            <a:picLocks noChangeAspect="1"/>
          </p:cNvPicPr>
          <p:nvPr/>
        </p:nvPicPr>
        <p:blipFill>
          <a:blip r:embed="rId3"/>
          <a:stretch>
            <a:fillRect/>
          </a:stretch>
        </p:blipFill>
        <p:spPr>
          <a:xfrm>
            <a:off x="804672" y="4105656"/>
            <a:ext cx="237744" cy="237744"/>
          </a:xfrm>
          <a:prstGeom prst="rect">
            <a:avLst/>
          </a:prstGeom>
        </p:spPr>
      </p:pic>
      <p:sp>
        <p:nvSpPr>
          <p:cNvPr id="14" name="Text 9"/>
          <p:cNvSpPr/>
          <p:nvPr/>
        </p:nvSpPr>
        <p:spPr>
          <a:xfrm>
            <a:off x="1133856" y="4078224"/>
            <a:ext cx="10234879" cy="292608"/>
          </a:xfrm>
          <a:prstGeom prst="rect">
            <a:avLst/>
          </a:prstGeom>
          <a:noFill/>
          <a:ln/>
        </p:spPr>
        <p:txBody>
          <a:bodyPr wrap="square" lIns="0" tIns="0" rIns="0" bIns="0" rtlCol="0" anchor="ctr"/>
          <a:lstStyle/>
          <a:p>
            <a:pPr indent="0" marL="0">
              <a:buNone/>
            </a:pPr>
            <a:r>
              <a:rPr lang="en-US" sz="950" b="1" spc="150" kern="0" dirty="0">
                <a:solidFill>
                  <a:srgbClr val="6F6B80"/>
                </a:solidFill>
                <a:latin typeface="Courier New" pitchFamily="34" charset="0"/>
                <a:ea typeface="Courier New" pitchFamily="34" charset="-122"/>
                <a:cs typeface="Courier New" pitchFamily="34" charset="-120"/>
              </a:rPr>
              <a:t>PROFUNDIDAD · POR QUÉ ESTO IMPORTA A UN INGENIERO DE SOFTWARE</a:t>
            </a:r>
            <a:endParaRPr lang="en-US" sz="950" dirty="0"/>
          </a:p>
        </p:txBody>
      </p:sp>
      <p:sp>
        <p:nvSpPr>
          <p:cNvPr id="15" name="Text 10"/>
          <p:cNvSpPr/>
          <p:nvPr/>
        </p:nvSpPr>
        <p:spPr>
          <a:xfrm>
            <a:off x="804672" y="4471416"/>
            <a:ext cx="10582351" cy="123444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Cuando un sistema tiene participantes con intereses propios, el modelo de amenaza debe incluir la racionalidad económica del adversario, no solo sus capacidades técnicas. La seguridad tradicional pregunta «¿puede un atacante hacer X?». El diseño de protocolos económicos pregunta además «¿le conviene?».</a:t>
            </a:r>
            <a:endParaRPr lang="en-US" sz="13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A.5 · MIN 72–82 · ANATOMÍA CONCEPTUAL</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500" dirty="0">
                <a:solidFill>
                  <a:srgbClr val="0F0F11"/>
                </a:solidFill>
                <a:latin typeface="Arial Black" pitchFamily="34" charset="0"/>
                <a:ea typeface="Arial Black" pitchFamily="34" charset="-122"/>
                <a:cs typeface="Arial Black" pitchFamily="34" charset="-120"/>
              </a:rPr>
              <a:t>QUÉ ES UNA CADENA DE BLOQUES, CON PRECISIÓN</a:t>
            </a:r>
            <a:endParaRPr lang="en-US" sz="25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01 · ¿QUÉ PROBLEMA RESUELVE REALMENTE BLOCKCHAIN?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25</a:t>
            </a:r>
            <a:endParaRPr lang="en-US" sz="900" dirty="0"/>
          </a:p>
        </p:txBody>
      </p:sp>
      <p:sp>
        <p:nvSpPr>
          <p:cNvPr id="8" name="Shape 5"/>
          <p:cNvSpPr/>
          <p:nvPr/>
        </p:nvSpPr>
        <p:spPr>
          <a:xfrm>
            <a:off x="566928" y="1737360"/>
            <a:ext cx="11057839" cy="160020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pic>
        <p:nvPicPr>
          <p:cNvPr id="9" name="Image 1" descr="preencoded.png">    </p:cNvPr>
          <p:cNvPicPr>
            <a:picLocks noChangeAspect="1"/>
          </p:cNvPicPr>
          <p:nvPr/>
        </p:nvPicPr>
        <p:blipFill>
          <a:blip r:embed="rId2"/>
          <a:stretch>
            <a:fillRect/>
          </a:stretch>
        </p:blipFill>
        <p:spPr>
          <a:xfrm>
            <a:off x="804672" y="1956816"/>
            <a:ext cx="237744" cy="237744"/>
          </a:xfrm>
          <a:prstGeom prst="rect">
            <a:avLst/>
          </a:prstGeom>
        </p:spPr>
      </p:pic>
      <p:sp>
        <p:nvSpPr>
          <p:cNvPr id="10" name="Text 6"/>
          <p:cNvSpPr/>
          <p:nvPr/>
        </p:nvSpPr>
        <p:spPr>
          <a:xfrm>
            <a:off x="1133856" y="1929384"/>
            <a:ext cx="10234879" cy="292608"/>
          </a:xfrm>
          <a:prstGeom prst="rect">
            <a:avLst/>
          </a:prstGeom>
          <a:noFill/>
          <a:ln/>
        </p:spPr>
        <p:txBody>
          <a:bodyPr wrap="square" lIns="0" tIns="0" rIns="0" bIns="0" rtlCol="0" anchor="ctr"/>
          <a:lstStyle/>
          <a:p>
            <a:pPr indent="0" marL="0">
              <a:buNone/>
            </a:pPr>
            <a:r>
              <a:rPr lang="en-US" sz="950" b="1" spc="150" kern="0" dirty="0">
                <a:solidFill>
                  <a:srgbClr val="5638C9"/>
                </a:solidFill>
                <a:latin typeface="Courier New" pitchFamily="34" charset="0"/>
                <a:ea typeface="Courier New" pitchFamily="34" charset="-122"/>
                <a:cs typeface="Courier New" pitchFamily="34" charset="-120"/>
              </a:rPr>
              <a:t>FICHA DE TÉRMINO 05 · BLOCKCHAIN</a:t>
            </a:r>
            <a:endParaRPr lang="en-US" sz="950" dirty="0"/>
          </a:p>
        </p:txBody>
      </p:sp>
      <p:sp>
        <p:nvSpPr>
          <p:cNvPr id="11" name="Shape 7"/>
          <p:cNvSpPr/>
          <p:nvPr/>
        </p:nvSpPr>
        <p:spPr>
          <a:xfrm>
            <a:off x="804672" y="2322576"/>
            <a:ext cx="10582351" cy="914400"/>
          </a:xfrm>
          <a:prstGeom prst="rect">
            <a:avLst/>
          </a:prstGeom>
          <a:solidFill>
            <a:srgbClr val="F2F0F5"/>
          </a:solidFill>
          <a:ln w="12700">
            <a:solidFill>
              <a:srgbClr val="7152E9"/>
            </a:solidFill>
            <a:prstDash val="solid"/>
          </a:ln>
        </p:spPr>
      </p:sp>
      <p:sp>
        <p:nvSpPr>
          <p:cNvPr id="12" name="Text 8"/>
          <p:cNvSpPr/>
          <p:nvPr/>
        </p:nvSpPr>
        <p:spPr>
          <a:xfrm>
            <a:off x="969264" y="2414016"/>
            <a:ext cx="10253167" cy="731520"/>
          </a:xfrm>
          <a:prstGeom prst="rect">
            <a:avLst/>
          </a:prstGeom>
          <a:noFill/>
          <a:ln/>
        </p:spPr>
        <p:txBody>
          <a:bodyPr wrap="square" lIns="0" tIns="0" rIns="0" bIns="0" rtlCol="0" anchor="ctr"/>
          <a:lstStyle/>
          <a:p>
            <a:pPr indent="0" marL="0">
              <a:lnSpc>
                <a:spcPct val="120000"/>
              </a:lnSpc>
              <a:buNone/>
            </a:pPr>
            <a:r>
              <a:rPr lang="en-US" sz="1100" dirty="0">
                <a:solidFill>
                  <a:srgbClr val="3A3844"/>
                </a:solidFill>
                <a:latin typeface="Courier New" pitchFamily="34" charset="0"/>
                <a:ea typeface="Courier New" pitchFamily="34" charset="-122"/>
                <a:cs typeface="Courier New" pitchFamily="34" charset="-120"/>
              </a:rPr>
              <a:t>Lista enlazada, de solo anexado, cuyos nodos —los bloques— agrupan transacciones y</a:t>
            </a:r>
            <a:endParaRPr lang="en-US" sz="1100" dirty="0"/>
          </a:p>
          <a:p>
            <a:pPr indent="0" marL="0">
              <a:lnSpc>
                <a:spcPct val="120000"/>
              </a:lnSpc>
              <a:buNone/>
            </a:pPr>
            <a:r>
              <a:rPr lang="en-US" sz="1100" dirty="0">
                <a:solidFill>
                  <a:srgbClr val="3A3844"/>
                </a:solidFill>
                <a:latin typeface="Courier New" pitchFamily="34" charset="0"/>
                <a:ea typeface="Courier New" pitchFamily="34" charset="-122"/>
                <a:cs typeface="Courier New" pitchFamily="34" charset="-120"/>
              </a:rPr>
              <a:t>contienen el resumen criptográfico del nodo anterior; replicada en una red de pares</a:t>
            </a:r>
            <a:endParaRPr lang="en-US" sz="1100" dirty="0"/>
          </a:p>
          <a:p>
            <a:pPr indent="0" marL="0">
              <a:lnSpc>
                <a:spcPct val="120000"/>
              </a:lnSpc>
              <a:buNone/>
            </a:pPr>
            <a:r>
              <a:rPr lang="en-US" sz="1100" dirty="0">
                <a:solidFill>
                  <a:srgbClr val="3A3844"/>
                </a:solidFill>
                <a:latin typeface="Courier New" pitchFamily="34" charset="0"/>
                <a:ea typeface="Courier New" pitchFamily="34" charset="-122"/>
                <a:cs typeface="Courier New" pitchFamily="34" charset="-120"/>
              </a:rPr>
              <a:t>que acuerdan su contenido mediante consenso tolerante a fallas bizantinas.</a:t>
            </a:r>
            <a:endParaRPr lang="en-US" sz="1100" dirty="0"/>
          </a:p>
        </p:txBody>
      </p:sp>
      <p:sp>
        <p:nvSpPr>
          <p:cNvPr id="13" name="Text 9"/>
          <p:cNvSpPr/>
          <p:nvPr/>
        </p:nvSpPr>
        <p:spPr>
          <a:xfrm>
            <a:off x="566928" y="3611880"/>
            <a:ext cx="2788920" cy="365760"/>
          </a:xfrm>
          <a:prstGeom prst="rect">
            <a:avLst/>
          </a:prstGeom>
          <a:noFill/>
          <a:ln/>
        </p:spPr>
        <p:txBody>
          <a:bodyPr wrap="square" lIns="0" tIns="0" rIns="0" bIns="0" rtlCol="0" anchor="t"/>
          <a:lstStyle/>
          <a:p>
            <a:pPr indent="0" marL="0">
              <a:buNone/>
            </a:pPr>
            <a:r>
              <a:rPr lang="en-US" sz="1050" b="1" spc="120" kern="0" dirty="0">
                <a:solidFill>
                  <a:srgbClr val="A35604"/>
                </a:solidFill>
                <a:latin typeface="Courier New" pitchFamily="34" charset="0"/>
                <a:ea typeface="Courier New" pitchFamily="34" charset="-122"/>
                <a:cs typeface="Courier New" pitchFamily="34" charset="-120"/>
              </a:rPr>
              <a:t>LISTA ENLAZADA</a:t>
            </a:r>
            <a:endParaRPr lang="en-US" sz="1050" dirty="0"/>
          </a:p>
        </p:txBody>
      </p:sp>
      <p:sp>
        <p:nvSpPr>
          <p:cNvPr id="14" name="Text 10"/>
          <p:cNvSpPr/>
          <p:nvPr/>
        </p:nvSpPr>
        <p:spPr>
          <a:xfrm>
            <a:off x="3493008" y="3602736"/>
            <a:ext cx="8131759" cy="45720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La estructura de datos que se estudia en segundo semestre. No hay nada exótico.</a:t>
            </a:r>
            <a:endParaRPr lang="en-US" sz="1250" dirty="0"/>
          </a:p>
        </p:txBody>
      </p:sp>
      <p:sp>
        <p:nvSpPr>
          <p:cNvPr id="15" name="Text 11"/>
          <p:cNvSpPr/>
          <p:nvPr/>
        </p:nvSpPr>
        <p:spPr>
          <a:xfrm>
            <a:off x="566928" y="4114800"/>
            <a:ext cx="2788920" cy="365760"/>
          </a:xfrm>
          <a:prstGeom prst="rect">
            <a:avLst/>
          </a:prstGeom>
          <a:noFill/>
          <a:ln/>
        </p:spPr>
        <p:txBody>
          <a:bodyPr wrap="square" lIns="0" tIns="0" rIns="0" bIns="0" rtlCol="0" anchor="t"/>
          <a:lstStyle/>
          <a:p>
            <a:pPr indent="0" marL="0">
              <a:buNone/>
            </a:pPr>
            <a:r>
              <a:rPr lang="en-US" sz="1050" b="1" spc="120" kern="0" dirty="0">
                <a:solidFill>
                  <a:srgbClr val="A35604"/>
                </a:solidFill>
                <a:latin typeface="Courier New" pitchFamily="34" charset="0"/>
                <a:ea typeface="Courier New" pitchFamily="34" charset="-122"/>
                <a:cs typeface="Courier New" pitchFamily="34" charset="-120"/>
              </a:rPr>
              <a:t>DE SOLO ANEXADO</a:t>
            </a:r>
            <a:endParaRPr lang="en-US" sz="1050" dirty="0"/>
          </a:p>
        </p:txBody>
      </p:sp>
      <p:sp>
        <p:nvSpPr>
          <p:cNvPr id="16" name="Text 12"/>
          <p:cNvSpPr/>
          <p:nvPr/>
        </p:nvSpPr>
        <p:spPr>
          <a:xfrm>
            <a:off x="3493008" y="4105656"/>
            <a:ext cx="8131759" cy="45720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La única escritura permitida es agregar al final. No existen update ni delete.</a:t>
            </a:r>
            <a:endParaRPr lang="en-US" sz="1250" dirty="0"/>
          </a:p>
        </p:txBody>
      </p:sp>
      <p:sp>
        <p:nvSpPr>
          <p:cNvPr id="17" name="Text 13"/>
          <p:cNvSpPr/>
          <p:nvPr/>
        </p:nvSpPr>
        <p:spPr>
          <a:xfrm>
            <a:off x="566928" y="4617720"/>
            <a:ext cx="2788920" cy="365760"/>
          </a:xfrm>
          <a:prstGeom prst="rect">
            <a:avLst/>
          </a:prstGeom>
          <a:noFill/>
          <a:ln/>
        </p:spPr>
        <p:txBody>
          <a:bodyPr wrap="square" lIns="0" tIns="0" rIns="0" bIns="0" rtlCol="0" anchor="t"/>
          <a:lstStyle/>
          <a:p>
            <a:pPr indent="0" marL="0">
              <a:buNone/>
            </a:pPr>
            <a:r>
              <a:rPr lang="en-US" sz="1050" b="1" spc="120" kern="0" dirty="0">
                <a:solidFill>
                  <a:srgbClr val="A35604"/>
                </a:solidFill>
                <a:latin typeface="Courier New" pitchFamily="34" charset="0"/>
                <a:ea typeface="Courier New" pitchFamily="34" charset="-122"/>
                <a:cs typeface="Courier New" pitchFamily="34" charset="-120"/>
              </a:rPr>
              <a:t>ENLACE POR HASH</a:t>
            </a:r>
            <a:endParaRPr lang="en-US" sz="1050" dirty="0"/>
          </a:p>
        </p:txBody>
      </p:sp>
      <p:sp>
        <p:nvSpPr>
          <p:cNvPr id="18" name="Text 14"/>
          <p:cNvSpPr/>
          <p:nvPr/>
        </p:nvSpPr>
        <p:spPr>
          <a:xfrm>
            <a:off x="3493008" y="4608576"/>
            <a:ext cx="8131759" cy="45720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El enlace no es un puntero: es el hash del contenido previo. Alterar un bloque invalida todo lo posterior en cascada.</a:t>
            </a:r>
            <a:endParaRPr lang="en-US" sz="1250" dirty="0"/>
          </a:p>
        </p:txBody>
      </p:sp>
      <p:sp>
        <p:nvSpPr>
          <p:cNvPr id="19" name="Text 15"/>
          <p:cNvSpPr/>
          <p:nvPr/>
        </p:nvSpPr>
        <p:spPr>
          <a:xfrm>
            <a:off x="566928" y="5120640"/>
            <a:ext cx="2788920" cy="365760"/>
          </a:xfrm>
          <a:prstGeom prst="rect">
            <a:avLst/>
          </a:prstGeom>
          <a:noFill/>
          <a:ln/>
        </p:spPr>
        <p:txBody>
          <a:bodyPr wrap="square" lIns="0" tIns="0" rIns="0" bIns="0" rtlCol="0" anchor="t"/>
          <a:lstStyle/>
          <a:p>
            <a:pPr indent="0" marL="0">
              <a:buNone/>
            </a:pPr>
            <a:r>
              <a:rPr lang="en-US" sz="1050" b="1" spc="120" kern="0" dirty="0">
                <a:solidFill>
                  <a:srgbClr val="A35604"/>
                </a:solidFill>
                <a:latin typeface="Courier New" pitchFamily="34" charset="0"/>
                <a:ea typeface="Courier New" pitchFamily="34" charset="-122"/>
                <a:cs typeface="Courier New" pitchFamily="34" charset="-120"/>
              </a:rPr>
              <a:t>REPLICADA EN PARES</a:t>
            </a:r>
            <a:endParaRPr lang="en-US" sz="1050" dirty="0"/>
          </a:p>
        </p:txBody>
      </p:sp>
      <p:sp>
        <p:nvSpPr>
          <p:cNvPr id="20" name="Text 16"/>
          <p:cNvSpPr/>
          <p:nvPr/>
        </p:nvSpPr>
        <p:spPr>
          <a:xfrm>
            <a:off x="3493008" y="5111496"/>
            <a:ext cx="8131759" cy="45720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No hay una copia: hay miles. Borrar el dato exigiría alcanzarlas todas simultáneamente.</a:t>
            </a:r>
            <a:endParaRPr lang="en-US" sz="1250" dirty="0"/>
          </a:p>
        </p:txBody>
      </p:sp>
      <p:sp>
        <p:nvSpPr>
          <p:cNvPr id="21" name="Text 17"/>
          <p:cNvSpPr/>
          <p:nvPr/>
        </p:nvSpPr>
        <p:spPr>
          <a:xfrm>
            <a:off x="566928" y="5623560"/>
            <a:ext cx="2788920" cy="365760"/>
          </a:xfrm>
          <a:prstGeom prst="rect">
            <a:avLst/>
          </a:prstGeom>
          <a:noFill/>
          <a:ln/>
        </p:spPr>
        <p:txBody>
          <a:bodyPr wrap="square" lIns="0" tIns="0" rIns="0" bIns="0" rtlCol="0" anchor="t"/>
          <a:lstStyle/>
          <a:p>
            <a:pPr indent="0" marL="0">
              <a:buNone/>
            </a:pPr>
            <a:r>
              <a:rPr lang="en-US" sz="1050" b="1" spc="120" kern="0" dirty="0">
                <a:solidFill>
                  <a:srgbClr val="A35604"/>
                </a:solidFill>
                <a:latin typeface="Courier New" pitchFamily="34" charset="0"/>
                <a:ea typeface="Courier New" pitchFamily="34" charset="-122"/>
                <a:cs typeface="Courier New" pitchFamily="34" charset="-120"/>
              </a:rPr>
              <a:t>CONSENSO BIZANTINO</a:t>
            </a:r>
            <a:endParaRPr lang="en-US" sz="1050" dirty="0"/>
          </a:p>
        </p:txBody>
      </p:sp>
      <p:sp>
        <p:nvSpPr>
          <p:cNvPr id="22" name="Text 18"/>
          <p:cNvSpPr/>
          <p:nvPr/>
        </p:nvSpPr>
        <p:spPr>
          <a:xfrm>
            <a:off x="3493008" y="5614416"/>
            <a:ext cx="8131759" cy="45720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El mecanismo por el que esas copias acuerdan la versión válida, aun si parte de los participantes miente.</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A.5 · LA CARGA ÚTIL Y LA CABECERA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600" dirty="0">
                <a:solidFill>
                  <a:srgbClr val="0F0F11"/>
                </a:solidFill>
                <a:latin typeface="Arial Black" pitchFamily="34" charset="0"/>
                <a:ea typeface="Arial Black" pitchFamily="34" charset="-122"/>
                <a:cs typeface="Arial Black" pitchFamily="34" charset="-120"/>
              </a:rPr>
              <a:t>ESTRUCTURA SIMPLIFICADA DE UN BLOQUE</a:t>
            </a:r>
            <a:endParaRPr lang="en-US" sz="26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01 · ¿QUÉ PROBLEMA RESUELVE REALMENTE BLOCKCHAIN?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26</a:t>
            </a:r>
            <a:endParaRPr lang="en-US" sz="900" dirty="0"/>
          </a:p>
        </p:txBody>
      </p:sp>
      <p:sp>
        <p:nvSpPr>
          <p:cNvPr id="8" name="Shape 5"/>
          <p:cNvSpPr/>
          <p:nvPr/>
        </p:nvSpPr>
        <p:spPr>
          <a:xfrm>
            <a:off x="566928" y="1783080"/>
            <a:ext cx="6400800" cy="3886200"/>
          </a:xfrm>
          <a:prstGeom prst="rect">
            <a:avLst/>
          </a:prstGeom>
          <a:solidFill>
            <a:srgbClr val="0F0F11"/>
          </a:solidFill>
          <a:ln w="22225">
            <a:solidFill>
              <a:srgbClr val="0F0F11"/>
            </a:solidFill>
            <a:prstDash val="solid"/>
          </a:ln>
          <a:effectLst>
            <a:outerShdw sx="100000" sy="100000" kx="0" ky="0" algn="bl" rotWithShape="0" blurRad="101600" dist="63500" dir="2700000">
              <a:srgbClr val="0F0F11">
                <a:alpha val="100000"/>
              </a:srgbClr>
            </a:outerShdw>
          </a:effectLst>
        </p:spPr>
      </p:sp>
      <p:sp>
        <p:nvSpPr>
          <p:cNvPr id="9" name="Text 6"/>
          <p:cNvSpPr/>
          <p:nvPr/>
        </p:nvSpPr>
        <p:spPr>
          <a:xfrm>
            <a:off x="841248" y="2011680"/>
            <a:ext cx="5852160" cy="3474720"/>
          </a:xfrm>
          <a:prstGeom prst="rect">
            <a:avLst/>
          </a:prstGeom>
          <a:noFill/>
          <a:ln/>
        </p:spPr>
        <p:txBody>
          <a:bodyPr wrap="square" lIns="0" tIns="0" rIns="0" bIns="0" rtlCol="0" anchor="t"/>
          <a:lstStyle/>
          <a:p>
            <a:pPr indent="0" marL="0">
              <a:lnSpc>
                <a:spcPct val="124000"/>
              </a:lnSpc>
              <a:buNone/>
            </a:pPr>
            <a:r>
              <a:rPr lang="en-US" sz="1150" dirty="0">
                <a:solidFill>
                  <a:srgbClr val="9A95A8"/>
                </a:solidFill>
                <a:latin typeface="Courier New" pitchFamily="34" charset="0"/>
                <a:ea typeface="Courier New" pitchFamily="34" charset="-122"/>
                <a:cs typeface="Courier New" pitchFamily="34" charset="-120"/>
              </a:rPr>
              <a:t>// Representación conceptual. Se implementa en la Sesión 3.
</a:t>
            </a:r>
            <a:pPr indent="0" marL="0">
              <a:lnSpc>
                <a:spcPct val="124000"/>
              </a:lnSpc>
              <a:buNone/>
            </a:pPr>
            <a:r>
              <a:rPr lang="en-US" sz="1150" dirty="0">
                <a:solidFill>
                  <a:srgbClr val="F4F2F7"/>
                </a:solidFill>
                <a:latin typeface="Courier New" pitchFamily="34" charset="0"/>
                <a:ea typeface="Courier New" pitchFamily="34" charset="-122"/>
                <a:cs typeface="Courier New" pitchFamily="34" charset="-120"/>
              </a:rPr>
              <a:t>Bloque {
</a:t>
            </a:r>
            <a:pPr indent="0" marL="0">
              <a:lnSpc>
                <a:spcPct val="124000"/>
              </a:lnSpc>
              <a:buNone/>
            </a:pPr>
            <a:r>
              <a:rPr lang="en-US" sz="1150" dirty="0">
                <a:solidFill>
                  <a:srgbClr val="F07F06"/>
                </a:solidFill>
                <a:latin typeface="Courier New" pitchFamily="34" charset="0"/>
                <a:ea typeface="Courier New" pitchFamily="34" charset="-122"/>
                <a:cs typeface="Courier New" pitchFamily="34" charset="-120"/>
              </a:rPr>
              <a:t>  cabecera {
</a:t>
            </a:r>
            <a:pPr indent="0" marL="0">
              <a:lnSpc>
                <a:spcPct val="124000"/>
              </a:lnSpc>
              <a:buNone/>
            </a:pPr>
            <a:r>
              <a:rPr lang="en-US" sz="1150" dirty="0">
                <a:solidFill>
                  <a:srgbClr val="F4F2F7"/>
                </a:solidFill>
                <a:latin typeface="Courier New" pitchFamily="34" charset="0"/>
                <a:ea typeface="Courier New" pitchFamily="34" charset="-122"/>
                <a:cs typeface="Courier New" pitchFamily="34" charset="-120"/>
              </a:rPr>
              <a:t>    hashBloqueAnterior : bytes32   </a:t>
            </a:r>
            <a:pPr indent="0" marL="0">
              <a:lnSpc>
                <a:spcPct val="124000"/>
              </a:lnSpc>
              <a:buNone/>
            </a:pPr>
            <a:r>
              <a:rPr lang="en-US" sz="1150" dirty="0">
                <a:solidFill>
                  <a:srgbClr val="9A95A8"/>
                </a:solidFill>
                <a:latin typeface="Courier New" pitchFamily="34" charset="0"/>
                <a:ea typeface="Courier New" pitchFamily="34" charset="-122"/>
                <a:cs typeface="Courier New" pitchFamily="34" charset="-120"/>
              </a:rPr>
              <a:t>// el enlace de la cadena
</a:t>
            </a:r>
            <a:pPr indent="0" marL="0">
              <a:lnSpc>
                <a:spcPct val="124000"/>
              </a:lnSpc>
              <a:buNone/>
            </a:pPr>
            <a:r>
              <a:rPr lang="en-US" sz="1150" dirty="0">
                <a:solidFill>
                  <a:srgbClr val="F4F2F7"/>
                </a:solidFill>
                <a:latin typeface="Courier New" pitchFamily="34" charset="0"/>
                <a:ea typeface="Courier New" pitchFamily="34" charset="-122"/>
                <a:cs typeface="Courier New" pitchFamily="34" charset="-120"/>
              </a:rPr>
              <a:t>    raizDeMerkle       : bytes32   </a:t>
            </a:r>
            <a:pPr indent="0" marL="0">
              <a:lnSpc>
                <a:spcPct val="124000"/>
              </a:lnSpc>
              <a:buNone/>
            </a:pPr>
            <a:r>
              <a:rPr lang="en-US" sz="1150" dirty="0">
                <a:solidFill>
                  <a:srgbClr val="9A95A8"/>
                </a:solidFill>
                <a:latin typeface="Courier New" pitchFamily="34" charset="0"/>
                <a:ea typeface="Courier New" pitchFamily="34" charset="-122"/>
                <a:cs typeface="Courier New" pitchFamily="34" charset="-120"/>
              </a:rPr>
              <a:t>// resumen de TODAS las tx
</a:t>
            </a:r>
            <a:pPr indent="0" marL="0">
              <a:lnSpc>
                <a:spcPct val="124000"/>
              </a:lnSpc>
              <a:buNone/>
            </a:pPr>
            <a:r>
              <a:rPr lang="en-US" sz="1150" dirty="0">
                <a:solidFill>
                  <a:srgbClr val="F4F2F7"/>
                </a:solidFill>
                <a:latin typeface="Courier New" pitchFamily="34" charset="0"/>
                <a:ea typeface="Courier New" pitchFamily="34" charset="-122"/>
                <a:cs typeface="Courier New" pitchFamily="34" charset="-120"/>
              </a:rPr>
              <a:t>    marcaDeTiempo      : uint      </a:t>
            </a:r>
            <a:pPr indent="0" marL="0">
              <a:lnSpc>
                <a:spcPct val="124000"/>
              </a:lnSpc>
              <a:buNone/>
            </a:pPr>
            <a:r>
              <a:rPr lang="en-US" sz="1150" dirty="0">
                <a:solidFill>
                  <a:srgbClr val="9A95A8"/>
                </a:solidFill>
                <a:latin typeface="Courier New" pitchFamily="34" charset="0"/>
                <a:ea typeface="Courier New" pitchFamily="34" charset="-122"/>
                <a:cs typeface="Courier New" pitchFamily="34" charset="-120"/>
              </a:rPr>
              <a:t>// cuándo se propuso
</a:t>
            </a:r>
            <a:pPr indent="0" marL="0">
              <a:lnSpc>
                <a:spcPct val="124000"/>
              </a:lnSpc>
              <a:buNone/>
            </a:pPr>
            <a:r>
              <a:rPr lang="en-US" sz="1150" dirty="0">
                <a:solidFill>
                  <a:srgbClr val="F4F2F7"/>
                </a:solidFill>
                <a:latin typeface="Courier New" pitchFamily="34" charset="0"/>
                <a:ea typeface="Courier New" pitchFamily="34" charset="-122"/>
                <a:cs typeface="Courier New" pitchFamily="34" charset="-120"/>
              </a:rPr>
              <a:t>    dificultad         : uint      </a:t>
            </a:r>
            <a:pPr indent="0" marL="0">
              <a:lnSpc>
                <a:spcPct val="124000"/>
              </a:lnSpc>
              <a:buNone/>
            </a:pPr>
            <a:r>
              <a:rPr lang="en-US" sz="1150" dirty="0">
                <a:solidFill>
                  <a:srgbClr val="9A95A8"/>
                </a:solidFill>
                <a:latin typeface="Courier New" pitchFamily="34" charset="0"/>
                <a:ea typeface="Courier New" pitchFamily="34" charset="-122"/>
                <a:cs typeface="Courier New" pitchFamily="34" charset="-120"/>
              </a:rPr>
              <a:t>// cuán costoso debía ser
</a:t>
            </a:r>
            <a:pPr indent="0" marL="0">
              <a:lnSpc>
                <a:spcPct val="124000"/>
              </a:lnSpc>
              <a:buNone/>
            </a:pPr>
            <a:r>
              <a:rPr lang="en-US" sz="1150" dirty="0">
                <a:solidFill>
                  <a:srgbClr val="F4F2F7"/>
                </a:solidFill>
                <a:latin typeface="Courier New" pitchFamily="34" charset="0"/>
                <a:ea typeface="Courier New" pitchFamily="34" charset="-122"/>
                <a:cs typeface="Courier New" pitchFamily="34" charset="-120"/>
              </a:rPr>
              <a:t>    nonce              : uint      </a:t>
            </a:r>
            <a:pPr indent="0" marL="0">
              <a:lnSpc>
                <a:spcPct val="124000"/>
              </a:lnSpc>
              <a:buNone/>
            </a:pPr>
            <a:r>
              <a:rPr lang="en-US" sz="1150" dirty="0">
                <a:solidFill>
                  <a:srgbClr val="9A95A8"/>
                </a:solidFill>
                <a:latin typeface="Courier New" pitchFamily="34" charset="0"/>
                <a:ea typeface="Courier New" pitchFamily="34" charset="-122"/>
                <a:cs typeface="Courier New" pitchFamily="34" charset="-120"/>
              </a:rPr>
              <a:t>// se busca por fuerza bruta
</a:t>
            </a:r>
            <a:pPr indent="0" marL="0">
              <a:lnSpc>
                <a:spcPct val="124000"/>
              </a:lnSpc>
              <a:buNone/>
            </a:pPr>
            <a:r>
              <a:rPr lang="en-US" sz="1150" dirty="0">
                <a:solidFill>
                  <a:srgbClr val="F07F06"/>
                </a:solidFill>
                <a:latin typeface="Courier New" pitchFamily="34" charset="0"/>
                <a:ea typeface="Courier New" pitchFamily="34" charset="-122"/>
                <a:cs typeface="Courier New" pitchFamily="34" charset="-120"/>
              </a:rPr>
              <a:t>  }
</a:t>
            </a:r>
            <a:pPr indent="0" marL="0">
              <a:lnSpc>
                <a:spcPct val="124000"/>
              </a:lnSpc>
              <a:buNone/>
            </a:pPr>
            <a:r>
              <a:rPr lang="en-US" sz="1150" dirty="0">
                <a:solidFill>
                  <a:srgbClr val="F07F06"/>
                </a:solidFill>
                <a:latin typeface="Courier New" pitchFamily="34" charset="0"/>
                <a:ea typeface="Courier New" pitchFamily="34" charset="-122"/>
                <a:cs typeface="Courier New" pitchFamily="34" charset="-120"/>
              </a:rPr>
              <a:t>  transacciones</a:t>
            </a:r>
            <a:pPr indent="0" marL="0">
              <a:lnSpc>
                <a:spcPct val="124000"/>
              </a:lnSpc>
              <a:buNone/>
            </a:pPr>
            <a:r>
              <a:rPr lang="en-US" sz="1150" dirty="0">
                <a:solidFill>
                  <a:srgbClr val="F4F2F7"/>
                </a:solidFill>
                <a:latin typeface="Courier New" pitchFamily="34" charset="0"/>
                <a:ea typeface="Courier New" pitchFamily="34" charset="-122"/>
                <a:cs typeface="Courier New" pitchFamily="34" charset="-120"/>
              </a:rPr>
              <a:t>: Transaccion[]   </a:t>
            </a:r>
            <a:pPr indent="0" marL="0">
              <a:lnSpc>
                <a:spcPct val="124000"/>
              </a:lnSpc>
              <a:buNone/>
            </a:pPr>
            <a:r>
              <a:rPr lang="en-US" sz="1150" dirty="0">
                <a:solidFill>
                  <a:srgbClr val="9A95A8"/>
                </a:solidFill>
                <a:latin typeface="Courier New" pitchFamily="34" charset="0"/>
                <a:ea typeface="Courier New" pitchFamily="34" charset="-122"/>
                <a:cs typeface="Courier New" pitchFamily="34" charset="-120"/>
              </a:rPr>
              <a:t>// la carga útil
</a:t>
            </a:r>
            <a:pPr indent="0" marL="0">
              <a:lnSpc>
                <a:spcPct val="124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p:txBody>
      </p:sp>
      <p:sp>
        <p:nvSpPr>
          <p:cNvPr id="10" name="Shape 7"/>
          <p:cNvSpPr/>
          <p:nvPr/>
        </p:nvSpPr>
        <p:spPr>
          <a:xfrm>
            <a:off x="7178040" y="1783080"/>
            <a:ext cx="4443984" cy="388620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11" name="Image 1" descr="preencoded.png">    </p:cNvPr>
          <p:cNvPicPr>
            <a:picLocks noChangeAspect="1"/>
          </p:cNvPicPr>
          <p:nvPr/>
        </p:nvPicPr>
        <p:blipFill>
          <a:blip r:embed="rId2"/>
          <a:stretch>
            <a:fillRect/>
          </a:stretch>
        </p:blipFill>
        <p:spPr>
          <a:xfrm>
            <a:off x="7415784" y="2002536"/>
            <a:ext cx="237744" cy="237744"/>
          </a:xfrm>
          <a:prstGeom prst="rect">
            <a:avLst/>
          </a:prstGeom>
        </p:spPr>
      </p:pic>
      <p:sp>
        <p:nvSpPr>
          <p:cNvPr id="12" name="Text 8"/>
          <p:cNvSpPr/>
          <p:nvPr/>
        </p:nvSpPr>
        <p:spPr>
          <a:xfrm>
            <a:off x="7744968" y="1975104"/>
            <a:ext cx="3621024"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OJO CON LA PALABRA «NONCE»</a:t>
            </a:r>
            <a:endParaRPr lang="en-US" sz="950" dirty="0"/>
          </a:p>
        </p:txBody>
      </p:sp>
      <p:sp>
        <p:nvSpPr>
          <p:cNvPr id="13" name="Text 9"/>
          <p:cNvSpPr/>
          <p:nvPr/>
        </p:nvSpPr>
        <p:spPr>
          <a:xfrm>
            <a:off x="7415784" y="2368296"/>
            <a:ext cx="3968496" cy="100584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NONCE viene de «number used once», número usado una sola vez. Es el campo que se recorre por fuerza bruta hasta que el hash del bloque cumpla la condición de dificultad.</a:t>
            </a:r>
            <a:endParaRPr lang="en-US" sz="1300" dirty="0"/>
          </a:p>
        </p:txBody>
      </p:sp>
      <p:sp>
        <p:nvSpPr>
          <p:cNvPr id="14" name="Text 10"/>
          <p:cNvSpPr/>
          <p:nvPr/>
        </p:nvSpPr>
        <p:spPr>
          <a:xfrm>
            <a:off x="7415784" y="3465576"/>
            <a:ext cx="3968496" cy="123444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El minero no «resuelve un problema matemático útil». Prueba un nonce, calcula el hash, verifica si empieza con los ceros requeridos y si no, incrementa y repite. Miles de billones de veces por segundo.</a:t>
            </a:r>
            <a:endParaRPr lang="en-US" sz="1300" dirty="0"/>
          </a:p>
        </p:txBody>
      </p:sp>
      <p:sp>
        <p:nvSpPr>
          <p:cNvPr id="15" name="Text 11"/>
          <p:cNvSpPr/>
          <p:nvPr/>
        </p:nvSpPr>
        <p:spPr>
          <a:xfrm>
            <a:off x="7415784" y="4672584"/>
            <a:ext cx="3968496" cy="914400"/>
          </a:xfrm>
          <a:prstGeom prst="rect">
            <a:avLst/>
          </a:prstGeom>
          <a:noFill/>
          <a:ln/>
        </p:spPr>
        <p:txBody>
          <a:bodyPr wrap="square" lIns="0" tIns="0" rIns="0" bIns="0" rtlCol="0" anchor="t"/>
          <a:lstStyle/>
          <a:p>
            <a:pPr indent="0" marL="0">
              <a:lnSpc>
                <a:spcPct val="124000"/>
              </a:lnSpc>
              <a:buNone/>
            </a:pPr>
            <a:r>
              <a:rPr lang="en-US" sz="1250" dirty="0">
                <a:solidFill>
                  <a:srgbClr val="0F0F11"/>
                </a:solidFill>
                <a:latin typeface="Arial" pitchFamily="34" charset="0"/>
                <a:ea typeface="Arial" pitchFamily="34" charset="-122"/>
                <a:cs typeface="Arial" pitchFamily="34" charset="-120"/>
              </a:rPr>
              <a:t>En Ethereum la misma palabra designa además un contador de transacciones por cuenta, que no tiene nada que ver con el minado. Dos conceptos distintos, un solo nombre.</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A.5 · FIGURA 2</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200" dirty="0">
                <a:solidFill>
                  <a:srgbClr val="0F0F11"/>
                </a:solidFill>
                <a:latin typeface="Arial Black" pitchFamily="34" charset="0"/>
                <a:ea typeface="Arial Black" pitchFamily="34" charset="-122"/>
                <a:cs typeface="Arial Black" pitchFamily="34" charset="-120"/>
              </a:rPr>
              <a:t>EL ENLACE NO ES UN PUNTERO: ES EL HASH DEL CONTENIDO PREVIO</a:t>
            </a:r>
            <a:endParaRPr lang="en-US" sz="22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01 · ¿QUÉ PROBLEMA RESUELVE REALMENTE BLOCKCHAIN?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27</a:t>
            </a:r>
            <a:endParaRPr lang="en-US" sz="900" dirty="0"/>
          </a:p>
        </p:txBody>
      </p:sp>
      <p:sp>
        <p:nvSpPr>
          <p:cNvPr id="8" name="Shape 5"/>
          <p:cNvSpPr/>
          <p:nvPr/>
        </p:nvSpPr>
        <p:spPr>
          <a:xfrm>
            <a:off x="566928" y="1874520"/>
            <a:ext cx="3291840" cy="2788920"/>
          </a:xfrm>
          <a:prstGeom prst="rect">
            <a:avLst/>
          </a:prstGeom>
          <a:solidFill>
            <a:srgbClr val="FAF9FB"/>
          </a:solidFill>
          <a:ln w="22225">
            <a:solidFill>
              <a:srgbClr val="0F0F11"/>
            </a:solidFill>
            <a:prstDash val="solid"/>
          </a:ln>
        </p:spPr>
      </p:sp>
      <p:sp>
        <p:nvSpPr>
          <p:cNvPr id="9" name="Shape 6"/>
          <p:cNvSpPr/>
          <p:nvPr/>
        </p:nvSpPr>
        <p:spPr>
          <a:xfrm>
            <a:off x="566928" y="1874520"/>
            <a:ext cx="3291840" cy="384048"/>
          </a:xfrm>
          <a:prstGeom prst="rect">
            <a:avLst/>
          </a:prstGeom>
          <a:solidFill>
            <a:srgbClr val="0F0F11"/>
          </a:solidFill>
          <a:ln w="22225">
            <a:solidFill>
              <a:srgbClr val="0F0F11"/>
            </a:solidFill>
            <a:prstDash val="solid"/>
          </a:ln>
        </p:spPr>
      </p:sp>
      <p:sp>
        <p:nvSpPr>
          <p:cNvPr id="10" name="Text 7"/>
          <p:cNvSpPr/>
          <p:nvPr/>
        </p:nvSpPr>
        <p:spPr>
          <a:xfrm>
            <a:off x="731520" y="1874520"/>
            <a:ext cx="2962656" cy="384048"/>
          </a:xfrm>
          <a:prstGeom prst="rect">
            <a:avLst/>
          </a:prstGeom>
          <a:noFill/>
          <a:ln/>
        </p:spPr>
        <p:txBody>
          <a:bodyPr wrap="square" lIns="0" tIns="0" rIns="0" bIns="0" rtlCol="0" anchor="ctr"/>
          <a:lstStyle/>
          <a:p>
            <a:pPr indent="0" marL="0">
              <a:buNone/>
            </a:pPr>
            <a:r>
              <a:rPr lang="en-US" sz="1100" b="1" spc="130" kern="0" dirty="0">
                <a:solidFill>
                  <a:srgbClr val="FFFFFF"/>
                </a:solidFill>
                <a:latin typeface="Courier New" pitchFamily="34" charset="0"/>
                <a:ea typeface="Courier New" pitchFamily="34" charset="-122"/>
                <a:cs typeface="Courier New" pitchFamily="34" charset="-120"/>
              </a:rPr>
              <a:t>BLOQUE 120</a:t>
            </a:r>
            <a:endParaRPr lang="en-US" sz="1100" dirty="0"/>
          </a:p>
        </p:txBody>
      </p:sp>
      <p:sp>
        <p:nvSpPr>
          <p:cNvPr id="11" name="Text 8"/>
          <p:cNvSpPr/>
          <p:nvPr/>
        </p:nvSpPr>
        <p:spPr>
          <a:xfrm>
            <a:off x="731520" y="2404872"/>
            <a:ext cx="2962656" cy="237744"/>
          </a:xfrm>
          <a:prstGeom prst="rect">
            <a:avLst/>
          </a:prstGeom>
          <a:noFill/>
          <a:ln/>
        </p:spPr>
        <p:txBody>
          <a:bodyPr wrap="square" lIns="0" tIns="0" rIns="0" bIns="0" rtlCol="0" anchor="ctr"/>
          <a:lstStyle/>
          <a:p>
            <a:pPr indent="0" marL="0">
              <a:buNone/>
            </a:pPr>
            <a:r>
              <a:rPr lang="en-US" sz="900" spc="110" kern="0" dirty="0">
                <a:solidFill>
                  <a:srgbClr val="6F6B80"/>
                </a:solidFill>
                <a:latin typeface="Courier New" pitchFamily="34" charset="0"/>
                <a:ea typeface="Courier New" pitchFamily="34" charset="-122"/>
                <a:cs typeface="Courier New" pitchFamily="34" charset="-120"/>
              </a:rPr>
              <a:t>HASH ANTERIOR</a:t>
            </a:r>
            <a:endParaRPr lang="en-US" sz="900" dirty="0"/>
          </a:p>
        </p:txBody>
      </p:sp>
      <p:sp>
        <p:nvSpPr>
          <p:cNvPr id="12" name="Text 9"/>
          <p:cNvSpPr/>
          <p:nvPr/>
        </p:nvSpPr>
        <p:spPr>
          <a:xfrm>
            <a:off x="731520" y="2642616"/>
            <a:ext cx="2962656" cy="274320"/>
          </a:xfrm>
          <a:prstGeom prst="rect">
            <a:avLst/>
          </a:prstGeom>
          <a:noFill/>
          <a:ln/>
        </p:spPr>
        <p:txBody>
          <a:bodyPr wrap="square" lIns="0" tIns="0" rIns="0" bIns="0" rtlCol="0" anchor="ctr"/>
          <a:lstStyle/>
          <a:p>
            <a:pPr indent="0" marL="0">
              <a:buNone/>
            </a:pPr>
            <a:r>
              <a:rPr lang="en-US" sz="1200" dirty="0">
                <a:solidFill>
                  <a:srgbClr val="3A3844"/>
                </a:solidFill>
                <a:latin typeface="Courier New" pitchFamily="34" charset="0"/>
                <a:ea typeface="Courier New" pitchFamily="34" charset="-122"/>
                <a:cs typeface="Courier New" pitchFamily="34" charset="-120"/>
              </a:rPr>
              <a:t>0x4c1e…9ab2</a:t>
            </a:r>
            <a:endParaRPr lang="en-US" sz="1200" dirty="0"/>
          </a:p>
        </p:txBody>
      </p:sp>
      <p:sp>
        <p:nvSpPr>
          <p:cNvPr id="13" name="Shape 10"/>
          <p:cNvSpPr/>
          <p:nvPr/>
        </p:nvSpPr>
        <p:spPr>
          <a:xfrm>
            <a:off x="566928" y="2953512"/>
            <a:ext cx="3291840" cy="0"/>
          </a:xfrm>
          <a:prstGeom prst="line">
            <a:avLst/>
          </a:prstGeom>
          <a:noFill/>
          <a:ln w="12700">
            <a:solidFill>
              <a:srgbClr val="D9D6E0"/>
            </a:solidFill>
            <a:prstDash val="solid"/>
          </a:ln>
        </p:spPr>
      </p:sp>
      <p:sp>
        <p:nvSpPr>
          <p:cNvPr id="14" name="Text 11"/>
          <p:cNvSpPr/>
          <p:nvPr/>
        </p:nvSpPr>
        <p:spPr>
          <a:xfrm>
            <a:off x="731520" y="3163824"/>
            <a:ext cx="2962656" cy="237744"/>
          </a:xfrm>
          <a:prstGeom prst="rect">
            <a:avLst/>
          </a:prstGeom>
          <a:noFill/>
          <a:ln/>
        </p:spPr>
        <p:txBody>
          <a:bodyPr wrap="square" lIns="0" tIns="0" rIns="0" bIns="0" rtlCol="0" anchor="ctr"/>
          <a:lstStyle/>
          <a:p>
            <a:pPr indent="0" marL="0">
              <a:buNone/>
            </a:pPr>
            <a:r>
              <a:rPr lang="en-US" sz="900" spc="110" kern="0" dirty="0">
                <a:solidFill>
                  <a:srgbClr val="6F6B80"/>
                </a:solidFill>
                <a:latin typeface="Courier New" pitchFamily="34" charset="0"/>
                <a:ea typeface="Courier New" pitchFamily="34" charset="-122"/>
                <a:cs typeface="Courier New" pitchFamily="34" charset="-120"/>
              </a:rPr>
              <a:t>TRANSACCIONES</a:t>
            </a:r>
            <a:endParaRPr lang="en-US" sz="900" dirty="0"/>
          </a:p>
        </p:txBody>
      </p:sp>
      <p:sp>
        <p:nvSpPr>
          <p:cNvPr id="15" name="Text 12"/>
          <p:cNvSpPr/>
          <p:nvPr/>
        </p:nvSpPr>
        <p:spPr>
          <a:xfrm>
            <a:off x="731520" y="3401568"/>
            <a:ext cx="2962656" cy="274320"/>
          </a:xfrm>
          <a:prstGeom prst="rect">
            <a:avLst/>
          </a:prstGeom>
          <a:noFill/>
          <a:ln/>
        </p:spPr>
        <p:txBody>
          <a:bodyPr wrap="square" lIns="0" tIns="0" rIns="0" bIns="0" rtlCol="0" anchor="ctr"/>
          <a:lstStyle/>
          <a:p>
            <a:pPr indent="0" marL="0">
              <a:buNone/>
            </a:pPr>
            <a:r>
              <a:rPr lang="en-US" sz="1200" dirty="0">
                <a:solidFill>
                  <a:srgbClr val="3A3844"/>
                </a:solidFill>
                <a:latin typeface="Courier New" pitchFamily="34" charset="0"/>
                <a:ea typeface="Courier New" pitchFamily="34" charset="-122"/>
                <a:cs typeface="Courier New" pitchFamily="34" charset="-120"/>
              </a:rPr>
              <a:t>raíz de Merkle</a:t>
            </a:r>
            <a:endParaRPr lang="en-US" sz="1200" dirty="0"/>
          </a:p>
        </p:txBody>
      </p:sp>
      <p:sp>
        <p:nvSpPr>
          <p:cNvPr id="16" name="Shape 13"/>
          <p:cNvSpPr/>
          <p:nvPr/>
        </p:nvSpPr>
        <p:spPr>
          <a:xfrm>
            <a:off x="566928" y="3712464"/>
            <a:ext cx="3291840" cy="0"/>
          </a:xfrm>
          <a:prstGeom prst="line">
            <a:avLst/>
          </a:prstGeom>
          <a:noFill/>
          <a:ln w="12700">
            <a:solidFill>
              <a:srgbClr val="D9D6E0"/>
            </a:solidFill>
            <a:prstDash val="solid"/>
          </a:ln>
        </p:spPr>
      </p:sp>
      <p:sp>
        <p:nvSpPr>
          <p:cNvPr id="17" name="Text 14"/>
          <p:cNvSpPr/>
          <p:nvPr/>
        </p:nvSpPr>
        <p:spPr>
          <a:xfrm>
            <a:off x="731520" y="3922776"/>
            <a:ext cx="2962656" cy="237744"/>
          </a:xfrm>
          <a:prstGeom prst="rect">
            <a:avLst/>
          </a:prstGeom>
          <a:noFill/>
          <a:ln/>
        </p:spPr>
        <p:txBody>
          <a:bodyPr wrap="square" lIns="0" tIns="0" rIns="0" bIns="0" rtlCol="0" anchor="ctr"/>
          <a:lstStyle/>
          <a:p>
            <a:pPr indent="0" marL="0">
              <a:buNone/>
            </a:pPr>
            <a:r>
              <a:rPr lang="en-US" sz="900" spc="110" kern="0" dirty="0">
                <a:solidFill>
                  <a:srgbClr val="6F6B80"/>
                </a:solidFill>
                <a:latin typeface="Courier New" pitchFamily="34" charset="0"/>
                <a:ea typeface="Courier New" pitchFamily="34" charset="-122"/>
                <a:cs typeface="Courier New" pitchFamily="34" charset="-120"/>
              </a:rPr>
              <a:t>HASH DE ESTE BLOQUE</a:t>
            </a:r>
            <a:endParaRPr lang="en-US" sz="900" dirty="0"/>
          </a:p>
        </p:txBody>
      </p:sp>
      <p:sp>
        <p:nvSpPr>
          <p:cNvPr id="18" name="Text 15"/>
          <p:cNvSpPr/>
          <p:nvPr/>
        </p:nvSpPr>
        <p:spPr>
          <a:xfrm>
            <a:off x="731520" y="4160520"/>
            <a:ext cx="2962656" cy="274320"/>
          </a:xfrm>
          <a:prstGeom prst="rect">
            <a:avLst/>
          </a:prstGeom>
          <a:noFill/>
          <a:ln/>
        </p:spPr>
        <p:txBody>
          <a:bodyPr wrap="square" lIns="0" tIns="0" rIns="0" bIns="0" rtlCol="0" anchor="ctr"/>
          <a:lstStyle/>
          <a:p>
            <a:pPr indent="0" marL="0">
              <a:buNone/>
            </a:pPr>
            <a:r>
              <a:rPr lang="en-US" sz="1200" b="1" dirty="0">
                <a:solidFill>
                  <a:srgbClr val="0F0F11"/>
                </a:solidFill>
                <a:latin typeface="Courier New" pitchFamily="34" charset="0"/>
                <a:ea typeface="Courier New" pitchFamily="34" charset="-122"/>
                <a:cs typeface="Courier New" pitchFamily="34" charset="-120"/>
              </a:rPr>
              <a:t>0x8f3a…c41d</a:t>
            </a:r>
            <a:endParaRPr lang="en-US" sz="1200" dirty="0"/>
          </a:p>
        </p:txBody>
      </p:sp>
      <p:sp>
        <p:nvSpPr>
          <p:cNvPr id="19" name="Shape 16"/>
          <p:cNvSpPr/>
          <p:nvPr/>
        </p:nvSpPr>
        <p:spPr>
          <a:xfrm>
            <a:off x="4453128" y="1874520"/>
            <a:ext cx="3291840" cy="2788920"/>
          </a:xfrm>
          <a:prstGeom prst="rect">
            <a:avLst/>
          </a:prstGeom>
          <a:solidFill>
            <a:srgbClr val="FAF9FB"/>
          </a:solidFill>
          <a:ln w="22225">
            <a:solidFill>
              <a:srgbClr val="0F0F11"/>
            </a:solidFill>
            <a:prstDash val="solid"/>
          </a:ln>
        </p:spPr>
      </p:sp>
      <p:sp>
        <p:nvSpPr>
          <p:cNvPr id="20" name="Shape 17"/>
          <p:cNvSpPr/>
          <p:nvPr/>
        </p:nvSpPr>
        <p:spPr>
          <a:xfrm>
            <a:off x="4453128" y="1874520"/>
            <a:ext cx="3291840" cy="384048"/>
          </a:xfrm>
          <a:prstGeom prst="rect">
            <a:avLst/>
          </a:prstGeom>
          <a:solidFill>
            <a:srgbClr val="0F0F11"/>
          </a:solidFill>
          <a:ln w="22225">
            <a:solidFill>
              <a:srgbClr val="0F0F11"/>
            </a:solidFill>
            <a:prstDash val="solid"/>
          </a:ln>
        </p:spPr>
      </p:sp>
      <p:sp>
        <p:nvSpPr>
          <p:cNvPr id="21" name="Text 18"/>
          <p:cNvSpPr/>
          <p:nvPr/>
        </p:nvSpPr>
        <p:spPr>
          <a:xfrm>
            <a:off x="4617720" y="1874520"/>
            <a:ext cx="2962656" cy="384048"/>
          </a:xfrm>
          <a:prstGeom prst="rect">
            <a:avLst/>
          </a:prstGeom>
          <a:noFill/>
          <a:ln/>
        </p:spPr>
        <p:txBody>
          <a:bodyPr wrap="square" lIns="0" tIns="0" rIns="0" bIns="0" rtlCol="0" anchor="ctr"/>
          <a:lstStyle/>
          <a:p>
            <a:pPr indent="0" marL="0">
              <a:buNone/>
            </a:pPr>
            <a:r>
              <a:rPr lang="en-US" sz="1100" b="1" spc="130" kern="0" dirty="0">
                <a:solidFill>
                  <a:srgbClr val="FFFFFF"/>
                </a:solidFill>
                <a:latin typeface="Courier New" pitchFamily="34" charset="0"/>
                <a:ea typeface="Courier New" pitchFamily="34" charset="-122"/>
                <a:cs typeface="Courier New" pitchFamily="34" charset="-120"/>
              </a:rPr>
              <a:t>BLOQUE 121</a:t>
            </a:r>
            <a:endParaRPr lang="en-US" sz="1100" dirty="0"/>
          </a:p>
        </p:txBody>
      </p:sp>
      <p:sp>
        <p:nvSpPr>
          <p:cNvPr id="22" name="Text 19"/>
          <p:cNvSpPr/>
          <p:nvPr/>
        </p:nvSpPr>
        <p:spPr>
          <a:xfrm>
            <a:off x="4617720" y="2404872"/>
            <a:ext cx="2962656" cy="237744"/>
          </a:xfrm>
          <a:prstGeom prst="rect">
            <a:avLst/>
          </a:prstGeom>
          <a:noFill/>
          <a:ln/>
        </p:spPr>
        <p:txBody>
          <a:bodyPr wrap="square" lIns="0" tIns="0" rIns="0" bIns="0" rtlCol="0" anchor="ctr"/>
          <a:lstStyle/>
          <a:p>
            <a:pPr indent="0" marL="0">
              <a:buNone/>
            </a:pPr>
            <a:r>
              <a:rPr lang="en-US" sz="900" spc="110" kern="0" dirty="0">
                <a:solidFill>
                  <a:srgbClr val="6F6B80"/>
                </a:solidFill>
                <a:latin typeface="Courier New" pitchFamily="34" charset="0"/>
                <a:ea typeface="Courier New" pitchFamily="34" charset="-122"/>
                <a:cs typeface="Courier New" pitchFamily="34" charset="-120"/>
              </a:rPr>
              <a:t>HASH ANTERIOR</a:t>
            </a:r>
            <a:endParaRPr lang="en-US" sz="900" dirty="0"/>
          </a:p>
        </p:txBody>
      </p:sp>
      <p:sp>
        <p:nvSpPr>
          <p:cNvPr id="23" name="Text 20"/>
          <p:cNvSpPr/>
          <p:nvPr/>
        </p:nvSpPr>
        <p:spPr>
          <a:xfrm>
            <a:off x="4617720" y="2642616"/>
            <a:ext cx="2962656" cy="274320"/>
          </a:xfrm>
          <a:prstGeom prst="rect">
            <a:avLst/>
          </a:prstGeom>
          <a:noFill/>
          <a:ln/>
        </p:spPr>
        <p:txBody>
          <a:bodyPr wrap="square" lIns="0" tIns="0" rIns="0" bIns="0" rtlCol="0" anchor="ctr"/>
          <a:lstStyle/>
          <a:p>
            <a:pPr indent="0" marL="0">
              <a:buNone/>
            </a:pPr>
            <a:r>
              <a:rPr lang="en-US" sz="1200" dirty="0">
                <a:solidFill>
                  <a:srgbClr val="3A3844"/>
                </a:solidFill>
                <a:latin typeface="Courier New" pitchFamily="34" charset="0"/>
                <a:ea typeface="Courier New" pitchFamily="34" charset="-122"/>
                <a:cs typeface="Courier New" pitchFamily="34" charset="-120"/>
              </a:rPr>
              <a:t>0x8f3a…c41d</a:t>
            </a:r>
            <a:endParaRPr lang="en-US" sz="1200" dirty="0"/>
          </a:p>
        </p:txBody>
      </p:sp>
      <p:sp>
        <p:nvSpPr>
          <p:cNvPr id="24" name="Shape 21"/>
          <p:cNvSpPr/>
          <p:nvPr/>
        </p:nvSpPr>
        <p:spPr>
          <a:xfrm>
            <a:off x="4453128" y="2953512"/>
            <a:ext cx="3291840" cy="0"/>
          </a:xfrm>
          <a:prstGeom prst="line">
            <a:avLst/>
          </a:prstGeom>
          <a:noFill/>
          <a:ln w="12700">
            <a:solidFill>
              <a:srgbClr val="D9D6E0"/>
            </a:solidFill>
            <a:prstDash val="solid"/>
          </a:ln>
        </p:spPr>
      </p:sp>
      <p:sp>
        <p:nvSpPr>
          <p:cNvPr id="25" name="Text 22"/>
          <p:cNvSpPr/>
          <p:nvPr/>
        </p:nvSpPr>
        <p:spPr>
          <a:xfrm>
            <a:off x="4617720" y="3163824"/>
            <a:ext cx="2962656" cy="237744"/>
          </a:xfrm>
          <a:prstGeom prst="rect">
            <a:avLst/>
          </a:prstGeom>
          <a:noFill/>
          <a:ln/>
        </p:spPr>
        <p:txBody>
          <a:bodyPr wrap="square" lIns="0" tIns="0" rIns="0" bIns="0" rtlCol="0" anchor="ctr"/>
          <a:lstStyle/>
          <a:p>
            <a:pPr indent="0" marL="0">
              <a:buNone/>
            </a:pPr>
            <a:r>
              <a:rPr lang="en-US" sz="900" spc="110" kern="0" dirty="0">
                <a:solidFill>
                  <a:srgbClr val="6F6B80"/>
                </a:solidFill>
                <a:latin typeface="Courier New" pitchFamily="34" charset="0"/>
                <a:ea typeface="Courier New" pitchFamily="34" charset="-122"/>
                <a:cs typeface="Courier New" pitchFamily="34" charset="-120"/>
              </a:rPr>
              <a:t>TRANSACCIONES</a:t>
            </a:r>
            <a:endParaRPr lang="en-US" sz="900" dirty="0"/>
          </a:p>
        </p:txBody>
      </p:sp>
      <p:sp>
        <p:nvSpPr>
          <p:cNvPr id="26" name="Text 23"/>
          <p:cNvSpPr/>
          <p:nvPr/>
        </p:nvSpPr>
        <p:spPr>
          <a:xfrm>
            <a:off x="4617720" y="3401568"/>
            <a:ext cx="2962656" cy="274320"/>
          </a:xfrm>
          <a:prstGeom prst="rect">
            <a:avLst/>
          </a:prstGeom>
          <a:noFill/>
          <a:ln/>
        </p:spPr>
        <p:txBody>
          <a:bodyPr wrap="square" lIns="0" tIns="0" rIns="0" bIns="0" rtlCol="0" anchor="ctr"/>
          <a:lstStyle/>
          <a:p>
            <a:pPr indent="0" marL="0">
              <a:buNone/>
            </a:pPr>
            <a:r>
              <a:rPr lang="en-US" sz="1200" dirty="0">
                <a:solidFill>
                  <a:srgbClr val="3A3844"/>
                </a:solidFill>
                <a:latin typeface="Courier New" pitchFamily="34" charset="0"/>
                <a:ea typeface="Courier New" pitchFamily="34" charset="-122"/>
                <a:cs typeface="Courier New" pitchFamily="34" charset="-120"/>
              </a:rPr>
              <a:t>raíz de Merkle</a:t>
            </a:r>
            <a:endParaRPr lang="en-US" sz="1200" dirty="0"/>
          </a:p>
        </p:txBody>
      </p:sp>
      <p:sp>
        <p:nvSpPr>
          <p:cNvPr id="27" name="Shape 24"/>
          <p:cNvSpPr/>
          <p:nvPr/>
        </p:nvSpPr>
        <p:spPr>
          <a:xfrm>
            <a:off x="4453128" y="3712464"/>
            <a:ext cx="3291840" cy="0"/>
          </a:xfrm>
          <a:prstGeom prst="line">
            <a:avLst/>
          </a:prstGeom>
          <a:noFill/>
          <a:ln w="12700">
            <a:solidFill>
              <a:srgbClr val="D9D6E0"/>
            </a:solidFill>
            <a:prstDash val="solid"/>
          </a:ln>
        </p:spPr>
      </p:sp>
      <p:sp>
        <p:nvSpPr>
          <p:cNvPr id="28" name="Text 25"/>
          <p:cNvSpPr/>
          <p:nvPr/>
        </p:nvSpPr>
        <p:spPr>
          <a:xfrm>
            <a:off x="4617720" y="3922776"/>
            <a:ext cx="2962656" cy="237744"/>
          </a:xfrm>
          <a:prstGeom prst="rect">
            <a:avLst/>
          </a:prstGeom>
          <a:noFill/>
          <a:ln/>
        </p:spPr>
        <p:txBody>
          <a:bodyPr wrap="square" lIns="0" tIns="0" rIns="0" bIns="0" rtlCol="0" anchor="ctr"/>
          <a:lstStyle/>
          <a:p>
            <a:pPr indent="0" marL="0">
              <a:buNone/>
            </a:pPr>
            <a:r>
              <a:rPr lang="en-US" sz="900" spc="110" kern="0" dirty="0">
                <a:solidFill>
                  <a:srgbClr val="6F6B80"/>
                </a:solidFill>
                <a:latin typeface="Courier New" pitchFamily="34" charset="0"/>
                <a:ea typeface="Courier New" pitchFamily="34" charset="-122"/>
                <a:cs typeface="Courier New" pitchFamily="34" charset="-120"/>
              </a:rPr>
              <a:t>HASH DE ESTE BLOQUE</a:t>
            </a:r>
            <a:endParaRPr lang="en-US" sz="900" dirty="0"/>
          </a:p>
        </p:txBody>
      </p:sp>
      <p:sp>
        <p:nvSpPr>
          <p:cNvPr id="29" name="Text 26"/>
          <p:cNvSpPr/>
          <p:nvPr/>
        </p:nvSpPr>
        <p:spPr>
          <a:xfrm>
            <a:off x="4617720" y="4160520"/>
            <a:ext cx="2962656" cy="274320"/>
          </a:xfrm>
          <a:prstGeom prst="rect">
            <a:avLst/>
          </a:prstGeom>
          <a:noFill/>
          <a:ln/>
        </p:spPr>
        <p:txBody>
          <a:bodyPr wrap="square" lIns="0" tIns="0" rIns="0" bIns="0" rtlCol="0" anchor="ctr"/>
          <a:lstStyle/>
          <a:p>
            <a:pPr indent="0" marL="0">
              <a:buNone/>
            </a:pPr>
            <a:r>
              <a:rPr lang="en-US" sz="1200" b="1" dirty="0">
                <a:solidFill>
                  <a:srgbClr val="0F0F11"/>
                </a:solidFill>
                <a:latin typeface="Courier New" pitchFamily="34" charset="0"/>
                <a:ea typeface="Courier New" pitchFamily="34" charset="-122"/>
                <a:cs typeface="Courier New" pitchFamily="34" charset="-120"/>
              </a:rPr>
              <a:t>0x21b7…0f5e</a:t>
            </a:r>
            <a:endParaRPr lang="en-US" sz="1200" dirty="0"/>
          </a:p>
        </p:txBody>
      </p:sp>
      <p:sp>
        <p:nvSpPr>
          <p:cNvPr id="30" name="Shape 27"/>
          <p:cNvSpPr/>
          <p:nvPr/>
        </p:nvSpPr>
        <p:spPr>
          <a:xfrm>
            <a:off x="8339328" y="1874520"/>
            <a:ext cx="3291840" cy="2788920"/>
          </a:xfrm>
          <a:prstGeom prst="rect">
            <a:avLst/>
          </a:prstGeom>
          <a:solidFill>
            <a:srgbClr val="FAF9FB"/>
          </a:solidFill>
          <a:ln w="22225">
            <a:solidFill>
              <a:srgbClr val="0F0F11"/>
            </a:solidFill>
            <a:prstDash val="solid"/>
          </a:ln>
        </p:spPr>
      </p:sp>
      <p:sp>
        <p:nvSpPr>
          <p:cNvPr id="31" name="Shape 28"/>
          <p:cNvSpPr/>
          <p:nvPr/>
        </p:nvSpPr>
        <p:spPr>
          <a:xfrm>
            <a:off x="8339328" y="1874520"/>
            <a:ext cx="3291840" cy="384048"/>
          </a:xfrm>
          <a:prstGeom prst="rect">
            <a:avLst/>
          </a:prstGeom>
          <a:solidFill>
            <a:srgbClr val="0F0F11"/>
          </a:solidFill>
          <a:ln w="22225">
            <a:solidFill>
              <a:srgbClr val="0F0F11"/>
            </a:solidFill>
            <a:prstDash val="solid"/>
          </a:ln>
        </p:spPr>
      </p:sp>
      <p:sp>
        <p:nvSpPr>
          <p:cNvPr id="32" name="Text 29"/>
          <p:cNvSpPr/>
          <p:nvPr/>
        </p:nvSpPr>
        <p:spPr>
          <a:xfrm>
            <a:off x="8503920" y="1874520"/>
            <a:ext cx="2962656" cy="384048"/>
          </a:xfrm>
          <a:prstGeom prst="rect">
            <a:avLst/>
          </a:prstGeom>
          <a:noFill/>
          <a:ln/>
        </p:spPr>
        <p:txBody>
          <a:bodyPr wrap="square" lIns="0" tIns="0" rIns="0" bIns="0" rtlCol="0" anchor="ctr"/>
          <a:lstStyle/>
          <a:p>
            <a:pPr indent="0" marL="0">
              <a:buNone/>
            </a:pPr>
            <a:r>
              <a:rPr lang="en-US" sz="1100" b="1" spc="130" kern="0" dirty="0">
                <a:solidFill>
                  <a:srgbClr val="FFFFFF"/>
                </a:solidFill>
                <a:latin typeface="Courier New" pitchFamily="34" charset="0"/>
                <a:ea typeface="Courier New" pitchFamily="34" charset="-122"/>
                <a:cs typeface="Courier New" pitchFamily="34" charset="-120"/>
              </a:rPr>
              <a:t>BLOQUE 122</a:t>
            </a:r>
            <a:endParaRPr lang="en-US" sz="1100" dirty="0"/>
          </a:p>
        </p:txBody>
      </p:sp>
      <p:sp>
        <p:nvSpPr>
          <p:cNvPr id="33" name="Text 30"/>
          <p:cNvSpPr/>
          <p:nvPr/>
        </p:nvSpPr>
        <p:spPr>
          <a:xfrm>
            <a:off x="8503920" y="2404872"/>
            <a:ext cx="2962656" cy="237744"/>
          </a:xfrm>
          <a:prstGeom prst="rect">
            <a:avLst/>
          </a:prstGeom>
          <a:noFill/>
          <a:ln/>
        </p:spPr>
        <p:txBody>
          <a:bodyPr wrap="square" lIns="0" tIns="0" rIns="0" bIns="0" rtlCol="0" anchor="ctr"/>
          <a:lstStyle/>
          <a:p>
            <a:pPr indent="0" marL="0">
              <a:buNone/>
            </a:pPr>
            <a:r>
              <a:rPr lang="en-US" sz="900" spc="110" kern="0" dirty="0">
                <a:solidFill>
                  <a:srgbClr val="6F6B80"/>
                </a:solidFill>
                <a:latin typeface="Courier New" pitchFamily="34" charset="0"/>
                <a:ea typeface="Courier New" pitchFamily="34" charset="-122"/>
                <a:cs typeface="Courier New" pitchFamily="34" charset="-120"/>
              </a:rPr>
              <a:t>HASH ANTERIOR</a:t>
            </a:r>
            <a:endParaRPr lang="en-US" sz="900" dirty="0"/>
          </a:p>
        </p:txBody>
      </p:sp>
      <p:sp>
        <p:nvSpPr>
          <p:cNvPr id="34" name="Text 31"/>
          <p:cNvSpPr/>
          <p:nvPr/>
        </p:nvSpPr>
        <p:spPr>
          <a:xfrm>
            <a:off x="8503920" y="2642616"/>
            <a:ext cx="2962656" cy="274320"/>
          </a:xfrm>
          <a:prstGeom prst="rect">
            <a:avLst/>
          </a:prstGeom>
          <a:noFill/>
          <a:ln/>
        </p:spPr>
        <p:txBody>
          <a:bodyPr wrap="square" lIns="0" tIns="0" rIns="0" bIns="0" rtlCol="0" anchor="ctr"/>
          <a:lstStyle/>
          <a:p>
            <a:pPr indent="0" marL="0">
              <a:buNone/>
            </a:pPr>
            <a:r>
              <a:rPr lang="en-US" sz="1200" dirty="0">
                <a:solidFill>
                  <a:srgbClr val="3A3844"/>
                </a:solidFill>
                <a:latin typeface="Courier New" pitchFamily="34" charset="0"/>
                <a:ea typeface="Courier New" pitchFamily="34" charset="-122"/>
                <a:cs typeface="Courier New" pitchFamily="34" charset="-120"/>
              </a:rPr>
              <a:t>0x21b7…0f5e</a:t>
            </a:r>
            <a:endParaRPr lang="en-US" sz="1200" dirty="0"/>
          </a:p>
        </p:txBody>
      </p:sp>
      <p:sp>
        <p:nvSpPr>
          <p:cNvPr id="35" name="Shape 32"/>
          <p:cNvSpPr/>
          <p:nvPr/>
        </p:nvSpPr>
        <p:spPr>
          <a:xfrm>
            <a:off x="8339328" y="2953512"/>
            <a:ext cx="3291840" cy="0"/>
          </a:xfrm>
          <a:prstGeom prst="line">
            <a:avLst/>
          </a:prstGeom>
          <a:noFill/>
          <a:ln w="12700">
            <a:solidFill>
              <a:srgbClr val="D9D6E0"/>
            </a:solidFill>
            <a:prstDash val="solid"/>
          </a:ln>
        </p:spPr>
      </p:sp>
      <p:sp>
        <p:nvSpPr>
          <p:cNvPr id="36" name="Text 33"/>
          <p:cNvSpPr/>
          <p:nvPr/>
        </p:nvSpPr>
        <p:spPr>
          <a:xfrm>
            <a:off x="8503920" y="3163824"/>
            <a:ext cx="2962656" cy="237744"/>
          </a:xfrm>
          <a:prstGeom prst="rect">
            <a:avLst/>
          </a:prstGeom>
          <a:noFill/>
          <a:ln/>
        </p:spPr>
        <p:txBody>
          <a:bodyPr wrap="square" lIns="0" tIns="0" rIns="0" bIns="0" rtlCol="0" anchor="ctr"/>
          <a:lstStyle/>
          <a:p>
            <a:pPr indent="0" marL="0">
              <a:buNone/>
            </a:pPr>
            <a:r>
              <a:rPr lang="en-US" sz="900" spc="110" kern="0" dirty="0">
                <a:solidFill>
                  <a:srgbClr val="6F6B80"/>
                </a:solidFill>
                <a:latin typeface="Courier New" pitchFamily="34" charset="0"/>
                <a:ea typeface="Courier New" pitchFamily="34" charset="-122"/>
                <a:cs typeface="Courier New" pitchFamily="34" charset="-120"/>
              </a:rPr>
              <a:t>TRANSACCIONES</a:t>
            </a:r>
            <a:endParaRPr lang="en-US" sz="900" dirty="0"/>
          </a:p>
        </p:txBody>
      </p:sp>
      <p:sp>
        <p:nvSpPr>
          <p:cNvPr id="37" name="Text 34"/>
          <p:cNvSpPr/>
          <p:nvPr/>
        </p:nvSpPr>
        <p:spPr>
          <a:xfrm>
            <a:off x="8503920" y="3401568"/>
            <a:ext cx="2962656" cy="274320"/>
          </a:xfrm>
          <a:prstGeom prst="rect">
            <a:avLst/>
          </a:prstGeom>
          <a:noFill/>
          <a:ln/>
        </p:spPr>
        <p:txBody>
          <a:bodyPr wrap="square" lIns="0" tIns="0" rIns="0" bIns="0" rtlCol="0" anchor="ctr"/>
          <a:lstStyle/>
          <a:p>
            <a:pPr indent="0" marL="0">
              <a:buNone/>
            </a:pPr>
            <a:r>
              <a:rPr lang="en-US" sz="1200" dirty="0">
                <a:solidFill>
                  <a:srgbClr val="3A3844"/>
                </a:solidFill>
                <a:latin typeface="Courier New" pitchFamily="34" charset="0"/>
                <a:ea typeface="Courier New" pitchFamily="34" charset="-122"/>
                <a:cs typeface="Courier New" pitchFamily="34" charset="-120"/>
              </a:rPr>
              <a:t>raíz de Merkle</a:t>
            </a:r>
            <a:endParaRPr lang="en-US" sz="1200" dirty="0"/>
          </a:p>
        </p:txBody>
      </p:sp>
      <p:sp>
        <p:nvSpPr>
          <p:cNvPr id="38" name="Shape 35"/>
          <p:cNvSpPr/>
          <p:nvPr/>
        </p:nvSpPr>
        <p:spPr>
          <a:xfrm>
            <a:off x="8339328" y="3712464"/>
            <a:ext cx="3291840" cy="0"/>
          </a:xfrm>
          <a:prstGeom prst="line">
            <a:avLst/>
          </a:prstGeom>
          <a:noFill/>
          <a:ln w="12700">
            <a:solidFill>
              <a:srgbClr val="D9D6E0"/>
            </a:solidFill>
            <a:prstDash val="solid"/>
          </a:ln>
        </p:spPr>
      </p:sp>
      <p:sp>
        <p:nvSpPr>
          <p:cNvPr id="39" name="Text 36"/>
          <p:cNvSpPr/>
          <p:nvPr/>
        </p:nvSpPr>
        <p:spPr>
          <a:xfrm>
            <a:off x="8503920" y="3922776"/>
            <a:ext cx="2962656" cy="237744"/>
          </a:xfrm>
          <a:prstGeom prst="rect">
            <a:avLst/>
          </a:prstGeom>
          <a:noFill/>
          <a:ln/>
        </p:spPr>
        <p:txBody>
          <a:bodyPr wrap="square" lIns="0" tIns="0" rIns="0" bIns="0" rtlCol="0" anchor="ctr"/>
          <a:lstStyle/>
          <a:p>
            <a:pPr indent="0" marL="0">
              <a:buNone/>
            </a:pPr>
            <a:r>
              <a:rPr lang="en-US" sz="900" spc="110" kern="0" dirty="0">
                <a:solidFill>
                  <a:srgbClr val="6F6B80"/>
                </a:solidFill>
                <a:latin typeface="Courier New" pitchFamily="34" charset="0"/>
                <a:ea typeface="Courier New" pitchFamily="34" charset="-122"/>
                <a:cs typeface="Courier New" pitchFamily="34" charset="-120"/>
              </a:rPr>
              <a:t>HASH DE ESTE BLOQUE</a:t>
            </a:r>
            <a:endParaRPr lang="en-US" sz="900" dirty="0"/>
          </a:p>
        </p:txBody>
      </p:sp>
      <p:sp>
        <p:nvSpPr>
          <p:cNvPr id="40" name="Text 37"/>
          <p:cNvSpPr/>
          <p:nvPr/>
        </p:nvSpPr>
        <p:spPr>
          <a:xfrm>
            <a:off x="8503920" y="4160520"/>
            <a:ext cx="2962656" cy="274320"/>
          </a:xfrm>
          <a:prstGeom prst="rect">
            <a:avLst/>
          </a:prstGeom>
          <a:noFill/>
          <a:ln/>
        </p:spPr>
        <p:txBody>
          <a:bodyPr wrap="square" lIns="0" tIns="0" rIns="0" bIns="0" rtlCol="0" anchor="ctr"/>
          <a:lstStyle/>
          <a:p>
            <a:pPr indent="0" marL="0">
              <a:buNone/>
            </a:pPr>
            <a:r>
              <a:rPr lang="en-US" sz="1200" b="1" dirty="0">
                <a:solidFill>
                  <a:srgbClr val="0F0F11"/>
                </a:solidFill>
                <a:latin typeface="Courier New" pitchFamily="34" charset="0"/>
                <a:ea typeface="Courier New" pitchFamily="34" charset="-122"/>
                <a:cs typeface="Courier New" pitchFamily="34" charset="-120"/>
              </a:rPr>
              <a:t>0x9d02…7e13</a:t>
            </a:r>
            <a:endParaRPr lang="en-US" sz="1200" dirty="0"/>
          </a:p>
        </p:txBody>
      </p:sp>
      <p:sp>
        <p:nvSpPr>
          <p:cNvPr id="41" name="Shape 38"/>
          <p:cNvSpPr/>
          <p:nvPr/>
        </p:nvSpPr>
        <p:spPr>
          <a:xfrm>
            <a:off x="3858768" y="4315968"/>
            <a:ext cx="292608" cy="0"/>
          </a:xfrm>
          <a:prstGeom prst="line">
            <a:avLst/>
          </a:prstGeom>
          <a:noFill/>
          <a:ln w="22225">
            <a:solidFill>
              <a:srgbClr val="0F0F11"/>
            </a:solidFill>
            <a:prstDash val="solid"/>
          </a:ln>
        </p:spPr>
      </p:sp>
      <p:sp>
        <p:nvSpPr>
          <p:cNvPr id="42" name="Shape 39"/>
          <p:cNvSpPr/>
          <p:nvPr/>
        </p:nvSpPr>
        <p:spPr>
          <a:xfrm flipV="1">
            <a:off x="4151376" y="2651760"/>
            <a:ext cx="0" cy="1664208"/>
          </a:xfrm>
          <a:prstGeom prst="line">
            <a:avLst/>
          </a:prstGeom>
          <a:noFill/>
          <a:ln w="22225">
            <a:solidFill>
              <a:srgbClr val="0F0F11"/>
            </a:solidFill>
            <a:prstDash val="solid"/>
          </a:ln>
        </p:spPr>
      </p:sp>
      <p:sp>
        <p:nvSpPr>
          <p:cNvPr id="43" name="Shape 40"/>
          <p:cNvSpPr/>
          <p:nvPr/>
        </p:nvSpPr>
        <p:spPr>
          <a:xfrm>
            <a:off x="4151376" y="2651760"/>
            <a:ext cx="301752" cy="0"/>
          </a:xfrm>
          <a:prstGeom prst="line">
            <a:avLst/>
          </a:prstGeom>
          <a:noFill/>
          <a:ln w="22225">
            <a:solidFill>
              <a:srgbClr val="0F0F11"/>
            </a:solidFill>
            <a:prstDash val="solid"/>
            <a:tailEnd type="triangle"/>
          </a:ln>
        </p:spPr>
      </p:sp>
      <p:sp>
        <p:nvSpPr>
          <p:cNvPr id="44" name="Shape 41"/>
          <p:cNvSpPr/>
          <p:nvPr/>
        </p:nvSpPr>
        <p:spPr>
          <a:xfrm>
            <a:off x="7744968" y="4315968"/>
            <a:ext cx="292608" cy="0"/>
          </a:xfrm>
          <a:prstGeom prst="line">
            <a:avLst/>
          </a:prstGeom>
          <a:noFill/>
          <a:ln w="22225">
            <a:solidFill>
              <a:srgbClr val="0F0F11"/>
            </a:solidFill>
            <a:prstDash val="solid"/>
          </a:ln>
        </p:spPr>
      </p:sp>
      <p:sp>
        <p:nvSpPr>
          <p:cNvPr id="45" name="Shape 42"/>
          <p:cNvSpPr/>
          <p:nvPr/>
        </p:nvSpPr>
        <p:spPr>
          <a:xfrm flipV="1">
            <a:off x="8037576" y="2651760"/>
            <a:ext cx="0" cy="1664208"/>
          </a:xfrm>
          <a:prstGeom prst="line">
            <a:avLst/>
          </a:prstGeom>
          <a:noFill/>
          <a:ln w="22225">
            <a:solidFill>
              <a:srgbClr val="0F0F11"/>
            </a:solidFill>
            <a:prstDash val="solid"/>
          </a:ln>
        </p:spPr>
      </p:sp>
      <p:sp>
        <p:nvSpPr>
          <p:cNvPr id="46" name="Shape 43"/>
          <p:cNvSpPr/>
          <p:nvPr/>
        </p:nvSpPr>
        <p:spPr>
          <a:xfrm>
            <a:off x="8037576" y="2651760"/>
            <a:ext cx="301752" cy="0"/>
          </a:xfrm>
          <a:prstGeom prst="line">
            <a:avLst/>
          </a:prstGeom>
          <a:noFill/>
          <a:ln w="22225">
            <a:solidFill>
              <a:srgbClr val="0F0F11"/>
            </a:solidFill>
            <a:prstDash val="solid"/>
            <a:tailEnd type="triangle"/>
          </a:ln>
        </p:spPr>
      </p:sp>
      <p:sp>
        <p:nvSpPr>
          <p:cNvPr id="47" name="Shape 44"/>
          <p:cNvSpPr/>
          <p:nvPr/>
        </p:nvSpPr>
        <p:spPr>
          <a:xfrm>
            <a:off x="566928" y="5029200"/>
            <a:ext cx="3291840" cy="0"/>
          </a:xfrm>
          <a:prstGeom prst="line">
            <a:avLst/>
          </a:prstGeom>
          <a:noFill/>
          <a:ln w="25400">
            <a:solidFill>
              <a:srgbClr val="F07F06"/>
            </a:solidFill>
            <a:prstDash val="solid"/>
          </a:ln>
        </p:spPr>
      </p:sp>
      <p:sp>
        <p:nvSpPr>
          <p:cNvPr id="48" name="Shape 45"/>
          <p:cNvSpPr/>
          <p:nvPr/>
        </p:nvSpPr>
        <p:spPr>
          <a:xfrm>
            <a:off x="4453128" y="5029200"/>
            <a:ext cx="7178040" cy="0"/>
          </a:xfrm>
          <a:prstGeom prst="line">
            <a:avLst/>
          </a:prstGeom>
          <a:noFill/>
          <a:ln w="25400">
            <a:solidFill>
              <a:srgbClr val="F07F06"/>
            </a:solidFill>
            <a:prstDash val="solid"/>
          </a:ln>
        </p:spPr>
      </p:sp>
      <p:sp>
        <p:nvSpPr>
          <p:cNvPr id="49" name="Text 46"/>
          <p:cNvSpPr/>
          <p:nvPr/>
        </p:nvSpPr>
        <p:spPr>
          <a:xfrm>
            <a:off x="566928" y="5102352"/>
            <a:ext cx="3291840" cy="274320"/>
          </a:xfrm>
          <a:prstGeom prst="rect">
            <a:avLst/>
          </a:prstGeom>
          <a:noFill/>
          <a:ln/>
        </p:spPr>
        <p:txBody>
          <a:bodyPr wrap="square" lIns="0" tIns="0" rIns="0" bIns="0" rtlCol="0" anchor="ctr"/>
          <a:lstStyle/>
          <a:p>
            <a:pPr indent="0" marL="0">
              <a:buNone/>
            </a:pPr>
            <a:r>
              <a:rPr lang="en-US" sz="1000" b="1" spc="110" kern="0" dirty="0">
                <a:solidFill>
                  <a:srgbClr val="A35604"/>
                </a:solidFill>
                <a:latin typeface="Courier New" pitchFamily="34" charset="0"/>
                <a:ea typeface="Courier New" pitchFamily="34" charset="-122"/>
                <a:cs typeface="Courier New" pitchFamily="34" charset="-120"/>
              </a:rPr>
              <a:t>1 · SE ALTERA UN BYTE AQUÍ</a:t>
            </a:r>
            <a:endParaRPr lang="en-US" sz="1000" dirty="0"/>
          </a:p>
        </p:txBody>
      </p:sp>
      <p:sp>
        <p:nvSpPr>
          <p:cNvPr id="50" name="Text 47"/>
          <p:cNvSpPr/>
          <p:nvPr/>
        </p:nvSpPr>
        <p:spPr>
          <a:xfrm>
            <a:off x="4453128" y="5102352"/>
            <a:ext cx="7178040" cy="274320"/>
          </a:xfrm>
          <a:prstGeom prst="rect">
            <a:avLst/>
          </a:prstGeom>
          <a:noFill/>
          <a:ln/>
        </p:spPr>
        <p:txBody>
          <a:bodyPr wrap="square" lIns="0" tIns="0" rIns="0" bIns="0" rtlCol="0" anchor="ctr"/>
          <a:lstStyle/>
          <a:p>
            <a:pPr indent="0" marL="0">
              <a:buNone/>
            </a:pPr>
            <a:r>
              <a:rPr lang="en-US" sz="1000" b="1" spc="110" kern="0" dirty="0">
                <a:solidFill>
                  <a:srgbClr val="A35604"/>
                </a:solidFill>
                <a:latin typeface="Courier New" pitchFamily="34" charset="0"/>
                <a:ea typeface="Courier New" pitchFamily="34" charset="-122"/>
                <a:cs typeface="Courier New" pitchFamily="34" charset="-120"/>
              </a:rPr>
              <a:t>2 · SU HASH CAMBIA Y ROMPE TODOS LOS ENLACES POSTERIORES</a:t>
            </a:r>
            <a:endParaRPr lang="en-US" sz="1000" dirty="0"/>
          </a:p>
        </p:txBody>
      </p:sp>
      <p:sp>
        <p:nvSpPr>
          <p:cNvPr id="51" name="Text 48"/>
          <p:cNvSpPr/>
          <p:nvPr/>
        </p:nvSpPr>
        <p:spPr>
          <a:xfrm>
            <a:off x="566928" y="5705856"/>
            <a:ext cx="1828800" cy="237744"/>
          </a:xfrm>
          <a:prstGeom prst="rect">
            <a:avLst/>
          </a:prstGeom>
          <a:noFill/>
          <a:ln/>
        </p:spPr>
        <p:txBody>
          <a:bodyPr wrap="square" lIns="0" tIns="0" rIns="0" bIns="0" rtlCol="0" anchor="ctr"/>
          <a:lstStyle/>
          <a:p>
            <a:pPr indent="0" marL="0">
              <a:buNone/>
            </a:pPr>
            <a:r>
              <a:rPr lang="en-US" sz="900" spc="120" kern="0" dirty="0">
                <a:solidFill>
                  <a:srgbClr val="6F6B80"/>
                </a:solidFill>
                <a:latin typeface="Courier New" pitchFamily="34" charset="0"/>
                <a:ea typeface="Courier New" pitchFamily="34" charset="-122"/>
                <a:cs typeface="Courier New" pitchFamily="34" charset="-120"/>
              </a:rPr>
              <a:t>Fig. 2</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A.5 · PRECISIÓN NECESARIA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INMUTABLE NO SIGNIFICA INDESTRUCTIBLE</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01 · ¿QUÉ PROBLEMA RESUELVE REALMENTE BLOCKCHAIN?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28</a:t>
            </a:r>
            <a:endParaRPr lang="en-US" sz="900" dirty="0"/>
          </a:p>
        </p:txBody>
      </p:sp>
      <p:sp>
        <p:nvSpPr>
          <p:cNvPr id="8" name="Shape 5"/>
          <p:cNvSpPr/>
          <p:nvPr/>
        </p:nvSpPr>
        <p:spPr>
          <a:xfrm>
            <a:off x="566928" y="1783080"/>
            <a:ext cx="11057839" cy="210312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9" name="Image 1" descr="preencoded.png">    </p:cNvPr>
          <p:cNvPicPr>
            <a:picLocks noChangeAspect="1"/>
          </p:cNvPicPr>
          <p:nvPr/>
        </p:nvPicPr>
        <p:blipFill>
          <a:blip r:embed="rId2"/>
          <a:stretch>
            <a:fillRect/>
          </a:stretch>
        </p:blipFill>
        <p:spPr>
          <a:xfrm>
            <a:off x="804672" y="2002536"/>
            <a:ext cx="237744" cy="237744"/>
          </a:xfrm>
          <a:prstGeom prst="rect">
            <a:avLst/>
          </a:prstGeom>
        </p:spPr>
      </p:pic>
      <p:sp>
        <p:nvSpPr>
          <p:cNvPr id="10" name="Text 6"/>
          <p:cNvSpPr/>
          <p:nvPr/>
        </p:nvSpPr>
        <p:spPr>
          <a:xfrm>
            <a:off x="1133856" y="1975104"/>
            <a:ext cx="10234879"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ALERTA · LA INMUTABILIDAD ES ECONÓMICA, NO FÍSICA</a:t>
            </a:r>
            <a:endParaRPr lang="en-US" sz="950" dirty="0"/>
          </a:p>
        </p:txBody>
      </p:sp>
      <p:sp>
        <p:nvSpPr>
          <p:cNvPr id="11" name="Text 7"/>
          <p:cNvSpPr/>
          <p:nvPr/>
        </p:nvSpPr>
        <p:spPr>
          <a:xfrm>
            <a:off x="804672" y="2368296"/>
            <a:ext cx="10582351" cy="109728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Nada impide matemáticamente reescribir la historia. Lo que lo impide es que hacerlo exigiría rehacer la prueba de trabajo de todos los bloques posteriores más rápido de lo que el resto de la red produce bloques nuevos. Es una barrera de costo, no un candado.</a:t>
            </a:r>
            <a:endParaRPr lang="en-US" sz="1400" dirty="0"/>
          </a:p>
        </p:txBody>
      </p:sp>
      <p:sp>
        <p:nvSpPr>
          <p:cNvPr id="12" name="Shape 8"/>
          <p:cNvSpPr/>
          <p:nvPr/>
        </p:nvSpPr>
        <p:spPr>
          <a:xfrm>
            <a:off x="566928" y="4114800"/>
            <a:ext cx="11057839" cy="1783080"/>
          </a:xfrm>
          <a:prstGeom prst="rect">
            <a:avLst/>
          </a:prstGeom>
          <a:solidFill>
            <a:srgbClr val="FAF9FB"/>
          </a:solidFill>
          <a:ln w="22225">
            <a:solidFill>
              <a:srgbClr val="0F0F11"/>
            </a:solidFill>
            <a:prstDash val="solid"/>
          </a:ln>
          <a:effectLst>
            <a:outerShdw sx="100000" sy="100000" kx="0" ky="0" algn="bl" rotWithShape="0" blurRad="101600" dist="63500" dir="2700000">
              <a:srgbClr val="0F0F11">
                <a:alpha val="100000"/>
              </a:srgbClr>
            </a:outerShdw>
          </a:effectLst>
        </p:spPr>
      </p:sp>
      <p:sp>
        <p:nvSpPr>
          <p:cNvPr id="13" name="Text 9"/>
          <p:cNvSpPr/>
          <p:nvPr/>
        </p:nvSpPr>
        <p:spPr>
          <a:xfrm>
            <a:off x="877824" y="4315968"/>
            <a:ext cx="4572000" cy="292608"/>
          </a:xfrm>
          <a:prstGeom prst="rect">
            <a:avLst/>
          </a:prstGeom>
          <a:noFill/>
          <a:ln/>
        </p:spPr>
        <p:txBody>
          <a:bodyPr wrap="square" lIns="0" tIns="0" rIns="0" bIns="0" rtlCol="0" anchor="ctr"/>
          <a:lstStyle/>
          <a:p>
            <a:pPr indent="0" marL="0">
              <a:buNone/>
            </a:pPr>
            <a:r>
              <a:rPr lang="en-US" sz="1050" b="1" spc="140" kern="0" dirty="0">
                <a:solidFill>
                  <a:srgbClr val="6F6B80"/>
                </a:solidFill>
                <a:latin typeface="Courier New" pitchFamily="34" charset="0"/>
                <a:ea typeface="Courier New" pitchFamily="34" charset="-122"/>
                <a:cs typeface="Courier New" pitchFamily="34" charset="-120"/>
              </a:rPr>
              <a:t>CONSECUENCIA PRÁCTICA</a:t>
            </a:r>
            <a:endParaRPr lang="en-US" sz="1050" dirty="0"/>
          </a:p>
        </p:txBody>
      </p:sp>
      <p:sp>
        <p:nvSpPr>
          <p:cNvPr id="14" name="Text 10"/>
          <p:cNvSpPr/>
          <p:nvPr/>
        </p:nvSpPr>
        <p:spPr>
          <a:xfrm>
            <a:off x="877824" y="4663440"/>
            <a:ext cx="10436047" cy="100584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Un bloque no es definitivo de inmediato. Se vuelve progresivamente más difícil de revertir a medida que se acumulan bloques encima. Por eso los intercambios esperan un número de confirmaciones antes de acreditar un depósito. En la Sesión 3 mediremos experimentalmente ese costo.</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A.6 · MIN 82–92 · TAXONOMÍA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600" dirty="0">
                <a:solidFill>
                  <a:srgbClr val="0F0F11"/>
                </a:solidFill>
                <a:latin typeface="Arial Black" pitchFamily="34" charset="0"/>
                <a:ea typeface="Arial Black" pitchFamily="34" charset="-122"/>
                <a:cs typeface="Arial Black" pitchFamily="34" charset="-120"/>
              </a:rPr>
              <a:t>«BLOCKCHAIN» NO DESIGNA UNA SOLA COSA</a:t>
            </a:r>
            <a:endParaRPr lang="en-US" sz="26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01 · ¿QUÉ PROBLEMA RESUELVE REALMENTE BLOCKCHAIN?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29</a:t>
            </a:r>
            <a:endParaRPr lang="en-US" sz="900" dirty="0"/>
          </a:p>
        </p:txBody>
      </p:sp>
      <p:sp>
        <p:nvSpPr>
          <p:cNvPr id="8" name="Text 5"/>
          <p:cNvSpPr/>
          <p:nvPr/>
        </p:nvSpPr>
        <p:spPr>
          <a:xfrm>
            <a:off x="566928" y="1737360"/>
            <a:ext cx="11057839" cy="713232"/>
          </a:xfrm>
          <a:prstGeom prst="rect">
            <a:avLst/>
          </a:prstGeom>
          <a:noFill/>
          <a:ln/>
        </p:spPr>
        <p:txBody>
          <a:bodyPr wrap="square" lIns="0" tIns="0" rIns="0" bIns="0" rtlCol="0" anchor="t"/>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Designa una familia de arquitecturas con propiedades muy distintas. Confundirlas es el error más común en las propuestas de proyecto, y es un error caro: la mitad de las decisiones de diseño dependen de esta elección. Dos ejes las clasifican: quién puede LEER y quién puede ESCRIBIR.</a:t>
            </a:r>
            <a:endParaRPr lang="en-US" sz="145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66928" y="2606040"/>
          <a:ext cx="11057839" cy="914400"/>
        </p:xfrm>
        <a:graphic>
          <a:graphicData uri="http://schemas.openxmlformats.org/drawingml/2006/table">
            <a:tbl>
              <a:tblPr/>
              <a:tblGrid>
                <a:gridCol w="1965960"/>
                <a:gridCol w="1371600"/>
                <a:gridCol w="1600200"/>
                <a:gridCol w="2651760"/>
                <a:gridCol w="346831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TIPO</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LEE</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ESCRIBE</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CONFIANZA REQUERIDA</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USO APROPIADO</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72237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Pública sin permiso</a:t>
                      </a:r>
                      <a:endParaRPr lang="en-US" sz="110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Cualquiera</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Cualquiera</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Mínima. No hay que identificar a nadie.</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Activos de circulación abierta; registros que deben resistir la presión de cualquier gobierno o empresa.</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72237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Pública con permiso</a:t>
                      </a:r>
                      <a:endParaRPr lang="en-US" sz="110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Cualquiera</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Conjunto autorizado</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En los validadores autorizados.</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Registros públicos estatales donde la transparencia es obligatoria pero la escritura debe ser oficial.</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72237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De consorcio</a:t>
                      </a:r>
                      <a:endParaRPr lang="en-US" sz="110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Miembros</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Miembros</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En el consorcio como colectivo.</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Trazabilidad entre empresas competidoras que no confían entre sí pero necesitan un registro común.</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72237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Privada</a:t>
                      </a:r>
                      <a:endParaRPr lang="en-US" sz="110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Una organización</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Una organización</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Total, en el operador.</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Casi siempre: ninguno. Ver la lámina siguiente.</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10" name="Shape 6"/>
          <p:cNvSpPr/>
          <p:nvPr/>
        </p:nvSpPr>
        <p:spPr>
          <a:xfrm>
            <a:off x="548640" y="2587752"/>
            <a:ext cx="11094415" cy="3236976"/>
          </a:xfrm>
          <a:prstGeom prst="rect">
            <a:avLst/>
          </a:prstGeom>
          <a:ln w="22225">
            <a:solidFill>
              <a:srgbClr val="0F0F11"/>
            </a:solidFill>
            <a:prstDash val="solid"/>
          </a:ln>
        </p:spPr>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A.6 · EL CASO QUE HAY QUE SABER DESCARTAR</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LA BLOCKCHAIN PRIVADA DE UN SOLO DUEÑO</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01 · ¿QUÉ PROBLEMA RESUELVE REALMENTE BLOCKCHAIN?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30</a:t>
            </a:r>
            <a:endParaRPr lang="en-US" sz="900" dirty="0"/>
          </a:p>
        </p:txBody>
      </p:sp>
      <p:sp>
        <p:nvSpPr>
          <p:cNvPr id="8" name="Shape 5"/>
          <p:cNvSpPr/>
          <p:nvPr/>
        </p:nvSpPr>
        <p:spPr>
          <a:xfrm>
            <a:off x="566928" y="1783080"/>
            <a:ext cx="11057839" cy="228600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9" name="Image 1" descr="preencoded.png">    </p:cNvPr>
          <p:cNvPicPr>
            <a:picLocks noChangeAspect="1"/>
          </p:cNvPicPr>
          <p:nvPr/>
        </p:nvPicPr>
        <p:blipFill>
          <a:blip r:embed="rId2"/>
          <a:stretch>
            <a:fillRect/>
          </a:stretch>
        </p:blipFill>
        <p:spPr>
          <a:xfrm>
            <a:off x="804672" y="2002536"/>
            <a:ext cx="237744" cy="237744"/>
          </a:xfrm>
          <a:prstGeom prst="rect">
            <a:avLst/>
          </a:prstGeom>
        </p:spPr>
      </p:pic>
      <p:sp>
        <p:nvSpPr>
          <p:cNvPr id="10" name="Text 6"/>
          <p:cNvSpPr/>
          <p:nvPr/>
        </p:nvSpPr>
        <p:spPr>
          <a:xfrm>
            <a:off x="1133856" y="1975104"/>
            <a:ext cx="10234879"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ALERTA · CASI NUNCA ES LA RESPUESTA</a:t>
            </a:r>
            <a:endParaRPr lang="en-US" sz="950" dirty="0"/>
          </a:p>
        </p:txBody>
      </p:sp>
      <p:sp>
        <p:nvSpPr>
          <p:cNvPr id="11" name="Text 7"/>
          <p:cNvSpPr/>
          <p:nvPr/>
        </p:nvSpPr>
        <p:spPr>
          <a:xfrm>
            <a:off x="804672" y="2368296"/>
            <a:ext cx="10582351" cy="86868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Si una sola organización controla la lectura, la escritura y los nodos, esa organización puede reescribir el registro cuando quiera. Ha construido, con un costo de operación mucho mayor, una base de datos con bitácora de auditoría.</a:t>
            </a:r>
            <a:endParaRPr lang="en-US" sz="1400" dirty="0"/>
          </a:p>
        </p:txBody>
      </p:sp>
      <p:sp>
        <p:nvSpPr>
          <p:cNvPr id="12" name="Text 8"/>
          <p:cNvSpPr/>
          <p:nvPr/>
        </p:nvSpPr>
        <p:spPr>
          <a:xfrm>
            <a:off x="804672" y="3282696"/>
            <a:ext cx="10582351" cy="73152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Una base de datos relacional con firmas digitales y registros de solo anexado ofrece las mismas garantías reales, con mejor rendimiento y personal disponible en el mercado laboral.</a:t>
            </a:r>
            <a:endParaRPr lang="en-US" sz="1400" dirty="0"/>
          </a:p>
        </p:txBody>
      </p:sp>
      <p:sp>
        <p:nvSpPr>
          <p:cNvPr id="13" name="Shape 9"/>
          <p:cNvSpPr/>
          <p:nvPr/>
        </p:nvSpPr>
        <p:spPr>
          <a:xfrm>
            <a:off x="566928" y="4343400"/>
            <a:ext cx="11057839" cy="155448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sp>
        <p:nvSpPr>
          <p:cNvPr id="14" name="Text 10"/>
          <p:cNvSpPr/>
          <p:nvPr/>
        </p:nvSpPr>
        <p:spPr>
          <a:xfrm>
            <a:off x="950976" y="4562856"/>
            <a:ext cx="10289743" cy="1115568"/>
          </a:xfrm>
          <a:prstGeom prst="rect">
            <a:avLst/>
          </a:prstGeom>
          <a:noFill/>
          <a:ln/>
        </p:spPr>
        <p:txBody>
          <a:bodyPr wrap="square" lIns="0" tIns="0" rIns="0" bIns="0" rtlCol="0" anchor="ctr"/>
          <a:lstStyle/>
          <a:p>
            <a:pPr indent="0" marL="0">
              <a:lnSpc>
                <a:spcPct val="106000"/>
              </a:lnSpc>
              <a:buNone/>
            </a:pPr>
            <a:r>
              <a:rPr lang="en-US" sz="2100" dirty="0">
                <a:solidFill>
                  <a:srgbClr val="0F0F11"/>
                </a:solidFill>
                <a:latin typeface="Arial Black" pitchFamily="34" charset="0"/>
                <a:ea typeface="Arial Black" pitchFamily="34" charset="-122"/>
                <a:cs typeface="Arial Black" pitchFamily="34" charset="-120"/>
              </a:rPr>
              <a:t>¿Hay más de una parte, con intereses divergentes, que necesita coincidir en un registro común? Si la respuesta es no, no hay caso.</a:t>
            </a:r>
            <a:endParaRPr lang="en-US" sz="2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A.6 · LA PROMESA WEB 3.0</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LEER, ESCRIBIR, POSEER</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01 · ¿QUÉ PROBLEMA RESUELVE REALMENTE BLOCKCHAIN?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31</a:t>
            </a:r>
            <a:endParaRPr lang="en-US" sz="900" dirty="0"/>
          </a:p>
        </p:txBody>
      </p:sp>
      <p:sp>
        <p:nvSpPr>
          <p:cNvPr id="8" name="Text 5"/>
          <p:cNvSpPr/>
          <p:nvPr/>
        </p:nvSpPr>
        <p:spPr>
          <a:xfrm>
            <a:off x="566928" y="1737360"/>
            <a:ext cx="11057839" cy="548640"/>
          </a:xfrm>
          <a:prstGeom prst="rect">
            <a:avLst/>
          </a:prstGeom>
          <a:noFill/>
          <a:ln/>
        </p:spPr>
        <p:txBody>
          <a:bodyPr wrap="square" lIns="0" tIns="0" rIns="0" bIns="0" rtlCol="0" anchor="t"/>
          <a:lstStyle/>
          <a:p>
            <a:pPr indent="0" marL="0">
              <a:lnSpc>
                <a:spcPct val="124000"/>
              </a:lnSpc>
              <a:buNone/>
            </a:pPr>
            <a:r>
              <a:rPr lang="en-US" sz="1350" dirty="0">
                <a:solidFill>
                  <a:srgbClr val="6F6B80"/>
                </a:solidFill>
                <a:latin typeface="Arial" pitchFamily="34" charset="0"/>
                <a:ea typeface="Arial" pitchFamily="34" charset="-122"/>
                <a:cs typeface="Arial" pitchFamily="34" charset="-120"/>
              </a:rPr>
              <a:t>El término «Web 3.0» es de mercadeo antes que técnico y conviene tratarlo con la distancia crítica correspondiente. Dicho eso, describe un desplazamiento real en el control de los datos y de la identidad.</a:t>
            </a:r>
            <a:endParaRPr lang="en-US" sz="135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66928" y="2423160"/>
          <a:ext cx="11057839" cy="914400"/>
        </p:xfrm>
        <a:graphic>
          <a:graphicData uri="http://schemas.openxmlformats.org/drawingml/2006/table">
            <a:tbl>
              <a:tblPr/>
              <a:tblGrid>
                <a:gridCol w="1143000"/>
                <a:gridCol w="1234440"/>
                <a:gridCol w="1737360"/>
                <a:gridCol w="3017520"/>
                <a:gridCol w="392551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ETAPA</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PERIODO</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VERBO</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QUIÉN POSEE LOS DATOS</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MODELO DE IDENTIDAD</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5168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Web 1.0</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1991–2004</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Leer</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Quien publica el sitio</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Ninguno. Documentos anónimos enlazados.</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5168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Web 2.0</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2004–hoy</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Leer y escribir</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La plataforma que aloja el contenido</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Cuenta en un servidor ajeno: usuario y contraseña que la plataforma puede revocar.</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5168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Web 3.0</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2015–hoy</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Leer, escribir y POSEER</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El usuario, mediante control de claves criptográficas</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Par de claves del usuario. Nadie puede revocarlo, y nadie puede recuperarlo si se pierde.</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10" name="Shape 6"/>
          <p:cNvSpPr/>
          <p:nvPr/>
        </p:nvSpPr>
        <p:spPr>
          <a:xfrm>
            <a:off x="548640" y="2404872"/>
            <a:ext cx="11094415" cy="2002536"/>
          </a:xfrm>
          <a:prstGeom prst="rect">
            <a:avLst/>
          </a:prstGeom>
          <a:ln w="22225">
            <a:solidFill>
              <a:srgbClr val="0F0F11"/>
            </a:solidFill>
            <a:prstDash val="solid"/>
          </a:ln>
        </p:spPr>
      </p:sp>
      <p:sp>
        <p:nvSpPr>
          <p:cNvPr id="11" name="Shape 7"/>
          <p:cNvSpPr/>
          <p:nvPr/>
        </p:nvSpPr>
        <p:spPr>
          <a:xfrm>
            <a:off x="566928" y="4526280"/>
            <a:ext cx="11057839" cy="1371600"/>
          </a:xfrm>
          <a:prstGeom prst="rect">
            <a:avLst/>
          </a:prstGeom>
          <a:solidFill>
            <a:srgbClr val="F2F0F5"/>
          </a:solidFill>
          <a:ln w="22225">
            <a:solidFill>
              <a:srgbClr val="0F0F11"/>
            </a:solidFill>
            <a:prstDash val="solid"/>
          </a:ln>
        </p:spPr>
      </p:sp>
      <p:pic>
        <p:nvPicPr>
          <p:cNvPr id="12" name="Image 1" descr="preencoded.png">    </p:cNvPr>
          <p:cNvPicPr>
            <a:picLocks noChangeAspect="1"/>
          </p:cNvPicPr>
          <p:nvPr/>
        </p:nvPicPr>
        <p:blipFill>
          <a:blip r:embed="rId2"/>
          <a:stretch>
            <a:fillRect/>
          </a:stretch>
        </p:blipFill>
        <p:spPr>
          <a:xfrm>
            <a:off x="804672" y="4745736"/>
            <a:ext cx="237744" cy="237744"/>
          </a:xfrm>
          <a:prstGeom prst="rect">
            <a:avLst/>
          </a:prstGeom>
        </p:spPr>
      </p:pic>
      <p:sp>
        <p:nvSpPr>
          <p:cNvPr id="13" name="Text 8"/>
          <p:cNvSpPr/>
          <p:nvPr/>
        </p:nvSpPr>
        <p:spPr>
          <a:xfrm>
            <a:off x="1133856" y="4718304"/>
            <a:ext cx="10234879" cy="292608"/>
          </a:xfrm>
          <a:prstGeom prst="rect">
            <a:avLst/>
          </a:prstGeom>
          <a:noFill/>
          <a:ln/>
        </p:spPr>
        <p:txBody>
          <a:bodyPr wrap="square" lIns="0" tIns="0" rIns="0" bIns="0" rtlCol="0" anchor="ctr"/>
          <a:lstStyle/>
          <a:p>
            <a:pPr indent="0" marL="0">
              <a:buNone/>
            </a:pPr>
            <a:r>
              <a:rPr lang="en-US" sz="950" b="1" spc="150" kern="0" dirty="0">
                <a:solidFill>
                  <a:srgbClr val="6F6B80"/>
                </a:solidFill>
                <a:latin typeface="Courier New" pitchFamily="34" charset="0"/>
                <a:ea typeface="Courier New" pitchFamily="34" charset="-122"/>
                <a:cs typeface="Courier New" pitchFamily="34" charset="-120"/>
              </a:rPr>
              <a:t>LA SIMETRÍA HAY QUE DECIRLA COMPLETA</a:t>
            </a:r>
            <a:endParaRPr lang="en-US" sz="950" dirty="0"/>
          </a:p>
        </p:txBody>
      </p:sp>
      <p:sp>
        <p:nvSpPr>
          <p:cNvPr id="14" name="Text 9"/>
          <p:cNvSpPr/>
          <p:nvPr/>
        </p:nvSpPr>
        <p:spPr>
          <a:xfrm>
            <a:off x="804672" y="5111496"/>
            <a:ext cx="10582351" cy="73152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Si nadie puede quitarle la cuenta al usuario, entonces nadie puede devolvérsela si la pierde. No hay «olvidé mi contraseña». Es la mayor barrera de adopción del modelo, y el motivo de toda una línea de investigación —abstracción de cuentas, Sesión 13—.</a:t>
            </a:r>
            <a:endParaRPr lang="en-US" sz="13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A.6 · PRECISIÓN TERMINOLÓGICA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WEB 3.0 NO ES LO MISMO QUE WEB3</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01 · ¿QUÉ PROBLEMA RESUELVE REALMENTE BLOCKCHAIN?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32</a:t>
            </a:r>
            <a:endParaRPr lang="en-US" sz="900" dirty="0"/>
          </a:p>
        </p:txBody>
      </p:sp>
      <p:sp>
        <p:nvSpPr>
          <p:cNvPr id="8" name="Shape 5"/>
          <p:cNvSpPr/>
          <p:nvPr/>
        </p:nvSpPr>
        <p:spPr>
          <a:xfrm>
            <a:off x="566928" y="1965960"/>
            <a:ext cx="5419192" cy="2377440"/>
          </a:xfrm>
          <a:prstGeom prst="rect">
            <a:avLst/>
          </a:prstGeom>
          <a:solidFill>
            <a:srgbClr val="F2F0F5"/>
          </a:solidFill>
          <a:ln w="22225">
            <a:solidFill>
              <a:srgbClr val="0F0F11"/>
            </a:solidFill>
            <a:prstDash val="solid"/>
          </a:ln>
        </p:spPr>
      </p:sp>
      <p:sp>
        <p:nvSpPr>
          <p:cNvPr id="9" name="Text 6"/>
          <p:cNvSpPr/>
          <p:nvPr/>
        </p:nvSpPr>
        <p:spPr>
          <a:xfrm>
            <a:off x="859536" y="2212848"/>
            <a:ext cx="3657600" cy="384048"/>
          </a:xfrm>
          <a:prstGeom prst="rect">
            <a:avLst/>
          </a:prstGeom>
          <a:noFill/>
          <a:ln/>
        </p:spPr>
        <p:txBody>
          <a:bodyPr wrap="square" lIns="0" tIns="0" rIns="0" bIns="0" rtlCol="0" anchor="ctr"/>
          <a:lstStyle/>
          <a:p>
            <a:pPr indent="0" marL="0">
              <a:buNone/>
            </a:pPr>
            <a:r>
              <a:rPr lang="en-US" sz="2000" dirty="0">
                <a:solidFill>
                  <a:srgbClr val="0F0F11"/>
                </a:solidFill>
                <a:latin typeface="Arial Black" pitchFamily="34" charset="0"/>
                <a:ea typeface="Arial Black" pitchFamily="34" charset="-122"/>
                <a:cs typeface="Arial Black" pitchFamily="34" charset="-120"/>
              </a:rPr>
              <a:t>WEB 3.0</a:t>
            </a:r>
            <a:endParaRPr lang="en-US" sz="2000" dirty="0"/>
          </a:p>
        </p:txBody>
      </p:sp>
      <p:sp>
        <p:nvSpPr>
          <p:cNvPr id="10" name="Text 7"/>
          <p:cNvSpPr/>
          <p:nvPr/>
        </p:nvSpPr>
        <p:spPr>
          <a:xfrm>
            <a:off x="859536" y="2697480"/>
            <a:ext cx="4833976" cy="146304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En el uso original de Tim Berners-Lee y del W3C [World Wide Web Consortium, organismo de estándares de la web], se refiere a la WEB SEMÁNTICA: datos estructurados y legibles por máquinas mediante ontologías. No tiene relación con blockchain.</a:t>
            </a:r>
            <a:endParaRPr lang="en-US" sz="1350" dirty="0"/>
          </a:p>
        </p:txBody>
      </p:sp>
      <p:sp>
        <p:nvSpPr>
          <p:cNvPr id="11" name="Shape 8"/>
          <p:cNvSpPr/>
          <p:nvPr/>
        </p:nvSpPr>
        <p:spPr>
          <a:xfrm>
            <a:off x="6205576" y="1965960"/>
            <a:ext cx="5419192" cy="237744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sp>
        <p:nvSpPr>
          <p:cNvPr id="12" name="Text 9"/>
          <p:cNvSpPr/>
          <p:nvPr/>
        </p:nvSpPr>
        <p:spPr>
          <a:xfrm>
            <a:off x="6498184" y="2212848"/>
            <a:ext cx="3657600" cy="384048"/>
          </a:xfrm>
          <a:prstGeom prst="rect">
            <a:avLst/>
          </a:prstGeom>
          <a:noFill/>
          <a:ln/>
        </p:spPr>
        <p:txBody>
          <a:bodyPr wrap="square" lIns="0" tIns="0" rIns="0" bIns="0" rtlCol="0" anchor="ctr"/>
          <a:lstStyle/>
          <a:p>
            <a:pPr indent="0" marL="0">
              <a:buNone/>
            </a:pPr>
            <a:r>
              <a:rPr lang="en-US" sz="2000" dirty="0">
                <a:solidFill>
                  <a:srgbClr val="5638C9"/>
                </a:solidFill>
                <a:latin typeface="Arial Black" pitchFamily="34" charset="0"/>
                <a:ea typeface="Arial Black" pitchFamily="34" charset="-122"/>
                <a:cs typeface="Arial Black" pitchFamily="34" charset="-120"/>
              </a:rPr>
              <a:t>WEB3</a:t>
            </a:r>
            <a:endParaRPr lang="en-US" sz="2000" dirty="0"/>
          </a:p>
        </p:txBody>
      </p:sp>
      <p:sp>
        <p:nvSpPr>
          <p:cNvPr id="13" name="Text 10"/>
          <p:cNvSpPr/>
          <p:nvPr/>
        </p:nvSpPr>
        <p:spPr>
          <a:xfrm>
            <a:off x="6498184" y="2697480"/>
            <a:ext cx="4833976" cy="146304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Sin punto. Término acuñado hacia 2014 en el entorno de Ethereum para designar la web construida sobre protocolos descentralizados y propiedad criptográfica. Es el sentido que adopta este curso.</a:t>
            </a:r>
            <a:endParaRPr lang="en-US" sz="1350" dirty="0"/>
          </a:p>
        </p:txBody>
      </p:sp>
      <p:sp>
        <p:nvSpPr>
          <p:cNvPr id="14" name="Text 11"/>
          <p:cNvSpPr/>
          <p:nvPr/>
        </p:nvSpPr>
        <p:spPr>
          <a:xfrm>
            <a:off x="566928" y="4709160"/>
            <a:ext cx="11057839" cy="822960"/>
          </a:xfrm>
          <a:prstGeom prst="rect">
            <a:avLst/>
          </a:prstGeom>
          <a:noFill/>
          <a:ln/>
        </p:spPr>
        <p:txBody>
          <a:bodyPr wrap="square" lIns="0" tIns="0" rIns="0" bIns="0" rtlCol="0" anchor="t"/>
          <a:lstStyle/>
          <a:p>
            <a:pPr indent="0" marL="0">
              <a:lnSpc>
                <a:spcPct val="124000"/>
              </a:lnSpc>
              <a:buNone/>
            </a:pPr>
            <a:r>
              <a:rPr lang="en-US" sz="1350" dirty="0">
                <a:solidFill>
                  <a:srgbClr val="6F6B80"/>
                </a:solidFill>
                <a:latin typeface="Arial" pitchFamily="34" charset="0"/>
                <a:ea typeface="Arial" pitchFamily="34" charset="-122"/>
                <a:cs typeface="Arial" pitchFamily="34" charset="-120"/>
              </a:rPr>
              <a:t>En el uso actual de la industria los dos se han fundido. Se señala la distinción porque en la literatura académica anterior a 2015 «Web 3.0» significa otra cosa, y quien cite esas fuentes sin advertirlo cometerá un error.</a:t>
            </a:r>
            <a:endParaRPr lang="en-US" sz="13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A.7 · MIN 92–105 · SECCIÓN CRÍTICA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CUÁNDO NO SE DEBE USAR BLOCKCHAIN</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01 · ¿QUÉ PROBLEMA RESUELVE REALMENTE BLOCKCHAIN?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33</a:t>
            </a:r>
            <a:endParaRPr lang="en-US" sz="900" dirty="0"/>
          </a:p>
        </p:txBody>
      </p:sp>
      <p:sp>
        <p:nvSpPr>
          <p:cNvPr id="8" name="Shape 5"/>
          <p:cNvSpPr/>
          <p:nvPr/>
        </p:nvSpPr>
        <p:spPr>
          <a:xfrm>
            <a:off x="566928" y="1783080"/>
            <a:ext cx="11057839" cy="137160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sp>
        <p:nvSpPr>
          <p:cNvPr id="9" name="Text 6"/>
          <p:cNvSpPr/>
          <p:nvPr/>
        </p:nvSpPr>
        <p:spPr>
          <a:xfrm>
            <a:off x="950976" y="2002536"/>
            <a:ext cx="10289743" cy="932688"/>
          </a:xfrm>
          <a:prstGeom prst="rect">
            <a:avLst/>
          </a:prstGeom>
          <a:noFill/>
          <a:ln/>
        </p:spPr>
        <p:txBody>
          <a:bodyPr wrap="square" lIns="0" tIns="0" rIns="0" bIns="0" rtlCol="0" anchor="ctr"/>
          <a:lstStyle/>
          <a:p>
            <a:pPr indent="0" marL="0">
              <a:lnSpc>
                <a:spcPct val="106000"/>
              </a:lnSpc>
              <a:buNone/>
            </a:pPr>
            <a:r>
              <a:rPr lang="en-US" sz="2000" dirty="0">
                <a:solidFill>
                  <a:srgbClr val="0F0F11"/>
                </a:solidFill>
                <a:latin typeface="Arial Black" pitchFamily="34" charset="0"/>
                <a:ea typeface="Arial Black" pitchFamily="34" charset="-122"/>
                <a:cs typeface="Arial Black" pitchFamily="34" charset="-120"/>
              </a:rPr>
              <a:t>Un ingeniero que solo sabe construir con una herramienta la usará para todo. La competencia profesional consiste en saber descartarla con argumentos.</a:t>
            </a:r>
            <a:endParaRPr lang="en-US" sz="2000" dirty="0"/>
          </a:p>
        </p:txBody>
      </p:sp>
      <p:sp>
        <p:nvSpPr>
          <p:cNvPr id="10" name="Text 7"/>
          <p:cNvSpPr/>
          <p:nvPr/>
        </p:nvSpPr>
        <p:spPr>
          <a:xfrm>
            <a:off x="566928" y="3383280"/>
            <a:ext cx="11057839" cy="365760"/>
          </a:xfrm>
          <a:prstGeom prst="rect">
            <a:avLst/>
          </a:prstGeom>
          <a:noFill/>
          <a:ln/>
        </p:spPr>
        <p:txBody>
          <a:bodyPr wrap="square" lIns="0" tIns="0" rIns="0" bIns="0" rtlCol="0" anchor="t"/>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Esta es la sección más importante de la sesión y la que más pesa en la rúbrica del proyecto.</a:t>
            </a:r>
            <a:endParaRPr lang="en-US" sz="1450" dirty="0"/>
          </a:p>
        </p:txBody>
      </p:sp>
      <p:sp>
        <p:nvSpPr>
          <p:cNvPr id="11" name="Shape 8"/>
          <p:cNvSpPr/>
          <p:nvPr/>
        </p:nvSpPr>
        <p:spPr>
          <a:xfrm>
            <a:off x="566928" y="3886200"/>
            <a:ext cx="11057839" cy="196596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12" name="Text 9"/>
          <p:cNvSpPr/>
          <p:nvPr/>
        </p:nvSpPr>
        <p:spPr>
          <a:xfrm>
            <a:off x="932688" y="4160520"/>
            <a:ext cx="2011680" cy="777240"/>
          </a:xfrm>
          <a:prstGeom prst="rect">
            <a:avLst/>
          </a:prstGeom>
          <a:noFill/>
          <a:ln/>
        </p:spPr>
        <p:txBody>
          <a:bodyPr wrap="square" lIns="0" tIns="0" rIns="0" bIns="0" rtlCol="0" anchor="ctr"/>
          <a:lstStyle/>
          <a:p>
            <a:pPr indent="0" marL="0">
              <a:buNone/>
            </a:pPr>
            <a:r>
              <a:rPr lang="en-US" sz="4600" dirty="0">
                <a:solidFill>
                  <a:srgbClr val="F07F06"/>
                </a:solidFill>
                <a:latin typeface="Arial Black" pitchFamily="34" charset="0"/>
                <a:ea typeface="Arial Black" pitchFamily="34" charset="-122"/>
                <a:cs typeface="Arial Black" pitchFamily="34" charset="-120"/>
              </a:rPr>
              <a:t>15 %</a:t>
            </a:r>
            <a:endParaRPr lang="en-US" sz="4600" dirty="0"/>
          </a:p>
        </p:txBody>
      </p:sp>
      <p:sp>
        <p:nvSpPr>
          <p:cNvPr id="13" name="Text 10"/>
          <p:cNvSpPr/>
          <p:nvPr/>
        </p:nvSpPr>
        <p:spPr>
          <a:xfrm>
            <a:off x="3218688" y="4187952"/>
            <a:ext cx="7863840" cy="292608"/>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CRITERIO DE PERTINENCIA · RÚBRICA DEL PROYECTO FINAL</a:t>
            </a:r>
            <a:endParaRPr lang="en-US" sz="1050" dirty="0"/>
          </a:p>
        </p:txBody>
      </p:sp>
      <p:sp>
        <p:nvSpPr>
          <p:cNvPr id="14" name="Text 11"/>
          <p:cNvSpPr/>
          <p:nvPr/>
        </p:nvSpPr>
        <p:spPr>
          <a:xfrm>
            <a:off x="3218688" y="4553712"/>
            <a:ext cx="7863840" cy="86868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Descriptor de «insuficiente», literal: usa blockchain sin necesidad real; una base de datos resolvería mejor. Conviene tomárselo en serio desde hoy.</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A.7 · ÁRBOL DE DECISIÓN · PASOS 1 A 3</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600" dirty="0">
                <a:solidFill>
                  <a:srgbClr val="0F0F11"/>
                </a:solidFill>
                <a:latin typeface="Arial Black" pitchFamily="34" charset="0"/>
                <a:ea typeface="Arial Black" pitchFamily="34" charset="-122"/>
                <a:cs typeface="Arial Black" pitchFamily="34" charset="-120"/>
              </a:rPr>
              <a:t>LA PRIMERA RESPUESTA QUE CORTE, CORTA</a:t>
            </a:r>
            <a:endParaRPr lang="en-US" sz="26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01 · ¿QUÉ PROBLEMA RESUELVE REALMENTE BLOCKCHAIN?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34</a:t>
            </a:r>
            <a:endParaRPr lang="en-US" sz="900" dirty="0"/>
          </a:p>
        </p:txBody>
      </p:sp>
      <p:sp>
        <p:nvSpPr>
          <p:cNvPr id="8" name="Text 5"/>
          <p:cNvSpPr/>
          <p:nvPr/>
        </p:nvSpPr>
        <p:spPr>
          <a:xfrm>
            <a:off x="566928" y="1828800"/>
            <a:ext cx="777240" cy="548640"/>
          </a:xfrm>
          <a:prstGeom prst="rect">
            <a:avLst/>
          </a:prstGeom>
          <a:noFill/>
          <a:ln/>
        </p:spPr>
        <p:txBody>
          <a:bodyPr wrap="square" lIns="0" tIns="0" rIns="0" bIns="0" rtlCol="0" anchor="t"/>
          <a:lstStyle/>
          <a:p>
            <a:pPr indent="0" marL="0">
              <a:buNone/>
            </a:pPr>
            <a:r>
              <a:rPr lang="en-US" sz="3000" dirty="0">
                <a:solidFill>
                  <a:srgbClr val="F07F06"/>
                </a:solidFill>
                <a:latin typeface="Arial Black" pitchFamily="34" charset="0"/>
                <a:ea typeface="Arial Black" pitchFamily="34" charset="-122"/>
                <a:cs typeface="Arial Black" pitchFamily="34" charset="-120"/>
              </a:rPr>
              <a:t>01</a:t>
            </a:r>
            <a:endParaRPr lang="en-US" sz="3000" dirty="0"/>
          </a:p>
        </p:txBody>
      </p:sp>
      <p:sp>
        <p:nvSpPr>
          <p:cNvPr id="9" name="Text 6"/>
          <p:cNvSpPr/>
          <p:nvPr/>
        </p:nvSpPr>
        <p:spPr>
          <a:xfrm>
            <a:off x="1435608" y="1783080"/>
            <a:ext cx="10189159" cy="457200"/>
          </a:xfrm>
          <a:prstGeom prst="rect">
            <a:avLst/>
          </a:prstGeom>
          <a:noFill/>
          <a:ln/>
        </p:spPr>
        <p:txBody>
          <a:bodyPr wrap="square" lIns="0" tIns="0" rIns="0" bIns="0" rtlCol="0" anchor="t"/>
          <a:lstStyle/>
          <a:p>
            <a:pPr indent="0" marL="0">
              <a:lnSpc>
                <a:spcPct val="110000"/>
              </a:lnSpc>
              <a:buNone/>
            </a:pPr>
            <a:r>
              <a:rPr lang="en-US" sz="1500" b="1" dirty="0">
                <a:solidFill>
                  <a:srgbClr val="0F0F11"/>
                </a:solidFill>
                <a:latin typeface="Arial" pitchFamily="34" charset="0"/>
                <a:ea typeface="Arial" pitchFamily="34" charset="-122"/>
                <a:cs typeface="Arial" pitchFamily="34" charset="-120"/>
              </a:rPr>
              <a:t>¿Hay más de una parte que escriba en el registro?</a:t>
            </a:r>
            <a:endParaRPr lang="en-US" sz="1500" dirty="0"/>
          </a:p>
        </p:txBody>
      </p:sp>
      <p:sp>
        <p:nvSpPr>
          <p:cNvPr id="10" name="Text 7"/>
          <p:cNvSpPr/>
          <p:nvPr/>
        </p:nvSpPr>
        <p:spPr>
          <a:xfrm>
            <a:off x="1435608" y="2313432"/>
            <a:ext cx="10189159" cy="73152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SI NO → use una base de datos. Un registro con un solo escritor no tiene problema de consenso, y el consenso es lo único que blockchain aporta y lo único que cuesta caro.</a:t>
            </a:r>
            <a:endParaRPr lang="en-US" sz="1300" dirty="0"/>
          </a:p>
        </p:txBody>
      </p:sp>
      <p:sp>
        <p:nvSpPr>
          <p:cNvPr id="11" name="Shape 8"/>
          <p:cNvSpPr/>
          <p:nvPr/>
        </p:nvSpPr>
        <p:spPr>
          <a:xfrm>
            <a:off x="566928" y="1636776"/>
            <a:ext cx="11057839" cy="0"/>
          </a:xfrm>
          <a:prstGeom prst="line">
            <a:avLst/>
          </a:prstGeom>
          <a:noFill/>
          <a:ln w="12700">
            <a:solidFill>
              <a:srgbClr val="D9D6E0"/>
            </a:solidFill>
            <a:prstDash val="solid"/>
          </a:ln>
        </p:spPr>
      </p:sp>
      <p:sp>
        <p:nvSpPr>
          <p:cNvPr id="12" name="Text 9"/>
          <p:cNvSpPr/>
          <p:nvPr/>
        </p:nvSpPr>
        <p:spPr>
          <a:xfrm>
            <a:off x="566928" y="3246120"/>
            <a:ext cx="777240" cy="548640"/>
          </a:xfrm>
          <a:prstGeom prst="rect">
            <a:avLst/>
          </a:prstGeom>
          <a:noFill/>
          <a:ln/>
        </p:spPr>
        <p:txBody>
          <a:bodyPr wrap="square" lIns="0" tIns="0" rIns="0" bIns="0" rtlCol="0" anchor="t"/>
          <a:lstStyle/>
          <a:p>
            <a:pPr indent="0" marL="0">
              <a:buNone/>
            </a:pPr>
            <a:r>
              <a:rPr lang="en-US" sz="3000" dirty="0">
                <a:solidFill>
                  <a:srgbClr val="F07F06"/>
                </a:solidFill>
                <a:latin typeface="Arial Black" pitchFamily="34" charset="0"/>
                <a:ea typeface="Arial Black" pitchFamily="34" charset="-122"/>
                <a:cs typeface="Arial Black" pitchFamily="34" charset="-120"/>
              </a:rPr>
              <a:t>02</a:t>
            </a:r>
            <a:endParaRPr lang="en-US" sz="3000" dirty="0"/>
          </a:p>
        </p:txBody>
      </p:sp>
      <p:sp>
        <p:nvSpPr>
          <p:cNvPr id="13" name="Text 10"/>
          <p:cNvSpPr/>
          <p:nvPr/>
        </p:nvSpPr>
        <p:spPr>
          <a:xfrm>
            <a:off x="1435608" y="3200400"/>
            <a:ext cx="10189159" cy="457200"/>
          </a:xfrm>
          <a:prstGeom prst="rect">
            <a:avLst/>
          </a:prstGeom>
          <a:noFill/>
          <a:ln/>
        </p:spPr>
        <p:txBody>
          <a:bodyPr wrap="square" lIns="0" tIns="0" rIns="0" bIns="0" rtlCol="0" anchor="t"/>
          <a:lstStyle/>
          <a:p>
            <a:pPr indent="0" marL="0">
              <a:lnSpc>
                <a:spcPct val="110000"/>
              </a:lnSpc>
              <a:buNone/>
            </a:pPr>
            <a:r>
              <a:rPr lang="en-US" sz="1500" b="1" dirty="0">
                <a:solidFill>
                  <a:srgbClr val="0F0F11"/>
                </a:solidFill>
                <a:latin typeface="Arial" pitchFamily="34" charset="0"/>
                <a:ea typeface="Arial" pitchFamily="34" charset="-122"/>
                <a:cs typeface="Arial" pitchFamily="34" charset="-120"/>
              </a:rPr>
              <a:t>¿Esas partes tienen intereses divergentes, al punto de que una podría querer alterar el registro en su favor?</a:t>
            </a:r>
            <a:endParaRPr lang="en-US" sz="1500" dirty="0"/>
          </a:p>
        </p:txBody>
      </p:sp>
      <p:sp>
        <p:nvSpPr>
          <p:cNvPr id="14" name="Text 11"/>
          <p:cNvSpPr/>
          <p:nvPr/>
        </p:nvSpPr>
        <p:spPr>
          <a:xfrm>
            <a:off x="1435608" y="3730752"/>
            <a:ext cx="10189159" cy="73152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SI NO → use una base de datos compartida con control de acceso. Entre partes que confían mutuamente, replicar y verificar todo es costo puro sin beneficio.</a:t>
            </a:r>
            <a:endParaRPr lang="en-US" sz="1300" dirty="0"/>
          </a:p>
        </p:txBody>
      </p:sp>
      <p:sp>
        <p:nvSpPr>
          <p:cNvPr id="15" name="Shape 12"/>
          <p:cNvSpPr/>
          <p:nvPr/>
        </p:nvSpPr>
        <p:spPr>
          <a:xfrm>
            <a:off x="566928" y="3054096"/>
            <a:ext cx="11057839" cy="0"/>
          </a:xfrm>
          <a:prstGeom prst="line">
            <a:avLst/>
          </a:prstGeom>
          <a:noFill/>
          <a:ln w="12700">
            <a:solidFill>
              <a:srgbClr val="D9D6E0"/>
            </a:solidFill>
            <a:prstDash val="solid"/>
          </a:ln>
        </p:spPr>
      </p:sp>
      <p:sp>
        <p:nvSpPr>
          <p:cNvPr id="16" name="Text 13"/>
          <p:cNvSpPr/>
          <p:nvPr/>
        </p:nvSpPr>
        <p:spPr>
          <a:xfrm>
            <a:off x="566928" y="4663440"/>
            <a:ext cx="777240" cy="548640"/>
          </a:xfrm>
          <a:prstGeom prst="rect">
            <a:avLst/>
          </a:prstGeom>
          <a:noFill/>
          <a:ln/>
        </p:spPr>
        <p:txBody>
          <a:bodyPr wrap="square" lIns="0" tIns="0" rIns="0" bIns="0" rtlCol="0" anchor="t"/>
          <a:lstStyle/>
          <a:p>
            <a:pPr indent="0" marL="0">
              <a:buNone/>
            </a:pPr>
            <a:r>
              <a:rPr lang="en-US" sz="3000" dirty="0">
                <a:solidFill>
                  <a:srgbClr val="F07F06"/>
                </a:solidFill>
                <a:latin typeface="Arial Black" pitchFamily="34" charset="0"/>
                <a:ea typeface="Arial Black" pitchFamily="34" charset="-122"/>
                <a:cs typeface="Arial Black" pitchFamily="34" charset="-120"/>
              </a:rPr>
              <a:t>03</a:t>
            </a:r>
            <a:endParaRPr lang="en-US" sz="3000" dirty="0"/>
          </a:p>
        </p:txBody>
      </p:sp>
      <p:sp>
        <p:nvSpPr>
          <p:cNvPr id="17" name="Text 14"/>
          <p:cNvSpPr/>
          <p:nvPr/>
        </p:nvSpPr>
        <p:spPr>
          <a:xfrm>
            <a:off x="1435608" y="4617720"/>
            <a:ext cx="10189159" cy="457200"/>
          </a:xfrm>
          <a:prstGeom prst="rect">
            <a:avLst/>
          </a:prstGeom>
          <a:noFill/>
          <a:ln/>
        </p:spPr>
        <p:txBody>
          <a:bodyPr wrap="square" lIns="0" tIns="0" rIns="0" bIns="0" rtlCol="0" anchor="t"/>
          <a:lstStyle/>
          <a:p>
            <a:pPr indent="0" marL="0">
              <a:lnSpc>
                <a:spcPct val="110000"/>
              </a:lnSpc>
              <a:buNone/>
            </a:pPr>
            <a:r>
              <a:rPr lang="en-US" sz="1500" b="1" dirty="0">
                <a:solidFill>
                  <a:srgbClr val="0F0F11"/>
                </a:solidFill>
                <a:latin typeface="Arial" pitchFamily="34" charset="0"/>
                <a:ea typeface="Arial" pitchFamily="34" charset="-122"/>
                <a:cs typeface="Arial" pitchFamily="34" charset="-120"/>
              </a:rPr>
              <a:t>¿Existe un tercero de confianza aceptable para todas las partes y disponible en la práctica?</a:t>
            </a:r>
            <a:endParaRPr lang="en-US" sz="1500" dirty="0"/>
          </a:p>
        </p:txBody>
      </p:sp>
      <p:sp>
        <p:nvSpPr>
          <p:cNvPr id="18" name="Text 15"/>
          <p:cNvSpPr/>
          <p:nvPr/>
        </p:nvSpPr>
        <p:spPr>
          <a:xfrm>
            <a:off x="1435608" y="5148072"/>
            <a:ext cx="10189159" cy="73152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SI EXISTE → úselo. Es más barato, más rápido y con recurso legal en caso de disputa. Blockchain solo se justifica cuando ese tercero no existe, no es aceptable para todos, o su costo o poder de exclusión son inaceptables.</a:t>
            </a:r>
            <a:endParaRPr lang="en-US" sz="1300" dirty="0"/>
          </a:p>
        </p:txBody>
      </p:sp>
      <p:sp>
        <p:nvSpPr>
          <p:cNvPr id="19" name="Shape 16"/>
          <p:cNvSpPr/>
          <p:nvPr/>
        </p:nvSpPr>
        <p:spPr>
          <a:xfrm>
            <a:off x="566928" y="4471416"/>
            <a:ext cx="11057839" cy="0"/>
          </a:xfrm>
          <a:prstGeom prst="line">
            <a:avLst/>
          </a:prstGeom>
          <a:noFill/>
          <a:ln w="12700">
            <a:solidFill>
              <a:srgbClr val="D9D6E0"/>
            </a:solidFill>
            <a:prstDash val="solid"/>
          </a:ln>
        </p:spPr>
      </p:sp>
      <p:sp>
        <p:nvSpPr>
          <p:cNvPr id="20" name="Shape 17"/>
          <p:cNvSpPr/>
          <p:nvPr/>
        </p:nvSpPr>
        <p:spPr>
          <a:xfrm>
            <a:off x="566928" y="5888736"/>
            <a:ext cx="11057839" cy="0"/>
          </a:xfrm>
          <a:prstGeom prst="line">
            <a:avLst/>
          </a:prstGeom>
          <a:noFill/>
          <a:ln w="12700">
            <a:solidFill>
              <a:srgbClr val="D9D6E0"/>
            </a:solidFill>
            <a:prstDash val="solid"/>
          </a:ln>
        </p:spPr>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A.7 · ÁRBOL DE DECISIÓN · PASOS 4 A 6</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500" dirty="0">
                <a:solidFill>
                  <a:srgbClr val="0F0F11"/>
                </a:solidFill>
                <a:latin typeface="Arial Black" pitchFamily="34" charset="0"/>
                <a:ea typeface="Arial Black" pitchFamily="34" charset="-122"/>
                <a:cs typeface="Arial Black" pitchFamily="34" charset="-120"/>
              </a:rPr>
              <a:t>DATOS PERSONALES, LATENCIA Y EL ÚLTIMO KILÓMETRO</a:t>
            </a:r>
            <a:endParaRPr lang="en-US" sz="25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01 · ¿QUÉ PROBLEMA RESUELVE REALMENTE BLOCKCHAIN?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35</a:t>
            </a:r>
            <a:endParaRPr lang="en-US" sz="900" dirty="0"/>
          </a:p>
        </p:txBody>
      </p:sp>
      <p:sp>
        <p:nvSpPr>
          <p:cNvPr id="8" name="Text 5"/>
          <p:cNvSpPr/>
          <p:nvPr/>
        </p:nvSpPr>
        <p:spPr>
          <a:xfrm>
            <a:off x="566928" y="1828800"/>
            <a:ext cx="777240" cy="548640"/>
          </a:xfrm>
          <a:prstGeom prst="rect">
            <a:avLst/>
          </a:prstGeom>
          <a:noFill/>
          <a:ln/>
        </p:spPr>
        <p:txBody>
          <a:bodyPr wrap="square" lIns="0" tIns="0" rIns="0" bIns="0" rtlCol="0" anchor="t"/>
          <a:lstStyle/>
          <a:p>
            <a:pPr indent="0" marL="0">
              <a:buNone/>
            </a:pPr>
            <a:r>
              <a:rPr lang="en-US" sz="3000" dirty="0">
                <a:solidFill>
                  <a:srgbClr val="F07F06"/>
                </a:solidFill>
                <a:latin typeface="Arial Black" pitchFamily="34" charset="0"/>
                <a:ea typeface="Arial Black" pitchFamily="34" charset="-122"/>
                <a:cs typeface="Arial Black" pitchFamily="34" charset="-120"/>
              </a:rPr>
              <a:t>04</a:t>
            </a:r>
            <a:endParaRPr lang="en-US" sz="3000" dirty="0"/>
          </a:p>
        </p:txBody>
      </p:sp>
      <p:sp>
        <p:nvSpPr>
          <p:cNvPr id="9" name="Text 6"/>
          <p:cNvSpPr/>
          <p:nvPr/>
        </p:nvSpPr>
        <p:spPr>
          <a:xfrm>
            <a:off x="1435608" y="1783080"/>
            <a:ext cx="10189159" cy="457200"/>
          </a:xfrm>
          <a:prstGeom prst="rect">
            <a:avLst/>
          </a:prstGeom>
          <a:noFill/>
          <a:ln/>
        </p:spPr>
        <p:txBody>
          <a:bodyPr wrap="square" lIns="0" tIns="0" rIns="0" bIns="0" rtlCol="0" anchor="t"/>
          <a:lstStyle/>
          <a:p>
            <a:pPr indent="0" marL="0">
              <a:lnSpc>
                <a:spcPct val="110000"/>
              </a:lnSpc>
              <a:buNone/>
            </a:pPr>
            <a:r>
              <a:rPr lang="en-US" sz="1500" b="1" dirty="0">
                <a:solidFill>
                  <a:srgbClr val="0F0F11"/>
                </a:solidFill>
                <a:latin typeface="Arial" pitchFamily="34" charset="0"/>
                <a:ea typeface="Arial" pitchFamily="34" charset="-122"/>
                <a:cs typeface="Arial" pitchFamily="34" charset="-120"/>
              </a:rPr>
              <a:t>¿El dato debe ser público, o al menos verificable por terceros?</a:t>
            </a:r>
            <a:endParaRPr lang="en-US" sz="1500" dirty="0"/>
          </a:p>
        </p:txBody>
      </p:sp>
      <p:sp>
        <p:nvSpPr>
          <p:cNvPr id="10" name="Text 7"/>
          <p:cNvSpPr/>
          <p:nvPr/>
        </p:nvSpPr>
        <p:spPr>
          <a:xfrm>
            <a:off x="1435608" y="2313432"/>
            <a:ext cx="10189159" cy="77724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SI ES SENSIBLE O PERSONAL → cuidado grave. Lo escrito en una cadena pública es visible para siempre y no se puede borrar. Colisiona con el derecho de supresión de la Ley 1581 de 2012 en Colombia. Si hay que registrarlo, va el HASH del dato, nunca el dato.</a:t>
            </a:r>
            <a:endParaRPr lang="en-US" sz="1300" dirty="0"/>
          </a:p>
        </p:txBody>
      </p:sp>
      <p:sp>
        <p:nvSpPr>
          <p:cNvPr id="11" name="Shape 8"/>
          <p:cNvSpPr/>
          <p:nvPr/>
        </p:nvSpPr>
        <p:spPr>
          <a:xfrm>
            <a:off x="566928" y="1636776"/>
            <a:ext cx="11057839" cy="0"/>
          </a:xfrm>
          <a:prstGeom prst="line">
            <a:avLst/>
          </a:prstGeom>
          <a:noFill/>
          <a:ln w="12700">
            <a:solidFill>
              <a:srgbClr val="D9D6E0"/>
            </a:solidFill>
            <a:prstDash val="solid"/>
          </a:ln>
        </p:spPr>
      </p:sp>
      <p:sp>
        <p:nvSpPr>
          <p:cNvPr id="12" name="Text 9"/>
          <p:cNvSpPr/>
          <p:nvPr/>
        </p:nvSpPr>
        <p:spPr>
          <a:xfrm>
            <a:off x="566928" y="3246120"/>
            <a:ext cx="777240" cy="548640"/>
          </a:xfrm>
          <a:prstGeom prst="rect">
            <a:avLst/>
          </a:prstGeom>
          <a:noFill/>
          <a:ln/>
        </p:spPr>
        <p:txBody>
          <a:bodyPr wrap="square" lIns="0" tIns="0" rIns="0" bIns="0" rtlCol="0" anchor="t"/>
          <a:lstStyle/>
          <a:p>
            <a:pPr indent="0" marL="0">
              <a:buNone/>
            </a:pPr>
            <a:r>
              <a:rPr lang="en-US" sz="3000" dirty="0">
                <a:solidFill>
                  <a:srgbClr val="F07F06"/>
                </a:solidFill>
                <a:latin typeface="Arial Black" pitchFamily="34" charset="0"/>
                <a:ea typeface="Arial Black" pitchFamily="34" charset="-122"/>
                <a:cs typeface="Arial Black" pitchFamily="34" charset="-120"/>
              </a:rPr>
              <a:t>05</a:t>
            </a:r>
            <a:endParaRPr lang="en-US" sz="3000" dirty="0"/>
          </a:p>
        </p:txBody>
      </p:sp>
      <p:sp>
        <p:nvSpPr>
          <p:cNvPr id="13" name="Text 10"/>
          <p:cNvSpPr/>
          <p:nvPr/>
        </p:nvSpPr>
        <p:spPr>
          <a:xfrm>
            <a:off x="1435608" y="3200400"/>
            <a:ext cx="10189159" cy="457200"/>
          </a:xfrm>
          <a:prstGeom prst="rect">
            <a:avLst/>
          </a:prstGeom>
          <a:noFill/>
          <a:ln/>
        </p:spPr>
        <p:txBody>
          <a:bodyPr wrap="square" lIns="0" tIns="0" rIns="0" bIns="0" rtlCol="0" anchor="t"/>
          <a:lstStyle/>
          <a:p>
            <a:pPr indent="0" marL="0">
              <a:lnSpc>
                <a:spcPct val="110000"/>
              </a:lnSpc>
              <a:buNone/>
            </a:pPr>
            <a:r>
              <a:rPr lang="en-US" sz="1500" b="1" dirty="0">
                <a:solidFill>
                  <a:srgbClr val="0F0F11"/>
                </a:solidFill>
                <a:latin typeface="Arial" pitchFamily="34" charset="0"/>
                <a:ea typeface="Arial" pitchFamily="34" charset="-122"/>
                <a:cs typeface="Arial" pitchFamily="34" charset="-120"/>
              </a:rPr>
              <a:t>¿El sistema tolera latencia de segundos a minutos y un costo por operación?</a:t>
            </a:r>
            <a:endParaRPr lang="en-US" sz="1500" dirty="0"/>
          </a:p>
        </p:txBody>
      </p:sp>
      <p:sp>
        <p:nvSpPr>
          <p:cNvPr id="14" name="Text 11"/>
          <p:cNvSpPr/>
          <p:nvPr/>
        </p:nvSpPr>
        <p:spPr>
          <a:xfrm>
            <a:off x="1435608" y="3730752"/>
            <a:ext cx="10189159" cy="77724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SI NECESITA MILES DE OPERACIONES POR SEGUNDO → la capa base no sirve. Evalúe capa 2 (Sesión 16) o, con honestidad, una arquitectura convencional.</a:t>
            </a:r>
            <a:endParaRPr lang="en-US" sz="1300" dirty="0"/>
          </a:p>
        </p:txBody>
      </p:sp>
      <p:sp>
        <p:nvSpPr>
          <p:cNvPr id="15" name="Shape 12"/>
          <p:cNvSpPr/>
          <p:nvPr/>
        </p:nvSpPr>
        <p:spPr>
          <a:xfrm>
            <a:off x="566928" y="3054096"/>
            <a:ext cx="11057839" cy="0"/>
          </a:xfrm>
          <a:prstGeom prst="line">
            <a:avLst/>
          </a:prstGeom>
          <a:noFill/>
          <a:ln w="12700">
            <a:solidFill>
              <a:srgbClr val="D9D6E0"/>
            </a:solidFill>
            <a:prstDash val="solid"/>
          </a:ln>
        </p:spPr>
      </p:sp>
      <p:sp>
        <p:nvSpPr>
          <p:cNvPr id="16" name="Text 13"/>
          <p:cNvSpPr/>
          <p:nvPr/>
        </p:nvSpPr>
        <p:spPr>
          <a:xfrm>
            <a:off x="566928" y="4663440"/>
            <a:ext cx="777240" cy="548640"/>
          </a:xfrm>
          <a:prstGeom prst="rect">
            <a:avLst/>
          </a:prstGeom>
          <a:noFill/>
          <a:ln/>
        </p:spPr>
        <p:txBody>
          <a:bodyPr wrap="square" lIns="0" tIns="0" rIns="0" bIns="0" rtlCol="0" anchor="t"/>
          <a:lstStyle/>
          <a:p>
            <a:pPr indent="0" marL="0">
              <a:buNone/>
            </a:pPr>
            <a:r>
              <a:rPr lang="en-US" sz="3000" dirty="0">
                <a:solidFill>
                  <a:srgbClr val="F07F06"/>
                </a:solidFill>
                <a:latin typeface="Arial Black" pitchFamily="34" charset="0"/>
                <a:ea typeface="Arial Black" pitchFamily="34" charset="-122"/>
                <a:cs typeface="Arial Black" pitchFamily="34" charset="-120"/>
              </a:rPr>
              <a:t>06</a:t>
            </a:r>
            <a:endParaRPr lang="en-US" sz="3000" dirty="0"/>
          </a:p>
        </p:txBody>
      </p:sp>
      <p:sp>
        <p:nvSpPr>
          <p:cNvPr id="17" name="Text 14"/>
          <p:cNvSpPr/>
          <p:nvPr/>
        </p:nvSpPr>
        <p:spPr>
          <a:xfrm>
            <a:off x="1435608" y="4617720"/>
            <a:ext cx="10189159" cy="457200"/>
          </a:xfrm>
          <a:prstGeom prst="rect">
            <a:avLst/>
          </a:prstGeom>
          <a:noFill/>
          <a:ln/>
        </p:spPr>
        <p:txBody>
          <a:bodyPr wrap="square" lIns="0" tIns="0" rIns="0" bIns="0" rtlCol="0" anchor="t"/>
          <a:lstStyle/>
          <a:p>
            <a:pPr indent="0" marL="0">
              <a:lnSpc>
                <a:spcPct val="110000"/>
              </a:lnSpc>
              <a:buNone/>
            </a:pPr>
            <a:r>
              <a:rPr lang="en-US" sz="1500" b="1" dirty="0">
                <a:solidFill>
                  <a:srgbClr val="0F0F11"/>
                </a:solidFill>
                <a:latin typeface="Arial" pitchFamily="34" charset="0"/>
                <a:ea typeface="Arial" pitchFamily="34" charset="-122"/>
                <a:cs typeface="Arial" pitchFamily="34" charset="-120"/>
              </a:rPr>
              <a:t>¿El problema es de registro, o es de captura de datos?</a:t>
            </a:r>
            <a:endParaRPr lang="en-US" sz="1500" dirty="0"/>
          </a:p>
        </p:txBody>
      </p:sp>
      <p:sp>
        <p:nvSpPr>
          <p:cNvPr id="18" name="Text 15"/>
          <p:cNvSpPr/>
          <p:nvPr/>
        </p:nvSpPr>
        <p:spPr>
          <a:xfrm>
            <a:off x="1435608" y="5148072"/>
            <a:ext cx="10189159" cy="77724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La trampa más frecuente en trazabilidad. Una cadena garantiza que lo escrito no se alteró después. NO garantiza que fuera cierto. Si alguien registra que un lote es orgánico y no lo es, la cadena preservará esa mentira con integridad perfecta y para siempre.</a:t>
            </a:r>
            <a:endParaRPr lang="en-US" sz="1300" dirty="0"/>
          </a:p>
        </p:txBody>
      </p:sp>
      <p:sp>
        <p:nvSpPr>
          <p:cNvPr id="19" name="Shape 16"/>
          <p:cNvSpPr/>
          <p:nvPr/>
        </p:nvSpPr>
        <p:spPr>
          <a:xfrm>
            <a:off x="566928" y="4471416"/>
            <a:ext cx="11057839" cy="0"/>
          </a:xfrm>
          <a:prstGeom prst="line">
            <a:avLst/>
          </a:prstGeom>
          <a:noFill/>
          <a:ln w="12700">
            <a:solidFill>
              <a:srgbClr val="D9D6E0"/>
            </a:solidFill>
            <a:prstDash val="solid"/>
          </a:ln>
        </p:spPr>
      </p:sp>
      <p:sp>
        <p:nvSpPr>
          <p:cNvPr id="20" name="Shape 17"/>
          <p:cNvSpPr/>
          <p:nvPr/>
        </p:nvSpPr>
        <p:spPr>
          <a:xfrm>
            <a:off x="566928" y="5888736"/>
            <a:ext cx="11057839" cy="0"/>
          </a:xfrm>
          <a:prstGeom prst="line">
            <a:avLst/>
          </a:prstGeom>
          <a:noFill/>
          <a:ln w="12700">
            <a:solidFill>
              <a:srgbClr val="D9D6E0"/>
            </a:solidFill>
            <a:prstDash val="solid"/>
          </a:ln>
        </p:spPr>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A.7 · ENUNCIADO DESDE EL PRIMER DÍA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EL PROBLEMA DEL ORÁCULO</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01 · ¿QUÉ PROBLEMA RESUELVE REALMENTE BLOCKCHAIN?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36</a:t>
            </a:r>
            <a:endParaRPr lang="en-US" sz="900" dirty="0"/>
          </a:p>
        </p:txBody>
      </p:sp>
      <p:sp>
        <p:nvSpPr>
          <p:cNvPr id="8" name="Shape 5"/>
          <p:cNvSpPr/>
          <p:nvPr/>
        </p:nvSpPr>
        <p:spPr>
          <a:xfrm>
            <a:off x="566928" y="1783080"/>
            <a:ext cx="11057839" cy="219456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9" name="Image 1" descr="preencoded.png">    </p:cNvPr>
          <p:cNvPicPr>
            <a:picLocks noChangeAspect="1"/>
          </p:cNvPicPr>
          <p:nvPr/>
        </p:nvPicPr>
        <p:blipFill>
          <a:blip r:embed="rId2"/>
          <a:stretch>
            <a:fillRect/>
          </a:stretch>
        </p:blipFill>
        <p:spPr>
          <a:xfrm>
            <a:off x="804672" y="2002536"/>
            <a:ext cx="237744" cy="237744"/>
          </a:xfrm>
          <a:prstGeom prst="rect">
            <a:avLst/>
          </a:prstGeom>
        </p:spPr>
      </p:pic>
      <p:sp>
        <p:nvSpPr>
          <p:cNvPr id="10" name="Text 6"/>
          <p:cNvSpPr/>
          <p:nvPr/>
        </p:nvSpPr>
        <p:spPr>
          <a:xfrm>
            <a:off x="1133856" y="1975104"/>
            <a:ext cx="10234879"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ALERTA · UNA CADENA NO TIENE ACCESO AL MUNDO EXTERIOR</a:t>
            </a:r>
            <a:endParaRPr lang="en-US" sz="950" dirty="0"/>
          </a:p>
        </p:txBody>
      </p:sp>
      <p:sp>
        <p:nvSpPr>
          <p:cNvPr id="11" name="Text 7"/>
          <p:cNvSpPr/>
          <p:nvPr/>
        </p:nvSpPr>
        <p:spPr>
          <a:xfrm>
            <a:off x="804672" y="2368296"/>
            <a:ext cx="10582351" cy="82296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No puede consultar el clima, ni un precio, ni si un contenedor llegó al puerto. Toda información externa debe ser introducida por un actor, y ese actor es un punto de confianza que hay que analizar explícitamente.</a:t>
            </a:r>
            <a:endParaRPr lang="en-US" sz="1400" dirty="0"/>
          </a:p>
        </p:txBody>
      </p:sp>
      <p:sp>
        <p:nvSpPr>
          <p:cNvPr id="12" name="Text 8"/>
          <p:cNvSpPr/>
          <p:nvPr/>
        </p:nvSpPr>
        <p:spPr>
          <a:xfrm>
            <a:off x="804672" y="3236976"/>
            <a:ext cx="10582351" cy="82296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Cualquier proyecto que dependa de datos del mundo físico debe responder, en el anteproyecto, quién introduce el dato y por qué debemos creerle. La respuesta «lo pone el usuario» es válida solo si se acepta explícitamente que el sistema no verifica la veracidad.</a:t>
            </a:r>
            <a:endParaRPr lang="en-US" sz="1400" dirty="0"/>
          </a:p>
        </p:txBody>
      </p:sp>
      <p:sp>
        <p:nvSpPr>
          <p:cNvPr id="13" name="Shape 9"/>
          <p:cNvSpPr/>
          <p:nvPr/>
        </p:nvSpPr>
        <p:spPr>
          <a:xfrm>
            <a:off x="566928" y="4251960"/>
            <a:ext cx="11057839" cy="123444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sp>
        <p:nvSpPr>
          <p:cNvPr id="14" name="Text 10"/>
          <p:cNvSpPr/>
          <p:nvPr/>
        </p:nvSpPr>
        <p:spPr>
          <a:xfrm>
            <a:off x="950976" y="4471416"/>
            <a:ext cx="10289743" cy="795528"/>
          </a:xfrm>
          <a:prstGeom prst="rect">
            <a:avLst/>
          </a:prstGeom>
          <a:noFill/>
          <a:ln/>
        </p:spPr>
        <p:txBody>
          <a:bodyPr wrap="square" lIns="0" tIns="0" rIns="0" bIns="0" rtlCol="0" anchor="ctr"/>
          <a:lstStyle/>
          <a:p>
            <a:pPr indent="0" marL="0">
              <a:lnSpc>
                <a:spcPct val="106000"/>
              </a:lnSpc>
              <a:buNone/>
            </a:pPr>
            <a:r>
              <a:rPr lang="en-US" sz="2200" dirty="0">
                <a:solidFill>
                  <a:srgbClr val="0F0F11"/>
                </a:solidFill>
                <a:latin typeface="Arial Black" pitchFamily="34" charset="0"/>
                <a:ea typeface="Arial Black" pitchFamily="34" charset="-122"/>
                <a:cs typeface="Arial Black" pitchFamily="34" charset="-120"/>
              </a:rPr>
              <a:t>La cadena garantiza integridad del registro. No garantiza veracidad del dato registrado.</a:t>
            </a:r>
            <a:endParaRPr lang="en-US" sz="2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A.7 · PARA DIMENSIONAR EL COSTO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600" dirty="0">
                <a:solidFill>
                  <a:srgbClr val="0F0F11"/>
                </a:solidFill>
                <a:latin typeface="Arial Black" pitchFamily="34" charset="0"/>
                <a:ea typeface="Arial Black" pitchFamily="34" charset="-122"/>
                <a:cs typeface="Arial Black" pitchFamily="34" charset="-120"/>
              </a:rPr>
              <a:t>LOS NÚMEROS, EN ÓRDENES DE MAGNITUD</a:t>
            </a:r>
            <a:endParaRPr lang="en-US" sz="26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01 · ¿QUÉ PROBLEMA RESUELVE REALMENTE BLOCKCHAIN?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37</a:t>
            </a:r>
            <a:endParaRPr lang="en-US" sz="900" dirty="0"/>
          </a:p>
        </p:txBody>
      </p:sp>
      <p:sp>
        <p:nvSpPr>
          <p:cNvPr id="8" name="Text 5"/>
          <p:cNvSpPr/>
          <p:nvPr/>
        </p:nvSpPr>
        <p:spPr>
          <a:xfrm>
            <a:off x="566928" y="1719072"/>
            <a:ext cx="11057839" cy="274320"/>
          </a:xfrm>
          <a:prstGeom prst="rect">
            <a:avLst/>
          </a:prstGeom>
          <a:noFill/>
          <a:ln/>
        </p:spPr>
        <p:txBody>
          <a:bodyPr wrap="square" lIns="0" tIns="0" rIns="0" bIns="0" rtlCol="0" anchor="ctr"/>
          <a:lstStyle/>
          <a:p>
            <a:pPr indent="0" marL="0">
              <a:buNone/>
            </a:pPr>
            <a:r>
              <a:rPr lang="en-US" sz="1300" b="1" dirty="0">
                <a:solidFill>
                  <a:srgbClr val="0F0F11"/>
                </a:solidFill>
                <a:latin typeface="Courier New" pitchFamily="34" charset="0"/>
                <a:ea typeface="Courier New" pitchFamily="34" charset="-122"/>
                <a:cs typeface="Courier New" pitchFamily="34" charset="-120"/>
              </a:rPr>
              <a:t>TPS </a:t>
            </a:r>
            <a:pPr indent="0" marL="0">
              <a:buNone/>
            </a:pPr>
            <a:r>
              <a:rPr lang="en-US" sz="1150" dirty="0">
                <a:solidFill>
                  <a:srgbClr val="5638C9"/>
                </a:solidFill>
                <a:latin typeface="Courier New" pitchFamily="34" charset="0"/>
                <a:ea typeface="Courier New" pitchFamily="34" charset="-122"/>
                <a:cs typeface="Courier New" pitchFamily="34" charset="-120"/>
              </a:rPr>
              <a:t>[Transactions Per Second · transacciones por segundo]</a:t>
            </a:r>
            <a:endParaRPr lang="en-US" sz="13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66928" y="2103120"/>
          <a:ext cx="11057839" cy="914400"/>
        </p:xfrm>
        <a:graphic>
          <a:graphicData uri="http://schemas.openxmlformats.org/drawingml/2006/table">
            <a:tbl>
              <a:tblPr/>
              <a:tblGrid>
                <a:gridCol w="3657600"/>
                <a:gridCol w="2377440"/>
                <a:gridCol w="3200400"/>
                <a:gridCol w="182239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SISTEMA</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RENDIMIENTO APROX.</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LATENCIA HASTA LIQUIDACIÓN PRÁCTICA</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COSTO POR OPERACIÓN</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50469">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Motor de base de datos centralizado</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Decenas de miles a millones</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Milisegundos</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Despreciable</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50469">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Red de tarjetas de pago</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Miles (promedio real)</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Segundos para autorizar; días para liquidar</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Comisión porcentual al comercio</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50469">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Ethereum, capa base</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Orden de decenas</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Decenas de segundos a minutos</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Variable, según congestión</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50469">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Bitcoin, capa base</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Orden de unidades</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Decenas de minutos</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Variable, según congestión</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50469">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Capa 2 sobre Ethereum</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Cientos a miles</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Segundos</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Fracción de la capa base</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10" name="Shape 6"/>
          <p:cNvSpPr/>
          <p:nvPr/>
        </p:nvSpPr>
        <p:spPr>
          <a:xfrm>
            <a:off x="548640" y="2084832"/>
            <a:ext cx="11094415" cy="3099816"/>
          </a:xfrm>
          <a:prstGeom prst="rect">
            <a:avLst/>
          </a:prstGeom>
          <a:ln w="22225">
            <a:solidFill>
              <a:srgbClr val="0F0F11"/>
            </a:solidFill>
            <a:prstDash val="solid"/>
          </a:ln>
        </p:spPr>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A.7 · CIERRE DEL BLOQUE 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600" dirty="0">
                <a:solidFill>
                  <a:srgbClr val="0F0F11"/>
                </a:solidFill>
                <a:latin typeface="Arial Black" pitchFamily="34" charset="0"/>
                <a:ea typeface="Arial Black" pitchFamily="34" charset="-122"/>
                <a:cs typeface="Arial Black" pitchFamily="34" charset="-120"/>
              </a:rPr>
              <a:t>EL ÁRBOL NO SE MEMORIZA: SE RECORRE</a:t>
            </a:r>
            <a:endParaRPr lang="en-US" sz="26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01 · ¿QUÉ PROBLEMA RESUELVE REALMENTE BLOCKCHAIN?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38</a:t>
            </a:r>
            <a:endParaRPr lang="en-US" sz="900" dirty="0"/>
          </a:p>
        </p:txBody>
      </p:sp>
      <p:sp>
        <p:nvSpPr>
          <p:cNvPr id="8" name="Shape 5"/>
          <p:cNvSpPr/>
          <p:nvPr/>
        </p:nvSpPr>
        <p:spPr>
          <a:xfrm>
            <a:off x="566928" y="1783080"/>
            <a:ext cx="11057839" cy="173736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pic>
        <p:nvPicPr>
          <p:cNvPr id="9" name="Image 1" descr="preencoded.png">    </p:cNvPr>
          <p:cNvPicPr>
            <a:picLocks noChangeAspect="1"/>
          </p:cNvPicPr>
          <p:nvPr/>
        </p:nvPicPr>
        <p:blipFill>
          <a:blip r:embed="rId2"/>
          <a:stretch>
            <a:fillRect/>
          </a:stretch>
        </p:blipFill>
        <p:spPr>
          <a:xfrm>
            <a:off x="804672" y="2002536"/>
            <a:ext cx="237744" cy="237744"/>
          </a:xfrm>
          <a:prstGeom prst="rect">
            <a:avLst/>
          </a:prstGeom>
        </p:spPr>
      </p:pic>
      <p:sp>
        <p:nvSpPr>
          <p:cNvPr id="10" name="Text 6"/>
          <p:cNvSpPr/>
          <p:nvPr/>
        </p:nvSpPr>
        <p:spPr>
          <a:xfrm>
            <a:off x="1133856" y="1975104"/>
            <a:ext cx="10234879" cy="292608"/>
          </a:xfrm>
          <a:prstGeom prst="rect">
            <a:avLst/>
          </a:prstGeom>
          <a:noFill/>
          <a:ln/>
        </p:spPr>
        <p:txBody>
          <a:bodyPr wrap="square" lIns="0" tIns="0" rIns="0" bIns="0" rtlCol="0" anchor="ctr"/>
          <a:lstStyle/>
          <a:p>
            <a:pPr indent="0" marL="0">
              <a:buNone/>
            </a:pPr>
            <a:r>
              <a:rPr lang="en-US" sz="950" b="1" spc="150" kern="0" dirty="0">
                <a:solidFill>
                  <a:srgbClr val="0F0F11"/>
                </a:solidFill>
                <a:latin typeface="Courier New" pitchFamily="34" charset="0"/>
                <a:ea typeface="Courier New" pitchFamily="34" charset="-122"/>
                <a:cs typeface="Courier New" pitchFamily="34" charset="-120"/>
              </a:rPr>
              <a:t>SE APLICA DESPUÉS DE LA PAUSA, EN EL TALLER B.4</a:t>
            </a:r>
            <a:endParaRPr lang="en-US" sz="950" dirty="0"/>
          </a:p>
        </p:txBody>
      </p:sp>
      <p:sp>
        <p:nvSpPr>
          <p:cNvPr id="11" name="Text 7"/>
          <p:cNvSpPr/>
          <p:nvPr/>
        </p:nvSpPr>
        <p:spPr>
          <a:xfrm>
            <a:off x="987552" y="2368296"/>
            <a:ext cx="10216591" cy="914400"/>
          </a:xfrm>
          <a:prstGeom prst="rect">
            <a:avLst/>
          </a:prstGeom>
          <a:noFill/>
          <a:ln/>
        </p:spPr>
        <p:txBody>
          <a:bodyPr wrap="square" lIns="0" tIns="0" rIns="0" bIns="0" rtlCol="0" anchor="t"/>
          <a:lstStyle/>
          <a:p>
            <a:pPr indent="0" marL="0">
              <a:lnSpc>
                <a:spcPct val="108000"/>
              </a:lnSpc>
              <a:buNone/>
            </a:pPr>
            <a:r>
              <a:rPr lang="en-US" sz="1900" dirty="0">
                <a:solidFill>
                  <a:srgbClr val="0F0F11"/>
                </a:solidFill>
                <a:latin typeface="Arial Black" pitchFamily="34" charset="0"/>
                <a:ea typeface="Arial Black" pitchFamily="34" charset="-122"/>
                <a:cs typeface="Arial Black" pitchFamily="34" charset="-120"/>
              </a:rPr>
              <a:t>No hay que memorizar los seis pasos. Hay que saber recorrerlos con un caso concreto en la mano — que es lo que exigirá el anteproyecto de la Sesión 6.</a:t>
            </a:r>
            <a:endParaRPr lang="en-US" sz="1900" dirty="0"/>
          </a:p>
        </p:txBody>
      </p:sp>
      <p:sp>
        <p:nvSpPr>
          <p:cNvPr id="12" name="Text 8"/>
          <p:cNvSpPr/>
          <p:nvPr/>
        </p:nvSpPr>
        <p:spPr>
          <a:xfrm>
            <a:off x="566928" y="3794760"/>
            <a:ext cx="11057839" cy="365760"/>
          </a:xfrm>
          <a:prstGeom prst="rect">
            <a:avLst/>
          </a:prstGeom>
          <a:noFill/>
          <a:ln/>
        </p:spPr>
        <p:txBody>
          <a:bodyPr wrap="square" lIns="0" tIns="0" rIns="0" bIns="0" rtlCol="0" anchor="t"/>
          <a:lstStyle/>
          <a:p>
            <a:pPr indent="0" marL="0">
              <a:lnSpc>
                <a:spcPct val="124000"/>
              </a:lnSpc>
              <a:buNone/>
            </a:pPr>
            <a:r>
              <a:rPr lang="en-US" sz="1350" dirty="0">
                <a:solidFill>
                  <a:srgbClr val="6F6B80"/>
                </a:solidFill>
                <a:latin typeface="Arial" pitchFamily="34" charset="0"/>
                <a:ea typeface="Arial" pitchFamily="34" charset="-122"/>
                <a:cs typeface="Arial" pitchFamily="34" charset="-120"/>
              </a:rPr>
              <a:t>Antes de la pausa, la síntesis del bloque A en tres afirmaciones:</a:t>
            </a:r>
            <a:endParaRPr lang="en-US" sz="1350" dirty="0"/>
          </a:p>
        </p:txBody>
      </p:sp>
      <p:sp>
        <p:nvSpPr>
          <p:cNvPr id="13" name="Shape 9"/>
          <p:cNvSpPr/>
          <p:nvPr/>
        </p:nvSpPr>
        <p:spPr>
          <a:xfrm>
            <a:off x="566928" y="4251960"/>
            <a:ext cx="3576218" cy="1600200"/>
          </a:xfrm>
          <a:prstGeom prst="rect">
            <a:avLst/>
          </a:prstGeom>
          <a:solidFill>
            <a:srgbClr val="FFFFFF"/>
          </a:solidFill>
          <a:ln w="22225">
            <a:solidFill>
              <a:srgbClr val="0F0F11"/>
            </a:solidFill>
            <a:prstDash val="solid"/>
          </a:ln>
          <a:effectLst>
            <a:outerShdw sx="100000" sy="100000" kx="0" ky="0" algn="bl" rotWithShape="0" blurRad="101600" dist="63500" dir="2700000">
              <a:srgbClr val="0F0F11">
                <a:alpha val="100000"/>
              </a:srgbClr>
            </a:outerShdw>
          </a:effectLst>
        </p:spPr>
      </p:sp>
      <p:sp>
        <p:nvSpPr>
          <p:cNvPr id="14" name="Text 10"/>
          <p:cNvSpPr/>
          <p:nvPr/>
        </p:nvSpPr>
        <p:spPr>
          <a:xfrm>
            <a:off x="841248" y="4480560"/>
            <a:ext cx="3027578" cy="310896"/>
          </a:xfrm>
          <a:prstGeom prst="rect">
            <a:avLst/>
          </a:prstGeom>
          <a:noFill/>
          <a:ln/>
        </p:spPr>
        <p:txBody>
          <a:bodyPr wrap="square" lIns="0" tIns="0" rIns="0" bIns="0" rtlCol="0" anchor="ctr"/>
          <a:lstStyle/>
          <a:p>
            <a:pPr indent="0" marL="0">
              <a:buNone/>
            </a:pPr>
            <a:r>
              <a:rPr lang="en-US" sz="1100" b="1" spc="140" kern="0" dirty="0">
                <a:solidFill>
                  <a:srgbClr val="A35604"/>
                </a:solidFill>
                <a:latin typeface="Courier New" pitchFamily="34" charset="0"/>
                <a:ea typeface="Courier New" pitchFamily="34" charset="-122"/>
                <a:cs typeface="Courier New" pitchFamily="34" charset="-120"/>
              </a:rPr>
              <a:t>EL PROBLEMA</a:t>
            </a:r>
            <a:endParaRPr lang="en-US" sz="1100" dirty="0"/>
          </a:p>
        </p:txBody>
      </p:sp>
      <p:sp>
        <p:nvSpPr>
          <p:cNvPr id="15" name="Text 11"/>
          <p:cNvSpPr/>
          <p:nvPr/>
        </p:nvSpPr>
        <p:spPr>
          <a:xfrm>
            <a:off x="841248" y="4864608"/>
            <a:ext cx="3027578" cy="86868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No era criptográfico sino de orden: coincidir en qué ocurrió primero, sin árbitro.</a:t>
            </a:r>
            <a:endParaRPr lang="en-US" sz="1300" dirty="0"/>
          </a:p>
        </p:txBody>
      </p:sp>
      <p:sp>
        <p:nvSpPr>
          <p:cNvPr id="16" name="Shape 12"/>
          <p:cNvSpPr/>
          <p:nvPr/>
        </p:nvSpPr>
        <p:spPr>
          <a:xfrm>
            <a:off x="4307738" y="4251960"/>
            <a:ext cx="3576218" cy="1600200"/>
          </a:xfrm>
          <a:prstGeom prst="rect">
            <a:avLst/>
          </a:prstGeom>
          <a:solidFill>
            <a:srgbClr val="FFFFFF"/>
          </a:solidFill>
          <a:ln w="22225">
            <a:solidFill>
              <a:srgbClr val="0F0F11"/>
            </a:solidFill>
            <a:prstDash val="solid"/>
          </a:ln>
          <a:effectLst>
            <a:outerShdw sx="100000" sy="100000" kx="0" ky="0" algn="bl" rotWithShape="0" blurRad="101600" dist="63500" dir="2700000">
              <a:srgbClr val="0F0F11">
                <a:alpha val="100000"/>
              </a:srgbClr>
            </a:outerShdw>
          </a:effectLst>
        </p:spPr>
      </p:sp>
      <p:sp>
        <p:nvSpPr>
          <p:cNvPr id="17" name="Text 13"/>
          <p:cNvSpPr/>
          <p:nvPr/>
        </p:nvSpPr>
        <p:spPr>
          <a:xfrm>
            <a:off x="4582058" y="4480560"/>
            <a:ext cx="3027578" cy="310896"/>
          </a:xfrm>
          <a:prstGeom prst="rect">
            <a:avLst/>
          </a:prstGeom>
          <a:noFill/>
          <a:ln/>
        </p:spPr>
        <p:txBody>
          <a:bodyPr wrap="square" lIns="0" tIns="0" rIns="0" bIns="0" rtlCol="0" anchor="ctr"/>
          <a:lstStyle/>
          <a:p>
            <a:pPr indent="0" marL="0">
              <a:buNone/>
            </a:pPr>
            <a:r>
              <a:rPr lang="en-US" sz="1100" b="1" spc="140" kern="0" dirty="0">
                <a:solidFill>
                  <a:srgbClr val="A35604"/>
                </a:solidFill>
                <a:latin typeface="Courier New" pitchFamily="34" charset="0"/>
                <a:ea typeface="Courier New" pitchFamily="34" charset="-122"/>
                <a:cs typeface="Courier New" pitchFamily="34" charset="-120"/>
              </a:rPr>
              <a:t>LA SOLUCIÓN</a:t>
            </a:r>
            <a:endParaRPr lang="en-US" sz="1100" dirty="0"/>
          </a:p>
        </p:txBody>
      </p:sp>
      <p:sp>
        <p:nvSpPr>
          <p:cNvPr id="18" name="Text 14"/>
          <p:cNvSpPr/>
          <p:nvPr/>
        </p:nvSpPr>
        <p:spPr>
          <a:xfrm>
            <a:off x="4582058" y="4864608"/>
            <a:ext cx="3027578" cy="86868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No fue más criptografía, sino incentivos económicos alineados con la honestidad.</a:t>
            </a:r>
            <a:endParaRPr lang="en-US" sz="1300" dirty="0"/>
          </a:p>
        </p:txBody>
      </p:sp>
      <p:sp>
        <p:nvSpPr>
          <p:cNvPr id="19" name="Shape 15"/>
          <p:cNvSpPr/>
          <p:nvPr/>
        </p:nvSpPr>
        <p:spPr>
          <a:xfrm>
            <a:off x="8048549" y="4251960"/>
            <a:ext cx="3576218" cy="1600200"/>
          </a:xfrm>
          <a:prstGeom prst="rect">
            <a:avLst/>
          </a:prstGeom>
          <a:solidFill>
            <a:srgbClr val="FFFFFF"/>
          </a:solidFill>
          <a:ln w="22225">
            <a:solidFill>
              <a:srgbClr val="0F0F11"/>
            </a:solidFill>
            <a:prstDash val="solid"/>
          </a:ln>
          <a:effectLst>
            <a:outerShdw sx="100000" sy="100000" kx="0" ky="0" algn="bl" rotWithShape="0" blurRad="101600" dist="63500" dir="2700000">
              <a:srgbClr val="0F0F11">
                <a:alpha val="100000"/>
              </a:srgbClr>
            </a:outerShdw>
          </a:effectLst>
        </p:spPr>
      </p:sp>
      <p:sp>
        <p:nvSpPr>
          <p:cNvPr id="20" name="Text 16"/>
          <p:cNvSpPr/>
          <p:nvPr/>
        </p:nvSpPr>
        <p:spPr>
          <a:xfrm>
            <a:off x="8322869" y="4480560"/>
            <a:ext cx="3027578" cy="310896"/>
          </a:xfrm>
          <a:prstGeom prst="rect">
            <a:avLst/>
          </a:prstGeom>
          <a:noFill/>
          <a:ln/>
        </p:spPr>
        <p:txBody>
          <a:bodyPr wrap="square" lIns="0" tIns="0" rIns="0" bIns="0" rtlCol="0" anchor="ctr"/>
          <a:lstStyle/>
          <a:p>
            <a:pPr indent="0" marL="0">
              <a:buNone/>
            </a:pPr>
            <a:r>
              <a:rPr lang="en-US" sz="1100" b="1" spc="140" kern="0" dirty="0">
                <a:solidFill>
                  <a:srgbClr val="A35604"/>
                </a:solidFill>
                <a:latin typeface="Courier New" pitchFamily="34" charset="0"/>
                <a:ea typeface="Courier New" pitchFamily="34" charset="-122"/>
                <a:cs typeface="Courier New" pitchFamily="34" charset="-120"/>
              </a:rPr>
              <a:t>EL COSTO</a:t>
            </a:r>
            <a:endParaRPr lang="en-US" sz="1100" dirty="0"/>
          </a:p>
        </p:txBody>
      </p:sp>
      <p:sp>
        <p:nvSpPr>
          <p:cNvPr id="21" name="Text 17"/>
          <p:cNvSpPr/>
          <p:nvPr/>
        </p:nvSpPr>
        <p:spPr>
          <a:xfrm>
            <a:off x="8322869" y="4864608"/>
            <a:ext cx="3027578" cy="86868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Rendimiento bajo, irreversibilidad total y todo el registro público para siempre.</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2240280"/>
            <a:ext cx="3017520" cy="2377440"/>
          </a:xfrm>
          <a:prstGeom prst="rect">
            <a:avLst/>
          </a:prstGeom>
          <a:solidFill>
            <a:srgbClr val="F07F06"/>
          </a:solidFill>
          <a:ln w="12700">
            <a:solidFill>
              <a:srgbClr val="F07F06"/>
            </a:solidFill>
            <a:prstDash val="solid"/>
          </a:ln>
        </p:spPr>
      </p:sp>
      <p:sp>
        <p:nvSpPr>
          <p:cNvPr id="3" name="Text 1"/>
          <p:cNvSpPr/>
          <p:nvPr/>
        </p:nvSpPr>
        <p:spPr>
          <a:xfrm>
            <a:off x="0" y="2240280"/>
            <a:ext cx="3017520" cy="2377440"/>
          </a:xfrm>
          <a:prstGeom prst="rect">
            <a:avLst/>
          </a:prstGeom>
          <a:noFill/>
          <a:ln/>
        </p:spPr>
        <p:txBody>
          <a:bodyPr wrap="square" lIns="0" tIns="0" rIns="0" bIns="0" rtlCol="0" anchor="ctr"/>
          <a:lstStyle/>
          <a:p>
            <a:pPr algn="ctr" indent="0" marL="0">
              <a:buNone/>
            </a:pPr>
            <a:r>
              <a:rPr lang="en-US" sz="11800" dirty="0">
                <a:solidFill>
                  <a:srgbClr val="0F0F11"/>
                </a:solidFill>
                <a:latin typeface="Arial Black" pitchFamily="34" charset="0"/>
                <a:ea typeface="Arial Black" pitchFamily="34" charset="-122"/>
                <a:cs typeface="Arial Black" pitchFamily="34" charset="-120"/>
              </a:rPr>
              <a:t>B</a:t>
            </a:r>
            <a:endParaRPr lang="en-US" sz="11800" dirty="0"/>
          </a:p>
        </p:txBody>
      </p:sp>
      <p:pic>
        <p:nvPicPr>
          <p:cNvPr id="4" name="Image 0" descr="preencoded.png">    </p:cNvPr>
          <p:cNvPicPr>
            <a:picLocks noChangeAspect="1"/>
          </p:cNvPicPr>
          <p:nvPr/>
        </p:nvPicPr>
        <p:blipFill>
          <a:blip r:embed="rId1"/>
          <a:stretch>
            <a:fillRect/>
          </a:stretch>
        </p:blipFill>
        <p:spPr>
          <a:xfrm>
            <a:off x="3611880" y="2286000"/>
            <a:ext cx="329184" cy="329184"/>
          </a:xfrm>
          <a:prstGeom prst="rect">
            <a:avLst/>
          </a:prstGeom>
        </p:spPr>
      </p:pic>
      <p:sp>
        <p:nvSpPr>
          <p:cNvPr id="5" name="Text 2"/>
          <p:cNvSpPr/>
          <p:nvPr/>
        </p:nvSpPr>
        <p:spPr>
          <a:xfrm>
            <a:off x="4069080" y="2258568"/>
            <a:ext cx="7223760" cy="365760"/>
          </a:xfrm>
          <a:prstGeom prst="rect">
            <a:avLst/>
          </a:prstGeom>
          <a:noFill/>
          <a:ln/>
        </p:spPr>
        <p:txBody>
          <a:bodyPr wrap="square" lIns="0" tIns="0" rIns="0" bIns="0" rtlCol="0" anchor="ctr"/>
          <a:lstStyle/>
          <a:p>
            <a:pPr indent="0" marL="0">
              <a:buNone/>
            </a:pPr>
            <a:r>
              <a:rPr lang="en-US" sz="1100" spc="180" kern="0" dirty="0">
                <a:solidFill>
                  <a:srgbClr val="F07F06"/>
                </a:solidFill>
                <a:latin typeface="Courier New" pitchFamily="34" charset="0"/>
                <a:ea typeface="Courier New" pitchFamily="34" charset="-122"/>
                <a:cs typeface="Courier New" pitchFamily="34" charset="-120"/>
              </a:rPr>
              <a:t>MIN 115 — 172 · EXPOSICIÓN + TALLER</a:t>
            </a:r>
            <a:endParaRPr lang="en-US" sz="1100" dirty="0"/>
          </a:p>
        </p:txBody>
      </p:sp>
      <p:sp>
        <p:nvSpPr>
          <p:cNvPr id="6" name="Text 3"/>
          <p:cNvSpPr/>
          <p:nvPr/>
        </p:nvSpPr>
        <p:spPr>
          <a:xfrm>
            <a:off x="3611880" y="2724912"/>
            <a:ext cx="7955280" cy="1325880"/>
          </a:xfrm>
          <a:prstGeom prst="rect">
            <a:avLst/>
          </a:prstGeom>
          <a:noFill/>
          <a:ln/>
        </p:spPr>
        <p:txBody>
          <a:bodyPr wrap="square" lIns="0" tIns="0" rIns="0" bIns="0" rtlCol="0" anchor="t"/>
          <a:lstStyle/>
          <a:p>
            <a:pPr indent="0" marL="0">
              <a:lnSpc>
                <a:spcPct val="98000"/>
              </a:lnSpc>
              <a:buNone/>
            </a:pPr>
            <a:r>
              <a:rPr lang="en-US" sz="3400" dirty="0">
                <a:solidFill>
                  <a:srgbClr val="FFFFFF"/>
                </a:solidFill>
                <a:latin typeface="Arial Black" pitchFamily="34" charset="0"/>
                <a:ea typeface="Arial Black" pitchFamily="34" charset="-122"/>
                <a:cs typeface="Arial Black" pitchFamily="34" charset="-120"/>
              </a:rPr>
              <a:t>PROFUNDIZACIÓN</a:t>
            </a:r>
            <a:endParaRPr lang="en-US" sz="3400" dirty="0"/>
          </a:p>
        </p:txBody>
      </p:sp>
      <p:sp>
        <p:nvSpPr>
          <p:cNvPr id="7" name="Text 4"/>
          <p:cNvSpPr/>
          <p:nvPr/>
        </p:nvSpPr>
        <p:spPr>
          <a:xfrm>
            <a:off x="3611880" y="4133088"/>
            <a:ext cx="7680960" cy="1051560"/>
          </a:xfrm>
          <a:prstGeom prst="rect">
            <a:avLst/>
          </a:prstGeom>
          <a:noFill/>
          <a:ln/>
        </p:spPr>
        <p:txBody>
          <a:bodyPr wrap="square" lIns="0" tIns="0" rIns="0" bIns="0" rtlCol="0" anchor="t"/>
          <a:lstStyle/>
          <a:p>
            <a:pPr indent="0" marL="0">
              <a:lnSpc>
                <a:spcPct val="125000"/>
              </a:lnSpc>
              <a:buNone/>
            </a:pPr>
            <a:r>
              <a:rPr lang="en-US" sz="1400" dirty="0">
                <a:solidFill>
                  <a:srgbClr val="B9B4C4"/>
                </a:solidFill>
                <a:latin typeface="Arial" pitchFamily="34" charset="0"/>
                <a:ea typeface="Arial" pitchFamily="34" charset="-122"/>
                <a:cs typeface="Arial" pitchFamily="34" charset="-120"/>
              </a:rPr>
              <a:t>Quién sostiene la red, cómo está organizado el territorio y qué demostró la evidencia después de quince años.</a:t>
            </a:r>
            <a:endParaRPr lang="en-US" sz="1400" dirty="0"/>
          </a:p>
        </p:txBody>
      </p:sp>
      <p:sp>
        <p:nvSpPr>
          <p:cNvPr id="8" name="Text 5"/>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E6A7C"/>
                </a:solidFill>
                <a:latin typeface="Courier New" pitchFamily="34" charset="0"/>
                <a:ea typeface="Courier New" pitchFamily="34" charset="-122"/>
                <a:cs typeface="Courier New" pitchFamily="34" charset="-120"/>
              </a:rPr>
              <a:t>SESIÓN 01 · ¿QUÉ PROBLEMA RESUELVE REALMENTE BLOCKCHAIN?</a:t>
            </a:r>
            <a:endParaRPr lang="en-US" sz="800" dirty="0"/>
          </a:p>
        </p:txBody>
      </p:sp>
      <p:sp>
        <p:nvSpPr>
          <p:cNvPr id="9" name="Text 6"/>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E6A7C"/>
                </a:solidFill>
                <a:latin typeface="Courier New" pitchFamily="34" charset="0"/>
                <a:ea typeface="Courier New" pitchFamily="34" charset="-122"/>
                <a:cs typeface="Courier New" pitchFamily="34" charset="-120"/>
              </a:rPr>
              <a:t>USB MEDELLÍN</a:t>
            </a:r>
            <a:endParaRPr lang="en-US" sz="800" dirty="0"/>
          </a:p>
        </p:txBody>
      </p:sp>
      <p:sp>
        <p:nvSpPr>
          <p:cNvPr id="10" name="Text 7"/>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F07F06"/>
                </a:solidFill>
                <a:latin typeface="Courier New" pitchFamily="34" charset="0"/>
                <a:ea typeface="Courier New" pitchFamily="34" charset="-122"/>
                <a:cs typeface="Courier New"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B.1 · MIN 115–132 · EL ECOSISTEMA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SI NADIE ES DUEÑO, ¿QUIÉN OPERA ESTO?</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01 · ¿QUÉ PROBLEMA RESUELVE REALMENTE BLOCKCHAIN?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40</a:t>
            </a:r>
            <a:endParaRPr lang="en-US" sz="900" dirty="0"/>
          </a:p>
        </p:txBody>
      </p:sp>
      <p:sp>
        <p:nvSpPr>
          <p:cNvPr id="8" name="Text 5"/>
          <p:cNvSpPr/>
          <p:nvPr/>
        </p:nvSpPr>
        <p:spPr>
          <a:xfrm>
            <a:off x="566928" y="1737360"/>
            <a:ext cx="11057839" cy="640080"/>
          </a:xfrm>
          <a:prstGeom prst="rect">
            <a:avLst/>
          </a:prstGeom>
          <a:noFill/>
          <a:ln/>
        </p:spPr>
        <p:txBody>
          <a:bodyPr wrap="square" lIns="0" tIns="0" rIns="0" bIns="0" rtlCol="0" anchor="t"/>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En el bloque A quedó establecido que una cadena pública no tiene dueño. Eso plantea de inmediato una pregunta que casi nunca se hace y que es la más importante para evaluar cualquier proyecto.</a:t>
            </a:r>
            <a:endParaRPr lang="en-US" sz="1450" dirty="0"/>
          </a:p>
        </p:txBody>
      </p:sp>
      <p:sp>
        <p:nvSpPr>
          <p:cNvPr id="9" name="Shape 6"/>
          <p:cNvSpPr/>
          <p:nvPr/>
        </p:nvSpPr>
        <p:spPr>
          <a:xfrm>
            <a:off x="566928" y="2560320"/>
            <a:ext cx="11057839" cy="118872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sp>
        <p:nvSpPr>
          <p:cNvPr id="10" name="Text 7"/>
          <p:cNvSpPr/>
          <p:nvPr/>
        </p:nvSpPr>
        <p:spPr>
          <a:xfrm>
            <a:off x="950976" y="2779776"/>
            <a:ext cx="10289743" cy="749808"/>
          </a:xfrm>
          <a:prstGeom prst="rect">
            <a:avLst/>
          </a:prstGeom>
          <a:noFill/>
          <a:ln/>
        </p:spPr>
        <p:txBody>
          <a:bodyPr wrap="square" lIns="0" tIns="0" rIns="0" bIns="0" rtlCol="0" anchor="ctr"/>
          <a:lstStyle/>
          <a:p>
            <a:pPr indent="0" marL="0">
              <a:lnSpc>
                <a:spcPct val="106000"/>
              </a:lnSpc>
              <a:buNone/>
            </a:pPr>
            <a:r>
              <a:rPr lang="en-US" sz="2400" dirty="0">
                <a:solidFill>
                  <a:srgbClr val="0F0F11"/>
                </a:solidFill>
                <a:latin typeface="Arial Black" pitchFamily="34" charset="0"/>
                <a:ea typeface="Arial Black" pitchFamily="34" charset="-122"/>
                <a:cs typeface="Arial Black" pitchFamily="34" charset="-120"/>
              </a:rPr>
              <a:t>Si nadie es dueño, ¿quién opera esto, con qué recursos y a cambio de qué?</a:t>
            </a:r>
            <a:endParaRPr lang="en-US" sz="2400" dirty="0"/>
          </a:p>
        </p:txBody>
      </p:sp>
      <p:sp>
        <p:nvSpPr>
          <p:cNvPr id="11" name="Text 8"/>
          <p:cNvSpPr/>
          <p:nvPr/>
        </p:nvSpPr>
        <p:spPr>
          <a:xfrm>
            <a:off x="566928" y="3977640"/>
            <a:ext cx="11057839" cy="685800"/>
          </a:xfrm>
          <a:prstGeom prst="rect">
            <a:avLst/>
          </a:prstGeom>
          <a:noFill/>
          <a:ln/>
        </p:spPr>
        <p:txBody>
          <a:bodyPr wrap="square" lIns="0" tIns="0" rIns="0" bIns="0" rtlCol="0" anchor="t"/>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Responderla es lo que permite distinguir una red genuinamente resistente de una que solo lo parece. Y es la pregunta que un ingeniero debe saber contestar antes de recomendar una arquitectura a un cliente.</a:t>
            </a:r>
            <a:endParaRPr lang="en-US" sz="1450" dirty="0"/>
          </a:p>
        </p:txBody>
      </p:sp>
      <p:sp>
        <p:nvSpPr>
          <p:cNvPr id="12" name="Shape 9"/>
          <p:cNvSpPr/>
          <p:nvPr/>
        </p:nvSpPr>
        <p:spPr>
          <a:xfrm>
            <a:off x="566928" y="4800600"/>
            <a:ext cx="11057839" cy="109728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pic>
        <p:nvPicPr>
          <p:cNvPr id="13" name="Image 1" descr="preencoded.png">    </p:cNvPr>
          <p:cNvPicPr>
            <a:picLocks noChangeAspect="1"/>
          </p:cNvPicPr>
          <p:nvPr/>
        </p:nvPicPr>
        <p:blipFill>
          <a:blip r:embed="rId2"/>
          <a:stretch>
            <a:fillRect/>
          </a:stretch>
        </p:blipFill>
        <p:spPr>
          <a:xfrm>
            <a:off x="804672" y="5020056"/>
            <a:ext cx="237744" cy="237744"/>
          </a:xfrm>
          <a:prstGeom prst="rect">
            <a:avLst/>
          </a:prstGeom>
        </p:spPr>
      </p:pic>
      <p:sp>
        <p:nvSpPr>
          <p:cNvPr id="14" name="Text 10"/>
          <p:cNvSpPr/>
          <p:nvPr/>
        </p:nvSpPr>
        <p:spPr>
          <a:xfrm>
            <a:off x="1133856" y="4992624"/>
            <a:ext cx="10234879" cy="292608"/>
          </a:xfrm>
          <a:prstGeom prst="rect">
            <a:avLst/>
          </a:prstGeom>
          <a:noFill/>
          <a:ln/>
        </p:spPr>
        <p:txBody>
          <a:bodyPr wrap="square" lIns="0" tIns="0" rIns="0" bIns="0" rtlCol="0" anchor="ctr"/>
          <a:lstStyle/>
          <a:p>
            <a:pPr indent="0" marL="0">
              <a:buNone/>
            </a:pPr>
            <a:r>
              <a:rPr lang="en-US" sz="950" b="1" spc="150" kern="0" dirty="0">
                <a:solidFill>
                  <a:srgbClr val="0F0F11"/>
                </a:solidFill>
                <a:latin typeface="Courier New" pitchFamily="34" charset="0"/>
                <a:ea typeface="Courier New" pitchFamily="34" charset="-122"/>
                <a:cs typeface="Courier New" pitchFamily="34" charset="-120"/>
              </a:rPr>
              <a:t>HACIA DÓNDE VA ESTE BLOQUE</a:t>
            </a:r>
            <a:endParaRPr lang="en-US" sz="950" dirty="0"/>
          </a:p>
        </p:txBody>
      </p:sp>
      <p:sp>
        <p:nvSpPr>
          <p:cNvPr id="15" name="Text 11"/>
          <p:cNvSpPr/>
          <p:nvPr/>
        </p:nvSpPr>
        <p:spPr>
          <a:xfrm>
            <a:off x="804672" y="5330952"/>
            <a:ext cx="10582351" cy="50292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Siete actores, el poder de cada uno, y la conclusión: la descentralización no es una propiedad que se tiene o no se tiene, sino un vector de varias dimensiones que pueden estar en estados opuestos al mismo tiempo.</a:t>
            </a:r>
            <a:endParaRPr lang="en-US" sz="12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B.1 · QUIÉN SOSTIENE LA RED · 1 DE 2</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600" dirty="0">
                <a:solidFill>
                  <a:srgbClr val="0F0F11"/>
                </a:solidFill>
                <a:latin typeface="Arial Black" pitchFamily="34" charset="0"/>
                <a:ea typeface="Arial Black" pitchFamily="34" charset="-122"/>
                <a:cs typeface="Arial Black" pitchFamily="34" charset="-120"/>
              </a:rPr>
              <a:t>LOS ACTORES QUE PRODUCEN Y VERIFICAN</a:t>
            </a:r>
            <a:endParaRPr lang="en-US" sz="26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01 · ¿QUÉ PROBLEMA RESUELVE REALMENTE BLOCKCHAIN?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41</a:t>
            </a:r>
            <a:endParaRPr lang="en-US" sz="9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66928" y="1783080"/>
          <a:ext cx="11057839" cy="914400"/>
        </p:xfrm>
        <a:graphic>
          <a:graphicData uri="http://schemas.openxmlformats.org/drawingml/2006/table">
            <a:tbl>
              <a:tblPr/>
              <a:tblGrid>
                <a:gridCol w="2286000"/>
                <a:gridCol w="2834640"/>
                <a:gridCol w="3017520"/>
                <a:gridCol w="291967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ACTOR</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APORTA</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PODER TIENE</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LO LIMITA</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95097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Validadores</a:t>
                      </a:r>
                      <a:endParaRPr lang="en-US" sz="110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Producen bloques y comprometen capital o cómputo como garantía.</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Deciden qué transacciones entran y EN QUÉ ORDEN. El orden es un poder económico real, no un detalle.</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Los nodos rechazan bloques inválidos. El comportamiento deshonesto probado destruye el capital comprometido.</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95097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Nodos completos</a:t>
                      </a:r>
                      <a:endParaRPr lang="en-US" sz="110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Verifican de forma independiente cada bloque y conservan una copia íntegra del libro.</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RECHAZAR. Un bloque que viola las reglas no se propaga, sin importar quién lo firmó.</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Nada, salvo el costo de operarlos. Son el contrapeso real del sistema y el más invisible.</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95097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Desarrolladores de protocolo</a:t>
                      </a:r>
                      <a:endParaRPr lang="en-US" sz="110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Escriben y mantienen el software cliente que todos ejecutan.</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Proponer cambios de reglas y decidir qué se implementa.</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No pueden imponer nada: cada operador decide qué versión ejecuta.</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95097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Usuarios y titulares</a:t>
                      </a:r>
                      <a:endParaRPr lang="en-US" sz="110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Demanda, uso y valor.</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Poder de salida: vender, migrar o seguir una bifurcación distinta.</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La coordinación es costosa. En la práctica, la mayoría no ejerce este poder.</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9" name="Shape 5"/>
          <p:cNvSpPr/>
          <p:nvPr/>
        </p:nvSpPr>
        <p:spPr>
          <a:xfrm>
            <a:off x="548640" y="1764792"/>
            <a:ext cx="11094415" cy="4151376"/>
          </a:xfrm>
          <a:prstGeom prst="rect">
            <a:avLst/>
          </a:prstGeom>
          <a:ln w="22225">
            <a:solidFill>
              <a:srgbClr val="0F0F11"/>
            </a:solidFill>
            <a:prstDash val="solid"/>
          </a:ln>
        </p:spPr>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B.1 · QUIÉN SOSTIENE LA RED · 2 DE 2</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600" dirty="0">
                <a:solidFill>
                  <a:srgbClr val="0F0F11"/>
                </a:solidFill>
                <a:latin typeface="Arial Black" pitchFamily="34" charset="0"/>
                <a:ea typeface="Arial Black" pitchFamily="34" charset="-122"/>
                <a:cs typeface="Arial Black" pitchFamily="34" charset="-120"/>
              </a:rPr>
              <a:t>LOS ACTORES QUE CASI NADIE CUENTA</a:t>
            </a:r>
            <a:endParaRPr lang="en-US" sz="26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01 · ¿QUÉ PROBLEMA RESUELVE REALMENTE BLOCKCHAIN?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42</a:t>
            </a:r>
            <a:endParaRPr lang="en-US" sz="9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66928" y="1783080"/>
          <a:ext cx="11057839" cy="914400"/>
        </p:xfrm>
        <a:graphic>
          <a:graphicData uri="http://schemas.openxmlformats.org/drawingml/2006/table">
            <a:tbl>
              <a:tblPr/>
              <a:tblGrid>
                <a:gridCol w="2286000"/>
                <a:gridCol w="2834640"/>
                <a:gridCol w="3017520"/>
                <a:gridCol w="291967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ACTOR</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APORTA</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PODER TIENE</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LO LIMITA</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1267968">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Intercambios centralizados</a:t>
                      </a:r>
                      <a:endParaRPr lang="en-US" sz="110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Liquidez y la puerta de entrada desde el dinero tradicional.</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Enorme y sistemáticamente subestimado: custodian fondos ajenos, controlan el acceso al sistema financiero y, en redes con gobernanza por token, pueden votar con monedas de sus clientes.</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La regulación y la posibilidad de que los usuarios retiren a autocustodia.</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1267968">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Proveedores de acceso</a:t>
                      </a:r>
                      <a:endParaRPr lang="en-US" sz="110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Infraestructura de lectura de la cadena para billeteras y aplicaciones.</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Casi todas las billeteras del mundo consultan la cadena a través de un puñado de empresas. Si caen, la red sigue viva pero nadie puede usarla.</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Cualquiera puede correr su propio nodo. Casi nadie lo hace.</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1267968">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Reguladores</a:t>
                      </a:r>
                      <a:endParaRPr lang="en-US" sz="110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No participan del protocolo.</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Determinan quién puede operar en la frontera con el dinero tradicional, que es por donde pasa casi toda la utilidad práctica.</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La jurisdicción. Una red global no se apaga desde un solo país, pero sí se puede aislar de su sistema financiero.</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1764792"/>
            <a:ext cx="11094415" cy="4151376"/>
          </a:xfrm>
          <a:prstGeom prst="rect">
            <a:avLst/>
          </a:prstGeom>
          <a:ln w="22225">
            <a:solidFill>
              <a:srgbClr val="0F0F11"/>
            </a:solidFill>
            <a:prstDash val="solid"/>
          </a:ln>
        </p:spPr>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B.1 · FICHA DE TÉRMINO 07</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NODO COMPLETO Y NODO LIGERO</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01 · ¿QUÉ PROBLEMA RESUELVE REALMENTE BLOCKCHAIN?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43</a:t>
            </a:r>
            <a:endParaRPr lang="en-US" sz="900" dirty="0"/>
          </a:p>
        </p:txBody>
      </p:sp>
      <p:sp>
        <p:nvSpPr>
          <p:cNvPr id="8" name="Shape 5"/>
          <p:cNvSpPr/>
          <p:nvPr/>
        </p:nvSpPr>
        <p:spPr>
          <a:xfrm>
            <a:off x="566928" y="1737360"/>
            <a:ext cx="11057839" cy="274320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pic>
        <p:nvPicPr>
          <p:cNvPr id="9" name="Image 1" descr="preencoded.png">    </p:cNvPr>
          <p:cNvPicPr>
            <a:picLocks noChangeAspect="1"/>
          </p:cNvPicPr>
          <p:nvPr/>
        </p:nvPicPr>
        <p:blipFill>
          <a:blip r:embed="rId2"/>
          <a:stretch>
            <a:fillRect/>
          </a:stretch>
        </p:blipFill>
        <p:spPr>
          <a:xfrm>
            <a:off x="804672" y="1956816"/>
            <a:ext cx="237744" cy="237744"/>
          </a:xfrm>
          <a:prstGeom prst="rect">
            <a:avLst/>
          </a:prstGeom>
        </p:spPr>
      </p:pic>
      <p:sp>
        <p:nvSpPr>
          <p:cNvPr id="10" name="Text 6"/>
          <p:cNvSpPr/>
          <p:nvPr/>
        </p:nvSpPr>
        <p:spPr>
          <a:xfrm>
            <a:off x="1133856" y="1929384"/>
            <a:ext cx="10234879" cy="292608"/>
          </a:xfrm>
          <a:prstGeom prst="rect">
            <a:avLst/>
          </a:prstGeom>
          <a:noFill/>
          <a:ln/>
        </p:spPr>
        <p:txBody>
          <a:bodyPr wrap="square" lIns="0" tIns="0" rIns="0" bIns="0" rtlCol="0" anchor="ctr"/>
          <a:lstStyle/>
          <a:p>
            <a:pPr indent="0" marL="0">
              <a:buNone/>
            </a:pPr>
            <a:r>
              <a:rPr lang="en-US" sz="950" b="1" spc="150" kern="0" dirty="0">
                <a:solidFill>
                  <a:srgbClr val="5638C9"/>
                </a:solidFill>
                <a:latin typeface="Courier New" pitchFamily="34" charset="0"/>
                <a:ea typeface="Courier New" pitchFamily="34" charset="-122"/>
                <a:cs typeface="Courier New" pitchFamily="34" charset="-120"/>
              </a:rPr>
              <a:t>FICHA DE TÉRMINO 07 · FULL NODE / LIGHT CLIENT</a:t>
            </a:r>
            <a:endParaRPr lang="en-US" sz="950" dirty="0"/>
          </a:p>
        </p:txBody>
      </p:sp>
      <p:sp>
        <p:nvSpPr>
          <p:cNvPr id="11" name="Shape 7"/>
          <p:cNvSpPr/>
          <p:nvPr/>
        </p:nvSpPr>
        <p:spPr>
          <a:xfrm>
            <a:off x="804672" y="2322576"/>
            <a:ext cx="10582351" cy="1143000"/>
          </a:xfrm>
          <a:prstGeom prst="rect">
            <a:avLst/>
          </a:prstGeom>
          <a:solidFill>
            <a:srgbClr val="F2F0F5"/>
          </a:solidFill>
          <a:ln w="12700">
            <a:solidFill>
              <a:srgbClr val="7152E9"/>
            </a:solidFill>
            <a:prstDash val="solid"/>
          </a:ln>
        </p:spPr>
      </p:sp>
      <p:sp>
        <p:nvSpPr>
          <p:cNvPr id="12" name="Text 8"/>
          <p:cNvSpPr/>
          <p:nvPr/>
        </p:nvSpPr>
        <p:spPr>
          <a:xfrm>
            <a:off x="969264" y="2414016"/>
            <a:ext cx="10253167" cy="960120"/>
          </a:xfrm>
          <a:prstGeom prst="rect">
            <a:avLst/>
          </a:prstGeom>
          <a:noFill/>
          <a:ln/>
        </p:spPr>
        <p:txBody>
          <a:bodyPr wrap="square" lIns="0" tIns="0" rIns="0" bIns="0" rtlCol="0" anchor="ctr"/>
          <a:lstStyle/>
          <a:p>
            <a:pPr indent="0" marL="0">
              <a:lnSpc>
                <a:spcPct val="120000"/>
              </a:lnSpc>
              <a:buNone/>
            </a:pPr>
            <a:r>
              <a:rPr lang="en-US" sz="1100" dirty="0">
                <a:solidFill>
                  <a:srgbClr val="3A3844"/>
                </a:solidFill>
                <a:latin typeface="Courier New" pitchFamily="34" charset="0"/>
                <a:ea typeface="Courier New" pitchFamily="34" charset="-122"/>
                <a:cs typeface="Courier New" pitchFamily="34" charset="-120"/>
              </a:rPr>
              <a:t>NODO COMPLETO (full node): computador que descarga y verifica por sí mismo todos los</a:t>
            </a:r>
            <a:endParaRPr lang="en-US" sz="1100" dirty="0"/>
          </a:p>
          <a:p>
            <a:pPr indent="0" marL="0">
              <a:lnSpc>
                <a:spcPct val="120000"/>
              </a:lnSpc>
              <a:buNone/>
            </a:pPr>
            <a:r>
              <a:rPr lang="en-US" sz="1100" dirty="0">
                <a:solidFill>
                  <a:srgbClr val="3A3844"/>
                </a:solidFill>
                <a:latin typeface="Courier New" pitchFamily="34" charset="0"/>
                <a:ea typeface="Courier New" pitchFamily="34" charset="-122"/>
                <a:cs typeface="Courier New" pitchFamily="34" charset="-120"/>
              </a:rPr>
              <a:t>bloques y transacciones, aplicando las reglas del protocolo sin confiar en nadie.</a:t>
            </a:r>
            <a:endParaRPr lang="en-US" sz="1100" dirty="0"/>
          </a:p>
          <a:p>
            <a:pPr indent="0" marL="0">
              <a:lnSpc>
                <a:spcPct val="120000"/>
              </a:lnSpc>
              <a:buNone/>
            </a:pPr>
            <a:r>
              <a:rPr lang="en-US" sz="1100" dirty="0">
                <a:solidFill>
                  <a:srgbClr val="3A3844"/>
                </a:solidFill>
                <a:latin typeface="Courier New" pitchFamily="34" charset="0"/>
                <a:ea typeface="Courier New" pitchFamily="34" charset="-122"/>
                <a:cs typeface="Courier New" pitchFamily="34" charset="-120"/>
              </a:rPr>
              <a:t>NODO LIGERO (light client): programa que no verifica todo, sino que consulta a otros</a:t>
            </a:r>
            <a:endParaRPr lang="en-US" sz="1100" dirty="0"/>
          </a:p>
          <a:p>
            <a:pPr indent="0" marL="0">
              <a:lnSpc>
                <a:spcPct val="120000"/>
              </a:lnSpc>
              <a:buNone/>
            </a:pPr>
            <a:r>
              <a:rPr lang="en-US" sz="1100" dirty="0">
                <a:solidFill>
                  <a:srgbClr val="3A3844"/>
                </a:solidFill>
                <a:latin typeface="Courier New" pitchFamily="34" charset="0"/>
                <a:ea typeface="Courier New" pitchFamily="34" charset="-122"/>
                <a:cs typeface="Courier New" pitchFamily="34" charset="-120"/>
              </a:rPr>
              <a:t>nodos y comprueba solo pruebas puntuales.</a:t>
            </a:r>
            <a:endParaRPr lang="en-US" sz="1100" dirty="0"/>
          </a:p>
        </p:txBody>
      </p:sp>
      <p:sp>
        <p:nvSpPr>
          <p:cNvPr id="13" name="Text 9"/>
          <p:cNvSpPr/>
          <p:nvPr/>
        </p:nvSpPr>
        <p:spPr>
          <a:xfrm>
            <a:off x="804672" y="3621024"/>
            <a:ext cx="10582351" cy="91440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La distinción es política además de técnica. Quien corre un nodo completo no le cree a nadie: comprueba. Quien usa un nodo ligero —es decir, prácticamente todo el mundo, porque toda billetera de navegador o de teléfono lo es— confía en que alguien más verificó bien.</a:t>
            </a:r>
            <a:endParaRPr lang="en-US" sz="1350" dirty="0"/>
          </a:p>
        </p:txBody>
      </p:sp>
      <p:sp>
        <p:nvSpPr>
          <p:cNvPr id="14" name="Shape 10"/>
          <p:cNvSpPr/>
          <p:nvPr/>
        </p:nvSpPr>
        <p:spPr>
          <a:xfrm>
            <a:off x="566928" y="4709160"/>
            <a:ext cx="11057839" cy="118872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sp>
        <p:nvSpPr>
          <p:cNvPr id="15" name="Text 11"/>
          <p:cNvSpPr/>
          <p:nvPr/>
        </p:nvSpPr>
        <p:spPr>
          <a:xfrm>
            <a:off x="950976" y="4928616"/>
            <a:ext cx="10289743" cy="749808"/>
          </a:xfrm>
          <a:prstGeom prst="rect">
            <a:avLst/>
          </a:prstGeom>
          <a:noFill/>
          <a:ln/>
        </p:spPr>
        <p:txBody>
          <a:bodyPr wrap="square" lIns="0" tIns="0" rIns="0" bIns="0" rtlCol="0" anchor="ctr"/>
          <a:lstStyle/>
          <a:p>
            <a:pPr indent="0" marL="0">
              <a:lnSpc>
                <a:spcPct val="106000"/>
              </a:lnSpc>
              <a:buNone/>
            </a:pPr>
            <a:r>
              <a:rPr lang="en-US" sz="2100" dirty="0">
                <a:solidFill>
                  <a:srgbClr val="0F0F11"/>
                </a:solidFill>
                <a:latin typeface="Arial Black" pitchFamily="34" charset="0"/>
                <a:ea typeface="Arial Black" pitchFamily="34" charset="-122"/>
                <a:cs typeface="Arial Black" pitchFamily="34" charset="-120"/>
              </a:rPr>
              <a:t>La verificación independiente es lo que hace valioso al sistema, y es justamente lo que casi ningún usuario ejerce.</a:t>
            </a:r>
            <a:endParaRPr lang="en-US" sz="2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B.1 · PRECISIÓN SOBRE A.6</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400" dirty="0">
                <a:solidFill>
                  <a:srgbClr val="0F0F11"/>
                </a:solidFill>
                <a:latin typeface="Arial Black" pitchFamily="34" charset="0"/>
                <a:ea typeface="Arial Black" pitchFamily="34" charset="-122"/>
                <a:cs typeface="Arial Black" pitchFamily="34" charset="-120"/>
              </a:rPr>
              <a:t>LA DESCENTRALIZACIÓN NO ES UNA PROPIEDAD: ES UN VECTOR</a:t>
            </a:r>
            <a:endParaRPr lang="en-US" sz="24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01 · ¿QUÉ PROBLEMA RESUELVE REALMENTE BLOCKCHAIN?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44</a:t>
            </a:r>
            <a:endParaRPr lang="en-US" sz="900" dirty="0"/>
          </a:p>
        </p:txBody>
      </p:sp>
      <p:sp>
        <p:nvSpPr>
          <p:cNvPr id="8" name="Text 5"/>
          <p:cNvSpPr/>
          <p:nvPr/>
        </p:nvSpPr>
        <p:spPr>
          <a:xfrm>
            <a:off x="566928" y="1719072"/>
            <a:ext cx="11057839" cy="457200"/>
          </a:xfrm>
          <a:prstGeom prst="rect">
            <a:avLst/>
          </a:prstGeom>
          <a:noFill/>
          <a:ln/>
        </p:spPr>
        <p:txBody>
          <a:bodyPr wrap="square" lIns="0" tIns="0" rIns="0" bIns="0" rtlCol="0" anchor="t"/>
          <a:lstStyle/>
          <a:p>
            <a:pPr indent="0" marL="0">
              <a:lnSpc>
                <a:spcPct val="124000"/>
              </a:lnSpc>
              <a:buNone/>
            </a:pPr>
            <a:r>
              <a:rPr lang="en-US" sz="1350" dirty="0">
                <a:solidFill>
                  <a:srgbClr val="6F6B80"/>
                </a:solidFill>
                <a:latin typeface="Arial" pitchFamily="34" charset="0"/>
                <a:ea typeface="Arial" pitchFamily="34" charset="-122"/>
                <a:cs typeface="Arial" pitchFamily="34" charset="-120"/>
              </a:rPr>
              <a:t>No es una sola variable, sino varias dimensiones independientes que pueden estar en estados opuestos al mismo tiempo. Una red puede ser ejemplar en una y desastrosa en otra.</a:t>
            </a:r>
            <a:endParaRPr lang="en-US" sz="135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66928" y="2286000"/>
          <a:ext cx="11057839" cy="914400"/>
        </p:xfrm>
        <a:graphic>
          <a:graphicData uri="http://schemas.openxmlformats.org/drawingml/2006/table">
            <a:tbl>
              <a:tblPr/>
              <a:tblGrid>
                <a:gridCol w="1737360"/>
                <a:gridCol w="4663440"/>
                <a:gridCol w="465703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DIMENSIÓN</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LA PREGUNTA QUE LA MIDE</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SEÑAL DE CONCENTRACIÓN</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4254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Consenso</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¿Cuántas entidades independientes producen bloques?</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Unos pocos grupos concentran la mayoría de la capacidad de validación.</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4254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Cliente</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¿Cuántas implementaciones del software existen y se usan?</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Una sola domina: un fallo en ella tumba la red entera.</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4254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Acceso</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¿Por dónde leen la cadena las aplicaciones y las billeteras?</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Casi todo el tráfico pasa por dos o tres proveedores comerciales.</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4254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Capital</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¿Cómo está distribuida la tenencia del activo?</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Un puñado de direcciones controla una fracción decisiva del total.</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4254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Gobernanza</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¿Quién decide los cambios de reglas y cómo?</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Una fundación o un grupo cerrado aprueba sin oposición efectiva.</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4254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Desarrollo</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¿Quién paga a quienes escriben el protocolo?</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Una sola organización financia a la mayoría de los desarrolladores.</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10" name="Shape 6"/>
          <p:cNvSpPr/>
          <p:nvPr/>
        </p:nvSpPr>
        <p:spPr>
          <a:xfrm>
            <a:off x="548640" y="2267712"/>
            <a:ext cx="11094415" cy="3602736"/>
          </a:xfrm>
          <a:prstGeom prst="rect">
            <a:avLst/>
          </a:prstGeom>
          <a:ln w="22225">
            <a:solidFill>
              <a:srgbClr val="0F0F11"/>
            </a:solidFill>
            <a:prstDash val="solid"/>
          </a:ln>
        </p:spPr>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B.1 · CIERRE</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400" dirty="0">
                <a:solidFill>
                  <a:srgbClr val="0F0F11"/>
                </a:solidFill>
                <a:latin typeface="Arial Black" pitchFamily="34" charset="0"/>
                <a:ea typeface="Arial Black" pitchFamily="34" charset="-122"/>
                <a:cs typeface="Arial Black" pitchFamily="34" charset="-120"/>
              </a:rPr>
              <a:t>LA DESCENTRALIZACIÓN DE LA BASE NO SE HEREDA HACIA ARRIBA</a:t>
            </a:r>
            <a:endParaRPr lang="en-US" sz="24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01 · ¿QUÉ PROBLEMA RESUELVE REALMENTE BLOCKCHAIN?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45</a:t>
            </a:r>
            <a:endParaRPr lang="en-US" sz="900" dirty="0"/>
          </a:p>
        </p:txBody>
      </p:sp>
      <p:sp>
        <p:nvSpPr>
          <p:cNvPr id="8" name="Shape 5"/>
          <p:cNvSpPr/>
          <p:nvPr/>
        </p:nvSpPr>
        <p:spPr>
          <a:xfrm>
            <a:off x="566928" y="1737360"/>
            <a:ext cx="11057839" cy="196596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9" name="Image 1" descr="preencoded.png">    </p:cNvPr>
          <p:cNvPicPr>
            <a:picLocks noChangeAspect="1"/>
          </p:cNvPicPr>
          <p:nvPr/>
        </p:nvPicPr>
        <p:blipFill>
          <a:blip r:embed="rId2"/>
          <a:stretch>
            <a:fillRect/>
          </a:stretch>
        </p:blipFill>
        <p:spPr>
          <a:xfrm>
            <a:off x="804672" y="1956816"/>
            <a:ext cx="237744" cy="237744"/>
          </a:xfrm>
          <a:prstGeom prst="rect">
            <a:avLst/>
          </a:prstGeom>
        </p:spPr>
      </p:pic>
      <p:sp>
        <p:nvSpPr>
          <p:cNvPr id="10" name="Text 6"/>
          <p:cNvSpPr/>
          <p:nvPr/>
        </p:nvSpPr>
        <p:spPr>
          <a:xfrm>
            <a:off x="1133856" y="1929384"/>
            <a:ext cx="10234879"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ALERTA · LA SITUACIÓN HABITUAL</a:t>
            </a:r>
            <a:endParaRPr lang="en-US" sz="950" dirty="0"/>
          </a:p>
        </p:txBody>
      </p:sp>
      <p:sp>
        <p:nvSpPr>
          <p:cNvPr id="11" name="Text 7"/>
          <p:cNvSpPr/>
          <p:nvPr/>
        </p:nvSpPr>
        <p:spPr>
          <a:xfrm>
            <a:off x="804672" y="2322576"/>
            <a:ext cx="10582351" cy="100584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Es perfectamente posible —y es lo normal— que la capa base sea muy descentralizada y la experiencia del usuario esté completamente centralizada: la billetera es de una empresa, lee la cadena a través de otra, el activo se compró en un intercambio custodio y la interfaz web se sirve desde un servidor con dueño.</a:t>
            </a:r>
            <a:endParaRPr lang="en-US" sz="1350" dirty="0"/>
          </a:p>
        </p:txBody>
      </p:sp>
      <p:sp>
        <p:nvSpPr>
          <p:cNvPr id="12" name="Shape 8"/>
          <p:cNvSpPr/>
          <p:nvPr/>
        </p:nvSpPr>
        <p:spPr>
          <a:xfrm>
            <a:off x="566928" y="3840480"/>
            <a:ext cx="11057839" cy="1417320"/>
          </a:xfrm>
          <a:prstGeom prst="rect">
            <a:avLst/>
          </a:prstGeom>
          <a:solidFill>
            <a:srgbClr val="F2F0F5"/>
          </a:solidFill>
          <a:ln w="22225">
            <a:solidFill>
              <a:srgbClr val="0F0F11"/>
            </a:solidFill>
            <a:prstDash val="solid"/>
          </a:ln>
        </p:spPr>
      </p:sp>
      <p:pic>
        <p:nvPicPr>
          <p:cNvPr id="13" name="Image 2" descr="preencoded.png">    </p:cNvPr>
          <p:cNvPicPr>
            <a:picLocks noChangeAspect="1"/>
          </p:cNvPicPr>
          <p:nvPr/>
        </p:nvPicPr>
        <p:blipFill>
          <a:blip r:embed="rId3"/>
          <a:stretch>
            <a:fillRect/>
          </a:stretch>
        </p:blipFill>
        <p:spPr>
          <a:xfrm>
            <a:off x="804672" y="4059936"/>
            <a:ext cx="237744" cy="237744"/>
          </a:xfrm>
          <a:prstGeom prst="rect">
            <a:avLst/>
          </a:prstGeom>
        </p:spPr>
      </p:pic>
      <p:sp>
        <p:nvSpPr>
          <p:cNvPr id="14" name="Text 9"/>
          <p:cNvSpPr/>
          <p:nvPr/>
        </p:nvSpPr>
        <p:spPr>
          <a:xfrm>
            <a:off x="1133856" y="4032504"/>
            <a:ext cx="10234879" cy="292608"/>
          </a:xfrm>
          <a:prstGeom prst="rect">
            <a:avLst/>
          </a:prstGeom>
          <a:noFill/>
          <a:ln/>
        </p:spPr>
        <p:txBody>
          <a:bodyPr wrap="square" lIns="0" tIns="0" rIns="0" bIns="0" rtlCol="0" anchor="ctr"/>
          <a:lstStyle/>
          <a:p>
            <a:pPr indent="0" marL="0">
              <a:buNone/>
            </a:pPr>
            <a:r>
              <a:rPr lang="en-US" sz="950" b="1" spc="150" kern="0" dirty="0">
                <a:solidFill>
                  <a:srgbClr val="6F6B80"/>
                </a:solidFill>
                <a:latin typeface="Courier New" pitchFamily="34" charset="0"/>
                <a:ea typeface="Courier New" pitchFamily="34" charset="-122"/>
                <a:cs typeface="Courier New" pitchFamily="34" charset="-120"/>
              </a:rPr>
              <a:t>PROFUNDIDAD · EL PODER DE ORDENAR</a:t>
            </a:r>
            <a:endParaRPr lang="en-US" sz="950" dirty="0"/>
          </a:p>
        </p:txBody>
      </p:sp>
      <p:sp>
        <p:nvSpPr>
          <p:cNvPr id="15" name="Text 10"/>
          <p:cNvSpPr/>
          <p:nvPr/>
        </p:nvSpPr>
        <p:spPr>
          <a:xfrm>
            <a:off x="804672" y="4389120"/>
            <a:ext cx="10582351" cy="822960"/>
          </a:xfrm>
          <a:prstGeom prst="rect">
            <a:avLst/>
          </a:prstGeom>
          <a:noFill/>
          <a:ln/>
        </p:spPr>
        <p:txBody>
          <a:bodyPr wrap="square" lIns="0" tIns="0" rIns="0" bIns="0" rtlCol="0" anchor="t"/>
          <a:lstStyle/>
          <a:p>
            <a:pPr indent="0" marL="0">
              <a:lnSpc>
                <a:spcPct val="122000"/>
              </a:lnSpc>
              <a:buNone/>
            </a:pPr>
            <a:r>
              <a:rPr lang="en-US" sz="1300" b="1" dirty="0">
                <a:solidFill>
                  <a:srgbClr val="0F0F11"/>
                </a:solidFill>
                <a:latin typeface="Courier New" pitchFamily="34" charset="0"/>
                <a:ea typeface="Courier New" pitchFamily="34" charset="-122"/>
                <a:cs typeface="Courier New" pitchFamily="34" charset="-120"/>
              </a:rPr>
              <a:t>MEV </a:t>
            </a:r>
            <a:pPr indent="0" marL="0">
              <a:lnSpc>
                <a:spcPct val="122000"/>
              </a:lnSpc>
              <a:buNone/>
            </a:pPr>
            <a:r>
              <a:rPr lang="en-US" sz="1150" dirty="0">
                <a:solidFill>
                  <a:srgbClr val="5638C9"/>
                </a:solidFill>
                <a:latin typeface="Courier New" pitchFamily="34" charset="0"/>
                <a:ea typeface="Courier New" pitchFamily="34" charset="-122"/>
                <a:cs typeface="Courier New" pitchFamily="34" charset="-120"/>
              </a:rPr>
              <a:t>[Maximal Extractable Value · valor máximo extraíble] </a:t>
            </a:r>
            <a:pPr indent="0" marL="0">
              <a:lnSpc>
                <a:spcPct val="122000"/>
              </a:lnSpc>
              <a:buNone/>
            </a:pPr>
            <a:r>
              <a:rPr lang="en-US" sz="1300" dirty="0">
                <a:solidFill>
                  <a:srgbClr val="3A3844"/>
                </a:solidFill>
                <a:latin typeface="Arial" pitchFamily="34" charset="0"/>
                <a:ea typeface="Arial" pitchFamily="34" charset="-122"/>
                <a:cs typeface="Arial" pitchFamily="34" charset="-120"/>
              </a:rPr>
              <a:t>es el beneficio que un productor de bloques obtiene incluyendo, excluyendo o reordenando transacciones. Es una consecuencia estructural, no un fallo: alguien tiene que decidir el orden, y quien decide puede aprovecharlo. Sesiones 9 y 14.</a:t>
            </a:r>
            <a:endParaRPr lang="en-US" sz="1300" dirty="0"/>
          </a:p>
        </p:txBody>
      </p:sp>
      <p:sp>
        <p:nvSpPr>
          <p:cNvPr id="16" name="Shape 11"/>
          <p:cNvSpPr/>
          <p:nvPr/>
        </p:nvSpPr>
        <p:spPr>
          <a:xfrm>
            <a:off x="566928" y="5376672"/>
            <a:ext cx="11057839" cy="91440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pic>
        <p:nvPicPr>
          <p:cNvPr id="17" name="Image 3" descr="preencoded.png">    </p:cNvPr>
          <p:cNvPicPr>
            <a:picLocks noChangeAspect="1"/>
          </p:cNvPicPr>
          <p:nvPr/>
        </p:nvPicPr>
        <p:blipFill>
          <a:blip r:embed="rId4"/>
          <a:stretch>
            <a:fillRect/>
          </a:stretch>
        </p:blipFill>
        <p:spPr>
          <a:xfrm>
            <a:off x="804672" y="5596128"/>
            <a:ext cx="237744" cy="237744"/>
          </a:xfrm>
          <a:prstGeom prst="rect">
            <a:avLst/>
          </a:prstGeom>
        </p:spPr>
      </p:pic>
      <p:sp>
        <p:nvSpPr>
          <p:cNvPr id="18" name="Text 12"/>
          <p:cNvSpPr/>
          <p:nvPr/>
        </p:nvSpPr>
        <p:spPr>
          <a:xfrm>
            <a:off x="1133856" y="5568696"/>
            <a:ext cx="10234879" cy="292608"/>
          </a:xfrm>
          <a:prstGeom prst="rect">
            <a:avLst/>
          </a:prstGeom>
          <a:noFill/>
          <a:ln/>
        </p:spPr>
        <p:txBody>
          <a:bodyPr wrap="square" lIns="0" tIns="0" rIns="0" bIns="0" rtlCol="0" anchor="ctr"/>
          <a:lstStyle/>
          <a:p>
            <a:pPr indent="0" marL="0">
              <a:buNone/>
            </a:pPr>
            <a:r>
              <a:rPr lang="en-US" sz="950" b="1" spc="150" kern="0" dirty="0">
                <a:solidFill>
                  <a:srgbClr val="0F0F11"/>
                </a:solidFill>
                <a:latin typeface="Courier New" pitchFamily="34" charset="0"/>
                <a:ea typeface="Courier New" pitchFamily="34" charset="-122"/>
                <a:cs typeface="Courier New" pitchFamily="34" charset="-120"/>
              </a:rPr>
              <a:t>PREGUNTA PARA EL AULA</a:t>
            </a:r>
            <a:endParaRPr lang="en-US" sz="950" dirty="0"/>
          </a:p>
        </p:txBody>
      </p:sp>
      <p:sp>
        <p:nvSpPr>
          <p:cNvPr id="19" name="Text 13"/>
          <p:cNvSpPr/>
          <p:nvPr/>
        </p:nvSpPr>
        <p:spPr>
          <a:xfrm>
            <a:off x="804672" y="5870448"/>
            <a:ext cx="10582351" cy="384048"/>
          </a:xfrm>
          <a:prstGeom prst="rect">
            <a:avLst/>
          </a:prstGeom>
          <a:noFill/>
          <a:ln/>
        </p:spPr>
        <p:txBody>
          <a:bodyPr wrap="square" lIns="0" tIns="0" rIns="0" bIns="0" rtlCol="0" anchor="ctr"/>
          <a:lstStyle/>
          <a:p>
            <a:pPr indent="0" marL="0">
              <a:buNone/>
            </a:pPr>
            <a:r>
              <a:rPr lang="en-US" sz="1400" dirty="0">
                <a:solidFill>
                  <a:srgbClr val="0F0F11"/>
                </a:solidFill>
                <a:latin typeface="Arial Black" pitchFamily="34" charset="0"/>
                <a:ea typeface="Arial Black" pitchFamily="34" charset="-122"/>
                <a:cs typeface="Arial Black" pitchFamily="34" charset="-120"/>
              </a:rPr>
              <a:t>Si casi nadie corre un nodo completo, ¿en qué se diferencia el usuario promedio del cliente de un banco?</a:t>
            </a:r>
            <a:endParaRPr lang="en-US" sz="1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B.2 · MIN 132–147 · MAPA DEL TERRITORIO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500" dirty="0">
                <a:solidFill>
                  <a:srgbClr val="0F0F11"/>
                </a:solidFill>
                <a:latin typeface="Arial Black" pitchFamily="34" charset="0"/>
                <a:ea typeface="Arial Black" pitchFamily="34" charset="-122"/>
                <a:cs typeface="Arial Black" pitchFamily="34" charset="-120"/>
              </a:rPr>
              <a:t>BITCOIN Y ETHEREUM NO COMPITEN POR LO MISMO</a:t>
            </a:r>
            <a:endParaRPr lang="en-US" sz="25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01 · ¿QUÉ PROBLEMA RESUELVE REALMENTE BLOCKCHAIN?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46</a:t>
            </a:r>
            <a:endParaRPr lang="en-US" sz="900" dirty="0"/>
          </a:p>
        </p:txBody>
      </p:sp>
      <p:sp>
        <p:nvSpPr>
          <p:cNvPr id="8" name="Text 5"/>
          <p:cNvSpPr/>
          <p:nvPr/>
        </p:nvSpPr>
        <p:spPr>
          <a:xfrm>
            <a:off x="566928" y="1719072"/>
            <a:ext cx="11057839" cy="457200"/>
          </a:xfrm>
          <a:prstGeom prst="rect">
            <a:avLst/>
          </a:prstGeom>
          <a:noFill/>
          <a:ln/>
        </p:spPr>
        <p:txBody>
          <a:bodyPr wrap="square" lIns="0" tIns="0" rIns="0" bIns="0" rtlCol="0" anchor="t"/>
          <a:lstStyle/>
          <a:p>
            <a:pPr indent="0" marL="0">
              <a:lnSpc>
                <a:spcPct val="124000"/>
              </a:lnSpc>
              <a:buNone/>
            </a:pPr>
            <a:r>
              <a:rPr lang="en-US" sz="1350" dirty="0">
                <a:solidFill>
                  <a:srgbClr val="6F6B80"/>
                </a:solidFill>
                <a:latin typeface="Arial" pitchFamily="34" charset="0"/>
                <a:ea typeface="Arial" pitchFamily="34" charset="-122"/>
                <a:cs typeface="Arial" pitchFamily="34" charset="-120"/>
              </a:rPr>
              <a:t>Existen miles de cadenas, pero por debajo hay muy pocas ideas arquitectónicas distintas. Conocerlas permite ubicar cualquier proyecto nuevo sin estudiarlo desde cero. Uno es dinero; el otro es una plataforma de cómputo.</a:t>
            </a:r>
            <a:endParaRPr lang="en-US" sz="135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66928" y="2286000"/>
          <a:ext cx="11057839" cy="914400"/>
        </p:xfrm>
        <a:graphic>
          <a:graphicData uri="http://schemas.openxmlformats.org/drawingml/2006/table">
            <a:tbl>
              <a:tblPr/>
              <a:tblGrid>
                <a:gridCol w="2148840"/>
                <a:gridCol w="4480560"/>
                <a:gridCol w="442843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CRITERIO</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BITCOIN</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ETHEREUM</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4254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Propósito de diseño</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Ser dinero digital resistente a la censura y a la inflación discrecional.</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Ser una computadora mundial: ejecutar programas con estado compartido y verificable.</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4254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Programación</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Lenguaje deliberadamente limitado, sin bucles. Se condiciona un pago, no se construye una aplicación.</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Lenguaje de propósito general. Cualquier cómputo, con el límite del gas.</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4254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Modelo de estado</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UTXO: el estado son las salidas de transacción no gastadas.</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Cuentas y saldos, como un libro contable convencional.</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4254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Consenso</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Prueba de trabajo.</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Prueba de participación desde 2022.</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4254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Cultura de cambio</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Conservadurismo extremo y deliberado. La estabilidad es la funcionalidad.</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Evolución rápida y planificada, con cambios de protocolo frecuentes.</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4254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Riesgo dominante</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Quedarse corto en funcionalidad frente a otras redes.</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Introducir un fallo al cambiar. Más superficie, más cosas que pueden romperse.</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10" name="Shape 6"/>
          <p:cNvSpPr/>
          <p:nvPr/>
        </p:nvSpPr>
        <p:spPr>
          <a:xfrm>
            <a:off x="548640" y="2267712"/>
            <a:ext cx="11094415" cy="3602736"/>
          </a:xfrm>
          <a:prstGeom prst="rect">
            <a:avLst/>
          </a:prstGeom>
          <a:ln w="22225">
            <a:solidFill>
              <a:srgbClr val="0F0F11"/>
            </a:solidFill>
            <a:prstDash val="solid"/>
          </a:ln>
        </p:spPr>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B.2 · FICHAS DE TÉRMINO 08 Y 09</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500" dirty="0">
                <a:solidFill>
                  <a:srgbClr val="0F0F11"/>
                </a:solidFill>
                <a:latin typeface="Arial Black" pitchFamily="34" charset="0"/>
                <a:ea typeface="Arial Black" pitchFamily="34" charset="-122"/>
                <a:cs typeface="Arial Black" pitchFamily="34" charset="-120"/>
              </a:rPr>
              <a:t>TURING-COMPLETO Y COMPATIBILIDAD CON LA EVM</a:t>
            </a:r>
            <a:endParaRPr lang="en-US" sz="25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01 · ¿QUÉ PROBLEMA RESUELVE REALMENTE BLOCKCHAIN?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47</a:t>
            </a:r>
            <a:endParaRPr lang="en-US" sz="900" dirty="0"/>
          </a:p>
        </p:txBody>
      </p:sp>
      <p:sp>
        <p:nvSpPr>
          <p:cNvPr id="8" name="Shape 5"/>
          <p:cNvSpPr/>
          <p:nvPr/>
        </p:nvSpPr>
        <p:spPr>
          <a:xfrm>
            <a:off x="566928" y="1737360"/>
            <a:ext cx="5419192" cy="237744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pic>
        <p:nvPicPr>
          <p:cNvPr id="9" name="Image 1" descr="preencoded.png">    </p:cNvPr>
          <p:cNvPicPr>
            <a:picLocks noChangeAspect="1"/>
          </p:cNvPicPr>
          <p:nvPr/>
        </p:nvPicPr>
        <p:blipFill>
          <a:blip r:embed="rId2"/>
          <a:stretch>
            <a:fillRect/>
          </a:stretch>
        </p:blipFill>
        <p:spPr>
          <a:xfrm>
            <a:off x="804672" y="1956816"/>
            <a:ext cx="237744" cy="237744"/>
          </a:xfrm>
          <a:prstGeom prst="rect">
            <a:avLst/>
          </a:prstGeom>
        </p:spPr>
      </p:pic>
      <p:sp>
        <p:nvSpPr>
          <p:cNvPr id="10" name="Text 6"/>
          <p:cNvSpPr/>
          <p:nvPr/>
        </p:nvSpPr>
        <p:spPr>
          <a:xfrm>
            <a:off x="1133856" y="1929384"/>
            <a:ext cx="4596232" cy="292608"/>
          </a:xfrm>
          <a:prstGeom prst="rect">
            <a:avLst/>
          </a:prstGeom>
          <a:noFill/>
          <a:ln/>
        </p:spPr>
        <p:txBody>
          <a:bodyPr wrap="square" lIns="0" tIns="0" rIns="0" bIns="0" rtlCol="0" anchor="ctr"/>
          <a:lstStyle/>
          <a:p>
            <a:pPr indent="0" marL="0">
              <a:buNone/>
            </a:pPr>
            <a:r>
              <a:rPr lang="en-US" sz="950" b="1" spc="150" kern="0" dirty="0">
                <a:solidFill>
                  <a:srgbClr val="5638C9"/>
                </a:solidFill>
                <a:latin typeface="Courier New" pitchFamily="34" charset="0"/>
                <a:ea typeface="Courier New" pitchFamily="34" charset="-122"/>
                <a:cs typeface="Courier New" pitchFamily="34" charset="-120"/>
              </a:rPr>
              <a:t>FICHA 08 · TURING-COMPLETO</a:t>
            </a:r>
            <a:endParaRPr lang="en-US" sz="950" dirty="0"/>
          </a:p>
        </p:txBody>
      </p:sp>
      <p:sp>
        <p:nvSpPr>
          <p:cNvPr id="11" name="Text 7"/>
          <p:cNvSpPr/>
          <p:nvPr/>
        </p:nvSpPr>
        <p:spPr>
          <a:xfrm>
            <a:off x="804672" y="2322576"/>
            <a:ext cx="4943704" cy="100584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Sistema de cómputo capaz de expresar cualquier algoritmo calculable, dado tiempo y memoria suficientes. Permite bucles y recursión — incluidos programas que nunca terminan.</a:t>
            </a:r>
            <a:endParaRPr lang="en-US" sz="1300" dirty="0"/>
          </a:p>
        </p:txBody>
      </p:sp>
      <p:sp>
        <p:nvSpPr>
          <p:cNvPr id="12" name="Text 8"/>
          <p:cNvSpPr/>
          <p:nvPr/>
        </p:nvSpPr>
        <p:spPr>
          <a:xfrm>
            <a:off x="804672" y="3374136"/>
            <a:ext cx="4943704" cy="685800"/>
          </a:xfrm>
          <a:prstGeom prst="rect">
            <a:avLst/>
          </a:prstGeom>
          <a:noFill/>
          <a:ln/>
        </p:spPr>
        <p:txBody>
          <a:bodyPr wrap="square" lIns="0" tIns="0" rIns="0" bIns="0" rtlCol="0" anchor="t"/>
          <a:lstStyle/>
          <a:p>
            <a:pPr indent="0" marL="0">
              <a:lnSpc>
                <a:spcPct val="124000"/>
              </a:lnSpc>
              <a:buNone/>
            </a:pPr>
            <a:r>
              <a:rPr lang="en-US" sz="1250" dirty="0">
                <a:solidFill>
                  <a:srgbClr val="0F0F11"/>
                </a:solidFill>
                <a:latin typeface="Arial" pitchFamily="34" charset="0"/>
                <a:ea typeface="Arial" pitchFamily="34" charset="-122"/>
                <a:cs typeface="Arial" pitchFamily="34" charset="-120"/>
              </a:rPr>
              <a:t>En una red donde TODOS los nodos ejecutan el mismo código, un bucle infinito congelaría la red entera.</a:t>
            </a:r>
            <a:endParaRPr lang="en-US" sz="1250" dirty="0"/>
          </a:p>
        </p:txBody>
      </p:sp>
      <p:sp>
        <p:nvSpPr>
          <p:cNvPr id="13" name="Shape 9"/>
          <p:cNvSpPr/>
          <p:nvPr/>
        </p:nvSpPr>
        <p:spPr>
          <a:xfrm>
            <a:off x="6205576" y="1737360"/>
            <a:ext cx="5419192" cy="237744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pic>
        <p:nvPicPr>
          <p:cNvPr id="14" name="Image 2" descr="preencoded.png">    </p:cNvPr>
          <p:cNvPicPr>
            <a:picLocks noChangeAspect="1"/>
          </p:cNvPicPr>
          <p:nvPr/>
        </p:nvPicPr>
        <p:blipFill>
          <a:blip r:embed="rId3"/>
          <a:stretch>
            <a:fillRect/>
          </a:stretch>
        </p:blipFill>
        <p:spPr>
          <a:xfrm>
            <a:off x="6443320" y="1956816"/>
            <a:ext cx="237744" cy="237744"/>
          </a:xfrm>
          <a:prstGeom prst="rect">
            <a:avLst/>
          </a:prstGeom>
        </p:spPr>
      </p:pic>
      <p:sp>
        <p:nvSpPr>
          <p:cNvPr id="15" name="Text 10"/>
          <p:cNvSpPr/>
          <p:nvPr/>
        </p:nvSpPr>
        <p:spPr>
          <a:xfrm>
            <a:off x="6772504" y="1929384"/>
            <a:ext cx="4596232" cy="292608"/>
          </a:xfrm>
          <a:prstGeom prst="rect">
            <a:avLst/>
          </a:prstGeom>
          <a:noFill/>
          <a:ln/>
        </p:spPr>
        <p:txBody>
          <a:bodyPr wrap="square" lIns="0" tIns="0" rIns="0" bIns="0" rtlCol="0" anchor="ctr"/>
          <a:lstStyle/>
          <a:p>
            <a:pPr indent="0" marL="0">
              <a:buNone/>
            </a:pPr>
            <a:r>
              <a:rPr lang="en-US" sz="950" b="1" spc="150" kern="0" dirty="0">
                <a:solidFill>
                  <a:srgbClr val="5638C9"/>
                </a:solidFill>
                <a:latin typeface="Courier New" pitchFamily="34" charset="0"/>
                <a:ea typeface="Courier New" pitchFamily="34" charset="-122"/>
                <a:cs typeface="Courier New" pitchFamily="34" charset="-120"/>
              </a:rPr>
              <a:t>FICHA 09 · EVM Y COMPATIBILIDAD</a:t>
            </a:r>
            <a:endParaRPr lang="en-US" sz="950" dirty="0"/>
          </a:p>
        </p:txBody>
      </p:sp>
      <p:sp>
        <p:nvSpPr>
          <p:cNvPr id="16" name="Text 11"/>
          <p:cNvSpPr/>
          <p:nvPr/>
        </p:nvSpPr>
        <p:spPr>
          <a:xfrm>
            <a:off x="6443320" y="2322576"/>
            <a:ext cx="4943704" cy="100584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La máquina virtual de Ethereum es la especificación de la máquina de estados que ejecuta los contratos: qué operaciones existen y cuánto cuesta cada una.</a:t>
            </a:r>
            <a:endParaRPr lang="en-US" sz="1300" dirty="0"/>
          </a:p>
        </p:txBody>
      </p:sp>
      <p:sp>
        <p:nvSpPr>
          <p:cNvPr id="17" name="Text 12"/>
          <p:cNvSpPr/>
          <p:nvPr/>
        </p:nvSpPr>
        <p:spPr>
          <a:xfrm>
            <a:off x="6443320" y="3374136"/>
            <a:ext cx="4943704" cy="685800"/>
          </a:xfrm>
          <a:prstGeom prst="rect">
            <a:avLst/>
          </a:prstGeom>
          <a:noFill/>
          <a:ln/>
        </p:spPr>
        <p:txBody>
          <a:bodyPr wrap="square" lIns="0" tIns="0" rIns="0" bIns="0" rtlCol="0" anchor="t"/>
          <a:lstStyle/>
          <a:p>
            <a:pPr indent="0" marL="0">
              <a:lnSpc>
                <a:spcPct val="124000"/>
              </a:lnSpc>
              <a:buNone/>
            </a:pPr>
            <a:r>
              <a:rPr lang="en-US" sz="1250" dirty="0">
                <a:solidFill>
                  <a:srgbClr val="0F0F11"/>
                </a:solidFill>
                <a:latin typeface="Arial" pitchFamily="34" charset="0"/>
                <a:ea typeface="Arial" pitchFamily="34" charset="-122"/>
                <a:cs typeface="Arial" pitchFamily="34" charset="-120"/>
              </a:rPr>
              <a:t>Una red «compatible con la EVM» ejecuta esa misma especificación: el código se transfiere sin reescribirse.</a:t>
            </a:r>
            <a:endParaRPr lang="en-US" sz="1250" dirty="0"/>
          </a:p>
        </p:txBody>
      </p:sp>
      <p:sp>
        <p:nvSpPr>
          <p:cNvPr id="18" name="Shape 13"/>
          <p:cNvSpPr/>
          <p:nvPr/>
        </p:nvSpPr>
        <p:spPr>
          <a:xfrm>
            <a:off x="566928" y="4297680"/>
            <a:ext cx="11057839" cy="114300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sp>
        <p:nvSpPr>
          <p:cNvPr id="19" name="Text 14"/>
          <p:cNvSpPr/>
          <p:nvPr/>
        </p:nvSpPr>
        <p:spPr>
          <a:xfrm>
            <a:off x="950976" y="4517136"/>
            <a:ext cx="10289743" cy="704088"/>
          </a:xfrm>
          <a:prstGeom prst="rect">
            <a:avLst/>
          </a:prstGeom>
          <a:noFill/>
          <a:ln/>
        </p:spPr>
        <p:txBody>
          <a:bodyPr wrap="square" lIns="0" tIns="0" rIns="0" bIns="0" rtlCol="0" anchor="ctr"/>
          <a:lstStyle/>
          <a:p>
            <a:pPr indent="0" marL="0">
              <a:lnSpc>
                <a:spcPct val="106000"/>
              </a:lnSpc>
              <a:buNone/>
            </a:pPr>
            <a:r>
              <a:rPr lang="en-US" sz="1700" dirty="0">
                <a:solidFill>
                  <a:srgbClr val="0F0F11"/>
                </a:solidFill>
                <a:latin typeface="Arial Black" pitchFamily="34" charset="0"/>
                <a:ea typeface="Arial Black" pitchFamily="34" charset="-122"/>
                <a:cs typeface="Arial Black" pitchFamily="34" charset="-120"/>
              </a:rPr>
              <a:t>La solución de Ethereum es cobrar por cada operación elemental: un programa que no termina se queda sin fondos y aborta. Ese mecanismo se llama GAS y es el centro de la Sesión 5.</a:t>
            </a:r>
            <a:endParaRPr lang="en-US" sz="1700" dirty="0"/>
          </a:p>
        </p:txBody>
      </p:sp>
      <p:sp>
        <p:nvSpPr>
          <p:cNvPr id="20" name="Text 15"/>
          <p:cNvSpPr/>
          <p:nvPr/>
        </p:nvSpPr>
        <p:spPr>
          <a:xfrm>
            <a:off x="566928" y="5596128"/>
            <a:ext cx="11057839" cy="548640"/>
          </a:xfrm>
          <a:prstGeom prst="rect">
            <a:avLst/>
          </a:prstGeom>
          <a:noFill/>
          <a:ln/>
        </p:spPr>
        <p:txBody>
          <a:bodyPr wrap="square" lIns="0" tIns="0" rIns="0" bIns="0" rtlCol="0" anchor="t"/>
          <a:lstStyle/>
          <a:p>
            <a:pPr indent="0" marL="0">
              <a:lnSpc>
                <a:spcPct val="124000"/>
              </a:lnSpc>
              <a:buNone/>
            </a:pPr>
            <a:r>
              <a:rPr lang="en-US" sz="1250" dirty="0">
                <a:solidFill>
                  <a:srgbClr val="6F6B80"/>
                </a:solidFill>
                <a:latin typeface="Arial" pitchFamily="34" charset="0"/>
                <a:ea typeface="Arial" pitchFamily="34" charset="-122"/>
                <a:cs typeface="Arial" pitchFamily="34" charset="-120"/>
              </a:rPr>
              <a:t>Por eso proliferan las cadenas compatibles: adoptar la EVM permite heredar un ecosistema entero de desarrolladores y de código probado. Lo que se aprende aquí no es una red: es un modelo de cómputo.</a:t>
            </a:r>
            <a:endParaRPr lang="en-US" sz="12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B.2 · FICHA DE TÉRMINO 10</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CAPA 1 Y CAPA 2</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01 · ¿QUÉ PROBLEMA RESUELVE REALMENTE BLOCKCHAIN?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48</a:t>
            </a:r>
            <a:endParaRPr lang="en-US" sz="900" dirty="0"/>
          </a:p>
        </p:txBody>
      </p:sp>
      <p:sp>
        <p:nvSpPr>
          <p:cNvPr id="8" name="Shape 5"/>
          <p:cNvSpPr/>
          <p:nvPr/>
        </p:nvSpPr>
        <p:spPr>
          <a:xfrm>
            <a:off x="566928" y="1737360"/>
            <a:ext cx="11057839" cy="251460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pic>
        <p:nvPicPr>
          <p:cNvPr id="9" name="Image 1" descr="preencoded.png">    </p:cNvPr>
          <p:cNvPicPr>
            <a:picLocks noChangeAspect="1"/>
          </p:cNvPicPr>
          <p:nvPr/>
        </p:nvPicPr>
        <p:blipFill>
          <a:blip r:embed="rId2"/>
          <a:stretch>
            <a:fillRect/>
          </a:stretch>
        </p:blipFill>
        <p:spPr>
          <a:xfrm>
            <a:off x="804672" y="1956816"/>
            <a:ext cx="237744" cy="237744"/>
          </a:xfrm>
          <a:prstGeom prst="rect">
            <a:avLst/>
          </a:prstGeom>
        </p:spPr>
      </p:pic>
      <p:sp>
        <p:nvSpPr>
          <p:cNvPr id="10" name="Text 6"/>
          <p:cNvSpPr/>
          <p:nvPr/>
        </p:nvSpPr>
        <p:spPr>
          <a:xfrm>
            <a:off x="1133856" y="1929384"/>
            <a:ext cx="10234879" cy="292608"/>
          </a:xfrm>
          <a:prstGeom prst="rect">
            <a:avLst/>
          </a:prstGeom>
          <a:noFill/>
          <a:ln/>
        </p:spPr>
        <p:txBody>
          <a:bodyPr wrap="square" lIns="0" tIns="0" rIns="0" bIns="0" rtlCol="0" anchor="ctr"/>
          <a:lstStyle/>
          <a:p>
            <a:pPr indent="0" marL="0">
              <a:buNone/>
            </a:pPr>
            <a:r>
              <a:rPr lang="en-US" sz="950" b="1" spc="150" kern="0" dirty="0">
                <a:solidFill>
                  <a:srgbClr val="5638C9"/>
                </a:solidFill>
                <a:latin typeface="Courier New" pitchFamily="34" charset="0"/>
                <a:ea typeface="Courier New" pitchFamily="34" charset="-122"/>
                <a:cs typeface="Courier New" pitchFamily="34" charset="-120"/>
              </a:rPr>
              <a:t>FICHA DE TÉRMINO 10 · LAYER 1 / LAYER 2</a:t>
            </a:r>
            <a:endParaRPr lang="en-US" sz="950" dirty="0"/>
          </a:p>
        </p:txBody>
      </p:sp>
      <p:sp>
        <p:nvSpPr>
          <p:cNvPr id="11" name="Shape 7"/>
          <p:cNvSpPr/>
          <p:nvPr/>
        </p:nvSpPr>
        <p:spPr>
          <a:xfrm>
            <a:off x="804672" y="2322576"/>
            <a:ext cx="10582351" cy="960120"/>
          </a:xfrm>
          <a:prstGeom prst="rect">
            <a:avLst/>
          </a:prstGeom>
          <a:solidFill>
            <a:srgbClr val="F2F0F5"/>
          </a:solidFill>
          <a:ln w="12700">
            <a:solidFill>
              <a:srgbClr val="7152E9"/>
            </a:solidFill>
            <a:prstDash val="solid"/>
          </a:ln>
        </p:spPr>
      </p:sp>
      <p:sp>
        <p:nvSpPr>
          <p:cNvPr id="12" name="Text 8"/>
          <p:cNvSpPr/>
          <p:nvPr/>
        </p:nvSpPr>
        <p:spPr>
          <a:xfrm>
            <a:off x="969264" y="2414016"/>
            <a:ext cx="10253167" cy="777240"/>
          </a:xfrm>
          <a:prstGeom prst="rect">
            <a:avLst/>
          </a:prstGeom>
          <a:noFill/>
          <a:ln/>
        </p:spPr>
        <p:txBody>
          <a:bodyPr wrap="square" lIns="0" tIns="0" rIns="0" bIns="0" rtlCol="0" anchor="ctr"/>
          <a:lstStyle/>
          <a:p>
            <a:pPr indent="0" marL="0">
              <a:lnSpc>
                <a:spcPct val="120000"/>
              </a:lnSpc>
              <a:buNone/>
            </a:pPr>
            <a:r>
              <a:rPr lang="en-US" sz="1100" dirty="0">
                <a:solidFill>
                  <a:srgbClr val="3A3844"/>
                </a:solidFill>
                <a:latin typeface="Courier New" pitchFamily="34" charset="0"/>
                <a:ea typeface="Courier New" pitchFamily="34" charset="-122"/>
                <a:cs typeface="Courier New" pitchFamily="34" charset="-120"/>
              </a:rPr>
              <a:t>CAPA 1 (L1): la cadena base, que provee consenso y seguridad por sí misma.</a:t>
            </a:r>
            <a:endParaRPr lang="en-US" sz="1100" dirty="0"/>
          </a:p>
          <a:p>
            <a:pPr indent="0" marL="0">
              <a:lnSpc>
                <a:spcPct val="120000"/>
              </a:lnSpc>
              <a:buNone/>
            </a:pPr>
            <a:r>
              <a:rPr lang="en-US" sz="1100" dirty="0">
                <a:solidFill>
                  <a:srgbClr val="3A3844"/>
                </a:solidFill>
                <a:latin typeface="Courier New" pitchFamily="34" charset="0"/>
                <a:ea typeface="Courier New" pitchFamily="34" charset="-122"/>
                <a:cs typeface="Courier New" pitchFamily="34" charset="-120"/>
              </a:rPr>
              <a:t>CAPA 2 (L2): red construida encima que ejecuta transacciones fuera de la capa base</a:t>
            </a:r>
            <a:endParaRPr lang="en-US" sz="1100" dirty="0"/>
          </a:p>
          <a:p>
            <a:pPr indent="0" marL="0">
              <a:lnSpc>
                <a:spcPct val="120000"/>
              </a:lnSpc>
              <a:buNone/>
            </a:pPr>
            <a:r>
              <a:rPr lang="en-US" sz="1100" dirty="0">
                <a:solidFill>
                  <a:srgbClr val="3A3844"/>
                </a:solidFill>
                <a:latin typeface="Courier New" pitchFamily="34" charset="0"/>
                <a:ea typeface="Courier New" pitchFamily="34" charset="-122"/>
                <a:cs typeface="Courier New" pitchFamily="34" charset="-120"/>
              </a:rPr>
              <a:t>y se apoya en ella para la seguridad y la resolución de disputas.</a:t>
            </a:r>
            <a:endParaRPr lang="en-US" sz="1100" dirty="0"/>
          </a:p>
        </p:txBody>
      </p:sp>
      <p:sp>
        <p:nvSpPr>
          <p:cNvPr id="13" name="Text 9"/>
          <p:cNvSpPr/>
          <p:nvPr/>
        </p:nvSpPr>
        <p:spPr>
          <a:xfrm>
            <a:off x="804672" y="3438144"/>
            <a:ext cx="10582351" cy="96012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La motivación viene directamente del trilema de A.4: la capa base no puede ganar escalabilidad sin ceder descentralización o seguridad. La estrategia de las capas 2 es mover la ejecución fuera y dejar en la base solo la verificación, que es mucho más barata. Es la vía de escalado dominante hoy y se estudia en la Sesión 16.</a:t>
            </a:r>
            <a:endParaRPr lang="en-US" sz="1350" dirty="0"/>
          </a:p>
        </p:txBody>
      </p:sp>
      <p:sp>
        <p:nvSpPr>
          <p:cNvPr id="14" name="Shape 10"/>
          <p:cNvSpPr/>
          <p:nvPr/>
        </p:nvSpPr>
        <p:spPr>
          <a:xfrm>
            <a:off x="566928" y="4434840"/>
            <a:ext cx="11057839" cy="146304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pic>
        <p:nvPicPr>
          <p:cNvPr id="15" name="Image 2" descr="preencoded.png">    </p:cNvPr>
          <p:cNvPicPr>
            <a:picLocks noChangeAspect="1"/>
          </p:cNvPicPr>
          <p:nvPr/>
        </p:nvPicPr>
        <p:blipFill>
          <a:blip r:embed="rId3"/>
          <a:stretch>
            <a:fillRect/>
          </a:stretch>
        </p:blipFill>
        <p:spPr>
          <a:xfrm>
            <a:off x="804672" y="4654296"/>
            <a:ext cx="237744" cy="237744"/>
          </a:xfrm>
          <a:prstGeom prst="rect">
            <a:avLst/>
          </a:prstGeom>
        </p:spPr>
      </p:pic>
      <p:sp>
        <p:nvSpPr>
          <p:cNvPr id="16" name="Text 11"/>
          <p:cNvSpPr/>
          <p:nvPr/>
        </p:nvSpPr>
        <p:spPr>
          <a:xfrm>
            <a:off x="1133856" y="4626864"/>
            <a:ext cx="10234879" cy="292608"/>
          </a:xfrm>
          <a:prstGeom prst="rect">
            <a:avLst/>
          </a:prstGeom>
          <a:noFill/>
          <a:ln/>
        </p:spPr>
        <p:txBody>
          <a:bodyPr wrap="square" lIns="0" tIns="0" rIns="0" bIns="0" rtlCol="0" anchor="ctr"/>
          <a:lstStyle/>
          <a:p>
            <a:pPr indent="0" marL="0">
              <a:buNone/>
            </a:pPr>
            <a:r>
              <a:rPr lang="en-US" sz="950" b="1" spc="150" kern="0" dirty="0">
                <a:solidFill>
                  <a:srgbClr val="0F0F11"/>
                </a:solidFill>
                <a:latin typeface="Courier New" pitchFamily="34" charset="0"/>
                <a:ea typeface="Courier New" pitchFamily="34" charset="-122"/>
                <a:cs typeface="Courier New" pitchFamily="34" charset="-120"/>
              </a:rPr>
              <a:t>POR QUÉ ESTE CURSO USA ETHEREUM</a:t>
            </a:r>
            <a:endParaRPr lang="en-US" sz="950" dirty="0"/>
          </a:p>
        </p:txBody>
      </p:sp>
      <p:sp>
        <p:nvSpPr>
          <p:cNvPr id="17" name="Text 12"/>
          <p:cNvSpPr/>
          <p:nvPr/>
        </p:nvSpPr>
        <p:spPr>
          <a:xfrm>
            <a:off x="804672" y="4983480"/>
            <a:ext cx="10582351" cy="86868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No es una elección ideológica. Es donde están las herramientas maduras y la documentación; sus estándares —sesiones 10 y 11— son los que adoptó el resto de la industria; y el conocimiento se transfiere sin fricción a todas las redes compatibles con la EVM, que son la mayoría de las que un egresado encontrará en el mercado.</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B.3 · MIN 147–160 · ADOPCIÓN REAL</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LO QUE SÍ ENCONTRÓ USO SOSTENIDO</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01 · ¿QUÉ PROBLEMA RESUELVE REALMENTE BLOCKCHAIN?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49</a:t>
            </a:r>
            <a:endParaRPr lang="en-US" sz="900" dirty="0"/>
          </a:p>
        </p:txBody>
      </p:sp>
      <p:sp>
        <p:nvSpPr>
          <p:cNvPr id="8" name="Text 5"/>
          <p:cNvSpPr/>
          <p:nvPr/>
        </p:nvSpPr>
        <p:spPr>
          <a:xfrm>
            <a:off x="566928" y="1719072"/>
            <a:ext cx="11057839" cy="502920"/>
          </a:xfrm>
          <a:prstGeom prst="rect">
            <a:avLst/>
          </a:prstGeom>
          <a:noFill/>
          <a:ln/>
        </p:spPr>
        <p:txBody>
          <a:bodyPr wrap="square" lIns="0" tIns="0" rIns="0" bIns="0" rtlCol="0" anchor="t"/>
          <a:lstStyle/>
          <a:p>
            <a:pPr indent="0" marL="0">
              <a:lnSpc>
                <a:spcPct val="124000"/>
              </a:lnSpc>
              <a:buNone/>
            </a:pPr>
            <a:r>
              <a:rPr lang="en-US" sz="1350" dirty="0">
                <a:solidFill>
                  <a:srgbClr val="6F6B80"/>
                </a:solidFill>
                <a:latin typeface="Arial" pitchFamily="34" charset="0"/>
                <a:ea typeface="Arial" pitchFamily="34" charset="-122"/>
                <a:cs typeface="Arial" pitchFamily="34" charset="-120"/>
              </a:rPr>
              <a:t>Después de más de quince años se puede mirar la evidencia en lugar de la promesa. El método cabe en dos preguntas: ¿qué problema resolvió, y para quién? Si la respuesta exige hablar del futuro, todavía no hay evidencia.</a:t>
            </a:r>
            <a:endParaRPr lang="en-US" sz="135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566928" y="2331720"/>
          <a:ext cx="11057839" cy="914400"/>
        </p:xfrm>
        <a:graphic>
          <a:graphicData uri="http://schemas.openxmlformats.org/drawingml/2006/table">
            <a:tbl>
              <a:tblPr/>
              <a:tblGrid>
                <a:gridCol w="3291840"/>
                <a:gridCol w="776599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CASO</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POR QUÉ FUNCIONÓ</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802386">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Monedas estables y pagos transfronterizos</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El caso con adopción más medible, con especial peso en economías con alta inflación, controles de capital o infraestructura de pagos costosa. Resuelve un problema que la gente tenía de verdad: mover valor entre países sin depender de una cadena de bancos corresponsales.</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802386">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Especulación y mercados de activos digitales</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Hay que decirlo con honestidad intelectual: es el uso dominante en volumen. Un curso serio no lo omite ni lo celebra; lo reconoce como el hecho que financió toda la infraestructura que sí tiene otros usos.</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802386">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Tokenización de activos financieros</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Bonos, fondos e instrumentos de deuda emitidos y liquidados sobre cadena. Funciona porque la liquidación entre instituciones que no confían plenamente entre sí es exactamente el problema que resuelve un libro compartido.</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802386">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Credenciales y registros verificables</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Adopción lenta pero sostenida. Funciona cuando lo que se ancla es un hash y no el dato, y cuando el emisor ya es confiable: lo que aporta la cadena es verificar sin depender de que el emisor siga existiendo.</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10" name="Shape 6"/>
          <p:cNvSpPr/>
          <p:nvPr/>
        </p:nvSpPr>
        <p:spPr>
          <a:xfrm>
            <a:off x="548640" y="2313432"/>
            <a:ext cx="11094415" cy="3557016"/>
          </a:xfrm>
          <a:prstGeom prst="rect">
            <a:avLst/>
          </a:prstGeom>
          <a:ln w="22225">
            <a:solidFill>
              <a:srgbClr val="0F0F11"/>
            </a:solidFill>
            <a:prstDash val="solid"/>
          </a:ln>
        </p:spPr>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B.3 · ADOPCIÓN REAL</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500" dirty="0">
                <a:solidFill>
                  <a:srgbClr val="0F0F11"/>
                </a:solidFill>
                <a:latin typeface="Arial Black" pitchFamily="34" charset="0"/>
                <a:ea typeface="Arial Black" pitchFamily="34" charset="-122"/>
                <a:cs typeface="Arial Black" pitchFamily="34" charset="-120"/>
              </a:rPr>
              <a:t>LO QUE NO PRENDIÓ, Y EN QUÉ PASO DEL ÁRBOL MUERE</a:t>
            </a:r>
            <a:endParaRPr lang="en-US" sz="25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01 · ¿QUÉ PROBLEMA RESUELVE REALMENTE BLOCKCHAIN?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50</a:t>
            </a:r>
            <a:endParaRPr lang="en-US" sz="9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66928" y="1783080"/>
          <a:ext cx="11057839" cy="914400"/>
        </p:xfrm>
        <a:graphic>
          <a:graphicData uri="http://schemas.openxmlformats.org/drawingml/2006/table">
            <a:tbl>
              <a:tblPr/>
              <a:tblGrid>
                <a:gridCol w="3566160"/>
                <a:gridCol w="749167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CASO</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DÓNDE FALLA</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768096">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Trazabilidad genérica de cadena de suministro</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PASO 6. El registro es impecable y el dato de entrada no está verificado. Se invirtió mucho en resolver criptográficamente un problema que era de auditoría física.</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768096">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Blockchain empresarial privada</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PASOS 1 Y 2. Una sola organización, o varias que ya confían entre sí y tienen contratos. La ola de pilotos corporativos terminó, en su mayoría, en bases de datos con más pasos.</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768096">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Identidad digital universal</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ADOPCIÓN Y RECUPERACIÓN. Técnicamente viable, pero exige que todo un ecosistema adopte el mismo esquema al tiempo, y choca con qué hacer cuando el usuario pierde sus claves.</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768096">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Coleccionables digitales como mercado masivo</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EL ACTIVO NO TENÍA LA DEMANDA QUE EL PRECIO SUPONÍA. El mercado especulativo colapsó, pero el estándar técnico sobrevivió y hoy se usa para entradas, credenciales y membresías. La tecnología no fracasó; la tesis de inversión sí.</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9" name="Shape 5"/>
          <p:cNvSpPr/>
          <p:nvPr/>
        </p:nvSpPr>
        <p:spPr>
          <a:xfrm>
            <a:off x="548640" y="1764792"/>
            <a:ext cx="11094415" cy="3419856"/>
          </a:xfrm>
          <a:prstGeom prst="rect">
            <a:avLst/>
          </a:prstGeom>
          <a:ln w="22225">
            <a:solidFill>
              <a:srgbClr val="0F0F11"/>
            </a:solidFill>
            <a:prstDash val="solid"/>
          </a:ln>
        </p:spPr>
      </p:sp>
      <p:sp>
        <p:nvSpPr>
          <p:cNvPr id="10" name="Shape 6"/>
          <p:cNvSpPr/>
          <p:nvPr/>
        </p:nvSpPr>
        <p:spPr>
          <a:xfrm>
            <a:off x="566928" y="5285232"/>
            <a:ext cx="11057839" cy="100584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pic>
        <p:nvPicPr>
          <p:cNvPr id="11" name="Image 1" descr="preencoded.png">    </p:cNvPr>
          <p:cNvPicPr>
            <a:picLocks noChangeAspect="1"/>
          </p:cNvPicPr>
          <p:nvPr/>
        </p:nvPicPr>
        <p:blipFill>
          <a:blip r:embed="rId2"/>
          <a:stretch>
            <a:fillRect/>
          </a:stretch>
        </p:blipFill>
        <p:spPr>
          <a:xfrm>
            <a:off x="804672" y="5504688"/>
            <a:ext cx="237744" cy="237744"/>
          </a:xfrm>
          <a:prstGeom prst="rect">
            <a:avLst/>
          </a:prstGeom>
        </p:spPr>
      </p:pic>
      <p:sp>
        <p:nvSpPr>
          <p:cNvPr id="12" name="Text 7"/>
          <p:cNvSpPr/>
          <p:nvPr/>
        </p:nvSpPr>
        <p:spPr>
          <a:xfrm>
            <a:off x="1133856" y="5477256"/>
            <a:ext cx="10234879" cy="292608"/>
          </a:xfrm>
          <a:prstGeom prst="rect">
            <a:avLst/>
          </a:prstGeom>
          <a:noFill/>
          <a:ln/>
        </p:spPr>
        <p:txBody>
          <a:bodyPr wrap="square" lIns="0" tIns="0" rIns="0" bIns="0" rtlCol="0" anchor="ctr"/>
          <a:lstStyle/>
          <a:p>
            <a:pPr indent="0" marL="0">
              <a:buNone/>
            </a:pPr>
            <a:r>
              <a:rPr lang="en-US" sz="950" b="1" spc="150" kern="0" dirty="0">
                <a:solidFill>
                  <a:srgbClr val="0F0F11"/>
                </a:solidFill>
                <a:latin typeface="Courier New" pitchFamily="34" charset="0"/>
                <a:ea typeface="Courier New" pitchFamily="34" charset="-122"/>
                <a:cs typeface="Courier New" pitchFamily="34" charset="-120"/>
              </a:rPr>
              <a:t>EL PATRÓN, EN UNA FRASE</a:t>
            </a:r>
            <a:endParaRPr lang="en-US" sz="950" dirty="0"/>
          </a:p>
        </p:txBody>
      </p:sp>
      <p:sp>
        <p:nvSpPr>
          <p:cNvPr id="13" name="Text 8"/>
          <p:cNvSpPr/>
          <p:nvPr/>
        </p:nvSpPr>
        <p:spPr>
          <a:xfrm>
            <a:off x="804672" y="5797296"/>
            <a:ext cx="10582351" cy="457200"/>
          </a:xfrm>
          <a:prstGeom prst="rect">
            <a:avLst/>
          </a:prstGeom>
          <a:noFill/>
          <a:ln/>
        </p:spPr>
        <p:txBody>
          <a:bodyPr wrap="square" lIns="0" tIns="0" rIns="0" bIns="0" rtlCol="0" anchor="ctr"/>
          <a:lstStyle/>
          <a:p>
            <a:pPr indent="0" marL="0">
              <a:lnSpc>
                <a:spcPct val="105000"/>
              </a:lnSpc>
              <a:buNone/>
            </a:pPr>
            <a:r>
              <a:rPr lang="en-US" sz="1400" dirty="0">
                <a:solidFill>
                  <a:srgbClr val="0F0F11"/>
                </a:solidFill>
                <a:latin typeface="Arial Black" pitchFamily="34" charset="0"/>
                <a:ea typeface="Arial Black" pitchFamily="34" charset="-122"/>
                <a:cs typeface="Arial Black" pitchFamily="34" charset="-120"/>
              </a:rPr>
              <a:t>Sobrevivieron los casos que necesitaban resistencia a la censura o liquidación sin intermediario. Fracasaron los que solo necesitaban un registro compartido.</a:t>
            </a:r>
            <a:endParaRPr lang="en-US" sz="14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B.3 · CIERRE</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CONTEXTO REGIONAL</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01 · ¿QUÉ PROBLEMA RESUELVE REALMENTE BLOCKCHAIN?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51</a:t>
            </a:r>
            <a:endParaRPr lang="en-US" sz="900" dirty="0"/>
          </a:p>
        </p:txBody>
      </p:sp>
      <p:sp>
        <p:nvSpPr>
          <p:cNvPr id="8" name="Shape 5"/>
          <p:cNvSpPr/>
          <p:nvPr/>
        </p:nvSpPr>
        <p:spPr>
          <a:xfrm>
            <a:off x="566928" y="1828800"/>
            <a:ext cx="11057839" cy="265176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9" name="Image 1" descr="preencoded.png">    </p:cNvPr>
          <p:cNvPicPr>
            <a:picLocks noChangeAspect="1"/>
          </p:cNvPicPr>
          <p:nvPr/>
        </p:nvPicPr>
        <p:blipFill>
          <a:blip r:embed="rId2"/>
          <a:stretch>
            <a:fillRect/>
          </a:stretch>
        </p:blipFill>
        <p:spPr>
          <a:xfrm>
            <a:off x="804672" y="2048256"/>
            <a:ext cx="237744" cy="237744"/>
          </a:xfrm>
          <a:prstGeom prst="rect">
            <a:avLst/>
          </a:prstGeom>
        </p:spPr>
      </p:pic>
      <p:sp>
        <p:nvSpPr>
          <p:cNvPr id="10" name="Text 6"/>
          <p:cNvSpPr/>
          <p:nvPr/>
        </p:nvSpPr>
        <p:spPr>
          <a:xfrm>
            <a:off x="1133856" y="2020824"/>
            <a:ext cx="10234879"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VERIFICAR ANTES DE DICTAR</a:t>
            </a:r>
            <a:endParaRPr lang="en-US" sz="950" dirty="0"/>
          </a:p>
        </p:txBody>
      </p:sp>
      <p:sp>
        <p:nvSpPr>
          <p:cNvPr id="11" name="Text 7"/>
          <p:cNvSpPr/>
          <p:nvPr/>
        </p:nvSpPr>
        <p:spPr>
          <a:xfrm>
            <a:off x="804672" y="2414016"/>
            <a:ext cx="10582351" cy="86868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América Latina aparece de forma recurrente en las mediciones de adopción minorista de criptoactivos, impulsada por las remesas, por la exposición a la inflación y por una parte significativa de la población con acceso limitado a servicios financieros.</a:t>
            </a:r>
            <a:endParaRPr lang="en-US" sz="1350" dirty="0"/>
          </a:p>
        </p:txBody>
      </p:sp>
      <p:sp>
        <p:nvSpPr>
          <p:cNvPr id="12" name="Text 8"/>
          <p:cNvSpPr/>
          <p:nvPr/>
        </p:nvSpPr>
        <p:spPr>
          <a:xfrm>
            <a:off x="804672" y="3328416"/>
            <a:ext cx="10582351" cy="86868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En Colombia ha habido actividad regulatoria relevante: pruebas supervisadas de operación entre entidades financieras y plataformas de intercambio, obligaciones de reporte de operaciones y discusión legislativa sobre el régimen aplicable.</a:t>
            </a:r>
            <a:endParaRPr lang="en-US" sz="1350" dirty="0"/>
          </a:p>
        </p:txBody>
      </p:sp>
      <p:sp>
        <p:nvSpPr>
          <p:cNvPr id="13" name="Text 9"/>
          <p:cNvSpPr/>
          <p:nvPr/>
        </p:nvSpPr>
        <p:spPr>
          <a:xfrm>
            <a:off x="566928" y="4754880"/>
            <a:ext cx="11057839" cy="914400"/>
          </a:xfrm>
          <a:prstGeom prst="rect">
            <a:avLst/>
          </a:prstGeom>
          <a:noFill/>
          <a:ln/>
        </p:spPr>
        <p:txBody>
          <a:bodyPr wrap="square" lIns="0" tIns="0" rIns="0" bIns="0" rtlCol="0" anchor="t"/>
          <a:lstStyle/>
          <a:p>
            <a:pPr indent="0" marL="0">
              <a:lnSpc>
                <a:spcPct val="124000"/>
              </a:lnSpc>
              <a:buNone/>
            </a:pPr>
            <a:r>
              <a:rPr lang="en-US" sz="1350" dirty="0">
                <a:solidFill>
                  <a:srgbClr val="6F6B80"/>
                </a:solidFill>
                <a:latin typeface="Arial" pitchFamily="34" charset="0"/>
                <a:ea typeface="Arial" pitchFamily="34" charset="-122"/>
                <a:cs typeface="Arial" pitchFamily="34" charset="-120"/>
              </a:rPr>
              <a:t>El estado exacto de todo lo anterior cambia con frecuencia. Es material de la Sesión 16 y debe verificarse en fuentes primarias antes de dictarse; aquí se enuncia solo para situar el curso en su contexto y para que los anteproyectos de la Sesión 6 no se diseñen en el vacío.</a:t>
            </a:r>
            <a:endParaRPr lang="en-US" sz="13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B.4 · MIN 160–172 · TALLER</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TALLER DE CASOS · GRUPOS DE TRES</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01 · ¿QUÉ PROBLEMA RESUELVE REALMENTE BLOCKCHAIN?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52</a:t>
            </a:r>
            <a:endParaRPr lang="en-US" sz="900" dirty="0"/>
          </a:p>
        </p:txBody>
      </p:sp>
      <p:sp>
        <p:nvSpPr>
          <p:cNvPr id="8" name="Text 5"/>
          <p:cNvSpPr/>
          <p:nvPr/>
        </p:nvSpPr>
        <p:spPr>
          <a:xfrm>
            <a:off x="566928" y="1719072"/>
            <a:ext cx="11057839" cy="64008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Aplicación directa del árbol de A.7 y del criterio de evidencia de B.3. Es el ensayo del anteproyecto de la Sesión 6: el mismo razonamiento, sobre casos ajenos y sin nota de por medio. Ocho minutos de trabajo, cuatro de plenaria, treinta segundos por grupo.</a:t>
            </a:r>
            <a:endParaRPr lang="en-US" sz="1350" dirty="0"/>
          </a:p>
        </p:txBody>
      </p:sp>
      <p:sp>
        <p:nvSpPr>
          <p:cNvPr id="9" name="Text 6"/>
          <p:cNvSpPr/>
          <p:nvPr/>
        </p:nvSpPr>
        <p:spPr>
          <a:xfrm>
            <a:off x="566928" y="2468880"/>
            <a:ext cx="11057839" cy="292608"/>
          </a:xfrm>
          <a:prstGeom prst="rect">
            <a:avLst/>
          </a:prstGeom>
          <a:noFill/>
          <a:ln/>
        </p:spPr>
        <p:txBody>
          <a:bodyPr wrap="square" lIns="0" tIns="0" rIns="0" bIns="0" rtlCol="0" anchor="t"/>
          <a:lstStyle/>
          <a:p>
            <a:pPr indent="0" marL="0">
              <a:lnSpc>
                <a:spcPct val="124000"/>
              </a:lnSpc>
              <a:buNone/>
            </a:pPr>
            <a:r>
              <a:rPr lang="en-US" sz="1300" dirty="0">
                <a:solidFill>
                  <a:srgbClr val="6F6B80"/>
                </a:solidFill>
                <a:latin typeface="Arial" pitchFamily="34" charset="0"/>
                <a:ea typeface="Arial" pitchFamily="34" charset="-122"/>
                <a:cs typeface="Arial" pitchFamily="34" charset="-120"/>
              </a:rPr>
              <a:t>Tres respuestas, escritas, de una línea cada una</a:t>
            </a:r>
            <a:endParaRPr lang="en-US" sz="1300" dirty="0"/>
          </a:p>
        </p:txBody>
      </p:sp>
      <p:sp>
        <p:nvSpPr>
          <p:cNvPr id="10" name="Text 7"/>
          <p:cNvSpPr/>
          <p:nvPr/>
        </p:nvSpPr>
        <p:spPr>
          <a:xfrm>
            <a:off x="566928" y="2898648"/>
            <a:ext cx="548640" cy="384048"/>
          </a:xfrm>
          <a:prstGeom prst="rect">
            <a:avLst/>
          </a:prstGeom>
          <a:noFill/>
          <a:ln/>
        </p:spPr>
        <p:txBody>
          <a:bodyPr wrap="square" lIns="0" tIns="0" rIns="0" bIns="0" rtlCol="0" anchor="ctr"/>
          <a:lstStyle/>
          <a:p>
            <a:pPr indent="0" marL="0">
              <a:buNone/>
            </a:pPr>
            <a:r>
              <a:rPr lang="en-US" sz="2000" dirty="0">
                <a:solidFill>
                  <a:srgbClr val="F07F06"/>
                </a:solidFill>
                <a:latin typeface="Arial Black" pitchFamily="34" charset="0"/>
                <a:ea typeface="Arial Black" pitchFamily="34" charset="-122"/>
                <a:cs typeface="Arial Black" pitchFamily="34" charset="-120"/>
              </a:rPr>
              <a:t>01</a:t>
            </a:r>
            <a:endParaRPr lang="en-US" sz="2000" dirty="0"/>
          </a:p>
        </p:txBody>
      </p:sp>
      <p:sp>
        <p:nvSpPr>
          <p:cNvPr id="11" name="Text 8"/>
          <p:cNvSpPr/>
          <p:nvPr/>
        </p:nvSpPr>
        <p:spPr>
          <a:xfrm>
            <a:off x="1252728" y="2880360"/>
            <a:ext cx="10372039" cy="566928"/>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¿En qué paso del árbol se corta el caso? Si no se corta en ninguno, decirlo y justificar por qué sobrevive los seis.</a:t>
            </a:r>
            <a:endParaRPr lang="en-US" sz="1350" dirty="0"/>
          </a:p>
        </p:txBody>
      </p:sp>
      <p:sp>
        <p:nvSpPr>
          <p:cNvPr id="12" name="Shape 9"/>
          <p:cNvSpPr/>
          <p:nvPr/>
        </p:nvSpPr>
        <p:spPr>
          <a:xfrm>
            <a:off x="566928" y="2770632"/>
            <a:ext cx="11057839" cy="0"/>
          </a:xfrm>
          <a:prstGeom prst="line">
            <a:avLst/>
          </a:prstGeom>
          <a:noFill/>
          <a:ln w="12700">
            <a:solidFill>
              <a:srgbClr val="D9D6E0"/>
            </a:solidFill>
            <a:prstDash val="solid"/>
          </a:ln>
        </p:spPr>
      </p:sp>
      <p:sp>
        <p:nvSpPr>
          <p:cNvPr id="13" name="Text 10"/>
          <p:cNvSpPr/>
          <p:nvPr/>
        </p:nvSpPr>
        <p:spPr>
          <a:xfrm>
            <a:off x="566928" y="3557016"/>
            <a:ext cx="548640" cy="384048"/>
          </a:xfrm>
          <a:prstGeom prst="rect">
            <a:avLst/>
          </a:prstGeom>
          <a:noFill/>
          <a:ln/>
        </p:spPr>
        <p:txBody>
          <a:bodyPr wrap="square" lIns="0" tIns="0" rIns="0" bIns="0" rtlCol="0" anchor="ctr"/>
          <a:lstStyle/>
          <a:p>
            <a:pPr indent="0" marL="0">
              <a:buNone/>
            </a:pPr>
            <a:r>
              <a:rPr lang="en-US" sz="2000" dirty="0">
                <a:solidFill>
                  <a:srgbClr val="F07F06"/>
                </a:solidFill>
                <a:latin typeface="Arial Black" pitchFamily="34" charset="0"/>
                <a:ea typeface="Arial Black" pitchFamily="34" charset="-122"/>
                <a:cs typeface="Arial Black" pitchFamily="34" charset="-120"/>
              </a:rPr>
              <a:t>02</a:t>
            </a:r>
            <a:endParaRPr lang="en-US" sz="2000" dirty="0"/>
          </a:p>
        </p:txBody>
      </p:sp>
      <p:sp>
        <p:nvSpPr>
          <p:cNvPr id="14" name="Text 11"/>
          <p:cNvSpPr/>
          <p:nvPr/>
        </p:nvSpPr>
        <p:spPr>
          <a:xfrm>
            <a:off x="1252728" y="3538728"/>
            <a:ext cx="10372039" cy="566928"/>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Si sobrevive: ¿qué actor introduce los datos y por qué habría que creerle? Es la pregunta del oráculo, y no admite «el sistema lo verifica».</a:t>
            </a:r>
            <a:endParaRPr lang="en-US" sz="1350" dirty="0"/>
          </a:p>
        </p:txBody>
      </p:sp>
      <p:sp>
        <p:nvSpPr>
          <p:cNvPr id="15" name="Shape 12"/>
          <p:cNvSpPr/>
          <p:nvPr/>
        </p:nvSpPr>
        <p:spPr>
          <a:xfrm>
            <a:off x="566928" y="3429000"/>
            <a:ext cx="11057839" cy="0"/>
          </a:xfrm>
          <a:prstGeom prst="line">
            <a:avLst/>
          </a:prstGeom>
          <a:noFill/>
          <a:ln w="12700">
            <a:solidFill>
              <a:srgbClr val="D9D6E0"/>
            </a:solidFill>
            <a:prstDash val="solid"/>
          </a:ln>
        </p:spPr>
      </p:sp>
      <p:sp>
        <p:nvSpPr>
          <p:cNvPr id="16" name="Text 13"/>
          <p:cNvSpPr/>
          <p:nvPr/>
        </p:nvSpPr>
        <p:spPr>
          <a:xfrm>
            <a:off x="566928" y="4215384"/>
            <a:ext cx="548640" cy="384048"/>
          </a:xfrm>
          <a:prstGeom prst="rect">
            <a:avLst/>
          </a:prstGeom>
          <a:noFill/>
          <a:ln/>
        </p:spPr>
        <p:txBody>
          <a:bodyPr wrap="square" lIns="0" tIns="0" rIns="0" bIns="0" rtlCol="0" anchor="ctr"/>
          <a:lstStyle/>
          <a:p>
            <a:pPr indent="0" marL="0">
              <a:buNone/>
            </a:pPr>
            <a:r>
              <a:rPr lang="en-US" sz="2000" dirty="0">
                <a:solidFill>
                  <a:srgbClr val="F07F06"/>
                </a:solidFill>
                <a:latin typeface="Arial Black" pitchFamily="34" charset="0"/>
                <a:ea typeface="Arial Black" pitchFamily="34" charset="-122"/>
                <a:cs typeface="Arial Black" pitchFamily="34" charset="-120"/>
              </a:rPr>
              <a:t>03</a:t>
            </a:r>
            <a:endParaRPr lang="en-US" sz="2000" dirty="0"/>
          </a:p>
        </p:txBody>
      </p:sp>
      <p:sp>
        <p:nvSpPr>
          <p:cNvPr id="17" name="Text 14"/>
          <p:cNvSpPr/>
          <p:nvPr/>
        </p:nvSpPr>
        <p:spPr>
          <a:xfrm>
            <a:off x="1252728" y="4197096"/>
            <a:ext cx="10372039" cy="566928"/>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¿Qué arquitectura corresponde —pública, de consorcio, permisionada— y por qué? Usar la taxonomía de A.6.</a:t>
            </a:r>
            <a:endParaRPr lang="en-US" sz="1350" dirty="0"/>
          </a:p>
        </p:txBody>
      </p:sp>
      <p:sp>
        <p:nvSpPr>
          <p:cNvPr id="18" name="Shape 15"/>
          <p:cNvSpPr/>
          <p:nvPr/>
        </p:nvSpPr>
        <p:spPr>
          <a:xfrm>
            <a:off x="566928" y="4087368"/>
            <a:ext cx="11057839" cy="0"/>
          </a:xfrm>
          <a:prstGeom prst="line">
            <a:avLst/>
          </a:prstGeom>
          <a:noFill/>
          <a:ln w="12700">
            <a:solidFill>
              <a:srgbClr val="D9D6E0"/>
            </a:solidFill>
            <a:prstDash val="solid"/>
          </a:ln>
        </p:spPr>
      </p:sp>
      <p:sp>
        <p:nvSpPr>
          <p:cNvPr id="19" name="Shape 16"/>
          <p:cNvSpPr/>
          <p:nvPr/>
        </p:nvSpPr>
        <p:spPr>
          <a:xfrm>
            <a:off x="566928" y="4745736"/>
            <a:ext cx="11057839" cy="0"/>
          </a:xfrm>
          <a:prstGeom prst="line">
            <a:avLst/>
          </a:prstGeom>
          <a:noFill/>
          <a:ln w="12700">
            <a:solidFill>
              <a:srgbClr val="D9D6E0"/>
            </a:solidFill>
            <a:prstDash val="solid"/>
          </a:ln>
        </p:spPr>
      </p:sp>
      <p:sp>
        <p:nvSpPr>
          <p:cNvPr id="20" name="Shape 17"/>
          <p:cNvSpPr/>
          <p:nvPr/>
        </p:nvSpPr>
        <p:spPr>
          <a:xfrm>
            <a:off x="566928" y="5029200"/>
            <a:ext cx="3576218" cy="1234440"/>
          </a:xfrm>
          <a:prstGeom prst="rect">
            <a:avLst/>
          </a:prstGeom>
          <a:solidFill>
            <a:srgbClr val="FFFFFF"/>
          </a:solidFill>
          <a:ln w="22225">
            <a:solidFill>
              <a:srgbClr val="0F0F11"/>
            </a:solidFill>
            <a:prstDash val="solid"/>
          </a:ln>
          <a:effectLst>
            <a:outerShdw sx="100000" sy="100000" kx="0" ky="0" algn="bl" rotWithShape="0" blurRad="101600" dist="63500" dir="2700000">
              <a:srgbClr val="0F0F11">
                <a:alpha val="100000"/>
              </a:srgbClr>
            </a:outerShdw>
          </a:effectLst>
        </p:spPr>
      </p:sp>
      <p:sp>
        <p:nvSpPr>
          <p:cNvPr id="21" name="Text 18"/>
          <p:cNvSpPr/>
          <p:nvPr/>
        </p:nvSpPr>
        <p:spPr>
          <a:xfrm>
            <a:off x="804672" y="5193792"/>
            <a:ext cx="3100730" cy="274320"/>
          </a:xfrm>
          <a:prstGeom prst="rect">
            <a:avLst/>
          </a:prstGeom>
          <a:noFill/>
          <a:ln/>
        </p:spPr>
        <p:txBody>
          <a:bodyPr wrap="square" lIns="0" tIns="0" rIns="0" bIns="0" rtlCol="0" anchor="ctr"/>
          <a:lstStyle/>
          <a:p>
            <a:pPr indent="0" marL="0">
              <a:buNone/>
            </a:pPr>
            <a:r>
              <a:rPr lang="en-US" sz="1000" b="1" spc="130" kern="0" dirty="0">
                <a:solidFill>
                  <a:srgbClr val="A35604"/>
                </a:solidFill>
                <a:latin typeface="Courier New" pitchFamily="34" charset="0"/>
                <a:ea typeface="Courier New" pitchFamily="34" charset="-122"/>
                <a:cs typeface="Courier New" pitchFamily="34" charset="-120"/>
              </a:rPr>
              <a:t>CASO 1 · DIPLOMAS</a:t>
            </a:r>
            <a:endParaRPr lang="en-US" sz="1000" dirty="0"/>
          </a:p>
        </p:txBody>
      </p:sp>
      <p:sp>
        <p:nvSpPr>
          <p:cNvPr id="22" name="Text 19"/>
          <p:cNvSpPr/>
          <p:nvPr/>
        </p:nvSpPr>
        <p:spPr>
          <a:xfrm>
            <a:off x="804672" y="5504688"/>
            <a:ext cx="3100730" cy="713232"/>
          </a:xfrm>
          <a:prstGeom prst="rect">
            <a:avLst/>
          </a:prstGeom>
          <a:noFill/>
          <a:ln/>
        </p:spPr>
        <p:txBody>
          <a:bodyPr wrap="square" lIns="0" tIns="0" rIns="0" bIns="0" rtlCol="0" anchor="t"/>
          <a:lstStyle/>
          <a:p>
            <a:pPr indent="0" marL="0">
              <a:lnSpc>
                <a:spcPct val="124000"/>
              </a:lnSpc>
              <a:buNone/>
            </a:pPr>
            <a:r>
              <a:rPr lang="en-US" sz="1150" dirty="0">
                <a:solidFill>
                  <a:srgbClr val="3A3844"/>
                </a:solidFill>
                <a:latin typeface="Arial" pitchFamily="34" charset="0"/>
                <a:ea typeface="Arial" pitchFamily="34" charset="-122"/>
                <a:cs typeface="Arial" pitchFamily="34" charset="-120"/>
              </a:rPr>
              <a:t>La universidad quiere que un empleador verifique un diploma sin llamar a registro, y que siga funcionando dentro de treinta años.</a:t>
            </a:r>
            <a:endParaRPr lang="en-US" sz="1150" dirty="0"/>
          </a:p>
        </p:txBody>
      </p:sp>
      <p:sp>
        <p:nvSpPr>
          <p:cNvPr id="23" name="Shape 20"/>
          <p:cNvSpPr/>
          <p:nvPr/>
        </p:nvSpPr>
        <p:spPr>
          <a:xfrm>
            <a:off x="4307738" y="5029200"/>
            <a:ext cx="3576218" cy="1234440"/>
          </a:xfrm>
          <a:prstGeom prst="rect">
            <a:avLst/>
          </a:prstGeom>
          <a:solidFill>
            <a:srgbClr val="FFFFFF"/>
          </a:solidFill>
          <a:ln w="22225">
            <a:solidFill>
              <a:srgbClr val="0F0F11"/>
            </a:solidFill>
            <a:prstDash val="solid"/>
          </a:ln>
          <a:effectLst>
            <a:outerShdw sx="100000" sy="100000" kx="0" ky="0" algn="bl" rotWithShape="0" blurRad="101600" dist="63500" dir="2700000">
              <a:srgbClr val="0F0F11">
                <a:alpha val="100000"/>
              </a:srgbClr>
            </a:outerShdw>
          </a:effectLst>
        </p:spPr>
      </p:sp>
      <p:sp>
        <p:nvSpPr>
          <p:cNvPr id="24" name="Text 21"/>
          <p:cNvSpPr/>
          <p:nvPr/>
        </p:nvSpPr>
        <p:spPr>
          <a:xfrm>
            <a:off x="4545482" y="5193792"/>
            <a:ext cx="3100730" cy="274320"/>
          </a:xfrm>
          <a:prstGeom prst="rect">
            <a:avLst/>
          </a:prstGeom>
          <a:noFill/>
          <a:ln/>
        </p:spPr>
        <p:txBody>
          <a:bodyPr wrap="square" lIns="0" tIns="0" rIns="0" bIns="0" rtlCol="0" anchor="ctr"/>
          <a:lstStyle/>
          <a:p>
            <a:pPr indent="0" marL="0">
              <a:buNone/>
            </a:pPr>
            <a:r>
              <a:rPr lang="en-US" sz="1000" b="1" spc="130" kern="0" dirty="0">
                <a:solidFill>
                  <a:srgbClr val="A35604"/>
                </a:solidFill>
                <a:latin typeface="Courier New" pitchFamily="34" charset="0"/>
                <a:ea typeface="Courier New" pitchFamily="34" charset="-122"/>
                <a:cs typeface="Courier New" pitchFamily="34" charset="-120"/>
              </a:rPr>
              <a:t>CASO 2 · CAFÉ</a:t>
            </a:r>
            <a:endParaRPr lang="en-US" sz="1000" dirty="0"/>
          </a:p>
        </p:txBody>
      </p:sp>
      <p:sp>
        <p:nvSpPr>
          <p:cNvPr id="25" name="Text 22"/>
          <p:cNvSpPr/>
          <p:nvPr/>
        </p:nvSpPr>
        <p:spPr>
          <a:xfrm>
            <a:off x="4545482" y="5504688"/>
            <a:ext cx="3100730" cy="713232"/>
          </a:xfrm>
          <a:prstGeom prst="rect">
            <a:avLst/>
          </a:prstGeom>
          <a:noFill/>
          <a:ln/>
        </p:spPr>
        <p:txBody>
          <a:bodyPr wrap="square" lIns="0" tIns="0" rIns="0" bIns="0" rtlCol="0" anchor="t"/>
          <a:lstStyle/>
          <a:p>
            <a:pPr indent="0" marL="0">
              <a:lnSpc>
                <a:spcPct val="124000"/>
              </a:lnSpc>
              <a:buNone/>
            </a:pPr>
            <a:r>
              <a:rPr lang="en-US" sz="1150" dirty="0">
                <a:solidFill>
                  <a:srgbClr val="3A3844"/>
                </a:solidFill>
                <a:latin typeface="Arial" pitchFamily="34" charset="0"/>
                <a:ea typeface="Arial" pitchFamily="34" charset="-122"/>
                <a:cs typeface="Arial" pitchFamily="34" charset="-120"/>
              </a:rPr>
              <a:t>Una cooperativa cafetera quiere demostrar a un comprador europeo el origen de cada lote y las condiciones de compra al caficultor.</a:t>
            </a:r>
            <a:endParaRPr lang="en-US" sz="1150" dirty="0"/>
          </a:p>
        </p:txBody>
      </p:sp>
      <p:sp>
        <p:nvSpPr>
          <p:cNvPr id="26" name="Shape 23"/>
          <p:cNvSpPr/>
          <p:nvPr/>
        </p:nvSpPr>
        <p:spPr>
          <a:xfrm>
            <a:off x="8048549" y="5029200"/>
            <a:ext cx="3576218" cy="1234440"/>
          </a:xfrm>
          <a:prstGeom prst="rect">
            <a:avLst/>
          </a:prstGeom>
          <a:solidFill>
            <a:srgbClr val="FFFFFF"/>
          </a:solidFill>
          <a:ln w="22225">
            <a:solidFill>
              <a:srgbClr val="0F0F11"/>
            </a:solidFill>
            <a:prstDash val="solid"/>
          </a:ln>
          <a:effectLst>
            <a:outerShdw sx="100000" sy="100000" kx="0" ky="0" algn="bl" rotWithShape="0" blurRad="101600" dist="63500" dir="2700000">
              <a:srgbClr val="0F0F11">
                <a:alpha val="100000"/>
              </a:srgbClr>
            </a:outerShdw>
          </a:effectLst>
        </p:spPr>
      </p:sp>
      <p:sp>
        <p:nvSpPr>
          <p:cNvPr id="27" name="Text 24"/>
          <p:cNvSpPr/>
          <p:nvPr/>
        </p:nvSpPr>
        <p:spPr>
          <a:xfrm>
            <a:off x="8286293" y="5193792"/>
            <a:ext cx="3100730" cy="274320"/>
          </a:xfrm>
          <a:prstGeom prst="rect">
            <a:avLst/>
          </a:prstGeom>
          <a:noFill/>
          <a:ln/>
        </p:spPr>
        <p:txBody>
          <a:bodyPr wrap="square" lIns="0" tIns="0" rIns="0" bIns="0" rtlCol="0" anchor="ctr"/>
          <a:lstStyle/>
          <a:p>
            <a:pPr indent="0" marL="0">
              <a:buNone/>
            </a:pPr>
            <a:r>
              <a:rPr lang="en-US" sz="1000" b="1" spc="130" kern="0" dirty="0">
                <a:solidFill>
                  <a:srgbClr val="A35604"/>
                </a:solidFill>
                <a:latin typeface="Courier New" pitchFamily="34" charset="0"/>
                <a:ea typeface="Courier New" pitchFamily="34" charset="-122"/>
                <a:cs typeface="Courier New" pitchFamily="34" charset="-120"/>
              </a:rPr>
              <a:t>CASO 3 · ASISTENCIA</a:t>
            </a:r>
            <a:endParaRPr lang="en-US" sz="1000" dirty="0"/>
          </a:p>
        </p:txBody>
      </p:sp>
      <p:sp>
        <p:nvSpPr>
          <p:cNvPr id="28" name="Text 25"/>
          <p:cNvSpPr/>
          <p:nvPr/>
        </p:nvSpPr>
        <p:spPr>
          <a:xfrm>
            <a:off x="8286293" y="5504688"/>
            <a:ext cx="3100730" cy="713232"/>
          </a:xfrm>
          <a:prstGeom prst="rect">
            <a:avLst/>
          </a:prstGeom>
          <a:noFill/>
          <a:ln/>
        </p:spPr>
        <p:txBody>
          <a:bodyPr wrap="square" lIns="0" tIns="0" rIns="0" bIns="0" rtlCol="0" anchor="t"/>
          <a:lstStyle/>
          <a:p>
            <a:pPr indent="0" marL="0">
              <a:lnSpc>
                <a:spcPct val="124000"/>
              </a:lnSpc>
              <a:buNone/>
            </a:pPr>
            <a:r>
              <a:rPr lang="en-US" sz="1150" dirty="0">
                <a:solidFill>
                  <a:srgbClr val="3A3844"/>
                </a:solidFill>
                <a:latin typeface="Arial" pitchFamily="34" charset="0"/>
                <a:ea typeface="Arial" pitchFamily="34" charset="-122"/>
                <a:cs typeface="Arial" pitchFamily="34" charset="-120"/>
              </a:rPr>
              <a:t>Una empresa quiere registrar la asistencia diaria de sus empleados de forma inalterable, para evitar disputas laborales.</a:t>
            </a:r>
            <a:endParaRPr lang="en-US" sz="11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2240280"/>
            <a:ext cx="3017520" cy="2377440"/>
          </a:xfrm>
          <a:prstGeom prst="rect">
            <a:avLst/>
          </a:prstGeom>
          <a:solidFill>
            <a:srgbClr val="F07F06"/>
          </a:solidFill>
          <a:ln w="12700">
            <a:solidFill>
              <a:srgbClr val="F07F06"/>
            </a:solidFill>
            <a:prstDash val="solid"/>
          </a:ln>
        </p:spPr>
      </p:sp>
      <p:sp>
        <p:nvSpPr>
          <p:cNvPr id="3" name="Text 1"/>
          <p:cNvSpPr/>
          <p:nvPr/>
        </p:nvSpPr>
        <p:spPr>
          <a:xfrm>
            <a:off x="0" y="2240280"/>
            <a:ext cx="3017520" cy="2377440"/>
          </a:xfrm>
          <a:prstGeom prst="rect">
            <a:avLst/>
          </a:prstGeom>
          <a:noFill/>
          <a:ln/>
        </p:spPr>
        <p:txBody>
          <a:bodyPr wrap="square" lIns="0" tIns="0" rIns="0" bIns="0" rtlCol="0" anchor="ctr"/>
          <a:lstStyle/>
          <a:p>
            <a:pPr algn="ctr" indent="0" marL="0">
              <a:buNone/>
            </a:pPr>
            <a:r>
              <a:rPr lang="en-US" sz="11800" dirty="0">
                <a:solidFill>
                  <a:srgbClr val="0F0F11"/>
                </a:solidFill>
                <a:latin typeface="Arial Black" pitchFamily="34" charset="0"/>
                <a:ea typeface="Arial Black" pitchFamily="34" charset="-122"/>
                <a:cs typeface="Arial Black" pitchFamily="34" charset="-120"/>
              </a:rPr>
              <a:t>C</a:t>
            </a:r>
            <a:endParaRPr lang="en-US" sz="11800" dirty="0"/>
          </a:p>
        </p:txBody>
      </p:sp>
      <p:pic>
        <p:nvPicPr>
          <p:cNvPr id="4" name="Image 0" descr="preencoded.png">    </p:cNvPr>
          <p:cNvPicPr>
            <a:picLocks noChangeAspect="1"/>
          </p:cNvPicPr>
          <p:nvPr/>
        </p:nvPicPr>
        <p:blipFill>
          <a:blip r:embed="rId1"/>
          <a:stretch>
            <a:fillRect/>
          </a:stretch>
        </p:blipFill>
        <p:spPr>
          <a:xfrm>
            <a:off x="3611880" y="2286000"/>
            <a:ext cx="329184" cy="329184"/>
          </a:xfrm>
          <a:prstGeom prst="rect">
            <a:avLst/>
          </a:prstGeom>
        </p:spPr>
      </p:pic>
      <p:sp>
        <p:nvSpPr>
          <p:cNvPr id="5" name="Text 2"/>
          <p:cNvSpPr/>
          <p:nvPr/>
        </p:nvSpPr>
        <p:spPr>
          <a:xfrm>
            <a:off x="4069080" y="2258568"/>
            <a:ext cx="7223760" cy="365760"/>
          </a:xfrm>
          <a:prstGeom prst="rect">
            <a:avLst/>
          </a:prstGeom>
          <a:noFill/>
          <a:ln/>
        </p:spPr>
        <p:txBody>
          <a:bodyPr wrap="square" lIns="0" tIns="0" rIns="0" bIns="0" rtlCol="0" anchor="ctr"/>
          <a:lstStyle/>
          <a:p>
            <a:pPr indent="0" marL="0">
              <a:buNone/>
            </a:pPr>
            <a:r>
              <a:rPr lang="en-US" sz="1100" spc="180" kern="0" dirty="0">
                <a:solidFill>
                  <a:srgbClr val="F07F06"/>
                </a:solidFill>
                <a:latin typeface="Courier New" pitchFamily="34" charset="0"/>
                <a:ea typeface="Courier New" pitchFamily="34" charset="-122"/>
                <a:cs typeface="Courier New" pitchFamily="34" charset="-120"/>
              </a:rPr>
              <a:t>MIN 172 — 180 · PLENARIA</a:t>
            </a:r>
            <a:endParaRPr lang="en-US" sz="1100" dirty="0"/>
          </a:p>
        </p:txBody>
      </p:sp>
      <p:sp>
        <p:nvSpPr>
          <p:cNvPr id="6" name="Text 3"/>
          <p:cNvSpPr/>
          <p:nvPr/>
        </p:nvSpPr>
        <p:spPr>
          <a:xfrm>
            <a:off x="3611880" y="2724912"/>
            <a:ext cx="7955280" cy="1325880"/>
          </a:xfrm>
          <a:prstGeom prst="rect">
            <a:avLst/>
          </a:prstGeom>
          <a:noFill/>
          <a:ln/>
        </p:spPr>
        <p:txBody>
          <a:bodyPr wrap="square" lIns="0" tIns="0" rIns="0" bIns="0" rtlCol="0" anchor="t"/>
          <a:lstStyle/>
          <a:p>
            <a:pPr indent="0" marL="0">
              <a:lnSpc>
                <a:spcPct val="98000"/>
              </a:lnSpc>
              <a:buNone/>
            </a:pPr>
            <a:r>
              <a:rPr lang="en-US" sz="3400" dirty="0">
                <a:solidFill>
                  <a:srgbClr val="FFFFFF"/>
                </a:solidFill>
                <a:latin typeface="Arial Black" pitchFamily="34" charset="0"/>
                <a:ea typeface="Arial Black" pitchFamily="34" charset="-122"/>
                <a:cs typeface="Arial Black" pitchFamily="34" charset="-120"/>
              </a:rPr>
              <a:t>CIERRE</a:t>
            </a:r>
            <a:endParaRPr lang="en-US" sz="3400" dirty="0"/>
          </a:p>
        </p:txBody>
      </p:sp>
      <p:sp>
        <p:nvSpPr>
          <p:cNvPr id="7" name="Text 4"/>
          <p:cNvSpPr/>
          <p:nvPr/>
        </p:nvSpPr>
        <p:spPr>
          <a:xfrm>
            <a:off x="3611880" y="4133088"/>
            <a:ext cx="7680960" cy="1051560"/>
          </a:xfrm>
          <a:prstGeom prst="rect">
            <a:avLst/>
          </a:prstGeom>
          <a:noFill/>
          <a:ln/>
        </p:spPr>
        <p:txBody>
          <a:bodyPr wrap="square" lIns="0" tIns="0" rIns="0" bIns="0" rtlCol="0" anchor="t"/>
          <a:lstStyle/>
          <a:p>
            <a:pPr indent="0" marL="0">
              <a:lnSpc>
                <a:spcPct val="125000"/>
              </a:lnSpc>
              <a:buNone/>
            </a:pPr>
            <a:r>
              <a:rPr lang="en-US" sz="1400" dirty="0">
                <a:solidFill>
                  <a:srgbClr val="B9B4C4"/>
                </a:solidFill>
                <a:latin typeface="Arial" pitchFamily="34" charset="0"/>
                <a:ea typeface="Arial" pitchFamily="34" charset="-122"/>
                <a:cs typeface="Arial" pitchFamily="34" charset="-120"/>
              </a:rPr>
              <a:t>Qué llevarse, qué trabajar y qué viene en la Sesión 2.</a:t>
            </a:r>
            <a:endParaRPr lang="en-US" sz="1400" dirty="0"/>
          </a:p>
        </p:txBody>
      </p:sp>
      <p:sp>
        <p:nvSpPr>
          <p:cNvPr id="8" name="Text 5"/>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E6A7C"/>
                </a:solidFill>
                <a:latin typeface="Courier New" pitchFamily="34" charset="0"/>
                <a:ea typeface="Courier New" pitchFamily="34" charset="-122"/>
                <a:cs typeface="Courier New" pitchFamily="34" charset="-120"/>
              </a:rPr>
              <a:t>SESIÓN 01 · ¿QUÉ PROBLEMA RESUELVE REALMENTE BLOCKCHAIN?</a:t>
            </a:r>
            <a:endParaRPr lang="en-US" sz="800" dirty="0"/>
          </a:p>
        </p:txBody>
      </p:sp>
      <p:sp>
        <p:nvSpPr>
          <p:cNvPr id="9" name="Text 6"/>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E6A7C"/>
                </a:solidFill>
                <a:latin typeface="Courier New" pitchFamily="34" charset="0"/>
                <a:ea typeface="Courier New" pitchFamily="34" charset="-122"/>
                <a:cs typeface="Courier New" pitchFamily="34" charset="-120"/>
              </a:rPr>
              <a:t>USB MEDELLÍN</a:t>
            </a:r>
            <a:endParaRPr lang="en-US" sz="800" dirty="0"/>
          </a:p>
        </p:txBody>
      </p:sp>
      <p:sp>
        <p:nvSpPr>
          <p:cNvPr id="10" name="Text 7"/>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F07F06"/>
                </a:solidFill>
                <a:latin typeface="Courier New" pitchFamily="34" charset="0"/>
                <a:ea typeface="Courier New" pitchFamily="34" charset="-122"/>
                <a:cs typeface="Courier New" pitchFamily="34" charset="-120"/>
              </a:rPr>
              <a:t>53</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BLOQUE C · SÍNTESIS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600" dirty="0">
                <a:solidFill>
                  <a:srgbClr val="0F0F11"/>
                </a:solidFill>
                <a:latin typeface="Arial Black" pitchFamily="34" charset="0"/>
                <a:ea typeface="Arial Black" pitchFamily="34" charset="-122"/>
                <a:cs typeface="Arial Black" pitchFamily="34" charset="-120"/>
              </a:rPr>
              <a:t>LO QUE HAY QUE LLEVARSE DE ESTA SESIÓN</a:t>
            </a:r>
            <a:endParaRPr lang="en-US" sz="26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01 · ¿QUÉ PROBLEMA RESUELVE REALMENTE BLOCKCHAIN?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54</a:t>
            </a:r>
            <a:endParaRPr lang="en-US" sz="900" dirty="0"/>
          </a:p>
        </p:txBody>
      </p:sp>
      <p:sp>
        <p:nvSpPr>
          <p:cNvPr id="8" name="Text 5"/>
          <p:cNvSpPr/>
          <p:nvPr/>
        </p:nvSpPr>
        <p:spPr>
          <a:xfrm>
            <a:off x="566928" y="1801368"/>
            <a:ext cx="1234440" cy="365760"/>
          </a:xfrm>
          <a:prstGeom prst="rect">
            <a:avLst/>
          </a:prstGeom>
          <a:noFill/>
          <a:ln/>
        </p:spPr>
        <p:txBody>
          <a:bodyPr wrap="square" lIns="0" tIns="0" rIns="0" bIns="0" rtlCol="0" anchor="ctr"/>
          <a:lstStyle/>
          <a:p>
            <a:pPr indent="0" marL="0">
              <a:buNone/>
            </a:pPr>
            <a:r>
              <a:rPr lang="en-US" sz="1050" b="1" spc="140" kern="0" dirty="0">
                <a:solidFill>
                  <a:srgbClr val="F07F06"/>
                </a:solidFill>
                <a:latin typeface="Courier New" pitchFamily="34" charset="0"/>
                <a:ea typeface="Courier New" pitchFamily="34" charset="-122"/>
                <a:cs typeface="Courier New" pitchFamily="34" charset="-120"/>
              </a:rPr>
              <a:t>UNO</a:t>
            </a:r>
            <a:endParaRPr lang="en-US" sz="1050" dirty="0"/>
          </a:p>
        </p:txBody>
      </p:sp>
      <p:sp>
        <p:nvSpPr>
          <p:cNvPr id="9" name="Text 6"/>
          <p:cNvSpPr/>
          <p:nvPr/>
        </p:nvSpPr>
        <p:spPr>
          <a:xfrm>
            <a:off x="1938528" y="1755648"/>
            <a:ext cx="9686239" cy="566928"/>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El problema original no era criptográfico sino de ORDEN: cómo hacer que participantes que no se conocen coincidan en qué ocurrió primero, sin árbitro.</a:t>
            </a:r>
            <a:endParaRPr lang="en-US" sz="1250" dirty="0"/>
          </a:p>
        </p:txBody>
      </p:sp>
      <p:sp>
        <p:nvSpPr>
          <p:cNvPr id="10" name="Shape 7"/>
          <p:cNvSpPr/>
          <p:nvPr/>
        </p:nvSpPr>
        <p:spPr>
          <a:xfrm>
            <a:off x="566928" y="1664208"/>
            <a:ext cx="11057839" cy="0"/>
          </a:xfrm>
          <a:prstGeom prst="line">
            <a:avLst/>
          </a:prstGeom>
          <a:noFill/>
          <a:ln w="12700">
            <a:solidFill>
              <a:srgbClr val="D9D6E0"/>
            </a:solidFill>
            <a:prstDash val="solid"/>
          </a:ln>
        </p:spPr>
      </p:sp>
      <p:sp>
        <p:nvSpPr>
          <p:cNvPr id="11" name="Text 8"/>
          <p:cNvSpPr/>
          <p:nvPr/>
        </p:nvSpPr>
        <p:spPr>
          <a:xfrm>
            <a:off x="566928" y="2423160"/>
            <a:ext cx="1234440" cy="365760"/>
          </a:xfrm>
          <a:prstGeom prst="rect">
            <a:avLst/>
          </a:prstGeom>
          <a:noFill/>
          <a:ln/>
        </p:spPr>
        <p:txBody>
          <a:bodyPr wrap="square" lIns="0" tIns="0" rIns="0" bIns="0" rtlCol="0" anchor="ctr"/>
          <a:lstStyle/>
          <a:p>
            <a:pPr indent="0" marL="0">
              <a:buNone/>
            </a:pPr>
            <a:r>
              <a:rPr lang="en-US" sz="1050" b="1" spc="140" kern="0" dirty="0">
                <a:solidFill>
                  <a:srgbClr val="F07F06"/>
                </a:solidFill>
                <a:latin typeface="Courier New" pitchFamily="34" charset="0"/>
                <a:ea typeface="Courier New" pitchFamily="34" charset="-122"/>
                <a:cs typeface="Courier New" pitchFamily="34" charset="-120"/>
              </a:rPr>
              <a:t>DOS</a:t>
            </a:r>
            <a:endParaRPr lang="en-US" sz="1050" dirty="0"/>
          </a:p>
        </p:txBody>
      </p:sp>
      <p:sp>
        <p:nvSpPr>
          <p:cNvPr id="12" name="Text 9"/>
          <p:cNvSpPr/>
          <p:nvPr/>
        </p:nvSpPr>
        <p:spPr>
          <a:xfrm>
            <a:off x="1938528" y="2377440"/>
            <a:ext cx="9686239" cy="566928"/>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El dinero es un REGISTRO, no un objeto. Esa reformulación es la que hace el problema soluble.</a:t>
            </a:r>
            <a:endParaRPr lang="en-US" sz="1250" dirty="0"/>
          </a:p>
        </p:txBody>
      </p:sp>
      <p:sp>
        <p:nvSpPr>
          <p:cNvPr id="13" name="Shape 10"/>
          <p:cNvSpPr/>
          <p:nvPr/>
        </p:nvSpPr>
        <p:spPr>
          <a:xfrm>
            <a:off x="566928" y="2286000"/>
            <a:ext cx="11057839" cy="0"/>
          </a:xfrm>
          <a:prstGeom prst="line">
            <a:avLst/>
          </a:prstGeom>
          <a:noFill/>
          <a:ln w="12700">
            <a:solidFill>
              <a:srgbClr val="D9D6E0"/>
            </a:solidFill>
            <a:prstDash val="solid"/>
          </a:ln>
        </p:spPr>
      </p:sp>
      <p:sp>
        <p:nvSpPr>
          <p:cNvPr id="14" name="Text 11"/>
          <p:cNvSpPr/>
          <p:nvPr/>
        </p:nvSpPr>
        <p:spPr>
          <a:xfrm>
            <a:off x="566928" y="3044952"/>
            <a:ext cx="1234440" cy="365760"/>
          </a:xfrm>
          <a:prstGeom prst="rect">
            <a:avLst/>
          </a:prstGeom>
          <a:noFill/>
          <a:ln/>
        </p:spPr>
        <p:txBody>
          <a:bodyPr wrap="square" lIns="0" tIns="0" rIns="0" bIns="0" rtlCol="0" anchor="ctr"/>
          <a:lstStyle/>
          <a:p>
            <a:pPr indent="0" marL="0">
              <a:buNone/>
            </a:pPr>
            <a:r>
              <a:rPr lang="en-US" sz="1050" b="1" spc="140" kern="0" dirty="0">
                <a:solidFill>
                  <a:srgbClr val="F07F06"/>
                </a:solidFill>
                <a:latin typeface="Courier New" pitchFamily="34" charset="0"/>
                <a:ea typeface="Courier New" pitchFamily="34" charset="-122"/>
                <a:cs typeface="Courier New" pitchFamily="34" charset="-120"/>
              </a:rPr>
              <a:t>TRES</a:t>
            </a:r>
            <a:endParaRPr lang="en-US" sz="1050" dirty="0"/>
          </a:p>
        </p:txBody>
      </p:sp>
      <p:sp>
        <p:nvSpPr>
          <p:cNvPr id="15" name="Text 12"/>
          <p:cNvSpPr/>
          <p:nvPr/>
        </p:nvSpPr>
        <p:spPr>
          <a:xfrm>
            <a:off x="1938528" y="2999232"/>
            <a:ext cx="9686239" cy="566928"/>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Blockchain no elimina la confianza: la TRASLADA de una institución a un mecanismo verificable, y ese traslado tiene un costo alto en rendimiento y en irreversibilidad.</a:t>
            </a:r>
            <a:endParaRPr lang="en-US" sz="1250" dirty="0"/>
          </a:p>
        </p:txBody>
      </p:sp>
      <p:sp>
        <p:nvSpPr>
          <p:cNvPr id="16" name="Shape 13"/>
          <p:cNvSpPr/>
          <p:nvPr/>
        </p:nvSpPr>
        <p:spPr>
          <a:xfrm>
            <a:off x="566928" y="2907792"/>
            <a:ext cx="11057839" cy="0"/>
          </a:xfrm>
          <a:prstGeom prst="line">
            <a:avLst/>
          </a:prstGeom>
          <a:noFill/>
          <a:ln w="12700">
            <a:solidFill>
              <a:srgbClr val="D9D6E0"/>
            </a:solidFill>
            <a:prstDash val="solid"/>
          </a:ln>
        </p:spPr>
      </p:sp>
      <p:sp>
        <p:nvSpPr>
          <p:cNvPr id="17" name="Text 14"/>
          <p:cNvSpPr/>
          <p:nvPr/>
        </p:nvSpPr>
        <p:spPr>
          <a:xfrm>
            <a:off x="566928" y="3666744"/>
            <a:ext cx="1234440" cy="365760"/>
          </a:xfrm>
          <a:prstGeom prst="rect">
            <a:avLst/>
          </a:prstGeom>
          <a:noFill/>
          <a:ln/>
        </p:spPr>
        <p:txBody>
          <a:bodyPr wrap="square" lIns="0" tIns="0" rIns="0" bIns="0" rtlCol="0" anchor="ctr"/>
          <a:lstStyle/>
          <a:p>
            <a:pPr indent="0" marL="0">
              <a:buNone/>
            </a:pPr>
            <a:r>
              <a:rPr lang="en-US" sz="1050" b="1" spc="140" kern="0" dirty="0">
                <a:solidFill>
                  <a:srgbClr val="F07F06"/>
                </a:solidFill>
                <a:latin typeface="Courier New" pitchFamily="34" charset="0"/>
                <a:ea typeface="Courier New" pitchFamily="34" charset="-122"/>
                <a:cs typeface="Courier New" pitchFamily="34" charset="-120"/>
              </a:rPr>
              <a:t>CUATRO</a:t>
            </a:r>
            <a:endParaRPr lang="en-US" sz="1050" dirty="0"/>
          </a:p>
        </p:txBody>
      </p:sp>
      <p:sp>
        <p:nvSpPr>
          <p:cNvPr id="18" name="Text 15"/>
          <p:cNvSpPr/>
          <p:nvPr/>
        </p:nvSpPr>
        <p:spPr>
          <a:xfrm>
            <a:off x="1938528" y="3621024"/>
            <a:ext cx="9686239" cy="566928"/>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La contribución de 2008 no fue tecnológica sino de DISEÑO DE INCENTIVOS. Todas las piezas criptográficas ya existían.</a:t>
            </a:r>
            <a:endParaRPr lang="en-US" sz="1250" dirty="0"/>
          </a:p>
        </p:txBody>
      </p:sp>
      <p:sp>
        <p:nvSpPr>
          <p:cNvPr id="19" name="Shape 16"/>
          <p:cNvSpPr/>
          <p:nvPr/>
        </p:nvSpPr>
        <p:spPr>
          <a:xfrm>
            <a:off x="566928" y="3529584"/>
            <a:ext cx="11057839" cy="0"/>
          </a:xfrm>
          <a:prstGeom prst="line">
            <a:avLst/>
          </a:prstGeom>
          <a:noFill/>
          <a:ln w="12700">
            <a:solidFill>
              <a:srgbClr val="D9D6E0"/>
            </a:solidFill>
            <a:prstDash val="solid"/>
          </a:ln>
        </p:spPr>
      </p:sp>
      <p:sp>
        <p:nvSpPr>
          <p:cNvPr id="20" name="Text 17"/>
          <p:cNvSpPr/>
          <p:nvPr/>
        </p:nvSpPr>
        <p:spPr>
          <a:xfrm>
            <a:off x="566928" y="4288536"/>
            <a:ext cx="1234440" cy="365760"/>
          </a:xfrm>
          <a:prstGeom prst="rect">
            <a:avLst/>
          </a:prstGeom>
          <a:noFill/>
          <a:ln/>
        </p:spPr>
        <p:txBody>
          <a:bodyPr wrap="square" lIns="0" tIns="0" rIns="0" bIns="0" rtlCol="0" anchor="ctr"/>
          <a:lstStyle/>
          <a:p>
            <a:pPr indent="0" marL="0">
              <a:buNone/>
            </a:pPr>
            <a:r>
              <a:rPr lang="en-US" sz="1050" b="1" spc="140" kern="0" dirty="0">
                <a:solidFill>
                  <a:srgbClr val="F07F06"/>
                </a:solidFill>
                <a:latin typeface="Courier New" pitchFamily="34" charset="0"/>
                <a:ea typeface="Courier New" pitchFamily="34" charset="-122"/>
                <a:cs typeface="Courier New" pitchFamily="34" charset="-120"/>
              </a:rPr>
              <a:t>CINCO</a:t>
            </a:r>
            <a:endParaRPr lang="en-US" sz="1050" dirty="0"/>
          </a:p>
        </p:txBody>
      </p:sp>
      <p:sp>
        <p:nvSpPr>
          <p:cNvPr id="21" name="Text 18"/>
          <p:cNvSpPr/>
          <p:nvPr/>
        </p:nvSpPr>
        <p:spPr>
          <a:xfrm>
            <a:off x="1938528" y="4242816"/>
            <a:ext cx="9686239" cy="566928"/>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Saber CUÁNDO NO USARLA es parte del oficio, y en este curso es parte de la nota.</a:t>
            </a:r>
            <a:endParaRPr lang="en-US" sz="1250" dirty="0"/>
          </a:p>
        </p:txBody>
      </p:sp>
      <p:sp>
        <p:nvSpPr>
          <p:cNvPr id="22" name="Shape 19"/>
          <p:cNvSpPr/>
          <p:nvPr/>
        </p:nvSpPr>
        <p:spPr>
          <a:xfrm>
            <a:off x="566928" y="4151376"/>
            <a:ext cx="11057839" cy="0"/>
          </a:xfrm>
          <a:prstGeom prst="line">
            <a:avLst/>
          </a:prstGeom>
          <a:noFill/>
          <a:ln w="12700">
            <a:solidFill>
              <a:srgbClr val="D9D6E0"/>
            </a:solidFill>
            <a:prstDash val="solid"/>
          </a:ln>
        </p:spPr>
      </p:sp>
      <p:sp>
        <p:nvSpPr>
          <p:cNvPr id="23" name="Text 20"/>
          <p:cNvSpPr/>
          <p:nvPr/>
        </p:nvSpPr>
        <p:spPr>
          <a:xfrm>
            <a:off x="566928" y="4910328"/>
            <a:ext cx="1234440" cy="365760"/>
          </a:xfrm>
          <a:prstGeom prst="rect">
            <a:avLst/>
          </a:prstGeom>
          <a:noFill/>
          <a:ln/>
        </p:spPr>
        <p:txBody>
          <a:bodyPr wrap="square" lIns="0" tIns="0" rIns="0" bIns="0" rtlCol="0" anchor="ctr"/>
          <a:lstStyle/>
          <a:p>
            <a:pPr indent="0" marL="0">
              <a:buNone/>
            </a:pPr>
            <a:r>
              <a:rPr lang="en-US" sz="1050" b="1" spc="140" kern="0" dirty="0">
                <a:solidFill>
                  <a:srgbClr val="F07F06"/>
                </a:solidFill>
                <a:latin typeface="Courier New" pitchFamily="34" charset="0"/>
                <a:ea typeface="Courier New" pitchFamily="34" charset="-122"/>
                <a:cs typeface="Courier New" pitchFamily="34" charset="-120"/>
              </a:rPr>
              <a:t>SEIS</a:t>
            </a:r>
            <a:endParaRPr lang="en-US" sz="1050" dirty="0"/>
          </a:p>
        </p:txBody>
      </p:sp>
      <p:sp>
        <p:nvSpPr>
          <p:cNvPr id="24" name="Text 21"/>
          <p:cNvSpPr/>
          <p:nvPr/>
        </p:nvSpPr>
        <p:spPr>
          <a:xfrm>
            <a:off x="1938528" y="4864608"/>
            <a:ext cx="9686239" cy="566928"/>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«Descentralizado» no es una propiedad: es un VECTOR de varias dimensiones que pueden estar en estados opuestos al tiempo.</a:t>
            </a:r>
            <a:endParaRPr lang="en-US" sz="1250" dirty="0"/>
          </a:p>
        </p:txBody>
      </p:sp>
      <p:sp>
        <p:nvSpPr>
          <p:cNvPr id="25" name="Shape 22"/>
          <p:cNvSpPr/>
          <p:nvPr/>
        </p:nvSpPr>
        <p:spPr>
          <a:xfrm>
            <a:off x="566928" y="4773168"/>
            <a:ext cx="11057839" cy="0"/>
          </a:xfrm>
          <a:prstGeom prst="line">
            <a:avLst/>
          </a:prstGeom>
          <a:noFill/>
          <a:ln w="12700">
            <a:solidFill>
              <a:srgbClr val="D9D6E0"/>
            </a:solidFill>
            <a:prstDash val="solid"/>
          </a:ln>
        </p:spPr>
      </p:sp>
      <p:sp>
        <p:nvSpPr>
          <p:cNvPr id="26" name="Text 23"/>
          <p:cNvSpPr/>
          <p:nvPr/>
        </p:nvSpPr>
        <p:spPr>
          <a:xfrm>
            <a:off x="566928" y="5532120"/>
            <a:ext cx="1234440" cy="365760"/>
          </a:xfrm>
          <a:prstGeom prst="rect">
            <a:avLst/>
          </a:prstGeom>
          <a:noFill/>
          <a:ln/>
        </p:spPr>
        <p:txBody>
          <a:bodyPr wrap="square" lIns="0" tIns="0" rIns="0" bIns="0" rtlCol="0" anchor="ctr"/>
          <a:lstStyle/>
          <a:p>
            <a:pPr indent="0" marL="0">
              <a:buNone/>
            </a:pPr>
            <a:r>
              <a:rPr lang="en-US" sz="1050" b="1" spc="140" kern="0" dirty="0">
                <a:solidFill>
                  <a:srgbClr val="F07F06"/>
                </a:solidFill>
                <a:latin typeface="Courier New" pitchFamily="34" charset="0"/>
                <a:ea typeface="Courier New" pitchFamily="34" charset="-122"/>
                <a:cs typeface="Courier New" pitchFamily="34" charset="-120"/>
              </a:rPr>
              <a:t>SIETE</a:t>
            </a:r>
            <a:endParaRPr lang="en-US" sz="1050" dirty="0"/>
          </a:p>
        </p:txBody>
      </p:sp>
      <p:sp>
        <p:nvSpPr>
          <p:cNvPr id="27" name="Text 24"/>
          <p:cNvSpPr/>
          <p:nvPr/>
        </p:nvSpPr>
        <p:spPr>
          <a:xfrm>
            <a:off x="1938528" y="5486400"/>
            <a:ext cx="9686239" cy="566928"/>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Después de quince años hay EVIDENCIA en lugar de promesa: sobrevivió lo que necesitaba resistencia a la censura o liquidación sin intermediario.</a:t>
            </a:r>
            <a:endParaRPr lang="en-US" sz="1250" dirty="0"/>
          </a:p>
        </p:txBody>
      </p:sp>
      <p:sp>
        <p:nvSpPr>
          <p:cNvPr id="28" name="Shape 25"/>
          <p:cNvSpPr/>
          <p:nvPr/>
        </p:nvSpPr>
        <p:spPr>
          <a:xfrm>
            <a:off x="566928" y="5394960"/>
            <a:ext cx="11057839" cy="0"/>
          </a:xfrm>
          <a:prstGeom prst="line">
            <a:avLst/>
          </a:prstGeom>
          <a:noFill/>
          <a:ln w="12700">
            <a:solidFill>
              <a:srgbClr val="D9D6E0"/>
            </a:solidFill>
            <a:prstDash val="solid"/>
          </a:ln>
        </p:spPr>
      </p:sp>
      <p:sp>
        <p:nvSpPr>
          <p:cNvPr id="29" name="Shape 26"/>
          <p:cNvSpPr/>
          <p:nvPr/>
        </p:nvSpPr>
        <p:spPr>
          <a:xfrm>
            <a:off x="566928" y="6016752"/>
            <a:ext cx="11057839" cy="0"/>
          </a:xfrm>
          <a:prstGeom prst="line">
            <a:avLst/>
          </a:prstGeom>
          <a:noFill/>
          <a:ln w="12700">
            <a:solidFill>
              <a:srgbClr val="D9D6E0"/>
            </a:solidFill>
            <a:prstDash val="solid"/>
          </a:ln>
        </p:spPr>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BLOQUE C · TRABAJO AUTÓNOMO PARA LA SESIÓN 2</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SE EXIGE, NO SE RECOGE</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01 · ¿QUÉ PROBLEMA RESUELVE REALMENTE BLOCKCHAIN?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55</a:t>
            </a:r>
            <a:endParaRPr lang="en-US" sz="900" dirty="0"/>
          </a:p>
        </p:txBody>
      </p:sp>
      <p:sp>
        <p:nvSpPr>
          <p:cNvPr id="8" name="Shape 5"/>
          <p:cNvSpPr/>
          <p:nvPr/>
        </p:nvSpPr>
        <p:spPr>
          <a:xfrm>
            <a:off x="566928" y="1737360"/>
            <a:ext cx="11057839" cy="105156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9" name="Image 1" descr="preencoded.png">    </p:cNvPr>
          <p:cNvPicPr>
            <a:picLocks noChangeAspect="1"/>
          </p:cNvPicPr>
          <p:nvPr/>
        </p:nvPicPr>
        <p:blipFill>
          <a:blip r:embed="rId2"/>
          <a:stretch>
            <a:fillRect/>
          </a:stretch>
        </p:blipFill>
        <p:spPr>
          <a:xfrm>
            <a:off x="804672" y="1956816"/>
            <a:ext cx="237744" cy="237744"/>
          </a:xfrm>
          <a:prstGeom prst="rect">
            <a:avLst/>
          </a:prstGeom>
        </p:spPr>
      </p:pic>
      <p:sp>
        <p:nvSpPr>
          <p:cNvPr id="10" name="Text 6"/>
          <p:cNvSpPr/>
          <p:nvPr/>
        </p:nvSpPr>
        <p:spPr>
          <a:xfrm>
            <a:off x="1133856" y="1929384"/>
            <a:ext cx="10234879"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NADA DE ESTO SE ENTREGA NI SE CALIFICA</a:t>
            </a:r>
            <a:endParaRPr lang="en-US" sz="950" dirty="0"/>
          </a:p>
        </p:txBody>
      </p:sp>
      <p:sp>
        <p:nvSpPr>
          <p:cNvPr id="11" name="Text 7"/>
          <p:cNvSpPr/>
          <p:nvPr/>
        </p:nvSpPr>
        <p:spPr>
          <a:xfrm>
            <a:off x="804672" y="2267712"/>
            <a:ext cx="10582351" cy="45720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Es trabajo real y necesario —la Sesión 2 lo da por hecho—, pero se verifica en clase mediante discusión, no mediante recolección. Quien no lo haga no pierde nota: pierde la sesión siguiente.</a:t>
            </a:r>
            <a:endParaRPr lang="en-US" sz="1350" dirty="0"/>
          </a:p>
        </p:txBody>
      </p:sp>
      <p:sp>
        <p:nvSpPr>
          <p:cNvPr id="12" name="Text 8"/>
          <p:cNvSpPr/>
          <p:nvPr/>
        </p:nvSpPr>
        <p:spPr>
          <a:xfrm>
            <a:off x="566928" y="3054096"/>
            <a:ext cx="640080" cy="457200"/>
          </a:xfrm>
          <a:prstGeom prst="rect">
            <a:avLst/>
          </a:prstGeom>
          <a:noFill/>
          <a:ln/>
        </p:spPr>
        <p:txBody>
          <a:bodyPr wrap="square" lIns="0" tIns="0" rIns="0" bIns="0" rtlCol="0" anchor="ctr"/>
          <a:lstStyle/>
          <a:p>
            <a:pPr indent="0" marL="0">
              <a:buNone/>
            </a:pPr>
            <a:r>
              <a:rPr lang="en-US" sz="2400" dirty="0">
                <a:solidFill>
                  <a:srgbClr val="F07F06"/>
                </a:solidFill>
                <a:latin typeface="Arial Black" pitchFamily="34" charset="0"/>
                <a:ea typeface="Arial Black" pitchFamily="34" charset="-122"/>
                <a:cs typeface="Arial Black" pitchFamily="34" charset="-120"/>
              </a:rPr>
              <a:t>01</a:t>
            </a:r>
            <a:endParaRPr lang="en-US" sz="2400" dirty="0"/>
          </a:p>
        </p:txBody>
      </p:sp>
      <p:sp>
        <p:nvSpPr>
          <p:cNvPr id="13" name="Text 9"/>
          <p:cNvSpPr/>
          <p:nvPr/>
        </p:nvSpPr>
        <p:spPr>
          <a:xfrm>
            <a:off x="1316736" y="3017520"/>
            <a:ext cx="3108960" cy="310896"/>
          </a:xfrm>
          <a:prstGeom prst="rect">
            <a:avLst/>
          </a:prstGeom>
          <a:noFill/>
          <a:ln/>
        </p:spPr>
        <p:txBody>
          <a:bodyPr wrap="square" lIns="0" tIns="0" rIns="0" bIns="0" rtlCol="0" anchor="ctr"/>
          <a:lstStyle/>
          <a:p>
            <a:pPr indent="0" marL="0">
              <a:buNone/>
            </a:pPr>
            <a:r>
              <a:rPr lang="en-US" sz="1050" b="1" spc="120" kern="0" dirty="0">
                <a:solidFill>
                  <a:srgbClr val="0F0F11"/>
                </a:solidFill>
                <a:latin typeface="Courier New" pitchFamily="34" charset="0"/>
                <a:ea typeface="Courier New" pitchFamily="34" charset="-122"/>
                <a:cs typeface="Courier New" pitchFamily="34" charset="-120"/>
              </a:rPr>
              <a:t>LECTURA OBLIGATORIA</a:t>
            </a:r>
            <a:endParaRPr lang="en-US" sz="1050" dirty="0"/>
          </a:p>
        </p:txBody>
      </p:sp>
      <p:sp>
        <p:nvSpPr>
          <p:cNvPr id="14" name="Text 10"/>
          <p:cNvSpPr/>
          <p:nvPr/>
        </p:nvSpPr>
        <p:spPr>
          <a:xfrm>
            <a:off x="4590288" y="2999232"/>
            <a:ext cx="7034479" cy="91440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Whitepaper de Bitcoin, secciones 1 a 5. Son cinco páginas. Léase sin buscar entenderlo todo: el objetivo es reconocer, en el texto original, los conceptos discutidos hoy. Traer identificado el párrafo donde se enuncia el problema del doble gasto.</a:t>
            </a:r>
            <a:endParaRPr lang="en-US" sz="1250" dirty="0"/>
          </a:p>
        </p:txBody>
      </p:sp>
      <p:sp>
        <p:nvSpPr>
          <p:cNvPr id="15" name="Shape 11"/>
          <p:cNvSpPr/>
          <p:nvPr/>
        </p:nvSpPr>
        <p:spPr>
          <a:xfrm>
            <a:off x="566928" y="2871216"/>
            <a:ext cx="11057839" cy="0"/>
          </a:xfrm>
          <a:prstGeom prst="line">
            <a:avLst/>
          </a:prstGeom>
          <a:noFill/>
          <a:ln w="12700">
            <a:solidFill>
              <a:srgbClr val="D9D6E0"/>
            </a:solidFill>
            <a:prstDash val="solid"/>
          </a:ln>
        </p:spPr>
      </p:sp>
      <p:sp>
        <p:nvSpPr>
          <p:cNvPr id="16" name="Text 12"/>
          <p:cNvSpPr/>
          <p:nvPr/>
        </p:nvSpPr>
        <p:spPr>
          <a:xfrm>
            <a:off x="566928" y="4087368"/>
            <a:ext cx="640080" cy="457200"/>
          </a:xfrm>
          <a:prstGeom prst="rect">
            <a:avLst/>
          </a:prstGeom>
          <a:noFill/>
          <a:ln/>
        </p:spPr>
        <p:txBody>
          <a:bodyPr wrap="square" lIns="0" tIns="0" rIns="0" bIns="0" rtlCol="0" anchor="ctr"/>
          <a:lstStyle/>
          <a:p>
            <a:pPr indent="0" marL="0">
              <a:buNone/>
            </a:pPr>
            <a:r>
              <a:rPr lang="en-US" sz="2400" dirty="0">
                <a:solidFill>
                  <a:srgbClr val="F07F06"/>
                </a:solidFill>
                <a:latin typeface="Arial Black" pitchFamily="34" charset="0"/>
                <a:ea typeface="Arial Black" pitchFamily="34" charset="-122"/>
                <a:cs typeface="Arial Black" pitchFamily="34" charset="-120"/>
              </a:rPr>
              <a:t>02</a:t>
            </a:r>
            <a:endParaRPr lang="en-US" sz="2400" dirty="0"/>
          </a:p>
        </p:txBody>
      </p:sp>
      <p:sp>
        <p:nvSpPr>
          <p:cNvPr id="17" name="Text 13"/>
          <p:cNvSpPr/>
          <p:nvPr/>
        </p:nvSpPr>
        <p:spPr>
          <a:xfrm>
            <a:off x="1316736" y="4050792"/>
            <a:ext cx="3108960" cy="310896"/>
          </a:xfrm>
          <a:prstGeom prst="rect">
            <a:avLst/>
          </a:prstGeom>
          <a:noFill/>
          <a:ln/>
        </p:spPr>
        <p:txBody>
          <a:bodyPr wrap="square" lIns="0" tIns="0" rIns="0" bIns="0" rtlCol="0" anchor="ctr"/>
          <a:lstStyle/>
          <a:p>
            <a:pPr indent="0" marL="0">
              <a:buNone/>
            </a:pPr>
            <a:r>
              <a:rPr lang="en-US" sz="1050" b="1" spc="120" kern="0" dirty="0">
                <a:solidFill>
                  <a:srgbClr val="0F0F11"/>
                </a:solidFill>
                <a:latin typeface="Courier New" pitchFamily="34" charset="0"/>
                <a:ea typeface="Courier New" pitchFamily="34" charset="-122"/>
                <a:cs typeface="Courier New" pitchFamily="34" charset="-120"/>
              </a:rPr>
              <a:t>PREPARACIÓN TÉCNICA</a:t>
            </a:r>
            <a:endParaRPr lang="en-US" sz="1050" dirty="0"/>
          </a:p>
        </p:txBody>
      </p:sp>
      <p:sp>
        <p:nvSpPr>
          <p:cNvPr id="18" name="Text 14"/>
          <p:cNvSpPr/>
          <p:nvPr/>
        </p:nvSpPr>
        <p:spPr>
          <a:xfrm>
            <a:off x="4590288" y="4032504"/>
            <a:ext cx="7034479" cy="91440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Verificar que el equipo personal tenga Python 3 o Node.js funcionando desde la línea de comandos. La Sesión 2 abre con la demostración en vivo y sigue con el primer laboratorio del semestre.</a:t>
            </a:r>
            <a:endParaRPr lang="en-US" sz="1250" dirty="0"/>
          </a:p>
        </p:txBody>
      </p:sp>
      <p:sp>
        <p:nvSpPr>
          <p:cNvPr id="19" name="Shape 15"/>
          <p:cNvSpPr/>
          <p:nvPr/>
        </p:nvSpPr>
        <p:spPr>
          <a:xfrm>
            <a:off x="566928" y="3904488"/>
            <a:ext cx="11057839" cy="0"/>
          </a:xfrm>
          <a:prstGeom prst="line">
            <a:avLst/>
          </a:prstGeom>
          <a:noFill/>
          <a:ln w="12700">
            <a:solidFill>
              <a:srgbClr val="D9D6E0"/>
            </a:solidFill>
            <a:prstDash val="solid"/>
          </a:ln>
        </p:spPr>
      </p:sp>
      <p:sp>
        <p:nvSpPr>
          <p:cNvPr id="20" name="Text 16"/>
          <p:cNvSpPr/>
          <p:nvPr/>
        </p:nvSpPr>
        <p:spPr>
          <a:xfrm>
            <a:off x="566928" y="5120640"/>
            <a:ext cx="640080" cy="457200"/>
          </a:xfrm>
          <a:prstGeom prst="rect">
            <a:avLst/>
          </a:prstGeom>
          <a:noFill/>
          <a:ln/>
        </p:spPr>
        <p:txBody>
          <a:bodyPr wrap="square" lIns="0" tIns="0" rIns="0" bIns="0" rtlCol="0" anchor="ctr"/>
          <a:lstStyle/>
          <a:p>
            <a:pPr indent="0" marL="0">
              <a:buNone/>
            </a:pPr>
            <a:r>
              <a:rPr lang="en-US" sz="2400" dirty="0">
                <a:solidFill>
                  <a:srgbClr val="F07F06"/>
                </a:solidFill>
                <a:latin typeface="Arial Black" pitchFamily="34" charset="0"/>
                <a:ea typeface="Arial Black" pitchFamily="34" charset="-122"/>
                <a:cs typeface="Arial Black" pitchFamily="34" charset="-120"/>
              </a:rPr>
              <a:t>03</a:t>
            </a:r>
            <a:endParaRPr lang="en-US" sz="2400" dirty="0"/>
          </a:p>
        </p:txBody>
      </p:sp>
      <p:sp>
        <p:nvSpPr>
          <p:cNvPr id="21" name="Text 17"/>
          <p:cNvSpPr/>
          <p:nvPr/>
        </p:nvSpPr>
        <p:spPr>
          <a:xfrm>
            <a:off x="1316736" y="5084064"/>
            <a:ext cx="3108960" cy="310896"/>
          </a:xfrm>
          <a:prstGeom prst="rect">
            <a:avLst/>
          </a:prstGeom>
          <a:noFill/>
          <a:ln/>
        </p:spPr>
        <p:txBody>
          <a:bodyPr wrap="square" lIns="0" tIns="0" rIns="0" bIns="0" rtlCol="0" anchor="ctr"/>
          <a:lstStyle/>
          <a:p>
            <a:pPr indent="0" marL="0">
              <a:buNone/>
            </a:pPr>
            <a:r>
              <a:rPr lang="en-US" sz="1050" b="1" spc="120" kern="0" dirty="0">
                <a:solidFill>
                  <a:srgbClr val="0F0F11"/>
                </a:solidFill>
                <a:latin typeface="Courier New" pitchFamily="34" charset="0"/>
                <a:ea typeface="Courier New" pitchFamily="34" charset="-122"/>
                <a:cs typeface="Courier New" pitchFamily="34" charset="-120"/>
              </a:rPr>
              <a:t>PREGUNTA DE LA SEMANA</a:t>
            </a:r>
            <a:endParaRPr lang="en-US" sz="1050" dirty="0"/>
          </a:p>
        </p:txBody>
      </p:sp>
      <p:sp>
        <p:nvSpPr>
          <p:cNvPr id="22" name="Text 18"/>
          <p:cNvSpPr/>
          <p:nvPr/>
        </p:nvSpPr>
        <p:spPr>
          <a:xfrm>
            <a:off x="4590288" y="5065776"/>
            <a:ext cx="7034479" cy="91440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Se piensa y se trae resuelta, no se entrega. Abre la plenaria de la Sesión 2 y se responde en voz alta.</a:t>
            </a:r>
            <a:endParaRPr lang="en-US" sz="1250" dirty="0"/>
          </a:p>
        </p:txBody>
      </p:sp>
      <p:sp>
        <p:nvSpPr>
          <p:cNvPr id="23" name="Shape 19"/>
          <p:cNvSpPr/>
          <p:nvPr/>
        </p:nvSpPr>
        <p:spPr>
          <a:xfrm>
            <a:off x="566928" y="4937760"/>
            <a:ext cx="11057839" cy="0"/>
          </a:xfrm>
          <a:prstGeom prst="line">
            <a:avLst/>
          </a:prstGeom>
          <a:noFill/>
          <a:ln w="12700">
            <a:solidFill>
              <a:srgbClr val="D9D6E0"/>
            </a:solidFill>
            <a:prstDash val="solid"/>
          </a:ln>
        </p:spPr>
      </p:sp>
      <p:sp>
        <p:nvSpPr>
          <p:cNvPr id="24" name="Shape 20"/>
          <p:cNvSpPr/>
          <p:nvPr/>
        </p:nvSpPr>
        <p:spPr>
          <a:xfrm>
            <a:off x="566928" y="5971032"/>
            <a:ext cx="11057839" cy="0"/>
          </a:xfrm>
          <a:prstGeom prst="line">
            <a:avLst/>
          </a:prstGeom>
          <a:noFill/>
          <a:ln w="12700">
            <a:solidFill>
              <a:srgbClr val="D9D6E0"/>
            </a:solidFill>
            <a:prstDash val="solid"/>
          </a:ln>
        </p:spPr>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BLOQUE C · PUENTE</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QUÉ TRAE LA SESIÓN 2</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01 · ¿QUÉ PROBLEMA RESUELVE REALMENTE BLOCKCHAIN?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56</a:t>
            </a:r>
            <a:endParaRPr lang="en-US" sz="900" dirty="0"/>
          </a:p>
        </p:txBody>
      </p:sp>
      <p:sp>
        <p:nvSpPr>
          <p:cNvPr id="8" name="Text 5"/>
          <p:cNvSpPr/>
          <p:nvPr/>
        </p:nvSpPr>
        <p:spPr>
          <a:xfrm>
            <a:off x="566928" y="1737360"/>
            <a:ext cx="11057839" cy="777240"/>
          </a:xfrm>
          <a:prstGeom prst="rect">
            <a:avLst/>
          </a:prstGeom>
          <a:noFill/>
          <a:ln/>
        </p:spPr>
        <p:txBody>
          <a:bodyPr wrap="square" lIns="0" tIns="0" rIns="0" bIns="0" rtlCol="0" anchor="t"/>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Hoy usamos tres veces la palabra hash sin definirla con rigor: al describir el enlace entre bloques, al derivar una dirección desde una clave pública y al identificar una transacción. También afirmamos, sin demostrarlo, que de una clave pública no puede recuperarse la privada.</a:t>
            </a:r>
            <a:endParaRPr lang="en-US" sz="1450" dirty="0"/>
          </a:p>
        </p:txBody>
      </p:sp>
      <p:sp>
        <p:nvSpPr>
          <p:cNvPr id="9" name="Shape 6"/>
          <p:cNvSpPr/>
          <p:nvPr/>
        </p:nvSpPr>
        <p:spPr>
          <a:xfrm>
            <a:off x="566928" y="2697480"/>
            <a:ext cx="11057839" cy="205740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sp>
        <p:nvSpPr>
          <p:cNvPr id="10" name="Text 7"/>
          <p:cNvSpPr/>
          <p:nvPr/>
        </p:nvSpPr>
        <p:spPr>
          <a:xfrm>
            <a:off x="877824" y="2926080"/>
            <a:ext cx="7315200" cy="310896"/>
          </a:xfrm>
          <a:prstGeom prst="rect">
            <a:avLst/>
          </a:prstGeom>
          <a:noFill/>
          <a:ln/>
        </p:spPr>
        <p:txBody>
          <a:bodyPr wrap="square" lIns="0" tIns="0" rIns="0" bIns="0" rtlCol="0" anchor="ctr"/>
          <a:lstStyle/>
          <a:p>
            <a:pPr indent="0" marL="0">
              <a:buNone/>
            </a:pPr>
            <a:r>
              <a:rPr lang="en-US" sz="1100" b="1" spc="140" kern="0" dirty="0">
                <a:solidFill>
                  <a:srgbClr val="5638C9"/>
                </a:solidFill>
                <a:latin typeface="Courier New" pitchFamily="34" charset="0"/>
                <a:ea typeface="Courier New" pitchFamily="34" charset="-122"/>
                <a:cs typeface="Courier New" pitchFamily="34" charset="-120"/>
              </a:rPr>
              <a:t>SESIÓN 02 · CRIPTOGRAFÍA APLICADA</a:t>
            </a:r>
            <a:endParaRPr lang="en-US" sz="1100" dirty="0"/>
          </a:p>
        </p:txBody>
      </p:sp>
      <p:sp>
        <p:nvSpPr>
          <p:cNvPr id="11" name="Text 8"/>
          <p:cNvSpPr/>
          <p:nvPr/>
        </p:nvSpPr>
        <p:spPr>
          <a:xfrm>
            <a:off x="877824" y="3310128"/>
            <a:ext cx="10436047" cy="100584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ABRE CON LA DEMOSTRACIÓN EN VIVO: se crea una billetera en pantalla, se muestra qué es una frase semilla, se emite una transacción y se recorre campo por campo en un explorador de bloques. Después, el primer laboratorio: funciones hash, efecto avalancha, árbol de Merkle y firma con curva elíptica.</a:t>
            </a:r>
            <a:endParaRPr lang="en-US" sz="1300" dirty="0"/>
          </a:p>
        </p:txBody>
      </p:sp>
      <p:sp>
        <p:nvSpPr>
          <p:cNvPr id="12" name="Shape 9"/>
          <p:cNvSpPr/>
          <p:nvPr/>
        </p:nvSpPr>
        <p:spPr>
          <a:xfrm>
            <a:off x="566928" y="4937760"/>
            <a:ext cx="11057839" cy="105156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sp>
        <p:nvSpPr>
          <p:cNvPr id="13" name="Text 10"/>
          <p:cNvSpPr/>
          <p:nvPr/>
        </p:nvSpPr>
        <p:spPr>
          <a:xfrm>
            <a:off x="950976" y="5157216"/>
            <a:ext cx="10289743" cy="612648"/>
          </a:xfrm>
          <a:prstGeom prst="rect">
            <a:avLst/>
          </a:prstGeom>
          <a:noFill/>
          <a:ln/>
        </p:spPr>
        <p:txBody>
          <a:bodyPr wrap="square" lIns="0" tIns="0" rIns="0" bIns="0" rtlCol="0" anchor="ctr"/>
          <a:lstStyle/>
          <a:p>
            <a:pPr indent="0" marL="0">
              <a:lnSpc>
                <a:spcPct val="106000"/>
              </a:lnSpc>
              <a:buNone/>
            </a:pPr>
            <a:r>
              <a:rPr lang="en-US" sz="1800" dirty="0">
                <a:solidFill>
                  <a:srgbClr val="0F0F11"/>
                </a:solidFill>
                <a:latin typeface="Arial Black" pitchFamily="34" charset="0"/>
                <a:ea typeface="Arial Black" pitchFamily="34" charset="-122"/>
                <a:cs typeface="Arial Black" pitchFamily="34" charset="-120"/>
              </a:rPr>
              <a:t>Al final de esa sesión, «alterar un bloque invalida la cadena» dejará de ser una afirmación y pasará a ser algo que cada estudiante habrá comprobado en su propio código.</a:t>
            </a:r>
            <a:endParaRPr lang="en-US" sz="1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ANEXO I · HIGIENE CONCEPTUAL</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600" dirty="0">
                <a:solidFill>
                  <a:srgbClr val="0F0F11"/>
                </a:solidFill>
                <a:latin typeface="Arial Black" pitchFamily="34" charset="0"/>
                <a:ea typeface="Arial Black" pitchFamily="34" charset="-122"/>
                <a:cs typeface="Arial Black" pitchFamily="34" charset="-120"/>
              </a:rPr>
              <a:t>AFIRMACIONES FALSAS DE CIRCULACIÓN COMÚN</a:t>
            </a:r>
            <a:endParaRPr lang="en-US" sz="26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01 · ¿QUÉ PROBLEMA RESUELVE REALMENTE BLOCKCHAIN?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57</a:t>
            </a:r>
            <a:endParaRPr lang="en-US" sz="900" dirty="0"/>
          </a:p>
        </p:txBody>
      </p:sp>
      <p:sp>
        <p:nvSpPr>
          <p:cNvPr id="8" name="Text 5"/>
          <p:cNvSpPr/>
          <p:nvPr/>
        </p:nvSpPr>
        <p:spPr>
          <a:xfrm>
            <a:off x="566928" y="1737360"/>
            <a:ext cx="11057839" cy="457200"/>
          </a:xfrm>
          <a:prstGeom prst="rect">
            <a:avLst/>
          </a:prstGeom>
          <a:noFill/>
          <a:ln/>
        </p:spPr>
        <p:txBody>
          <a:bodyPr wrap="square" lIns="0" tIns="0" rIns="0" bIns="0" rtlCol="0" anchor="t"/>
          <a:lstStyle/>
          <a:p>
            <a:pPr indent="0" marL="0">
              <a:lnSpc>
                <a:spcPct val="124000"/>
              </a:lnSpc>
              <a:buNone/>
            </a:pPr>
            <a:r>
              <a:rPr lang="en-US" sz="1350" dirty="0">
                <a:solidFill>
                  <a:srgbClr val="6F6B80"/>
                </a:solidFill>
                <a:latin typeface="Arial" pitchFamily="34" charset="0"/>
                <a:ea typeface="Arial" pitchFamily="34" charset="-122"/>
                <a:cs typeface="Arial" pitchFamily="34" charset="-120"/>
              </a:rPr>
              <a:t>Todas estas frases se escuchan con frecuencia, incluso en medios especializados. Todas son falsas o gravemente imprecisas. Reconocerlas es parte del criterio profesional.</a:t>
            </a:r>
            <a:endParaRPr lang="en-US" sz="135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566928" y="2331720"/>
          <a:ext cx="11057839" cy="914400"/>
        </p:xfrm>
        <a:graphic>
          <a:graphicData uri="http://schemas.openxmlformats.org/drawingml/2006/table">
            <a:tbl>
              <a:tblPr/>
              <a:tblGrid>
                <a:gridCol w="3474720"/>
                <a:gridCol w="758311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SE DICE</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POR QUÉ ES FALSO</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813816">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«Blockchain es imposible de hackear»</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El protocolo base es robusto, pero los ataques ocurren en las capas de arriba: contratos con fallos, billeteras comprometidas, puentes entre redes, ingeniería social. La inmensa mayoría de las pérdidas no atacaron el consenso.</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813816">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«Las transacciones son anónimas»</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Son SEUDÓNIMAS. No llevan nombre, pero cada dirección tiene un historial público completo y permanente. El análisis de cadena es una industria consolidada, y basta un punto de contacto con el mundo real para desanonimizar todo hacia atrás.</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813816">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«Los mineros resuelven problemas matemáticos útiles»</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El cálculo no tiene utilidad externa. Es fuerza bruta deliberadamente inútil; su función es COSTAR, no producir conocimiento.</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813816">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«Blockchain elimina intermediarios»</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Los sustituye. Aparecen intercambios, custodios, proveedores de infraestructura de nodos, emisores de stablecoins y desarrolladores de protocolo. Algunos concentran tanto poder como los que reemplazaron.</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10" name="Shape 6"/>
          <p:cNvSpPr/>
          <p:nvPr/>
        </p:nvSpPr>
        <p:spPr>
          <a:xfrm>
            <a:off x="548640" y="2313432"/>
            <a:ext cx="11094415" cy="3602736"/>
          </a:xfrm>
          <a:prstGeom prst="rect">
            <a:avLst/>
          </a:prstGeom>
          <a:ln w="22225">
            <a:solidFill>
              <a:srgbClr val="0F0F11"/>
            </a:solidFill>
            <a:prstDash val="solid"/>
          </a:ln>
        </p:spPr>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ANEXO I · HIGIENE CONCEPTUAL · CONTINUACIÓN</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TRES MÁS QUE CONVIENE DESMONTAR</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01 · ¿QUÉ PROBLEMA RESUELVE REALMENTE BLOCKCHAIN?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58</a:t>
            </a:r>
            <a:endParaRPr lang="en-US" sz="9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566928" y="1783080"/>
          <a:ext cx="11057839" cy="914400"/>
        </p:xfrm>
        <a:graphic>
          <a:graphicData uri="http://schemas.openxmlformats.org/drawingml/2006/table">
            <a:tbl>
              <a:tblPr/>
              <a:tblGrid>
                <a:gridCol w="3840480"/>
                <a:gridCol w="721735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SE DICE</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POR QUÉ ES FALSO</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999744">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«Los datos no se pueden borrar, luego sirve para guardar cualquier cosa»</a:t>
                      </a:r>
                      <a:endParaRPr lang="en-US" sz="120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La primera parte es cierta y por eso mismo la conclusión es peligrosa. La permanencia es un problema legal grave para datos personales, y almacenar archivos en cadena es prohibitivamente caro. Se almacena el hash; el dato vive fuera.</a:t>
                      </a:r>
                      <a:endParaRPr lang="en-US" sz="12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999744">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«Un contrato inteligente es un contrato»</a:t>
                      </a:r>
                      <a:endParaRPr lang="en-US" sz="120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Ni es inteligente ni es, por sí solo, un contrato en sentido jurídico. Es un programa que se ejecuta de forma determinista cuando se cumplen condiciones. Su relación con el derecho es materia de la Sesión 16.</a:t>
                      </a:r>
                      <a:endParaRPr lang="en-US" sz="12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999744">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«Es descentralizado, luego nadie lo controla»</a:t>
                      </a:r>
                      <a:endParaRPr lang="en-US" sz="120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La descentralización es una variable continua, no binaria, y se mide en varias dimensiones: quién valida, quién desarrolla el cliente, quién opera los nodos de acceso, quién controla el capital. Muchas redes que se presentan como descentralizadas están concentradas en al menos una.</a:t>
                      </a:r>
                      <a:endParaRPr lang="en-US" sz="12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1764792"/>
            <a:ext cx="11094415" cy="3346704"/>
          </a:xfrm>
          <a:prstGeom prst="rect">
            <a:avLst/>
          </a:prstGeom>
          <a:ln w="22225">
            <a:solidFill>
              <a:srgbClr val="0F0F11"/>
            </a:solidFill>
            <a:prstDash val="solid"/>
          </a:ln>
        </p:spPr>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ANEXO II · GLOSARIO ACUMULATIVO · 1 DE 6</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GLOSARIO COMPLETO DE LA SESIÓN</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01 · ¿QUÉ PROBLEMA RESUELVE REALMENTE BLOCKCHAIN?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59</a:t>
            </a:r>
            <a:endParaRPr lang="en-US" sz="900" dirty="0"/>
          </a:p>
        </p:txBody>
      </p:sp>
      <p:sp>
        <p:nvSpPr>
          <p:cNvPr id="8" name="Text 5"/>
          <p:cNvSpPr/>
          <p:nvPr/>
        </p:nvSpPr>
        <p:spPr>
          <a:xfrm>
            <a:off x="566928" y="1810512"/>
            <a:ext cx="1828800" cy="329184"/>
          </a:xfrm>
          <a:prstGeom prst="rect">
            <a:avLst/>
          </a:prstGeom>
          <a:noFill/>
          <a:ln/>
        </p:spPr>
        <p:txBody>
          <a:bodyPr wrap="square" lIns="0" tIns="0" rIns="0" bIns="0" rtlCol="0" anchor="t"/>
          <a:lstStyle/>
          <a:p>
            <a:pPr indent="0" marL="0">
              <a:buNone/>
            </a:pPr>
            <a:r>
              <a:rPr lang="en-US" sz="1100" b="1" dirty="0">
                <a:solidFill>
                  <a:srgbClr val="0F0F11"/>
                </a:solidFill>
                <a:latin typeface="Courier New" pitchFamily="34" charset="0"/>
                <a:ea typeface="Courier New" pitchFamily="34" charset="-122"/>
                <a:cs typeface="Courier New" pitchFamily="34" charset="-120"/>
              </a:rPr>
              <a:t>AML</a:t>
            </a:r>
            <a:endParaRPr lang="en-US" sz="1100" dirty="0"/>
          </a:p>
        </p:txBody>
      </p:sp>
      <p:sp>
        <p:nvSpPr>
          <p:cNvPr id="9" name="Text 6"/>
          <p:cNvSpPr/>
          <p:nvPr/>
        </p:nvSpPr>
        <p:spPr>
          <a:xfrm>
            <a:off x="2441448" y="1837944"/>
            <a:ext cx="2286000" cy="274320"/>
          </a:xfrm>
          <a:prstGeom prst="rect">
            <a:avLst/>
          </a:prstGeom>
          <a:noFill/>
          <a:ln/>
        </p:spPr>
        <p:txBody>
          <a:bodyPr wrap="square" lIns="0" tIns="0" rIns="0" bIns="0" rtlCol="0" anchor="t"/>
          <a:lstStyle/>
          <a:p>
            <a:pPr indent="0" marL="0">
              <a:buNone/>
            </a:pPr>
            <a:r>
              <a:rPr lang="en-US" sz="900" dirty="0">
                <a:solidFill>
                  <a:srgbClr val="5638C9"/>
                </a:solidFill>
                <a:latin typeface="Courier New" pitchFamily="34" charset="0"/>
                <a:ea typeface="Courier New" pitchFamily="34" charset="-122"/>
                <a:cs typeface="Courier New" pitchFamily="34" charset="-120"/>
              </a:rPr>
              <a:t>Anti-Money Laundering</a:t>
            </a:r>
            <a:endParaRPr lang="en-US" sz="900" dirty="0"/>
          </a:p>
        </p:txBody>
      </p:sp>
      <p:sp>
        <p:nvSpPr>
          <p:cNvPr id="10" name="Text 7"/>
          <p:cNvSpPr/>
          <p:nvPr/>
        </p:nvSpPr>
        <p:spPr>
          <a:xfrm>
            <a:off x="4818888" y="1783080"/>
            <a:ext cx="6805879" cy="530352"/>
          </a:xfrm>
          <a:prstGeom prst="rect">
            <a:avLst/>
          </a:prstGeom>
          <a:noFill/>
          <a:ln/>
        </p:spPr>
        <p:txBody>
          <a:bodyPr wrap="square" lIns="0" tIns="0" rIns="0" bIns="0" rtlCol="0" anchor="t"/>
          <a:lstStyle/>
          <a:p>
            <a:pPr indent="0" marL="0">
              <a:lnSpc>
                <a:spcPct val="124000"/>
              </a:lnSpc>
              <a:buNone/>
            </a:pPr>
            <a:r>
              <a:rPr lang="en-US" sz="1150" dirty="0">
                <a:solidFill>
                  <a:srgbClr val="3A3844"/>
                </a:solidFill>
                <a:latin typeface="Arial" pitchFamily="34" charset="0"/>
                <a:ea typeface="Arial" pitchFamily="34" charset="-122"/>
                <a:cs typeface="Arial" pitchFamily="34" charset="-120"/>
              </a:rPr>
              <a:t>Antilavado de activos. Obligaciones normativas que exigen a las entidades financieras detectar y reportar operaciones sospechosas. En Colombia el reporte se dirige a la UIAF.</a:t>
            </a:r>
            <a:endParaRPr lang="en-US" sz="1150" dirty="0"/>
          </a:p>
        </p:txBody>
      </p:sp>
      <p:sp>
        <p:nvSpPr>
          <p:cNvPr id="11" name="Shape 8"/>
          <p:cNvSpPr/>
          <p:nvPr/>
        </p:nvSpPr>
        <p:spPr>
          <a:xfrm>
            <a:off x="566928" y="1691640"/>
            <a:ext cx="11057839" cy="0"/>
          </a:xfrm>
          <a:prstGeom prst="line">
            <a:avLst/>
          </a:prstGeom>
          <a:noFill/>
          <a:ln w="12700">
            <a:solidFill>
              <a:srgbClr val="D9D6E0"/>
            </a:solidFill>
            <a:prstDash val="solid"/>
          </a:ln>
        </p:spPr>
      </p:sp>
      <p:sp>
        <p:nvSpPr>
          <p:cNvPr id="12" name="Text 9"/>
          <p:cNvSpPr/>
          <p:nvPr/>
        </p:nvSpPr>
        <p:spPr>
          <a:xfrm>
            <a:off x="566928" y="2414016"/>
            <a:ext cx="1828800" cy="329184"/>
          </a:xfrm>
          <a:prstGeom prst="rect">
            <a:avLst/>
          </a:prstGeom>
          <a:noFill/>
          <a:ln/>
        </p:spPr>
        <p:txBody>
          <a:bodyPr wrap="square" lIns="0" tIns="0" rIns="0" bIns="0" rtlCol="0" anchor="t"/>
          <a:lstStyle/>
          <a:p>
            <a:pPr indent="0" marL="0">
              <a:buNone/>
            </a:pPr>
            <a:r>
              <a:rPr lang="en-US" sz="1100" b="1" dirty="0">
                <a:solidFill>
                  <a:srgbClr val="0F0F11"/>
                </a:solidFill>
                <a:latin typeface="Courier New" pitchFamily="34" charset="0"/>
                <a:ea typeface="Courier New" pitchFamily="34" charset="-122"/>
                <a:cs typeface="Courier New" pitchFamily="34" charset="-120"/>
              </a:rPr>
              <a:t>Bloque</a:t>
            </a:r>
            <a:endParaRPr lang="en-US" sz="1100" dirty="0"/>
          </a:p>
        </p:txBody>
      </p:sp>
      <p:sp>
        <p:nvSpPr>
          <p:cNvPr id="13" name="Text 10"/>
          <p:cNvSpPr/>
          <p:nvPr/>
        </p:nvSpPr>
        <p:spPr>
          <a:xfrm>
            <a:off x="4818888" y="2386584"/>
            <a:ext cx="6805879" cy="530352"/>
          </a:xfrm>
          <a:prstGeom prst="rect">
            <a:avLst/>
          </a:prstGeom>
          <a:noFill/>
          <a:ln/>
        </p:spPr>
        <p:txBody>
          <a:bodyPr wrap="square" lIns="0" tIns="0" rIns="0" bIns="0" rtlCol="0" anchor="t"/>
          <a:lstStyle/>
          <a:p>
            <a:pPr indent="0" marL="0">
              <a:lnSpc>
                <a:spcPct val="124000"/>
              </a:lnSpc>
              <a:buNone/>
            </a:pPr>
            <a:r>
              <a:rPr lang="en-US" sz="1150" dirty="0">
                <a:solidFill>
                  <a:srgbClr val="3A3844"/>
                </a:solidFill>
                <a:latin typeface="Arial" pitchFamily="34" charset="0"/>
                <a:ea typeface="Arial" pitchFamily="34" charset="-122"/>
                <a:cs typeface="Arial" pitchFamily="34" charset="-120"/>
              </a:rPr>
              <a:t>Agrupación de transacciones con una cabecera que contiene el hash del bloque anterior, la raíz de Merkle de sus transacciones, una marca temporal y los datos de la prueba de trabajo.</a:t>
            </a:r>
            <a:endParaRPr lang="en-US" sz="1150" dirty="0"/>
          </a:p>
        </p:txBody>
      </p:sp>
      <p:sp>
        <p:nvSpPr>
          <p:cNvPr id="14" name="Shape 11"/>
          <p:cNvSpPr/>
          <p:nvPr/>
        </p:nvSpPr>
        <p:spPr>
          <a:xfrm>
            <a:off x="566928" y="2295144"/>
            <a:ext cx="11057839" cy="0"/>
          </a:xfrm>
          <a:prstGeom prst="line">
            <a:avLst/>
          </a:prstGeom>
          <a:noFill/>
          <a:ln w="12700">
            <a:solidFill>
              <a:srgbClr val="D9D6E0"/>
            </a:solidFill>
            <a:prstDash val="solid"/>
          </a:ln>
        </p:spPr>
      </p:sp>
      <p:sp>
        <p:nvSpPr>
          <p:cNvPr id="15" name="Text 12"/>
          <p:cNvSpPr/>
          <p:nvPr/>
        </p:nvSpPr>
        <p:spPr>
          <a:xfrm>
            <a:off x="566928" y="3017520"/>
            <a:ext cx="1828800" cy="329184"/>
          </a:xfrm>
          <a:prstGeom prst="rect">
            <a:avLst/>
          </a:prstGeom>
          <a:noFill/>
          <a:ln/>
        </p:spPr>
        <p:txBody>
          <a:bodyPr wrap="square" lIns="0" tIns="0" rIns="0" bIns="0" rtlCol="0" anchor="t"/>
          <a:lstStyle/>
          <a:p>
            <a:pPr indent="0" marL="0">
              <a:buNone/>
            </a:pPr>
            <a:r>
              <a:rPr lang="en-US" sz="1100" b="1" dirty="0">
                <a:solidFill>
                  <a:srgbClr val="0F0F11"/>
                </a:solidFill>
                <a:latin typeface="Courier New" pitchFamily="34" charset="0"/>
                <a:ea typeface="Courier New" pitchFamily="34" charset="-122"/>
                <a:cs typeface="Courier New" pitchFamily="34" charset="-120"/>
              </a:rPr>
              <a:t>Blockchain</a:t>
            </a:r>
            <a:endParaRPr lang="en-US" sz="1100" dirty="0"/>
          </a:p>
        </p:txBody>
      </p:sp>
      <p:sp>
        <p:nvSpPr>
          <p:cNvPr id="16" name="Text 13"/>
          <p:cNvSpPr/>
          <p:nvPr/>
        </p:nvSpPr>
        <p:spPr>
          <a:xfrm>
            <a:off x="4818888" y="2990088"/>
            <a:ext cx="6805879" cy="530352"/>
          </a:xfrm>
          <a:prstGeom prst="rect">
            <a:avLst/>
          </a:prstGeom>
          <a:noFill/>
          <a:ln/>
        </p:spPr>
        <p:txBody>
          <a:bodyPr wrap="square" lIns="0" tIns="0" rIns="0" bIns="0" rtlCol="0" anchor="t"/>
          <a:lstStyle/>
          <a:p>
            <a:pPr indent="0" marL="0">
              <a:lnSpc>
                <a:spcPct val="124000"/>
              </a:lnSpc>
              <a:buNone/>
            </a:pPr>
            <a:r>
              <a:rPr lang="en-US" sz="1150" dirty="0">
                <a:solidFill>
                  <a:srgbClr val="3A3844"/>
                </a:solidFill>
                <a:latin typeface="Arial" pitchFamily="34" charset="0"/>
                <a:ea typeface="Arial" pitchFamily="34" charset="-122"/>
                <a:cs typeface="Arial" pitchFamily="34" charset="-120"/>
              </a:rPr>
              <a:t>Lista enlazada de solo anexado, replicada en una red de pares, encadenada mediante hashes y acordada mediante consenso tolerante a fallas bizantinas.</a:t>
            </a:r>
            <a:endParaRPr lang="en-US" sz="1150" dirty="0"/>
          </a:p>
        </p:txBody>
      </p:sp>
      <p:sp>
        <p:nvSpPr>
          <p:cNvPr id="17" name="Shape 14"/>
          <p:cNvSpPr/>
          <p:nvPr/>
        </p:nvSpPr>
        <p:spPr>
          <a:xfrm>
            <a:off x="566928" y="2898648"/>
            <a:ext cx="11057839" cy="0"/>
          </a:xfrm>
          <a:prstGeom prst="line">
            <a:avLst/>
          </a:prstGeom>
          <a:noFill/>
          <a:ln w="12700">
            <a:solidFill>
              <a:srgbClr val="D9D6E0"/>
            </a:solidFill>
            <a:prstDash val="solid"/>
          </a:ln>
        </p:spPr>
      </p:sp>
      <p:sp>
        <p:nvSpPr>
          <p:cNvPr id="18" name="Text 15"/>
          <p:cNvSpPr/>
          <p:nvPr/>
        </p:nvSpPr>
        <p:spPr>
          <a:xfrm>
            <a:off x="566928" y="3621024"/>
            <a:ext cx="1828800" cy="329184"/>
          </a:xfrm>
          <a:prstGeom prst="rect">
            <a:avLst/>
          </a:prstGeom>
          <a:noFill/>
          <a:ln/>
        </p:spPr>
        <p:txBody>
          <a:bodyPr wrap="square" lIns="0" tIns="0" rIns="0" bIns="0" rtlCol="0" anchor="t"/>
          <a:lstStyle/>
          <a:p>
            <a:pPr indent="0" marL="0">
              <a:buNone/>
            </a:pPr>
            <a:r>
              <a:rPr lang="en-US" sz="1100" b="1" dirty="0">
                <a:solidFill>
                  <a:srgbClr val="0F0F11"/>
                </a:solidFill>
                <a:latin typeface="Courier New" pitchFamily="34" charset="0"/>
                <a:ea typeface="Courier New" pitchFamily="34" charset="-122"/>
                <a:cs typeface="Courier New" pitchFamily="34" charset="-120"/>
              </a:rPr>
              <a:t>Capa 1 y capa 2</a:t>
            </a:r>
            <a:endParaRPr lang="en-US" sz="1100" dirty="0"/>
          </a:p>
        </p:txBody>
      </p:sp>
      <p:sp>
        <p:nvSpPr>
          <p:cNvPr id="19" name="Text 16"/>
          <p:cNvSpPr/>
          <p:nvPr/>
        </p:nvSpPr>
        <p:spPr>
          <a:xfrm>
            <a:off x="2441448" y="3648456"/>
            <a:ext cx="2286000" cy="274320"/>
          </a:xfrm>
          <a:prstGeom prst="rect">
            <a:avLst/>
          </a:prstGeom>
          <a:noFill/>
          <a:ln/>
        </p:spPr>
        <p:txBody>
          <a:bodyPr wrap="square" lIns="0" tIns="0" rIns="0" bIns="0" rtlCol="0" anchor="t"/>
          <a:lstStyle/>
          <a:p>
            <a:pPr indent="0" marL="0">
              <a:buNone/>
            </a:pPr>
            <a:r>
              <a:rPr lang="en-US" sz="900" dirty="0">
                <a:solidFill>
                  <a:srgbClr val="5638C9"/>
                </a:solidFill>
                <a:latin typeface="Courier New" pitchFamily="34" charset="0"/>
                <a:ea typeface="Courier New" pitchFamily="34" charset="-122"/>
                <a:cs typeface="Courier New" pitchFamily="34" charset="-120"/>
              </a:rPr>
              <a:t>layer 1 / layer 2</a:t>
            </a:r>
            <a:endParaRPr lang="en-US" sz="900" dirty="0"/>
          </a:p>
        </p:txBody>
      </p:sp>
      <p:sp>
        <p:nvSpPr>
          <p:cNvPr id="20" name="Text 17"/>
          <p:cNvSpPr/>
          <p:nvPr/>
        </p:nvSpPr>
        <p:spPr>
          <a:xfrm>
            <a:off x="4818888" y="3593592"/>
            <a:ext cx="6805879" cy="530352"/>
          </a:xfrm>
          <a:prstGeom prst="rect">
            <a:avLst/>
          </a:prstGeom>
          <a:noFill/>
          <a:ln/>
        </p:spPr>
        <p:txBody>
          <a:bodyPr wrap="square" lIns="0" tIns="0" rIns="0" bIns="0" rtlCol="0" anchor="t"/>
          <a:lstStyle/>
          <a:p>
            <a:pPr indent="0" marL="0">
              <a:lnSpc>
                <a:spcPct val="124000"/>
              </a:lnSpc>
              <a:buNone/>
            </a:pPr>
            <a:r>
              <a:rPr lang="en-US" sz="1150" dirty="0">
                <a:solidFill>
                  <a:srgbClr val="3A3844"/>
                </a:solidFill>
                <a:latin typeface="Arial" pitchFamily="34" charset="0"/>
                <a:ea typeface="Arial" pitchFamily="34" charset="-122"/>
                <a:cs typeface="Arial" pitchFamily="34" charset="-120"/>
              </a:rPr>
              <a:t>La capa 1 es la cadena base, que provee consenso y seguridad por sí misma. La capa 2 es una red construida encima que ejecuta transacciones fuera de la base y se apoya en ella para la seguridad y la resolución de disputas.</a:t>
            </a:r>
            <a:endParaRPr lang="en-US" sz="1150" dirty="0"/>
          </a:p>
        </p:txBody>
      </p:sp>
      <p:sp>
        <p:nvSpPr>
          <p:cNvPr id="21" name="Shape 18"/>
          <p:cNvSpPr/>
          <p:nvPr/>
        </p:nvSpPr>
        <p:spPr>
          <a:xfrm>
            <a:off x="566928" y="3502152"/>
            <a:ext cx="11057839" cy="0"/>
          </a:xfrm>
          <a:prstGeom prst="line">
            <a:avLst/>
          </a:prstGeom>
          <a:noFill/>
          <a:ln w="12700">
            <a:solidFill>
              <a:srgbClr val="D9D6E0"/>
            </a:solidFill>
            <a:prstDash val="solid"/>
          </a:ln>
        </p:spPr>
      </p:sp>
      <p:sp>
        <p:nvSpPr>
          <p:cNvPr id="22" name="Text 19"/>
          <p:cNvSpPr/>
          <p:nvPr/>
        </p:nvSpPr>
        <p:spPr>
          <a:xfrm>
            <a:off x="566928" y="4224528"/>
            <a:ext cx="1828800" cy="329184"/>
          </a:xfrm>
          <a:prstGeom prst="rect">
            <a:avLst/>
          </a:prstGeom>
          <a:noFill/>
          <a:ln/>
        </p:spPr>
        <p:txBody>
          <a:bodyPr wrap="square" lIns="0" tIns="0" rIns="0" bIns="0" rtlCol="0" anchor="t"/>
          <a:lstStyle/>
          <a:p>
            <a:pPr indent="0" marL="0">
              <a:buNone/>
            </a:pPr>
            <a:r>
              <a:rPr lang="en-US" sz="1100" b="1" dirty="0">
                <a:solidFill>
                  <a:srgbClr val="0F0F11"/>
                </a:solidFill>
                <a:latin typeface="Courier New" pitchFamily="34" charset="0"/>
                <a:ea typeface="Courier New" pitchFamily="34" charset="-122"/>
                <a:cs typeface="Courier New" pitchFamily="34" charset="-120"/>
              </a:rPr>
              <a:t>Confirmación</a:t>
            </a:r>
            <a:endParaRPr lang="en-US" sz="1100" dirty="0"/>
          </a:p>
        </p:txBody>
      </p:sp>
      <p:sp>
        <p:nvSpPr>
          <p:cNvPr id="23" name="Text 20"/>
          <p:cNvSpPr/>
          <p:nvPr/>
        </p:nvSpPr>
        <p:spPr>
          <a:xfrm>
            <a:off x="4818888" y="4197096"/>
            <a:ext cx="6805879" cy="530352"/>
          </a:xfrm>
          <a:prstGeom prst="rect">
            <a:avLst/>
          </a:prstGeom>
          <a:noFill/>
          <a:ln/>
        </p:spPr>
        <p:txBody>
          <a:bodyPr wrap="square" lIns="0" tIns="0" rIns="0" bIns="0" rtlCol="0" anchor="t"/>
          <a:lstStyle/>
          <a:p>
            <a:pPr indent="0" marL="0">
              <a:lnSpc>
                <a:spcPct val="124000"/>
              </a:lnSpc>
              <a:buNone/>
            </a:pPr>
            <a:r>
              <a:rPr lang="en-US" sz="1150" dirty="0">
                <a:solidFill>
                  <a:srgbClr val="3A3844"/>
                </a:solidFill>
                <a:latin typeface="Arial" pitchFamily="34" charset="0"/>
                <a:ea typeface="Arial" pitchFamily="34" charset="-122"/>
                <a:cs typeface="Arial" pitchFamily="34" charset="-120"/>
              </a:rPr>
              <a:t>Cada bloque añadido por encima del que contiene una transacción. A más confirmaciones, mayor el costo de revertirla y mayor la certeza práctica de que es definitiva.</a:t>
            </a:r>
            <a:endParaRPr lang="en-US" sz="1150" dirty="0"/>
          </a:p>
        </p:txBody>
      </p:sp>
      <p:sp>
        <p:nvSpPr>
          <p:cNvPr id="24" name="Shape 21"/>
          <p:cNvSpPr/>
          <p:nvPr/>
        </p:nvSpPr>
        <p:spPr>
          <a:xfrm>
            <a:off x="566928" y="4105656"/>
            <a:ext cx="11057839" cy="0"/>
          </a:xfrm>
          <a:prstGeom prst="line">
            <a:avLst/>
          </a:prstGeom>
          <a:noFill/>
          <a:ln w="12700">
            <a:solidFill>
              <a:srgbClr val="D9D6E0"/>
            </a:solidFill>
            <a:prstDash val="solid"/>
          </a:ln>
        </p:spPr>
      </p:sp>
      <p:sp>
        <p:nvSpPr>
          <p:cNvPr id="25" name="Text 22"/>
          <p:cNvSpPr/>
          <p:nvPr/>
        </p:nvSpPr>
        <p:spPr>
          <a:xfrm>
            <a:off x="566928" y="4828032"/>
            <a:ext cx="1828800" cy="329184"/>
          </a:xfrm>
          <a:prstGeom prst="rect">
            <a:avLst/>
          </a:prstGeom>
          <a:noFill/>
          <a:ln/>
        </p:spPr>
        <p:txBody>
          <a:bodyPr wrap="square" lIns="0" tIns="0" rIns="0" bIns="0" rtlCol="0" anchor="t"/>
          <a:lstStyle/>
          <a:p>
            <a:pPr indent="0" marL="0">
              <a:buNone/>
            </a:pPr>
            <a:r>
              <a:rPr lang="en-US" sz="1100" b="1" dirty="0">
                <a:solidFill>
                  <a:srgbClr val="0F0F11"/>
                </a:solidFill>
                <a:latin typeface="Courier New" pitchFamily="34" charset="0"/>
                <a:ea typeface="Courier New" pitchFamily="34" charset="-122"/>
                <a:cs typeface="Courier New" pitchFamily="34" charset="-120"/>
              </a:rPr>
              <a:t>Cypherpunk</a:t>
            </a:r>
            <a:endParaRPr lang="en-US" sz="1100" dirty="0"/>
          </a:p>
        </p:txBody>
      </p:sp>
      <p:sp>
        <p:nvSpPr>
          <p:cNvPr id="26" name="Text 23"/>
          <p:cNvSpPr/>
          <p:nvPr/>
        </p:nvSpPr>
        <p:spPr>
          <a:xfrm>
            <a:off x="4818888" y="4800600"/>
            <a:ext cx="6805879" cy="530352"/>
          </a:xfrm>
          <a:prstGeom prst="rect">
            <a:avLst/>
          </a:prstGeom>
          <a:noFill/>
          <a:ln/>
        </p:spPr>
        <p:txBody>
          <a:bodyPr wrap="square" lIns="0" tIns="0" rIns="0" bIns="0" rtlCol="0" anchor="t"/>
          <a:lstStyle/>
          <a:p>
            <a:pPr indent="0" marL="0">
              <a:lnSpc>
                <a:spcPct val="124000"/>
              </a:lnSpc>
              <a:buNone/>
            </a:pPr>
            <a:r>
              <a:rPr lang="en-US" sz="1150" dirty="0">
                <a:solidFill>
                  <a:srgbClr val="3A3844"/>
                </a:solidFill>
                <a:latin typeface="Arial" pitchFamily="34" charset="0"/>
                <a:ea typeface="Arial" pitchFamily="34" charset="-122"/>
                <a:cs typeface="Arial" pitchFamily="34" charset="-120"/>
              </a:rPr>
              <a:t>Movimiento de finales de los ochenta que promovía el uso de criptografía fuerte por individuos como condición para la privacidad. Contexto intelectual del que surge Bitcoin.</a:t>
            </a:r>
            <a:endParaRPr lang="en-US" sz="1150" dirty="0"/>
          </a:p>
        </p:txBody>
      </p:sp>
      <p:sp>
        <p:nvSpPr>
          <p:cNvPr id="27" name="Shape 24"/>
          <p:cNvSpPr/>
          <p:nvPr/>
        </p:nvSpPr>
        <p:spPr>
          <a:xfrm>
            <a:off x="566928" y="4709160"/>
            <a:ext cx="11057839" cy="0"/>
          </a:xfrm>
          <a:prstGeom prst="line">
            <a:avLst/>
          </a:prstGeom>
          <a:noFill/>
          <a:ln w="12700">
            <a:solidFill>
              <a:srgbClr val="D9D6E0"/>
            </a:solidFill>
            <a:prstDash val="solid"/>
          </a:ln>
        </p:spPr>
      </p:sp>
      <p:sp>
        <p:nvSpPr>
          <p:cNvPr id="28" name="Text 25"/>
          <p:cNvSpPr/>
          <p:nvPr/>
        </p:nvSpPr>
        <p:spPr>
          <a:xfrm>
            <a:off x="566928" y="5431536"/>
            <a:ext cx="1828800" cy="329184"/>
          </a:xfrm>
          <a:prstGeom prst="rect">
            <a:avLst/>
          </a:prstGeom>
          <a:noFill/>
          <a:ln/>
        </p:spPr>
        <p:txBody>
          <a:bodyPr wrap="square" lIns="0" tIns="0" rIns="0" bIns="0" rtlCol="0" anchor="t"/>
          <a:lstStyle/>
          <a:p>
            <a:pPr indent="0" marL="0">
              <a:buNone/>
            </a:pPr>
            <a:r>
              <a:rPr lang="en-US" sz="1100" b="1" dirty="0">
                <a:solidFill>
                  <a:srgbClr val="0F0F11"/>
                </a:solidFill>
                <a:latin typeface="Courier New" pitchFamily="34" charset="0"/>
                <a:ea typeface="Courier New" pitchFamily="34" charset="-122"/>
                <a:cs typeface="Courier New" pitchFamily="34" charset="-120"/>
              </a:rPr>
              <a:t>dApp</a:t>
            </a:r>
            <a:endParaRPr lang="en-US" sz="1100" dirty="0"/>
          </a:p>
        </p:txBody>
      </p:sp>
      <p:sp>
        <p:nvSpPr>
          <p:cNvPr id="29" name="Text 26"/>
          <p:cNvSpPr/>
          <p:nvPr/>
        </p:nvSpPr>
        <p:spPr>
          <a:xfrm>
            <a:off x="2441448" y="5458968"/>
            <a:ext cx="2286000" cy="274320"/>
          </a:xfrm>
          <a:prstGeom prst="rect">
            <a:avLst/>
          </a:prstGeom>
          <a:noFill/>
          <a:ln/>
        </p:spPr>
        <p:txBody>
          <a:bodyPr wrap="square" lIns="0" tIns="0" rIns="0" bIns="0" rtlCol="0" anchor="t"/>
          <a:lstStyle/>
          <a:p>
            <a:pPr indent="0" marL="0">
              <a:buNone/>
            </a:pPr>
            <a:r>
              <a:rPr lang="en-US" sz="900" dirty="0">
                <a:solidFill>
                  <a:srgbClr val="5638C9"/>
                </a:solidFill>
                <a:latin typeface="Courier New" pitchFamily="34" charset="0"/>
                <a:ea typeface="Courier New" pitchFamily="34" charset="-122"/>
                <a:cs typeface="Courier New" pitchFamily="34" charset="-120"/>
              </a:rPr>
              <a:t>decentralized application</a:t>
            </a:r>
            <a:endParaRPr lang="en-US" sz="900" dirty="0"/>
          </a:p>
        </p:txBody>
      </p:sp>
      <p:sp>
        <p:nvSpPr>
          <p:cNvPr id="30" name="Text 27"/>
          <p:cNvSpPr/>
          <p:nvPr/>
        </p:nvSpPr>
        <p:spPr>
          <a:xfrm>
            <a:off x="4818888" y="5404104"/>
            <a:ext cx="6805879" cy="530352"/>
          </a:xfrm>
          <a:prstGeom prst="rect">
            <a:avLst/>
          </a:prstGeom>
          <a:noFill/>
          <a:ln/>
        </p:spPr>
        <p:txBody>
          <a:bodyPr wrap="square" lIns="0" tIns="0" rIns="0" bIns="0" rtlCol="0" anchor="t"/>
          <a:lstStyle/>
          <a:p>
            <a:pPr indent="0" marL="0">
              <a:lnSpc>
                <a:spcPct val="124000"/>
              </a:lnSpc>
              <a:buNone/>
            </a:pPr>
            <a:r>
              <a:rPr lang="en-US" sz="1150" dirty="0">
                <a:solidFill>
                  <a:srgbClr val="3A3844"/>
                </a:solidFill>
                <a:latin typeface="Arial" pitchFamily="34" charset="0"/>
                <a:ea typeface="Arial" pitchFamily="34" charset="-122"/>
                <a:cs typeface="Arial" pitchFamily="34" charset="-120"/>
              </a:rPr>
              <a:t>Aplicación descentralizada: programa cuya lógica de negocio reside en contratos inteligentes desplegados en una cadena, en lugar de en un servidor bajo control de una organización.</a:t>
            </a:r>
            <a:endParaRPr lang="en-US" sz="1150" dirty="0"/>
          </a:p>
        </p:txBody>
      </p:sp>
      <p:sp>
        <p:nvSpPr>
          <p:cNvPr id="31" name="Shape 28"/>
          <p:cNvSpPr/>
          <p:nvPr/>
        </p:nvSpPr>
        <p:spPr>
          <a:xfrm>
            <a:off x="566928" y="5312664"/>
            <a:ext cx="11057839" cy="0"/>
          </a:xfrm>
          <a:prstGeom prst="line">
            <a:avLst/>
          </a:prstGeom>
          <a:noFill/>
          <a:ln w="12700">
            <a:solidFill>
              <a:srgbClr val="D9D6E0"/>
            </a:solidFill>
            <a:prstDash val="solid"/>
          </a:ln>
        </p:spPr>
      </p:sp>
      <p:sp>
        <p:nvSpPr>
          <p:cNvPr id="32" name="Shape 29"/>
          <p:cNvSpPr/>
          <p:nvPr/>
        </p:nvSpPr>
        <p:spPr>
          <a:xfrm>
            <a:off x="566928" y="5916168"/>
            <a:ext cx="11057839" cy="0"/>
          </a:xfrm>
          <a:prstGeom prst="line">
            <a:avLst/>
          </a:prstGeom>
          <a:noFill/>
          <a:ln w="12700">
            <a:solidFill>
              <a:srgbClr val="D9D6E0"/>
            </a:solidFill>
            <a:prstDash val="solid"/>
          </a:ln>
        </p:spPr>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ANEXO II · GLOSARIO ACUMULATIVO · 2 DE 6</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GLOSARIO · CONTINUACIÓN</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01 · ¿QUÉ PROBLEMA RESUELVE REALMENTE BLOCKCHAIN?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60</a:t>
            </a:r>
            <a:endParaRPr lang="en-US" sz="900" dirty="0"/>
          </a:p>
        </p:txBody>
      </p:sp>
      <p:sp>
        <p:nvSpPr>
          <p:cNvPr id="8" name="Text 5"/>
          <p:cNvSpPr/>
          <p:nvPr/>
        </p:nvSpPr>
        <p:spPr>
          <a:xfrm>
            <a:off x="566928" y="1810512"/>
            <a:ext cx="1828800" cy="329184"/>
          </a:xfrm>
          <a:prstGeom prst="rect">
            <a:avLst/>
          </a:prstGeom>
          <a:noFill/>
          <a:ln/>
        </p:spPr>
        <p:txBody>
          <a:bodyPr wrap="square" lIns="0" tIns="0" rIns="0" bIns="0" rtlCol="0" anchor="t"/>
          <a:lstStyle/>
          <a:p>
            <a:pPr indent="0" marL="0">
              <a:buNone/>
            </a:pPr>
            <a:r>
              <a:rPr lang="en-US" sz="1100" b="1" dirty="0">
                <a:solidFill>
                  <a:srgbClr val="0F0F11"/>
                </a:solidFill>
                <a:latin typeface="Courier New" pitchFamily="34" charset="0"/>
                <a:ea typeface="Courier New" pitchFamily="34" charset="-122"/>
                <a:cs typeface="Courier New" pitchFamily="34" charset="-120"/>
              </a:rPr>
              <a:t>Dirección</a:t>
            </a:r>
            <a:endParaRPr lang="en-US" sz="1100" dirty="0"/>
          </a:p>
        </p:txBody>
      </p:sp>
      <p:sp>
        <p:nvSpPr>
          <p:cNvPr id="9" name="Text 6"/>
          <p:cNvSpPr/>
          <p:nvPr/>
        </p:nvSpPr>
        <p:spPr>
          <a:xfrm>
            <a:off x="4818888" y="1783080"/>
            <a:ext cx="6805879" cy="530352"/>
          </a:xfrm>
          <a:prstGeom prst="rect">
            <a:avLst/>
          </a:prstGeom>
          <a:noFill/>
          <a:ln/>
        </p:spPr>
        <p:txBody>
          <a:bodyPr wrap="square" lIns="0" tIns="0" rIns="0" bIns="0" rtlCol="0" anchor="t"/>
          <a:lstStyle/>
          <a:p>
            <a:pPr indent="0" marL="0">
              <a:lnSpc>
                <a:spcPct val="124000"/>
              </a:lnSpc>
              <a:buNone/>
            </a:pPr>
            <a:r>
              <a:rPr lang="en-US" sz="1150" dirty="0">
                <a:solidFill>
                  <a:srgbClr val="3A3844"/>
                </a:solidFill>
                <a:latin typeface="Arial" pitchFamily="34" charset="0"/>
                <a:ea typeface="Arial" pitchFamily="34" charset="-122"/>
                <a:cs typeface="Arial" pitchFamily="34" charset="-120"/>
              </a:rPr>
              <a:t>Identificador público de una cuenta, derivado por hash de la clave pública. En Ethereum, 20 bytes representados como 40 caracteres hexadecimales precedidos de 0x.</a:t>
            </a:r>
            <a:endParaRPr lang="en-US" sz="1150" dirty="0"/>
          </a:p>
        </p:txBody>
      </p:sp>
      <p:sp>
        <p:nvSpPr>
          <p:cNvPr id="10" name="Shape 7"/>
          <p:cNvSpPr/>
          <p:nvPr/>
        </p:nvSpPr>
        <p:spPr>
          <a:xfrm>
            <a:off x="566928" y="1691640"/>
            <a:ext cx="11057839" cy="0"/>
          </a:xfrm>
          <a:prstGeom prst="line">
            <a:avLst/>
          </a:prstGeom>
          <a:noFill/>
          <a:ln w="12700">
            <a:solidFill>
              <a:srgbClr val="D9D6E0"/>
            </a:solidFill>
            <a:prstDash val="solid"/>
          </a:ln>
        </p:spPr>
      </p:sp>
      <p:sp>
        <p:nvSpPr>
          <p:cNvPr id="11" name="Text 8"/>
          <p:cNvSpPr/>
          <p:nvPr/>
        </p:nvSpPr>
        <p:spPr>
          <a:xfrm>
            <a:off x="566928" y="2414016"/>
            <a:ext cx="1828800" cy="329184"/>
          </a:xfrm>
          <a:prstGeom prst="rect">
            <a:avLst/>
          </a:prstGeom>
          <a:noFill/>
          <a:ln/>
        </p:spPr>
        <p:txBody>
          <a:bodyPr wrap="square" lIns="0" tIns="0" rIns="0" bIns="0" rtlCol="0" anchor="t"/>
          <a:lstStyle/>
          <a:p>
            <a:pPr indent="0" marL="0">
              <a:buNone/>
            </a:pPr>
            <a:r>
              <a:rPr lang="en-US" sz="1100" b="1" dirty="0">
                <a:solidFill>
                  <a:srgbClr val="0F0F11"/>
                </a:solidFill>
                <a:latin typeface="Courier New" pitchFamily="34" charset="0"/>
                <a:ea typeface="Courier New" pitchFamily="34" charset="-122"/>
                <a:cs typeface="Courier New" pitchFamily="34" charset="-120"/>
              </a:rPr>
              <a:t>DLT</a:t>
            </a:r>
            <a:endParaRPr lang="en-US" sz="1100" dirty="0"/>
          </a:p>
        </p:txBody>
      </p:sp>
      <p:sp>
        <p:nvSpPr>
          <p:cNvPr id="12" name="Text 9"/>
          <p:cNvSpPr/>
          <p:nvPr/>
        </p:nvSpPr>
        <p:spPr>
          <a:xfrm>
            <a:off x="2441448" y="2441448"/>
            <a:ext cx="2286000" cy="274320"/>
          </a:xfrm>
          <a:prstGeom prst="rect">
            <a:avLst/>
          </a:prstGeom>
          <a:noFill/>
          <a:ln/>
        </p:spPr>
        <p:txBody>
          <a:bodyPr wrap="square" lIns="0" tIns="0" rIns="0" bIns="0" rtlCol="0" anchor="t"/>
          <a:lstStyle/>
          <a:p>
            <a:pPr indent="0" marL="0">
              <a:buNone/>
            </a:pPr>
            <a:r>
              <a:rPr lang="en-US" sz="900" dirty="0">
                <a:solidFill>
                  <a:srgbClr val="5638C9"/>
                </a:solidFill>
                <a:latin typeface="Courier New" pitchFamily="34" charset="0"/>
                <a:ea typeface="Courier New" pitchFamily="34" charset="-122"/>
                <a:cs typeface="Courier New" pitchFamily="34" charset="-120"/>
              </a:rPr>
              <a:t>Distributed Ledger Technology</a:t>
            </a:r>
            <a:endParaRPr lang="en-US" sz="900" dirty="0"/>
          </a:p>
        </p:txBody>
      </p:sp>
      <p:sp>
        <p:nvSpPr>
          <p:cNvPr id="13" name="Text 10"/>
          <p:cNvSpPr/>
          <p:nvPr/>
        </p:nvSpPr>
        <p:spPr>
          <a:xfrm>
            <a:off x="4818888" y="2386584"/>
            <a:ext cx="6805879" cy="530352"/>
          </a:xfrm>
          <a:prstGeom prst="rect">
            <a:avLst/>
          </a:prstGeom>
          <a:noFill/>
          <a:ln/>
        </p:spPr>
        <p:txBody>
          <a:bodyPr wrap="square" lIns="0" tIns="0" rIns="0" bIns="0" rtlCol="0" anchor="t"/>
          <a:lstStyle/>
          <a:p>
            <a:pPr indent="0" marL="0">
              <a:lnSpc>
                <a:spcPct val="124000"/>
              </a:lnSpc>
              <a:buNone/>
            </a:pPr>
            <a:r>
              <a:rPr lang="en-US" sz="1150" dirty="0">
                <a:solidFill>
                  <a:srgbClr val="3A3844"/>
                </a:solidFill>
                <a:latin typeface="Arial" pitchFamily="34" charset="0"/>
                <a:ea typeface="Arial" pitchFamily="34" charset="-122"/>
                <a:cs typeface="Arial" pitchFamily="34" charset="-120"/>
              </a:rPr>
              <a:t>Tecnología de libro mayor distribuido. Categoría general que engloba a blockchain y a otras estructuras de registro replicado que no necesariamente encadenan bloques.</a:t>
            </a:r>
            <a:endParaRPr lang="en-US" sz="1150" dirty="0"/>
          </a:p>
        </p:txBody>
      </p:sp>
      <p:sp>
        <p:nvSpPr>
          <p:cNvPr id="14" name="Shape 11"/>
          <p:cNvSpPr/>
          <p:nvPr/>
        </p:nvSpPr>
        <p:spPr>
          <a:xfrm>
            <a:off x="566928" y="2295144"/>
            <a:ext cx="11057839" cy="0"/>
          </a:xfrm>
          <a:prstGeom prst="line">
            <a:avLst/>
          </a:prstGeom>
          <a:noFill/>
          <a:ln w="12700">
            <a:solidFill>
              <a:srgbClr val="D9D6E0"/>
            </a:solidFill>
            <a:prstDash val="solid"/>
          </a:ln>
        </p:spPr>
      </p:sp>
      <p:sp>
        <p:nvSpPr>
          <p:cNvPr id="15" name="Text 12"/>
          <p:cNvSpPr/>
          <p:nvPr/>
        </p:nvSpPr>
        <p:spPr>
          <a:xfrm>
            <a:off x="566928" y="3017520"/>
            <a:ext cx="1828800" cy="329184"/>
          </a:xfrm>
          <a:prstGeom prst="rect">
            <a:avLst/>
          </a:prstGeom>
          <a:noFill/>
          <a:ln/>
        </p:spPr>
        <p:txBody>
          <a:bodyPr wrap="square" lIns="0" tIns="0" rIns="0" bIns="0" rtlCol="0" anchor="t"/>
          <a:lstStyle/>
          <a:p>
            <a:pPr indent="0" marL="0">
              <a:buNone/>
            </a:pPr>
            <a:r>
              <a:rPr lang="en-US" sz="1100" b="1" dirty="0">
                <a:solidFill>
                  <a:srgbClr val="0F0F11"/>
                </a:solidFill>
                <a:latin typeface="Courier New" pitchFamily="34" charset="0"/>
                <a:ea typeface="Courier New" pitchFamily="34" charset="-122"/>
                <a:cs typeface="Courier New" pitchFamily="34" charset="-120"/>
              </a:rPr>
              <a:t>Doble gasto</a:t>
            </a:r>
            <a:endParaRPr lang="en-US" sz="1100" dirty="0"/>
          </a:p>
        </p:txBody>
      </p:sp>
      <p:sp>
        <p:nvSpPr>
          <p:cNvPr id="16" name="Text 13"/>
          <p:cNvSpPr/>
          <p:nvPr/>
        </p:nvSpPr>
        <p:spPr>
          <a:xfrm>
            <a:off x="4818888" y="2990088"/>
            <a:ext cx="6805879" cy="530352"/>
          </a:xfrm>
          <a:prstGeom prst="rect">
            <a:avLst/>
          </a:prstGeom>
          <a:noFill/>
          <a:ln/>
        </p:spPr>
        <p:txBody>
          <a:bodyPr wrap="square" lIns="0" tIns="0" rIns="0" bIns="0" rtlCol="0" anchor="t"/>
          <a:lstStyle/>
          <a:p>
            <a:pPr indent="0" marL="0">
              <a:lnSpc>
                <a:spcPct val="124000"/>
              </a:lnSpc>
              <a:buNone/>
            </a:pPr>
            <a:r>
              <a:rPr lang="en-US" sz="1150" dirty="0">
                <a:solidFill>
                  <a:srgbClr val="3A3844"/>
                </a:solidFill>
                <a:latin typeface="Arial" pitchFamily="34" charset="0"/>
                <a:ea typeface="Arial" pitchFamily="34" charset="-122"/>
                <a:cs typeface="Arial" pitchFamily="34" charset="-120"/>
              </a:rPr>
              <a:t>Gastar dos veces la misma unidad de dinero digital aprovechando que transferir información equivale a copiarla. Problema fundacional del campo.</a:t>
            </a:r>
            <a:endParaRPr lang="en-US" sz="1150" dirty="0"/>
          </a:p>
        </p:txBody>
      </p:sp>
      <p:sp>
        <p:nvSpPr>
          <p:cNvPr id="17" name="Shape 14"/>
          <p:cNvSpPr/>
          <p:nvPr/>
        </p:nvSpPr>
        <p:spPr>
          <a:xfrm>
            <a:off x="566928" y="2898648"/>
            <a:ext cx="11057839" cy="0"/>
          </a:xfrm>
          <a:prstGeom prst="line">
            <a:avLst/>
          </a:prstGeom>
          <a:noFill/>
          <a:ln w="12700">
            <a:solidFill>
              <a:srgbClr val="D9D6E0"/>
            </a:solidFill>
            <a:prstDash val="solid"/>
          </a:ln>
        </p:spPr>
      </p:sp>
      <p:sp>
        <p:nvSpPr>
          <p:cNvPr id="18" name="Text 15"/>
          <p:cNvSpPr/>
          <p:nvPr/>
        </p:nvSpPr>
        <p:spPr>
          <a:xfrm>
            <a:off x="566928" y="3621024"/>
            <a:ext cx="1828800" cy="329184"/>
          </a:xfrm>
          <a:prstGeom prst="rect">
            <a:avLst/>
          </a:prstGeom>
          <a:noFill/>
          <a:ln/>
        </p:spPr>
        <p:txBody>
          <a:bodyPr wrap="square" lIns="0" tIns="0" rIns="0" bIns="0" rtlCol="0" anchor="t"/>
          <a:lstStyle/>
          <a:p>
            <a:pPr indent="0" marL="0">
              <a:buNone/>
            </a:pPr>
            <a:r>
              <a:rPr lang="en-US" sz="1100" b="1" dirty="0">
                <a:solidFill>
                  <a:srgbClr val="0F0F11"/>
                </a:solidFill>
                <a:latin typeface="Courier New" pitchFamily="34" charset="0"/>
                <a:ea typeface="Courier New" pitchFamily="34" charset="-122"/>
                <a:cs typeface="Courier New" pitchFamily="34" charset="-120"/>
              </a:rPr>
              <a:t>EVM</a:t>
            </a:r>
            <a:endParaRPr lang="en-US" sz="1100" dirty="0"/>
          </a:p>
        </p:txBody>
      </p:sp>
      <p:sp>
        <p:nvSpPr>
          <p:cNvPr id="19" name="Text 16"/>
          <p:cNvSpPr/>
          <p:nvPr/>
        </p:nvSpPr>
        <p:spPr>
          <a:xfrm>
            <a:off x="2441448" y="3648456"/>
            <a:ext cx="2286000" cy="274320"/>
          </a:xfrm>
          <a:prstGeom prst="rect">
            <a:avLst/>
          </a:prstGeom>
          <a:noFill/>
          <a:ln/>
        </p:spPr>
        <p:txBody>
          <a:bodyPr wrap="square" lIns="0" tIns="0" rIns="0" bIns="0" rtlCol="0" anchor="t"/>
          <a:lstStyle/>
          <a:p>
            <a:pPr indent="0" marL="0">
              <a:buNone/>
            </a:pPr>
            <a:r>
              <a:rPr lang="en-US" sz="900" dirty="0">
                <a:solidFill>
                  <a:srgbClr val="5638C9"/>
                </a:solidFill>
                <a:latin typeface="Courier New" pitchFamily="34" charset="0"/>
                <a:ea typeface="Courier New" pitchFamily="34" charset="-122"/>
                <a:cs typeface="Courier New" pitchFamily="34" charset="-120"/>
              </a:rPr>
              <a:t>Ethereum Virtual Machine</a:t>
            </a:r>
            <a:endParaRPr lang="en-US" sz="900" dirty="0"/>
          </a:p>
        </p:txBody>
      </p:sp>
      <p:sp>
        <p:nvSpPr>
          <p:cNvPr id="20" name="Text 17"/>
          <p:cNvSpPr/>
          <p:nvPr/>
        </p:nvSpPr>
        <p:spPr>
          <a:xfrm>
            <a:off x="4818888" y="3593592"/>
            <a:ext cx="6805879" cy="530352"/>
          </a:xfrm>
          <a:prstGeom prst="rect">
            <a:avLst/>
          </a:prstGeom>
          <a:noFill/>
          <a:ln/>
        </p:spPr>
        <p:txBody>
          <a:bodyPr wrap="square" lIns="0" tIns="0" rIns="0" bIns="0" rtlCol="0" anchor="t"/>
          <a:lstStyle/>
          <a:p>
            <a:pPr indent="0" marL="0">
              <a:lnSpc>
                <a:spcPct val="124000"/>
              </a:lnSpc>
              <a:buNone/>
            </a:pPr>
            <a:r>
              <a:rPr lang="en-US" sz="1150" dirty="0">
                <a:solidFill>
                  <a:srgbClr val="3A3844"/>
                </a:solidFill>
                <a:latin typeface="Arial" pitchFamily="34" charset="0"/>
                <a:ea typeface="Arial" pitchFamily="34" charset="-122"/>
                <a:cs typeface="Arial" pitchFamily="34" charset="-120"/>
              </a:rPr>
              <a:t>Máquina virtual de Ethereum. Especificación de la máquina de estados que ejecuta los contratos: qué operaciones existen y cuánto cuesta cada una. Una red compatible con la EVM ejecuta esa misma especificación, por lo que el código se transfiere sin reescribirse.</a:t>
            </a:r>
            <a:endParaRPr lang="en-US" sz="1150" dirty="0"/>
          </a:p>
        </p:txBody>
      </p:sp>
      <p:sp>
        <p:nvSpPr>
          <p:cNvPr id="21" name="Shape 18"/>
          <p:cNvSpPr/>
          <p:nvPr/>
        </p:nvSpPr>
        <p:spPr>
          <a:xfrm>
            <a:off x="566928" y="3502152"/>
            <a:ext cx="11057839" cy="0"/>
          </a:xfrm>
          <a:prstGeom prst="line">
            <a:avLst/>
          </a:prstGeom>
          <a:noFill/>
          <a:ln w="12700">
            <a:solidFill>
              <a:srgbClr val="D9D6E0"/>
            </a:solidFill>
            <a:prstDash val="solid"/>
          </a:ln>
        </p:spPr>
      </p:sp>
      <p:sp>
        <p:nvSpPr>
          <p:cNvPr id="22" name="Text 19"/>
          <p:cNvSpPr/>
          <p:nvPr/>
        </p:nvSpPr>
        <p:spPr>
          <a:xfrm>
            <a:off x="566928" y="4224528"/>
            <a:ext cx="1828800" cy="329184"/>
          </a:xfrm>
          <a:prstGeom prst="rect">
            <a:avLst/>
          </a:prstGeom>
          <a:noFill/>
          <a:ln/>
        </p:spPr>
        <p:txBody>
          <a:bodyPr wrap="square" lIns="0" tIns="0" rIns="0" bIns="0" rtlCol="0" anchor="t"/>
          <a:lstStyle/>
          <a:p>
            <a:pPr indent="0" marL="0">
              <a:buNone/>
            </a:pPr>
            <a:r>
              <a:rPr lang="en-US" sz="1100" b="1" dirty="0">
                <a:solidFill>
                  <a:srgbClr val="0F0F11"/>
                </a:solidFill>
                <a:latin typeface="Courier New" pitchFamily="34" charset="0"/>
                <a:ea typeface="Courier New" pitchFamily="34" charset="-122"/>
                <a:cs typeface="Courier New" pitchFamily="34" charset="-120"/>
              </a:rPr>
              <a:t>Hash</a:t>
            </a:r>
            <a:endParaRPr lang="en-US" sz="1100" dirty="0"/>
          </a:p>
        </p:txBody>
      </p:sp>
      <p:sp>
        <p:nvSpPr>
          <p:cNvPr id="23" name="Text 20"/>
          <p:cNvSpPr/>
          <p:nvPr/>
        </p:nvSpPr>
        <p:spPr>
          <a:xfrm>
            <a:off x="4818888" y="4197096"/>
            <a:ext cx="6805879" cy="530352"/>
          </a:xfrm>
          <a:prstGeom prst="rect">
            <a:avLst/>
          </a:prstGeom>
          <a:noFill/>
          <a:ln/>
        </p:spPr>
        <p:txBody>
          <a:bodyPr wrap="square" lIns="0" tIns="0" rIns="0" bIns="0" rtlCol="0" anchor="t"/>
          <a:lstStyle/>
          <a:p>
            <a:pPr indent="0" marL="0">
              <a:lnSpc>
                <a:spcPct val="124000"/>
              </a:lnSpc>
              <a:buNone/>
            </a:pPr>
            <a:r>
              <a:rPr lang="en-US" sz="1150" dirty="0">
                <a:solidFill>
                  <a:srgbClr val="3A3844"/>
                </a:solidFill>
                <a:latin typeface="Arial" pitchFamily="34" charset="0"/>
                <a:ea typeface="Arial" pitchFamily="34" charset="-122"/>
                <a:cs typeface="Arial" pitchFamily="34" charset="-120"/>
              </a:rPr>
              <a:t>Resumen criptográfico. Salida de longitud fija de una función determinista, irreversible en la práctica, en la que un cambio mínimo de la entrada altera por completo la salida.</a:t>
            </a:r>
            <a:endParaRPr lang="en-US" sz="1150" dirty="0"/>
          </a:p>
        </p:txBody>
      </p:sp>
      <p:sp>
        <p:nvSpPr>
          <p:cNvPr id="24" name="Shape 21"/>
          <p:cNvSpPr/>
          <p:nvPr/>
        </p:nvSpPr>
        <p:spPr>
          <a:xfrm>
            <a:off x="566928" y="4105656"/>
            <a:ext cx="11057839" cy="0"/>
          </a:xfrm>
          <a:prstGeom prst="line">
            <a:avLst/>
          </a:prstGeom>
          <a:noFill/>
          <a:ln w="12700">
            <a:solidFill>
              <a:srgbClr val="D9D6E0"/>
            </a:solidFill>
            <a:prstDash val="solid"/>
          </a:ln>
        </p:spPr>
      </p:sp>
      <p:sp>
        <p:nvSpPr>
          <p:cNvPr id="25" name="Text 22"/>
          <p:cNvSpPr/>
          <p:nvPr/>
        </p:nvSpPr>
        <p:spPr>
          <a:xfrm>
            <a:off x="566928" y="4828032"/>
            <a:ext cx="1828800" cy="329184"/>
          </a:xfrm>
          <a:prstGeom prst="rect">
            <a:avLst/>
          </a:prstGeom>
          <a:noFill/>
          <a:ln/>
        </p:spPr>
        <p:txBody>
          <a:bodyPr wrap="square" lIns="0" tIns="0" rIns="0" bIns="0" rtlCol="0" anchor="t"/>
          <a:lstStyle/>
          <a:p>
            <a:pPr indent="0" marL="0">
              <a:buNone/>
            </a:pPr>
            <a:r>
              <a:rPr lang="en-US" sz="1100" b="1" dirty="0">
                <a:solidFill>
                  <a:srgbClr val="0F0F11"/>
                </a:solidFill>
                <a:latin typeface="Courier New" pitchFamily="34" charset="0"/>
                <a:ea typeface="Courier New" pitchFamily="34" charset="-122"/>
                <a:cs typeface="Courier New" pitchFamily="34" charset="-120"/>
              </a:rPr>
              <a:t>Inmutabilidad</a:t>
            </a:r>
            <a:endParaRPr lang="en-US" sz="1100" dirty="0"/>
          </a:p>
        </p:txBody>
      </p:sp>
      <p:sp>
        <p:nvSpPr>
          <p:cNvPr id="26" name="Text 23"/>
          <p:cNvSpPr/>
          <p:nvPr/>
        </p:nvSpPr>
        <p:spPr>
          <a:xfrm>
            <a:off x="4818888" y="4800600"/>
            <a:ext cx="6805879" cy="530352"/>
          </a:xfrm>
          <a:prstGeom prst="rect">
            <a:avLst/>
          </a:prstGeom>
          <a:noFill/>
          <a:ln/>
        </p:spPr>
        <p:txBody>
          <a:bodyPr wrap="square" lIns="0" tIns="0" rIns="0" bIns="0" rtlCol="0" anchor="t"/>
          <a:lstStyle/>
          <a:p>
            <a:pPr indent="0" marL="0">
              <a:lnSpc>
                <a:spcPct val="124000"/>
              </a:lnSpc>
              <a:buNone/>
            </a:pPr>
            <a:r>
              <a:rPr lang="en-US" sz="1150" dirty="0">
                <a:solidFill>
                  <a:srgbClr val="3A3844"/>
                </a:solidFill>
                <a:latin typeface="Arial" pitchFamily="34" charset="0"/>
                <a:ea typeface="Arial" pitchFamily="34" charset="-122"/>
                <a:cs typeface="Arial" pitchFamily="34" charset="-120"/>
              </a:rPr>
              <a:t>Propiedad por la cual alterar un registro escrito resulta económicamente inviable, al exigir rehacer todo el trabajo posterior más rápido que el resto de la red. Barrera de costo, no imposibilidad física.</a:t>
            </a:r>
            <a:endParaRPr lang="en-US" sz="1150" dirty="0"/>
          </a:p>
        </p:txBody>
      </p:sp>
      <p:sp>
        <p:nvSpPr>
          <p:cNvPr id="27" name="Shape 24"/>
          <p:cNvSpPr/>
          <p:nvPr/>
        </p:nvSpPr>
        <p:spPr>
          <a:xfrm>
            <a:off x="566928" y="4709160"/>
            <a:ext cx="11057839" cy="0"/>
          </a:xfrm>
          <a:prstGeom prst="line">
            <a:avLst/>
          </a:prstGeom>
          <a:noFill/>
          <a:ln w="12700">
            <a:solidFill>
              <a:srgbClr val="D9D6E0"/>
            </a:solidFill>
            <a:prstDash val="solid"/>
          </a:ln>
        </p:spPr>
      </p:sp>
      <p:sp>
        <p:nvSpPr>
          <p:cNvPr id="28" name="Text 25"/>
          <p:cNvSpPr/>
          <p:nvPr/>
        </p:nvSpPr>
        <p:spPr>
          <a:xfrm>
            <a:off x="566928" y="5431536"/>
            <a:ext cx="1828800" cy="329184"/>
          </a:xfrm>
          <a:prstGeom prst="rect">
            <a:avLst/>
          </a:prstGeom>
          <a:noFill/>
          <a:ln/>
        </p:spPr>
        <p:txBody>
          <a:bodyPr wrap="square" lIns="0" tIns="0" rIns="0" bIns="0" rtlCol="0" anchor="t"/>
          <a:lstStyle/>
          <a:p>
            <a:pPr indent="0" marL="0">
              <a:buNone/>
            </a:pPr>
            <a:r>
              <a:rPr lang="en-US" sz="1100" b="1" dirty="0">
                <a:solidFill>
                  <a:srgbClr val="0F0F11"/>
                </a:solidFill>
                <a:latin typeface="Courier New" pitchFamily="34" charset="0"/>
                <a:ea typeface="Courier New" pitchFamily="34" charset="-122"/>
                <a:cs typeface="Courier New" pitchFamily="34" charset="-120"/>
              </a:rPr>
              <a:t>Intercambio centralizado</a:t>
            </a:r>
            <a:endParaRPr lang="en-US" sz="1100" dirty="0"/>
          </a:p>
        </p:txBody>
      </p:sp>
      <p:sp>
        <p:nvSpPr>
          <p:cNvPr id="29" name="Text 26"/>
          <p:cNvSpPr/>
          <p:nvPr/>
        </p:nvSpPr>
        <p:spPr>
          <a:xfrm>
            <a:off x="2441448" y="5458968"/>
            <a:ext cx="2286000" cy="274320"/>
          </a:xfrm>
          <a:prstGeom prst="rect">
            <a:avLst/>
          </a:prstGeom>
          <a:noFill/>
          <a:ln/>
        </p:spPr>
        <p:txBody>
          <a:bodyPr wrap="square" lIns="0" tIns="0" rIns="0" bIns="0" rtlCol="0" anchor="t"/>
          <a:lstStyle/>
          <a:p>
            <a:pPr indent="0" marL="0">
              <a:buNone/>
            </a:pPr>
            <a:r>
              <a:rPr lang="en-US" sz="900" dirty="0">
                <a:solidFill>
                  <a:srgbClr val="5638C9"/>
                </a:solidFill>
                <a:latin typeface="Courier New" pitchFamily="34" charset="0"/>
                <a:ea typeface="Courier New" pitchFamily="34" charset="-122"/>
                <a:cs typeface="Courier New" pitchFamily="34" charset="-120"/>
              </a:rPr>
              <a:t>CEX</a:t>
            </a:r>
            <a:endParaRPr lang="en-US" sz="900" dirty="0"/>
          </a:p>
        </p:txBody>
      </p:sp>
      <p:sp>
        <p:nvSpPr>
          <p:cNvPr id="30" name="Text 27"/>
          <p:cNvSpPr/>
          <p:nvPr/>
        </p:nvSpPr>
        <p:spPr>
          <a:xfrm>
            <a:off x="4818888" y="5404104"/>
            <a:ext cx="6805879" cy="530352"/>
          </a:xfrm>
          <a:prstGeom prst="rect">
            <a:avLst/>
          </a:prstGeom>
          <a:noFill/>
          <a:ln/>
        </p:spPr>
        <p:txBody>
          <a:bodyPr wrap="square" lIns="0" tIns="0" rIns="0" bIns="0" rtlCol="0" anchor="t"/>
          <a:lstStyle/>
          <a:p>
            <a:pPr indent="0" marL="0">
              <a:lnSpc>
                <a:spcPct val="124000"/>
              </a:lnSpc>
              <a:buNone/>
            </a:pPr>
            <a:r>
              <a:rPr lang="en-US" sz="1150" dirty="0">
                <a:solidFill>
                  <a:srgbClr val="3A3844"/>
                </a:solidFill>
                <a:latin typeface="Arial" pitchFamily="34" charset="0"/>
                <a:ea typeface="Arial" pitchFamily="34" charset="-122"/>
                <a:cs typeface="Arial" pitchFamily="34" charset="-120"/>
              </a:rPr>
              <a:t>Plataforma que custodia fondos de terceros y hace de puerta de entrada desde el dinero tradicional. Concentra un poder subestimado: controla el acceso al sistema financiero y puede votar con monedas de sus clientes.</a:t>
            </a:r>
            <a:endParaRPr lang="en-US" sz="1150" dirty="0"/>
          </a:p>
        </p:txBody>
      </p:sp>
      <p:sp>
        <p:nvSpPr>
          <p:cNvPr id="31" name="Shape 28"/>
          <p:cNvSpPr/>
          <p:nvPr/>
        </p:nvSpPr>
        <p:spPr>
          <a:xfrm>
            <a:off x="566928" y="5312664"/>
            <a:ext cx="11057839" cy="0"/>
          </a:xfrm>
          <a:prstGeom prst="line">
            <a:avLst/>
          </a:prstGeom>
          <a:noFill/>
          <a:ln w="12700">
            <a:solidFill>
              <a:srgbClr val="D9D6E0"/>
            </a:solidFill>
            <a:prstDash val="solid"/>
          </a:ln>
        </p:spPr>
      </p:sp>
      <p:sp>
        <p:nvSpPr>
          <p:cNvPr id="32" name="Shape 29"/>
          <p:cNvSpPr/>
          <p:nvPr/>
        </p:nvSpPr>
        <p:spPr>
          <a:xfrm>
            <a:off x="566928" y="5916168"/>
            <a:ext cx="11057839" cy="0"/>
          </a:xfrm>
          <a:prstGeom prst="line">
            <a:avLst/>
          </a:prstGeom>
          <a:noFill/>
          <a:ln w="12700">
            <a:solidFill>
              <a:srgbClr val="D9D6E0"/>
            </a:solidFill>
            <a:prstDash val="solid"/>
          </a:ln>
        </p:spPr>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ANEXO II · GLOSARIO ACUMULATIVO · 3 DE 6</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GLOSARIO · CONTINUACIÓN</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01 · ¿QUÉ PROBLEMA RESUELVE REALMENTE BLOCKCHAIN?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61</a:t>
            </a:r>
            <a:endParaRPr lang="en-US" sz="900" dirty="0"/>
          </a:p>
        </p:txBody>
      </p:sp>
      <p:sp>
        <p:nvSpPr>
          <p:cNvPr id="8" name="Text 5"/>
          <p:cNvSpPr/>
          <p:nvPr/>
        </p:nvSpPr>
        <p:spPr>
          <a:xfrm>
            <a:off x="566928" y="1810512"/>
            <a:ext cx="1828800" cy="329184"/>
          </a:xfrm>
          <a:prstGeom prst="rect">
            <a:avLst/>
          </a:prstGeom>
          <a:noFill/>
          <a:ln/>
        </p:spPr>
        <p:txBody>
          <a:bodyPr wrap="square" lIns="0" tIns="0" rIns="0" bIns="0" rtlCol="0" anchor="t"/>
          <a:lstStyle/>
          <a:p>
            <a:pPr indent="0" marL="0">
              <a:buNone/>
            </a:pPr>
            <a:r>
              <a:rPr lang="en-US" sz="1100" b="1" dirty="0">
                <a:solidFill>
                  <a:srgbClr val="0F0F11"/>
                </a:solidFill>
                <a:latin typeface="Courier New" pitchFamily="34" charset="0"/>
                <a:ea typeface="Courier New" pitchFamily="34" charset="-122"/>
                <a:cs typeface="Courier New" pitchFamily="34" charset="-120"/>
              </a:rPr>
              <a:t>KYC</a:t>
            </a:r>
            <a:endParaRPr lang="en-US" sz="1100" dirty="0"/>
          </a:p>
        </p:txBody>
      </p:sp>
      <p:sp>
        <p:nvSpPr>
          <p:cNvPr id="9" name="Text 6"/>
          <p:cNvSpPr/>
          <p:nvPr/>
        </p:nvSpPr>
        <p:spPr>
          <a:xfrm>
            <a:off x="2441448" y="1837944"/>
            <a:ext cx="2286000" cy="274320"/>
          </a:xfrm>
          <a:prstGeom prst="rect">
            <a:avLst/>
          </a:prstGeom>
          <a:noFill/>
          <a:ln/>
        </p:spPr>
        <p:txBody>
          <a:bodyPr wrap="square" lIns="0" tIns="0" rIns="0" bIns="0" rtlCol="0" anchor="t"/>
          <a:lstStyle/>
          <a:p>
            <a:pPr indent="0" marL="0">
              <a:buNone/>
            </a:pPr>
            <a:r>
              <a:rPr lang="en-US" sz="900" dirty="0">
                <a:solidFill>
                  <a:srgbClr val="5638C9"/>
                </a:solidFill>
                <a:latin typeface="Courier New" pitchFamily="34" charset="0"/>
                <a:ea typeface="Courier New" pitchFamily="34" charset="-122"/>
                <a:cs typeface="Courier New" pitchFamily="34" charset="-120"/>
              </a:rPr>
              <a:t>Know Your Customer</a:t>
            </a:r>
            <a:endParaRPr lang="en-US" sz="900" dirty="0"/>
          </a:p>
        </p:txBody>
      </p:sp>
      <p:sp>
        <p:nvSpPr>
          <p:cNvPr id="10" name="Text 7"/>
          <p:cNvSpPr/>
          <p:nvPr/>
        </p:nvSpPr>
        <p:spPr>
          <a:xfrm>
            <a:off x="4818888" y="1783080"/>
            <a:ext cx="6805879" cy="530352"/>
          </a:xfrm>
          <a:prstGeom prst="rect">
            <a:avLst/>
          </a:prstGeom>
          <a:noFill/>
          <a:ln/>
        </p:spPr>
        <p:txBody>
          <a:bodyPr wrap="square" lIns="0" tIns="0" rIns="0" bIns="0" rtlCol="0" anchor="t"/>
          <a:lstStyle/>
          <a:p>
            <a:pPr indent="0" marL="0">
              <a:lnSpc>
                <a:spcPct val="124000"/>
              </a:lnSpc>
              <a:buNone/>
            </a:pPr>
            <a:r>
              <a:rPr lang="en-US" sz="1150" dirty="0">
                <a:solidFill>
                  <a:srgbClr val="3A3844"/>
                </a:solidFill>
                <a:latin typeface="Arial" pitchFamily="34" charset="0"/>
                <a:ea typeface="Arial" pitchFamily="34" charset="-122"/>
                <a:cs typeface="Arial" pitchFamily="34" charset="-120"/>
              </a:rPr>
              <a:t>«Conozca a su cliente». Obligación normativa de identificar y verificar la identidad de los usuarios de servicios financieros antes de operar con ellos.</a:t>
            </a:r>
            <a:endParaRPr lang="en-US" sz="1150" dirty="0"/>
          </a:p>
        </p:txBody>
      </p:sp>
      <p:sp>
        <p:nvSpPr>
          <p:cNvPr id="11" name="Shape 8"/>
          <p:cNvSpPr/>
          <p:nvPr/>
        </p:nvSpPr>
        <p:spPr>
          <a:xfrm>
            <a:off x="566928" y="1691640"/>
            <a:ext cx="11057839" cy="0"/>
          </a:xfrm>
          <a:prstGeom prst="line">
            <a:avLst/>
          </a:prstGeom>
          <a:noFill/>
          <a:ln w="12700">
            <a:solidFill>
              <a:srgbClr val="D9D6E0"/>
            </a:solidFill>
            <a:prstDash val="solid"/>
          </a:ln>
        </p:spPr>
      </p:sp>
      <p:sp>
        <p:nvSpPr>
          <p:cNvPr id="12" name="Text 9"/>
          <p:cNvSpPr/>
          <p:nvPr/>
        </p:nvSpPr>
        <p:spPr>
          <a:xfrm>
            <a:off x="566928" y="2414016"/>
            <a:ext cx="1828800" cy="329184"/>
          </a:xfrm>
          <a:prstGeom prst="rect">
            <a:avLst/>
          </a:prstGeom>
          <a:noFill/>
          <a:ln/>
        </p:spPr>
        <p:txBody>
          <a:bodyPr wrap="square" lIns="0" tIns="0" rIns="0" bIns="0" rtlCol="0" anchor="t"/>
          <a:lstStyle/>
          <a:p>
            <a:pPr indent="0" marL="0">
              <a:buNone/>
            </a:pPr>
            <a:r>
              <a:rPr lang="en-US" sz="1100" b="1" dirty="0">
                <a:solidFill>
                  <a:srgbClr val="0F0F11"/>
                </a:solidFill>
                <a:latin typeface="Courier New" pitchFamily="34" charset="0"/>
                <a:ea typeface="Courier New" pitchFamily="34" charset="-122"/>
                <a:cs typeface="Courier New" pitchFamily="34" charset="-120"/>
              </a:rPr>
              <a:t>Libro mayor</a:t>
            </a:r>
            <a:endParaRPr lang="en-US" sz="1100" dirty="0"/>
          </a:p>
        </p:txBody>
      </p:sp>
      <p:sp>
        <p:nvSpPr>
          <p:cNvPr id="13" name="Text 10"/>
          <p:cNvSpPr/>
          <p:nvPr/>
        </p:nvSpPr>
        <p:spPr>
          <a:xfrm>
            <a:off x="2441448" y="2441448"/>
            <a:ext cx="2286000" cy="274320"/>
          </a:xfrm>
          <a:prstGeom prst="rect">
            <a:avLst/>
          </a:prstGeom>
          <a:noFill/>
          <a:ln/>
        </p:spPr>
        <p:txBody>
          <a:bodyPr wrap="square" lIns="0" tIns="0" rIns="0" bIns="0" rtlCol="0" anchor="t"/>
          <a:lstStyle/>
          <a:p>
            <a:pPr indent="0" marL="0">
              <a:buNone/>
            </a:pPr>
            <a:r>
              <a:rPr lang="en-US" sz="900" dirty="0">
                <a:solidFill>
                  <a:srgbClr val="5638C9"/>
                </a:solidFill>
                <a:latin typeface="Courier New" pitchFamily="34" charset="0"/>
                <a:ea typeface="Courier New" pitchFamily="34" charset="-122"/>
                <a:cs typeface="Courier New" pitchFamily="34" charset="-120"/>
              </a:rPr>
              <a:t>ledger</a:t>
            </a:r>
            <a:endParaRPr lang="en-US" sz="900" dirty="0"/>
          </a:p>
        </p:txBody>
      </p:sp>
      <p:sp>
        <p:nvSpPr>
          <p:cNvPr id="14" name="Text 11"/>
          <p:cNvSpPr/>
          <p:nvPr/>
        </p:nvSpPr>
        <p:spPr>
          <a:xfrm>
            <a:off x="4818888" y="2386584"/>
            <a:ext cx="6805879" cy="530352"/>
          </a:xfrm>
          <a:prstGeom prst="rect">
            <a:avLst/>
          </a:prstGeom>
          <a:noFill/>
          <a:ln/>
        </p:spPr>
        <p:txBody>
          <a:bodyPr wrap="square" lIns="0" tIns="0" rIns="0" bIns="0" rtlCol="0" anchor="t"/>
          <a:lstStyle/>
          <a:p>
            <a:pPr indent="0" marL="0">
              <a:lnSpc>
                <a:spcPct val="124000"/>
              </a:lnSpc>
              <a:buNone/>
            </a:pPr>
            <a:r>
              <a:rPr lang="en-US" sz="1150" dirty="0">
                <a:solidFill>
                  <a:srgbClr val="3A3844"/>
                </a:solidFill>
                <a:latin typeface="Arial" pitchFamily="34" charset="0"/>
                <a:ea typeface="Arial" pitchFamily="34" charset="-122"/>
                <a:cs typeface="Arial" pitchFamily="34" charset="-120"/>
              </a:rPr>
              <a:t>Registro acumulativo y ordenado de transacciones del cual se derivan los saldos. El dinero moderno es, en lo esencial, una anotación en un libro mayor.</a:t>
            </a:r>
            <a:endParaRPr lang="en-US" sz="1150" dirty="0"/>
          </a:p>
        </p:txBody>
      </p:sp>
      <p:sp>
        <p:nvSpPr>
          <p:cNvPr id="15" name="Shape 12"/>
          <p:cNvSpPr/>
          <p:nvPr/>
        </p:nvSpPr>
        <p:spPr>
          <a:xfrm>
            <a:off x="566928" y="2295144"/>
            <a:ext cx="11057839" cy="0"/>
          </a:xfrm>
          <a:prstGeom prst="line">
            <a:avLst/>
          </a:prstGeom>
          <a:noFill/>
          <a:ln w="12700">
            <a:solidFill>
              <a:srgbClr val="D9D6E0"/>
            </a:solidFill>
            <a:prstDash val="solid"/>
          </a:ln>
        </p:spPr>
      </p:sp>
      <p:sp>
        <p:nvSpPr>
          <p:cNvPr id="16" name="Text 13"/>
          <p:cNvSpPr/>
          <p:nvPr/>
        </p:nvSpPr>
        <p:spPr>
          <a:xfrm>
            <a:off x="566928" y="3017520"/>
            <a:ext cx="1828800" cy="329184"/>
          </a:xfrm>
          <a:prstGeom prst="rect">
            <a:avLst/>
          </a:prstGeom>
          <a:noFill/>
          <a:ln/>
        </p:spPr>
        <p:txBody>
          <a:bodyPr wrap="square" lIns="0" tIns="0" rIns="0" bIns="0" rtlCol="0" anchor="t"/>
          <a:lstStyle/>
          <a:p>
            <a:pPr indent="0" marL="0">
              <a:buNone/>
            </a:pPr>
            <a:r>
              <a:rPr lang="en-US" sz="1100" b="1" dirty="0">
                <a:solidFill>
                  <a:srgbClr val="0F0F11"/>
                </a:solidFill>
                <a:latin typeface="Courier New" pitchFamily="34" charset="0"/>
                <a:ea typeface="Courier New" pitchFamily="34" charset="-122"/>
                <a:cs typeface="Courier New" pitchFamily="34" charset="-120"/>
              </a:rPr>
              <a:t>MEV</a:t>
            </a:r>
            <a:endParaRPr lang="en-US" sz="1100" dirty="0"/>
          </a:p>
        </p:txBody>
      </p:sp>
      <p:sp>
        <p:nvSpPr>
          <p:cNvPr id="17" name="Text 14"/>
          <p:cNvSpPr/>
          <p:nvPr/>
        </p:nvSpPr>
        <p:spPr>
          <a:xfrm>
            <a:off x="2441448" y="3044952"/>
            <a:ext cx="2286000" cy="274320"/>
          </a:xfrm>
          <a:prstGeom prst="rect">
            <a:avLst/>
          </a:prstGeom>
          <a:noFill/>
          <a:ln/>
        </p:spPr>
        <p:txBody>
          <a:bodyPr wrap="square" lIns="0" tIns="0" rIns="0" bIns="0" rtlCol="0" anchor="t"/>
          <a:lstStyle/>
          <a:p>
            <a:pPr indent="0" marL="0">
              <a:buNone/>
            </a:pPr>
            <a:r>
              <a:rPr lang="en-US" sz="900" dirty="0">
                <a:solidFill>
                  <a:srgbClr val="5638C9"/>
                </a:solidFill>
                <a:latin typeface="Courier New" pitchFamily="34" charset="0"/>
                <a:ea typeface="Courier New" pitchFamily="34" charset="-122"/>
                <a:cs typeface="Courier New" pitchFamily="34" charset="-120"/>
              </a:rPr>
              <a:t>Maximal Extractable Value</a:t>
            </a:r>
            <a:endParaRPr lang="en-US" sz="900" dirty="0"/>
          </a:p>
        </p:txBody>
      </p:sp>
      <p:sp>
        <p:nvSpPr>
          <p:cNvPr id="18" name="Text 15"/>
          <p:cNvSpPr/>
          <p:nvPr/>
        </p:nvSpPr>
        <p:spPr>
          <a:xfrm>
            <a:off x="4818888" y="2990088"/>
            <a:ext cx="6805879" cy="530352"/>
          </a:xfrm>
          <a:prstGeom prst="rect">
            <a:avLst/>
          </a:prstGeom>
          <a:noFill/>
          <a:ln/>
        </p:spPr>
        <p:txBody>
          <a:bodyPr wrap="square" lIns="0" tIns="0" rIns="0" bIns="0" rtlCol="0" anchor="t"/>
          <a:lstStyle/>
          <a:p>
            <a:pPr indent="0" marL="0">
              <a:lnSpc>
                <a:spcPct val="124000"/>
              </a:lnSpc>
              <a:buNone/>
            </a:pPr>
            <a:r>
              <a:rPr lang="en-US" sz="1150" dirty="0">
                <a:solidFill>
                  <a:srgbClr val="3A3844"/>
                </a:solidFill>
                <a:latin typeface="Arial" pitchFamily="34" charset="0"/>
                <a:ea typeface="Arial" pitchFamily="34" charset="-122"/>
                <a:cs typeface="Arial" pitchFamily="34" charset="-120"/>
              </a:rPr>
              <a:t>Valor máximo extraíble. Beneficio que un productor de bloques obtiene incluyendo, excluyendo o reordenando transacciones. Es una consecuencia estructural de que alguien deba decidir el orden, no un fallo.</a:t>
            </a:r>
            <a:endParaRPr lang="en-US" sz="1150" dirty="0"/>
          </a:p>
        </p:txBody>
      </p:sp>
      <p:sp>
        <p:nvSpPr>
          <p:cNvPr id="19" name="Shape 16"/>
          <p:cNvSpPr/>
          <p:nvPr/>
        </p:nvSpPr>
        <p:spPr>
          <a:xfrm>
            <a:off x="566928" y="2898648"/>
            <a:ext cx="11057839" cy="0"/>
          </a:xfrm>
          <a:prstGeom prst="line">
            <a:avLst/>
          </a:prstGeom>
          <a:noFill/>
          <a:ln w="12700">
            <a:solidFill>
              <a:srgbClr val="D9D6E0"/>
            </a:solidFill>
            <a:prstDash val="solid"/>
          </a:ln>
        </p:spPr>
      </p:sp>
      <p:sp>
        <p:nvSpPr>
          <p:cNvPr id="20" name="Text 17"/>
          <p:cNvSpPr/>
          <p:nvPr/>
        </p:nvSpPr>
        <p:spPr>
          <a:xfrm>
            <a:off x="566928" y="3621024"/>
            <a:ext cx="1828800" cy="329184"/>
          </a:xfrm>
          <a:prstGeom prst="rect">
            <a:avLst/>
          </a:prstGeom>
          <a:noFill/>
          <a:ln/>
        </p:spPr>
        <p:txBody>
          <a:bodyPr wrap="square" lIns="0" tIns="0" rIns="0" bIns="0" rtlCol="0" anchor="t"/>
          <a:lstStyle/>
          <a:p>
            <a:pPr indent="0" marL="0">
              <a:buNone/>
            </a:pPr>
            <a:r>
              <a:rPr lang="en-US" sz="1100" b="1" dirty="0">
                <a:solidFill>
                  <a:srgbClr val="0F0F11"/>
                </a:solidFill>
                <a:latin typeface="Courier New" pitchFamily="34" charset="0"/>
                <a:ea typeface="Courier New" pitchFamily="34" charset="-122"/>
                <a:cs typeface="Courier New" pitchFamily="34" charset="-120"/>
              </a:rPr>
              <a:t>Minado</a:t>
            </a:r>
            <a:endParaRPr lang="en-US" sz="1100" dirty="0"/>
          </a:p>
        </p:txBody>
      </p:sp>
      <p:sp>
        <p:nvSpPr>
          <p:cNvPr id="21" name="Text 18"/>
          <p:cNvSpPr/>
          <p:nvPr/>
        </p:nvSpPr>
        <p:spPr>
          <a:xfrm>
            <a:off x="2441448" y="3648456"/>
            <a:ext cx="2286000" cy="274320"/>
          </a:xfrm>
          <a:prstGeom prst="rect">
            <a:avLst/>
          </a:prstGeom>
          <a:noFill/>
          <a:ln/>
        </p:spPr>
        <p:txBody>
          <a:bodyPr wrap="square" lIns="0" tIns="0" rIns="0" bIns="0" rtlCol="0" anchor="t"/>
          <a:lstStyle/>
          <a:p>
            <a:pPr indent="0" marL="0">
              <a:buNone/>
            </a:pPr>
            <a:r>
              <a:rPr lang="en-US" sz="900" dirty="0">
                <a:solidFill>
                  <a:srgbClr val="5638C9"/>
                </a:solidFill>
                <a:latin typeface="Courier New" pitchFamily="34" charset="0"/>
                <a:ea typeface="Courier New" pitchFamily="34" charset="-122"/>
                <a:cs typeface="Courier New" pitchFamily="34" charset="-120"/>
              </a:rPr>
              <a:t>mining</a:t>
            </a:r>
            <a:endParaRPr lang="en-US" sz="900" dirty="0"/>
          </a:p>
        </p:txBody>
      </p:sp>
      <p:sp>
        <p:nvSpPr>
          <p:cNvPr id="22" name="Text 19"/>
          <p:cNvSpPr/>
          <p:nvPr/>
        </p:nvSpPr>
        <p:spPr>
          <a:xfrm>
            <a:off x="4818888" y="3593592"/>
            <a:ext cx="6805879" cy="530352"/>
          </a:xfrm>
          <a:prstGeom prst="rect">
            <a:avLst/>
          </a:prstGeom>
          <a:noFill/>
          <a:ln/>
        </p:spPr>
        <p:txBody>
          <a:bodyPr wrap="square" lIns="0" tIns="0" rIns="0" bIns="0" rtlCol="0" anchor="t"/>
          <a:lstStyle/>
          <a:p>
            <a:pPr indent="0" marL="0">
              <a:lnSpc>
                <a:spcPct val="124000"/>
              </a:lnSpc>
              <a:buNone/>
            </a:pPr>
            <a:r>
              <a:rPr lang="en-US" sz="1150" dirty="0">
                <a:solidFill>
                  <a:srgbClr val="3A3844"/>
                </a:solidFill>
                <a:latin typeface="Arial" pitchFamily="34" charset="0"/>
                <a:ea typeface="Arial" pitchFamily="34" charset="-122"/>
                <a:cs typeface="Arial" pitchFamily="34" charset="-120"/>
              </a:rPr>
              <a:t>Proceso de buscar por fuerza bruta un valor que haga que el hash de un bloque cumpla la condición de dificultad, obteniendo el derecho a proponerlo y la recompensa asociada.</a:t>
            </a:r>
            <a:endParaRPr lang="en-US" sz="1150" dirty="0"/>
          </a:p>
        </p:txBody>
      </p:sp>
      <p:sp>
        <p:nvSpPr>
          <p:cNvPr id="23" name="Shape 20"/>
          <p:cNvSpPr/>
          <p:nvPr/>
        </p:nvSpPr>
        <p:spPr>
          <a:xfrm>
            <a:off x="566928" y="3502152"/>
            <a:ext cx="11057839" cy="0"/>
          </a:xfrm>
          <a:prstGeom prst="line">
            <a:avLst/>
          </a:prstGeom>
          <a:noFill/>
          <a:ln w="12700">
            <a:solidFill>
              <a:srgbClr val="D9D6E0"/>
            </a:solidFill>
            <a:prstDash val="solid"/>
          </a:ln>
        </p:spPr>
      </p:sp>
      <p:sp>
        <p:nvSpPr>
          <p:cNvPr id="24" name="Text 21"/>
          <p:cNvSpPr/>
          <p:nvPr/>
        </p:nvSpPr>
        <p:spPr>
          <a:xfrm>
            <a:off x="566928" y="4224528"/>
            <a:ext cx="1828800" cy="329184"/>
          </a:xfrm>
          <a:prstGeom prst="rect">
            <a:avLst/>
          </a:prstGeom>
          <a:noFill/>
          <a:ln/>
        </p:spPr>
        <p:txBody>
          <a:bodyPr wrap="square" lIns="0" tIns="0" rIns="0" bIns="0" rtlCol="0" anchor="t"/>
          <a:lstStyle/>
          <a:p>
            <a:pPr indent="0" marL="0">
              <a:buNone/>
            </a:pPr>
            <a:r>
              <a:rPr lang="en-US" sz="1100" b="1" dirty="0">
                <a:solidFill>
                  <a:srgbClr val="0F0F11"/>
                </a:solidFill>
                <a:latin typeface="Courier New" pitchFamily="34" charset="0"/>
                <a:ea typeface="Courier New" pitchFamily="34" charset="-122"/>
                <a:cs typeface="Courier New" pitchFamily="34" charset="-120"/>
              </a:rPr>
              <a:t>Moneda estable</a:t>
            </a:r>
            <a:endParaRPr lang="en-US" sz="1100" dirty="0"/>
          </a:p>
        </p:txBody>
      </p:sp>
      <p:sp>
        <p:nvSpPr>
          <p:cNvPr id="25" name="Text 22"/>
          <p:cNvSpPr/>
          <p:nvPr/>
        </p:nvSpPr>
        <p:spPr>
          <a:xfrm>
            <a:off x="2441448" y="4251960"/>
            <a:ext cx="2286000" cy="274320"/>
          </a:xfrm>
          <a:prstGeom prst="rect">
            <a:avLst/>
          </a:prstGeom>
          <a:noFill/>
          <a:ln/>
        </p:spPr>
        <p:txBody>
          <a:bodyPr wrap="square" lIns="0" tIns="0" rIns="0" bIns="0" rtlCol="0" anchor="t"/>
          <a:lstStyle/>
          <a:p>
            <a:pPr indent="0" marL="0">
              <a:buNone/>
            </a:pPr>
            <a:r>
              <a:rPr lang="en-US" sz="900" dirty="0">
                <a:solidFill>
                  <a:srgbClr val="5638C9"/>
                </a:solidFill>
                <a:latin typeface="Courier New" pitchFamily="34" charset="0"/>
                <a:ea typeface="Courier New" pitchFamily="34" charset="-122"/>
                <a:cs typeface="Courier New" pitchFamily="34" charset="-120"/>
              </a:rPr>
              <a:t>stablecoin</a:t>
            </a:r>
            <a:endParaRPr lang="en-US" sz="900" dirty="0"/>
          </a:p>
        </p:txBody>
      </p:sp>
      <p:sp>
        <p:nvSpPr>
          <p:cNvPr id="26" name="Text 23"/>
          <p:cNvSpPr/>
          <p:nvPr/>
        </p:nvSpPr>
        <p:spPr>
          <a:xfrm>
            <a:off x="4818888" y="4197096"/>
            <a:ext cx="6805879" cy="530352"/>
          </a:xfrm>
          <a:prstGeom prst="rect">
            <a:avLst/>
          </a:prstGeom>
          <a:noFill/>
          <a:ln/>
        </p:spPr>
        <p:txBody>
          <a:bodyPr wrap="square" lIns="0" tIns="0" rIns="0" bIns="0" rtlCol="0" anchor="t"/>
          <a:lstStyle/>
          <a:p>
            <a:pPr indent="0" marL="0">
              <a:lnSpc>
                <a:spcPct val="124000"/>
              </a:lnSpc>
              <a:buNone/>
            </a:pPr>
            <a:r>
              <a:rPr lang="en-US" sz="1150" dirty="0">
                <a:solidFill>
                  <a:srgbClr val="3A3844"/>
                </a:solidFill>
                <a:latin typeface="Arial" pitchFamily="34" charset="0"/>
                <a:ea typeface="Arial" pitchFamily="34" charset="-122"/>
                <a:cs typeface="Arial" pitchFamily="34" charset="-120"/>
              </a:rPr>
              <a:t>Criptoactivo diseñado para mantener un valor estable frente a una referencia externa. Es el caso de uso con adopción sostenida más medible, sobre todo en pagos transfronterizos.</a:t>
            </a:r>
            <a:endParaRPr lang="en-US" sz="1150" dirty="0"/>
          </a:p>
        </p:txBody>
      </p:sp>
      <p:sp>
        <p:nvSpPr>
          <p:cNvPr id="27" name="Shape 24"/>
          <p:cNvSpPr/>
          <p:nvPr/>
        </p:nvSpPr>
        <p:spPr>
          <a:xfrm>
            <a:off x="566928" y="4105656"/>
            <a:ext cx="11057839" cy="0"/>
          </a:xfrm>
          <a:prstGeom prst="line">
            <a:avLst/>
          </a:prstGeom>
          <a:noFill/>
          <a:ln w="12700">
            <a:solidFill>
              <a:srgbClr val="D9D6E0"/>
            </a:solidFill>
            <a:prstDash val="solid"/>
          </a:ln>
        </p:spPr>
      </p:sp>
      <p:sp>
        <p:nvSpPr>
          <p:cNvPr id="28" name="Text 25"/>
          <p:cNvSpPr/>
          <p:nvPr/>
        </p:nvSpPr>
        <p:spPr>
          <a:xfrm>
            <a:off x="566928" y="4828032"/>
            <a:ext cx="1828800" cy="329184"/>
          </a:xfrm>
          <a:prstGeom prst="rect">
            <a:avLst/>
          </a:prstGeom>
          <a:noFill/>
          <a:ln/>
        </p:spPr>
        <p:txBody>
          <a:bodyPr wrap="square" lIns="0" tIns="0" rIns="0" bIns="0" rtlCol="0" anchor="t"/>
          <a:lstStyle/>
          <a:p>
            <a:pPr indent="0" marL="0">
              <a:buNone/>
            </a:pPr>
            <a:r>
              <a:rPr lang="en-US" sz="1100" b="1" dirty="0">
                <a:solidFill>
                  <a:srgbClr val="0F0F11"/>
                </a:solidFill>
                <a:latin typeface="Courier New" pitchFamily="34" charset="0"/>
                <a:ea typeface="Courier New" pitchFamily="34" charset="-122"/>
                <a:cs typeface="Courier New" pitchFamily="34" charset="-120"/>
              </a:rPr>
              <a:t>Nodo</a:t>
            </a:r>
            <a:endParaRPr lang="en-US" sz="1100" dirty="0"/>
          </a:p>
        </p:txBody>
      </p:sp>
      <p:sp>
        <p:nvSpPr>
          <p:cNvPr id="29" name="Text 26"/>
          <p:cNvSpPr/>
          <p:nvPr/>
        </p:nvSpPr>
        <p:spPr>
          <a:xfrm>
            <a:off x="4818888" y="4800600"/>
            <a:ext cx="6805879" cy="530352"/>
          </a:xfrm>
          <a:prstGeom prst="rect">
            <a:avLst/>
          </a:prstGeom>
          <a:noFill/>
          <a:ln/>
        </p:spPr>
        <p:txBody>
          <a:bodyPr wrap="square" lIns="0" tIns="0" rIns="0" bIns="0" rtlCol="0" anchor="t"/>
          <a:lstStyle/>
          <a:p>
            <a:pPr indent="0" marL="0">
              <a:lnSpc>
                <a:spcPct val="124000"/>
              </a:lnSpc>
              <a:buNone/>
            </a:pPr>
            <a:r>
              <a:rPr lang="en-US" sz="1150" dirty="0">
                <a:solidFill>
                  <a:srgbClr val="3A3844"/>
                </a:solidFill>
                <a:latin typeface="Arial" pitchFamily="34" charset="0"/>
                <a:ea typeface="Arial" pitchFamily="34" charset="-122"/>
                <a:cs typeface="Arial" pitchFamily="34" charset="-120"/>
              </a:rPr>
              <a:t>Computador que ejecuta el software del protocolo, mantiene una copia del libro mayor y valida de forma independiente las transacciones y bloques que recibe.</a:t>
            </a:r>
            <a:endParaRPr lang="en-US" sz="1150" dirty="0"/>
          </a:p>
        </p:txBody>
      </p:sp>
      <p:sp>
        <p:nvSpPr>
          <p:cNvPr id="30" name="Shape 27"/>
          <p:cNvSpPr/>
          <p:nvPr/>
        </p:nvSpPr>
        <p:spPr>
          <a:xfrm>
            <a:off x="566928" y="4709160"/>
            <a:ext cx="11057839" cy="0"/>
          </a:xfrm>
          <a:prstGeom prst="line">
            <a:avLst/>
          </a:prstGeom>
          <a:noFill/>
          <a:ln w="12700">
            <a:solidFill>
              <a:srgbClr val="D9D6E0"/>
            </a:solidFill>
            <a:prstDash val="solid"/>
          </a:ln>
        </p:spPr>
      </p:sp>
      <p:sp>
        <p:nvSpPr>
          <p:cNvPr id="31" name="Text 28"/>
          <p:cNvSpPr/>
          <p:nvPr/>
        </p:nvSpPr>
        <p:spPr>
          <a:xfrm>
            <a:off x="566928" y="5431536"/>
            <a:ext cx="1828800" cy="329184"/>
          </a:xfrm>
          <a:prstGeom prst="rect">
            <a:avLst/>
          </a:prstGeom>
          <a:noFill/>
          <a:ln/>
        </p:spPr>
        <p:txBody>
          <a:bodyPr wrap="square" lIns="0" tIns="0" rIns="0" bIns="0" rtlCol="0" anchor="t"/>
          <a:lstStyle/>
          <a:p>
            <a:pPr indent="0" marL="0">
              <a:buNone/>
            </a:pPr>
            <a:r>
              <a:rPr lang="en-US" sz="1100" b="1" dirty="0">
                <a:solidFill>
                  <a:srgbClr val="0F0F11"/>
                </a:solidFill>
                <a:latin typeface="Courier New" pitchFamily="34" charset="0"/>
                <a:ea typeface="Courier New" pitchFamily="34" charset="-122"/>
                <a:cs typeface="Courier New" pitchFamily="34" charset="-120"/>
              </a:rPr>
              <a:t>Nodo completo</a:t>
            </a:r>
            <a:endParaRPr lang="en-US" sz="1100" dirty="0"/>
          </a:p>
        </p:txBody>
      </p:sp>
      <p:sp>
        <p:nvSpPr>
          <p:cNvPr id="32" name="Text 29"/>
          <p:cNvSpPr/>
          <p:nvPr/>
        </p:nvSpPr>
        <p:spPr>
          <a:xfrm>
            <a:off x="2441448" y="5458968"/>
            <a:ext cx="2286000" cy="274320"/>
          </a:xfrm>
          <a:prstGeom prst="rect">
            <a:avLst/>
          </a:prstGeom>
          <a:noFill/>
          <a:ln/>
        </p:spPr>
        <p:txBody>
          <a:bodyPr wrap="square" lIns="0" tIns="0" rIns="0" bIns="0" rtlCol="0" anchor="t"/>
          <a:lstStyle/>
          <a:p>
            <a:pPr indent="0" marL="0">
              <a:buNone/>
            </a:pPr>
            <a:r>
              <a:rPr lang="en-US" sz="900" dirty="0">
                <a:solidFill>
                  <a:srgbClr val="5638C9"/>
                </a:solidFill>
                <a:latin typeface="Courier New" pitchFamily="34" charset="0"/>
                <a:ea typeface="Courier New" pitchFamily="34" charset="-122"/>
                <a:cs typeface="Courier New" pitchFamily="34" charset="-120"/>
              </a:rPr>
              <a:t>full node</a:t>
            </a:r>
            <a:endParaRPr lang="en-US" sz="900" dirty="0"/>
          </a:p>
        </p:txBody>
      </p:sp>
      <p:sp>
        <p:nvSpPr>
          <p:cNvPr id="33" name="Text 30"/>
          <p:cNvSpPr/>
          <p:nvPr/>
        </p:nvSpPr>
        <p:spPr>
          <a:xfrm>
            <a:off x="4818888" y="5404104"/>
            <a:ext cx="6805879" cy="530352"/>
          </a:xfrm>
          <a:prstGeom prst="rect">
            <a:avLst/>
          </a:prstGeom>
          <a:noFill/>
          <a:ln/>
        </p:spPr>
        <p:txBody>
          <a:bodyPr wrap="square" lIns="0" tIns="0" rIns="0" bIns="0" rtlCol="0" anchor="t"/>
          <a:lstStyle/>
          <a:p>
            <a:pPr indent="0" marL="0">
              <a:lnSpc>
                <a:spcPct val="124000"/>
              </a:lnSpc>
              <a:buNone/>
            </a:pPr>
            <a:r>
              <a:rPr lang="en-US" sz="1150" dirty="0">
                <a:solidFill>
                  <a:srgbClr val="3A3844"/>
                </a:solidFill>
                <a:latin typeface="Arial" pitchFamily="34" charset="0"/>
                <a:ea typeface="Arial" pitchFamily="34" charset="-122"/>
                <a:cs typeface="Arial" pitchFamily="34" charset="-120"/>
              </a:rPr>
              <a:t>Nodo que descarga y verifica por sí mismo todos los bloques, sin confiar en nadie. Su poder es rechazar: un bloque inválido no se propaga.</a:t>
            </a:r>
            <a:endParaRPr lang="en-US" sz="1150" dirty="0"/>
          </a:p>
        </p:txBody>
      </p:sp>
      <p:sp>
        <p:nvSpPr>
          <p:cNvPr id="34" name="Shape 31"/>
          <p:cNvSpPr/>
          <p:nvPr/>
        </p:nvSpPr>
        <p:spPr>
          <a:xfrm>
            <a:off x="566928" y="5312664"/>
            <a:ext cx="11057839" cy="0"/>
          </a:xfrm>
          <a:prstGeom prst="line">
            <a:avLst/>
          </a:prstGeom>
          <a:noFill/>
          <a:ln w="12700">
            <a:solidFill>
              <a:srgbClr val="D9D6E0"/>
            </a:solidFill>
            <a:prstDash val="solid"/>
          </a:ln>
        </p:spPr>
      </p:sp>
      <p:sp>
        <p:nvSpPr>
          <p:cNvPr id="35" name="Shape 32"/>
          <p:cNvSpPr/>
          <p:nvPr/>
        </p:nvSpPr>
        <p:spPr>
          <a:xfrm>
            <a:off x="566928" y="5916168"/>
            <a:ext cx="11057839" cy="0"/>
          </a:xfrm>
          <a:prstGeom prst="line">
            <a:avLst/>
          </a:prstGeom>
          <a:noFill/>
          <a:ln w="12700">
            <a:solidFill>
              <a:srgbClr val="D9D6E0"/>
            </a:solidFill>
            <a:prstDash val="solid"/>
          </a:ln>
        </p:spPr>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ANEXO II · GLOSARIO ACUMULATIVO · 4 DE 6</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GLOSARIO · CONTINUACIÓN</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01 · ¿QUÉ PROBLEMA RESUELVE REALMENTE BLOCKCHAIN?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62</a:t>
            </a:r>
            <a:endParaRPr lang="en-US" sz="900" dirty="0"/>
          </a:p>
        </p:txBody>
      </p:sp>
      <p:sp>
        <p:nvSpPr>
          <p:cNvPr id="8" name="Text 5"/>
          <p:cNvSpPr/>
          <p:nvPr/>
        </p:nvSpPr>
        <p:spPr>
          <a:xfrm>
            <a:off x="566928" y="1810512"/>
            <a:ext cx="1828800" cy="329184"/>
          </a:xfrm>
          <a:prstGeom prst="rect">
            <a:avLst/>
          </a:prstGeom>
          <a:noFill/>
          <a:ln/>
        </p:spPr>
        <p:txBody>
          <a:bodyPr wrap="square" lIns="0" tIns="0" rIns="0" bIns="0" rtlCol="0" anchor="t"/>
          <a:lstStyle/>
          <a:p>
            <a:pPr indent="0" marL="0">
              <a:buNone/>
            </a:pPr>
            <a:r>
              <a:rPr lang="en-US" sz="1100" b="1" dirty="0">
                <a:solidFill>
                  <a:srgbClr val="0F0F11"/>
                </a:solidFill>
                <a:latin typeface="Courier New" pitchFamily="34" charset="0"/>
                <a:ea typeface="Courier New" pitchFamily="34" charset="-122"/>
                <a:cs typeface="Courier New" pitchFamily="34" charset="-120"/>
              </a:rPr>
              <a:t>Nodo ligero</a:t>
            </a:r>
            <a:endParaRPr lang="en-US" sz="1100" dirty="0"/>
          </a:p>
        </p:txBody>
      </p:sp>
      <p:sp>
        <p:nvSpPr>
          <p:cNvPr id="9" name="Text 6"/>
          <p:cNvSpPr/>
          <p:nvPr/>
        </p:nvSpPr>
        <p:spPr>
          <a:xfrm>
            <a:off x="2441448" y="1837944"/>
            <a:ext cx="2286000" cy="274320"/>
          </a:xfrm>
          <a:prstGeom prst="rect">
            <a:avLst/>
          </a:prstGeom>
          <a:noFill/>
          <a:ln/>
        </p:spPr>
        <p:txBody>
          <a:bodyPr wrap="square" lIns="0" tIns="0" rIns="0" bIns="0" rtlCol="0" anchor="t"/>
          <a:lstStyle/>
          <a:p>
            <a:pPr indent="0" marL="0">
              <a:buNone/>
            </a:pPr>
            <a:r>
              <a:rPr lang="en-US" sz="900" dirty="0">
                <a:solidFill>
                  <a:srgbClr val="5638C9"/>
                </a:solidFill>
                <a:latin typeface="Courier New" pitchFamily="34" charset="0"/>
                <a:ea typeface="Courier New" pitchFamily="34" charset="-122"/>
                <a:cs typeface="Courier New" pitchFamily="34" charset="-120"/>
              </a:rPr>
              <a:t>light client</a:t>
            </a:r>
            <a:endParaRPr lang="en-US" sz="900" dirty="0"/>
          </a:p>
        </p:txBody>
      </p:sp>
      <p:sp>
        <p:nvSpPr>
          <p:cNvPr id="10" name="Text 7"/>
          <p:cNvSpPr/>
          <p:nvPr/>
        </p:nvSpPr>
        <p:spPr>
          <a:xfrm>
            <a:off x="4818888" y="1783080"/>
            <a:ext cx="6805879" cy="530352"/>
          </a:xfrm>
          <a:prstGeom prst="rect">
            <a:avLst/>
          </a:prstGeom>
          <a:noFill/>
          <a:ln/>
        </p:spPr>
        <p:txBody>
          <a:bodyPr wrap="square" lIns="0" tIns="0" rIns="0" bIns="0" rtlCol="0" anchor="t"/>
          <a:lstStyle/>
          <a:p>
            <a:pPr indent="0" marL="0">
              <a:lnSpc>
                <a:spcPct val="124000"/>
              </a:lnSpc>
              <a:buNone/>
            </a:pPr>
            <a:r>
              <a:rPr lang="en-US" sz="1150" dirty="0">
                <a:solidFill>
                  <a:srgbClr val="3A3844"/>
                </a:solidFill>
                <a:latin typeface="Arial" pitchFamily="34" charset="0"/>
                <a:ea typeface="Arial" pitchFamily="34" charset="-122"/>
                <a:cs typeface="Arial" pitchFamily="34" charset="-120"/>
              </a:rPr>
              <a:t>Programa que no verifica toda la cadena, sino que consulta a otros nodos. Toda billetera de navegador o teléfono lo es.</a:t>
            </a:r>
            <a:endParaRPr lang="en-US" sz="1150" dirty="0"/>
          </a:p>
        </p:txBody>
      </p:sp>
      <p:sp>
        <p:nvSpPr>
          <p:cNvPr id="11" name="Shape 8"/>
          <p:cNvSpPr/>
          <p:nvPr/>
        </p:nvSpPr>
        <p:spPr>
          <a:xfrm>
            <a:off x="566928" y="1691640"/>
            <a:ext cx="11057839" cy="0"/>
          </a:xfrm>
          <a:prstGeom prst="line">
            <a:avLst/>
          </a:prstGeom>
          <a:noFill/>
          <a:ln w="12700">
            <a:solidFill>
              <a:srgbClr val="D9D6E0"/>
            </a:solidFill>
            <a:prstDash val="solid"/>
          </a:ln>
        </p:spPr>
      </p:sp>
      <p:sp>
        <p:nvSpPr>
          <p:cNvPr id="12" name="Text 9"/>
          <p:cNvSpPr/>
          <p:nvPr/>
        </p:nvSpPr>
        <p:spPr>
          <a:xfrm>
            <a:off x="566928" y="2414016"/>
            <a:ext cx="1828800" cy="329184"/>
          </a:xfrm>
          <a:prstGeom prst="rect">
            <a:avLst/>
          </a:prstGeom>
          <a:noFill/>
          <a:ln/>
        </p:spPr>
        <p:txBody>
          <a:bodyPr wrap="square" lIns="0" tIns="0" rIns="0" bIns="0" rtlCol="0" anchor="t"/>
          <a:lstStyle/>
          <a:p>
            <a:pPr indent="0" marL="0">
              <a:buNone/>
            </a:pPr>
            <a:r>
              <a:rPr lang="en-US" sz="1100" b="1" dirty="0">
                <a:solidFill>
                  <a:srgbClr val="0F0F11"/>
                </a:solidFill>
                <a:latin typeface="Courier New" pitchFamily="34" charset="0"/>
                <a:ea typeface="Courier New" pitchFamily="34" charset="-122"/>
                <a:cs typeface="Courier New" pitchFamily="34" charset="-120"/>
              </a:rPr>
              <a:t>Nonce</a:t>
            </a:r>
            <a:endParaRPr lang="en-US" sz="1100" dirty="0"/>
          </a:p>
        </p:txBody>
      </p:sp>
      <p:sp>
        <p:nvSpPr>
          <p:cNvPr id="13" name="Text 10"/>
          <p:cNvSpPr/>
          <p:nvPr/>
        </p:nvSpPr>
        <p:spPr>
          <a:xfrm>
            <a:off x="2441448" y="2441448"/>
            <a:ext cx="2286000" cy="274320"/>
          </a:xfrm>
          <a:prstGeom prst="rect">
            <a:avLst/>
          </a:prstGeom>
          <a:noFill/>
          <a:ln/>
        </p:spPr>
        <p:txBody>
          <a:bodyPr wrap="square" lIns="0" tIns="0" rIns="0" bIns="0" rtlCol="0" anchor="t"/>
          <a:lstStyle/>
          <a:p>
            <a:pPr indent="0" marL="0">
              <a:buNone/>
            </a:pPr>
            <a:r>
              <a:rPr lang="en-US" sz="900" dirty="0">
                <a:solidFill>
                  <a:srgbClr val="5638C9"/>
                </a:solidFill>
                <a:latin typeface="Courier New" pitchFamily="34" charset="0"/>
                <a:ea typeface="Courier New" pitchFamily="34" charset="-122"/>
                <a:cs typeface="Courier New" pitchFamily="34" charset="-120"/>
              </a:rPr>
              <a:t>number used once</a:t>
            </a:r>
            <a:endParaRPr lang="en-US" sz="900" dirty="0"/>
          </a:p>
        </p:txBody>
      </p:sp>
      <p:sp>
        <p:nvSpPr>
          <p:cNvPr id="14" name="Text 11"/>
          <p:cNvSpPr/>
          <p:nvPr/>
        </p:nvSpPr>
        <p:spPr>
          <a:xfrm>
            <a:off x="4818888" y="2386584"/>
            <a:ext cx="6805879" cy="530352"/>
          </a:xfrm>
          <a:prstGeom prst="rect">
            <a:avLst/>
          </a:prstGeom>
          <a:noFill/>
          <a:ln/>
        </p:spPr>
        <p:txBody>
          <a:bodyPr wrap="square" lIns="0" tIns="0" rIns="0" bIns="0" rtlCol="0" anchor="t"/>
          <a:lstStyle/>
          <a:p>
            <a:pPr indent="0" marL="0">
              <a:lnSpc>
                <a:spcPct val="124000"/>
              </a:lnSpc>
              <a:buNone/>
            </a:pPr>
            <a:r>
              <a:rPr lang="en-US" sz="1150" dirty="0">
                <a:solidFill>
                  <a:srgbClr val="3A3844"/>
                </a:solidFill>
                <a:latin typeface="Arial" pitchFamily="34" charset="0"/>
                <a:ea typeface="Arial" pitchFamily="34" charset="-122"/>
                <a:cs typeface="Arial" pitchFamily="34" charset="-120"/>
              </a:rPr>
              <a:t>Dos sentidos. En el minado: campo variable de la cabecera que se recorre por fuerza bruta. En una cuenta de Ethereum: contador de transacciones emitidas, que impide la reutilización y fija el orden.</a:t>
            </a:r>
            <a:endParaRPr lang="en-US" sz="1150" dirty="0"/>
          </a:p>
        </p:txBody>
      </p:sp>
      <p:sp>
        <p:nvSpPr>
          <p:cNvPr id="15" name="Shape 12"/>
          <p:cNvSpPr/>
          <p:nvPr/>
        </p:nvSpPr>
        <p:spPr>
          <a:xfrm>
            <a:off x="566928" y="2295144"/>
            <a:ext cx="11057839" cy="0"/>
          </a:xfrm>
          <a:prstGeom prst="line">
            <a:avLst/>
          </a:prstGeom>
          <a:noFill/>
          <a:ln w="12700">
            <a:solidFill>
              <a:srgbClr val="D9D6E0"/>
            </a:solidFill>
            <a:prstDash val="solid"/>
          </a:ln>
        </p:spPr>
      </p:sp>
      <p:sp>
        <p:nvSpPr>
          <p:cNvPr id="16" name="Text 13"/>
          <p:cNvSpPr/>
          <p:nvPr/>
        </p:nvSpPr>
        <p:spPr>
          <a:xfrm>
            <a:off x="566928" y="3017520"/>
            <a:ext cx="1828800" cy="329184"/>
          </a:xfrm>
          <a:prstGeom prst="rect">
            <a:avLst/>
          </a:prstGeom>
          <a:noFill/>
          <a:ln/>
        </p:spPr>
        <p:txBody>
          <a:bodyPr wrap="square" lIns="0" tIns="0" rIns="0" bIns="0" rtlCol="0" anchor="t"/>
          <a:lstStyle/>
          <a:p>
            <a:pPr indent="0" marL="0">
              <a:buNone/>
            </a:pPr>
            <a:r>
              <a:rPr lang="en-US" sz="1100" b="1" dirty="0">
                <a:solidFill>
                  <a:srgbClr val="0F0F11"/>
                </a:solidFill>
                <a:latin typeface="Courier New" pitchFamily="34" charset="0"/>
                <a:ea typeface="Courier New" pitchFamily="34" charset="-122"/>
                <a:cs typeface="Courier New" pitchFamily="34" charset="-120"/>
              </a:rPr>
              <a:t>Oráculo</a:t>
            </a:r>
            <a:endParaRPr lang="en-US" sz="1100" dirty="0"/>
          </a:p>
        </p:txBody>
      </p:sp>
      <p:sp>
        <p:nvSpPr>
          <p:cNvPr id="17" name="Text 14"/>
          <p:cNvSpPr/>
          <p:nvPr/>
        </p:nvSpPr>
        <p:spPr>
          <a:xfrm>
            <a:off x="4818888" y="2990088"/>
            <a:ext cx="6805879" cy="530352"/>
          </a:xfrm>
          <a:prstGeom prst="rect">
            <a:avLst/>
          </a:prstGeom>
          <a:noFill/>
          <a:ln/>
        </p:spPr>
        <p:txBody>
          <a:bodyPr wrap="square" lIns="0" tIns="0" rIns="0" bIns="0" rtlCol="0" anchor="t"/>
          <a:lstStyle/>
          <a:p>
            <a:pPr indent="0" marL="0">
              <a:lnSpc>
                <a:spcPct val="124000"/>
              </a:lnSpc>
              <a:buNone/>
            </a:pPr>
            <a:r>
              <a:rPr lang="en-US" sz="1150" dirty="0">
                <a:solidFill>
                  <a:srgbClr val="3A3844"/>
                </a:solidFill>
                <a:latin typeface="Arial" pitchFamily="34" charset="0"/>
                <a:ea typeface="Arial" pitchFamily="34" charset="-122"/>
                <a:cs typeface="Arial" pitchFamily="34" charset="-120"/>
              </a:rPr>
              <a:t>Mecanismo que introduce información del mundo exterior en una cadena de bloques. Constituye siempre un punto de confianza que debe analizarse de forma explícita.</a:t>
            </a:r>
            <a:endParaRPr lang="en-US" sz="1150" dirty="0"/>
          </a:p>
        </p:txBody>
      </p:sp>
      <p:sp>
        <p:nvSpPr>
          <p:cNvPr id="18" name="Shape 15"/>
          <p:cNvSpPr/>
          <p:nvPr/>
        </p:nvSpPr>
        <p:spPr>
          <a:xfrm>
            <a:off x="566928" y="2898648"/>
            <a:ext cx="11057839" cy="0"/>
          </a:xfrm>
          <a:prstGeom prst="line">
            <a:avLst/>
          </a:prstGeom>
          <a:noFill/>
          <a:ln w="12700">
            <a:solidFill>
              <a:srgbClr val="D9D6E0"/>
            </a:solidFill>
            <a:prstDash val="solid"/>
          </a:ln>
        </p:spPr>
      </p:sp>
      <p:sp>
        <p:nvSpPr>
          <p:cNvPr id="19" name="Text 16"/>
          <p:cNvSpPr/>
          <p:nvPr/>
        </p:nvSpPr>
        <p:spPr>
          <a:xfrm>
            <a:off x="566928" y="3621024"/>
            <a:ext cx="1828800" cy="329184"/>
          </a:xfrm>
          <a:prstGeom prst="rect">
            <a:avLst/>
          </a:prstGeom>
          <a:noFill/>
          <a:ln/>
        </p:spPr>
        <p:txBody>
          <a:bodyPr wrap="square" lIns="0" tIns="0" rIns="0" bIns="0" rtlCol="0" anchor="t"/>
          <a:lstStyle/>
          <a:p>
            <a:pPr indent="0" marL="0">
              <a:buNone/>
            </a:pPr>
            <a:r>
              <a:rPr lang="en-US" sz="1100" b="1" dirty="0">
                <a:solidFill>
                  <a:srgbClr val="0F0F11"/>
                </a:solidFill>
                <a:latin typeface="Courier New" pitchFamily="34" charset="0"/>
                <a:ea typeface="Courier New" pitchFamily="34" charset="-122"/>
                <a:cs typeface="Courier New" pitchFamily="34" charset="-120"/>
              </a:rPr>
              <a:t>P2P</a:t>
            </a:r>
            <a:endParaRPr lang="en-US" sz="1100" dirty="0"/>
          </a:p>
        </p:txBody>
      </p:sp>
      <p:sp>
        <p:nvSpPr>
          <p:cNvPr id="20" name="Text 17"/>
          <p:cNvSpPr/>
          <p:nvPr/>
        </p:nvSpPr>
        <p:spPr>
          <a:xfrm>
            <a:off x="2441448" y="3648456"/>
            <a:ext cx="2286000" cy="274320"/>
          </a:xfrm>
          <a:prstGeom prst="rect">
            <a:avLst/>
          </a:prstGeom>
          <a:noFill/>
          <a:ln/>
        </p:spPr>
        <p:txBody>
          <a:bodyPr wrap="square" lIns="0" tIns="0" rIns="0" bIns="0" rtlCol="0" anchor="t"/>
          <a:lstStyle/>
          <a:p>
            <a:pPr indent="0" marL="0">
              <a:buNone/>
            </a:pPr>
            <a:r>
              <a:rPr lang="en-US" sz="900" dirty="0">
                <a:solidFill>
                  <a:srgbClr val="5638C9"/>
                </a:solidFill>
                <a:latin typeface="Courier New" pitchFamily="34" charset="0"/>
                <a:ea typeface="Courier New" pitchFamily="34" charset="-122"/>
                <a:cs typeface="Courier New" pitchFamily="34" charset="-120"/>
              </a:rPr>
              <a:t>peer-to-peer</a:t>
            </a:r>
            <a:endParaRPr lang="en-US" sz="900" dirty="0"/>
          </a:p>
        </p:txBody>
      </p:sp>
      <p:sp>
        <p:nvSpPr>
          <p:cNvPr id="21" name="Text 18"/>
          <p:cNvSpPr/>
          <p:nvPr/>
        </p:nvSpPr>
        <p:spPr>
          <a:xfrm>
            <a:off x="4818888" y="3593592"/>
            <a:ext cx="6805879" cy="530352"/>
          </a:xfrm>
          <a:prstGeom prst="rect">
            <a:avLst/>
          </a:prstGeom>
          <a:noFill/>
          <a:ln/>
        </p:spPr>
        <p:txBody>
          <a:bodyPr wrap="square" lIns="0" tIns="0" rIns="0" bIns="0" rtlCol="0" anchor="t"/>
          <a:lstStyle/>
          <a:p>
            <a:pPr indent="0" marL="0">
              <a:lnSpc>
                <a:spcPct val="124000"/>
              </a:lnSpc>
              <a:buNone/>
            </a:pPr>
            <a:r>
              <a:rPr lang="en-US" sz="1150" dirty="0">
                <a:solidFill>
                  <a:srgbClr val="3A3844"/>
                </a:solidFill>
                <a:latin typeface="Arial" pitchFamily="34" charset="0"/>
                <a:ea typeface="Arial" pitchFamily="34" charset="-122"/>
                <a:cs typeface="Arial" pitchFamily="34" charset="-120"/>
              </a:rPr>
              <a:t>De par a par. Arquitectura de red en la que todos los participantes tienen el mismo rol y se comunican directamente, sin servidor central que coordine.</a:t>
            </a:r>
            <a:endParaRPr lang="en-US" sz="1150" dirty="0"/>
          </a:p>
        </p:txBody>
      </p:sp>
      <p:sp>
        <p:nvSpPr>
          <p:cNvPr id="22" name="Shape 19"/>
          <p:cNvSpPr/>
          <p:nvPr/>
        </p:nvSpPr>
        <p:spPr>
          <a:xfrm>
            <a:off x="566928" y="3502152"/>
            <a:ext cx="11057839" cy="0"/>
          </a:xfrm>
          <a:prstGeom prst="line">
            <a:avLst/>
          </a:prstGeom>
          <a:noFill/>
          <a:ln w="12700">
            <a:solidFill>
              <a:srgbClr val="D9D6E0"/>
            </a:solidFill>
            <a:prstDash val="solid"/>
          </a:ln>
        </p:spPr>
      </p:sp>
      <p:sp>
        <p:nvSpPr>
          <p:cNvPr id="23" name="Text 20"/>
          <p:cNvSpPr/>
          <p:nvPr/>
        </p:nvSpPr>
        <p:spPr>
          <a:xfrm>
            <a:off x="566928" y="4224528"/>
            <a:ext cx="1828800" cy="329184"/>
          </a:xfrm>
          <a:prstGeom prst="rect">
            <a:avLst/>
          </a:prstGeom>
          <a:noFill/>
          <a:ln/>
        </p:spPr>
        <p:txBody>
          <a:bodyPr wrap="square" lIns="0" tIns="0" rIns="0" bIns="0" rtlCol="0" anchor="t"/>
          <a:lstStyle/>
          <a:p>
            <a:pPr indent="0" marL="0">
              <a:buNone/>
            </a:pPr>
            <a:r>
              <a:rPr lang="en-US" sz="1100" b="1" dirty="0">
                <a:solidFill>
                  <a:srgbClr val="0F0F11"/>
                </a:solidFill>
                <a:latin typeface="Courier New" pitchFamily="34" charset="0"/>
                <a:ea typeface="Courier New" pitchFamily="34" charset="-122"/>
                <a:cs typeface="Courier New" pitchFamily="34" charset="-120"/>
              </a:rPr>
              <a:t>PoW</a:t>
            </a:r>
            <a:endParaRPr lang="en-US" sz="1100" dirty="0"/>
          </a:p>
        </p:txBody>
      </p:sp>
      <p:sp>
        <p:nvSpPr>
          <p:cNvPr id="24" name="Text 21"/>
          <p:cNvSpPr/>
          <p:nvPr/>
        </p:nvSpPr>
        <p:spPr>
          <a:xfrm>
            <a:off x="2441448" y="4251960"/>
            <a:ext cx="2286000" cy="274320"/>
          </a:xfrm>
          <a:prstGeom prst="rect">
            <a:avLst/>
          </a:prstGeom>
          <a:noFill/>
          <a:ln/>
        </p:spPr>
        <p:txBody>
          <a:bodyPr wrap="square" lIns="0" tIns="0" rIns="0" bIns="0" rtlCol="0" anchor="t"/>
          <a:lstStyle/>
          <a:p>
            <a:pPr indent="0" marL="0">
              <a:buNone/>
            </a:pPr>
            <a:r>
              <a:rPr lang="en-US" sz="900" dirty="0">
                <a:solidFill>
                  <a:srgbClr val="5638C9"/>
                </a:solidFill>
                <a:latin typeface="Courier New" pitchFamily="34" charset="0"/>
                <a:ea typeface="Courier New" pitchFamily="34" charset="-122"/>
                <a:cs typeface="Courier New" pitchFamily="34" charset="-120"/>
              </a:rPr>
              <a:t>Proof of Work</a:t>
            </a:r>
            <a:endParaRPr lang="en-US" sz="900" dirty="0"/>
          </a:p>
        </p:txBody>
      </p:sp>
      <p:sp>
        <p:nvSpPr>
          <p:cNvPr id="25" name="Text 22"/>
          <p:cNvSpPr/>
          <p:nvPr/>
        </p:nvSpPr>
        <p:spPr>
          <a:xfrm>
            <a:off x="4818888" y="4197096"/>
            <a:ext cx="6805879" cy="530352"/>
          </a:xfrm>
          <a:prstGeom prst="rect">
            <a:avLst/>
          </a:prstGeom>
          <a:noFill/>
          <a:ln/>
        </p:spPr>
        <p:txBody>
          <a:bodyPr wrap="square" lIns="0" tIns="0" rIns="0" bIns="0" rtlCol="0" anchor="t"/>
          <a:lstStyle/>
          <a:p>
            <a:pPr indent="0" marL="0">
              <a:lnSpc>
                <a:spcPct val="124000"/>
              </a:lnSpc>
              <a:buNone/>
            </a:pPr>
            <a:r>
              <a:rPr lang="en-US" sz="1150" dirty="0">
                <a:solidFill>
                  <a:srgbClr val="3A3844"/>
                </a:solidFill>
                <a:latin typeface="Arial" pitchFamily="34" charset="0"/>
                <a:ea typeface="Arial" pitchFamily="34" charset="-122"/>
                <a:cs typeface="Arial" pitchFamily="34" charset="-120"/>
              </a:rPr>
              <a:t>Prueba de trabajo. Mecanismo por el cual se demuestra haber invertido cómputo, mediante un resultado costoso de producir y barato de verificar.</a:t>
            </a:r>
            <a:endParaRPr lang="en-US" sz="1150" dirty="0"/>
          </a:p>
        </p:txBody>
      </p:sp>
      <p:sp>
        <p:nvSpPr>
          <p:cNvPr id="26" name="Shape 23"/>
          <p:cNvSpPr/>
          <p:nvPr/>
        </p:nvSpPr>
        <p:spPr>
          <a:xfrm>
            <a:off x="566928" y="4105656"/>
            <a:ext cx="11057839" cy="0"/>
          </a:xfrm>
          <a:prstGeom prst="line">
            <a:avLst/>
          </a:prstGeom>
          <a:noFill/>
          <a:ln w="12700">
            <a:solidFill>
              <a:srgbClr val="D9D6E0"/>
            </a:solidFill>
            <a:prstDash val="solid"/>
          </a:ln>
        </p:spPr>
      </p:sp>
      <p:sp>
        <p:nvSpPr>
          <p:cNvPr id="27" name="Text 24"/>
          <p:cNvSpPr/>
          <p:nvPr/>
        </p:nvSpPr>
        <p:spPr>
          <a:xfrm>
            <a:off x="566928" y="4828032"/>
            <a:ext cx="1828800" cy="329184"/>
          </a:xfrm>
          <a:prstGeom prst="rect">
            <a:avLst/>
          </a:prstGeom>
          <a:noFill/>
          <a:ln/>
        </p:spPr>
        <p:txBody>
          <a:bodyPr wrap="square" lIns="0" tIns="0" rIns="0" bIns="0" rtlCol="0" anchor="t"/>
          <a:lstStyle/>
          <a:p>
            <a:pPr indent="0" marL="0">
              <a:buNone/>
            </a:pPr>
            <a:r>
              <a:rPr lang="en-US" sz="1100" b="1" dirty="0">
                <a:solidFill>
                  <a:srgbClr val="0F0F11"/>
                </a:solidFill>
                <a:latin typeface="Courier New" pitchFamily="34" charset="0"/>
                <a:ea typeface="Courier New" pitchFamily="34" charset="-122"/>
                <a:cs typeface="Courier New" pitchFamily="34" charset="-120"/>
              </a:rPr>
              <a:t>Proveedor de acceso</a:t>
            </a:r>
            <a:endParaRPr lang="en-US" sz="1100" dirty="0"/>
          </a:p>
        </p:txBody>
      </p:sp>
      <p:sp>
        <p:nvSpPr>
          <p:cNvPr id="28" name="Text 25"/>
          <p:cNvSpPr/>
          <p:nvPr/>
        </p:nvSpPr>
        <p:spPr>
          <a:xfrm>
            <a:off x="2441448" y="4855464"/>
            <a:ext cx="2286000" cy="274320"/>
          </a:xfrm>
          <a:prstGeom prst="rect">
            <a:avLst/>
          </a:prstGeom>
          <a:noFill/>
          <a:ln/>
        </p:spPr>
        <p:txBody>
          <a:bodyPr wrap="square" lIns="0" tIns="0" rIns="0" bIns="0" rtlCol="0" anchor="t"/>
          <a:lstStyle/>
          <a:p>
            <a:pPr indent="0" marL="0">
              <a:buNone/>
            </a:pPr>
            <a:r>
              <a:rPr lang="en-US" sz="900" dirty="0">
                <a:solidFill>
                  <a:srgbClr val="5638C9"/>
                </a:solidFill>
                <a:latin typeface="Courier New" pitchFamily="34" charset="0"/>
                <a:ea typeface="Courier New" pitchFamily="34" charset="-122"/>
                <a:cs typeface="Courier New" pitchFamily="34" charset="-120"/>
              </a:rPr>
              <a:t>RPC</a:t>
            </a:r>
            <a:endParaRPr lang="en-US" sz="900" dirty="0"/>
          </a:p>
        </p:txBody>
      </p:sp>
      <p:sp>
        <p:nvSpPr>
          <p:cNvPr id="29" name="Text 26"/>
          <p:cNvSpPr/>
          <p:nvPr/>
        </p:nvSpPr>
        <p:spPr>
          <a:xfrm>
            <a:off x="4818888" y="4800600"/>
            <a:ext cx="6805879" cy="530352"/>
          </a:xfrm>
          <a:prstGeom prst="rect">
            <a:avLst/>
          </a:prstGeom>
          <a:noFill/>
          <a:ln/>
        </p:spPr>
        <p:txBody>
          <a:bodyPr wrap="square" lIns="0" tIns="0" rIns="0" bIns="0" rtlCol="0" anchor="t"/>
          <a:lstStyle/>
          <a:p>
            <a:pPr indent="0" marL="0">
              <a:lnSpc>
                <a:spcPct val="124000"/>
              </a:lnSpc>
              <a:buNone/>
            </a:pPr>
            <a:r>
              <a:rPr lang="en-US" sz="1150" dirty="0">
                <a:solidFill>
                  <a:srgbClr val="3A3844"/>
                </a:solidFill>
                <a:latin typeface="Arial" pitchFamily="34" charset="0"/>
                <a:ea typeface="Arial" pitchFamily="34" charset="-122"/>
                <a:cs typeface="Arial" pitchFamily="34" charset="-120"/>
              </a:rPr>
              <a:t>Empresa que ofrece la infraestructura por la que billeteras y aplicaciones leen la cadena. Punto de centralización invisible: si cae, la red sigue viva pero deja de ser utilizable.</a:t>
            </a:r>
            <a:endParaRPr lang="en-US" sz="1150" dirty="0"/>
          </a:p>
        </p:txBody>
      </p:sp>
      <p:sp>
        <p:nvSpPr>
          <p:cNvPr id="30" name="Shape 27"/>
          <p:cNvSpPr/>
          <p:nvPr/>
        </p:nvSpPr>
        <p:spPr>
          <a:xfrm>
            <a:off x="566928" y="4709160"/>
            <a:ext cx="11057839" cy="0"/>
          </a:xfrm>
          <a:prstGeom prst="line">
            <a:avLst/>
          </a:prstGeom>
          <a:noFill/>
          <a:ln w="12700">
            <a:solidFill>
              <a:srgbClr val="D9D6E0"/>
            </a:solidFill>
            <a:prstDash val="solid"/>
          </a:ln>
        </p:spPr>
      </p:sp>
      <p:sp>
        <p:nvSpPr>
          <p:cNvPr id="31" name="Text 28"/>
          <p:cNvSpPr/>
          <p:nvPr/>
        </p:nvSpPr>
        <p:spPr>
          <a:xfrm>
            <a:off x="566928" y="5431536"/>
            <a:ext cx="1828800" cy="329184"/>
          </a:xfrm>
          <a:prstGeom prst="rect">
            <a:avLst/>
          </a:prstGeom>
          <a:noFill/>
          <a:ln/>
        </p:spPr>
        <p:txBody>
          <a:bodyPr wrap="square" lIns="0" tIns="0" rIns="0" bIns="0" rtlCol="0" anchor="t"/>
          <a:lstStyle/>
          <a:p>
            <a:pPr indent="0" marL="0">
              <a:buNone/>
            </a:pPr>
            <a:r>
              <a:rPr lang="en-US" sz="1100" b="1" dirty="0">
                <a:solidFill>
                  <a:srgbClr val="0F0F11"/>
                </a:solidFill>
                <a:latin typeface="Courier New" pitchFamily="34" charset="0"/>
                <a:ea typeface="Courier New" pitchFamily="34" charset="-122"/>
                <a:cs typeface="Courier New" pitchFamily="34" charset="-120"/>
              </a:rPr>
              <a:t>Seudonimato</a:t>
            </a:r>
            <a:endParaRPr lang="en-US" sz="1100" dirty="0"/>
          </a:p>
        </p:txBody>
      </p:sp>
      <p:sp>
        <p:nvSpPr>
          <p:cNvPr id="32" name="Text 29"/>
          <p:cNvSpPr/>
          <p:nvPr/>
        </p:nvSpPr>
        <p:spPr>
          <a:xfrm>
            <a:off x="4818888" y="5404104"/>
            <a:ext cx="6805879" cy="530352"/>
          </a:xfrm>
          <a:prstGeom prst="rect">
            <a:avLst/>
          </a:prstGeom>
          <a:noFill/>
          <a:ln/>
        </p:spPr>
        <p:txBody>
          <a:bodyPr wrap="square" lIns="0" tIns="0" rIns="0" bIns="0" rtlCol="0" anchor="t"/>
          <a:lstStyle/>
          <a:p>
            <a:pPr indent="0" marL="0">
              <a:lnSpc>
                <a:spcPct val="124000"/>
              </a:lnSpc>
              <a:buNone/>
            </a:pPr>
            <a:r>
              <a:rPr lang="en-US" sz="1150" dirty="0">
                <a:solidFill>
                  <a:srgbClr val="3A3844"/>
                </a:solidFill>
                <a:latin typeface="Arial" pitchFamily="34" charset="0"/>
                <a:ea typeface="Arial" pitchFamily="34" charset="-122"/>
                <a:cs typeface="Arial" pitchFamily="34" charset="-120"/>
              </a:rPr>
              <a:t>Operar bajo un identificador que no revela la identidad legal, pero cuya actividad es completamente pública y enlazable entre sí. No equivale a anonimato.</a:t>
            </a:r>
            <a:endParaRPr lang="en-US" sz="1150" dirty="0"/>
          </a:p>
        </p:txBody>
      </p:sp>
      <p:sp>
        <p:nvSpPr>
          <p:cNvPr id="33" name="Shape 30"/>
          <p:cNvSpPr/>
          <p:nvPr/>
        </p:nvSpPr>
        <p:spPr>
          <a:xfrm>
            <a:off x="566928" y="5312664"/>
            <a:ext cx="11057839" cy="0"/>
          </a:xfrm>
          <a:prstGeom prst="line">
            <a:avLst/>
          </a:prstGeom>
          <a:noFill/>
          <a:ln w="12700">
            <a:solidFill>
              <a:srgbClr val="D9D6E0"/>
            </a:solidFill>
            <a:prstDash val="solid"/>
          </a:ln>
        </p:spPr>
      </p:sp>
      <p:sp>
        <p:nvSpPr>
          <p:cNvPr id="34" name="Shape 31"/>
          <p:cNvSpPr/>
          <p:nvPr/>
        </p:nvSpPr>
        <p:spPr>
          <a:xfrm>
            <a:off x="566928" y="5916168"/>
            <a:ext cx="11057839" cy="0"/>
          </a:xfrm>
          <a:prstGeom prst="line">
            <a:avLst/>
          </a:prstGeom>
          <a:noFill/>
          <a:ln w="12700">
            <a:solidFill>
              <a:srgbClr val="D9D6E0"/>
            </a:solidFill>
            <a:prstDash val="solid"/>
          </a:ln>
        </p:spPr>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ANEXO II · GLOSARIO ACUMULATIVO · 5 DE 6</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GLOSARIO · CONTINUACIÓN</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01 · ¿QUÉ PROBLEMA RESUELVE REALMENTE BLOCKCHAIN?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63</a:t>
            </a:r>
            <a:endParaRPr lang="en-US" sz="900" dirty="0"/>
          </a:p>
        </p:txBody>
      </p:sp>
      <p:sp>
        <p:nvSpPr>
          <p:cNvPr id="8" name="Text 5"/>
          <p:cNvSpPr/>
          <p:nvPr/>
        </p:nvSpPr>
        <p:spPr>
          <a:xfrm>
            <a:off x="566928" y="1810512"/>
            <a:ext cx="1828800" cy="329184"/>
          </a:xfrm>
          <a:prstGeom prst="rect">
            <a:avLst/>
          </a:prstGeom>
          <a:noFill/>
          <a:ln/>
        </p:spPr>
        <p:txBody>
          <a:bodyPr wrap="square" lIns="0" tIns="0" rIns="0" bIns="0" rtlCol="0" anchor="t"/>
          <a:lstStyle/>
          <a:p>
            <a:pPr indent="0" marL="0">
              <a:buNone/>
            </a:pPr>
            <a:r>
              <a:rPr lang="en-US" sz="1100" b="1" dirty="0">
                <a:solidFill>
                  <a:srgbClr val="0F0F11"/>
                </a:solidFill>
                <a:latin typeface="Courier New" pitchFamily="34" charset="0"/>
                <a:ea typeface="Courier New" pitchFamily="34" charset="-122"/>
                <a:cs typeface="Courier New" pitchFamily="34" charset="-120"/>
              </a:rPr>
              <a:t>SPOF</a:t>
            </a:r>
            <a:endParaRPr lang="en-US" sz="1100" dirty="0"/>
          </a:p>
        </p:txBody>
      </p:sp>
      <p:sp>
        <p:nvSpPr>
          <p:cNvPr id="9" name="Text 6"/>
          <p:cNvSpPr/>
          <p:nvPr/>
        </p:nvSpPr>
        <p:spPr>
          <a:xfrm>
            <a:off x="2441448" y="1837944"/>
            <a:ext cx="2286000" cy="274320"/>
          </a:xfrm>
          <a:prstGeom prst="rect">
            <a:avLst/>
          </a:prstGeom>
          <a:noFill/>
          <a:ln/>
        </p:spPr>
        <p:txBody>
          <a:bodyPr wrap="square" lIns="0" tIns="0" rIns="0" bIns="0" rtlCol="0" anchor="t"/>
          <a:lstStyle/>
          <a:p>
            <a:pPr indent="0" marL="0">
              <a:buNone/>
            </a:pPr>
            <a:r>
              <a:rPr lang="en-US" sz="900" dirty="0">
                <a:solidFill>
                  <a:srgbClr val="5638C9"/>
                </a:solidFill>
                <a:latin typeface="Courier New" pitchFamily="34" charset="0"/>
                <a:ea typeface="Courier New" pitchFamily="34" charset="-122"/>
                <a:cs typeface="Courier New" pitchFamily="34" charset="-120"/>
              </a:rPr>
              <a:t>Single Point Of Failure</a:t>
            </a:r>
            <a:endParaRPr lang="en-US" sz="900" dirty="0"/>
          </a:p>
        </p:txBody>
      </p:sp>
      <p:sp>
        <p:nvSpPr>
          <p:cNvPr id="10" name="Text 7"/>
          <p:cNvSpPr/>
          <p:nvPr/>
        </p:nvSpPr>
        <p:spPr>
          <a:xfrm>
            <a:off x="4818888" y="1783080"/>
            <a:ext cx="6805879" cy="530352"/>
          </a:xfrm>
          <a:prstGeom prst="rect">
            <a:avLst/>
          </a:prstGeom>
          <a:noFill/>
          <a:ln/>
        </p:spPr>
        <p:txBody>
          <a:bodyPr wrap="square" lIns="0" tIns="0" rIns="0" bIns="0" rtlCol="0" anchor="t"/>
          <a:lstStyle/>
          <a:p>
            <a:pPr indent="0" marL="0">
              <a:lnSpc>
                <a:spcPct val="124000"/>
              </a:lnSpc>
              <a:buNone/>
            </a:pPr>
            <a:r>
              <a:rPr lang="en-US" sz="1150" dirty="0">
                <a:solidFill>
                  <a:srgbClr val="3A3844"/>
                </a:solidFill>
                <a:latin typeface="Arial" pitchFamily="34" charset="0"/>
                <a:ea typeface="Arial" pitchFamily="34" charset="-122"/>
                <a:cs typeface="Arial" pitchFamily="34" charset="-120"/>
              </a:rPr>
              <a:t>Punto único de falla. Componente cuya caída inhabilita el sistema completo. Debilidad estructural característica de las arquitecturas centralizadas.</a:t>
            </a:r>
            <a:endParaRPr lang="en-US" sz="1150" dirty="0"/>
          </a:p>
        </p:txBody>
      </p:sp>
      <p:sp>
        <p:nvSpPr>
          <p:cNvPr id="11" name="Shape 8"/>
          <p:cNvSpPr/>
          <p:nvPr/>
        </p:nvSpPr>
        <p:spPr>
          <a:xfrm>
            <a:off x="566928" y="1691640"/>
            <a:ext cx="11057839" cy="0"/>
          </a:xfrm>
          <a:prstGeom prst="line">
            <a:avLst/>
          </a:prstGeom>
          <a:noFill/>
          <a:ln w="12700">
            <a:solidFill>
              <a:srgbClr val="D9D6E0"/>
            </a:solidFill>
            <a:prstDash val="solid"/>
          </a:ln>
        </p:spPr>
      </p:sp>
      <p:sp>
        <p:nvSpPr>
          <p:cNvPr id="12" name="Text 9"/>
          <p:cNvSpPr/>
          <p:nvPr/>
        </p:nvSpPr>
        <p:spPr>
          <a:xfrm>
            <a:off x="566928" y="2414016"/>
            <a:ext cx="1828800" cy="329184"/>
          </a:xfrm>
          <a:prstGeom prst="rect">
            <a:avLst/>
          </a:prstGeom>
          <a:noFill/>
          <a:ln/>
        </p:spPr>
        <p:txBody>
          <a:bodyPr wrap="square" lIns="0" tIns="0" rIns="0" bIns="0" rtlCol="0" anchor="t"/>
          <a:lstStyle/>
          <a:p>
            <a:pPr indent="0" marL="0">
              <a:buNone/>
            </a:pPr>
            <a:r>
              <a:rPr lang="en-US" sz="1100" b="1" dirty="0">
                <a:solidFill>
                  <a:srgbClr val="0F0F11"/>
                </a:solidFill>
                <a:latin typeface="Courier New" pitchFamily="34" charset="0"/>
                <a:ea typeface="Courier New" pitchFamily="34" charset="-122"/>
                <a:cs typeface="Courier New" pitchFamily="34" charset="-120"/>
              </a:rPr>
              <a:t>TPS</a:t>
            </a:r>
            <a:endParaRPr lang="en-US" sz="1100" dirty="0"/>
          </a:p>
        </p:txBody>
      </p:sp>
      <p:sp>
        <p:nvSpPr>
          <p:cNvPr id="13" name="Text 10"/>
          <p:cNvSpPr/>
          <p:nvPr/>
        </p:nvSpPr>
        <p:spPr>
          <a:xfrm>
            <a:off x="2441448" y="2441448"/>
            <a:ext cx="2286000" cy="274320"/>
          </a:xfrm>
          <a:prstGeom prst="rect">
            <a:avLst/>
          </a:prstGeom>
          <a:noFill/>
          <a:ln/>
        </p:spPr>
        <p:txBody>
          <a:bodyPr wrap="square" lIns="0" tIns="0" rIns="0" bIns="0" rtlCol="0" anchor="t"/>
          <a:lstStyle/>
          <a:p>
            <a:pPr indent="0" marL="0">
              <a:buNone/>
            </a:pPr>
            <a:r>
              <a:rPr lang="en-US" sz="900" dirty="0">
                <a:solidFill>
                  <a:srgbClr val="5638C9"/>
                </a:solidFill>
                <a:latin typeface="Courier New" pitchFamily="34" charset="0"/>
                <a:ea typeface="Courier New" pitchFamily="34" charset="-122"/>
                <a:cs typeface="Courier New" pitchFamily="34" charset="-120"/>
              </a:rPr>
              <a:t>Transactions Per Second</a:t>
            </a:r>
            <a:endParaRPr lang="en-US" sz="900" dirty="0"/>
          </a:p>
        </p:txBody>
      </p:sp>
      <p:sp>
        <p:nvSpPr>
          <p:cNvPr id="14" name="Text 11"/>
          <p:cNvSpPr/>
          <p:nvPr/>
        </p:nvSpPr>
        <p:spPr>
          <a:xfrm>
            <a:off x="4818888" y="2386584"/>
            <a:ext cx="6805879" cy="530352"/>
          </a:xfrm>
          <a:prstGeom prst="rect">
            <a:avLst/>
          </a:prstGeom>
          <a:noFill/>
          <a:ln/>
        </p:spPr>
        <p:txBody>
          <a:bodyPr wrap="square" lIns="0" tIns="0" rIns="0" bIns="0" rtlCol="0" anchor="t"/>
          <a:lstStyle/>
          <a:p>
            <a:pPr indent="0" marL="0">
              <a:lnSpc>
                <a:spcPct val="124000"/>
              </a:lnSpc>
              <a:buNone/>
            </a:pPr>
            <a:r>
              <a:rPr lang="en-US" sz="1150" dirty="0">
                <a:solidFill>
                  <a:srgbClr val="3A3844"/>
                </a:solidFill>
                <a:latin typeface="Arial" pitchFamily="34" charset="0"/>
                <a:ea typeface="Arial" pitchFamily="34" charset="-122"/>
                <a:cs typeface="Arial" pitchFamily="34" charset="-120"/>
              </a:rPr>
              <a:t>Transacciones por segundo. Métrica de rendimiento. Debe interpretarse siempre junto con la latencia hasta la liquidación definitiva, no de forma aislada.</a:t>
            </a:r>
            <a:endParaRPr lang="en-US" sz="1150" dirty="0"/>
          </a:p>
        </p:txBody>
      </p:sp>
      <p:sp>
        <p:nvSpPr>
          <p:cNvPr id="15" name="Shape 12"/>
          <p:cNvSpPr/>
          <p:nvPr/>
        </p:nvSpPr>
        <p:spPr>
          <a:xfrm>
            <a:off x="566928" y="2295144"/>
            <a:ext cx="11057839" cy="0"/>
          </a:xfrm>
          <a:prstGeom prst="line">
            <a:avLst/>
          </a:prstGeom>
          <a:noFill/>
          <a:ln w="12700">
            <a:solidFill>
              <a:srgbClr val="D9D6E0"/>
            </a:solidFill>
            <a:prstDash val="solid"/>
          </a:ln>
        </p:spPr>
      </p:sp>
      <p:sp>
        <p:nvSpPr>
          <p:cNvPr id="16" name="Text 13"/>
          <p:cNvSpPr/>
          <p:nvPr/>
        </p:nvSpPr>
        <p:spPr>
          <a:xfrm>
            <a:off x="566928" y="3017520"/>
            <a:ext cx="1828800" cy="329184"/>
          </a:xfrm>
          <a:prstGeom prst="rect">
            <a:avLst/>
          </a:prstGeom>
          <a:noFill/>
          <a:ln/>
        </p:spPr>
        <p:txBody>
          <a:bodyPr wrap="square" lIns="0" tIns="0" rIns="0" bIns="0" rtlCol="0" anchor="t"/>
          <a:lstStyle/>
          <a:p>
            <a:pPr indent="0" marL="0">
              <a:buNone/>
            </a:pPr>
            <a:r>
              <a:rPr lang="en-US" sz="1100" b="1" dirty="0">
                <a:solidFill>
                  <a:srgbClr val="0F0F11"/>
                </a:solidFill>
                <a:latin typeface="Courier New" pitchFamily="34" charset="0"/>
                <a:ea typeface="Courier New" pitchFamily="34" charset="-122"/>
                <a:cs typeface="Courier New" pitchFamily="34" charset="-120"/>
              </a:rPr>
              <a:t>Trust-minimized</a:t>
            </a:r>
            <a:endParaRPr lang="en-US" sz="1100" dirty="0"/>
          </a:p>
        </p:txBody>
      </p:sp>
      <p:sp>
        <p:nvSpPr>
          <p:cNvPr id="17" name="Text 14"/>
          <p:cNvSpPr/>
          <p:nvPr/>
        </p:nvSpPr>
        <p:spPr>
          <a:xfrm>
            <a:off x="2441448" y="3044952"/>
            <a:ext cx="2286000" cy="274320"/>
          </a:xfrm>
          <a:prstGeom prst="rect">
            <a:avLst/>
          </a:prstGeom>
          <a:noFill/>
          <a:ln/>
        </p:spPr>
        <p:txBody>
          <a:bodyPr wrap="square" lIns="0" tIns="0" rIns="0" bIns="0" rtlCol="0" anchor="t"/>
          <a:lstStyle/>
          <a:p>
            <a:pPr indent="0" marL="0">
              <a:buNone/>
            </a:pPr>
            <a:r>
              <a:rPr lang="en-US" sz="900" dirty="0">
                <a:solidFill>
                  <a:srgbClr val="5638C9"/>
                </a:solidFill>
                <a:latin typeface="Courier New" pitchFamily="34" charset="0"/>
                <a:ea typeface="Courier New" pitchFamily="34" charset="-122"/>
                <a:cs typeface="Courier New" pitchFamily="34" charset="-120"/>
              </a:rPr>
              <a:t>minimizado en confianza</a:t>
            </a:r>
            <a:endParaRPr lang="en-US" sz="900" dirty="0"/>
          </a:p>
        </p:txBody>
      </p:sp>
      <p:sp>
        <p:nvSpPr>
          <p:cNvPr id="18" name="Text 15"/>
          <p:cNvSpPr/>
          <p:nvPr/>
        </p:nvSpPr>
        <p:spPr>
          <a:xfrm>
            <a:off x="4818888" y="2990088"/>
            <a:ext cx="6805879" cy="530352"/>
          </a:xfrm>
          <a:prstGeom prst="rect">
            <a:avLst/>
          </a:prstGeom>
          <a:noFill/>
          <a:ln/>
        </p:spPr>
        <p:txBody>
          <a:bodyPr wrap="square" lIns="0" tIns="0" rIns="0" bIns="0" rtlCol="0" anchor="t"/>
          <a:lstStyle/>
          <a:p>
            <a:pPr indent="0" marL="0">
              <a:lnSpc>
                <a:spcPct val="124000"/>
              </a:lnSpc>
              <a:buNone/>
            </a:pPr>
            <a:r>
              <a:rPr lang="en-US" sz="1150" dirty="0">
                <a:solidFill>
                  <a:srgbClr val="3A3844"/>
                </a:solidFill>
                <a:latin typeface="Arial" pitchFamily="34" charset="0"/>
                <a:ea typeface="Arial" pitchFamily="34" charset="-122"/>
                <a:cs typeface="Arial" pitchFamily="34" charset="-120"/>
              </a:rPr>
              <a:t>Traducción precisa del mal llamado trustless. Reduce la confianza necesaria en contrapartes identificadas, sin eliminar la confianza en la matemática, el código y los supuestos del modelo.</a:t>
            </a:r>
            <a:endParaRPr lang="en-US" sz="1150" dirty="0"/>
          </a:p>
        </p:txBody>
      </p:sp>
      <p:sp>
        <p:nvSpPr>
          <p:cNvPr id="19" name="Shape 16"/>
          <p:cNvSpPr/>
          <p:nvPr/>
        </p:nvSpPr>
        <p:spPr>
          <a:xfrm>
            <a:off x="566928" y="2898648"/>
            <a:ext cx="11057839" cy="0"/>
          </a:xfrm>
          <a:prstGeom prst="line">
            <a:avLst/>
          </a:prstGeom>
          <a:noFill/>
          <a:ln w="12700">
            <a:solidFill>
              <a:srgbClr val="D9D6E0"/>
            </a:solidFill>
            <a:prstDash val="solid"/>
          </a:ln>
        </p:spPr>
      </p:sp>
      <p:sp>
        <p:nvSpPr>
          <p:cNvPr id="20" name="Text 17"/>
          <p:cNvSpPr/>
          <p:nvPr/>
        </p:nvSpPr>
        <p:spPr>
          <a:xfrm>
            <a:off x="566928" y="3621024"/>
            <a:ext cx="1828800" cy="329184"/>
          </a:xfrm>
          <a:prstGeom prst="rect">
            <a:avLst/>
          </a:prstGeom>
          <a:noFill/>
          <a:ln/>
        </p:spPr>
        <p:txBody>
          <a:bodyPr wrap="square" lIns="0" tIns="0" rIns="0" bIns="0" rtlCol="0" anchor="t"/>
          <a:lstStyle/>
          <a:p>
            <a:pPr indent="0" marL="0">
              <a:buNone/>
            </a:pPr>
            <a:r>
              <a:rPr lang="en-US" sz="1100" b="1" dirty="0">
                <a:solidFill>
                  <a:srgbClr val="0F0F11"/>
                </a:solidFill>
                <a:latin typeface="Courier New" pitchFamily="34" charset="0"/>
                <a:ea typeface="Courier New" pitchFamily="34" charset="-122"/>
                <a:cs typeface="Courier New" pitchFamily="34" charset="-120"/>
              </a:rPr>
              <a:t>TTP</a:t>
            </a:r>
            <a:endParaRPr lang="en-US" sz="1100" dirty="0"/>
          </a:p>
        </p:txBody>
      </p:sp>
      <p:sp>
        <p:nvSpPr>
          <p:cNvPr id="21" name="Text 18"/>
          <p:cNvSpPr/>
          <p:nvPr/>
        </p:nvSpPr>
        <p:spPr>
          <a:xfrm>
            <a:off x="2441448" y="3648456"/>
            <a:ext cx="2286000" cy="274320"/>
          </a:xfrm>
          <a:prstGeom prst="rect">
            <a:avLst/>
          </a:prstGeom>
          <a:noFill/>
          <a:ln/>
        </p:spPr>
        <p:txBody>
          <a:bodyPr wrap="square" lIns="0" tIns="0" rIns="0" bIns="0" rtlCol="0" anchor="t"/>
          <a:lstStyle/>
          <a:p>
            <a:pPr indent="0" marL="0">
              <a:buNone/>
            </a:pPr>
            <a:r>
              <a:rPr lang="en-US" sz="900" dirty="0">
                <a:solidFill>
                  <a:srgbClr val="5638C9"/>
                </a:solidFill>
                <a:latin typeface="Courier New" pitchFamily="34" charset="0"/>
                <a:ea typeface="Courier New" pitchFamily="34" charset="-122"/>
                <a:cs typeface="Courier New" pitchFamily="34" charset="-120"/>
              </a:rPr>
              <a:t>Trusted Third Party</a:t>
            </a:r>
            <a:endParaRPr lang="en-US" sz="900" dirty="0"/>
          </a:p>
        </p:txBody>
      </p:sp>
      <p:sp>
        <p:nvSpPr>
          <p:cNvPr id="22" name="Text 19"/>
          <p:cNvSpPr/>
          <p:nvPr/>
        </p:nvSpPr>
        <p:spPr>
          <a:xfrm>
            <a:off x="4818888" y="3593592"/>
            <a:ext cx="6805879" cy="530352"/>
          </a:xfrm>
          <a:prstGeom prst="rect">
            <a:avLst/>
          </a:prstGeom>
          <a:noFill/>
          <a:ln/>
        </p:spPr>
        <p:txBody>
          <a:bodyPr wrap="square" lIns="0" tIns="0" rIns="0" bIns="0" rtlCol="0" anchor="t"/>
          <a:lstStyle/>
          <a:p>
            <a:pPr indent="0" marL="0">
              <a:lnSpc>
                <a:spcPct val="124000"/>
              </a:lnSpc>
              <a:buNone/>
            </a:pPr>
            <a:r>
              <a:rPr lang="en-US" sz="1150" dirty="0">
                <a:solidFill>
                  <a:srgbClr val="3A3844"/>
                </a:solidFill>
                <a:latin typeface="Arial" pitchFamily="34" charset="0"/>
                <a:ea typeface="Arial" pitchFamily="34" charset="-122"/>
                <a:cs typeface="Arial" pitchFamily="34" charset="-120"/>
              </a:rPr>
              <a:t>Tercero de confianza. Entidad en la que dos partes que no confían entre sí delegan la verificación y el registro de sus transacciones.</a:t>
            </a:r>
            <a:endParaRPr lang="en-US" sz="1150" dirty="0"/>
          </a:p>
        </p:txBody>
      </p:sp>
      <p:sp>
        <p:nvSpPr>
          <p:cNvPr id="23" name="Shape 20"/>
          <p:cNvSpPr/>
          <p:nvPr/>
        </p:nvSpPr>
        <p:spPr>
          <a:xfrm>
            <a:off x="566928" y="3502152"/>
            <a:ext cx="11057839" cy="0"/>
          </a:xfrm>
          <a:prstGeom prst="line">
            <a:avLst/>
          </a:prstGeom>
          <a:noFill/>
          <a:ln w="12700">
            <a:solidFill>
              <a:srgbClr val="D9D6E0"/>
            </a:solidFill>
            <a:prstDash val="solid"/>
          </a:ln>
        </p:spPr>
      </p:sp>
      <p:sp>
        <p:nvSpPr>
          <p:cNvPr id="24" name="Text 21"/>
          <p:cNvSpPr/>
          <p:nvPr/>
        </p:nvSpPr>
        <p:spPr>
          <a:xfrm>
            <a:off x="566928" y="4224528"/>
            <a:ext cx="1828800" cy="329184"/>
          </a:xfrm>
          <a:prstGeom prst="rect">
            <a:avLst/>
          </a:prstGeom>
          <a:noFill/>
          <a:ln/>
        </p:spPr>
        <p:txBody>
          <a:bodyPr wrap="square" lIns="0" tIns="0" rIns="0" bIns="0" rtlCol="0" anchor="t"/>
          <a:lstStyle/>
          <a:p>
            <a:pPr indent="0" marL="0">
              <a:buNone/>
            </a:pPr>
            <a:r>
              <a:rPr lang="en-US" sz="1100" b="1" dirty="0">
                <a:solidFill>
                  <a:srgbClr val="0F0F11"/>
                </a:solidFill>
                <a:latin typeface="Courier New" pitchFamily="34" charset="0"/>
                <a:ea typeface="Courier New" pitchFamily="34" charset="-122"/>
                <a:cs typeface="Courier New" pitchFamily="34" charset="-120"/>
              </a:rPr>
              <a:t>Turing-completo</a:t>
            </a:r>
            <a:endParaRPr lang="en-US" sz="1100" dirty="0"/>
          </a:p>
        </p:txBody>
      </p:sp>
      <p:sp>
        <p:nvSpPr>
          <p:cNvPr id="25" name="Text 22"/>
          <p:cNvSpPr/>
          <p:nvPr/>
        </p:nvSpPr>
        <p:spPr>
          <a:xfrm>
            <a:off x="4818888" y="4197096"/>
            <a:ext cx="6805879" cy="530352"/>
          </a:xfrm>
          <a:prstGeom prst="rect">
            <a:avLst/>
          </a:prstGeom>
          <a:noFill/>
          <a:ln/>
        </p:spPr>
        <p:txBody>
          <a:bodyPr wrap="square" lIns="0" tIns="0" rIns="0" bIns="0" rtlCol="0" anchor="t"/>
          <a:lstStyle/>
          <a:p>
            <a:pPr indent="0" marL="0">
              <a:lnSpc>
                <a:spcPct val="124000"/>
              </a:lnSpc>
              <a:buNone/>
            </a:pPr>
            <a:r>
              <a:rPr lang="en-US" sz="1150" dirty="0">
                <a:solidFill>
                  <a:srgbClr val="3A3844"/>
                </a:solidFill>
                <a:latin typeface="Arial" pitchFamily="34" charset="0"/>
                <a:ea typeface="Arial" pitchFamily="34" charset="-122"/>
                <a:cs typeface="Arial" pitchFamily="34" charset="-120"/>
              </a:rPr>
              <a:t>Sistema de cómputo capaz de expresar cualquier algoritmo calculable. Es lo que separa a Ethereum de Bitcoin, y lo que obliga a cobrar por cada operación para que un programa que no termina no congele la red.</a:t>
            </a:r>
            <a:endParaRPr lang="en-US" sz="1150" dirty="0"/>
          </a:p>
        </p:txBody>
      </p:sp>
      <p:sp>
        <p:nvSpPr>
          <p:cNvPr id="26" name="Shape 23"/>
          <p:cNvSpPr/>
          <p:nvPr/>
        </p:nvSpPr>
        <p:spPr>
          <a:xfrm>
            <a:off x="566928" y="4105656"/>
            <a:ext cx="11057839" cy="0"/>
          </a:xfrm>
          <a:prstGeom prst="line">
            <a:avLst/>
          </a:prstGeom>
          <a:noFill/>
          <a:ln w="12700">
            <a:solidFill>
              <a:srgbClr val="D9D6E0"/>
            </a:solidFill>
            <a:prstDash val="solid"/>
          </a:ln>
        </p:spPr>
      </p:sp>
      <p:sp>
        <p:nvSpPr>
          <p:cNvPr id="27" name="Text 24"/>
          <p:cNvSpPr/>
          <p:nvPr/>
        </p:nvSpPr>
        <p:spPr>
          <a:xfrm>
            <a:off x="566928" y="4828032"/>
            <a:ext cx="1828800" cy="329184"/>
          </a:xfrm>
          <a:prstGeom prst="rect">
            <a:avLst/>
          </a:prstGeom>
          <a:noFill/>
          <a:ln/>
        </p:spPr>
        <p:txBody>
          <a:bodyPr wrap="square" lIns="0" tIns="0" rIns="0" bIns="0" rtlCol="0" anchor="t"/>
          <a:lstStyle/>
          <a:p>
            <a:pPr indent="0" marL="0">
              <a:buNone/>
            </a:pPr>
            <a:r>
              <a:rPr lang="en-US" sz="1100" b="1" dirty="0">
                <a:solidFill>
                  <a:srgbClr val="0F0F11"/>
                </a:solidFill>
                <a:latin typeface="Courier New" pitchFamily="34" charset="0"/>
                <a:ea typeface="Courier New" pitchFamily="34" charset="-122"/>
                <a:cs typeface="Courier New" pitchFamily="34" charset="-120"/>
              </a:rPr>
              <a:t>W3C</a:t>
            </a:r>
            <a:endParaRPr lang="en-US" sz="1100" dirty="0"/>
          </a:p>
        </p:txBody>
      </p:sp>
      <p:sp>
        <p:nvSpPr>
          <p:cNvPr id="28" name="Text 25"/>
          <p:cNvSpPr/>
          <p:nvPr/>
        </p:nvSpPr>
        <p:spPr>
          <a:xfrm>
            <a:off x="2441448" y="4855464"/>
            <a:ext cx="2286000" cy="274320"/>
          </a:xfrm>
          <a:prstGeom prst="rect">
            <a:avLst/>
          </a:prstGeom>
          <a:noFill/>
          <a:ln/>
        </p:spPr>
        <p:txBody>
          <a:bodyPr wrap="square" lIns="0" tIns="0" rIns="0" bIns="0" rtlCol="0" anchor="t"/>
          <a:lstStyle/>
          <a:p>
            <a:pPr indent="0" marL="0">
              <a:buNone/>
            </a:pPr>
            <a:r>
              <a:rPr lang="en-US" sz="900" dirty="0">
                <a:solidFill>
                  <a:srgbClr val="5638C9"/>
                </a:solidFill>
                <a:latin typeface="Courier New" pitchFamily="34" charset="0"/>
                <a:ea typeface="Courier New" pitchFamily="34" charset="-122"/>
                <a:cs typeface="Courier New" pitchFamily="34" charset="-120"/>
              </a:rPr>
              <a:t>World Wide Web Consortium</a:t>
            </a:r>
            <a:endParaRPr lang="en-US" sz="900" dirty="0"/>
          </a:p>
        </p:txBody>
      </p:sp>
      <p:sp>
        <p:nvSpPr>
          <p:cNvPr id="29" name="Text 26"/>
          <p:cNvSpPr/>
          <p:nvPr/>
        </p:nvSpPr>
        <p:spPr>
          <a:xfrm>
            <a:off x="4818888" y="4800600"/>
            <a:ext cx="6805879" cy="530352"/>
          </a:xfrm>
          <a:prstGeom prst="rect">
            <a:avLst/>
          </a:prstGeom>
          <a:noFill/>
          <a:ln/>
        </p:spPr>
        <p:txBody>
          <a:bodyPr wrap="square" lIns="0" tIns="0" rIns="0" bIns="0" rtlCol="0" anchor="t"/>
          <a:lstStyle/>
          <a:p>
            <a:pPr indent="0" marL="0">
              <a:lnSpc>
                <a:spcPct val="124000"/>
              </a:lnSpc>
              <a:buNone/>
            </a:pPr>
            <a:r>
              <a:rPr lang="en-US" sz="1150" dirty="0">
                <a:solidFill>
                  <a:srgbClr val="3A3844"/>
                </a:solidFill>
                <a:latin typeface="Arial" pitchFamily="34" charset="0"/>
                <a:ea typeface="Arial" pitchFamily="34" charset="-122"/>
                <a:cs typeface="Arial" pitchFamily="34" charset="-120"/>
              </a:rPr>
              <a:t>Organismo internacional que define los estándares de la web. Origen del sentido original de «Web 3.0» como web semántica, distinto del sentido actual en este curso.</a:t>
            </a:r>
            <a:endParaRPr lang="en-US" sz="1150" dirty="0"/>
          </a:p>
        </p:txBody>
      </p:sp>
      <p:sp>
        <p:nvSpPr>
          <p:cNvPr id="30" name="Shape 27"/>
          <p:cNvSpPr/>
          <p:nvPr/>
        </p:nvSpPr>
        <p:spPr>
          <a:xfrm>
            <a:off x="566928" y="4709160"/>
            <a:ext cx="11057839" cy="0"/>
          </a:xfrm>
          <a:prstGeom prst="line">
            <a:avLst/>
          </a:prstGeom>
          <a:noFill/>
          <a:ln w="12700">
            <a:solidFill>
              <a:srgbClr val="D9D6E0"/>
            </a:solidFill>
            <a:prstDash val="solid"/>
          </a:ln>
        </p:spPr>
      </p:sp>
      <p:sp>
        <p:nvSpPr>
          <p:cNvPr id="31" name="Text 28"/>
          <p:cNvSpPr/>
          <p:nvPr/>
        </p:nvSpPr>
        <p:spPr>
          <a:xfrm>
            <a:off x="566928" y="5431536"/>
            <a:ext cx="1828800" cy="329184"/>
          </a:xfrm>
          <a:prstGeom prst="rect">
            <a:avLst/>
          </a:prstGeom>
          <a:noFill/>
          <a:ln/>
        </p:spPr>
        <p:txBody>
          <a:bodyPr wrap="square" lIns="0" tIns="0" rIns="0" bIns="0" rtlCol="0" anchor="t"/>
          <a:lstStyle/>
          <a:p>
            <a:pPr indent="0" marL="0">
              <a:buNone/>
            </a:pPr>
            <a:r>
              <a:rPr lang="en-US" sz="1100" b="1" dirty="0">
                <a:solidFill>
                  <a:srgbClr val="0F0F11"/>
                </a:solidFill>
                <a:latin typeface="Courier New" pitchFamily="34" charset="0"/>
                <a:ea typeface="Courier New" pitchFamily="34" charset="-122"/>
                <a:cs typeface="Courier New" pitchFamily="34" charset="-120"/>
              </a:rPr>
              <a:t>Wallet</a:t>
            </a:r>
            <a:endParaRPr lang="en-US" sz="1100" dirty="0"/>
          </a:p>
        </p:txBody>
      </p:sp>
      <p:sp>
        <p:nvSpPr>
          <p:cNvPr id="32" name="Text 29"/>
          <p:cNvSpPr/>
          <p:nvPr/>
        </p:nvSpPr>
        <p:spPr>
          <a:xfrm>
            <a:off x="2441448" y="5458968"/>
            <a:ext cx="2286000" cy="274320"/>
          </a:xfrm>
          <a:prstGeom prst="rect">
            <a:avLst/>
          </a:prstGeom>
          <a:noFill/>
          <a:ln/>
        </p:spPr>
        <p:txBody>
          <a:bodyPr wrap="square" lIns="0" tIns="0" rIns="0" bIns="0" rtlCol="0" anchor="t"/>
          <a:lstStyle/>
          <a:p>
            <a:pPr indent="0" marL="0">
              <a:buNone/>
            </a:pPr>
            <a:r>
              <a:rPr lang="en-US" sz="900" dirty="0">
                <a:solidFill>
                  <a:srgbClr val="5638C9"/>
                </a:solidFill>
                <a:latin typeface="Courier New" pitchFamily="34" charset="0"/>
                <a:ea typeface="Courier New" pitchFamily="34" charset="-122"/>
                <a:cs typeface="Courier New" pitchFamily="34" charset="-120"/>
              </a:rPr>
              <a:t>billetera</a:t>
            </a:r>
            <a:endParaRPr lang="en-US" sz="900" dirty="0"/>
          </a:p>
        </p:txBody>
      </p:sp>
      <p:sp>
        <p:nvSpPr>
          <p:cNvPr id="33" name="Text 30"/>
          <p:cNvSpPr/>
          <p:nvPr/>
        </p:nvSpPr>
        <p:spPr>
          <a:xfrm>
            <a:off x="4818888" y="5404104"/>
            <a:ext cx="6805879" cy="530352"/>
          </a:xfrm>
          <a:prstGeom prst="rect">
            <a:avLst/>
          </a:prstGeom>
          <a:noFill/>
          <a:ln/>
        </p:spPr>
        <p:txBody>
          <a:bodyPr wrap="square" lIns="0" tIns="0" rIns="0" bIns="0" rtlCol="0" anchor="t"/>
          <a:lstStyle/>
          <a:p>
            <a:pPr indent="0" marL="0">
              <a:lnSpc>
                <a:spcPct val="124000"/>
              </a:lnSpc>
              <a:buNone/>
            </a:pPr>
            <a:r>
              <a:rPr lang="en-US" sz="1150" dirty="0">
                <a:solidFill>
                  <a:srgbClr val="3A3844"/>
                </a:solidFill>
                <a:latin typeface="Arial" pitchFamily="34" charset="0"/>
                <a:ea typeface="Arial" pitchFamily="34" charset="-122"/>
                <a:cs typeface="Arial" pitchFamily="34" charset="-120"/>
              </a:rPr>
              <a:t>Programa que genera, custodia y usa claves criptográficas para firmar transacciones. No almacena fondos: almacena claves.</a:t>
            </a:r>
            <a:endParaRPr lang="en-US" sz="1150" dirty="0"/>
          </a:p>
        </p:txBody>
      </p:sp>
      <p:sp>
        <p:nvSpPr>
          <p:cNvPr id="34" name="Shape 31"/>
          <p:cNvSpPr/>
          <p:nvPr/>
        </p:nvSpPr>
        <p:spPr>
          <a:xfrm>
            <a:off x="566928" y="5312664"/>
            <a:ext cx="11057839" cy="0"/>
          </a:xfrm>
          <a:prstGeom prst="line">
            <a:avLst/>
          </a:prstGeom>
          <a:noFill/>
          <a:ln w="12700">
            <a:solidFill>
              <a:srgbClr val="D9D6E0"/>
            </a:solidFill>
            <a:prstDash val="solid"/>
          </a:ln>
        </p:spPr>
      </p:sp>
      <p:sp>
        <p:nvSpPr>
          <p:cNvPr id="35" name="Shape 32"/>
          <p:cNvSpPr/>
          <p:nvPr/>
        </p:nvSpPr>
        <p:spPr>
          <a:xfrm>
            <a:off x="566928" y="5916168"/>
            <a:ext cx="11057839" cy="0"/>
          </a:xfrm>
          <a:prstGeom prst="line">
            <a:avLst/>
          </a:prstGeom>
          <a:noFill/>
          <a:ln w="12700">
            <a:solidFill>
              <a:srgbClr val="D9D6E0"/>
            </a:solidFill>
            <a:prstDash val="solid"/>
          </a:ln>
        </p:spPr>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ANEXO II · GLOSARIO ACUMULATIVO · 6 DE 6</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GLOSARIO · CONTINUACIÓN</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01 · ¿QUÉ PROBLEMA RESUELVE REALMENTE BLOCKCHAIN?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64</a:t>
            </a:r>
            <a:endParaRPr lang="en-US" sz="900" dirty="0"/>
          </a:p>
        </p:txBody>
      </p:sp>
      <p:sp>
        <p:nvSpPr>
          <p:cNvPr id="8" name="Text 5"/>
          <p:cNvSpPr/>
          <p:nvPr/>
        </p:nvSpPr>
        <p:spPr>
          <a:xfrm>
            <a:off x="566928" y="1810512"/>
            <a:ext cx="1828800" cy="329184"/>
          </a:xfrm>
          <a:prstGeom prst="rect">
            <a:avLst/>
          </a:prstGeom>
          <a:noFill/>
          <a:ln/>
        </p:spPr>
        <p:txBody>
          <a:bodyPr wrap="square" lIns="0" tIns="0" rIns="0" bIns="0" rtlCol="0" anchor="t"/>
          <a:lstStyle/>
          <a:p>
            <a:pPr indent="0" marL="0">
              <a:buNone/>
            </a:pPr>
            <a:r>
              <a:rPr lang="en-US" sz="1100" b="1" dirty="0">
                <a:solidFill>
                  <a:srgbClr val="0F0F11"/>
                </a:solidFill>
                <a:latin typeface="Courier New" pitchFamily="34" charset="0"/>
                <a:ea typeface="Courier New" pitchFamily="34" charset="-122"/>
                <a:cs typeface="Courier New" pitchFamily="34" charset="-120"/>
              </a:rPr>
              <a:t>Whitepaper</a:t>
            </a:r>
            <a:endParaRPr lang="en-US" sz="1100" dirty="0"/>
          </a:p>
        </p:txBody>
      </p:sp>
      <p:sp>
        <p:nvSpPr>
          <p:cNvPr id="9" name="Text 6"/>
          <p:cNvSpPr/>
          <p:nvPr/>
        </p:nvSpPr>
        <p:spPr>
          <a:xfrm>
            <a:off x="4818888" y="1783080"/>
            <a:ext cx="6805879" cy="530352"/>
          </a:xfrm>
          <a:prstGeom prst="rect">
            <a:avLst/>
          </a:prstGeom>
          <a:noFill/>
          <a:ln/>
        </p:spPr>
        <p:txBody>
          <a:bodyPr wrap="square" lIns="0" tIns="0" rIns="0" bIns="0" rtlCol="0" anchor="t"/>
          <a:lstStyle/>
          <a:p>
            <a:pPr indent="0" marL="0">
              <a:lnSpc>
                <a:spcPct val="124000"/>
              </a:lnSpc>
              <a:buNone/>
            </a:pPr>
            <a:r>
              <a:rPr lang="en-US" sz="1150" dirty="0">
                <a:solidFill>
                  <a:srgbClr val="3A3844"/>
                </a:solidFill>
                <a:latin typeface="Arial" pitchFamily="34" charset="0"/>
                <a:ea typeface="Arial" pitchFamily="34" charset="-122"/>
                <a:cs typeface="Arial" pitchFamily="34" charset="-120"/>
              </a:rPr>
              <a:t>Documento técnico en el que se expone el diseño de un protocolo. En este campo, «el whitepaper» sin más designa por defecto el documento de Bitcoin de 2008.</a:t>
            </a:r>
            <a:endParaRPr lang="en-US" sz="1150" dirty="0"/>
          </a:p>
        </p:txBody>
      </p:sp>
      <p:sp>
        <p:nvSpPr>
          <p:cNvPr id="10" name="Shape 7"/>
          <p:cNvSpPr/>
          <p:nvPr/>
        </p:nvSpPr>
        <p:spPr>
          <a:xfrm>
            <a:off x="566928" y="1691640"/>
            <a:ext cx="11057839" cy="0"/>
          </a:xfrm>
          <a:prstGeom prst="line">
            <a:avLst/>
          </a:prstGeom>
          <a:noFill/>
          <a:ln w="12700">
            <a:solidFill>
              <a:srgbClr val="D9D6E0"/>
            </a:solidFill>
            <a:prstDash val="solid"/>
          </a:ln>
        </p:spPr>
      </p:sp>
      <p:sp>
        <p:nvSpPr>
          <p:cNvPr id="11" name="Shape 8"/>
          <p:cNvSpPr/>
          <p:nvPr/>
        </p:nvSpPr>
        <p:spPr>
          <a:xfrm>
            <a:off x="566928" y="2295144"/>
            <a:ext cx="11057839" cy="0"/>
          </a:xfrm>
          <a:prstGeom prst="line">
            <a:avLst/>
          </a:prstGeom>
          <a:noFill/>
          <a:ln w="12700">
            <a:solidFill>
              <a:srgbClr val="D9D6E0"/>
            </a:solidFill>
            <a:prstDash val="solid"/>
          </a:ln>
        </p:spPr>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ANEXO III · FUENTES Y LECTURAS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FUENTES</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01 · ¿QUÉ PROBLEMA RESUELVE REALMENTE BLOCKCHAIN?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65</a:t>
            </a:r>
            <a:endParaRPr lang="en-US" sz="900" dirty="0"/>
          </a:p>
        </p:txBody>
      </p:sp>
      <p:sp>
        <p:nvSpPr>
          <p:cNvPr id="8" name="Shape 5"/>
          <p:cNvSpPr/>
          <p:nvPr/>
        </p:nvSpPr>
        <p:spPr>
          <a:xfrm>
            <a:off x="566928" y="1783080"/>
            <a:ext cx="11057839" cy="676656"/>
          </a:xfrm>
          <a:prstGeom prst="rect">
            <a:avLst/>
          </a:prstGeom>
          <a:solidFill>
            <a:srgbClr val="FFFFFF"/>
          </a:solidFill>
          <a:ln w="22225">
            <a:solidFill>
              <a:srgbClr val="0F0F11"/>
            </a:solidFill>
            <a:prstDash val="solid"/>
          </a:ln>
        </p:spPr>
      </p:sp>
      <p:sp>
        <p:nvSpPr>
          <p:cNvPr id="9" name="Text 6"/>
          <p:cNvSpPr/>
          <p:nvPr/>
        </p:nvSpPr>
        <p:spPr>
          <a:xfrm>
            <a:off x="841248" y="1892808"/>
            <a:ext cx="5486400" cy="274320"/>
          </a:xfrm>
          <a:prstGeom prst="rect">
            <a:avLst/>
          </a:prstGeom>
          <a:noFill/>
          <a:ln/>
        </p:spPr>
        <p:txBody>
          <a:bodyPr wrap="square" lIns="0" tIns="0" rIns="0" bIns="0" rtlCol="0" anchor="ctr"/>
          <a:lstStyle/>
          <a:p>
            <a:pPr indent="0" marL="0">
              <a:buNone/>
            </a:pPr>
            <a:r>
              <a:rPr lang="en-US" sz="1000" b="1" spc="130" kern="0" dirty="0">
                <a:solidFill>
                  <a:srgbClr val="A35604"/>
                </a:solidFill>
                <a:latin typeface="Courier New" pitchFamily="34" charset="0"/>
                <a:ea typeface="Courier New" pitchFamily="34" charset="-122"/>
                <a:cs typeface="Courier New" pitchFamily="34" charset="-120"/>
              </a:rPr>
              <a:t>OBLIGATORIA PARA LA SESIÓN 2</a:t>
            </a:r>
            <a:endParaRPr lang="en-US" sz="1000" dirty="0"/>
          </a:p>
        </p:txBody>
      </p:sp>
      <p:sp>
        <p:nvSpPr>
          <p:cNvPr id="10" name="Text 7"/>
          <p:cNvSpPr/>
          <p:nvPr/>
        </p:nvSpPr>
        <p:spPr>
          <a:xfrm>
            <a:off x="841248" y="2203704"/>
            <a:ext cx="10509199" cy="219456"/>
          </a:xfrm>
          <a:prstGeom prst="rect">
            <a:avLst/>
          </a:prstGeom>
          <a:noFill/>
          <a:ln/>
        </p:spPr>
        <p:txBody>
          <a:bodyPr wrap="square" lIns="0" tIns="0" rIns="0" bIns="0" rtlCol="0" anchor="t"/>
          <a:lstStyle/>
          <a:p>
            <a:pPr marL="203200" indent="-203200">
              <a:lnSpc>
                <a:spcPct val="118000"/>
              </a:lnSpc>
              <a:spcAft>
                <a:spcPts val="300"/>
              </a:spcAft>
              <a:buSzPct val="100000"/>
              <a:buChar char="■"/>
            </a:pPr>
            <a:r>
              <a:rPr lang="en-US" sz="1200" dirty="0">
                <a:solidFill>
                  <a:srgbClr val="3A3844"/>
                </a:solidFill>
                <a:latin typeface="Arial" pitchFamily="34" charset="0"/>
                <a:ea typeface="Arial" pitchFamily="34" charset="-122"/>
                <a:cs typeface="Arial" pitchFamily="34" charset="-120"/>
              </a:rPr>
              <a:t>Nakamoto, S. (2008). Bitcoin: A Peer-to-Peer Electronic Cash System. Secciones 1 a 5.</a:t>
            </a:r>
            <a:endParaRPr lang="en-US" sz="1200" dirty="0"/>
          </a:p>
        </p:txBody>
      </p:sp>
      <p:sp>
        <p:nvSpPr>
          <p:cNvPr id="11" name="Shape 8"/>
          <p:cNvSpPr/>
          <p:nvPr/>
        </p:nvSpPr>
        <p:spPr>
          <a:xfrm>
            <a:off x="566928" y="2660904"/>
            <a:ext cx="11057839" cy="2139696"/>
          </a:xfrm>
          <a:prstGeom prst="rect">
            <a:avLst/>
          </a:prstGeom>
          <a:solidFill>
            <a:srgbClr val="FFFFFF"/>
          </a:solidFill>
          <a:ln w="22225">
            <a:solidFill>
              <a:srgbClr val="0F0F11"/>
            </a:solidFill>
            <a:prstDash val="solid"/>
          </a:ln>
        </p:spPr>
      </p:sp>
      <p:sp>
        <p:nvSpPr>
          <p:cNvPr id="12" name="Text 9"/>
          <p:cNvSpPr/>
          <p:nvPr/>
        </p:nvSpPr>
        <p:spPr>
          <a:xfrm>
            <a:off x="841248" y="2770632"/>
            <a:ext cx="5486400" cy="274320"/>
          </a:xfrm>
          <a:prstGeom prst="rect">
            <a:avLst/>
          </a:prstGeom>
          <a:noFill/>
          <a:ln/>
        </p:spPr>
        <p:txBody>
          <a:bodyPr wrap="square" lIns="0" tIns="0" rIns="0" bIns="0" rtlCol="0" anchor="ctr"/>
          <a:lstStyle/>
          <a:p>
            <a:pPr indent="0" marL="0">
              <a:buNone/>
            </a:pPr>
            <a:r>
              <a:rPr lang="en-US" sz="1000" b="1" spc="130" kern="0" dirty="0">
                <a:solidFill>
                  <a:srgbClr val="A35604"/>
                </a:solidFill>
                <a:latin typeface="Courier New" pitchFamily="34" charset="0"/>
                <a:ea typeface="Courier New" pitchFamily="34" charset="-122"/>
                <a:cs typeface="Courier New" pitchFamily="34" charset="-120"/>
              </a:rPr>
              <a:t>FUENTES PRIMARIAS REFERIDAS</a:t>
            </a:r>
            <a:endParaRPr lang="en-US" sz="1000" dirty="0"/>
          </a:p>
        </p:txBody>
      </p:sp>
      <p:sp>
        <p:nvSpPr>
          <p:cNvPr id="13" name="Text 10"/>
          <p:cNvSpPr/>
          <p:nvPr/>
        </p:nvSpPr>
        <p:spPr>
          <a:xfrm>
            <a:off x="841248" y="3081528"/>
            <a:ext cx="10509199" cy="1682496"/>
          </a:xfrm>
          <a:prstGeom prst="rect">
            <a:avLst/>
          </a:prstGeom>
          <a:noFill/>
          <a:ln/>
        </p:spPr>
        <p:txBody>
          <a:bodyPr wrap="square" lIns="0" tIns="0" rIns="0" bIns="0" rtlCol="0" anchor="t"/>
          <a:lstStyle/>
          <a:p>
            <a:pPr marL="203200" indent="-203200">
              <a:lnSpc>
                <a:spcPct val="118000"/>
              </a:lnSpc>
              <a:spcAft>
                <a:spcPts val="300"/>
              </a:spcAft>
              <a:buSzPct val="100000"/>
              <a:buChar char="■"/>
            </a:pPr>
            <a:r>
              <a:rPr lang="en-US" sz="1200" dirty="0">
                <a:solidFill>
                  <a:srgbClr val="3A3844"/>
                </a:solidFill>
                <a:latin typeface="Arial" pitchFamily="34" charset="0"/>
                <a:ea typeface="Arial" pitchFamily="34" charset="-122"/>
                <a:cs typeface="Arial" pitchFamily="34" charset="-120"/>
              </a:rPr>
              <a:t>Chaum, D. (1983). Blind Signatures for Untraceable Payments.</a:t>
            </a:r>
            <a:endParaRPr lang="en-US" sz="1200" dirty="0"/>
          </a:p>
          <a:p>
            <a:pPr marL="203200" indent="-203200">
              <a:lnSpc>
                <a:spcPct val="118000"/>
              </a:lnSpc>
              <a:spcAft>
                <a:spcPts val="300"/>
              </a:spcAft>
              <a:buSzPct val="100000"/>
              <a:buChar char="■"/>
            </a:pPr>
            <a:r>
              <a:rPr lang="en-US" sz="1200" dirty="0">
                <a:solidFill>
                  <a:srgbClr val="3A3844"/>
                </a:solidFill>
                <a:latin typeface="Arial" pitchFamily="34" charset="0"/>
                <a:ea typeface="Arial" pitchFamily="34" charset="-122"/>
                <a:cs typeface="Arial" pitchFamily="34" charset="-120"/>
              </a:rPr>
              <a:t>Back, A. (1997/2002). Hashcash — A Denial of Service Counter-Measure.</a:t>
            </a:r>
            <a:endParaRPr lang="en-US" sz="1200" dirty="0"/>
          </a:p>
          <a:p>
            <a:pPr marL="203200" indent="-203200">
              <a:lnSpc>
                <a:spcPct val="118000"/>
              </a:lnSpc>
              <a:spcAft>
                <a:spcPts val="300"/>
              </a:spcAft>
              <a:buSzPct val="100000"/>
              <a:buChar char="■"/>
            </a:pPr>
            <a:r>
              <a:rPr lang="en-US" sz="1200" dirty="0">
                <a:solidFill>
                  <a:srgbClr val="3A3844"/>
                </a:solidFill>
                <a:latin typeface="Arial" pitchFamily="34" charset="0"/>
                <a:ea typeface="Arial" pitchFamily="34" charset="-122"/>
                <a:cs typeface="Arial" pitchFamily="34" charset="-120"/>
              </a:rPr>
              <a:t>Dai, W. (1998). b-money.</a:t>
            </a:r>
            <a:endParaRPr lang="en-US" sz="1200" dirty="0"/>
          </a:p>
          <a:p>
            <a:pPr marL="203200" indent="-203200">
              <a:lnSpc>
                <a:spcPct val="118000"/>
              </a:lnSpc>
              <a:spcAft>
                <a:spcPts val="300"/>
              </a:spcAft>
              <a:buSzPct val="100000"/>
              <a:buChar char="■"/>
            </a:pPr>
            <a:r>
              <a:rPr lang="en-US" sz="1200" dirty="0">
                <a:solidFill>
                  <a:srgbClr val="3A3844"/>
                </a:solidFill>
                <a:latin typeface="Arial" pitchFamily="34" charset="0"/>
                <a:ea typeface="Arial" pitchFamily="34" charset="-122"/>
                <a:cs typeface="Arial" pitchFamily="34" charset="-120"/>
              </a:rPr>
              <a:t>Szabo, N. (1998/2005). Bit Gold.</a:t>
            </a:r>
            <a:endParaRPr lang="en-US" sz="1200" dirty="0"/>
          </a:p>
          <a:p>
            <a:pPr marL="203200" indent="-203200">
              <a:lnSpc>
                <a:spcPct val="118000"/>
              </a:lnSpc>
              <a:spcAft>
                <a:spcPts val="300"/>
              </a:spcAft>
              <a:buSzPct val="100000"/>
              <a:buChar char="■"/>
            </a:pPr>
            <a:r>
              <a:rPr lang="en-US" sz="1200" dirty="0">
                <a:solidFill>
                  <a:srgbClr val="3A3844"/>
                </a:solidFill>
                <a:latin typeface="Arial" pitchFamily="34" charset="0"/>
                <a:ea typeface="Arial" pitchFamily="34" charset="-122"/>
                <a:cs typeface="Arial" pitchFamily="34" charset="-120"/>
              </a:rPr>
              <a:t>Lamport, Shostak y Pease (1982). The Byzantine Generals Problem.</a:t>
            </a:r>
            <a:endParaRPr lang="en-US" sz="1200" dirty="0"/>
          </a:p>
          <a:p>
            <a:pPr marL="203200" indent="-203200">
              <a:lnSpc>
                <a:spcPct val="118000"/>
              </a:lnSpc>
              <a:spcAft>
                <a:spcPts val="300"/>
              </a:spcAft>
              <a:buSzPct val="100000"/>
              <a:buChar char="■"/>
            </a:pPr>
            <a:r>
              <a:rPr lang="en-US" sz="1200" dirty="0">
                <a:solidFill>
                  <a:srgbClr val="3A3844"/>
                </a:solidFill>
                <a:latin typeface="Arial" pitchFamily="34" charset="0"/>
                <a:ea typeface="Arial" pitchFamily="34" charset="-122"/>
                <a:cs typeface="Arial" pitchFamily="34" charset="-120"/>
              </a:rPr>
              <a:t>Lamport, L. (1978). Time, Clocks, and the Ordering of Events in a Distributed System.</a:t>
            </a:r>
            <a:endParaRPr lang="en-US" sz="1200" dirty="0"/>
          </a:p>
        </p:txBody>
      </p:sp>
      <p:sp>
        <p:nvSpPr>
          <p:cNvPr id="14" name="Shape 11"/>
          <p:cNvSpPr/>
          <p:nvPr/>
        </p:nvSpPr>
        <p:spPr>
          <a:xfrm>
            <a:off x="566928" y="5001768"/>
            <a:ext cx="11057839" cy="1261872"/>
          </a:xfrm>
          <a:prstGeom prst="rect">
            <a:avLst/>
          </a:prstGeom>
          <a:solidFill>
            <a:srgbClr val="FFFFFF"/>
          </a:solidFill>
          <a:ln w="22225">
            <a:solidFill>
              <a:srgbClr val="0F0F11"/>
            </a:solidFill>
            <a:prstDash val="solid"/>
          </a:ln>
        </p:spPr>
      </p:sp>
      <p:sp>
        <p:nvSpPr>
          <p:cNvPr id="15" name="Text 12"/>
          <p:cNvSpPr/>
          <p:nvPr/>
        </p:nvSpPr>
        <p:spPr>
          <a:xfrm>
            <a:off x="841248" y="5111496"/>
            <a:ext cx="5486400" cy="274320"/>
          </a:xfrm>
          <a:prstGeom prst="rect">
            <a:avLst/>
          </a:prstGeom>
          <a:noFill/>
          <a:ln/>
        </p:spPr>
        <p:txBody>
          <a:bodyPr wrap="square" lIns="0" tIns="0" rIns="0" bIns="0" rtlCol="0" anchor="ctr"/>
          <a:lstStyle/>
          <a:p>
            <a:pPr indent="0" marL="0">
              <a:buNone/>
            </a:pPr>
            <a:r>
              <a:rPr lang="en-US" sz="1000" b="1" spc="130" kern="0" dirty="0">
                <a:solidFill>
                  <a:srgbClr val="A35604"/>
                </a:solidFill>
                <a:latin typeface="Courier New" pitchFamily="34" charset="0"/>
                <a:ea typeface="Courier New" pitchFamily="34" charset="-122"/>
                <a:cs typeface="Courier New" pitchFamily="34" charset="-120"/>
              </a:rPr>
              <a:t>AMPLIACIÓN RECOMENDADA</a:t>
            </a:r>
            <a:endParaRPr lang="en-US" sz="1000" dirty="0"/>
          </a:p>
        </p:txBody>
      </p:sp>
      <p:sp>
        <p:nvSpPr>
          <p:cNvPr id="16" name="Text 13"/>
          <p:cNvSpPr/>
          <p:nvPr/>
        </p:nvSpPr>
        <p:spPr>
          <a:xfrm>
            <a:off x="841248" y="5422392"/>
            <a:ext cx="10509199" cy="804672"/>
          </a:xfrm>
          <a:prstGeom prst="rect">
            <a:avLst/>
          </a:prstGeom>
          <a:noFill/>
          <a:ln/>
        </p:spPr>
        <p:txBody>
          <a:bodyPr wrap="square" lIns="0" tIns="0" rIns="0" bIns="0" rtlCol="0" anchor="t"/>
          <a:lstStyle/>
          <a:p>
            <a:pPr marL="203200" indent="-203200">
              <a:lnSpc>
                <a:spcPct val="118000"/>
              </a:lnSpc>
              <a:spcAft>
                <a:spcPts val="300"/>
              </a:spcAft>
              <a:buSzPct val="100000"/>
              <a:buChar char="■"/>
            </a:pPr>
            <a:r>
              <a:rPr lang="en-US" sz="1200" dirty="0">
                <a:solidFill>
                  <a:srgbClr val="3A3844"/>
                </a:solidFill>
                <a:latin typeface="Arial" pitchFamily="34" charset="0"/>
                <a:ea typeface="Arial" pitchFamily="34" charset="-122"/>
                <a:cs typeface="Arial" pitchFamily="34" charset="-120"/>
              </a:rPr>
              <a:t>Antonopoulos, A. Mastering Bitcoin. Capítulos 1 y 2. Libre acceso.</a:t>
            </a:r>
            <a:endParaRPr lang="en-US" sz="1200" dirty="0"/>
          </a:p>
          <a:p>
            <a:pPr marL="203200" indent="-203200">
              <a:lnSpc>
                <a:spcPct val="118000"/>
              </a:lnSpc>
              <a:spcAft>
                <a:spcPts val="300"/>
              </a:spcAft>
              <a:buSzPct val="100000"/>
              <a:buChar char="■"/>
            </a:pPr>
            <a:r>
              <a:rPr lang="en-US" sz="1200" dirty="0">
                <a:solidFill>
                  <a:srgbClr val="3A3844"/>
                </a:solidFill>
                <a:latin typeface="Arial" pitchFamily="34" charset="0"/>
                <a:ea typeface="Arial" pitchFamily="34" charset="-122"/>
                <a:cs typeface="Arial" pitchFamily="34" charset="-120"/>
              </a:rPr>
              <a:t>Narayanan, A. et al. Bitcoin and Cryptocurrency Technologies. Capítulo 1.</a:t>
            </a:r>
            <a:endParaRPr lang="en-US" sz="1200" dirty="0"/>
          </a:p>
          <a:p>
            <a:pPr marL="203200" indent="-203200">
              <a:lnSpc>
                <a:spcPct val="118000"/>
              </a:lnSpc>
              <a:spcAft>
                <a:spcPts val="300"/>
              </a:spcAft>
              <a:buSzPct val="100000"/>
              <a:buChar char="■"/>
            </a:pPr>
            <a:r>
              <a:rPr lang="en-US" sz="1200" dirty="0">
                <a:solidFill>
                  <a:srgbClr val="3A3844"/>
                </a:solidFill>
                <a:latin typeface="Arial" pitchFamily="34" charset="0"/>
                <a:ea typeface="Arial" pitchFamily="34" charset="-122"/>
                <a:cs typeface="Arial" pitchFamily="34" charset="-120"/>
              </a:rPr>
              <a:t>Werbach, K. The Blockchain and the New Architecture of Trust. Para la discusión de A.2.</a:t>
            </a:r>
            <a:endParaRPr lang="en-US" sz="12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0F0F1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1417320"/>
            <a:ext cx="384048" cy="384048"/>
          </a:xfrm>
          <a:prstGeom prst="rect">
            <a:avLst/>
          </a:prstGeom>
        </p:spPr>
      </p:pic>
      <p:sp>
        <p:nvSpPr>
          <p:cNvPr id="3" name="Text 0"/>
          <p:cNvSpPr/>
          <p:nvPr/>
        </p:nvSpPr>
        <p:spPr>
          <a:xfrm>
            <a:off x="1115568" y="1399032"/>
            <a:ext cx="7315200" cy="402336"/>
          </a:xfrm>
          <a:prstGeom prst="rect">
            <a:avLst/>
          </a:prstGeom>
          <a:noFill/>
          <a:ln/>
        </p:spPr>
        <p:txBody>
          <a:bodyPr wrap="square" lIns="0" tIns="0" rIns="0" bIns="0" rtlCol="0" anchor="ctr"/>
          <a:lstStyle/>
          <a:p>
            <a:pPr indent="0" marL="0">
              <a:buNone/>
            </a:pPr>
            <a:r>
              <a:rPr lang="en-US" sz="1200" spc="200" kern="0" dirty="0">
                <a:solidFill>
                  <a:srgbClr val="F07F06"/>
                </a:solidFill>
                <a:latin typeface="Courier New" pitchFamily="34" charset="0"/>
                <a:ea typeface="Courier New" pitchFamily="34" charset="-122"/>
                <a:cs typeface="Courier New" pitchFamily="34" charset="-120"/>
              </a:rPr>
              <a:t>FIN DE LA SESIÓN 01</a:t>
            </a:r>
            <a:endParaRPr lang="en-US" sz="1200" dirty="0"/>
          </a:p>
        </p:txBody>
      </p:sp>
      <p:sp>
        <p:nvSpPr>
          <p:cNvPr id="4" name="Text 1"/>
          <p:cNvSpPr/>
          <p:nvPr/>
        </p:nvSpPr>
        <p:spPr>
          <a:xfrm>
            <a:off x="566928" y="2148840"/>
            <a:ext cx="10515600" cy="1828800"/>
          </a:xfrm>
          <a:prstGeom prst="rect">
            <a:avLst/>
          </a:prstGeom>
          <a:noFill/>
          <a:ln/>
        </p:spPr>
        <p:txBody>
          <a:bodyPr wrap="square" lIns="0" tIns="0" rIns="0" bIns="0" rtlCol="0" anchor="t"/>
          <a:lstStyle/>
          <a:p>
            <a:pPr indent="0" marL="0">
              <a:lnSpc>
                <a:spcPct val="98000"/>
              </a:lnSpc>
              <a:buNone/>
            </a:pPr>
            <a:r>
              <a:rPr lang="en-US" sz="4600" dirty="0">
                <a:solidFill>
                  <a:srgbClr val="FFFFFF"/>
                </a:solidFill>
                <a:latin typeface="Arial Black" pitchFamily="34" charset="0"/>
                <a:ea typeface="Arial Black" pitchFamily="34" charset="-122"/>
                <a:cs typeface="Arial Black" pitchFamily="34" charset="-120"/>
              </a:rPr>
              <a:t>PRÓXIMA SESIÓN:</a:t>
            </a:r>
            <a:endParaRPr lang="en-US" sz="4600" dirty="0"/>
          </a:p>
          <a:p>
            <a:pPr indent="0" marL="0">
              <a:lnSpc>
                <a:spcPct val="98000"/>
              </a:lnSpc>
              <a:buNone/>
            </a:pPr>
            <a:r>
              <a:rPr lang="en-US" sz="4600" dirty="0">
                <a:solidFill>
                  <a:srgbClr val="FFFFFF"/>
                </a:solidFill>
                <a:latin typeface="Arial Black" pitchFamily="34" charset="0"/>
                <a:ea typeface="Arial Black" pitchFamily="34" charset="-122"/>
                <a:cs typeface="Arial Black" pitchFamily="34" charset="-120"/>
              </a:rPr>
              <a:t>CRIPTOGRAFÍA APLICADA</a:t>
            </a:r>
            <a:endParaRPr lang="en-US" sz="4600" dirty="0"/>
          </a:p>
        </p:txBody>
      </p:sp>
      <p:sp>
        <p:nvSpPr>
          <p:cNvPr id="5" name="Text 2"/>
          <p:cNvSpPr/>
          <p:nvPr/>
        </p:nvSpPr>
        <p:spPr>
          <a:xfrm>
            <a:off x="566928" y="4069080"/>
            <a:ext cx="8686800" cy="822960"/>
          </a:xfrm>
          <a:prstGeom prst="rect">
            <a:avLst/>
          </a:prstGeom>
          <a:noFill/>
          <a:ln/>
        </p:spPr>
        <p:txBody>
          <a:bodyPr wrap="square" lIns="0" tIns="0" rIns="0" bIns="0" rtlCol="0" anchor="t"/>
          <a:lstStyle/>
          <a:p>
            <a:pPr indent="0" marL="0">
              <a:lnSpc>
                <a:spcPct val="128000"/>
              </a:lnSpc>
              <a:buNone/>
            </a:pPr>
            <a:r>
              <a:rPr lang="en-US" sz="1600" dirty="0">
                <a:solidFill>
                  <a:srgbClr val="B9B4C4"/>
                </a:solidFill>
                <a:latin typeface="Arial" pitchFamily="34" charset="0"/>
                <a:ea typeface="Arial" pitchFamily="34" charset="-122"/>
                <a:cs typeface="Arial" pitchFamily="34" charset="-120"/>
              </a:rPr>
              <a:t>Hash, árboles de Merkle y firmas digitales. Laboratorio en máquina desde el primer minuto: traer Python 3 o Node.js funcionando.</a:t>
            </a:r>
            <a:endParaRPr lang="en-US" sz="1600" dirty="0"/>
          </a:p>
        </p:txBody>
      </p:sp>
      <p:sp>
        <p:nvSpPr>
          <p:cNvPr id="6" name="Text 3"/>
          <p:cNvSpPr/>
          <p:nvPr/>
        </p:nvSpPr>
        <p:spPr>
          <a:xfrm>
            <a:off x="566928" y="5394960"/>
            <a:ext cx="8686800" cy="731520"/>
          </a:xfrm>
          <a:prstGeom prst="rect">
            <a:avLst/>
          </a:prstGeom>
          <a:noFill/>
          <a:ln/>
        </p:spPr>
        <p:txBody>
          <a:bodyPr wrap="square" lIns="0" tIns="0" rIns="0" bIns="0" rtlCol="0" anchor="t"/>
          <a:lstStyle/>
          <a:p>
            <a:pPr indent="0" marL="0">
              <a:lnSpc>
                <a:spcPct val="135000"/>
              </a:lnSpc>
              <a:buNone/>
            </a:pPr>
            <a:r>
              <a:rPr lang="en-US" sz="1000" dirty="0">
                <a:solidFill>
                  <a:srgbClr val="6E6A7C"/>
                </a:solidFill>
                <a:latin typeface="Courier New" pitchFamily="34" charset="0"/>
                <a:ea typeface="Courier New" pitchFamily="34" charset="-122"/>
                <a:cs typeface="Courier New" pitchFamily="34" charset="-120"/>
              </a:rPr>
              <a:t>Universidad de San Buenaventura Medellín · Facultad de Ingeniería</a:t>
            </a:r>
            <a:endParaRPr lang="en-US" sz="1000" dirty="0"/>
          </a:p>
          <a:p>
            <a:pPr indent="0" marL="0">
              <a:lnSpc>
                <a:spcPct val="135000"/>
              </a:lnSpc>
              <a:buNone/>
            </a:pPr>
            <a:r>
              <a:rPr lang="en-US" sz="1000" dirty="0">
                <a:solidFill>
                  <a:srgbClr val="6E6A7C"/>
                </a:solidFill>
                <a:latin typeface="Courier New" pitchFamily="34" charset="0"/>
                <a:ea typeface="Courier New" pitchFamily="34" charset="-122"/>
                <a:cs typeface="Courier New" pitchFamily="34" charset="-120"/>
              </a:rPr>
              <a:t>Blockchain y Web 3.0 · Unidad I · Sesión 01 de 17</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66</Slides>
  <Notes>66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66</vt:i4>
      </vt:variant>
    </vt:vector>
  </HeadingPairs>
  <TitlesOfParts>
    <vt:vector size="6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Blockchain y Web 3.0 — Sesión 01</dc:title>
  <dc:subject>¿Qué problema resuelve realmente blockchain?</dc:subject>
  <dc:creator>Universidad de San Buenaventura Medellín</dc:creator>
  <cp:lastModifiedBy>Universidad de San Buenaventura Medellín</cp:lastModifiedBy>
  <cp:revision>1</cp:revision>
  <dcterms:created xsi:type="dcterms:W3CDTF">2026-08-20T15:09:04Z</dcterms:created>
  <dcterms:modified xsi:type="dcterms:W3CDTF">2026-08-20T15:09:04Z</dcterms:modified>
</cp:coreProperties>
</file>