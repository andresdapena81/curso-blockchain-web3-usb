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doble: implementar gobernanza on-chain real con timelock (laboratorio) y discutir con honestidad la identidad descentralizada frente al habeas data colombiano. Hoy se plantea el ensayo individual (RA7). Arranque: 2 minutos. Pregunta de enganche: «¿quién es el owner del contrato de su proyecto? ¿Qué pasa si esa persona pierde el computador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Suma: 10 de apertura + 60 + 20 + 70 + 20 = 180. Pausa de 10 minutos entre B y C (se descuenta del laboratorio si hace falta: la guía PDF permite terminar en casa). El ensayo va al final porque necesita la conversación de identidad (B) fresca.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las cuatro preguntas en voz alta. Al cierre se vuelve a esta lámina: cada pregunta debe tener respuesta en una frase.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todo: señalar Timelock y Delegación, que son los dos que el laboratorio exige entender y los que más confunden.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A: 60 minutos. Ritmo: 3-4 minutos por lámina; las de ejemplo trabajado (A.7, A.13, A.15) piden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dos equipos que digan quién es el owner de su contrato del Avance 1. Casi siempre es la billetera de un solo integrante. Ese es el punto.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casilla es muy común: votación fuera de cadena (sin gas) y un multisig que ejecuta lo votado. Es un compromiso honesto si se dice. Preguntar: ¿en qué casilla está su proyecto? ¿En cuál debería estar?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cuenta en voz alta con el 2 de 3: perder 1 → quedan 2, alcanza (3−2=1). Robar 1 → el ladrón tiene 1, necesita 2 (2−1=1). Pregunta rápida: ¿qué esquema usarían para la tesorería de un semillero de 3 personas?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Verificado el 17-09-2026 en la configuración pública de Safe: safe-config.safe.global/api/v1/chains/11155111 responde; .../chains/11155420 (OP Sepolia) da 404. Ayuda oficial: help.safe.global, artículo «Creating a Safe on a Web browser». Diferencia clave con el MultisigUSB del laboratorio: allí cada confirmación es una transacción; en Safe son firmas fuera de cadena. ⚠ VERIFICAR ANTES DE DICTAR que Sepolia siga habilitada.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tercer error de la tabla es el que más tumba laboratorios: la ejecución revierte con OwnableUnauthorizedAccount(dirección del timelock). La prueba «el dueño de la tesorería es el timelock» lo cubre.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Estados del Governor de OpenZeppelin v5: 0 Pending, 1 Active, 2 Canceled, 3 Defeated, 4 Succeeded, 5 Queued, 6 Expired, 7 Executed. Las pruebas del laboratorio comparan esos números. Pregunta: ¿por qué el retraso se mide en bloques y el timelock en segundos? (el Governor usa el reloj del token, que en ERC20Votes es el número de bloque; el TimelockController usa block.timestamp).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cuenta en el tablero: snapshot = bloque de la propuesta + votingDelay (1) = 101; deadline = snapshot + votingPeriod (50) = 151. La votación está activa mientras el bloque actual esté entre 102 y 151. Todo verificado corriendo test/s15/CicloGobierno.test.js.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GovernorCountingSimple de OpenZeppelin 5 (_quorumReached = quorum &lt;= forVotes + abstainVotes; _voteSucceeded = forVotes &gt; againstVotes). El cuarto escenario sorprende: abstenerse ayuda a alcanzar el quórum. Pregunta: ¿por qué alguien se abstendría en vez de no votar?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número uno del laboratorio y de las DAOs reales: gente con tokens que nunca delegó y cree que votó. La prueba «sin delegar, ni la dueña del 60 % logra aprobar nada» lo demuestra: el voto se emite, pero pesa 0.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prueba «★ votos comprados DESPUÉS de proponer no cuentan». Mostrarla en pantalla si hay tiempo. Transición a A.11: el timelock es la segunda defensa.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OpenZeppelin lo advierte en GovernorTimelockControl: dar PROPOSER o CANCELLER a alguien más que el Governor es «muy riesgoso». Al auditar una DAO real, lo primero que se mira es quién tiene roles en el timelock.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siguiente lámina hace las cuentas del cuadrático, que es el que más confunde. Pregunta: ¿qué modelo usarían para elegir representante estudiantil? (ninguno basado en tokens: una persona, un voto exige identidad, y eso nos lleva al bloque B).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Cuentas verificables: √10 000 = 100; √100 = 10; 100 × 10 = 1 000. Puente al bloque B: el voto cuadrático necesita identidad (prueba de persona), y la identidad on-chain tiene sus propios problemas.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son un ejemplo calculado, no de una DAO concreta. Invitar a revisar un tablero público de participación de una DAO real (p. ej. el explorador de propuestas de Tally) antes de afirmar porcentajes: cambian cada mes.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consultadas el 17-09-2026: post-mortem oficial, bean.money/blog/beanstalk-governance-exploit (17-04-2022, ~12:24 UTC; ~USD 77 M en activos de usuarios); documentación de gobernanza, docs.bean.money/almanac/governance/beanstalk (emergencyCommit: más de 24 h desde la propuesta y más de 2/3 a favor); rekt.news/beanstalk-rekt (préstamos de Aave: 350 M DAI + 500 M USDC + 150 M USDT ≈ USD 1 000 M; ~USD 181 M drenados; ~USD 76 M netos). Rekt fecha el artículo el 18-04 por zona horaria; el post-mortem oficial dice 17-04.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la Sesión 9: aquí no hay reentrancia ni desbordamiento; el ataque es económico y de diseño. Pregunta: ¿su proyecto tiene alguna función «de emergencia» que salte controles?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Leerlas rápido: son el resumen para repasar.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 2 minutos en parejas antes de revelar. Si nadie llega a la primera parte, volver a A.5. Pausa de 10 minutos después de B si el tiempo va justo.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B: 20 minutos. Es la base del ensayo: dejar que discutan en 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sintaxis formal es did:&lt;método&gt;:&lt;identificador-del-método&gt; (w3.org/TR/did-core, consultado 17-09-2026). El ejemplo usa el método ethr con una dirección inventada para la clase.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el DiplomaUSB de la Sesión 11 y con el CertificadosUSB de la S6, que guardaba solo el hash del documento. Es la misma idea con estándar W3C. Fuente: w3.org/TR/vc-data-model-2.0 (consultado 17-09-2026).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ERC-5192 «Minimal Soulbound NFTs», estado Final, creado el 01-07-2022 (eips.ethereum.org/EIPS/eip-5192, consultado 17-09-2026). El artículo de Weyl, Ohlson y Buterin es de mayo de 2022 (SSRN); no se pudo abrir la página de SSRN al verificar: ⚠ VERIFICAR ANTES DE DICTAR la fecha exacta si se va a citar.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(consultadas 17-09-2026): Ley 1581 de 2012 en secretariasenado.gov.co/senado/basedoc/ley_1581_2012.html; Ley 2157 de 2021 en suin-juriscol.gov.co (permanencia del dato negativo: el doble de la mora, máximo 4 años desde el pago) y concepto de la SIC «Permanencia del dato negativo (Ley 2157 de 2021)». Respuesta esperada: la de «buen pagador» es posible con consentimiento; la de «mal pagador» choca con la permanencia máxima y la supresión. Rediseño: credenciales fuera de cadena con registro de revocación. No es asesoría jurídica.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típico: «lo cifro y lo pongo en la cadena». El cifrado de hoy puede romperse mañana, y el dato cifrado sigue siendo dato personal para la ley. Las pruebas de conocimiento cero vuelven en la Sesión 16 (ZK-rollups).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en parejas. Si alguien dice «lo cifro», volver a B.5.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C: 70 minutos. Guía completa: laboratorios-evm/guias/s15-gobernanza-dao.pdf. Lo que no se termine en clase se termina en casa con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árbol en el editor. Aclarar que andamiaje/s15 tiene las versiones con TODO y que se copian encima según la guía (sección 3).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Correr en vivo: npx hardhat test test/s15/Gobierno.test.js → «11 passing». Si falla aquí, el problema es de instalación, no del estudiante.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proyectar esta lámina hasta que hayan intentado 10 minutos: es casi la solución. Los números salen de correr la solución y el andamiaje el 17-09-2026. 20 minutos de trabajo en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Verificado el 17-09-2026: Safe soporta Sepolia; OP Sepolia no aparece en su lista de redes. El despliegue de un Safe con 2 firmantes paga gas (ETH de prueba). ⚠ VERIFICAR ANTES DE DICTAR. 20 minutos entre 3a y 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Salida real de la corrida local del 17-09-2026 (los hashes locales cambian en cada corrida). Arrancarlo en Sepolia al principio de la parte 3, porque tarda: mientras vota y espera, trabajan en el multisig. 5 minutos de explicación.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estos errores se provocaron a propósito al preparar el laboratorio; la guía PDF trae la tabla ampliada.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laboratorio es parte del 4 % de «Laboratorios S14–S16» del tercer corte.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D: 20 minutos. Documento público con todo el detalle: material/proyecto/ensayo-individual.pdf.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peso sale de la sección 9 del plan: ensayo individual 20 % del tercer corte (40 %) = 8 % del total. Evalúa RA7.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criterio de la actividad de Estonia: una afirmación sostenida con evidencia vale más que un resumen equilibrado que no arriesga nada. Lo que no se acepta: un texto que no se pensó, o citar fuentes que no se abrieron. El docente puede pedir una defensa oral de 5 minutos.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temas son sugerencias; se acepta cualquier otro del curso con aprobación por correo antes de la S16. La rúbrica completa, con niveles, está en el PDF.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frase de la postura se revisa al comienzo de la S16 (2-3 voluntarios). Recordar que la S16 necesita ETH de prueba en Sepolia para puentear a OP Sepolia si los faucets fallan.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 la lámina de objetivos y pedir una respuesta en una frase por pregunta. Cierre: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GOBERNAR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15 · UNIDAD IV · ECOSISTEMA</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¿QUIÉN MANDA</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CUANDO NO</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HAY DUEÑO?</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Gobernar un sistema sin jefe: firmas múltiples, propuestas, votos, un plazo de gracia y ejecución en el código. Y quién eres tú en una cadena.</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Del contrato con un solo dueño a la organización sin dueño. Y una conversación difícil: qué significa tu identidad cuando vive en una cadena pública.</a:t>
            </a:r>
            <a:endParaRPr lang="en-US" sz="1450" dirty="0"/>
          </a:p>
        </p:txBody>
      </p:sp>
      <p:sp>
        <p:nvSpPr>
          <p:cNvPr id="9" name="Shape 6"/>
          <p:cNvSpPr/>
          <p:nvPr/>
        </p:nvSpPr>
        <p:spPr>
          <a:xfrm>
            <a:off x="566928" y="2395728"/>
            <a:ext cx="11057839" cy="786384"/>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395728"/>
            <a:ext cx="777240" cy="786384"/>
          </a:xfrm>
          <a:prstGeom prst="rect">
            <a:avLst/>
          </a:prstGeom>
          <a:solidFill>
            <a:srgbClr val="F07F06"/>
          </a:solidFill>
          <a:ln w="12700">
            <a:solidFill>
              <a:srgbClr val="333333"/>
            </a:solidFill>
            <a:prstDash val="solid"/>
          </a:ln>
        </p:spPr>
      </p:sp>
      <p:sp>
        <p:nvSpPr>
          <p:cNvPr id="11" name="Text 8"/>
          <p:cNvSpPr/>
          <p:nvPr/>
        </p:nvSpPr>
        <p:spPr>
          <a:xfrm>
            <a:off x="566928" y="2395728"/>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2374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DAOS Y GOBERNANZA</a:t>
            </a:r>
            <a:endParaRPr lang="en-US" sz="1100" dirty="0"/>
          </a:p>
        </p:txBody>
      </p:sp>
      <p:sp>
        <p:nvSpPr>
          <p:cNvPr id="13" name="Text 10"/>
          <p:cNvSpPr/>
          <p:nvPr/>
        </p:nvSpPr>
        <p:spPr>
          <a:xfrm>
            <a:off x="1572768" y="2852928"/>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Multisig, Safe, Governor + Timelock, quórum, delegación, modelos de voto y el caso Beanstalk.</a:t>
            </a:r>
            <a:endParaRPr lang="en-US" sz="1250" dirty="0"/>
          </a:p>
        </p:txBody>
      </p:sp>
      <p:sp>
        <p:nvSpPr>
          <p:cNvPr id="14" name="Text 11"/>
          <p:cNvSpPr/>
          <p:nvPr/>
        </p:nvSpPr>
        <p:spPr>
          <a:xfrm>
            <a:off x="9704527" y="2395728"/>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~60 min</a:t>
            </a:r>
            <a:endParaRPr lang="en-US" sz="1200" dirty="0"/>
          </a:p>
        </p:txBody>
      </p:sp>
      <p:sp>
        <p:nvSpPr>
          <p:cNvPr id="15" name="Shape 12"/>
          <p:cNvSpPr/>
          <p:nvPr/>
        </p:nvSpPr>
        <p:spPr>
          <a:xfrm>
            <a:off x="566928" y="3291840"/>
            <a:ext cx="11057839" cy="786384"/>
          </a:xfrm>
          <a:prstGeom prst="rect">
            <a:avLst/>
          </a:prstGeom>
          <a:solidFill>
            <a:srgbClr val="FAF9FB"/>
          </a:solidFill>
          <a:ln w="22225">
            <a:solidFill>
              <a:srgbClr val="0F0F11"/>
            </a:solidFill>
            <a:prstDash val="solid"/>
          </a:ln>
        </p:spPr>
      </p:sp>
      <p:sp>
        <p:nvSpPr>
          <p:cNvPr id="16" name="Shape 13"/>
          <p:cNvSpPr/>
          <p:nvPr/>
        </p:nvSpPr>
        <p:spPr>
          <a:xfrm>
            <a:off x="566928" y="3291840"/>
            <a:ext cx="777240" cy="786384"/>
          </a:xfrm>
          <a:prstGeom prst="rect">
            <a:avLst/>
          </a:prstGeom>
          <a:solidFill>
            <a:srgbClr val="D9D6E0"/>
          </a:solidFill>
          <a:ln w="12700">
            <a:solidFill>
              <a:srgbClr val="333333"/>
            </a:solidFill>
            <a:prstDash val="solid"/>
          </a:ln>
        </p:spPr>
      </p:sp>
      <p:sp>
        <p:nvSpPr>
          <p:cNvPr id="17" name="Text 14"/>
          <p:cNvSpPr/>
          <p:nvPr/>
        </p:nvSpPr>
        <p:spPr>
          <a:xfrm>
            <a:off x="566928" y="3291840"/>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41985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IDENTIDAD DESCENTRALIZADA</a:t>
            </a:r>
            <a:endParaRPr lang="en-US" sz="1100" dirty="0"/>
          </a:p>
        </p:txBody>
      </p:sp>
      <p:sp>
        <p:nvSpPr>
          <p:cNvPr id="19" name="Text 16"/>
          <p:cNvSpPr/>
          <p:nvPr/>
        </p:nvSpPr>
        <p:spPr>
          <a:xfrm>
            <a:off x="1572768" y="3749040"/>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DID, credenciales verificables, SBT y el choque con el habeas data.</a:t>
            </a:r>
            <a:endParaRPr lang="en-US" sz="1250" dirty="0"/>
          </a:p>
        </p:txBody>
      </p:sp>
      <p:sp>
        <p:nvSpPr>
          <p:cNvPr id="20" name="Text 17"/>
          <p:cNvSpPr/>
          <p:nvPr/>
        </p:nvSpPr>
        <p:spPr>
          <a:xfrm>
            <a:off x="9704527" y="3291840"/>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~20 min</a:t>
            </a:r>
            <a:endParaRPr lang="en-US" sz="1200" dirty="0"/>
          </a:p>
        </p:txBody>
      </p:sp>
      <p:sp>
        <p:nvSpPr>
          <p:cNvPr id="21" name="Shape 18"/>
          <p:cNvSpPr/>
          <p:nvPr/>
        </p:nvSpPr>
        <p:spPr>
          <a:xfrm>
            <a:off x="566928" y="4187952"/>
            <a:ext cx="11057839" cy="786384"/>
          </a:xfrm>
          <a:prstGeom prst="rect">
            <a:avLst/>
          </a:prstGeom>
          <a:solidFill>
            <a:srgbClr val="FAF9FB"/>
          </a:solidFill>
          <a:ln w="22225">
            <a:solidFill>
              <a:srgbClr val="0F0F11"/>
            </a:solidFill>
            <a:prstDash val="solid"/>
          </a:ln>
        </p:spPr>
      </p:sp>
      <p:sp>
        <p:nvSpPr>
          <p:cNvPr id="22" name="Shape 19"/>
          <p:cNvSpPr/>
          <p:nvPr/>
        </p:nvSpPr>
        <p:spPr>
          <a:xfrm>
            <a:off x="566928" y="4187952"/>
            <a:ext cx="777240" cy="786384"/>
          </a:xfrm>
          <a:prstGeom prst="rect">
            <a:avLst/>
          </a:prstGeom>
          <a:solidFill>
            <a:srgbClr val="D9D6E0"/>
          </a:solidFill>
          <a:ln w="12700">
            <a:solidFill>
              <a:srgbClr val="333333"/>
            </a:solidFill>
            <a:prstDash val="solid"/>
          </a:ln>
        </p:spPr>
      </p:sp>
      <p:sp>
        <p:nvSpPr>
          <p:cNvPr id="23" name="Text 20"/>
          <p:cNvSpPr/>
          <p:nvPr/>
        </p:nvSpPr>
        <p:spPr>
          <a:xfrm>
            <a:off x="566928" y="4187952"/>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4315968"/>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15</a:t>
            </a:r>
            <a:endParaRPr lang="en-US" sz="1100" dirty="0"/>
          </a:p>
        </p:txBody>
      </p:sp>
      <p:sp>
        <p:nvSpPr>
          <p:cNvPr id="25" name="Text 22"/>
          <p:cNvSpPr/>
          <p:nvPr/>
        </p:nvSpPr>
        <p:spPr>
          <a:xfrm>
            <a:off x="1572768" y="4645152"/>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DAO con timelock, el ciclo completo con tiempo simulado, y un multisig 2 de 3.</a:t>
            </a:r>
            <a:endParaRPr lang="en-US" sz="1250" dirty="0"/>
          </a:p>
        </p:txBody>
      </p:sp>
      <p:sp>
        <p:nvSpPr>
          <p:cNvPr id="26" name="Text 23"/>
          <p:cNvSpPr/>
          <p:nvPr/>
        </p:nvSpPr>
        <p:spPr>
          <a:xfrm>
            <a:off x="9704527" y="4187952"/>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~70 min</a:t>
            </a:r>
            <a:endParaRPr lang="en-US" sz="1200" dirty="0"/>
          </a:p>
        </p:txBody>
      </p:sp>
      <p:sp>
        <p:nvSpPr>
          <p:cNvPr id="27" name="Shape 24"/>
          <p:cNvSpPr/>
          <p:nvPr/>
        </p:nvSpPr>
        <p:spPr>
          <a:xfrm>
            <a:off x="566928" y="5084064"/>
            <a:ext cx="11057839" cy="786384"/>
          </a:xfrm>
          <a:prstGeom prst="rect">
            <a:avLst/>
          </a:prstGeom>
          <a:solidFill>
            <a:srgbClr val="FAF9FB"/>
          </a:solidFill>
          <a:ln w="22225">
            <a:solidFill>
              <a:srgbClr val="0F0F11"/>
            </a:solidFill>
            <a:prstDash val="solid"/>
          </a:ln>
        </p:spPr>
      </p:sp>
      <p:sp>
        <p:nvSpPr>
          <p:cNvPr id="28" name="Shape 25"/>
          <p:cNvSpPr/>
          <p:nvPr/>
        </p:nvSpPr>
        <p:spPr>
          <a:xfrm>
            <a:off x="566928" y="5084064"/>
            <a:ext cx="777240" cy="786384"/>
          </a:xfrm>
          <a:prstGeom prst="rect">
            <a:avLst/>
          </a:prstGeom>
          <a:solidFill>
            <a:srgbClr val="D9D6E0"/>
          </a:solidFill>
          <a:ln w="12700">
            <a:solidFill>
              <a:srgbClr val="333333"/>
            </a:solidFill>
            <a:prstDash val="solid"/>
          </a:ln>
        </p:spPr>
      </p:sp>
      <p:sp>
        <p:nvSpPr>
          <p:cNvPr id="29" name="Text 26"/>
          <p:cNvSpPr/>
          <p:nvPr/>
        </p:nvSpPr>
        <p:spPr>
          <a:xfrm>
            <a:off x="566928" y="5084064"/>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D</a:t>
            </a:r>
            <a:endParaRPr lang="en-US" sz="2800" dirty="0"/>
          </a:p>
        </p:txBody>
      </p:sp>
      <p:sp>
        <p:nvSpPr>
          <p:cNvPr id="30" name="Text 27"/>
          <p:cNvSpPr/>
          <p:nvPr/>
        </p:nvSpPr>
        <p:spPr>
          <a:xfrm>
            <a:off x="1572768" y="5212080"/>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EL ENSAYO INDIVIDUAL (RA7)</a:t>
            </a:r>
            <a:endParaRPr lang="en-US" sz="1100" dirty="0"/>
          </a:p>
        </p:txBody>
      </p:sp>
      <p:sp>
        <p:nvSpPr>
          <p:cNvPr id="31" name="Text 28"/>
          <p:cNvSpPr/>
          <p:nvPr/>
        </p:nvSpPr>
        <p:spPr>
          <a:xfrm>
            <a:off x="1572768" y="5541264"/>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Se plantea hoy; se entrega en la Sesión 17. 8 % de la nota final.</a:t>
            </a:r>
            <a:endParaRPr lang="en-US" sz="1250" dirty="0"/>
          </a:p>
        </p:txBody>
      </p:sp>
      <p:sp>
        <p:nvSpPr>
          <p:cNvPr id="32" name="Text 29"/>
          <p:cNvSpPr/>
          <p:nvPr/>
        </p:nvSpPr>
        <p:spPr>
          <a:xfrm>
            <a:off x="9704527" y="5084064"/>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~20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Implementar un mecanismo de gobernanza on-chain con timelock y evaluar críticamente los modelos de identidad descentralizada.</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¿Cuándo un multisig es la respuesta correcta y cuándo hace falta votación?</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¿Cómo pasa una propuesta de una idea a una ejecución automática, con plazo de gracia?</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falla en «un token, un voto», y cómo se compró una votación en 2022?</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tensión hay entre una identidad on-chain y el derecho a suprimir tus datos?</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RA2 · arquitecturas de gobernanza  ·  RA3 · Governor + Timelock  ·  RA7 · identidad, ética y habeas data.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DAO</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Decentralized Autonomous Organization</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Organización cuyas reglas viven en contratos y cuyas decisiones toman sus miembros, sin jefe único.</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MULTISIG</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multifirma · m de n</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Cuenta que exige m firmas de n posibles para actuar. Safe es el estándar de facto.</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GOVERNOR</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contrato de gobierno</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Contrato de OpenZeppelin que recibe propuestas, cuenta votos y manda ejecutar lo aprobado.</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TIMELOCK</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TimelockController</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Plazo obligatorio entre aprobar y ejecutar: la salida de emergencia de la minoría.</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QUÓRUM</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quorum</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Mínimo de poder de voto que debe participar para que una votación valga.</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DELEGACIÓN</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delegate()</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Activar tu poder de voto, en ti o en otra cuenta. Sin delegar, tus tokens votan cero.</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DID</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Decentralized Identifier</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Identificador que controla su dueño con una clave, no una plataforma. W3C, 2022.</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SBT</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Soulbound Token</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Token no transferible atado a una cuenta, para credenciales y reputación.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60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DAOS Y GOBERNANZA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Gobernar sin jefe suena utópico. En la práctica es un espectro: desde un multisig de tres personas hasta miles votando on-chain, cada punto con sus grietas.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DE DÓNDE VENIMOS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EL PROBLEMA DEL DUEÑO ÚNICO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Desde la Sesión 6 casi todos los contratos del curso tienen un dueño: una sola dirección con permisos especiales (onlyOwner, soloEmisor). Es cómodo. Y es un punto único de falla.</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2743200"/>
          <a:ext cx="11057839" cy="914400"/>
        </p:xfrm>
        <a:graphic>
          <a:graphicData uri="http://schemas.openxmlformats.org/drawingml/2006/table">
            <a:tbl>
              <a:tblPr/>
              <a:tblGrid>
                <a:gridCol w="4206240"/>
                <a:gridCol w="68515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SI ESA CLAVE…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PASA CON EL CONTRATO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se pierde (se daña el disco, se olvida la frase)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Nadie vuelve a poder pausar, emitir o cambiar nada. Para siempre.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se la roban</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ladrón tiene TODOS los poderes del dueño: vaciar, pausar, cambiar reglas.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pertenece a alguien que se va del equipo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proyecto depende de la buena voluntad de una persona que ya no está.</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724912"/>
            <a:ext cx="11094415" cy="1956816"/>
          </a:xfrm>
          <a:prstGeom prst="rect">
            <a:avLst/>
          </a:prstGeom>
          <a:ln w="22225">
            <a:solidFill>
              <a:srgbClr val="0F0F11"/>
            </a:solidFill>
            <a:prstDash val="solid"/>
          </a:ln>
        </p:spPr>
      </p:sp>
      <p:sp>
        <p:nvSpPr>
          <p:cNvPr id="11" name="Shape 7"/>
          <p:cNvSpPr/>
          <p:nvPr/>
        </p:nvSpPr>
        <p:spPr>
          <a:xfrm>
            <a:off x="566928" y="4892040"/>
            <a:ext cx="11057839" cy="12344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2" name="Image 1" descr="preencoded.png">    </p:cNvPr>
          <p:cNvPicPr>
            <a:picLocks noChangeAspect="1"/>
          </p:cNvPicPr>
          <p:nvPr/>
        </p:nvPicPr>
        <p:blipFill>
          <a:blip r:embed="rId2"/>
          <a:stretch>
            <a:fillRect/>
          </a:stretch>
        </p:blipFill>
        <p:spPr>
          <a:xfrm>
            <a:off x="804672" y="5111496"/>
            <a:ext cx="237744" cy="237744"/>
          </a:xfrm>
          <a:prstGeom prst="rect">
            <a:avLst/>
          </a:prstGeom>
        </p:spPr>
      </p:pic>
      <p:sp>
        <p:nvSpPr>
          <p:cNvPr id="13" name="Text 8"/>
          <p:cNvSpPr/>
          <p:nvPr/>
        </p:nvSpPr>
        <p:spPr>
          <a:xfrm>
            <a:off x="1133856" y="50840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QUE ORGANIZA EL BLOQUE</a:t>
            </a:r>
            <a:endParaRPr lang="en-US" sz="950" dirty="0"/>
          </a:p>
        </p:txBody>
      </p:sp>
      <p:sp>
        <p:nvSpPr>
          <p:cNvPr id="14" name="Text 9"/>
          <p:cNvSpPr/>
          <p:nvPr/>
        </p:nvSpPr>
        <p:spPr>
          <a:xfrm>
            <a:off x="804672" y="5404104"/>
            <a:ext cx="10582351" cy="63093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¿Cómo se reparte el poder sobre un contrato entre varias personas, de modo que ninguna sola pueda perderlo, robarlo o abusar de él? Hay dos respuestas: firmas múltiples y votación. Hoy vemos las dos.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QUÉ ES UNA DAO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 ESPECTRO, NO UNA COSA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Text 5"/>
          <p:cNvSpPr/>
          <p:nvPr/>
        </p:nvSpPr>
        <p:spPr>
          <a:xfrm>
            <a:off x="566928" y="1737360"/>
            <a:ext cx="11057839" cy="54864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«DAO» se usa para cosas muy distintas. Ordenémoslas por cuánta gente decide y cuánto hace el código solo:</a:t>
            </a:r>
            <a:endParaRPr lang="en-US" sz="1450" dirty="0"/>
          </a:p>
        </p:txBody>
      </p:sp>
      <p:sp>
        <p:nvSpPr>
          <p:cNvPr id="9" name="Shape 6"/>
          <p:cNvSpPr/>
          <p:nvPr/>
        </p:nvSpPr>
        <p:spPr>
          <a:xfrm>
            <a:off x="566928" y="2514600"/>
            <a:ext cx="2627300" cy="1051560"/>
          </a:xfrm>
          <a:prstGeom prst="rect">
            <a:avLst/>
          </a:prstGeom>
          <a:solidFill>
            <a:srgbClr val="FAF9FB"/>
          </a:solidFill>
          <a:ln w="22225">
            <a:solidFill>
              <a:srgbClr val="0F0F11"/>
            </a:solidFill>
            <a:prstDash val="solid"/>
          </a:ln>
        </p:spPr>
      </p:sp>
      <p:sp>
        <p:nvSpPr>
          <p:cNvPr id="10" name="Text 7"/>
          <p:cNvSpPr/>
          <p:nvPr/>
        </p:nvSpPr>
        <p:spPr>
          <a:xfrm>
            <a:off x="658368" y="2606040"/>
            <a:ext cx="244442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UNA CLAVE</a:t>
            </a:r>
            <a:endParaRPr lang="en-US" sz="1100" dirty="0"/>
          </a:p>
        </p:txBody>
      </p:sp>
      <p:sp>
        <p:nvSpPr>
          <p:cNvPr id="11" name="Text 8"/>
          <p:cNvSpPr/>
          <p:nvPr/>
        </p:nvSpPr>
        <p:spPr>
          <a:xfrm>
            <a:off x="658368" y="2916936"/>
            <a:ext cx="2444420" cy="57607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un dueño decide todo</a:t>
            </a:r>
            <a:endParaRPr lang="en-US" sz="1100" dirty="0"/>
          </a:p>
        </p:txBody>
      </p:sp>
      <p:sp>
        <p:nvSpPr>
          <p:cNvPr id="12" name="Shape 9"/>
          <p:cNvSpPr/>
          <p:nvPr/>
        </p:nvSpPr>
        <p:spPr>
          <a:xfrm>
            <a:off x="3212516" y="3035808"/>
            <a:ext cx="146304" cy="914"/>
          </a:xfrm>
          <a:prstGeom prst="line">
            <a:avLst/>
          </a:prstGeom>
          <a:noFill/>
          <a:ln w="19050">
            <a:solidFill>
              <a:srgbClr val="0F0F11"/>
            </a:solidFill>
            <a:prstDash val="solid"/>
            <a:tailEnd type="triangle"/>
          </a:ln>
        </p:spPr>
      </p:sp>
      <p:sp>
        <p:nvSpPr>
          <p:cNvPr id="13" name="Shape 10"/>
          <p:cNvSpPr/>
          <p:nvPr/>
        </p:nvSpPr>
        <p:spPr>
          <a:xfrm>
            <a:off x="3377108" y="2514600"/>
            <a:ext cx="2627300" cy="1051560"/>
          </a:xfrm>
          <a:prstGeom prst="rect">
            <a:avLst/>
          </a:prstGeom>
          <a:solidFill>
            <a:srgbClr val="FFFFFF"/>
          </a:solidFill>
          <a:ln w="22225">
            <a:solidFill>
              <a:srgbClr val="7152E9"/>
            </a:solidFill>
            <a:prstDash val="solid"/>
          </a:ln>
        </p:spPr>
      </p:sp>
      <p:sp>
        <p:nvSpPr>
          <p:cNvPr id="14" name="Text 11"/>
          <p:cNvSpPr/>
          <p:nvPr/>
        </p:nvSpPr>
        <p:spPr>
          <a:xfrm>
            <a:off x="3468548" y="2606040"/>
            <a:ext cx="244442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MULTISIG</a:t>
            </a:r>
            <a:endParaRPr lang="en-US" sz="1100" dirty="0"/>
          </a:p>
        </p:txBody>
      </p:sp>
      <p:sp>
        <p:nvSpPr>
          <p:cNvPr id="15" name="Text 12"/>
          <p:cNvSpPr/>
          <p:nvPr/>
        </p:nvSpPr>
        <p:spPr>
          <a:xfrm>
            <a:off x="3468548" y="2916936"/>
            <a:ext cx="2444420" cy="57607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m de n personas conocidas firman</a:t>
            </a:r>
            <a:endParaRPr lang="en-US" sz="1100" dirty="0"/>
          </a:p>
        </p:txBody>
      </p:sp>
      <p:sp>
        <p:nvSpPr>
          <p:cNvPr id="16" name="Shape 13"/>
          <p:cNvSpPr/>
          <p:nvPr/>
        </p:nvSpPr>
        <p:spPr>
          <a:xfrm>
            <a:off x="6022696" y="3035808"/>
            <a:ext cx="146304" cy="914"/>
          </a:xfrm>
          <a:prstGeom prst="line">
            <a:avLst/>
          </a:prstGeom>
          <a:noFill/>
          <a:ln w="19050">
            <a:solidFill>
              <a:srgbClr val="0F0F11"/>
            </a:solidFill>
            <a:prstDash val="solid"/>
            <a:tailEnd type="triangle"/>
          </a:ln>
        </p:spPr>
      </p:sp>
      <p:sp>
        <p:nvSpPr>
          <p:cNvPr id="17" name="Shape 14"/>
          <p:cNvSpPr/>
          <p:nvPr/>
        </p:nvSpPr>
        <p:spPr>
          <a:xfrm>
            <a:off x="6187288" y="2514600"/>
            <a:ext cx="2627300" cy="1051560"/>
          </a:xfrm>
          <a:prstGeom prst="rect">
            <a:avLst/>
          </a:prstGeom>
          <a:solidFill>
            <a:srgbClr val="FAF9FB"/>
          </a:solidFill>
          <a:ln w="22225">
            <a:solidFill>
              <a:srgbClr val="0F0F11"/>
            </a:solidFill>
            <a:prstDash val="solid"/>
          </a:ln>
        </p:spPr>
      </p:sp>
      <p:sp>
        <p:nvSpPr>
          <p:cNvPr id="18" name="Text 15"/>
          <p:cNvSpPr/>
          <p:nvPr/>
        </p:nvSpPr>
        <p:spPr>
          <a:xfrm>
            <a:off x="6278728" y="2606040"/>
            <a:ext cx="244442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MULTISIG + VOTO</a:t>
            </a:r>
            <a:endParaRPr lang="en-US" sz="1100" dirty="0"/>
          </a:p>
        </p:txBody>
      </p:sp>
      <p:sp>
        <p:nvSpPr>
          <p:cNvPr id="19" name="Text 16"/>
          <p:cNvSpPr/>
          <p:nvPr/>
        </p:nvSpPr>
        <p:spPr>
          <a:xfrm>
            <a:off x="6278728" y="2916936"/>
            <a:ext cx="2444420" cy="57607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la comunidad opina; el multisig ejecuta</a:t>
            </a:r>
            <a:endParaRPr lang="en-US" sz="1100" dirty="0"/>
          </a:p>
        </p:txBody>
      </p:sp>
      <p:sp>
        <p:nvSpPr>
          <p:cNvPr id="20" name="Shape 17"/>
          <p:cNvSpPr/>
          <p:nvPr/>
        </p:nvSpPr>
        <p:spPr>
          <a:xfrm>
            <a:off x="8832875" y="3035808"/>
            <a:ext cx="146304" cy="914"/>
          </a:xfrm>
          <a:prstGeom prst="line">
            <a:avLst/>
          </a:prstGeom>
          <a:noFill/>
          <a:ln w="19050">
            <a:solidFill>
              <a:srgbClr val="0F0F11"/>
            </a:solidFill>
            <a:prstDash val="solid"/>
            <a:tailEnd type="triangle"/>
          </a:ln>
        </p:spPr>
      </p:sp>
      <p:sp>
        <p:nvSpPr>
          <p:cNvPr id="21" name="Shape 18"/>
          <p:cNvSpPr/>
          <p:nvPr/>
        </p:nvSpPr>
        <p:spPr>
          <a:xfrm>
            <a:off x="8997467" y="2514600"/>
            <a:ext cx="2627300" cy="1051560"/>
          </a:xfrm>
          <a:prstGeom prst="rect">
            <a:avLst/>
          </a:prstGeom>
          <a:solidFill>
            <a:srgbClr val="FAF9FB"/>
          </a:solidFill>
          <a:ln w="22225">
            <a:solidFill>
              <a:srgbClr val="F07F06"/>
            </a:solidFill>
            <a:prstDash val="solid"/>
          </a:ln>
        </p:spPr>
      </p:sp>
      <p:sp>
        <p:nvSpPr>
          <p:cNvPr id="22" name="Text 19"/>
          <p:cNvSpPr/>
          <p:nvPr/>
        </p:nvSpPr>
        <p:spPr>
          <a:xfrm>
            <a:off x="9088907" y="2606040"/>
            <a:ext cx="244442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ON-CHAIN PLENA</a:t>
            </a:r>
            <a:endParaRPr lang="en-US" sz="1100" dirty="0"/>
          </a:p>
        </p:txBody>
      </p:sp>
      <p:sp>
        <p:nvSpPr>
          <p:cNvPr id="23" name="Text 20"/>
          <p:cNvSpPr/>
          <p:nvPr/>
        </p:nvSpPr>
        <p:spPr>
          <a:xfrm>
            <a:off x="9088907" y="2916936"/>
            <a:ext cx="2444420" cy="57607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votan miles; el código ejecuta solo</a:t>
            </a:r>
            <a:endParaRPr lang="en-US" sz="1100" dirty="0"/>
          </a:p>
        </p:txBody>
      </p:sp>
      <p:sp>
        <p:nvSpPr>
          <p:cNvPr id="24" name="Text 21"/>
          <p:cNvSpPr/>
          <p:nvPr/>
        </p:nvSpPr>
        <p:spPr>
          <a:xfrm>
            <a:off x="566928" y="3703320"/>
            <a:ext cx="4572000" cy="292608"/>
          </a:xfrm>
          <a:prstGeom prst="rect">
            <a:avLst/>
          </a:prstGeom>
          <a:noFill/>
          <a:ln/>
        </p:spPr>
        <p:txBody>
          <a:bodyPr wrap="square" lIns="0" tIns="0" rIns="0" bIns="0" rtlCol="0" anchor="ctr"/>
          <a:lstStyle/>
          <a:p>
            <a:pPr indent="0" marL="0">
              <a:buNone/>
            </a:pPr>
            <a:r>
              <a:rPr lang="en-US" sz="900" b="1" spc="130" kern="0" dirty="0">
                <a:solidFill>
                  <a:srgbClr val="6F6B80"/>
                </a:solidFill>
                <a:latin typeface="Courier New" pitchFamily="34" charset="0"/>
                <a:ea typeface="Courier New" pitchFamily="34" charset="-122"/>
                <a:cs typeface="Courier New" pitchFamily="34" charset="-120"/>
              </a:rPr>
              <a:t>MÁS RÁPIDO, MÁS CONCENTRADO</a:t>
            </a:r>
            <a:endParaRPr lang="en-US" sz="900" dirty="0"/>
          </a:p>
        </p:txBody>
      </p:sp>
      <p:sp>
        <p:nvSpPr>
          <p:cNvPr id="25" name="Text 22"/>
          <p:cNvSpPr/>
          <p:nvPr/>
        </p:nvSpPr>
        <p:spPr>
          <a:xfrm>
            <a:off x="7052767" y="3703320"/>
            <a:ext cx="4572000" cy="292608"/>
          </a:xfrm>
          <a:prstGeom prst="rect">
            <a:avLst/>
          </a:prstGeom>
          <a:noFill/>
          <a:ln/>
        </p:spPr>
        <p:txBody>
          <a:bodyPr wrap="square" lIns="0" tIns="0" rIns="0" bIns="0" rtlCol="0" anchor="ctr"/>
          <a:lstStyle/>
          <a:p>
            <a:pPr algn="r" indent="0" marL="0">
              <a:buNone/>
            </a:pPr>
            <a:r>
              <a:rPr lang="en-US" sz="900" b="1" spc="130" kern="0" dirty="0">
                <a:solidFill>
                  <a:srgbClr val="6F6B80"/>
                </a:solidFill>
                <a:latin typeface="Courier New" pitchFamily="34" charset="0"/>
                <a:ea typeface="Courier New" pitchFamily="34" charset="-122"/>
                <a:cs typeface="Courier New" pitchFamily="34" charset="-120"/>
              </a:rPr>
              <a:t>MÁS LENTO, MÁS REPARTIDO</a:t>
            </a:r>
            <a:endParaRPr lang="en-US" sz="900" dirty="0"/>
          </a:p>
        </p:txBody>
      </p:sp>
      <p:sp>
        <p:nvSpPr>
          <p:cNvPr id="26" name="Shape 23"/>
          <p:cNvSpPr/>
          <p:nvPr/>
        </p:nvSpPr>
        <p:spPr>
          <a:xfrm>
            <a:off x="566928" y="4114800"/>
            <a:ext cx="11057839" cy="1078992"/>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7" name="Image 1" descr="preencoded.png">    </p:cNvPr>
          <p:cNvPicPr>
            <a:picLocks noChangeAspect="1"/>
          </p:cNvPicPr>
          <p:nvPr/>
        </p:nvPicPr>
        <p:blipFill>
          <a:blip r:embed="rId2"/>
          <a:stretch>
            <a:fillRect/>
          </a:stretch>
        </p:blipFill>
        <p:spPr>
          <a:xfrm>
            <a:off x="804672" y="4334256"/>
            <a:ext cx="237744" cy="237744"/>
          </a:xfrm>
          <a:prstGeom prst="rect">
            <a:avLst/>
          </a:prstGeom>
        </p:spPr>
      </p:pic>
      <p:sp>
        <p:nvSpPr>
          <p:cNvPr id="28" name="Text 24"/>
          <p:cNvSpPr/>
          <p:nvPr/>
        </p:nvSpPr>
        <p:spPr>
          <a:xfrm>
            <a:off x="1133856" y="43068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ERROR DE CONCEPTO TÍPICO</a:t>
            </a:r>
            <a:endParaRPr lang="en-US" sz="950" dirty="0"/>
          </a:p>
        </p:txBody>
      </p:sp>
      <p:sp>
        <p:nvSpPr>
          <p:cNvPr id="29" name="Text 25"/>
          <p:cNvSpPr/>
          <p:nvPr/>
        </p:nvSpPr>
        <p:spPr>
          <a:xfrm>
            <a:off x="804672" y="4626864"/>
            <a:ext cx="10582351" cy="47548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es una DAO, está descentralizada». No: muchas «DAOs» son, en la práctica, un multisig de cinco fundadores con una votación consultiva encima.</a:t>
            </a:r>
            <a:endParaRPr lang="en-US" sz="1250" dirty="0"/>
          </a:p>
        </p:txBody>
      </p:sp>
      <p:sp>
        <p:nvSpPr>
          <p:cNvPr id="30" name="Text 26"/>
          <p:cNvSpPr/>
          <p:nvPr/>
        </p:nvSpPr>
        <p:spPr>
          <a:xfrm>
            <a:off x="566928" y="5376672"/>
            <a:ext cx="11057839" cy="7315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El consejo que sorprende: casi siempre, al principio, lo correcto es la segunda casilla. La cuarta tiene sentido con una comunidad grande y real que gobernar, no antes.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MULTISIG · LA IDEA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M DE N: NINGUNA LLAVE SOLA ABRE LA CAJA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Una cuenta multifirma exige que m de n personas firmen para ejecutar una transacción. Lo que se elige al crearla son dos números, y cada combinación resiste cosas distintas: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1057839" cy="914400"/>
        </p:xfrm>
        <a:graphic>
          <a:graphicData uri="http://schemas.openxmlformats.org/drawingml/2006/table">
            <a:tbl>
              <a:tblPr/>
              <a:tblGrid>
                <a:gridCol w="1463040"/>
                <a:gridCol w="2286000"/>
                <a:gridCol w="2286000"/>
                <a:gridCol w="50227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ESQUEMA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SOBREVIVE A PERDER…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RESISTE QUE ROBEN…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COMENTARIO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520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 de 2</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 clave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 claves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llave de repuesto. Cualquiera de los dos puede vaciarla.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520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de 2</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 claves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 clave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 uno pierde su clave, los fondos quedan congelados.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520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de 3</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 clave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 clave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equilibrio típico de un equipo pequeño.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520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3 de 5</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 claves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 claves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Tesorerías de proyectos; más lento de coordinar.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679192"/>
            <a:ext cx="11094415" cy="2368296"/>
          </a:xfrm>
          <a:prstGeom prst="rect">
            <a:avLst/>
          </a:prstGeom>
          <a:ln w="22225">
            <a:solidFill>
              <a:srgbClr val="0F0F11"/>
            </a:solidFill>
            <a:prstDash val="solid"/>
          </a:ln>
        </p:spPr>
      </p:sp>
      <p:sp>
        <p:nvSpPr>
          <p:cNvPr id="11" name="Shape 7"/>
          <p:cNvSpPr/>
          <p:nvPr/>
        </p:nvSpPr>
        <p:spPr>
          <a:xfrm>
            <a:off x="566928" y="5212080"/>
            <a:ext cx="11057839" cy="457200"/>
          </a:xfrm>
          <a:prstGeom prst="rect">
            <a:avLst/>
          </a:prstGeom>
          <a:solidFill>
            <a:srgbClr val="F2F0F5"/>
          </a:solidFill>
          <a:ln w="12700">
            <a:solidFill>
              <a:srgbClr val="7152E9"/>
            </a:solidFill>
            <a:prstDash val="solid"/>
          </a:ln>
        </p:spPr>
      </p:sp>
      <p:sp>
        <p:nvSpPr>
          <p:cNvPr id="12" name="Text 8"/>
          <p:cNvSpPr/>
          <p:nvPr/>
        </p:nvSpPr>
        <p:spPr>
          <a:xfrm>
            <a:off x="731520" y="5285232"/>
            <a:ext cx="10728655" cy="310896"/>
          </a:xfrm>
          <a:prstGeom prst="rect">
            <a:avLst/>
          </a:prstGeom>
          <a:noFill/>
          <a:ln/>
        </p:spPr>
        <p:txBody>
          <a:bodyPr wrap="square" lIns="0" tIns="0" rIns="0" bIns="0" rtlCol="0" anchor="ctr"/>
          <a:lstStyle/>
          <a:p>
            <a:pPr indent="0" marL="0">
              <a:lnSpc>
                <a:spcPct val="120000"/>
              </a:lnSpc>
              <a:buNone/>
            </a:pPr>
            <a:r>
              <a:rPr lang="en-US" sz="1200" dirty="0">
                <a:solidFill>
                  <a:srgbClr val="3A3844"/>
                </a:solidFill>
                <a:latin typeface="Courier New" pitchFamily="34" charset="0"/>
                <a:ea typeface="Courier New" pitchFamily="34" charset="-122"/>
                <a:cs typeface="Courier New" pitchFamily="34" charset="-120"/>
              </a:rPr>
              <a:t>regla: sobrevive a perder n − m claves  ·  resiste que roben m − 1 claves</a:t>
            </a:r>
            <a:endParaRPr lang="en-US" sz="1200" dirty="0"/>
          </a:p>
        </p:txBody>
      </p:sp>
      <p:sp>
        <p:nvSpPr>
          <p:cNvPr id="13" name="Text 9"/>
          <p:cNvSpPr/>
          <p:nvPr/>
        </p:nvSpPr>
        <p:spPr>
          <a:xfrm>
            <a:off x="566928" y="5760720"/>
            <a:ext cx="11057839" cy="41148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Error típico: un 2 de 3 donde las tres claves viven en el mismo portátil es, en la práctica, un 1 de 1.</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MULTISIG EN LA PRÁCTICA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SAFE: FIRMAR GRATIS, EJECUTAR UNA VEZ</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Shape 5"/>
          <p:cNvSpPr/>
          <p:nvPr/>
        </p:nvSpPr>
        <p:spPr>
          <a:xfrm>
            <a:off x="566928" y="1737360"/>
            <a:ext cx="11057839" cy="731520"/>
          </a:xfrm>
          <a:prstGeom prst="rect">
            <a:avLst/>
          </a:prstGeom>
          <a:solidFill>
            <a:srgbClr val="FFFFFF"/>
          </a:solidFill>
          <a:ln w="15875">
            <a:solidFill>
              <a:srgbClr val="D9D6E0"/>
            </a:solidFill>
            <a:prstDash val="solid"/>
          </a:ln>
        </p:spPr>
      </p:sp>
      <p:sp>
        <p:nvSpPr>
          <p:cNvPr id="9" name="Text 6"/>
          <p:cNvSpPr/>
          <p:nvPr/>
        </p:nvSpPr>
        <p:spPr>
          <a:xfrm>
            <a:off x="694944" y="173736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56816"/>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CREAR</a:t>
            </a:r>
            <a:endParaRPr lang="en-US" sz="1000" dirty="0"/>
          </a:p>
        </p:txBody>
      </p:sp>
      <p:sp>
        <p:nvSpPr>
          <p:cNvPr id="11" name="Text 8"/>
          <p:cNvSpPr/>
          <p:nvPr/>
        </p:nvSpPr>
        <p:spPr>
          <a:xfrm>
            <a:off x="3383280" y="1828800"/>
            <a:ext cx="813175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 app.safe.global se eligen red, firmantes y umbral. Con 2 o más firmantes, el despliegue paga gas.</a:t>
            </a:r>
            <a:endParaRPr lang="en-US" sz="1250" dirty="0"/>
          </a:p>
        </p:txBody>
      </p:sp>
      <p:sp>
        <p:nvSpPr>
          <p:cNvPr id="12" name="Shape 9"/>
          <p:cNvSpPr/>
          <p:nvPr/>
        </p:nvSpPr>
        <p:spPr>
          <a:xfrm>
            <a:off x="566928" y="2578608"/>
            <a:ext cx="11057839" cy="731520"/>
          </a:xfrm>
          <a:prstGeom prst="rect">
            <a:avLst/>
          </a:prstGeom>
          <a:solidFill>
            <a:srgbClr val="FAF9FB"/>
          </a:solidFill>
          <a:ln w="15875">
            <a:solidFill>
              <a:srgbClr val="D9D6E0"/>
            </a:solidFill>
            <a:prstDash val="solid"/>
          </a:ln>
        </p:spPr>
      </p:sp>
      <p:sp>
        <p:nvSpPr>
          <p:cNvPr id="13" name="Text 10"/>
          <p:cNvSpPr/>
          <p:nvPr/>
        </p:nvSpPr>
        <p:spPr>
          <a:xfrm>
            <a:off x="694944" y="2578608"/>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98064"/>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PROPONER</a:t>
            </a:r>
            <a:endParaRPr lang="en-US" sz="1000" dirty="0"/>
          </a:p>
        </p:txBody>
      </p:sp>
      <p:sp>
        <p:nvSpPr>
          <p:cNvPr id="15" name="Text 12"/>
          <p:cNvSpPr/>
          <p:nvPr/>
        </p:nvSpPr>
        <p:spPr>
          <a:xfrm>
            <a:off x="3383280" y="2670048"/>
            <a:ext cx="813175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 firmante arma la transacción y la firma. La firma NO es una transacción: no cuesta gas.</a:t>
            </a:r>
            <a:endParaRPr lang="en-US" sz="1250" dirty="0"/>
          </a:p>
        </p:txBody>
      </p:sp>
      <p:sp>
        <p:nvSpPr>
          <p:cNvPr id="16" name="Shape 13"/>
          <p:cNvSpPr/>
          <p:nvPr/>
        </p:nvSpPr>
        <p:spPr>
          <a:xfrm>
            <a:off x="566928" y="3419856"/>
            <a:ext cx="11057839" cy="731520"/>
          </a:xfrm>
          <a:prstGeom prst="rect">
            <a:avLst/>
          </a:prstGeom>
          <a:solidFill>
            <a:srgbClr val="FFFFFF"/>
          </a:solidFill>
          <a:ln w="15875">
            <a:solidFill>
              <a:srgbClr val="D9D6E0"/>
            </a:solidFill>
            <a:prstDash val="solid"/>
          </a:ln>
        </p:spPr>
      </p:sp>
      <p:sp>
        <p:nvSpPr>
          <p:cNvPr id="17" name="Text 14"/>
          <p:cNvSpPr/>
          <p:nvPr/>
        </p:nvSpPr>
        <p:spPr>
          <a:xfrm>
            <a:off x="694944" y="3419856"/>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639312"/>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CONFIRMAR</a:t>
            </a:r>
            <a:endParaRPr lang="en-US" sz="1000" dirty="0"/>
          </a:p>
        </p:txBody>
      </p:sp>
      <p:sp>
        <p:nvSpPr>
          <p:cNvPr id="19" name="Text 16"/>
          <p:cNvSpPr/>
          <p:nvPr/>
        </p:nvSpPr>
        <p:spPr>
          <a:xfrm>
            <a:off x="3383280" y="3511296"/>
            <a:ext cx="813175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segundo firmante revisa y firma también, fuera de la cadena. Queda en la cola.</a:t>
            </a:r>
            <a:endParaRPr lang="en-US" sz="1250" dirty="0"/>
          </a:p>
        </p:txBody>
      </p:sp>
      <p:sp>
        <p:nvSpPr>
          <p:cNvPr id="20" name="Shape 17"/>
          <p:cNvSpPr/>
          <p:nvPr/>
        </p:nvSpPr>
        <p:spPr>
          <a:xfrm>
            <a:off x="566928" y="4261104"/>
            <a:ext cx="11057839" cy="731520"/>
          </a:xfrm>
          <a:prstGeom prst="rect">
            <a:avLst/>
          </a:prstGeom>
          <a:solidFill>
            <a:srgbClr val="FAF9FB"/>
          </a:solidFill>
          <a:ln w="15875">
            <a:solidFill>
              <a:srgbClr val="D9D6E0"/>
            </a:solidFill>
            <a:prstDash val="solid"/>
          </a:ln>
        </p:spPr>
      </p:sp>
      <p:sp>
        <p:nvSpPr>
          <p:cNvPr id="21" name="Text 18"/>
          <p:cNvSpPr/>
          <p:nvPr/>
        </p:nvSpPr>
        <p:spPr>
          <a:xfrm>
            <a:off x="694944" y="4261104"/>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480560"/>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EJECUTAR</a:t>
            </a:r>
            <a:endParaRPr lang="en-US" sz="1000" dirty="0"/>
          </a:p>
        </p:txBody>
      </p:sp>
      <p:sp>
        <p:nvSpPr>
          <p:cNvPr id="23" name="Text 20"/>
          <p:cNvSpPr/>
          <p:nvPr/>
        </p:nvSpPr>
        <p:spPr>
          <a:xfrm>
            <a:off x="3383280" y="4352544"/>
            <a:ext cx="8131759" cy="58521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Con el umbral reunido, cualquiera ejecuta: UNA transacción que lleva todas las firmas. Solo ella paga gas.</a:t>
            </a:r>
            <a:endParaRPr lang="en-US" sz="1250" dirty="0"/>
          </a:p>
        </p:txBody>
      </p:sp>
      <p:sp>
        <p:nvSpPr>
          <p:cNvPr id="24" name="Shape 21"/>
          <p:cNvSpPr/>
          <p:nvPr/>
        </p:nvSpPr>
        <p:spPr>
          <a:xfrm>
            <a:off x="566928" y="5120640"/>
            <a:ext cx="11057839" cy="1024128"/>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25"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26" name="Text 22"/>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VERIFICADO HOY PARA EL LABORATORIO</a:t>
            </a:r>
            <a:endParaRPr lang="en-US" sz="950" dirty="0"/>
          </a:p>
        </p:txBody>
      </p:sp>
      <p:sp>
        <p:nvSpPr>
          <p:cNvPr id="27" name="Text 23"/>
          <p:cNvSpPr/>
          <p:nvPr/>
        </p:nvSpPr>
        <p:spPr>
          <a:xfrm>
            <a:off x="804672" y="5632704"/>
            <a:ext cx="10582351" cy="42062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Safe{Wallet} soporta Sepolia (sí) y NO lista OP Sepolia. El laboratorio usa Sepolia. Y trae un multisig mínimo propio (MultisigUSB) para ver el mecanismo por dentro sin red.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GOBERNANZA ON-CHAIN · LAS PIEZAS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TOKEN, GOVERNOR, TIMELOCK Y TESORERÍA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828800"/>
            <a:ext cx="2468880" cy="1005840"/>
          </a:xfrm>
          <a:prstGeom prst="rect">
            <a:avLst/>
          </a:prstGeom>
          <a:solidFill>
            <a:srgbClr val="FFFFFF"/>
          </a:solidFill>
          <a:ln w="22225">
            <a:solidFill>
              <a:srgbClr val="0F0F11"/>
            </a:solidFill>
            <a:prstDash val="solid"/>
          </a:ln>
        </p:spPr>
      </p:sp>
      <p:sp>
        <p:nvSpPr>
          <p:cNvPr id="9" name="Text 6"/>
          <p:cNvSpPr/>
          <p:nvPr/>
        </p:nvSpPr>
        <p:spPr>
          <a:xfrm>
            <a:off x="658368" y="1920240"/>
            <a:ext cx="22860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TOKENVOTO</a:t>
            </a:r>
            <a:endParaRPr lang="en-US" sz="1100" dirty="0"/>
          </a:p>
        </p:txBody>
      </p:sp>
      <p:sp>
        <p:nvSpPr>
          <p:cNvPr id="10" name="Text 7"/>
          <p:cNvSpPr/>
          <p:nvPr/>
        </p:nvSpPr>
        <p:spPr>
          <a:xfrm>
            <a:off x="658368" y="2231136"/>
            <a:ext cx="2286000" cy="53035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ERC20Votes: saldos</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 historial de votos</a:t>
            </a:r>
            <a:endParaRPr lang="en-US" sz="1050" dirty="0"/>
          </a:p>
        </p:txBody>
      </p:sp>
      <p:sp>
        <p:nvSpPr>
          <p:cNvPr id="11" name="Shape 8"/>
          <p:cNvSpPr/>
          <p:nvPr/>
        </p:nvSpPr>
        <p:spPr>
          <a:xfrm>
            <a:off x="3081528" y="2331720"/>
            <a:ext cx="548640" cy="914"/>
          </a:xfrm>
          <a:prstGeom prst="line">
            <a:avLst/>
          </a:prstGeom>
          <a:noFill/>
          <a:ln w="25400">
            <a:solidFill>
              <a:srgbClr val="0F0F11"/>
            </a:solidFill>
            <a:prstDash val="solid"/>
            <a:tailEnd type="triangle"/>
          </a:ln>
        </p:spPr>
      </p:sp>
      <p:sp>
        <p:nvSpPr>
          <p:cNvPr id="12" name="Shape 9"/>
          <p:cNvSpPr/>
          <p:nvPr/>
        </p:nvSpPr>
        <p:spPr>
          <a:xfrm>
            <a:off x="3675888" y="1828800"/>
            <a:ext cx="2468880" cy="1005840"/>
          </a:xfrm>
          <a:prstGeom prst="rect">
            <a:avLst/>
          </a:prstGeom>
          <a:solidFill>
            <a:srgbClr val="FFFFFF"/>
          </a:solidFill>
          <a:ln w="22225">
            <a:solidFill>
              <a:srgbClr val="7152E9"/>
            </a:solidFill>
            <a:prstDash val="solid"/>
          </a:ln>
        </p:spPr>
      </p:sp>
      <p:sp>
        <p:nvSpPr>
          <p:cNvPr id="13" name="Text 10"/>
          <p:cNvSpPr/>
          <p:nvPr/>
        </p:nvSpPr>
        <p:spPr>
          <a:xfrm>
            <a:off x="3767328" y="1920240"/>
            <a:ext cx="22860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GOBIERNOUSB</a:t>
            </a:r>
            <a:endParaRPr lang="en-US" sz="1100" dirty="0"/>
          </a:p>
        </p:txBody>
      </p:sp>
      <p:sp>
        <p:nvSpPr>
          <p:cNvPr id="14" name="Text 11"/>
          <p:cNvSpPr/>
          <p:nvPr/>
        </p:nvSpPr>
        <p:spPr>
          <a:xfrm>
            <a:off x="3767328" y="2231136"/>
            <a:ext cx="2286000" cy="53035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Governor: propuestas,</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votos, quórum</a:t>
            </a:r>
            <a:endParaRPr lang="en-US" sz="1050" dirty="0"/>
          </a:p>
        </p:txBody>
      </p:sp>
      <p:sp>
        <p:nvSpPr>
          <p:cNvPr id="15" name="Shape 12"/>
          <p:cNvSpPr/>
          <p:nvPr/>
        </p:nvSpPr>
        <p:spPr>
          <a:xfrm>
            <a:off x="6190488" y="2331720"/>
            <a:ext cx="548640" cy="914"/>
          </a:xfrm>
          <a:prstGeom prst="line">
            <a:avLst/>
          </a:prstGeom>
          <a:noFill/>
          <a:ln w="25400">
            <a:solidFill>
              <a:srgbClr val="0F0F11"/>
            </a:solidFill>
            <a:prstDash val="solid"/>
            <a:tailEnd type="triangle"/>
          </a:ln>
        </p:spPr>
      </p:sp>
      <p:sp>
        <p:nvSpPr>
          <p:cNvPr id="16" name="Shape 13"/>
          <p:cNvSpPr/>
          <p:nvPr/>
        </p:nvSpPr>
        <p:spPr>
          <a:xfrm>
            <a:off x="6784848" y="1828800"/>
            <a:ext cx="2468880" cy="1005840"/>
          </a:xfrm>
          <a:prstGeom prst="rect">
            <a:avLst/>
          </a:prstGeom>
          <a:solidFill>
            <a:srgbClr val="FFFFFF"/>
          </a:solidFill>
          <a:ln w="22225">
            <a:solidFill>
              <a:srgbClr val="F07F06"/>
            </a:solidFill>
            <a:prstDash val="solid"/>
          </a:ln>
        </p:spPr>
      </p:sp>
      <p:sp>
        <p:nvSpPr>
          <p:cNvPr id="17" name="Text 14"/>
          <p:cNvSpPr/>
          <p:nvPr/>
        </p:nvSpPr>
        <p:spPr>
          <a:xfrm>
            <a:off x="6876288" y="1920240"/>
            <a:ext cx="22860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TIMELOCKUSB</a:t>
            </a:r>
            <a:endParaRPr lang="en-US" sz="1100" dirty="0"/>
          </a:p>
        </p:txBody>
      </p:sp>
      <p:sp>
        <p:nvSpPr>
          <p:cNvPr id="18" name="Text 15"/>
          <p:cNvSpPr/>
          <p:nvPr/>
        </p:nvSpPr>
        <p:spPr>
          <a:xfrm>
            <a:off x="6876288" y="2231136"/>
            <a:ext cx="2286000" cy="53035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espera el plazo</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y EJECUTA</a:t>
            </a:r>
            <a:endParaRPr lang="en-US" sz="1050" dirty="0"/>
          </a:p>
        </p:txBody>
      </p:sp>
      <p:sp>
        <p:nvSpPr>
          <p:cNvPr id="19" name="Shape 16"/>
          <p:cNvSpPr/>
          <p:nvPr/>
        </p:nvSpPr>
        <p:spPr>
          <a:xfrm>
            <a:off x="9299448" y="2331720"/>
            <a:ext cx="548640" cy="914"/>
          </a:xfrm>
          <a:prstGeom prst="line">
            <a:avLst/>
          </a:prstGeom>
          <a:noFill/>
          <a:ln w="25400">
            <a:solidFill>
              <a:srgbClr val="0F0F11"/>
            </a:solidFill>
            <a:prstDash val="solid"/>
            <a:tailEnd type="triangle"/>
          </a:ln>
        </p:spPr>
      </p:sp>
      <p:sp>
        <p:nvSpPr>
          <p:cNvPr id="20" name="Shape 17"/>
          <p:cNvSpPr/>
          <p:nvPr/>
        </p:nvSpPr>
        <p:spPr>
          <a:xfrm>
            <a:off x="9893808" y="1828800"/>
            <a:ext cx="1730959" cy="1005840"/>
          </a:xfrm>
          <a:prstGeom prst="rect">
            <a:avLst/>
          </a:prstGeom>
          <a:solidFill>
            <a:srgbClr val="FAF9FB"/>
          </a:solidFill>
          <a:ln w="22225">
            <a:solidFill>
              <a:srgbClr val="0F0F11"/>
            </a:solidFill>
            <a:prstDash val="solid"/>
          </a:ln>
        </p:spPr>
      </p:sp>
      <p:sp>
        <p:nvSpPr>
          <p:cNvPr id="21" name="Text 18"/>
          <p:cNvSpPr/>
          <p:nvPr/>
        </p:nvSpPr>
        <p:spPr>
          <a:xfrm>
            <a:off x="9985248" y="1920240"/>
            <a:ext cx="1548079"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TESORERÍA</a:t>
            </a:r>
            <a:endParaRPr lang="en-US" sz="1100" dirty="0"/>
          </a:p>
        </p:txBody>
      </p:sp>
      <p:sp>
        <p:nvSpPr>
          <p:cNvPr id="22" name="Text 19"/>
          <p:cNvSpPr/>
          <p:nvPr/>
        </p:nvSpPr>
        <p:spPr>
          <a:xfrm>
            <a:off x="9985248" y="2231136"/>
            <a:ext cx="1548079" cy="53035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owner =</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timelock</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3154680"/>
          <a:ext cx="11057839" cy="914400"/>
        </p:xfrm>
        <a:graphic>
          <a:graphicData uri="http://schemas.openxmlformats.org/drawingml/2006/table">
            <a:tbl>
              <a:tblPr/>
              <a:tblGrid>
                <a:gridCol w="1737360"/>
                <a:gridCol w="4754880"/>
                <a:gridCol w="45655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PIEZA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LE PREGUNTA 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ERROR TÍPICO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583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Governor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al token: ¿cuántos votos tenía cada quien en el bloque de la propuesta?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Creer que cuenta el saldo de HOY: cuenta el de ese bloque.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Timelock</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al Governor: ¿esta operación fue aprobada? Solo él puede agendar.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Dejar al que desplegó como administrador: un dueño escondido.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583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Tesorería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al que llama: ¿eres mi dueño?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Poner de dueño al Governor: quien llama al final es el TIMELOCK.</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24" name="Shape 20"/>
          <p:cNvSpPr/>
          <p:nvPr/>
        </p:nvSpPr>
        <p:spPr>
          <a:xfrm>
            <a:off x="548640" y="3136392"/>
            <a:ext cx="11094415" cy="2322576"/>
          </a:xfrm>
          <a:prstGeom prst="rect">
            <a:avLst/>
          </a:prstGeom>
          <a:ln w="22225">
            <a:solidFill>
              <a:srgbClr val="0F0F11"/>
            </a:solidFill>
            <a:prstDash val="solid"/>
          </a:ln>
        </p:spPr>
      </p:sp>
      <p:sp>
        <p:nvSpPr>
          <p:cNvPr id="25" name="Text 21"/>
          <p:cNvSpPr/>
          <p:nvPr/>
        </p:nvSpPr>
        <p:spPr>
          <a:xfrm>
            <a:off x="566928" y="5623560"/>
            <a:ext cx="11057839" cy="45720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Las cuatro piezas del laboratorio. La flecha es el camino del poder: nadie se la puede saltar.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EL CICLO DE UNA PROPUESTA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SIETE PASOS, CINCO ESTADOS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Shape 5"/>
          <p:cNvSpPr/>
          <p:nvPr/>
        </p:nvSpPr>
        <p:spPr>
          <a:xfrm>
            <a:off x="566928" y="1691640"/>
            <a:ext cx="11057839" cy="548640"/>
          </a:xfrm>
          <a:prstGeom prst="rect">
            <a:avLst/>
          </a:prstGeom>
          <a:solidFill>
            <a:srgbClr val="FFFFFF"/>
          </a:solidFill>
          <a:ln w="15875">
            <a:solidFill>
              <a:srgbClr val="D9D6E0"/>
            </a:solidFill>
            <a:prstDash val="solid"/>
          </a:ln>
        </p:spPr>
      </p:sp>
      <p:sp>
        <p:nvSpPr>
          <p:cNvPr id="9" name="Text 6"/>
          <p:cNvSpPr/>
          <p:nvPr/>
        </p:nvSpPr>
        <p:spPr>
          <a:xfrm>
            <a:off x="694944" y="169164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81965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PROPONER · PENDING</a:t>
            </a:r>
            <a:endParaRPr lang="en-US" sz="1000" dirty="0"/>
          </a:p>
        </p:txBody>
      </p:sp>
      <p:sp>
        <p:nvSpPr>
          <p:cNvPr id="11" name="Text 8"/>
          <p:cNvSpPr/>
          <p:nvPr/>
        </p:nvSpPr>
        <p:spPr>
          <a:xfrm>
            <a:off x="4023360" y="1783080"/>
            <a:ext cx="7491679" cy="40233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Alguien presenta: «liberar 2 ETH de la tesorería al semillero». Queda fijado el bloque de conteo.</a:t>
            </a:r>
            <a:endParaRPr lang="en-US" sz="1150" dirty="0"/>
          </a:p>
        </p:txBody>
      </p:sp>
      <p:sp>
        <p:nvSpPr>
          <p:cNvPr id="12" name="Shape 9"/>
          <p:cNvSpPr/>
          <p:nvPr/>
        </p:nvSpPr>
        <p:spPr>
          <a:xfrm>
            <a:off x="566928" y="2313432"/>
            <a:ext cx="11057839" cy="548640"/>
          </a:xfrm>
          <a:prstGeom prst="rect">
            <a:avLst/>
          </a:prstGeom>
          <a:solidFill>
            <a:srgbClr val="FAF9FB"/>
          </a:solidFill>
          <a:ln w="15875">
            <a:solidFill>
              <a:srgbClr val="D9D6E0"/>
            </a:solidFill>
            <a:prstDash val="solid"/>
          </a:ln>
        </p:spPr>
      </p:sp>
      <p:sp>
        <p:nvSpPr>
          <p:cNvPr id="13" name="Text 10"/>
          <p:cNvSpPr/>
          <p:nvPr/>
        </p:nvSpPr>
        <p:spPr>
          <a:xfrm>
            <a:off x="694944" y="2313432"/>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441448"/>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RETRASO</a:t>
            </a:r>
            <a:endParaRPr lang="en-US" sz="1000" dirty="0"/>
          </a:p>
        </p:txBody>
      </p:sp>
      <p:sp>
        <p:nvSpPr>
          <p:cNvPr id="15" name="Text 12"/>
          <p:cNvSpPr/>
          <p:nvPr/>
        </p:nvSpPr>
        <p:spPr>
          <a:xfrm>
            <a:off x="4023360" y="2404872"/>
            <a:ext cx="7491679" cy="40233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Un plazo antes de abrir la votación, para que todos se enteren (aquí: 1 bloque).</a:t>
            </a:r>
            <a:endParaRPr lang="en-US" sz="1150" dirty="0"/>
          </a:p>
        </p:txBody>
      </p:sp>
      <p:sp>
        <p:nvSpPr>
          <p:cNvPr id="16" name="Shape 13"/>
          <p:cNvSpPr/>
          <p:nvPr/>
        </p:nvSpPr>
        <p:spPr>
          <a:xfrm>
            <a:off x="566928" y="2935224"/>
            <a:ext cx="11057839" cy="548640"/>
          </a:xfrm>
          <a:prstGeom prst="rect">
            <a:avLst/>
          </a:prstGeom>
          <a:solidFill>
            <a:srgbClr val="FFFFFF"/>
          </a:solidFill>
          <a:ln w="15875">
            <a:solidFill>
              <a:srgbClr val="D9D6E0"/>
            </a:solidFill>
            <a:prstDash val="solid"/>
          </a:ln>
        </p:spPr>
      </p:sp>
      <p:sp>
        <p:nvSpPr>
          <p:cNvPr id="17" name="Text 14"/>
          <p:cNvSpPr/>
          <p:nvPr/>
        </p:nvSpPr>
        <p:spPr>
          <a:xfrm>
            <a:off x="694944" y="2935224"/>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063240"/>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VOTAR · ACTIVE</a:t>
            </a:r>
            <a:endParaRPr lang="en-US" sz="1000" dirty="0"/>
          </a:p>
        </p:txBody>
      </p:sp>
      <p:sp>
        <p:nvSpPr>
          <p:cNvPr id="19" name="Text 16"/>
          <p:cNvSpPr/>
          <p:nvPr/>
        </p:nvSpPr>
        <p:spPr>
          <a:xfrm>
            <a:off x="4023360" y="3026664"/>
            <a:ext cx="7491679" cy="40233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A favor, en contra o abstención, con el peso de los votos delegados (aquí: 50 bloques).</a:t>
            </a:r>
            <a:endParaRPr lang="en-US" sz="1150" dirty="0"/>
          </a:p>
        </p:txBody>
      </p:sp>
      <p:sp>
        <p:nvSpPr>
          <p:cNvPr id="20" name="Shape 17"/>
          <p:cNvSpPr/>
          <p:nvPr/>
        </p:nvSpPr>
        <p:spPr>
          <a:xfrm>
            <a:off x="566928" y="3557016"/>
            <a:ext cx="11057839" cy="548640"/>
          </a:xfrm>
          <a:prstGeom prst="rect">
            <a:avLst/>
          </a:prstGeom>
          <a:solidFill>
            <a:srgbClr val="FAF9FB"/>
          </a:solidFill>
          <a:ln w="15875">
            <a:solidFill>
              <a:srgbClr val="D9D6E0"/>
            </a:solidFill>
            <a:prstDash val="solid"/>
          </a:ln>
        </p:spPr>
      </p:sp>
      <p:sp>
        <p:nvSpPr>
          <p:cNvPr id="21" name="Text 18"/>
          <p:cNvSpPr/>
          <p:nvPr/>
        </p:nvSpPr>
        <p:spPr>
          <a:xfrm>
            <a:off x="694944" y="3557016"/>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3685032"/>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CERRAR · SUCCEEDED</a:t>
            </a:r>
            <a:endParaRPr lang="en-US" sz="1000" dirty="0"/>
          </a:p>
        </p:txBody>
      </p:sp>
      <p:sp>
        <p:nvSpPr>
          <p:cNvPr id="23" name="Text 20"/>
          <p:cNvSpPr/>
          <p:nvPr/>
        </p:nvSpPr>
        <p:spPr>
          <a:xfrm>
            <a:off x="4023360" y="3648456"/>
            <a:ext cx="7491679" cy="40233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Si hubo quórum y ganaron los votos a favor. Si no: Defeated, y se acabó.</a:t>
            </a:r>
            <a:endParaRPr lang="en-US" sz="1150" dirty="0"/>
          </a:p>
        </p:txBody>
      </p:sp>
      <p:sp>
        <p:nvSpPr>
          <p:cNvPr id="24" name="Shape 21"/>
          <p:cNvSpPr/>
          <p:nvPr/>
        </p:nvSpPr>
        <p:spPr>
          <a:xfrm>
            <a:off x="566928" y="4178808"/>
            <a:ext cx="11057839" cy="548640"/>
          </a:xfrm>
          <a:prstGeom prst="rect">
            <a:avLst/>
          </a:prstGeom>
          <a:solidFill>
            <a:srgbClr val="FFFFFF"/>
          </a:solidFill>
          <a:ln w="15875">
            <a:solidFill>
              <a:srgbClr val="D9D6E0"/>
            </a:solidFill>
            <a:prstDash val="solid"/>
          </a:ln>
        </p:spPr>
      </p:sp>
      <p:sp>
        <p:nvSpPr>
          <p:cNvPr id="25" name="Text 22"/>
          <p:cNvSpPr/>
          <p:nvPr/>
        </p:nvSpPr>
        <p:spPr>
          <a:xfrm>
            <a:off x="694944" y="4178808"/>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306824"/>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ENCOLAR · QUEUED</a:t>
            </a:r>
            <a:endParaRPr lang="en-US" sz="1000" dirty="0"/>
          </a:p>
        </p:txBody>
      </p:sp>
      <p:sp>
        <p:nvSpPr>
          <p:cNvPr id="27" name="Text 24"/>
          <p:cNvSpPr/>
          <p:nvPr/>
        </p:nvSpPr>
        <p:spPr>
          <a:xfrm>
            <a:off x="4023360" y="4270248"/>
            <a:ext cx="7491679" cy="40233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queue() agenda la operación en el timelock. Empieza a correr el plazo de gracia.</a:t>
            </a:r>
            <a:endParaRPr lang="en-US" sz="1150" dirty="0"/>
          </a:p>
        </p:txBody>
      </p:sp>
      <p:sp>
        <p:nvSpPr>
          <p:cNvPr id="28" name="Shape 25"/>
          <p:cNvSpPr/>
          <p:nvPr/>
        </p:nvSpPr>
        <p:spPr>
          <a:xfrm>
            <a:off x="566928" y="4800600"/>
            <a:ext cx="11057839" cy="548640"/>
          </a:xfrm>
          <a:prstGeom prst="rect">
            <a:avLst/>
          </a:prstGeom>
          <a:solidFill>
            <a:srgbClr val="FAF9FB"/>
          </a:solidFill>
          <a:ln w="15875">
            <a:solidFill>
              <a:srgbClr val="D9D6E0"/>
            </a:solidFill>
            <a:prstDash val="solid"/>
          </a:ln>
        </p:spPr>
      </p:sp>
      <p:sp>
        <p:nvSpPr>
          <p:cNvPr id="29" name="Text 26"/>
          <p:cNvSpPr/>
          <p:nvPr/>
        </p:nvSpPr>
        <p:spPr>
          <a:xfrm>
            <a:off x="694944" y="4800600"/>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06</a:t>
            </a:r>
            <a:endParaRPr lang="en-US" sz="1600" dirty="0"/>
          </a:p>
        </p:txBody>
      </p:sp>
      <p:sp>
        <p:nvSpPr>
          <p:cNvPr id="30" name="Text 27"/>
          <p:cNvSpPr/>
          <p:nvPr/>
        </p:nvSpPr>
        <p:spPr>
          <a:xfrm>
            <a:off x="1280160" y="492861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ESPERAR</a:t>
            </a:r>
            <a:endParaRPr lang="en-US" sz="1000" dirty="0"/>
          </a:p>
        </p:txBody>
      </p:sp>
      <p:sp>
        <p:nvSpPr>
          <p:cNvPr id="31" name="Text 28"/>
          <p:cNvSpPr/>
          <p:nvPr/>
        </p:nvSpPr>
        <p:spPr>
          <a:xfrm>
            <a:off x="4023360" y="4892040"/>
            <a:ext cx="7491679" cy="40233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Pasa el retardo mínimo (en segundos). Quien no esté de acuerdo puede irse a tiempo.</a:t>
            </a:r>
            <a:endParaRPr lang="en-US" sz="1150" dirty="0"/>
          </a:p>
        </p:txBody>
      </p:sp>
      <p:sp>
        <p:nvSpPr>
          <p:cNvPr id="32" name="Shape 29"/>
          <p:cNvSpPr/>
          <p:nvPr/>
        </p:nvSpPr>
        <p:spPr>
          <a:xfrm>
            <a:off x="566928" y="5422392"/>
            <a:ext cx="11057839" cy="548640"/>
          </a:xfrm>
          <a:prstGeom prst="rect">
            <a:avLst/>
          </a:prstGeom>
          <a:solidFill>
            <a:srgbClr val="FFFFFF"/>
          </a:solidFill>
          <a:ln w="15875">
            <a:solidFill>
              <a:srgbClr val="D9D6E0"/>
            </a:solidFill>
            <a:prstDash val="solid"/>
          </a:ln>
        </p:spPr>
      </p:sp>
      <p:sp>
        <p:nvSpPr>
          <p:cNvPr id="33" name="Text 30"/>
          <p:cNvSpPr/>
          <p:nvPr/>
        </p:nvSpPr>
        <p:spPr>
          <a:xfrm>
            <a:off x="694944" y="5422392"/>
            <a:ext cx="548640" cy="54864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07</a:t>
            </a:r>
            <a:endParaRPr lang="en-US" sz="1600" dirty="0"/>
          </a:p>
        </p:txBody>
      </p:sp>
      <p:sp>
        <p:nvSpPr>
          <p:cNvPr id="34" name="Text 31"/>
          <p:cNvSpPr/>
          <p:nvPr/>
        </p:nvSpPr>
        <p:spPr>
          <a:xfrm>
            <a:off x="1280160" y="5550408"/>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EJECUTAR · EXECUTED</a:t>
            </a:r>
            <a:endParaRPr lang="en-US" sz="1000" dirty="0"/>
          </a:p>
        </p:txBody>
      </p:sp>
      <p:sp>
        <p:nvSpPr>
          <p:cNvPr id="35" name="Text 32"/>
          <p:cNvSpPr/>
          <p:nvPr/>
        </p:nvSpPr>
        <p:spPr>
          <a:xfrm>
            <a:off x="4023360" y="5513832"/>
            <a:ext cx="7491679" cy="40233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Cualquiera llama execute(). El timelock hace exactamente lo aprobado.</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EL CICLO CON NÚMEROS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UNA PROPUESTA REAL DEL LABORATORIO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Ana tiene 60 votos, Beto 30 y Carla 10 (100 en total, todos delegados). Quórum: 4 % = 4 votos. Ana propone en el bloque 100.</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1057839" cy="914400"/>
        </p:xfrm>
        <a:graphic>
          <a:graphicData uri="http://schemas.openxmlformats.org/drawingml/2006/table">
            <a:tbl>
              <a:tblPr/>
              <a:tblGrid>
                <a:gridCol w="1920240"/>
                <a:gridCol w="1737360"/>
                <a:gridCol w="5571439"/>
                <a:gridCol w="182880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MOMENTO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BLOQUE / TIEMPO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PASA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587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propose()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bloque 100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 fija el snapshot: bloque 101 (retraso de 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Pending</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87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votación abierta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102 a 151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Ana vota a favor (60); Beto en contra (30).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Active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587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cierre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bloque 152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Participaron 90 ≥ 4 (quórum) y 60 &gt; 30.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Succeeded</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87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queue()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hora t</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timelock agenda la operación: ejecutable desde t + 3 600 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Queued</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587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execute() antes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 + 10 min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Revierte: TimelockUnexpectedOperationState.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Queued</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87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execute()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 + 1 h</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tesorería envía 2 ETH a Carla.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Executed</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313432"/>
            <a:ext cx="11094415" cy="3099816"/>
          </a:xfrm>
          <a:prstGeom prst="rect">
            <a:avLst/>
          </a:prstGeom>
          <a:ln w="22225">
            <a:solidFill>
              <a:srgbClr val="0F0F11"/>
            </a:solidFill>
            <a:prstDash val="solid"/>
          </a:ln>
        </p:spPr>
      </p:sp>
      <p:sp>
        <p:nvSpPr>
          <p:cNvPr id="11" name="Text 7"/>
          <p:cNvSpPr/>
          <p:nvPr/>
        </p:nvSpPr>
        <p:spPr>
          <a:xfrm>
            <a:off x="566928" y="5532120"/>
            <a:ext cx="11057839" cy="64008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Estos son los números de la prueba «★ proponer, votar, encolar, esperar y ejecutar». En la red local el tiempo se simula: mine(51) salta bloques; time.increase(3601) salta segundos.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QUÓRUM Y MAYORÍA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DOS CONDICIONES DISTINTAS, LAS DOS OBLIGATORIAS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En el conteo simple de OpenZeppelin: el quórum se mide con los votos A FAVOR + ABSTENCIÓN; la mayoría, con A FAVOR frente a EN CONTRA. Mismo padrón de 100 votos, quórum 4:</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1057839" cy="914400"/>
        </p:xfrm>
        <a:graphic>
          <a:graphicData uri="http://schemas.openxmlformats.org/drawingml/2006/table">
            <a:tbl>
              <a:tblPr/>
              <a:tblGrid>
                <a:gridCol w="3291840"/>
                <a:gridCol w="1097280"/>
                <a:gridCol w="1188720"/>
                <a:gridCol w="1280160"/>
                <a:gridCol w="4199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ESCENARIO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 FAVOR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CONTRA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ABSTENCIÓN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RESULTADO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520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Solo Carla vota a favor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Pasa: 10 ≥ 4 y 10 &gt; 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520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Una cuenta con 1 voto vota a favor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Derrotada: 1 &lt; 4, falta quórum aunque sea 100 % a favor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520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Ana en contra, Carla a favor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60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Derrotada: hay quórum, pero 10 &lt; 60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520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Beto se abstiene, Carla a favor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30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Pasa: 40 ≥ 4 y 10 &gt; 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679192"/>
            <a:ext cx="11094415" cy="2368296"/>
          </a:xfrm>
          <a:prstGeom prst="rect">
            <a:avLst/>
          </a:prstGeom>
          <a:ln w="22225">
            <a:solidFill>
              <a:srgbClr val="0F0F11"/>
            </a:solidFill>
            <a:prstDash val="solid"/>
          </a:ln>
        </p:spPr>
      </p:sp>
      <p:sp>
        <p:nvSpPr>
          <p:cNvPr id="11" name="Shape 7"/>
          <p:cNvSpPr/>
          <p:nvPr/>
        </p:nvSpPr>
        <p:spPr>
          <a:xfrm>
            <a:off x="566928" y="5120640"/>
            <a:ext cx="11057839" cy="1051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13" name="Text 8"/>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ERROR DE CONCEPTO TÍPICO</a:t>
            </a:r>
            <a:endParaRPr lang="en-US" sz="950" dirty="0"/>
          </a:p>
        </p:txBody>
      </p:sp>
      <p:sp>
        <p:nvSpPr>
          <p:cNvPr id="14" name="Text 9"/>
          <p:cNvSpPr/>
          <p:nvPr/>
        </p:nvSpPr>
        <p:spPr>
          <a:xfrm>
            <a:off x="804672" y="5632704"/>
            <a:ext cx="10582351" cy="4480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nadie vota en contra, pasa». No: sin quórum, una propuesta 100 % a favor también es derrotada. Lo prueba «sin quórum, la propuesta es derrotada…».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EL PODER DE VOTO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SIN DELEGAR, TUS TOKENS VOTAN CERO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detalle que confunde a todos: tener tokens de gobierno no basta. Hay que DELEGAR el voto —a uno mismo o a otro— para que cuente.</a:t>
            </a:r>
            <a:endParaRPr lang="en-US" sz="1450" dirty="0"/>
          </a:p>
        </p:txBody>
      </p:sp>
      <p:sp>
        <p:nvSpPr>
          <p:cNvPr id="9" name="Shape 6"/>
          <p:cNvSpPr/>
          <p:nvPr/>
        </p:nvSpPr>
        <p:spPr>
          <a:xfrm>
            <a:off x="566928" y="2468880"/>
            <a:ext cx="11057839" cy="2011680"/>
          </a:xfrm>
          <a:prstGeom prst="rect">
            <a:avLst/>
          </a:prstGeom>
          <a:solidFill>
            <a:srgbClr val="16151B"/>
          </a:solidFill>
          <a:ln w="22225">
            <a:solidFill>
              <a:srgbClr val="16151B"/>
            </a:solidFill>
            <a:prstDash val="solid"/>
          </a:ln>
        </p:spPr>
      </p:sp>
      <p:sp>
        <p:nvSpPr>
          <p:cNvPr id="10" name="Text 7"/>
          <p:cNvSpPr/>
          <p:nvPr/>
        </p:nvSpPr>
        <p:spPr>
          <a:xfrm>
            <a:off x="768096" y="254203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LO QUE MUESTRAN LAS PRUEBAS DE TEST/S15/GOBIERNO.TEST.JS</a:t>
            </a:r>
            <a:endParaRPr lang="en-US" sz="850" dirty="0"/>
          </a:p>
        </p:txBody>
      </p:sp>
      <p:sp>
        <p:nvSpPr>
          <p:cNvPr id="11" name="Text 8"/>
          <p:cNvSpPr/>
          <p:nvPr/>
        </p:nvSpPr>
        <p:spPr>
          <a:xfrm>
            <a:off x="768096" y="2852928"/>
            <a:ext cx="10655503" cy="1517904"/>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acunar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balanceOf(ana) = 10</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getVotes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 0      ¡sin delegar!</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delegate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getVotes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 10</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delegate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beto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getVotes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beto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 10     (los tokens siguen siendo de Ana)</a:t>
            </a:r>
            <a:endParaRPr lang="en-US" sz="1150" dirty="0"/>
          </a:p>
        </p:txBody>
      </p:sp>
      <p:sp>
        <p:nvSpPr>
          <p:cNvPr id="12" name="Shape 9"/>
          <p:cNvSpPr/>
          <p:nvPr/>
        </p:nvSpPr>
        <p:spPr>
          <a:xfrm>
            <a:off x="566928" y="4663440"/>
            <a:ext cx="5391760" cy="14630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3" name="Text 10"/>
          <p:cNvSpPr/>
          <p:nvPr/>
        </p:nvSpPr>
        <p:spPr>
          <a:xfrm>
            <a:off x="841248" y="48463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POR QUÉ EXISTE</a:t>
            </a:r>
            <a:endParaRPr lang="en-US" sz="1050" dirty="0"/>
          </a:p>
        </p:txBody>
      </p:sp>
      <p:sp>
        <p:nvSpPr>
          <p:cNvPr id="14" name="Text 11"/>
          <p:cNvSpPr/>
          <p:nvPr/>
        </p:nvSpPr>
        <p:spPr>
          <a:xfrm>
            <a:off x="841248" y="5230368"/>
            <a:ext cx="4843120" cy="7315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Registrar el poder de voto en cada bloque cuesta gas (los checkpoints). Exigir delegar hace que solo se registre quien quiere participar.</a:t>
            </a:r>
            <a:endParaRPr lang="en-US" sz="1250" dirty="0"/>
          </a:p>
        </p:txBody>
      </p:sp>
      <p:sp>
        <p:nvSpPr>
          <p:cNvPr id="15" name="Shape 12"/>
          <p:cNvSpPr/>
          <p:nvPr/>
        </p:nvSpPr>
        <p:spPr>
          <a:xfrm>
            <a:off x="6233008" y="4663440"/>
            <a:ext cx="5391760" cy="14630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6" name="Text 13"/>
          <p:cNvSpPr/>
          <p:nvPr/>
        </p:nvSpPr>
        <p:spPr>
          <a:xfrm>
            <a:off x="6507328" y="48463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PARA QUÉ SIRVE</a:t>
            </a:r>
            <a:endParaRPr lang="en-US" sz="1050" dirty="0"/>
          </a:p>
        </p:txBody>
      </p:sp>
      <p:sp>
        <p:nvSpPr>
          <p:cNvPr id="17" name="Text 14"/>
          <p:cNvSpPr/>
          <p:nvPr/>
        </p:nvSpPr>
        <p:spPr>
          <a:xfrm>
            <a:off x="6507328" y="5230368"/>
            <a:ext cx="4843120" cy="7315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Ceder tu voz a alguien que sigue el tema, sin darle tus tokens: la democracia representativa, en un contrato.</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LA FOTO DEL PADRÓN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VOTO SE CONGELA AL PROPONER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El Governor no pregunta cuántos votos tienes HOY: pregunta cuántos tenías en el bloque del snapshot. Consecuencia: comprar votos después de que se publica la propuesta no sirve de nada.</a:t>
            </a:r>
            <a:endParaRPr lang="en-US" sz="1450" dirty="0"/>
          </a:p>
        </p:txBody>
      </p:sp>
      <p:sp>
        <p:nvSpPr>
          <p:cNvPr id="9" name="Shape 6"/>
          <p:cNvSpPr/>
          <p:nvPr/>
        </p:nvSpPr>
        <p:spPr>
          <a:xfrm>
            <a:off x="566928" y="2788920"/>
            <a:ext cx="11057839" cy="621792"/>
          </a:xfrm>
          <a:prstGeom prst="rect">
            <a:avLst/>
          </a:prstGeom>
          <a:solidFill>
            <a:srgbClr val="FFFFFF"/>
          </a:solidFill>
          <a:ln w="15875">
            <a:solidFill>
              <a:srgbClr val="D9D6E0"/>
            </a:solidFill>
            <a:prstDash val="solid"/>
          </a:ln>
        </p:spPr>
      </p:sp>
      <p:sp>
        <p:nvSpPr>
          <p:cNvPr id="10" name="Text 7"/>
          <p:cNvSpPr/>
          <p:nvPr/>
        </p:nvSpPr>
        <p:spPr>
          <a:xfrm>
            <a:off x="694944" y="2788920"/>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953512"/>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BLOQUE 100</a:t>
            </a:r>
            <a:endParaRPr lang="en-US" sz="1000" dirty="0"/>
          </a:p>
        </p:txBody>
      </p:sp>
      <p:sp>
        <p:nvSpPr>
          <p:cNvPr id="12" name="Text 9"/>
          <p:cNvSpPr/>
          <p:nvPr/>
        </p:nvSpPr>
        <p:spPr>
          <a:xfrm>
            <a:off x="3383280" y="2880360"/>
            <a:ext cx="813175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Ana propone. El snapshot queda en el bloque 101.</a:t>
            </a:r>
            <a:endParaRPr lang="en-US" sz="1250" dirty="0"/>
          </a:p>
        </p:txBody>
      </p:sp>
      <p:sp>
        <p:nvSpPr>
          <p:cNvPr id="13" name="Shape 10"/>
          <p:cNvSpPr/>
          <p:nvPr/>
        </p:nvSpPr>
        <p:spPr>
          <a:xfrm>
            <a:off x="566928" y="3502152"/>
            <a:ext cx="11057839" cy="621792"/>
          </a:xfrm>
          <a:prstGeom prst="rect">
            <a:avLst/>
          </a:prstGeom>
          <a:solidFill>
            <a:srgbClr val="FAF9FB"/>
          </a:solidFill>
          <a:ln w="15875">
            <a:solidFill>
              <a:srgbClr val="D9D6E0"/>
            </a:solidFill>
            <a:prstDash val="solid"/>
          </a:ln>
        </p:spPr>
      </p:sp>
      <p:sp>
        <p:nvSpPr>
          <p:cNvPr id="14" name="Text 11"/>
          <p:cNvSpPr/>
          <p:nvPr/>
        </p:nvSpPr>
        <p:spPr>
          <a:xfrm>
            <a:off x="694944" y="3502152"/>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666744"/>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BLOQUE 103</a:t>
            </a:r>
            <a:endParaRPr lang="en-US" sz="1000" dirty="0"/>
          </a:p>
        </p:txBody>
      </p:sp>
      <p:sp>
        <p:nvSpPr>
          <p:cNvPr id="16" name="Text 13"/>
          <p:cNvSpPr/>
          <p:nvPr/>
        </p:nvSpPr>
        <p:spPr>
          <a:xfrm>
            <a:off x="3383280" y="3593592"/>
            <a:ext cx="813175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 atacante consigue 1 000 votos: diez veces todo lo demás.</a:t>
            </a:r>
            <a:endParaRPr lang="en-US" sz="1250" dirty="0"/>
          </a:p>
        </p:txBody>
      </p:sp>
      <p:sp>
        <p:nvSpPr>
          <p:cNvPr id="17" name="Shape 14"/>
          <p:cNvSpPr/>
          <p:nvPr/>
        </p:nvSpPr>
        <p:spPr>
          <a:xfrm>
            <a:off x="566928" y="4215384"/>
            <a:ext cx="11057839" cy="621792"/>
          </a:xfrm>
          <a:prstGeom prst="rect">
            <a:avLst/>
          </a:prstGeom>
          <a:solidFill>
            <a:srgbClr val="FFFFFF"/>
          </a:solidFill>
          <a:ln w="15875">
            <a:solidFill>
              <a:srgbClr val="D9D6E0"/>
            </a:solidFill>
            <a:prstDash val="solid"/>
          </a:ln>
        </p:spPr>
      </p:sp>
      <p:sp>
        <p:nvSpPr>
          <p:cNvPr id="18" name="Text 15"/>
          <p:cNvSpPr/>
          <p:nvPr/>
        </p:nvSpPr>
        <p:spPr>
          <a:xfrm>
            <a:off x="694944" y="4215384"/>
            <a:ext cx="548640" cy="62179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379976"/>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BLOQUE 104</a:t>
            </a:r>
            <a:endParaRPr lang="en-US" sz="1000" dirty="0"/>
          </a:p>
        </p:txBody>
      </p:sp>
      <p:sp>
        <p:nvSpPr>
          <p:cNvPr id="20" name="Text 17"/>
          <p:cNvSpPr/>
          <p:nvPr/>
        </p:nvSpPr>
        <p:spPr>
          <a:xfrm>
            <a:off x="3383280" y="4306824"/>
            <a:ext cx="8131759" cy="47548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Vota en contra. getVotes(atacante, 101) = 0: su voto pesa CERO.</a:t>
            </a:r>
            <a:endParaRPr lang="en-US" sz="1250" dirty="0"/>
          </a:p>
        </p:txBody>
      </p:sp>
      <p:sp>
        <p:nvSpPr>
          <p:cNvPr id="21" name="Shape 18"/>
          <p:cNvSpPr/>
          <p:nvPr/>
        </p:nvSpPr>
        <p:spPr>
          <a:xfrm>
            <a:off x="566928" y="4983480"/>
            <a:ext cx="11057839" cy="1143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22"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23" name="Text 19"/>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POR QUÉ IMPORTA: EL PRÉSTAMO RELÁMPAGO</a:t>
            </a:r>
            <a:endParaRPr lang="en-US" sz="950" dirty="0"/>
          </a:p>
        </p:txBody>
      </p:sp>
      <p:sp>
        <p:nvSpPr>
          <p:cNvPr id="24" name="Text 20"/>
          <p:cNvSpPr/>
          <p:nvPr/>
        </p:nvSpPr>
        <p:spPr>
          <a:xfrm>
            <a:off x="804672" y="5495544"/>
            <a:ext cx="10582351" cy="5394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flash loan (Sesión 14) presta millones dentro de UNA transacción y exige devolverlos antes de que termine. No puede cambiar el saldo de un bloque que ya pasó. El snapshot es la defensa. Veremos qué pasó cuando no la había.</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EL TIMELOCK</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PLAZO DE GRACIA DE LA MINORÍA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Una propuesta aprobada no se ejecuta enseguida: se encola y espera un retardo mínimo. Ese plazo protege al que perdió la votación: si la mayoría aprobó algo que lo perjudica, alcanza a retirar sus fondos antes.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2743200"/>
          <a:ext cx="11057839" cy="914400"/>
        </p:xfrm>
        <a:graphic>
          <a:graphicData uri="http://schemas.openxmlformats.org/drawingml/2006/table">
            <a:tbl>
              <a:tblPr/>
              <a:tblGrid>
                <a:gridCol w="4023360"/>
                <a:gridCol w="70344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ROL DEL TIMELOCKCONTROLLER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QUIÉN LO TIENE EN LA DAO DEL LABORATORIO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5948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PROPOSER · agenda operaciones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Solo el Governor. Nadie puede saltarse la votación.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948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CANCELLER · cancela lo agendado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Solo el Governor.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5948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EXECUTOR · ejecuta lo vencido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Cualquiera (address(0)): no hace falta confiar en nadie para ejecutar.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948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ADMIN · reparte roles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Nadie. Quien desplegó RENUNCIA al terminar de configurar.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724912"/>
            <a:ext cx="11094415" cy="2185416"/>
          </a:xfrm>
          <a:prstGeom prst="rect">
            <a:avLst/>
          </a:prstGeom>
          <a:ln w="22225">
            <a:solidFill>
              <a:srgbClr val="0F0F11"/>
            </a:solidFill>
            <a:prstDash val="solid"/>
          </a:ln>
        </p:spPr>
      </p:sp>
      <p:sp>
        <p:nvSpPr>
          <p:cNvPr id="11" name="Shape 7"/>
          <p:cNvSpPr/>
          <p:nvPr/>
        </p:nvSpPr>
        <p:spPr>
          <a:xfrm>
            <a:off x="566928" y="5074920"/>
            <a:ext cx="11057839" cy="10515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2"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3" name="Text 8"/>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EL DUEÑO ESCONDIDO</a:t>
            </a:r>
            <a:endParaRPr lang="en-US" sz="950" dirty="0"/>
          </a:p>
        </p:txBody>
      </p:sp>
      <p:sp>
        <p:nvSpPr>
          <p:cNvPr id="14" name="Text 9"/>
          <p:cNvSpPr/>
          <p:nvPr/>
        </p:nvSpPr>
        <p:spPr>
          <a:xfrm>
            <a:off x="804672" y="5586984"/>
            <a:ext cx="10582351" cy="4480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el que desplegó conserva el rol ADMIN, puede darse a sí mismo PROPOSER y agendar lo que quiera sin votación. La prueba «★ el fundador renunció…» verifica que ya no puede.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MODELOS DE VOTO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«UN TOKEN, UN VOTO» Y SUS ALTERNATIVAS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011680"/>
                <a:gridCol w="2743200"/>
                <a:gridCol w="3017520"/>
                <a:gridCol w="32854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MODELO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CUENTA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 FAVOR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EL PROBLEMA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8717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Un token, un voto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Poder proporcional a los tokens.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Simple; alinea voto y capital en riesgo.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Plutocracia: quien más tiene, más manda.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717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Cuadrático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 votos cuestan n² tokens.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Da peso a la mayoría frente a unas pocas ballenas.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 rompe si una persona se divide en muchas cuentas (Sybil, Sesión 4).</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8717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Por convicción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peso crece cuanto más tiempo se mantiene el voto.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Premia el compromiso sostenido, no la compra de último minuto.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Más difícil de entender y de auditar; decisiones lentas.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962656"/>
          </a:xfrm>
          <a:prstGeom prst="rect">
            <a:avLst/>
          </a:prstGeom>
          <a:ln w="22225">
            <a:solidFill>
              <a:srgbClr val="0F0F11"/>
            </a:solidFill>
            <a:prstDash val="solid"/>
          </a:ln>
        </p:spPr>
      </p:sp>
      <p:sp>
        <p:nvSpPr>
          <p:cNvPr id="10" name="Shape 6"/>
          <p:cNvSpPr/>
          <p:nvPr/>
        </p:nvSpPr>
        <p:spPr>
          <a:xfrm>
            <a:off x="566928" y="4892040"/>
            <a:ext cx="11057839" cy="12344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5111496"/>
            <a:ext cx="237744" cy="237744"/>
          </a:xfrm>
          <a:prstGeom prst="rect">
            <a:avLst/>
          </a:prstGeom>
        </p:spPr>
      </p:pic>
      <p:sp>
        <p:nvSpPr>
          <p:cNvPr id="12" name="Text 7"/>
          <p:cNvSpPr/>
          <p:nvPr/>
        </p:nvSpPr>
        <p:spPr>
          <a:xfrm>
            <a:off x="1133856" y="50840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NINGUNO ES NEUTRAL</a:t>
            </a:r>
            <a:endParaRPr lang="en-US" sz="950" dirty="0"/>
          </a:p>
        </p:txBody>
      </p:sp>
      <p:sp>
        <p:nvSpPr>
          <p:cNvPr id="13" name="Text 8"/>
          <p:cNvSpPr/>
          <p:nvPr/>
        </p:nvSpPr>
        <p:spPr>
          <a:xfrm>
            <a:off x="804672" y="5404104"/>
            <a:ext cx="10582351" cy="63093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Cada regla de conteo reparte el poder de una forma distinta. Elegir el modelo ES una decisión política, no técnica. En el laboratorio usamos el primero porque es el que trae OpenZeppelin, no porque sea el mejor.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A.13 · EL VOTO CUADRÁTICO, CON NÚMEROS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POR QUÉ FRENA A LA BALLENA, Y CÓMO SE ROMPE</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Shape 5"/>
          <p:cNvSpPr/>
          <p:nvPr/>
        </p:nvSpPr>
        <p:spPr>
          <a:xfrm>
            <a:off x="566928" y="1737360"/>
            <a:ext cx="11057839" cy="502920"/>
          </a:xfrm>
          <a:prstGeom prst="rect">
            <a:avLst/>
          </a:prstGeom>
          <a:solidFill>
            <a:srgbClr val="F2F0F5"/>
          </a:solidFill>
          <a:ln w="12700">
            <a:solidFill>
              <a:srgbClr val="7152E9"/>
            </a:solidFill>
            <a:prstDash val="solid"/>
          </a:ln>
        </p:spPr>
      </p:sp>
      <p:sp>
        <p:nvSpPr>
          <p:cNvPr id="9" name="Text 6"/>
          <p:cNvSpPr/>
          <p:nvPr/>
        </p:nvSpPr>
        <p:spPr>
          <a:xfrm>
            <a:off x="731520" y="1810512"/>
            <a:ext cx="10728655" cy="356616"/>
          </a:xfrm>
          <a:prstGeom prst="rect">
            <a:avLst/>
          </a:prstGeom>
          <a:noFill/>
          <a:ln/>
        </p:spPr>
        <p:txBody>
          <a:bodyPr wrap="square" lIns="0" tIns="0" rIns="0" bIns="0" rtlCol="0" anchor="ctr"/>
          <a:lstStyle/>
          <a:p>
            <a:pPr indent="0" marL="0">
              <a:lnSpc>
                <a:spcPct val="120000"/>
              </a:lnSpc>
              <a:buNone/>
            </a:pPr>
            <a:r>
              <a:rPr lang="en-US" sz="1200" dirty="0">
                <a:solidFill>
                  <a:srgbClr val="3A3844"/>
                </a:solidFill>
                <a:latin typeface="Courier New" pitchFamily="34" charset="0"/>
                <a:ea typeface="Courier New" pitchFamily="34" charset="-122"/>
                <a:cs typeface="Courier New" pitchFamily="34" charset="-120"/>
              </a:rPr>
              <a:t>votos = √tokens gastados    (1 voto cuesta 1 · 10 votos cuestan 100 · 100 votos cuestan 10 000)</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423160"/>
          <a:ext cx="11057839" cy="914400"/>
        </p:xfrm>
        <a:graphic>
          <a:graphicData uri="http://schemas.openxmlformats.org/drawingml/2006/table">
            <a:tbl>
              <a:tblPr/>
              <a:tblGrid>
                <a:gridCol w="4206240"/>
                <a:gridCol w="1463040"/>
                <a:gridCol w="2651760"/>
                <a:gridCol w="27367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QUIÉN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TOKENS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UN TOKEN, UN VOTO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CUADRÁTICO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6692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Una ballena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10 000</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10 000 votos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√10 000 = 100 votos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100 estudiantes con 100 cada uno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10 000</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10 000 votos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100 × √100 = 1 000 votos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6692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La ballena partida en 100 cuentas de 100</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10 000</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10 000 votos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100 × √100 = 1 000 votos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2404872"/>
            <a:ext cx="11094415" cy="2048256"/>
          </a:xfrm>
          <a:prstGeom prst="rect">
            <a:avLst/>
          </a:prstGeom>
          <a:ln w="22225">
            <a:solidFill>
              <a:srgbClr val="0F0F11"/>
            </a:solidFill>
            <a:prstDash val="solid"/>
          </a:ln>
        </p:spPr>
      </p:sp>
      <p:sp>
        <p:nvSpPr>
          <p:cNvPr id="12" name="Shape 8"/>
          <p:cNvSpPr/>
          <p:nvPr/>
        </p:nvSpPr>
        <p:spPr>
          <a:xfrm>
            <a:off x="566928" y="4617720"/>
            <a:ext cx="5391760" cy="15087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3" name="Text 9"/>
          <p:cNvSpPr/>
          <p:nvPr/>
        </p:nvSpPr>
        <p:spPr>
          <a:xfrm>
            <a:off x="841248" y="48006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LO QUE LOGRA</a:t>
            </a:r>
            <a:endParaRPr lang="en-US" sz="1050" dirty="0"/>
          </a:p>
        </p:txBody>
      </p:sp>
      <p:sp>
        <p:nvSpPr>
          <p:cNvPr id="14" name="Text 10"/>
          <p:cNvSpPr/>
          <p:nvPr/>
        </p:nvSpPr>
        <p:spPr>
          <a:xfrm>
            <a:off x="841248" y="5184648"/>
            <a:ext cx="4843120" cy="7772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Con el mismo capital, cien personas pesan diez veces más que una sola ballena. La intensidad cuenta, pero con rendimientos decrecientes.</a:t>
            </a:r>
            <a:endParaRPr lang="en-US" sz="1250" dirty="0"/>
          </a:p>
        </p:txBody>
      </p:sp>
      <p:sp>
        <p:nvSpPr>
          <p:cNvPr id="15" name="Shape 11"/>
          <p:cNvSpPr/>
          <p:nvPr/>
        </p:nvSpPr>
        <p:spPr>
          <a:xfrm>
            <a:off x="6233008" y="4617720"/>
            <a:ext cx="5391760" cy="15087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6" name="Text 12"/>
          <p:cNvSpPr/>
          <p:nvPr/>
        </p:nvSpPr>
        <p:spPr>
          <a:xfrm>
            <a:off x="6507328" y="48006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CÓMO SE ROMPE</a:t>
            </a:r>
            <a:endParaRPr lang="en-US" sz="1050" dirty="0"/>
          </a:p>
        </p:txBody>
      </p:sp>
      <p:sp>
        <p:nvSpPr>
          <p:cNvPr id="17" name="Text 13"/>
          <p:cNvSpPr/>
          <p:nvPr/>
        </p:nvSpPr>
        <p:spPr>
          <a:xfrm>
            <a:off x="6507328" y="5184648"/>
            <a:ext cx="4843120" cy="7772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Última fila: si la ballena crea 100 cuentas, recupera los 1 000 votos. El cuadrático SOLO funciona si se sabe que cada cuenta es una persona distinta.</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A.14 · LOS MALES DE CASI TODA DAO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PLUTOCRACIA, APATÍA Y CAPTURA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Una cuenta que se hace en un minuto: suministro de 100 millones de tokens, quórum del 4 % (4 millones). Si solo vota el 5 % (5 millones)…</a:t>
            </a:r>
            <a:endParaRPr lang="en-US" sz="1400" dirty="0"/>
          </a:p>
        </p:txBody>
      </p:sp>
      <p:sp>
        <p:nvSpPr>
          <p:cNvPr id="9" name="Shape 6"/>
          <p:cNvSpPr/>
          <p:nvPr/>
        </p:nvSpPr>
        <p:spPr>
          <a:xfrm>
            <a:off x="566928" y="2468880"/>
            <a:ext cx="3520440"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749808" y="2633472"/>
            <a:ext cx="3154680" cy="736092"/>
          </a:xfrm>
          <a:prstGeom prst="rect">
            <a:avLst/>
          </a:prstGeom>
          <a:noFill/>
          <a:ln/>
        </p:spPr>
        <p:txBody>
          <a:bodyPr wrap="square" lIns="0" tIns="0" rIns="0" bIns="0" rtlCol="0" anchor="ctr"/>
          <a:lstStyle/>
          <a:p>
            <a:pPr indent="0" marL="0">
              <a:buNone/>
            </a:pPr>
            <a:r>
              <a:rPr lang="en-US" sz="3600" dirty="0">
                <a:solidFill>
                  <a:srgbClr val="F07F06"/>
                </a:solidFill>
                <a:latin typeface="Arial Black" pitchFamily="34" charset="0"/>
                <a:ea typeface="Arial Black" pitchFamily="34" charset="-122"/>
                <a:cs typeface="Arial Black" pitchFamily="34" charset="-120"/>
              </a:rPr>
              <a:t>3 M</a:t>
            </a:r>
            <a:endParaRPr lang="en-US" sz="3600" dirty="0"/>
          </a:p>
        </p:txBody>
      </p:sp>
      <p:sp>
        <p:nvSpPr>
          <p:cNvPr id="11" name="Text 8"/>
          <p:cNvSpPr/>
          <p:nvPr/>
        </p:nvSpPr>
        <p:spPr>
          <a:xfrm>
            <a:off x="749808" y="3396996"/>
            <a:ext cx="3154680" cy="608076"/>
          </a:xfrm>
          <a:prstGeom prst="rect">
            <a:avLst/>
          </a:prstGeom>
          <a:noFill/>
          <a:ln/>
        </p:spPr>
        <p:txBody>
          <a:bodyPr wrap="square" lIns="0" tIns="0" rIns="0" bIns="0" rtlCol="0" anchor="t"/>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Con 3 millones de votos, una sola cuenta es el 60 % de lo emitido: decide sola.</a:t>
            </a:r>
            <a:endParaRPr lang="en-US" sz="1150" dirty="0"/>
          </a:p>
        </p:txBody>
      </p:sp>
      <p:sp>
        <p:nvSpPr>
          <p:cNvPr id="12" name="Shape 9"/>
          <p:cNvSpPr/>
          <p:nvPr/>
        </p:nvSpPr>
        <p:spPr>
          <a:xfrm>
            <a:off x="4334256" y="2468880"/>
            <a:ext cx="3520440"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3" name="Text 10"/>
          <p:cNvSpPr/>
          <p:nvPr/>
        </p:nvSpPr>
        <p:spPr>
          <a:xfrm>
            <a:off x="4517136" y="2633472"/>
            <a:ext cx="3154680" cy="736092"/>
          </a:xfrm>
          <a:prstGeom prst="rect">
            <a:avLst/>
          </a:prstGeom>
          <a:noFill/>
          <a:ln/>
        </p:spPr>
        <p:txBody>
          <a:bodyPr wrap="square" lIns="0" tIns="0" rIns="0" bIns="0" rtlCol="0" anchor="ctr"/>
          <a:lstStyle/>
          <a:p>
            <a:pPr indent="0" marL="0">
              <a:buNone/>
            </a:pPr>
            <a:r>
              <a:rPr lang="en-US" sz="3600" dirty="0">
                <a:solidFill>
                  <a:srgbClr val="7152E9"/>
                </a:solidFill>
                <a:latin typeface="Arial Black" pitchFamily="34" charset="0"/>
                <a:ea typeface="Arial Black" pitchFamily="34" charset="-122"/>
                <a:cs typeface="Arial Black" pitchFamily="34" charset="-120"/>
              </a:rPr>
              <a:t>4 M</a:t>
            </a:r>
            <a:endParaRPr lang="en-US" sz="3600" dirty="0"/>
          </a:p>
        </p:txBody>
      </p:sp>
      <p:sp>
        <p:nvSpPr>
          <p:cNvPr id="14" name="Text 11"/>
          <p:cNvSpPr/>
          <p:nvPr/>
        </p:nvSpPr>
        <p:spPr>
          <a:xfrm>
            <a:off x="4517136" y="3396996"/>
            <a:ext cx="3154680" cy="608076"/>
          </a:xfrm>
          <a:prstGeom prst="rect">
            <a:avLst/>
          </a:prstGeom>
          <a:noFill/>
          <a:ln/>
        </p:spPr>
        <p:txBody>
          <a:bodyPr wrap="square" lIns="0" tIns="0" rIns="0" bIns="0" rtlCol="0" anchor="t"/>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Con 4 millones, alcanza el quórum SOLA, aunque nadie más vote.</a:t>
            </a:r>
            <a:endParaRPr lang="en-US" sz="1150" dirty="0"/>
          </a:p>
        </p:txBody>
      </p:sp>
      <p:sp>
        <p:nvSpPr>
          <p:cNvPr id="15" name="Shape 12"/>
          <p:cNvSpPr/>
          <p:nvPr/>
        </p:nvSpPr>
        <p:spPr>
          <a:xfrm>
            <a:off x="8101584" y="2468880"/>
            <a:ext cx="3523183" cy="160020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6" name="Text 13"/>
          <p:cNvSpPr/>
          <p:nvPr/>
        </p:nvSpPr>
        <p:spPr>
          <a:xfrm>
            <a:off x="8284464" y="2633472"/>
            <a:ext cx="3157423" cy="736092"/>
          </a:xfrm>
          <a:prstGeom prst="rect">
            <a:avLst/>
          </a:prstGeom>
          <a:noFill/>
          <a:ln/>
        </p:spPr>
        <p:txBody>
          <a:bodyPr wrap="square" lIns="0" tIns="0" rIns="0" bIns="0" rtlCol="0" anchor="ctr"/>
          <a:lstStyle/>
          <a:p>
            <a:pPr indent="0" marL="0">
              <a:buNone/>
            </a:pPr>
            <a:r>
              <a:rPr lang="en-US" sz="3600" dirty="0">
                <a:solidFill>
                  <a:srgbClr val="0F0F11"/>
                </a:solidFill>
                <a:latin typeface="Arial Black" pitchFamily="34" charset="0"/>
                <a:ea typeface="Arial Black" pitchFamily="34" charset="-122"/>
                <a:cs typeface="Arial Black" pitchFamily="34" charset="-120"/>
              </a:rPr>
              <a:t>95 %</a:t>
            </a:r>
            <a:endParaRPr lang="en-US" sz="3600" dirty="0"/>
          </a:p>
        </p:txBody>
      </p:sp>
      <p:sp>
        <p:nvSpPr>
          <p:cNvPr id="17" name="Text 14"/>
          <p:cNvSpPr/>
          <p:nvPr/>
        </p:nvSpPr>
        <p:spPr>
          <a:xfrm>
            <a:off x="8284464" y="3396996"/>
            <a:ext cx="3157423" cy="608076"/>
          </a:xfrm>
          <a:prstGeom prst="rect">
            <a:avLst/>
          </a:prstGeom>
          <a:noFill/>
          <a:ln/>
        </p:spPr>
        <p:txBody>
          <a:bodyPr wrap="square" lIns="0" tIns="0" rIns="0" bIns="0" rtlCol="0" anchor="t"/>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de los votos posibles nunca aparecieron. La apatía concentra el poder real.</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4297680"/>
          <a:ext cx="11057839" cy="914400"/>
        </p:xfrm>
        <a:graphic>
          <a:graphicData uri="http://schemas.openxmlformats.org/drawingml/2006/table">
            <a:tbl>
              <a:tblPr/>
              <a:tblGrid>
                <a:gridCol w="2011680"/>
                <a:gridCol w="90461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MAL</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05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Plutocracia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Quien más tokens tiene, más manda. Es el diseño funcionando, no un error.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05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Apatía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mayoría no vota nunca; el poder efectivo queda en pocas manos.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05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Captura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entidad acumula el poder de voto de forma legal y aprueba lo que quiere. No es un hackeo: por eso es difícil de remediar.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9" name="Shape 15"/>
          <p:cNvSpPr/>
          <p:nvPr/>
        </p:nvSpPr>
        <p:spPr>
          <a:xfrm>
            <a:off x="548640" y="4279392"/>
            <a:ext cx="11094415" cy="1865376"/>
          </a:xfrm>
          <a:prstGeom prst="rect">
            <a:avLst/>
          </a:prstGeom>
          <a:ln w="22225">
            <a:solidFill>
              <a:srgbClr val="0F0F11"/>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A.15 · CASO REAL · BEANSTALK, 17 DE ABRIL DE 2022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UNA VOTACIÓN COMPRADA POR SEGUNDOS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1691640"/>
            <a:ext cx="11057839" cy="640080"/>
          </a:xfrm>
          <a:prstGeom prst="rect">
            <a:avLst/>
          </a:prstGeom>
          <a:solidFill>
            <a:srgbClr val="FFFFFF"/>
          </a:solidFill>
          <a:ln w="15875">
            <a:solidFill>
              <a:srgbClr val="D9D6E0"/>
            </a:solidFill>
            <a:prstDash val="solid"/>
          </a:ln>
        </p:spPr>
      </p:sp>
      <p:sp>
        <p:nvSpPr>
          <p:cNvPr id="9" name="Text 6"/>
          <p:cNvSpPr/>
          <p:nvPr/>
        </p:nvSpPr>
        <p:spPr>
          <a:xfrm>
            <a:off x="694944" y="169164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86537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UN DÍA ANTES</a:t>
            </a:r>
            <a:endParaRPr lang="en-US" sz="1000" dirty="0"/>
          </a:p>
        </p:txBody>
      </p:sp>
      <p:sp>
        <p:nvSpPr>
          <p:cNvPr id="11" name="Text 8"/>
          <p:cNvSpPr/>
          <p:nvPr/>
        </p:nvSpPr>
        <p:spPr>
          <a:xfrm>
            <a:off x="3566160" y="1783080"/>
            <a:ext cx="7948879" cy="49377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El atacante presenta la propuesta BIP-18: transferirse los fondos del protocolo. Y espera el retraso de ~24 h.</a:t>
            </a:r>
            <a:endParaRPr lang="en-US" sz="1150" dirty="0"/>
          </a:p>
        </p:txBody>
      </p:sp>
      <p:sp>
        <p:nvSpPr>
          <p:cNvPr id="12" name="Shape 9"/>
          <p:cNvSpPr/>
          <p:nvPr/>
        </p:nvSpPr>
        <p:spPr>
          <a:xfrm>
            <a:off x="566928" y="2404872"/>
            <a:ext cx="11057839" cy="640080"/>
          </a:xfrm>
          <a:prstGeom prst="rect">
            <a:avLst/>
          </a:prstGeom>
          <a:solidFill>
            <a:srgbClr val="FAF9FB"/>
          </a:solidFill>
          <a:ln w="15875">
            <a:solidFill>
              <a:srgbClr val="D9D6E0"/>
            </a:solidFill>
            <a:prstDash val="solid"/>
          </a:ln>
        </p:spPr>
      </p:sp>
      <p:sp>
        <p:nvSpPr>
          <p:cNvPr id="13" name="Text 10"/>
          <p:cNvSpPr/>
          <p:nvPr/>
        </p:nvSpPr>
        <p:spPr>
          <a:xfrm>
            <a:off x="694944" y="2404872"/>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578608"/>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PRESTAR</a:t>
            </a:r>
            <a:endParaRPr lang="en-US" sz="1000" dirty="0"/>
          </a:p>
        </p:txBody>
      </p:sp>
      <p:sp>
        <p:nvSpPr>
          <p:cNvPr id="15" name="Text 12"/>
          <p:cNvSpPr/>
          <p:nvPr/>
        </p:nvSpPr>
        <p:spPr>
          <a:xfrm>
            <a:off x="3566160" y="2496312"/>
            <a:ext cx="7948879" cy="49377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En UNA transacción pide préstamos relámpago: unos USD 1 000 millones en stablecoins de Aave, y más en otros protocolos.</a:t>
            </a:r>
            <a:endParaRPr lang="en-US" sz="1150" dirty="0"/>
          </a:p>
        </p:txBody>
      </p:sp>
      <p:sp>
        <p:nvSpPr>
          <p:cNvPr id="16" name="Shape 13"/>
          <p:cNvSpPr/>
          <p:nvPr/>
        </p:nvSpPr>
        <p:spPr>
          <a:xfrm>
            <a:off x="566928" y="3118104"/>
            <a:ext cx="11057839" cy="640080"/>
          </a:xfrm>
          <a:prstGeom prst="rect">
            <a:avLst/>
          </a:prstGeom>
          <a:solidFill>
            <a:srgbClr val="FFFFFF"/>
          </a:solidFill>
          <a:ln w="15875">
            <a:solidFill>
              <a:srgbClr val="D9D6E0"/>
            </a:solidFill>
            <a:prstDash val="solid"/>
          </a:ln>
        </p:spPr>
      </p:sp>
      <p:sp>
        <p:nvSpPr>
          <p:cNvPr id="17" name="Text 14"/>
          <p:cNvSpPr/>
          <p:nvPr/>
        </p:nvSpPr>
        <p:spPr>
          <a:xfrm>
            <a:off x="694944" y="3118104"/>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291840"/>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COMPRAR VOTOS</a:t>
            </a:r>
            <a:endParaRPr lang="en-US" sz="1000" dirty="0"/>
          </a:p>
        </p:txBody>
      </p:sp>
      <p:sp>
        <p:nvSpPr>
          <p:cNvPr id="19" name="Text 16"/>
          <p:cNvSpPr/>
          <p:nvPr/>
        </p:nvSpPr>
        <p:spPr>
          <a:xfrm>
            <a:off x="3566160" y="3209544"/>
            <a:ext cx="7948879" cy="49377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Convierte lo prestado en poder de voto de Beanstalk, que se medía en ese mismo momento.</a:t>
            </a:r>
            <a:endParaRPr lang="en-US" sz="1150" dirty="0"/>
          </a:p>
        </p:txBody>
      </p:sp>
      <p:sp>
        <p:nvSpPr>
          <p:cNvPr id="20" name="Shape 17"/>
          <p:cNvSpPr/>
          <p:nvPr/>
        </p:nvSpPr>
        <p:spPr>
          <a:xfrm>
            <a:off x="566928" y="3831336"/>
            <a:ext cx="11057839" cy="640080"/>
          </a:xfrm>
          <a:prstGeom prst="rect">
            <a:avLst/>
          </a:prstGeom>
          <a:solidFill>
            <a:srgbClr val="FAF9FB"/>
          </a:solidFill>
          <a:ln w="15875">
            <a:solidFill>
              <a:srgbClr val="D9D6E0"/>
            </a:solidFill>
            <a:prstDash val="solid"/>
          </a:ln>
        </p:spPr>
      </p:sp>
      <p:sp>
        <p:nvSpPr>
          <p:cNvPr id="21" name="Text 18"/>
          <p:cNvSpPr/>
          <p:nvPr/>
        </p:nvSpPr>
        <p:spPr>
          <a:xfrm>
            <a:off x="694944" y="3831336"/>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005072"/>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APROBAR Y EJECUTAR</a:t>
            </a:r>
            <a:endParaRPr lang="en-US" sz="1000" dirty="0"/>
          </a:p>
        </p:txBody>
      </p:sp>
      <p:sp>
        <p:nvSpPr>
          <p:cNvPr id="23" name="Text 20"/>
          <p:cNvSpPr/>
          <p:nvPr/>
        </p:nvSpPr>
        <p:spPr>
          <a:xfrm>
            <a:off x="3566160" y="3922776"/>
            <a:ext cx="7948879" cy="49377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Con más de 2/3 de los votos, la «ejecución de emergencia» corre BIP-18 en esa misma transacción.</a:t>
            </a:r>
            <a:endParaRPr lang="en-US" sz="1150" dirty="0"/>
          </a:p>
        </p:txBody>
      </p:sp>
      <p:sp>
        <p:nvSpPr>
          <p:cNvPr id="24" name="Shape 21"/>
          <p:cNvSpPr/>
          <p:nvPr/>
        </p:nvSpPr>
        <p:spPr>
          <a:xfrm>
            <a:off x="566928" y="4544568"/>
            <a:ext cx="11057839" cy="640080"/>
          </a:xfrm>
          <a:prstGeom prst="rect">
            <a:avLst/>
          </a:prstGeom>
          <a:solidFill>
            <a:srgbClr val="FFFFFF"/>
          </a:solidFill>
          <a:ln w="15875">
            <a:solidFill>
              <a:srgbClr val="D9D6E0"/>
            </a:solidFill>
            <a:prstDash val="solid"/>
          </a:ln>
        </p:spPr>
      </p:sp>
      <p:sp>
        <p:nvSpPr>
          <p:cNvPr id="25" name="Text 22"/>
          <p:cNvSpPr/>
          <p:nvPr/>
        </p:nvSpPr>
        <p:spPr>
          <a:xfrm>
            <a:off x="694944" y="4544568"/>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718304"/>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DEVOLVER</a:t>
            </a:r>
            <a:endParaRPr lang="en-US" sz="1000" dirty="0"/>
          </a:p>
        </p:txBody>
      </p:sp>
      <p:sp>
        <p:nvSpPr>
          <p:cNvPr id="27" name="Text 24"/>
          <p:cNvSpPr/>
          <p:nvPr/>
        </p:nvSpPr>
        <p:spPr>
          <a:xfrm>
            <a:off x="3566160" y="4636008"/>
            <a:ext cx="7948879" cy="493776"/>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Paga los préstamos y se queda con la diferencia. Todo en un solo bloque.</a:t>
            </a:r>
            <a:endParaRPr lang="en-US" sz="1150" dirty="0"/>
          </a:p>
        </p:txBody>
      </p:sp>
      <p:sp>
        <p:nvSpPr>
          <p:cNvPr id="28" name="Shape 25"/>
          <p:cNvSpPr/>
          <p:nvPr/>
        </p:nvSpPr>
        <p:spPr>
          <a:xfrm>
            <a:off x="566928" y="5303520"/>
            <a:ext cx="5394960" cy="86868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29" name="Text 26"/>
          <p:cNvSpPr/>
          <p:nvPr/>
        </p:nvSpPr>
        <p:spPr>
          <a:xfrm>
            <a:off x="749808" y="5468112"/>
            <a:ext cx="5029200" cy="399593"/>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~USD 181 M</a:t>
            </a:r>
            <a:endParaRPr lang="en-US" sz="2000" dirty="0"/>
          </a:p>
        </p:txBody>
      </p:sp>
      <p:sp>
        <p:nvSpPr>
          <p:cNvPr id="30" name="Text 27"/>
          <p:cNvSpPr/>
          <p:nvPr/>
        </p:nvSpPr>
        <p:spPr>
          <a:xfrm>
            <a:off x="749808" y="5807354"/>
            <a:ext cx="5029200" cy="330098"/>
          </a:xfrm>
          <a:prstGeom prst="rect">
            <a:avLst/>
          </a:prstGeom>
          <a:noFill/>
          <a:ln/>
        </p:spPr>
        <p:txBody>
          <a:bodyPr wrap="square" lIns="0" tIns="0" rIns="0" bIns="0" rtlCol="0" anchor="t"/>
          <a:lstStyle/>
          <a:p>
            <a:pPr indent="0" marL="0">
              <a:lnSpc>
                <a:spcPct val="115000"/>
              </a:lnSpc>
              <a:buNone/>
            </a:pPr>
            <a:r>
              <a:rPr lang="en-US" sz="1050" dirty="0">
                <a:solidFill>
                  <a:srgbClr val="3A3844"/>
                </a:solidFill>
                <a:latin typeface="Arial" pitchFamily="34" charset="0"/>
                <a:ea typeface="Arial" pitchFamily="34" charset="-122"/>
                <a:cs typeface="Arial" pitchFamily="34" charset="-120"/>
              </a:rPr>
              <a:t>drenados del protocolo</a:t>
            </a:r>
            <a:endParaRPr lang="en-US" sz="1050" dirty="0"/>
          </a:p>
        </p:txBody>
      </p:sp>
      <p:sp>
        <p:nvSpPr>
          <p:cNvPr id="31" name="Shape 28"/>
          <p:cNvSpPr/>
          <p:nvPr/>
        </p:nvSpPr>
        <p:spPr>
          <a:xfrm>
            <a:off x="6227064" y="5303520"/>
            <a:ext cx="5397703" cy="868680"/>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32" name="Text 29"/>
          <p:cNvSpPr/>
          <p:nvPr/>
        </p:nvSpPr>
        <p:spPr>
          <a:xfrm>
            <a:off x="6409944" y="5468112"/>
            <a:ext cx="5031943" cy="399593"/>
          </a:xfrm>
          <a:prstGeom prst="rect">
            <a:avLst/>
          </a:prstGeom>
          <a:noFill/>
          <a:ln/>
        </p:spPr>
        <p:txBody>
          <a:bodyPr wrap="square" lIns="0" tIns="0" rIns="0" bIns="0" rtlCol="0" anchor="ctr"/>
          <a:lstStyle/>
          <a:p>
            <a:pPr indent="0" marL="0">
              <a:buNone/>
            </a:pPr>
            <a:r>
              <a:rPr lang="en-US" sz="2000" dirty="0">
                <a:solidFill>
                  <a:srgbClr val="B3261E"/>
                </a:solidFill>
                <a:latin typeface="Arial Black" pitchFamily="34" charset="0"/>
                <a:ea typeface="Arial Black" pitchFamily="34" charset="-122"/>
                <a:cs typeface="Arial Black" pitchFamily="34" charset="-120"/>
              </a:rPr>
              <a:t>~USD 76 M</a:t>
            </a:r>
            <a:endParaRPr lang="en-US" sz="2000" dirty="0"/>
          </a:p>
        </p:txBody>
      </p:sp>
      <p:sp>
        <p:nvSpPr>
          <p:cNvPr id="33" name="Text 30"/>
          <p:cNvSpPr/>
          <p:nvPr/>
        </p:nvSpPr>
        <p:spPr>
          <a:xfrm>
            <a:off x="6409944" y="5807354"/>
            <a:ext cx="5031943" cy="330098"/>
          </a:xfrm>
          <a:prstGeom prst="rect">
            <a:avLst/>
          </a:prstGeom>
          <a:noFill/>
          <a:ln/>
        </p:spPr>
        <p:txBody>
          <a:bodyPr wrap="square" lIns="0" tIns="0" rIns="0" bIns="0" rtlCol="0" anchor="t"/>
          <a:lstStyle/>
          <a:p>
            <a:pPr indent="0" marL="0">
              <a:lnSpc>
                <a:spcPct val="115000"/>
              </a:lnSpc>
              <a:buNone/>
            </a:pPr>
            <a:r>
              <a:rPr lang="en-US" sz="1050" dirty="0">
                <a:solidFill>
                  <a:srgbClr val="3A3844"/>
                </a:solidFill>
                <a:latin typeface="Arial" pitchFamily="34" charset="0"/>
                <a:ea typeface="Arial" pitchFamily="34" charset="-122"/>
                <a:cs typeface="Arial" pitchFamily="34" charset="-120"/>
              </a:rPr>
              <a:t>ganancia neta del atacante (24 830 WETH)</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A.16 · QUÉ LO HABRÍA EVITADO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LAS DOS DEFENSAS DEL LABORATORIO DE HOY</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Shape 5"/>
          <p:cNvSpPr/>
          <p:nvPr/>
        </p:nvSpPr>
        <p:spPr>
          <a:xfrm>
            <a:off x="566928" y="1737360"/>
            <a:ext cx="5391760" cy="24688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SNAPSHOT EN UN BLOQUE PASADO</a:t>
            </a:r>
            <a:endParaRPr lang="en-US" sz="1050" dirty="0"/>
          </a:p>
        </p:txBody>
      </p:sp>
      <p:sp>
        <p:nvSpPr>
          <p:cNvPr id="10" name="Text 7"/>
          <p:cNvSpPr/>
          <p:nvPr/>
        </p:nvSpPr>
        <p:spPr>
          <a:xfrm>
            <a:off x="841248" y="2304288"/>
            <a:ext cx="4843120" cy="1737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el poder de voto se hubiera medido en el bloque de la propuesta (un día antes), los tokens prestados en el bloque del ataque habrían pesado cero. Es exactamente lo que hace ERC20Votes con sus checkpoints.</a:t>
            </a:r>
            <a:endParaRPr lang="en-US" sz="1250" dirty="0"/>
          </a:p>
        </p:txBody>
      </p:sp>
      <p:sp>
        <p:nvSpPr>
          <p:cNvPr id="11" name="Shape 8"/>
          <p:cNvSpPr/>
          <p:nvPr/>
        </p:nvSpPr>
        <p:spPr>
          <a:xfrm>
            <a:off x="6233008" y="1737360"/>
            <a:ext cx="5391760" cy="24688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TIMELOCK SIN ATAJOS</a:t>
            </a:r>
            <a:endParaRPr lang="en-US" sz="1050" dirty="0"/>
          </a:p>
        </p:txBody>
      </p:sp>
      <p:sp>
        <p:nvSpPr>
          <p:cNvPr id="13" name="Text 10"/>
          <p:cNvSpPr/>
          <p:nvPr/>
        </p:nvSpPr>
        <p:spPr>
          <a:xfrm>
            <a:off x="6507328" y="2304288"/>
            <a:ext cx="4843120" cy="17373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«ejecución de emergencia» permitía aprobar y ejecutar en la misma transacción. Con un timelock obligatorio entre aprobar y ejecutar, el préstamo relámpago —que dura una transacción— no alcanza a llegar a la ejecución.</a:t>
            </a:r>
            <a:endParaRPr lang="en-US" sz="1250" dirty="0"/>
          </a:p>
        </p:txBody>
      </p:sp>
      <p:sp>
        <p:nvSpPr>
          <p:cNvPr id="14" name="Shape 11"/>
          <p:cNvSpPr/>
          <p:nvPr/>
        </p:nvSpPr>
        <p:spPr>
          <a:xfrm>
            <a:off x="566928" y="4434840"/>
            <a:ext cx="11057839" cy="16916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5" name="Image 1" descr="preencoded.png">    </p:cNvPr>
          <p:cNvPicPr>
            <a:picLocks noChangeAspect="1"/>
          </p:cNvPicPr>
          <p:nvPr/>
        </p:nvPicPr>
        <p:blipFill>
          <a:blip r:embed="rId2"/>
          <a:stretch>
            <a:fillRect/>
          </a:stretch>
        </p:blipFill>
        <p:spPr>
          <a:xfrm>
            <a:off x="804672" y="4654296"/>
            <a:ext cx="237744" cy="237744"/>
          </a:xfrm>
          <a:prstGeom prst="rect">
            <a:avLst/>
          </a:prstGeom>
        </p:spPr>
      </p:pic>
      <p:sp>
        <p:nvSpPr>
          <p:cNvPr id="16" name="Text 12"/>
          <p:cNvSpPr/>
          <p:nvPr/>
        </p:nvSpPr>
        <p:spPr>
          <a:xfrm>
            <a:off x="1133856" y="46268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LA LECCIÓN QUE SIRVE MÁS ALLÁ DE BEANSTALK</a:t>
            </a:r>
            <a:endParaRPr lang="en-US" sz="950" dirty="0"/>
          </a:p>
        </p:txBody>
      </p:sp>
      <p:sp>
        <p:nvSpPr>
          <p:cNvPr id="17" name="Text 13"/>
          <p:cNvSpPr/>
          <p:nvPr/>
        </p:nvSpPr>
        <p:spPr>
          <a:xfrm>
            <a:off x="804672" y="4946904"/>
            <a:ext cx="10582351" cy="108813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código hizo exactamente lo que decía. No hubo un error de programación clásico: hubo un diseño de gobernanza que confundió «tener tokens ahora» con «tener derecho a decidir». Los atajos «de emergencia» son siempre el punto a auditar primero.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A.17 · LO QUE HAY QUE LLEVARSE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SIETE IDEAS SOBRE GOBERNAR SIN JEFE</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Text 5"/>
          <p:cNvSpPr/>
          <p:nvPr/>
        </p:nvSpPr>
        <p:spPr>
          <a:xfrm>
            <a:off x="566928" y="17373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1344168" y="181051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«DAO» es un espectro; casi siempre, empezar por un multisig es lo correcto.</a:t>
            </a:r>
            <a:endParaRPr lang="en-US" sz="1400" dirty="0"/>
          </a:p>
        </p:txBody>
      </p:sp>
      <p:sp>
        <p:nvSpPr>
          <p:cNvPr id="10" name="Shape 7"/>
          <p:cNvSpPr/>
          <p:nvPr/>
        </p:nvSpPr>
        <p:spPr>
          <a:xfrm>
            <a:off x="566928" y="2322576"/>
            <a:ext cx="11057839" cy="914"/>
          </a:xfrm>
          <a:prstGeom prst="line">
            <a:avLst/>
          </a:prstGeom>
          <a:noFill/>
          <a:ln w="12700">
            <a:solidFill>
              <a:srgbClr val="D9D6E0"/>
            </a:solidFill>
            <a:prstDash val="solid"/>
          </a:ln>
        </p:spPr>
      </p:sp>
      <p:sp>
        <p:nvSpPr>
          <p:cNvPr id="11" name="Text 8"/>
          <p:cNvSpPr/>
          <p:nvPr/>
        </p:nvSpPr>
        <p:spPr>
          <a:xfrm>
            <a:off x="566928" y="237744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2" name="Text 9"/>
          <p:cNvSpPr/>
          <p:nvPr/>
        </p:nvSpPr>
        <p:spPr>
          <a:xfrm>
            <a:off x="1344168" y="245059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m de n sobrevive a perder n − m claves y resiste que roben m − 1.</a:t>
            </a:r>
            <a:endParaRPr lang="en-US" sz="1400" dirty="0"/>
          </a:p>
        </p:txBody>
      </p:sp>
      <p:sp>
        <p:nvSpPr>
          <p:cNvPr id="13" name="Shape 10"/>
          <p:cNvSpPr/>
          <p:nvPr/>
        </p:nvSpPr>
        <p:spPr>
          <a:xfrm>
            <a:off x="566928" y="2962656"/>
            <a:ext cx="11057839" cy="914"/>
          </a:xfrm>
          <a:prstGeom prst="line">
            <a:avLst/>
          </a:prstGeom>
          <a:noFill/>
          <a:ln w="12700">
            <a:solidFill>
              <a:srgbClr val="D9D6E0"/>
            </a:solidFill>
            <a:prstDash val="solid"/>
          </a:ln>
        </p:spPr>
      </p:sp>
      <p:sp>
        <p:nvSpPr>
          <p:cNvPr id="14" name="Text 11"/>
          <p:cNvSpPr/>
          <p:nvPr/>
        </p:nvSpPr>
        <p:spPr>
          <a:xfrm>
            <a:off x="566928" y="301752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5" name="Text 12"/>
          <p:cNvSpPr/>
          <p:nvPr/>
        </p:nvSpPr>
        <p:spPr>
          <a:xfrm>
            <a:off x="1344168" y="309067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ciclo: proponer → votar → encolar → esperar → ejecutar. Nadie ejecuta a mano.</a:t>
            </a:r>
            <a:endParaRPr lang="en-US" sz="1400" dirty="0"/>
          </a:p>
        </p:txBody>
      </p:sp>
      <p:sp>
        <p:nvSpPr>
          <p:cNvPr id="16" name="Shape 13"/>
          <p:cNvSpPr/>
          <p:nvPr/>
        </p:nvSpPr>
        <p:spPr>
          <a:xfrm>
            <a:off x="566928" y="3602736"/>
            <a:ext cx="11057839" cy="914"/>
          </a:xfrm>
          <a:prstGeom prst="line">
            <a:avLst/>
          </a:prstGeom>
          <a:noFill/>
          <a:ln w="12700">
            <a:solidFill>
              <a:srgbClr val="D9D6E0"/>
            </a:solidFill>
            <a:prstDash val="solid"/>
          </a:ln>
        </p:spPr>
      </p:sp>
      <p:sp>
        <p:nvSpPr>
          <p:cNvPr id="17" name="Text 14"/>
          <p:cNvSpPr/>
          <p:nvPr/>
        </p:nvSpPr>
        <p:spPr>
          <a:xfrm>
            <a:off x="566928" y="365760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04</a:t>
            </a:r>
            <a:endParaRPr lang="en-US" sz="2000" dirty="0"/>
          </a:p>
        </p:txBody>
      </p:sp>
      <p:sp>
        <p:nvSpPr>
          <p:cNvPr id="18" name="Text 15"/>
          <p:cNvSpPr/>
          <p:nvPr/>
        </p:nvSpPr>
        <p:spPr>
          <a:xfrm>
            <a:off x="1344168" y="373075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Sin delegar, los tokens votan cero. Y cuenta el saldo del snapshot, no el de hoy.</a:t>
            </a:r>
            <a:endParaRPr lang="en-US" sz="1400" dirty="0"/>
          </a:p>
        </p:txBody>
      </p:sp>
      <p:sp>
        <p:nvSpPr>
          <p:cNvPr id="19" name="Shape 16"/>
          <p:cNvSpPr/>
          <p:nvPr/>
        </p:nvSpPr>
        <p:spPr>
          <a:xfrm>
            <a:off x="566928" y="4242816"/>
            <a:ext cx="11057839" cy="914"/>
          </a:xfrm>
          <a:prstGeom prst="line">
            <a:avLst/>
          </a:prstGeom>
          <a:noFill/>
          <a:ln w="12700">
            <a:solidFill>
              <a:srgbClr val="D9D6E0"/>
            </a:solidFill>
            <a:prstDash val="solid"/>
          </a:ln>
        </p:spPr>
      </p:sp>
      <p:sp>
        <p:nvSpPr>
          <p:cNvPr id="20" name="Text 17"/>
          <p:cNvSpPr/>
          <p:nvPr/>
        </p:nvSpPr>
        <p:spPr>
          <a:xfrm>
            <a:off x="566928" y="429768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05</a:t>
            </a:r>
            <a:endParaRPr lang="en-US" sz="2000" dirty="0"/>
          </a:p>
        </p:txBody>
      </p:sp>
      <p:sp>
        <p:nvSpPr>
          <p:cNvPr id="21" name="Text 18"/>
          <p:cNvSpPr/>
          <p:nvPr/>
        </p:nvSpPr>
        <p:spPr>
          <a:xfrm>
            <a:off x="1344168" y="437083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Quórum (a favor + abstención) y mayoría (a favor &gt; en contra) son dos pruebas distintas.</a:t>
            </a:r>
            <a:endParaRPr lang="en-US" sz="1400" dirty="0"/>
          </a:p>
        </p:txBody>
      </p:sp>
      <p:sp>
        <p:nvSpPr>
          <p:cNvPr id="22" name="Shape 19"/>
          <p:cNvSpPr/>
          <p:nvPr/>
        </p:nvSpPr>
        <p:spPr>
          <a:xfrm>
            <a:off x="566928" y="4882896"/>
            <a:ext cx="11057839" cy="914"/>
          </a:xfrm>
          <a:prstGeom prst="line">
            <a:avLst/>
          </a:prstGeom>
          <a:noFill/>
          <a:ln w="12700">
            <a:solidFill>
              <a:srgbClr val="D9D6E0"/>
            </a:solidFill>
            <a:prstDash val="solid"/>
          </a:ln>
        </p:spPr>
      </p:sp>
      <p:sp>
        <p:nvSpPr>
          <p:cNvPr id="23" name="Text 20"/>
          <p:cNvSpPr/>
          <p:nvPr/>
        </p:nvSpPr>
        <p:spPr>
          <a:xfrm>
            <a:off x="566928" y="49377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06</a:t>
            </a:r>
            <a:endParaRPr lang="en-US" sz="2000" dirty="0"/>
          </a:p>
        </p:txBody>
      </p:sp>
      <p:sp>
        <p:nvSpPr>
          <p:cNvPr id="24" name="Text 21"/>
          <p:cNvSpPr/>
          <p:nvPr/>
        </p:nvSpPr>
        <p:spPr>
          <a:xfrm>
            <a:off x="1344168" y="501091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timelock ejecuta y es dueño de la tesorería; quien desplegó renuncia al rol admin.</a:t>
            </a:r>
            <a:endParaRPr lang="en-US" sz="1400" dirty="0"/>
          </a:p>
        </p:txBody>
      </p:sp>
      <p:sp>
        <p:nvSpPr>
          <p:cNvPr id="25" name="Shape 22"/>
          <p:cNvSpPr/>
          <p:nvPr/>
        </p:nvSpPr>
        <p:spPr>
          <a:xfrm>
            <a:off x="566928" y="5522976"/>
            <a:ext cx="11057839" cy="914"/>
          </a:xfrm>
          <a:prstGeom prst="line">
            <a:avLst/>
          </a:prstGeom>
          <a:noFill/>
          <a:ln w="12700">
            <a:solidFill>
              <a:srgbClr val="D9D6E0"/>
            </a:solidFill>
            <a:prstDash val="solid"/>
          </a:ln>
        </p:spPr>
      </p:sp>
      <p:sp>
        <p:nvSpPr>
          <p:cNvPr id="26" name="Text 23"/>
          <p:cNvSpPr/>
          <p:nvPr/>
        </p:nvSpPr>
        <p:spPr>
          <a:xfrm>
            <a:off x="566928" y="557784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07</a:t>
            </a:r>
            <a:endParaRPr lang="en-US" sz="2000" dirty="0"/>
          </a:p>
        </p:txBody>
      </p:sp>
      <p:sp>
        <p:nvSpPr>
          <p:cNvPr id="27" name="Text 24"/>
          <p:cNvSpPr/>
          <p:nvPr/>
        </p:nvSpPr>
        <p:spPr>
          <a:xfrm>
            <a:off x="1344168" y="565099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Ningún modelo de voto es neutral; el cuadrático exige saber quién es quién.</a:t>
            </a:r>
            <a:endParaRPr lang="en-US" sz="1400" dirty="0"/>
          </a:p>
        </p:txBody>
      </p:sp>
      <p:sp>
        <p:nvSpPr>
          <p:cNvPr id="28" name="Shape 25"/>
          <p:cNvSpPr/>
          <p:nvPr/>
        </p:nvSpPr>
        <p:spPr>
          <a:xfrm>
            <a:off x="566928" y="6163056"/>
            <a:ext cx="11057839" cy="914"/>
          </a:xfrm>
          <a:prstGeom prst="line">
            <a:avLst/>
          </a:prstGeom>
          <a:noFill/>
          <a:ln w="12700">
            <a:solidFill>
              <a:srgbClr val="D9D6E0"/>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A.18 · VERIFICACIÓN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PREGUNTA DE CONTROL</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Shape 5"/>
          <p:cNvSpPr/>
          <p:nvPr/>
        </p:nvSpPr>
        <p:spPr>
          <a:xfrm>
            <a:off x="566928" y="1737360"/>
            <a:ext cx="11057839" cy="18745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50876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Un equipo despliega TokenVoto, GobiernoUSB y TimelockUSB, pone la tesorería a nombre del Governor y no renuncia al rol admin. Una propuesta gana. ¿Qué pasa al ejecutarla, y qué riesgo quedó abierto?</a:t>
            </a:r>
            <a:endParaRPr lang="en-US" sz="1800" dirty="0"/>
          </a:p>
        </p:txBody>
      </p:sp>
      <p:sp>
        <p:nvSpPr>
          <p:cNvPr id="10" name="Shape 7"/>
          <p:cNvSpPr/>
          <p:nvPr/>
        </p:nvSpPr>
        <p:spPr>
          <a:xfrm>
            <a:off x="566928" y="3840480"/>
            <a:ext cx="11057839"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4059936"/>
            <a:ext cx="237744" cy="237744"/>
          </a:xfrm>
          <a:prstGeom prst="rect">
            <a:avLst/>
          </a:prstGeom>
        </p:spPr>
      </p:pic>
      <p:sp>
        <p:nvSpPr>
          <p:cNvPr id="12" name="Text 8"/>
          <p:cNvSpPr/>
          <p:nvPr/>
        </p:nvSpPr>
        <p:spPr>
          <a:xfrm>
            <a:off x="1133856" y="40325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RESPUESTA ESPERADA (MOSTRAR DESPUÉS DE ESCUCHAR)</a:t>
            </a:r>
            <a:endParaRPr lang="en-US" sz="950" dirty="0"/>
          </a:p>
        </p:txBody>
      </p:sp>
      <p:sp>
        <p:nvSpPr>
          <p:cNvPr id="13" name="Text 9"/>
          <p:cNvSpPr/>
          <p:nvPr/>
        </p:nvSpPr>
        <p:spPr>
          <a:xfrm>
            <a:off x="804672" y="4352544"/>
            <a:ext cx="10582351" cy="16824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ejecución revierte: quien llama a liberar() es el timelock, no el Governor, así que Ownable responde OwnableUnauthorizedAccount(timelock). Y queda un dueño escondido: con el rol admin, quien desplegó puede darse PROPOSER y agendar operaciones sin votación. Las dos cosas las detectan las pruebas de test/s15/Gobierno.test.js.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20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IDENTIDAD DESCENTRALIZADA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El voto cuadrático, «una persona, un voto», las credenciales: todo necesita saber quién es quién. ¿Puede una cadena pública responder eso sin volverse una base de datos de personas?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DID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UN IDENTIFICADOR QUE NADIE TE PUEDE QUITAR</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Hoy tu identidad digital la guardan plataformas: el correo institucional, la cuenta del banco, el «iniciar sesión con…». Si la plataforma cierra tu cuenta, desapareces. Un DID es un identificador que controlas tú con una clave.</a:t>
            </a:r>
            <a:endParaRPr lang="en-US" sz="1400" dirty="0"/>
          </a:p>
        </p:txBody>
      </p:sp>
      <p:sp>
        <p:nvSpPr>
          <p:cNvPr id="9" name="Shape 6"/>
          <p:cNvSpPr/>
          <p:nvPr/>
        </p:nvSpPr>
        <p:spPr>
          <a:xfrm>
            <a:off x="566928" y="2743200"/>
            <a:ext cx="11057839" cy="822960"/>
          </a:xfrm>
          <a:prstGeom prst="rect">
            <a:avLst/>
          </a:prstGeom>
          <a:solidFill>
            <a:srgbClr val="F2F0F5"/>
          </a:solidFill>
          <a:ln w="12700">
            <a:solidFill>
              <a:srgbClr val="7152E9"/>
            </a:solidFill>
            <a:prstDash val="solid"/>
          </a:ln>
        </p:spPr>
      </p:sp>
      <p:sp>
        <p:nvSpPr>
          <p:cNvPr id="10" name="Text 7"/>
          <p:cNvSpPr/>
          <p:nvPr/>
        </p:nvSpPr>
        <p:spPr>
          <a:xfrm>
            <a:off x="731520" y="2816352"/>
            <a:ext cx="10728655" cy="676656"/>
          </a:xfrm>
          <a:prstGeom prst="rect">
            <a:avLst/>
          </a:prstGeom>
          <a:noFill/>
          <a:ln/>
        </p:spPr>
        <p:txBody>
          <a:bodyPr wrap="square" lIns="0" tIns="0" rIns="0" bIns="0" rtlCol="0" anchor="ctr"/>
          <a:lstStyle/>
          <a:p>
            <a:pPr indent="0" marL="0">
              <a:lnSpc>
                <a:spcPct val="120000"/>
              </a:lnSpc>
              <a:buNone/>
            </a:pPr>
            <a:r>
              <a:rPr lang="en-US" sz="1300" dirty="0">
                <a:solidFill>
                  <a:srgbClr val="3A3844"/>
                </a:solidFill>
                <a:latin typeface="Courier New" pitchFamily="34" charset="0"/>
                <a:ea typeface="Courier New" pitchFamily="34" charset="-122"/>
                <a:cs typeface="Courier New" pitchFamily="34" charset="-120"/>
              </a:rPr>
              <a:t>did : ethr : 0xb9c5714089478a327f09197987f16f9e5d936e8a</a:t>
            </a:r>
            <a:endParaRPr lang="en-US" sz="1300" dirty="0"/>
          </a:p>
          <a:p>
            <a:pPr indent="0" marL="0">
              <a:lnSpc>
                <a:spcPct val="120000"/>
              </a:lnSpc>
              <a:buNone/>
            </a:pPr>
            <a:r>
              <a:rPr lang="en-US" sz="1300" dirty="0">
                <a:solidFill>
                  <a:srgbClr val="3A3844"/>
                </a:solidFill>
                <a:latin typeface="Courier New" pitchFamily="34" charset="0"/>
                <a:ea typeface="Courier New" pitchFamily="34" charset="-122"/>
                <a:cs typeface="Courier New" pitchFamily="34" charset="-120"/>
              </a:rPr>
              <a:t>  esquema   método   identificador propio del método</a:t>
            </a:r>
            <a:endParaRPr lang="en-US" sz="1300" dirty="0"/>
          </a:p>
        </p:txBody>
      </p:sp>
      <p:sp>
        <p:nvSpPr>
          <p:cNvPr id="11" name="Shape 8"/>
          <p:cNvSpPr/>
          <p:nvPr/>
        </p:nvSpPr>
        <p:spPr>
          <a:xfrm>
            <a:off x="566928" y="3749040"/>
            <a:ext cx="5391760" cy="17373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9"/>
          <p:cNvSpPr/>
          <p:nvPr/>
        </p:nvSpPr>
        <p:spPr>
          <a:xfrm>
            <a:off x="841248" y="39319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QUÉ HAY DETRÁS</a:t>
            </a:r>
            <a:endParaRPr lang="en-US" sz="1050" dirty="0"/>
          </a:p>
        </p:txBody>
      </p:sp>
      <p:sp>
        <p:nvSpPr>
          <p:cNvPr id="13" name="Text 10"/>
          <p:cNvSpPr/>
          <p:nvPr/>
        </p:nvSpPr>
        <p:spPr>
          <a:xfrm>
            <a:off x="841248" y="4315968"/>
            <a:ext cx="4843120" cy="10058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DID apunta a un «documento DID» con las claves públicas que lo controlan. Quien tiene la clave privada demuestra que es el dueño firmando (Sesión 3).</a:t>
            </a:r>
            <a:endParaRPr lang="en-US" sz="1250" dirty="0"/>
          </a:p>
        </p:txBody>
      </p:sp>
      <p:sp>
        <p:nvSpPr>
          <p:cNvPr id="14" name="Shape 11"/>
          <p:cNvSpPr/>
          <p:nvPr/>
        </p:nvSpPr>
        <p:spPr>
          <a:xfrm>
            <a:off x="6233008" y="3749040"/>
            <a:ext cx="5391760" cy="17373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5" name="Text 12"/>
          <p:cNvSpPr/>
          <p:nvPr/>
        </p:nvSpPr>
        <p:spPr>
          <a:xfrm>
            <a:off x="6507328" y="393192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EL ERROR DE CONCEPTO TÍPICO</a:t>
            </a:r>
            <a:endParaRPr lang="en-US" sz="1050" dirty="0"/>
          </a:p>
        </p:txBody>
      </p:sp>
      <p:sp>
        <p:nvSpPr>
          <p:cNvPr id="16" name="Text 13"/>
          <p:cNvSpPr/>
          <p:nvPr/>
        </p:nvSpPr>
        <p:spPr>
          <a:xfrm>
            <a:off x="6507328" y="4315968"/>
            <a:ext cx="4843120" cy="10058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DID guarda mis datos en la cadena». No: un DID es un identificador y unas claves. Tus datos no tienen por qué estar en ninguna cadena, y NO deben.</a:t>
            </a:r>
            <a:endParaRPr lang="en-US" sz="1250" dirty="0"/>
          </a:p>
        </p:txBody>
      </p:sp>
      <p:sp>
        <p:nvSpPr>
          <p:cNvPr id="17" name="Text 14"/>
          <p:cNvSpPr/>
          <p:nvPr/>
        </p:nvSpPr>
        <p:spPr>
          <a:xfrm>
            <a:off x="566928" y="5669280"/>
            <a:ext cx="11057839" cy="41148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Estándar: W3C Decentralized Identifiers (DIDs) v1.0, Recomendación del 19 de julio de 2022.</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CREDENCIALES VERIFICABLES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EMISOR, TITULAR Y VERIFICADOR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Shape 5"/>
          <p:cNvSpPr/>
          <p:nvPr/>
        </p:nvSpPr>
        <p:spPr>
          <a:xfrm>
            <a:off x="566928" y="1828800"/>
            <a:ext cx="3017520" cy="1051560"/>
          </a:xfrm>
          <a:prstGeom prst="rect">
            <a:avLst/>
          </a:prstGeom>
          <a:solidFill>
            <a:srgbClr val="FFFFFF"/>
          </a:solidFill>
          <a:ln w="22225">
            <a:solidFill>
              <a:srgbClr val="7152E9"/>
            </a:solidFill>
            <a:prstDash val="solid"/>
          </a:ln>
        </p:spPr>
      </p:sp>
      <p:sp>
        <p:nvSpPr>
          <p:cNvPr id="9" name="Text 6"/>
          <p:cNvSpPr/>
          <p:nvPr/>
        </p:nvSpPr>
        <p:spPr>
          <a:xfrm>
            <a:off x="658368" y="1920240"/>
            <a:ext cx="283464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EMISOR</a:t>
            </a:r>
            <a:endParaRPr lang="en-US" sz="1100" dirty="0"/>
          </a:p>
        </p:txBody>
      </p:sp>
      <p:sp>
        <p:nvSpPr>
          <p:cNvPr id="10" name="Text 7"/>
          <p:cNvSpPr/>
          <p:nvPr/>
        </p:nvSpPr>
        <p:spPr>
          <a:xfrm>
            <a:off x="658368" y="2231136"/>
            <a:ext cx="2834640" cy="57607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la USB firma el</a:t>
            </a:r>
            <a:endParaRPr lang="en-US" sz="1100" dirty="0"/>
          </a:p>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diploma de Ana</a:t>
            </a:r>
            <a:endParaRPr lang="en-US" sz="1100" dirty="0"/>
          </a:p>
        </p:txBody>
      </p:sp>
      <p:sp>
        <p:nvSpPr>
          <p:cNvPr id="11" name="Shape 8"/>
          <p:cNvSpPr/>
          <p:nvPr/>
        </p:nvSpPr>
        <p:spPr>
          <a:xfrm>
            <a:off x="3630168" y="2350008"/>
            <a:ext cx="914400" cy="914"/>
          </a:xfrm>
          <a:prstGeom prst="line">
            <a:avLst/>
          </a:prstGeom>
          <a:noFill/>
          <a:ln w="25400">
            <a:solidFill>
              <a:srgbClr val="0F0F11"/>
            </a:solidFill>
            <a:prstDash val="solid"/>
            <a:tailEnd type="triangle"/>
          </a:ln>
        </p:spPr>
      </p:sp>
      <p:sp>
        <p:nvSpPr>
          <p:cNvPr id="12" name="Shape 9"/>
          <p:cNvSpPr/>
          <p:nvPr/>
        </p:nvSpPr>
        <p:spPr>
          <a:xfrm>
            <a:off x="4590288" y="1828800"/>
            <a:ext cx="3017520" cy="1051560"/>
          </a:xfrm>
          <a:prstGeom prst="rect">
            <a:avLst/>
          </a:prstGeom>
          <a:solidFill>
            <a:srgbClr val="FFFFFF"/>
          </a:solidFill>
          <a:ln w="22225">
            <a:solidFill>
              <a:srgbClr val="F07F06"/>
            </a:solidFill>
            <a:prstDash val="solid"/>
          </a:ln>
        </p:spPr>
      </p:sp>
      <p:sp>
        <p:nvSpPr>
          <p:cNvPr id="13" name="Text 10"/>
          <p:cNvSpPr/>
          <p:nvPr/>
        </p:nvSpPr>
        <p:spPr>
          <a:xfrm>
            <a:off x="4681728" y="1920240"/>
            <a:ext cx="283464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TITULAR</a:t>
            </a:r>
            <a:endParaRPr lang="en-US" sz="1100" dirty="0"/>
          </a:p>
        </p:txBody>
      </p:sp>
      <p:sp>
        <p:nvSpPr>
          <p:cNvPr id="14" name="Text 11"/>
          <p:cNvSpPr/>
          <p:nvPr/>
        </p:nvSpPr>
        <p:spPr>
          <a:xfrm>
            <a:off x="4681728" y="2231136"/>
            <a:ext cx="2834640" cy="57607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Ana lo guarda en</a:t>
            </a:r>
            <a:endParaRPr lang="en-US" sz="1100" dirty="0"/>
          </a:p>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su billetera</a:t>
            </a:r>
            <a:endParaRPr lang="en-US" sz="1100" dirty="0"/>
          </a:p>
        </p:txBody>
      </p:sp>
      <p:sp>
        <p:nvSpPr>
          <p:cNvPr id="15" name="Shape 12"/>
          <p:cNvSpPr/>
          <p:nvPr/>
        </p:nvSpPr>
        <p:spPr>
          <a:xfrm>
            <a:off x="7653528" y="2350008"/>
            <a:ext cx="914400" cy="914"/>
          </a:xfrm>
          <a:prstGeom prst="line">
            <a:avLst/>
          </a:prstGeom>
          <a:noFill/>
          <a:ln w="25400">
            <a:solidFill>
              <a:srgbClr val="0F0F11"/>
            </a:solidFill>
            <a:prstDash val="solid"/>
            <a:tailEnd type="triangle"/>
          </a:ln>
        </p:spPr>
      </p:sp>
      <p:sp>
        <p:nvSpPr>
          <p:cNvPr id="16" name="Shape 13"/>
          <p:cNvSpPr/>
          <p:nvPr/>
        </p:nvSpPr>
        <p:spPr>
          <a:xfrm>
            <a:off x="8613648" y="1828800"/>
            <a:ext cx="3011119" cy="1051560"/>
          </a:xfrm>
          <a:prstGeom prst="rect">
            <a:avLst/>
          </a:prstGeom>
          <a:solidFill>
            <a:srgbClr val="FFFFFF"/>
          </a:solidFill>
          <a:ln w="22225">
            <a:solidFill>
              <a:srgbClr val="0F0F11"/>
            </a:solidFill>
            <a:prstDash val="solid"/>
          </a:ln>
        </p:spPr>
      </p:sp>
      <p:sp>
        <p:nvSpPr>
          <p:cNvPr id="17" name="Text 14"/>
          <p:cNvSpPr/>
          <p:nvPr/>
        </p:nvSpPr>
        <p:spPr>
          <a:xfrm>
            <a:off x="8705088" y="1920240"/>
            <a:ext cx="2828239"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VERIFICADOR</a:t>
            </a:r>
            <a:endParaRPr lang="en-US" sz="1100" dirty="0"/>
          </a:p>
        </p:txBody>
      </p:sp>
      <p:sp>
        <p:nvSpPr>
          <p:cNvPr id="18" name="Text 15"/>
          <p:cNvSpPr/>
          <p:nvPr/>
        </p:nvSpPr>
        <p:spPr>
          <a:xfrm>
            <a:off x="8705088" y="2231136"/>
            <a:ext cx="2828239" cy="57607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una empresa comprueba</a:t>
            </a:r>
            <a:endParaRPr lang="en-US" sz="1100" dirty="0"/>
          </a:p>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la firma de la USB</a:t>
            </a:r>
            <a:endParaRPr lang="en-US" sz="1100" dirty="0"/>
          </a:p>
        </p:txBody>
      </p:sp>
      <p:sp>
        <p:nvSpPr>
          <p:cNvPr id="19" name="Text 16"/>
          <p:cNvSpPr/>
          <p:nvPr/>
        </p:nvSpPr>
        <p:spPr>
          <a:xfrm>
            <a:off x="566928" y="3154680"/>
            <a:ext cx="11057839"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empresa verifica la firma de la universidad sin llamar a la universidad. Ana decide a quién mostrar su diploma y cuándo. Estándar: W3C Verifiable Credentials Data Model v2.0 (Recomendación, 15 de mayo de 2025).</a:t>
            </a:r>
            <a:endParaRPr lang="en-US" sz="13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4160520"/>
          <a:ext cx="11057839" cy="914400"/>
        </p:xfrm>
        <a:graphic>
          <a:graphicData uri="http://schemas.openxmlformats.org/drawingml/2006/table">
            <a:tbl>
              <a:tblPr/>
              <a:tblGrid>
                <a:gridCol w="3840480"/>
                <a:gridCol w="3840480"/>
                <a:gridCol w="33768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VA DÓNDE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LA CADENA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FUERA DE LA CADENA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364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diploma con nombre y cédula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NUNCA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En la billetera de Ana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64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La clave pública de la USB (su DID)</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Puede ir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64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«Este diploma fue revocado»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registro de revocación, sin datos personales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21" name="Shape 17"/>
          <p:cNvSpPr/>
          <p:nvPr/>
        </p:nvSpPr>
        <p:spPr>
          <a:xfrm>
            <a:off x="548640" y="4142232"/>
            <a:ext cx="11094415" cy="1956816"/>
          </a:xfrm>
          <a:prstGeom prst="rect">
            <a:avLst/>
          </a:prstGeom>
          <a:ln w="22225">
            <a:solidFill>
              <a:srgbClr val="0F0F11"/>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SOULBOUND TOKENS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UN NFT QUE NO SE PUEDE VENDER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 SBT es un token atado a una cuenta: no se transfiere. La idea se popularizó en 2022 (Weyl, Ohlson y Buterin, «Decentralized Society») y tiene un estándar mínimo, ERC-5192, donde locked(tokenId) = true bloquea toda transferencia.</a:t>
            </a:r>
            <a:endParaRPr lang="en-US" sz="1400" dirty="0"/>
          </a:p>
        </p:txBody>
      </p:sp>
      <p:sp>
        <p:nvSpPr>
          <p:cNvPr id="9" name="Shape 6"/>
          <p:cNvSpPr/>
          <p:nvPr/>
        </p:nvSpPr>
        <p:spPr>
          <a:xfrm>
            <a:off x="566928" y="2788920"/>
            <a:ext cx="5391760" cy="2240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9718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PARA QUÉ SIRVE</a:t>
            </a:r>
            <a:endParaRPr lang="en-US" sz="1050" dirty="0"/>
          </a:p>
        </p:txBody>
      </p:sp>
      <p:sp>
        <p:nvSpPr>
          <p:cNvPr id="11" name="Text 8"/>
          <p:cNvSpPr/>
          <p:nvPr/>
        </p:nvSpPr>
        <p:spPr>
          <a:xfrm>
            <a:off x="841248" y="3355848"/>
            <a:ext cx="4843120" cy="150876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Asistencia a un evento, un curso aprobado.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Pertenencia a una comunidad.</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Base para «una persona, un voto».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Reputación que no se puede comprar.</a:t>
            </a:r>
            <a:endParaRPr lang="en-US" sz="1250" dirty="0"/>
          </a:p>
        </p:txBody>
      </p:sp>
      <p:sp>
        <p:nvSpPr>
          <p:cNvPr id="12" name="Shape 9"/>
          <p:cNvSpPr/>
          <p:nvPr/>
        </p:nvSpPr>
        <p:spPr>
          <a:xfrm>
            <a:off x="6233008" y="2788920"/>
            <a:ext cx="5391760" cy="22402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3" name="Text 10"/>
          <p:cNvSpPr/>
          <p:nvPr/>
        </p:nvSpPr>
        <p:spPr>
          <a:xfrm>
            <a:off x="6507328" y="297180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LO QUE SALE MAL</a:t>
            </a:r>
            <a:endParaRPr lang="en-US" sz="1050" dirty="0"/>
          </a:p>
        </p:txBody>
      </p:sp>
      <p:sp>
        <p:nvSpPr>
          <p:cNvPr id="14" name="Text 11"/>
          <p:cNvSpPr/>
          <p:nvPr/>
        </p:nvSpPr>
        <p:spPr>
          <a:xfrm>
            <a:off x="6507328" y="3355848"/>
            <a:ext cx="4843120" cy="150876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Si pierdes la clave, pierdes la credencial.</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Es público para siempre: todos ven tu historial.</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Puede marcar negativamente («deudor», «sancionado»).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No se puede borrar si fue un error.</a:t>
            </a:r>
            <a:endParaRPr lang="en-US" sz="1250" dirty="0"/>
          </a:p>
        </p:txBody>
      </p:sp>
      <p:sp>
        <p:nvSpPr>
          <p:cNvPr id="15" name="Text 12"/>
          <p:cNvSpPr/>
          <p:nvPr/>
        </p:nvSpPr>
        <p:spPr>
          <a:xfrm>
            <a:off x="566928" y="525780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La tercera fila de la derecha es la que nos lleva a la ley colombiana.</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LA TENSIÓN DIFÍCIL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INMUTABLE FRENTE A HABEAS DATA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743200"/>
                <a:gridCol w="4206240"/>
                <a:gridCol w="41083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NORMA COLOMBIANA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GARANTIZA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CHOQUE CON UNA CADENA PÚBLICA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8107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Constitución, art. 15</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Derecho a conocer, actualizar y rectificar la información que se tenga sobre uno.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Lo escrito en la cadena no se rectifica: solo se añade encima.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107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Ley 1581 de 2012, art. 8</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Solicitar la SUPRESIÓN del dato y revocar la autorización.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existe forma técnica de suprimir un dato de todos los nodos.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8107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Ley 1266 de 2008 (mod. Ley 2157 de 2021)</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dato negativo de crédito tiene permanencia máxima: el doble de la mora, hasta 4 años.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SBT de «deudor» seguiría visible después del plazo legal.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779776"/>
          </a:xfrm>
          <a:prstGeom prst="rect">
            <a:avLst/>
          </a:prstGeom>
          <a:ln w="22225">
            <a:solidFill>
              <a:srgbClr val="0F0F11"/>
            </a:solidFill>
            <a:prstDash val="solid"/>
          </a:ln>
        </p:spPr>
      </p:sp>
      <p:sp>
        <p:nvSpPr>
          <p:cNvPr id="10" name="Shape 6"/>
          <p:cNvSpPr/>
          <p:nvPr/>
        </p:nvSpPr>
        <p:spPr>
          <a:xfrm>
            <a:off x="566928" y="4663440"/>
            <a:ext cx="11057839" cy="146304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882896"/>
            <a:ext cx="237744" cy="237744"/>
          </a:xfrm>
          <a:prstGeom prst="rect">
            <a:avLst/>
          </a:prstGeom>
        </p:spPr>
      </p:pic>
      <p:sp>
        <p:nvSpPr>
          <p:cNvPr id="12" name="Text 7"/>
          <p:cNvSpPr/>
          <p:nvPr/>
        </p:nvSpPr>
        <p:spPr>
          <a:xfrm>
            <a:off x="1133856" y="485546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DISCUTAN DOS MINUTOS EN PAREJAS</a:t>
            </a:r>
            <a:endParaRPr lang="en-US" sz="950" dirty="0"/>
          </a:p>
        </p:txBody>
      </p:sp>
      <p:sp>
        <p:nvSpPr>
          <p:cNvPr id="13" name="Text 8"/>
          <p:cNvSpPr/>
          <p:nvPr/>
        </p:nvSpPr>
        <p:spPr>
          <a:xfrm>
            <a:off x="804672" y="5175504"/>
            <a:ext cx="10582351" cy="85953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Una cooperativa de Medellín quiere emitir SBT de «buen pagador» y de «mal pagador» para abaratar el crédito. ¿Qué parte es legal? ¿Qué parte es imposible de cumplir en una cadena pública? ¿Qué rediseñarían?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B.5 · SALIDAS DE DISEÑO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PARCHES HONESTOS, NINGUNO PERFECTO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017520"/>
                <a:gridCol w="4023360"/>
                <a:gridCol w="40169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SALIDA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RESUELVE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NO RESUELVE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8717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Solo el hash en la cadena (S6)</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dato personal no se publica; se prueba la integridad del documento.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hash de un dato adivinable (una cédula) se puede revertir probando.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717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Credencial fuera de cadena + registro de revocación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titular guarda sus datos; el emisor puede revocar.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Revocar no es borrar: el historial de revocaciones sigue siendo público.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8717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Divulgación selectiva / pruebas de conocimiento cero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Probar «soy mayor de edad» sin mostrar la fecha de nacimiento.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Complejidad técnica; aún poco adoptado; depende de emisores confiables.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962656"/>
          </a:xfrm>
          <a:prstGeom prst="rect">
            <a:avLst/>
          </a:prstGeom>
          <a:ln w="22225">
            <a:solidFill>
              <a:srgbClr val="0F0F11"/>
            </a:solidFill>
            <a:prstDash val="solid"/>
          </a:ln>
        </p:spPr>
      </p:sp>
      <p:sp>
        <p:nvSpPr>
          <p:cNvPr id="10" name="Shape 6"/>
          <p:cNvSpPr/>
          <p:nvPr/>
        </p:nvSpPr>
        <p:spPr>
          <a:xfrm>
            <a:off x="566928" y="4892040"/>
            <a:ext cx="11057839" cy="11887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7"/>
          <p:cNvSpPr/>
          <p:nvPr/>
        </p:nvSpPr>
        <p:spPr>
          <a:xfrm>
            <a:off x="950976" y="5074920"/>
            <a:ext cx="10289743" cy="82296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La regla del curso no cambia: en una cadena pública no van datos personales. Ni cifrados, ni «por ahora».</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B.6 · VERIFICACIÓN DEL BLOQUE B</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PREGUNTA DE CONTROL</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Shape 5"/>
          <p:cNvSpPr/>
          <p:nvPr/>
        </p:nvSpPr>
        <p:spPr>
          <a:xfrm>
            <a:off x="566928" y="1737360"/>
            <a:ext cx="11057839" cy="18288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46304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La universidad propone publicar en Sepolia, como SBT, el diploma de cada egresado con su nombre y su promedio. Den dos razones para no hacerlo y una alternativa que conserve la verificación.</a:t>
            </a:r>
            <a:endParaRPr lang="en-US" sz="1800" dirty="0"/>
          </a:p>
        </p:txBody>
      </p:sp>
      <p:sp>
        <p:nvSpPr>
          <p:cNvPr id="10" name="Shape 7"/>
          <p:cNvSpPr/>
          <p:nvPr/>
        </p:nvSpPr>
        <p:spPr>
          <a:xfrm>
            <a:off x="566928" y="3794760"/>
            <a:ext cx="11057839" cy="23317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4014216"/>
            <a:ext cx="237744" cy="237744"/>
          </a:xfrm>
          <a:prstGeom prst="rect">
            <a:avLst/>
          </a:prstGeom>
        </p:spPr>
      </p:pic>
      <p:sp>
        <p:nvSpPr>
          <p:cNvPr id="12" name="Text 8"/>
          <p:cNvSpPr/>
          <p:nvPr/>
        </p:nvSpPr>
        <p:spPr>
          <a:xfrm>
            <a:off x="1133856" y="39867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RESPUESTA ESPERADA</a:t>
            </a:r>
            <a:endParaRPr lang="en-US" sz="950" dirty="0"/>
          </a:p>
        </p:txBody>
      </p:sp>
      <p:sp>
        <p:nvSpPr>
          <p:cNvPr id="13" name="Text 9"/>
          <p:cNvSpPr/>
          <p:nvPr/>
        </p:nvSpPr>
        <p:spPr>
          <a:xfrm>
            <a:off x="804672" y="4306824"/>
            <a:ext cx="10582351" cy="1728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(1) Nombre y promedio son datos personales: la Ley 1581 da derecho a suprimirlos, y en la cadena no se puede. (2) Queda público para siempre y atado a una cuenta: cualquiera reconstruye el historial del egresado. Alternativa: credencial verificable firmada por la USB que el egresado guarda y muestra cuando quiere; en la cadena, a lo sumo, el hash del documento y un registro de revocación (el patrón de las Sesiones 6 y 11).</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70 MINUTOS ·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LABORATORIO 15</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Una DAO completa que gobierna una tesorería, con timelock: armarla, probar sus defensas, recorrer el ciclo con tiempo simulado y dejar evidencia en Sepolia. Y un multisig 2 de 3.</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QUÉ HAY EN EL REPOSITORIO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CINCO CONTRATOS, TRES ARCHIVOS DE PRUEBAS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3749040"/>
                <a:gridCol w="4572000"/>
                <a:gridCol w="27367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ARCHIVO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COMPLETAN?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6405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contracts/s15/TokenVoto.sol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ERC20Votes: saldos, historial y delegación.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se lee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6405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contracts/s15/GobiernoUSB.sol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Governor + GovernorTimelockControl.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se lee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6405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contracts/s15/TimelockUSB.sol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TimelockController de OpenZeppelin.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se lee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6405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contracts/s15/Tesoreria.sol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Fondos cuyo dueño es el timelock.</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se lee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6405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contracts/s15/MultisigUSB.sol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Multisig mínimo m de 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 TODO 1 y 2</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6405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test/s15/Gobierno.test.js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11 pruebas de estructura y defensas.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deben pasar ya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6405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test/s15/CicloGobierno.test.js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ciclo completo con tiempo simulado.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 TODO 1 a 5</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6405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test/s15/Multisig.test.js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11 pruebas del multisig.</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son la meta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4059936"/>
          </a:xfrm>
          <a:prstGeom prst="rect">
            <a:avLst/>
          </a:prstGeom>
          <a:ln w="22225">
            <a:solidFill>
              <a:srgbClr val="0F0F11"/>
            </a:solidFill>
            <a:prstDash val="solid"/>
          </a:ln>
        </p:spPr>
      </p:sp>
      <p:sp>
        <p:nvSpPr>
          <p:cNvPr id="10" name="Text 6"/>
          <p:cNvSpPr/>
          <p:nvPr/>
        </p:nvSpPr>
        <p:spPr>
          <a:xfrm>
            <a:off x="566928" y="5806440"/>
            <a:ext cx="11057839" cy="41148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Los contratos del Governor casi no tienen lógica propia: son OpenZeppelin bien armado. Lo que se aprende es a MONTARLO y a recorrerlo.</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PARTE 1 · ARMAR LA DAO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EL ORDEN DEL DESPLIEGUE IMPORTA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sp>
        <p:nvSpPr>
          <p:cNvPr id="8" name="Shape 5"/>
          <p:cNvSpPr/>
          <p:nvPr/>
        </p:nvSpPr>
        <p:spPr>
          <a:xfrm>
            <a:off x="566928" y="1691640"/>
            <a:ext cx="11057839" cy="320040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LA FUNCIÓN DESPLEGARDAO() DE LAS PRUEBAS</a:t>
            </a:r>
            <a:endParaRPr lang="en-US" sz="850" dirty="0"/>
          </a:p>
        </p:txBody>
      </p:sp>
      <p:sp>
        <p:nvSpPr>
          <p:cNvPr id="10" name="Text 7"/>
          <p:cNvSpPr/>
          <p:nvPr/>
        </p:nvSpPr>
        <p:spPr>
          <a:xfrm>
            <a:off x="768096" y="2075688"/>
            <a:ext cx="10655503" cy="2706624"/>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deployContract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"TokenVoto"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deployContract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"TimelockUSB"</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3600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ZeroAddress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fundador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deployContract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"GobiernoUSB"</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grantRole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PROPOSER_ROLE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grantRole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CANCELLER_ROLE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renounceRole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DEFAULT_ADMIN_ROLE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fundador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tesoreria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deployContract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"Tesoreria"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1" name="Shape 8"/>
          <p:cNvSpPr/>
          <p:nvPr/>
        </p:nvSpPr>
        <p:spPr>
          <a:xfrm>
            <a:off x="566928" y="5029200"/>
            <a:ext cx="11057839" cy="530352"/>
          </a:xfrm>
          <a:prstGeom prst="rect">
            <a:avLst/>
          </a:prstGeom>
          <a:solidFill>
            <a:srgbClr val="FFFFFF"/>
          </a:solidFill>
          <a:ln w="15875">
            <a:solidFill>
              <a:srgbClr val="D9D6E0"/>
            </a:solidFill>
            <a:prstDash val="solid"/>
          </a:ln>
        </p:spPr>
      </p:sp>
      <p:sp>
        <p:nvSpPr>
          <p:cNvPr id="12" name="Text 9"/>
          <p:cNvSpPr/>
          <p:nvPr/>
        </p:nvSpPr>
        <p:spPr>
          <a:xfrm>
            <a:off x="694944" y="5029200"/>
            <a:ext cx="548640" cy="53035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3" name="Text 10"/>
          <p:cNvSpPr/>
          <p:nvPr/>
        </p:nvSpPr>
        <p:spPr>
          <a:xfrm>
            <a:off x="1280160" y="5148072"/>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HUEVO Y GALLINA</a:t>
            </a:r>
            <a:endParaRPr lang="en-US" sz="1000" dirty="0"/>
          </a:p>
        </p:txBody>
      </p:sp>
      <p:sp>
        <p:nvSpPr>
          <p:cNvPr id="14" name="Text 11"/>
          <p:cNvSpPr/>
          <p:nvPr/>
        </p:nvSpPr>
        <p:spPr>
          <a:xfrm>
            <a:off x="3566160" y="5120640"/>
            <a:ext cx="7948879" cy="384048"/>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El timelock necesita al Governor como proponente, y el Governor necesita al timelock: por eso el fundador es admin un momento.</a:t>
            </a:r>
            <a:endParaRPr lang="en-US" sz="1150" dirty="0"/>
          </a:p>
        </p:txBody>
      </p:sp>
      <p:sp>
        <p:nvSpPr>
          <p:cNvPr id="15" name="Shape 12"/>
          <p:cNvSpPr/>
          <p:nvPr/>
        </p:nvSpPr>
        <p:spPr>
          <a:xfrm>
            <a:off x="566928" y="5632704"/>
            <a:ext cx="11057839" cy="530352"/>
          </a:xfrm>
          <a:prstGeom prst="rect">
            <a:avLst/>
          </a:prstGeom>
          <a:solidFill>
            <a:srgbClr val="FAF9FB"/>
          </a:solidFill>
          <a:ln w="15875">
            <a:solidFill>
              <a:srgbClr val="D9D6E0"/>
            </a:solidFill>
            <a:prstDash val="solid"/>
          </a:ln>
        </p:spPr>
      </p:sp>
      <p:sp>
        <p:nvSpPr>
          <p:cNvPr id="16" name="Text 13"/>
          <p:cNvSpPr/>
          <p:nvPr/>
        </p:nvSpPr>
        <p:spPr>
          <a:xfrm>
            <a:off x="694944" y="5632704"/>
            <a:ext cx="548640" cy="53035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7" name="Text 14"/>
          <p:cNvSpPr/>
          <p:nvPr/>
        </p:nvSpPr>
        <p:spPr>
          <a:xfrm>
            <a:off x="1280160" y="575157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RENUNCIAR</a:t>
            </a:r>
            <a:endParaRPr lang="en-US" sz="1000" dirty="0"/>
          </a:p>
        </p:txBody>
      </p:sp>
      <p:sp>
        <p:nvSpPr>
          <p:cNvPr id="18" name="Text 15"/>
          <p:cNvSpPr/>
          <p:nvPr/>
        </p:nvSpPr>
        <p:spPr>
          <a:xfrm>
            <a:off x="3566160" y="5724144"/>
            <a:ext cx="7948879" cy="384048"/>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Lo último: renunciar al rol admin. Después, nadie tiene llaves maestras.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 · PARTE 2 · EL CICLO CON TIEMPO SIMULADO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COMPLETAR CICLOGOBIERNO.TEST.JS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sp>
        <p:nvSpPr>
          <p:cNvPr id="8" name="Shape 5"/>
          <p:cNvSpPr/>
          <p:nvPr/>
        </p:nvSpPr>
        <p:spPr>
          <a:xfrm>
            <a:off x="566928" y="1691640"/>
            <a:ext cx="11057839" cy="274320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PRUEBA 1: LA FORMA DE LA SOLUCIÓN · TODO 4 Y 5 SON LAS OTRAS DOS PRUEBAS ★</a:t>
            </a:r>
            <a:endParaRPr lang="en-US" sz="850" dirty="0"/>
          </a:p>
        </p:txBody>
      </p:sp>
      <p:sp>
        <p:nvSpPr>
          <p:cNvPr id="10" name="Text 7"/>
          <p:cNvSpPr/>
          <p:nvPr/>
        </p:nvSpPr>
        <p:spPr>
          <a:xfrm>
            <a:off x="768096" y="2075688"/>
            <a:ext cx="10655503" cy="2249424"/>
          </a:xfrm>
          <a:prstGeom prst="rect">
            <a:avLst/>
          </a:prstGeom>
          <a:noFill/>
          <a:ln/>
        </p:spPr>
        <p:txBody>
          <a:bodyPr wrap="square" lIns="0" tIns="0" rIns="0" bIns="0" rtlCol="0" anchor="t"/>
          <a:lstStyle/>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token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delegate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mine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TODO 1a</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propose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targets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values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calldatas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descripcion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1b</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mine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TODO 2a · Active</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connect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castVote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VOTO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AFavor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TODO 2b</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mine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51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TODO 2c · Succeeded</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queue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targets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values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calldatas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hashDescripcion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3a · Queued</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time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increase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RETARDO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TODO 3b · segundos, no bloques</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execute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targets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values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calldatas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hashDescripcion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ya escrito</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4617720"/>
          <a:ext cx="11057839" cy="914400"/>
        </p:xfrm>
        <a:graphic>
          <a:graphicData uri="http://schemas.openxmlformats.org/drawingml/2006/table">
            <a:tbl>
              <a:tblPr/>
              <a:tblGrid>
                <a:gridCol w="2011680"/>
                <a:gridCol w="90461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MOMENTO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SALIDA ESPERADA DE NPX HARDHAT TEST TEST/S15/CICLOGOBIERNO.TEST.JS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47472">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al empezar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 passing · 3 failing (las tres marcadas con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al terminar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5 passing · 0 failing: la parte 2 está lista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2" name="Shape 8"/>
          <p:cNvSpPr/>
          <p:nvPr/>
        </p:nvSpPr>
        <p:spPr>
          <a:xfrm>
            <a:off x="548640" y="4599432"/>
            <a:ext cx="11094415" cy="1042416"/>
          </a:xfrm>
          <a:prstGeom prst="rect">
            <a:avLst/>
          </a:prstGeom>
          <a:ln w="22225">
            <a:solidFill>
              <a:srgbClr val="0F0F11"/>
            </a:solidFill>
            <a:prstDash val="solid"/>
          </a:ln>
        </p:spPr>
      </p:sp>
      <p:sp>
        <p:nvSpPr>
          <p:cNvPr id="13" name="Text 9"/>
          <p:cNvSpPr/>
          <p:nvPr/>
        </p:nvSpPr>
        <p:spPr>
          <a:xfrm>
            <a:off x="566928" y="5715000"/>
            <a:ext cx="11057839" cy="45720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Cómo saber que terminó: las 5 en verde, y pueden explicar por qué mine() mueve la votación y time.increase() el timelock.</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C.4 · PARTE 3 · MULTISIG</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MULTISIGUSB EN LOCAL, SAFE EN SEPOLIA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sp>
        <p:nvSpPr>
          <p:cNvPr id="8" name="Shape 5"/>
          <p:cNvSpPr/>
          <p:nvPr/>
        </p:nvSpPr>
        <p:spPr>
          <a:xfrm>
            <a:off x="566928" y="1737360"/>
            <a:ext cx="5391760" cy="27889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3A · MULTISIGUSB (RED LOCAL)</a:t>
            </a:r>
            <a:endParaRPr lang="en-US" sz="1050" dirty="0"/>
          </a:p>
        </p:txBody>
      </p:sp>
      <p:sp>
        <p:nvSpPr>
          <p:cNvPr id="10" name="Text 7"/>
          <p:cNvSpPr/>
          <p:nvPr/>
        </p:nvSpPr>
        <p:spPr>
          <a:xfrm>
            <a:off x="841248" y="2304288"/>
            <a:ext cx="4843120" cy="205740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Copiar andamiaje/s15/MultisigUSB.sol sobre contracts/s15/.</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Completar TODO 1 confirmar() y TODO 2 ejecutar().</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Al empezar: 4 passing · 7 failing.</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Al terminar: 11 passing.</a:t>
            </a:r>
            <a:endParaRPr lang="en-US" sz="1250" dirty="0"/>
          </a:p>
        </p:txBody>
      </p:sp>
      <p:sp>
        <p:nvSpPr>
          <p:cNvPr id="11" name="Shape 8"/>
          <p:cNvSpPr/>
          <p:nvPr/>
        </p:nvSpPr>
        <p:spPr>
          <a:xfrm>
            <a:off x="6233008" y="1737360"/>
            <a:ext cx="5391760" cy="27889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3B · SAFE 2 DE 2 EN SEPOLIA</a:t>
            </a:r>
            <a:endParaRPr lang="en-US" sz="1050" dirty="0"/>
          </a:p>
        </p:txBody>
      </p:sp>
      <p:sp>
        <p:nvSpPr>
          <p:cNvPr id="13" name="Text 10"/>
          <p:cNvSpPr/>
          <p:nvPr/>
        </p:nvSpPr>
        <p:spPr>
          <a:xfrm>
            <a:off x="6507328" y="2304288"/>
            <a:ext cx="4843120" cy="205740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Dos billeteras del curso con ETH de prueba (una por integrante).</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Crear el Safe en app.safe.global con umbral 2.</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Proponer enviar 0,001 ETH; el otro confirma; ejecutar.</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Evidencia: hash de la ejecución en el explorador.</a:t>
            </a:r>
            <a:endParaRPr lang="en-US" sz="1250" dirty="0"/>
          </a:p>
        </p:txBody>
      </p:sp>
      <p:sp>
        <p:nvSpPr>
          <p:cNvPr id="14" name="Shape 11"/>
          <p:cNvSpPr/>
          <p:nvPr/>
        </p:nvSpPr>
        <p:spPr>
          <a:xfrm>
            <a:off x="566928" y="4754880"/>
            <a:ext cx="11057839" cy="13716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5"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6" name="Text 12"/>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SI NO HAY ETH DE PRUEBA</a:t>
            </a:r>
            <a:endParaRPr lang="en-US" sz="950" dirty="0"/>
          </a:p>
        </p:txBody>
      </p:sp>
      <p:sp>
        <p:nvSpPr>
          <p:cNvPr id="17" name="Text 13"/>
          <p:cNvSpPr/>
          <p:nvPr/>
        </p:nvSpPr>
        <p:spPr>
          <a:xfrm>
            <a:off x="804672" y="5266944"/>
            <a:ext cx="10582351" cy="7680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parte 3b es la única que depende de la red. Si el faucet falla, se entrega la 3a con sus 11 pruebas en verde y se documenta el flujo de Safe con capturas del intento. Nunca con dinero real, nunca con la billetera personal.</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C.5 · PARTE 4 · EVIDENCIA EN CADENA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LA MISMA DAO, DE VERDAD, EN SEPOLIA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sp>
        <p:nvSpPr>
          <p:cNvPr id="8" name="Shape 5"/>
          <p:cNvSpPr/>
          <p:nvPr/>
        </p:nvSpPr>
        <p:spPr>
          <a:xfrm>
            <a:off x="566928" y="1691640"/>
            <a:ext cx="11057839" cy="868680"/>
          </a:xfrm>
          <a:prstGeom prst="rect">
            <a:avLst/>
          </a:prstGeom>
          <a:solidFill>
            <a:srgbClr val="16151B"/>
          </a:solidFill>
          <a:ln w="22225">
            <a:solidFill>
              <a:srgbClr val="16151B"/>
            </a:solidFill>
            <a:prstDash val="solid"/>
          </a:ln>
        </p:spPr>
      </p:sp>
      <p:sp>
        <p:nvSpPr>
          <p:cNvPr id="9" name="Text 6"/>
          <p:cNvSpPr/>
          <p:nvPr/>
        </p:nvSpPr>
        <p:spPr>
          <a:xfrm>
            <a:off x="768096" y="1837944"/>
            <a:ext cx="10655503" cy="612648"/>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run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s15</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ciclo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ensayo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local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segundos</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run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s15</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ciclo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gobierno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sepolia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unos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15</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minutos</a:t>
            </a:r>
            <a:endParaRPr lang="en-US" sz="1150" dirty="0"/>
          </a:p>
        </p:txBody>
      </p:sp>
      <p:sp>
        <p:nvSpPr>
          <p:cNvPr id="10" name="Shape 7"/>
          <p:cNvSpPr/>
          <p:nvPr/>
        </p:nvSpPr>
        <p:spPr>
          <a:xfrm>
            <a:off x="566928" y="2697480"/>
            <a:ext cx="6675120" cy="2514600"/>
          </a:xfrm>
          <a:prstGeom prst="rect">
            <a:avLst/>
          </a:prstGeom>
          <a:solidFill>
            <a:srgbClr val="16151B"/>
          </a:solidFill>
          <a:ln w="22225">
            <a:solidFill>
              <a:srgbClr val="16151B"/>
            </a:solidFill>
            <a:prstDash val="solid"/>
          </a:ln>
        </p:spPr>
      </p:sp>
      <p:sp>
        <p:nvSpPr>
          <p:cNvPr id="11" name="Text 8"/>
          <p:cNvSpPr/>
          <p:nvPr/>
        </p:nvSpPr>
        <p:spPr>
          <a:xfrm>
            <a:off x="768096" y="2770632"/>
            <a:ext cx="627278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SALIDA REAL EN LA RED LOCAL (EXTRACTO)</a:t>
            </a:r>
            <a:endParaRPr lang="en-US" sz="850" dirty="0"/>
          </a:p>
        </p:txBody>
      </p:sp>
      <p:sp>
        <p:nvSpPr>
          <p:cNvPr id="12" name="Text 9"/>
          <p:cNvSpPr/>
          <p:nvPr/>
        </p:nvSpPr>
        <p:spPr>
          <a:xfrm>
            <a:off x="768096" y="3081528"/>
            <a:ext cx="6272784" cy="2020824"/>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votos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antes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sin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delegar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votos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delegar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x2a80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gas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95.622</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proponer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x0ff9</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gas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69.694</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votar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xde55</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gas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83.256</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encolar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x46bd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gas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145.311</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ejecutar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x51ed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gas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98.066</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tesoreria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0.002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0.001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ETH</a:t>
            </a:r>
            <a:endParaRPr lang="en-US" sz="1050" dirty="0"/>
          </a:p>
        </p:txBody>
      </p:sp>
      <p:sp>
        <p:nvSpPr>
          <p:cNvPr id="13" name="Text 10"/>
          <p:cNvSpPr/>
          <p:nvPr/>
        </p:nvSpPr>
        <p:spPr>
          <a:xfrm>
            <a:off x="7470648" y="2697480"/>
            <a:ext cx="4154119" cy="251460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200" dirty="0">
                <a:solidFill>
                  <a:srgbClr val="3A3844"/>
                </a:solidFill>
                <a:latin typeface="Arial" pitchFamily="34" charset="0"/>
                <a:ea typeface="Arial" pitchFamily="34" charset="-122"/>
                <a:cs typeface="Arial" pitchFamily="34" charset="-120"/>
              </a:rPr>
              <a:t>En Sepolia una sola cuenta hace todo: es para ver el ciclo en cadena, no una comunidad.</a:t>
            </a:r>
            <a:endParaRPr lang="en-US" sz="1200" dirty="0"/>
          </a:p>
          <a:p>
            <a:pPr marL="203200" indent="-203200">
              <a:lnSpc>
                <a:spcPct val="118000"/>
              </a:lnSpc>
              <a:spcAft>
                <a:spcPts val="600"/>
              </a:spcAft>
              <a:buSzPct val="100000"/>
              <a:buChar char="■"/>
            </a:pPr>
            <a:r>
              <a:rPr lang="en-US" sz="1200" dirty="0">
                <a:solidFill>
                  <a:srgbClr val="3A3844"/>
                </a:solidFill>
                <a:latin typeface="Arial" pitchFamily="34" charset="0"/>
                <a:ea typeface="Arial" pitchFamily="34" charset="-122"/>
                <a:cs typeface="Arial" pitchFamily="34" charset="-120"/>
              </a:rPr>
              <a:t>Espera ~10 min de votación (50 bloques) y 2 min de timelock.</a:t>
            </a:r>
            <a:endParaRPr lang="en-US" sz="1200" dirty="0"/>
          </a:p>
          <a:p>
            <a:pPr marL="203200" indent="-203200">
              <a:lnSpc>
                <a:spcPct val="118000"/>
              </a:lnSpc>
              <a:spcAft>
                <a:spcPts val="600"/>
              </a:spcAft>
              <a:buSzPct val="100000"/>
              <a:buChar char="■"/>
            </a:pPr>
            <a:r>
              <a:rPr lang="en-US" sz="1200" dirty="0">
                <a:solidFill>
                  <a:srgbClr val="3A3844"/>
                </a:solidFill>
                <a:latin typeface="Arial" pitchFamily="34" charset="0"/>
                <a:ea typeface="Arial" pitchFamily="34" charset="-122"/>
                <a:cs typeface="Arial" pitchFamily="34" charset="-120"/>
              </a:rPr>
              <a:t>Usa el keystore: SEPOLIA_RPC_URL y SEPOLIA_PRIVATE_KEY.</a:t>
            </a:r>
            <a:endParaRPr lang="en-US" sz="1200" dirty="0"/>
          </a:p>
        </p:txBody>
      </p:sp>
      <p:sp>
        <p:nvSpPr>
          <p:cNvPr id="14" name="Text 11"/>
          <p:cNvSpPr/>
          <p:nvPr/>
        </p:nvSpPr>
        <p:spPr>
          <a:xfrm>
            <a:off x="566928" y="5440680"/>
            <a:ext cx="11057839" cy="64008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Cómo saber que terminó: la última línea muestra la tesorería bajando 0,001 ETH y el estado Executed. Los hashes van al informe.</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C.6 · ERRORES FRECUENTES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 QUE ATASCA A CASI TODOS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4480560"/>
                <a:gridCol w="65772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CAUSA Y SOLUCIÓN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El voto se emite, pero la propuesta sale Defeated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Nadie delegó, o se delegó después del snapshot. Delegar y mine(1) ANTES de proponer.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execute() revierte con TimelockUnexpectedOperationState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se esperó el timelock, o se avanzó con mine(). El retardo es en segundos: time.increase.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execute() revierte con OwnableUnauthorizedAccount</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tesorería tiene de dueño al Governor. Debe ser el timelock.</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queue() revierte con GovernorNonexistentProposal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hash de la descripción no coincide: un espacio de más cambia el id.</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state() revierte con GovernorNonexistentProposal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calculó el id pero nunca se llamó propose().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Error HHE… de configuración al usar --network sepolia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Falta una variable del keystore: npx hardhat keystore set SEPOLIA_RPC_URL.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4471416"/>
          </a:xfrm>
          <a:prstGeom prst="rect">
            <a:avLst/>
          </a:prstGeom>
          <a:ln w="22225">
            <a:solidFill>
              <a:srgbClr val="0F0F11"/>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C.7 · ENTREGA DEL LABORATORIO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QUÉ SE ENTREGA Y CÓMO SE CALIFICA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9229039"/>
                <a:gridCol w="182880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EVIDENCIA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852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Gobierno.test.js 11/11 y CicloGobierno.test.js 5/5 en verde (captura con el comando visible)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30 %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MultisigUSB: Multisig.test.js 11/11 en verde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852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Evidencia en Sepolia: direcciones y hashes de ciclo-gobierno.js (o del Safe 2 de 2)</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25 %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Reflexión: respuestas a las preguntas de la guía, con datos de SU corrida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25 %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688336"/>
          </a:xfrm>
          <a:prstGeom prst="rect">
            <a:avLst/>
          </a:prstGeom>
          <a:ln w="22225">
            <a:solidFill>
              <a:srgbClr val="0F0F11"/>
            </a:solidFill>
            <a:prstDash val="solid"/>
          </a:ln>
        </p:spPr>
      </p:sp>
      <p:sp>
        <p:nvSpPr>
          <p:cNvPr id="10" name="Shape 6"/>
          <p:cNvSpPr/>
          <p:nvPr/>
        </p:nvSpPr>
        <p:spPr>
          <a:xfrm>
            <a:off x="566928" y="4617720"/>
            <a:ext cx="11057839" cy="15087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4837176"/>
            <a:ext cx="237744" cy="237744"/>
          </a:xfrm>
          <a:prstGeom prst="rect">
            <a:avLst/>
          </a:prstGeom>
        </p:spPr>
      </p:pic>
      <p:sp>
        <p:nvSpPr>
          <p:cNvPr id="12" name="Text 7"/>
          <p:cNvSpPr/>
          <p:nvPr/>
        </p:nvSpPr>
        <p:spPr>
          <a:xfrm>
            <a:off x="1133856" y="48097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DÓNDE ESTÁ TODO</a:t>
            </a:r>
            <a:endParaRPr lang="en-US" sz="950" dirty="0"/>
          </a:p>
        </p:txBody>
      </p:sp>
      <p:sp>
        <p:nvSpPr>
          <p:cNvPr id="13" name="Text 8"/>
          <p:cNvSpPr/>
          <p:nvPr/>
        </p:nvSpPr>
        <p:spPr>
          <a:xfrm>
            <a:off x="804672" y="5129784"/>
            <a:ext cx="10582351" cy="9052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Guía paso a paso: laboratorios-evm/guias/s15-gobernanza-dao.pdf, con preparación, salidas esperadas, errores y rúbrica. Se entrega en el repositorio del equipo antes de la Sesión 16. Política del curso: sin evidencia verificable, el laboratorio no se califica.</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D</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20 MINUTOS · SE ENTREGA EN LA S17</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ENSAYO INDIVIDUAL (RA7)</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La única pieza estrictamente individual y escrita del curso: pensar en serio una implicación del ecosistema, anclada en Colombia, con postura propia.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D.1 · EL ENCARGO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1 500 PALABRAS, UNA POSTURA SOSTENIDA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011680"/>
                <a:gridCol w="904615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730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Qué 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Análisis crítico de UNA implicación —regulatoria, ética, económica o ambiental— aplicada a Colombia.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Extensión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1 500 palabras (±10 %), sin contar referencias ni la declaración de 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30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Fuentes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Mínimo 5, leídas; al menos 2 primarias (norma, documento oficial, artículo académico) y 1 colombiana.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Postura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tesis propia, sustentada, que reconoce el mejor argumento contrario y le responde.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30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Permitida y declarada con el formato del documento. No declararla anula el ensayo.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02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Fechas y peso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 plantea hoy (S15), se entrega en la S17. 20 % del tercer corte = 8 % de la nota final.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3785616"/>
          </a:xfrm>
          <a:prstGeom prst="rect">
            <a:avLst/>
          </a:prstGeom>
          <a:ln w="22225">
            <a:solidFill>
              <a:srgbClr val="0F0F11"/>
            </a:solidFill>
            <a:prstDash val="solid"/>
          </a:ln>
        </p:spPr>
      </p:sp>
      <p:sp>
        <p:nvSpPr>
          <p:cNvPr id="10" name="Text 6"/>
          <p:cNvSpPr/>
          <p:nvPr/>
        </p:nvSpPr>
        <p:spPr>
          <a:xfrm>
            <a:off x="566928" y="5623560"/>
            <a:ext cx="11057839" cy="45720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Todo el detalle —rúbrica, formato, temas— en material/proyecto/ensayo-individual.pdf.</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D.2 · QUÉ DISTINGUE UN BUEN ENSAYO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POSTURA, NO RESUMEN</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sp>
        <p:nvSpPr>
          <p:cNvPr id="8" name="Shape 5"/>
          <p:cNvSpPr/>
          <p:nvPr/>
        </p:nvSpPr>
        <p:spPr>
          <a:xfrm>
            <a:off x="566928" y="1737360"/>
            <a:ext cx="5391760" cy="22860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UN ENSAYO FLOJO</a:t>
            </a:r>
            <a:endParaRPr lang="en-US" sz="1050" dirty="0"/>
          </a:p>
        </p:txBody>
      </p:sp>
      <p:sp>
        <p:nvSpPr>
          <p:cNvPr id="10" name="Text 7"/>
          <p:cNvSpPr/>
          <p:nvPr/>
        </p:nvSpPr>
        <p:spPr>
          <a:xfrm>
            <a:off x="841248" y="2304288"/>
            <a:ext cx="4843120" cy="15544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Explica otra vez qué es blockchain.</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Lista pros y contras y no decide.</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Cita sin haber leído, o no cita.</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Podría ser sobre cualquier país.</a:t>
            </a:r>
            <a:endParaRPr lang="en-US" sz="1300" dirty="0"/>
          </a:p>
        </p:txBody>
      </p:sp>
      <p:sp>
        <p:nvSpPr>
          <p:cNvPr id="11" name="Shape 8"/>
          <p:cNvSpPr/>
          <p:nvPr/>
        </p:nvSpPr>
        <p:spPr>
          <a:xfrm>
            <a:off x="6233008" y="1737360"/>
            <a:ext cx="5391760"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UN BUEN ENSAYO</a:t>
            </a:r>
            <a:endParaRPr lang="en-US" sz="1050" dirty="0"/>
          </a:p>
        </p:txBody>
      </p:sp>
      <p:sp>
        <p:nvSpPr>
          <p:cNvPr id="13" name="Text 10"/>
          <p:cNvSpPr/>
          <p:nvPr/>
        </p:nvSpPr>
        <p:spPr>
          <a:xfrm>
            <a:off x="6507328" y="2304288"/>
            <a:ext cx="4843120" cy="15544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Tesis clara en el primer párrafo.</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Fuentes reales, leídas y discutidas.</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Anclado en Colombia: una ley, un caso, un dato.</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Responde al mejor argumento contrario.</a:t>
            </a:r>
            <a:endParaRPr lang="en-US" sz="1300" dirty="0"/>
          </a:p>
        </p:txBody>
      </p:sp>
      <p:sp>
        <p:nvSpPr>
          <p:cNvPr id="14" name="Shape 11"/>
          <p:cNvSpPr/>
          <p:nvPr/>
        </p:nvSpPr>
        <p:spPr>
          <a:xfrm>
            <a:off x="566928" y="4206240"/>
            <a:ext cx="11057839" cy="1920240"/>
          </a:xfrm>
          <a:prstGeom prst="rect">
            <a:avLst/>
          </a:prstGeom>
          <a:solidFill>
            <a:srgbClr val="16151B"/>
          </a:solidFill>
          <a:ln w="22225">
            <a:solidFill>
              <a:srgbClr val="16151B"/>
            </a:solidFill>
            <a:prstDash val="solid"/>
          </a:ln>
        </p:spPr>
      </p:sp>
      <p:sp>
        <p:nvSpPr>
          <p:cNvPr id="15" name="Text 12"/>
          <p:cNvSpPr/>
          <p:nvPr/>
        </p:nvSpPr>
        <p:spPr>
          <a:xfrm>
            <a:off x="768096" y="42793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LA DECLARACIÓN OBLIGATORIA, AL FINAL DEL ENSAYO</a:t>
            </a:r>
            <a:endParaRPr lang="en-US" sz="850" dirty="0"/>
          </a:p>
        </p:txBody>
      </p:sp>
      <p:sp>
        <p:nvSpPr>
          <p:cNvPr id="16" name="Text 13"/>
          <p:cNvSpPr/>
          <p:nvPr/>
        </p:nvSpPr>
        <p:spPr>
          <a:xfrm>
            <a:off x="768096" y="4590288"/>
            <a:ext cx="10655503" cy="1426464"/>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DECLARACI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USO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Herramienta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versi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______</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Fecha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______</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Para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qu</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é</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é</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buscar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fuentes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resumir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corregir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estilo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contraargumentos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otro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___</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Qu</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é</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hizo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tesis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estructura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conclusi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í</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as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Anexo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instrucciones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prompts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principales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que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é</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D.3 · TEMAS Y RÚBRICA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POR DÓNDE EMPEZAR</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42</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1828800"/>
                <a:gridCol w="92290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EJE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TEMA SUGERIDO (HAY MÁS EN EL DOCUMENTO)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66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Ético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Identidad on-chain y habeas data: ¿puede una credencial pública respetar la Ley 1581?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Regulatorio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¿Basta el reporte a la UIAF para proteger a los usuarios de plataformas de intercambio? (S16)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66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Económico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Remesas hacia Colombia con stablecoins: ¿inclusión real o nuevo riesgo?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66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Ambiental</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¿Tiene sentido la minería de prueba de trabajo con energía hidroeléctrica colombiana?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2414016"/>
          </a:xfrm>
          <a:prstGeom prst="rect">
            <a:avLst/>
          </a:prstGeom>
          <a:ln w="22225">
            <a:solidFill>
              <a:srgbClr val="0F0F11"/>
            </a:solidFill>
            <a:prstDash val="solid"/>
          </a:ln>
        </p:spPr>
      </p:sp>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566928" y="4206240"/>
          <a:ext cx="11057839" cy="914400"/>
        </p:xfrm>
        <a:graphic>
          <a:graphicData uri="http://schemas.openxmlformats.org/drawingml/2006/table">
            <a:tbl>
              <a:tblPr/>
              <a:tblGrid>
                <a:gridCol w="9229039"/>
                <a:gridCol w="182880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 DE LA RÚBRICA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218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Tesis y postura propia sustentada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30 %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218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Argumentación y contraargumento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218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Uso de fuentes (calidad, lectura real, citación)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20 %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218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Anclaje en Colombia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218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Escritura y declaración de IA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10 %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1" name="Shape 6"/>
          <p:cNvSpPr/>
          <p:nvPr/>
        </p:nvSpPr>
        <p:spPr>
          <a:xfrm>
            <a:off x="548640" y="4187952"/>
            <a:ext cx="11094415" cy="1956816"/>
          </a:xfrm>
          <a:prstGeom prst="rect">
            <a:avLst/>
          </a:prstGeom>
          <a:ln w="22225">
            <a:solidFill>
              <a:srgbClr val="0F0F11"/>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15 · DAOS, GOBERNANZA E IDENTIDAD</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43</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Elijan el eje de su ensayo y escriban en UNA frase la postura que van a defender. Si no cabe en una frase, aún no la tienen.</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Laboratorio 15: las cuatro partes y la reflexión, en el repositorio antes de la S16 (guía PDF).</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Ensayo individual: tesis en una frase y 5 fuentes elegidas esta semana. Entrega en la S17.</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Avance 2 (S16): la dApp integrada con el flujo completo funcionando.</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Traer ETH de prueba en Sepolia: la S16 despliega en Sepolia y en OP Sepolia.</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Gobernar sin jefe no elimina el poder: lo vuelve visible y lo pone en el código.</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Ya no es quién manda, es quién tiene los votos, cuándo se cuentan y cuánto hay que esperar. Falta situarlo en el mundo: cuánto escala, cuánto cuesta y qué dice la ley colombiana.</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16 · ESCALABILIDAD, PUENTES Y MARCO REGULATORIO · AVANCE 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15 · DAOs, gobernanza e identidad</dc:title>
  <dc:subject>Sesión 15 · DAOs, gobernanza e identidad</dc:subject>
  <dc:creator>Universidad de San Buenaventura Medellín</dc:creator>
  <cp:lastModifiedBy>Universidad de San Buenaventura Medellín</cp:lastModifiedBy>
  <cp:revision>1</cp:revision>
  <dcterms:created xsi:type="dcterms:W3CDTF">2026-09-18T01:10:45Z</dcterms:created>
  <dcterms:modified xsi:type="dcterms:W3CDTF">2026-09-18T01:10:45Z</dcterms:modified>
</cp:coreProperties>
</file>