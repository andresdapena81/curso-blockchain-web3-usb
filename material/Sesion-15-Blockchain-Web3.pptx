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doble: implementar gobernanza on-chain real (lab) y discutir con honestidad la identidad descentralizada. Aquí se plantea el ensayo.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GOBERNAR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15 · UNIDAD IV · ECOSISTEMA</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¿QUIÉN MANDA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CUANDO NO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HAY DUEÑO?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Gobernar un sistema sin jefe: propuestas, votos y ejecución en el código. Y quién eres tú, en una cadena.</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De la banca sin banco a la organización sin jefe. Y una conversación difícil: qué significa tu identidad cuando vive en una cadena pública.</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DAOS E IDENTIDAD</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Multisig, gobernanza on-chain, modelos de voto, sus fallas, e identidad descentralizada.</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15</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Desplegar un gobierno completo: proponer, votar, ejecutar. Y un multisig.</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ENSAYO (RA7)</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plantea el ensayo individual sobre el contexto colombiano.</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Implementar un mecanismo de gobernanza on-chain y evaluar críticamente los modelos de identidad descentralizada.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¿Cuándo un multisig es la respuesta correcta y cuándo hace falta más?</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pasa una propuesta de una idea a una ejecución automática?</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falla en «un token, un voto», y cómo se ataca una votación?</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tensión hay entre identidad on-chain y el derecho al olvido?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RA2 · arquitecturas de gobernanza  ·  RA3 · Governor  ·  RA7 · identidad y ética.</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DAO</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Decentralized Autonomous Organization</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Organización cuyas reglas viven en contratos y cuyas decisiones toman sus miembros, sin jefe único.</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MULTISIG</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multifirma</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Una cuenta que exige m de n firmas para actuar. La forma más simple y sólida de gobierno compartido.</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GOVERNOR</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contrato de gobierno</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contrato de OpenZeppelin que gestiona propuestas, votación y ejecución.</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QUÓRUM</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quorum</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mínimo de poder de voto que debe participar para que una decisión sea válida.</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TIMELOCK</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retardo temporal</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plazo obligatorio entre aprobar y ejecutar, para que quien no esté de acuerdo pueda salir.</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DELEGACIÓN</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delegation</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Ceder tu poder de voto a otra cuenta, sin ceder tus tokens.</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DID</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Decentralized Identifier</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identificador de identidad que su dueño controla, no una plataforma.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SBT</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Soulbound Token</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Token no transferible atado a una cuenta: para credenciales y reputación (Sesión 11).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DAOS E IDENTIDAD</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Gobernar sin jefe suena utópico. En la práctica es un espectro que va del multisig sencillo a la votación on-chain completa, cada uno con sus grietas.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QUÉ ES UNA DAO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ESPECTRO, NO UNA COSA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«DAO» se usa para cosas muy distintas. Es útil verlo como un espectro entre dos extremos, y saber que casi todas las buenas viven cerca del extremo simple.</a:t>
            </a:r>
            <a:endParaRPr lang="en-US" sz="1450" dirty="0"/>
          </a:p>
        </p:txBody>
      </p:sp>
      <p:sp>
        <p:nvSpPr>
          <p:cNvPr id="9" name="Shape 6"/>
          <p:cNvSpPr/>
          <p:nvPr/>
        </p:nvSpPr>
        <p:spPr>
          <a:xfrm>
            <a:off x="566928" y="2743200"/>
            <a:ext cx="3657600" cy="1097280"/>
          </a:xfrm>
          <a:prstGeom prst="rect">
            <a:avLst/>
          </a:prstGeom>
          <a:solidFill>
            <a:srgbClr val="FFFFFF"/>
          </a:solidFill>
          <a:ln w="22225">
            <a:solidFill>
              <a:srgbClr val="7152E9"/>
            </a:solidFill>
            <a:prstDash val="solid"/>
          </a:ln>
        </p:spPr>
      </p:sp>
      <p:sp>
        <p:nvSpPr>
          <p:cNvPr id="10" name="Text 7"/>
          <p:cNvSpPr/>
          <p:nvPr/>
        </p:nvSpPr>
        <p:spPr>
          <a:xfrm>
            <a:off x="658368" y="2834640"/>
            <a:ext cx="347472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MULTISIG CON MARCA</a:t>
            </a:r>
            <a:endParaRPr lang="en-US" sz="1100" dirty="0"/>
          </a:p>
        </p:txBody>
      </p:sp>
      <p:sp>
        <p:nvSpPr>
          <p:cNvPr id="11" name="Text 8"/>
          <p:cNvSpPr/>
          <p:nvPr/>
        </p:nvSpPr>
        <p:spPr>
          <a:xfrm>
            <a:off x="658368" y="3145536"/>
            <a:ext cx="3474720" cy="62179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unos pocos firmantes</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deciden. Simple y sólido.</a:t>
            </a:r>
            <a:endParaRPr lang="en-US" sz="1100" dirty="0"/>
          </a:p>
        </p:txBody>
      </p:sp>
      <p:sp>
        <p:nvSpPr>
          <p:cNvPr id="12" name="Shape 9"/>
          <p:cNvSpPr/>
          <p:nvPr/>
        </p:nvSpPr>
        <p:spPr>
          <a:xfrm>
            <a:off x="4407408" y="3291840"/>
            <a:ext cx="3108960" cy="914"/>
          </a:xfrm>
          <a:prstGeom prst="line">
            <a:avLst/>
          </a:prstGeom>
          <a:noFill/>
          <a:ln w="25400">
            <a:solidFill>
              <a:srgbClr val="0F0F11"/>
            </a:solidFill>
            <a:prstDash val="solid"/>
            <a:tailEnd type="triangle"/>
          </a:ln>
        </p:spPr>
      </p:sp>
      <p:sp>
        <p:nvSpPr>
          <p:cNvPr id="13" name="Shape 10"/>
          <p:cNvSpPr/>
          <p:nvPr/>
        </p:nvSpPr>
        <p:spPr>
          <a:xfrm>
            <a:off x="7699248" y="2743200"/>
            <a:ext cx="3925519" cy="1097280"/>
          </a:xfrm>
          <a:prstGeom prst="rect">
            <a:avLst/>
          </a:prstGeom>
          <a:solidFill>
            <a:srgbClr val="FFFFFF"/>
          </a:solidFill>
          <a:ln w="22225">
            <a:solidFill>
              <a:srgbClr val="F07F06"/>
            </a:solidFill>
            <a:prstDash val="solid"/>
          </a:ln>
        </p:spPr>
      </p:sp>
      <p:sp>
        <p:nvSpPr>
          <p:cNvPr id="14" name="Text 11"/>
          <p:cNvSpPr/>
          <p:nvPr/>
        </p:nvSpPr>
        <p:spPr>
          <a:xfrm>
            <a:off x="7790688" y="2834640"/>
            <a:ext cx="374263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GOBERNANZA ON-CHAIN PLENA</a:t>
            </a:r>
            <a:endParaRPr lang="en-US" sz="1100" dirty="0"/>
          </a:p>
        </p:txBody>
      </p:sp>
      <p:sp>
        <p:nvSpPr>
          <p:cNvPr id="15" name="Text 12"/>
          <p:cNvSpPr/>
          <p:nvPr/>
        </p:nvSpPr>
        <p:spPr>
          <a:xfrm>
            <a:off x="7790688" y="3145536"/>
            <a:ext cx="3742639" cy="62179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propuestas y votos de</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miles, ejecutados solos.</a:t>
            </a:r>
            <a:endParaRPr lang="en-US" sz="1100" dirty="0"/>
          </a:p>
        </p:txBody>
      </p:sp>
      <p:sp>
        <p:nvSpPr>
          <p:cNvPr id="16" name="Text 13"/>
          <p:cNvSpPr/>
          <p:nvPr/>
        </p:nvSpPr>
        <p:spPr>
          <a:xfrm>
            <a:off x="566928" y="416052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 la izquierda: rápido, entendible, pero concentrado. A la derecha: descentralizado de verdad, pero lento, complejo y con sus propios ataques. La madurez es elegir el punto correcto para cada momento.</a:t>
            </a:r>
            <a:endParaRPr lang="en-US" sz="1350" dirty="0"/>
          </a:p>
        </p:txBody>
      </p:sp>
      <p:sp>
        <p:nvSpPr>
          <p:cNvPr id="17" name="Shape 14"/>
          <p:cNvSpPr/>
          <p:nvPr/>
        </p:nvSpPr>
        <p:spPr>
          <a:xfrm>
            <a:off x="566928" y="507492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8"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9" name="Text 15"/>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CONSEJO QUE SORPRENDE</a:t>
            </a:r>
            <a:endParaRPr lang="en-US" sz="950" dirty="0"/>
          </a:p>
        </p:txBody>
      </p:sp>
      <p:sp>
        <p:nvSpPr>
          <p:cNvPr id="20" name="Text 16"/>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Casi siempre, al principio, un multisig es lo correcto. La gobernanza on-chain plena tiene sentido con una comunidad grande y real que gobernar, no antes.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MULTISIG</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M DE N: LA PIEZA MÁS SÓLIDA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Una cuenta multifirma exige que m de n personas firmen para que una transacción se ejecute. Un 2 de 3, un 3 de 5. Simple, auditado, y suficiente para la mayoría de los casos.</a:t>
            </a:r>
            <a:endParaRPr lang="en-US" sz="1450" dirty="0"/>
          </a:p>
        </p:txBody>
      </p:sp>
      <p:sp>
        <p:nvSpPr>
          <p:cNvPr id="9" name="Shape 6"/>
          <p:cNvSpPr/>
          <p:nvPr/>
        </p:nvSpPr>
        <p:spPr>
          <a:xfrm>
            <a:off x="566928" y="274320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260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ES TAN BUENA</a:t>
            </a:r>
            <a:endParaRPr lang="en-US" sz="1050" dirty="0"/>
          </a:p>
        </p:txBody>
      </p:sp>
      <p:sp>
        <p:nvSpPr>
          <p:cNvPr id="11" name="Text 8"/>
          <p:cNvSpPr/>
          <p:nvPr/>
        </p:nvSpPr>
        <p:spPr>
          <a:xfrm>
            <a:off x="84124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Elimina el punto único de falla de un solo dueño (Sesión 6).</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 roban una clave, no basta: hacen falta m.</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Safe es el estándar, muy probado, con buena interfaz.</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Fácil de entender para todos los firmantes.</a:t>
            </a:r>
            <a:endParaRPr lang="en-US" sz="1250" dirty="0"/>
          </a:p>
        </p:txBody>
      </p:sp>
      <p:sp>
        <p:nvSpPr>
          <p:cNvPr id="12" name="Shape 9"/>
          <p:cNvSpPr/>
          <p:nvPr/>
        </p:nvSpPr>
        <p:spPr>
          <a:xfrm>
            <a:off x="6233008" y="274320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260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SUS LÍMITES</a:t>
            </a:r>
            <a:endParaRPr lang="en-US" sz="1050" dirty="0"/>
          </a:p>
        </p:txBody>
      </p:sp>
      <p:sp>
        <p:nvSpPr>
          <p:cNvPr id="14" name="Text 11"/>
          <p:cNvSpPr/>
          <p:nvPr/>
        </p:nvSpPr>
        <p:spPr>
          <a:xfrm>
            <a:off x="650732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escala a miles de miembros: es para un grupo pequeño.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Los firmantes son conocidos: no es anónimo ni abierto.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Coordinar m firmas puede ser lento en una urgencia.</a:t>
            </a:r>
            <a:endParaRPr lang="en-US" sz="1250" dirty="0"/>
          </a:p>
        </p:txBody>
      </p:sp>
      <p:sp>
        <p:nvSpPr>
          <p:cNvPr id="15" name="Text 12"/>
          <p:cNvSpPr/>
          <p:nvPr/>
        </p:nvSpPr>
        <p:spPr>
          <a:xfrm>
            <a:off x="566928" y="516636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 la respuesta a la pregunta de la semana de la Sesión 6: cómo dejar de depender de una sola clave.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GOBERNANZA ON-CHAIN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CICLO DE UNA PROPUESTA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37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024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PROPONER</a:t>
            </a:r>
            <a:endParaRPr lang="en-US" sz="1000" dirty="0"/>
          </a:p>
        </p:txBody>
      </p:sp>
      <p:sp>
        <p:nvSpPr>
          <p:cNvPr id="11" name="Text 8"/>
          <p:cNvSpPr/>
          <p:nvPr/>
        </p:nvSpPr>
        <p:spPr>
          <a:xfrm>
            <a:off x="3474720" y="1828800"/>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Alguien con suficiente poder de voto presenta una propuesta: «liberar 2 ETH de la tesorería al semillero».</a:t>
            </a:r>
            <a:endParaRPr lang="en-US" sz="1200" dirty="0"/>
          </a:p>
        </p:txBody>
      </p:sp>
      <p:sp>
        <p:nvSpPr>
          <p:cNvPr id="12" name="Shape 9"/>
          <p:cNvSpPr/>
          <p:nvPr/>
        </p:nvSpPr>
        <p:spPr>
          <a:xfrm>
            <a:off x="566928" y="248716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48716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70048"/>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RETRASO</a:t>
            </a:r>
            <a:endParaRPr lang="en-US" sz="1000" dirty="0"/>
          </a:p>
        </p:txBody>
      </p:sp>
      <p:sp>
        <p:nvSpPr>
          <p:cNvPr id="15" name="Text 12"/>
          <p:cNvSpPr/>
          <p:nvPr/>
        </p:nvSpPr>
        <p:spPr>
          <a:xfrm>
            <a:off x="3474720" y="2578608"/>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 plazo antes de que abra la votación, para que todos se enteren.</a:t>
            </a:r>
            <a:endParaRPr lang="en-US" sz="1200" dirty="0"/>
          </a:p>
        </p:txBody>
      </p:sp>
      <p:sp>
        <p:nvSpPr>
          <p:cNvPr id="16" name="Shape 13"/>
          <p:cNvSpPr/>
          <p:nvPr/>
        </p:nvSpPr>
        <p:spPr>
          <a:xfrm>
            <a:off x="566928" y="323697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3697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19856"/>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VOTAR</a:t>
            </a:r>
            <a:endParaRPr lang="en-US" sz="1000" dirty="0"/>
          </a:p>
        </p:txBody>
      </p:sp>
      <p:sp>
        <p:nvSpPr>
          <p:cNvPr id="19" name="Text 16"/>
          <p:cNvSpPr/>
          <p:nvPr/>
        </p:nvSpPr>
        <p:spPr>
          <a:xfrm>
            <a:off x="3474720" y="3328416"/>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Durante un periodo, cada quien vota a favor, en contra o se abstiene, con el peso de sus tokens.</a:t>
            </a:r>
            <a:endParaRPr lang="en-US" sz="1200" dirty="0"/>
          </a:p>
        </p:txBody>
      </p:sp>
      <p:sp>
        <p:nvSpPr>
          <p:cNvPr id="20" name="Shape 17"/>
          <p:cNvSpPr/>
          <p:nvPr/>
        </p:nvSpPr>
        <p:spPr>
          <a:xfrm>
            <a:off x="566928" y="398678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3986784"/>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69664"/>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QUÓRUM Y MAYORÍA</a:t>
            </a:r>
            <a:endParaRPr lang="en-US" sz="1000" dirty="0"/>
          </a:p>
        </p:txBody>
      </p:sp>
      <p:sp>
        <p:nvSpPr>
          <p:cNvPr id="23" name="Text 20"/>
          <p:cNvSpPr/>
          <p:nvPr/>
        </p:nvSpPr>
        <p:spPr>
          <a:xfrm>
            <a:off x="3474720" y="4078224"/>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participa el quórum mínimo y ganan los votos a favor, la propuesta pasa.</a:t>
            </a:r>
            <a:endParaRPr lang="en-US" sz="1200" dirty="0"/>
          </a:p>
        </p:txBody>
      </p:sp>
      <p:sp>
        <p:nvSpPr>
          <p:cNvPr id="24" name="Shape 21"/>
          <p:cNvSpPr/>
          <p:nvPr/>
        </p:nvSpPr>
        <p:spPr>
          <a:xfrm>
            <a:off x="566928" y="473659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36592"/>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19472"/>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TIMELOCK</a:t>
            </a:r>
            <a:endParaRPr lang="en-US" sz="1000" dirty="0"/>
          </a:p>
        </p:txBody>
      </p:sp>
      <p:sp>
        <p:nvSpPr>
          <p:cNvPr id="27" name="Text 24"/>
          <p:cNvSpPr/>
          <p:nvPr/>
        </p:nvSpPr>
        <p:spPr>
          <a:xfrm>
            <a:off x="3474720" y="4828032"/>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 plazo antes de ejecutar: quien no esté de acuerdo puede retirarse a tiempo.</a:t>
            </a:r>
            <a:endParaRPr lang="en-US" sz="1200" dirty="0"/>
          </a:p>
        </p:txBody>
      </p:sp>
      <p:sp>
        <p:nvSpPr>
          <p:cNvPr id="28" name="Shape 25"/>
          <p:cNvSpPr/>
          <p:nvPr/>
        </p:nvSpPr>
        <p:spPr>
          <a:xfrm>
            <a:off x="566928" y="5486400"/>
            <a:ext cx="11057839" cy="658368"/>
          </a:xfrm>
          <a:prstGeom prst="rect">
            <a:avLst/>
          </a:prstGeom>
          <a:solidFill>
            <a:srgbClr val="FAF9FB"/>
          </a:solidFill>
          <a:ln w="15875">
            <a:solidFill>
              <a:srgbClr val="D9D6E0"/>
            </a:solidFill>
            <a:prstDash val="solid"/>
          </a:ln>
        </p:spPr>
      </p:sp>
      <p:sp>
        <p:nvSpPr>
          <p:cNvPr id="29" name="Text 26"/>
          <p:cNvSpPr/>
          <p:nvPr/>
        </p:nvSpPr>
        <p:spPr>
          <a:xfrm>
            <a:off x="694944" y="548640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66928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EJECUTAR</a:t>
            </a:r>
            <a:endParaRPr lang="en-US" sz="1000" dirty="0"/>
          </a:p>
        </p:txBody>
      </p:sp>
      <p:sp>
        <p:nvSpPr>
          <p:cNvPr id="31" name="Text 28"/>
          <p:cNvSpPr/>
          <p:nvPr/>
        </p:nvSpPr>
        <p:spPr>
          <a:xfrm>
            <a:off x="3474720" y="5577840"/>
            <a:ext cx="8040319" cy="51206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Cualquiera dispara la ejecución. El contrato hace lo aprobado, sin intermediarios.</a:t>
            </a:r>
            <a:endParaRPr lang="en-US" sz="1200" dirty="0"/>
          </a:p>
        </p:txBody>
      </p:sp>
      <p:sp>
        <p:nvSpPr>
          <p:cNvPr id="32" name="Text 29"/>
          <p:cNvSpPr/>
          <p:nvPr/>
        </p:nvSpPr>
        <p:spPr>
          <a:xfrm>
            <a:off x="566928" y="5852160"/>
            <a:ext cx="11057839" cy="3657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Lo notable: nadie «ejecuta la decisión» a mano. El código hace lo que la propuesta decía, exacto. Es el laboratorio de hoy.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PODER DE VOTO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HAY QUE DELEGARSE EL VOTO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 detalle que confunde a todos: tener tokens de gobierno no basta para votar. Hay que DELEGAR el voto —a uno mismo o a otro— para que cuente.</a:t>
            </a:r>
            <a:endParaRPr lang="en-US" sz="1450" dirty="0"/>
          </a:p>
        </p:txBody>
      </p:sp>
      <p:sp>
        <p:nvSpPr>
          <p:cNvPr id="9" name="Shape 6"/>
          <p:cNvSpPr/>
          <p:nvPr/>
        </p:nvSpPr>
        <p:spPr>
          <a:xfrm>
            <a:off x="566928" y="2743200"/>
            <a:ext cx="11057839" cy="594360"/>
          </a:xfrm>
          <a:prstGeom prst="rect">
            <a:avLst/>
          </a:prstGeom>
          <a:solidFill>
            <a:srgbClr val="F2F0F5"/>
          </a:solidFill>
          <a:ln w="12700">
            <a:solidFill>
              <a:srgbClr val="7152E9"/>
            </a:solidFill>
            <a:prstDash val="solid"/>
          </a:ln>
        </p:spPr>
      </p:sp>
      <p:sp>
        <p:nvSpPr>
          <p:cNvPr id="10" name="Text 7"/>
          <p:cNvSpPr/>
          <p:nvPr/>
        </p:nvSpPr>
        <p:spPr>
          <a:xfrm>
            <a:off x="731520" y="2816352"/>
            <a:ext cx="10728655" cy="448056"/>
          </a:xfrm>
          <a:prstGeom prst="rect">
            <a:avLst/>
          </a:prstGeom>
          <a:noFill/>
          <a:ln/>
        </p:spPr>
        <p:txBody>
          <a:bodyPr wrap="square" lIns="0" tIns="0" rIns="0" bIns="0" rtlCol="0" anchor="ctr"/>
          <a:lstStyle/>
          <a:p>
            <a:pPr indent="0" marL="0">
              <a:lnSpc>
                <a:spcPct val="120000"/>
              </a:lnSpc>
              <a:buNone/>
            </a:pPr>
            <a:r>
              <a:rPr lang="en-US" sz="1200" dirty="0">
                <a:solidFill>
                  <a:srgbClr val="3A3844"/>
                </a:solidFill>
                <a:latin typeface="Courier New" pitchFamily="34" charset="0"/>
                <a:ea typeface="Courier New" pitchFamily="34" charset="-122"/>
                <a:cs typeface="Courier New" pitchFamily="34" charset="-120"/>
              </a:rPr>
              <a:t>getVotes(ana) = 0   →   ana.delegate(ana)   →   getVotes(ana) = su saldo</a:t>
            </a:r>
            <a:endParaRPr lang="en-US" sz="1200" dirty="0"/>
          </a:p>
        </p:txBody>
      </p:sp>
      <p:sp>
        <p:nvSpPr>
          <p:cNvPr id="11" name="Shape 8"/>
          <p:cNvSpPr/>
          <p:nvPr/>
        </p:nvSpPr>
        <p:spPr>
          <a:xfrm>
            <a:off x="566928" y="3474720"/>
            <a:ext cx="5391760" cy="19659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36576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EXISTE LA DELEGACIÓN</a:t>
            </a:r>
            <a:endParaRPr lang="en-US" sz="1050" dirty="0"/>
          </a:p>
        </p:txBody>
      </p:sp>
      <p:sp>
        <p:nvSpPr>
          <p:cNvPr id="13" name="Text 10"/>
          <p:cNvSpPr/>
          <p:nvPr/>
        </p:nvSpPr>
        <p:spPr>
          <a:xfrm>
            <a:off x="841248" y="4041648"/>
            <a:ext cx="4843120" cy="12344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Registrar el poder de voto en cada momento tiene un costo (los checkpoints). Exigir delegar hace que solo se registre a quien participa. Y permite algo útil: ceder tu voz a alguien que sigue el tema, sin darle tus tokens.</a:t>
            </a:r>
            <a:endParaRPr lang="en-US" sz="1250" dirty="0"/>
          </a:p>
        </p:txBody>
      </p:sp>
      <p:sp>
        <p:nvSpPr>
          <p:cNvPr id="14" name="Shape 11"/>
          <p:cNvSpPr/>
          <p:nvPr/>
        </p:nvSpPr>
        <p:spPr>
          <a:xfrm>
            <a:off x="6233008" y="3474720"/>
            <a:ext cx="5391760" cy="19659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2"/>
          <p:cNvSpPr/>
          <p:nvPr/>
        </p:nvSpPr>
        <p:spPr>
          <a:xfrm>
            <a:off x="6507328" y="36576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EL VOTO SE CONGELA AL PROPONER</a:t>
            </a:r>
            <a:endParaRPr lang="en-US" sz="1050" dirty="0"/>
          </a:p>
        </p:txBody>
      </p:sp>
      <p:sp>
        <p:nvSpPr>
          <p:cNvPr id="16" name="Text 13"/>
          <p:cNvSpPr/>
          <p:nvPr/>
        </p:nvSpPr>
        <p:spPr>
          <a:xfrm>
            <a:off x="6507328" y="4041648"/>
            <a:ext cx="4843120" cy="12344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cuenta el poder de voto que cada quien tenía en el bloque de la propuesta. Así nadie puede comprar tokens, votar, venderlos y votar de nuevo: el registro histórico lo impide.</a:t>
            </a:r>
            <a:endParaRPr lang="en-US" sz="1250" dirty="0"/>
          </a:p>
        </p:txBody>
      </p:sp>
      <p:sp>
        <p:nvSpPr>
          <p:cNvPr id="17" name="Shape 14"/>
          <p:cNvSpPr/>
          <p:nvPr/>
        </p:nvSpPr>
        <p:spPr>
          <a:xfrm>
            <a:off x="566928" y="5468112"/>
            <a:ext cx="11057839" cy="74980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8" name="Image 1" descr="preencoded.png">    </p:cNvPr>
          <p:cNvPicPr>
            <a:picLocks noChangeAspect="1"/>
          </p:cNvPicPr>
          <p:nvPr/>
        </p:nvPicPr>
        <p:blipFill>
          <a:blip r:embed="rId2"/>
          <a:stretch>
            <a:fillRect/>
          </a:stretch>
        </p:blipFill>
        <p:spPr>
          <a:xfrm>
            <a:off x="804672" y="5687568"/>
            <a:ext cx="237744" cy="237744"/>
          </a:xfrm>
          <a:prstGeom prst="rect">
            <a:avLst/>
          </a:prstGeom>
        </p:spPr>
      </p:pic>
      <p:sp>
        <p:nvSpPr>
          <p:cNvPr id="19" name="Text 15"/>
          <p:cNvSpPr/>
          <p:nvPr/>
        </p:nvSpPr>
        <p:spPr>
          <a:xfrm>
            <a:off x="1133856" y="566013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NÚMERO UNO DEL LABORATORIO</a:t>
            </a:r>
            <a:endParaRPr lang="en-US" sz="950" dirty="0"/>
          </a:p>
        </p:txBody>
      </p:sp>
      <p:sp>
        <p:nvSpPr>
          <p:cNvPr id="20" name="Text 16"/>
          <p:cNvSpPr/>
          <p:nvPr/>
        </p:nvSpPr>
        <p:spPr>
          <a:xfrm>
            <a:off x="804672" y="5980176"/>
            <a:ext cx="10582351" cy="146304"/>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«Tengo tokens pero mi voto sale en cero»: falta delegar. Es la primera prueba de test/s15.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MODELOS DE VOTO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«UN TOKEN, UN VOTO» Y SUS ALTERNATIVAS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560320"/>
                <a:gridCol w="402336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MODELO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CUENTA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PROBLEMA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802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Un token, un voto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poder es proporcional a los tokens.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Plutocracia: quien más tiene, más manda. Las ballenas deciden solas.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802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Voto cuadrático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costo de cada voto extra crece al cuadrado.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Favorece a la mayoría sobre la intensidad de pocos, pero se rompe con identidades falsas (Sybil, Sesión 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802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Voto por convicción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peso crece cuanto más tiempo se sostiene el voto.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Premia el compromiso, pero es más complejo de entender.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688336"/>
          </a:xfrm>
          <a:prstGeom prst="rect">
            <a:avLst/>
          </a:prstGeom>
          <a:ln w="22225">
            <a:solidFill>
              <a:srgbClr val="0F0F11"/>
            </a:solidFill>
            <a:prstDash val="solid"/>
          </a:ln>
        </p:spPr>
      </p:sp>
      <p:sp>
        <p:nvSpPr>
          <p:cNvPr id="10" name="Shape 6"/>
          <p:cNvSpPr/>
          <p:nvPr/>
        </p:nvSpPr>
        <p:spPr>
          <a:xfrm>
            <a:off x="566928" y="4617720"/>
            <a:ext cx="11057839" cy="1508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2" name="Text 7"/>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LOS DOS MALES DE CASI TODA DAO</a:t>
            </a:r>
            <a:endParaRPr lang="en-US" sz="950" dirty="0"/>
          </a:p>
        </p:txBody>
      </p:sp>
      <p:sp>
        <p:nvSpPr>
          <p:cNvPr id="13" name="Text 8"/>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PLUTOCRACIA: unas pocas ballenas concentran el voto y deciden por todos. APATÍA: la mayoría no vota nunca, así que el poder efectivo se concentra aún más. Muchas «DAOs» son, en la práctica, gobernadas por un puñado de direcciones. Reconocerlo es parte de evaluarlas con honestidad.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ATAQUES A LA GOBERNANZA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 PUEDE COMPRAR UNA VOTACIÓN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5391760" cy="237744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ATAQUE CON PRÉSTAMO RELÁMPAGO</a:t>
            </a:r>
            <a:endParaRPr lang="en-US" sz="1050" dirty="0"/>
          </a:p>
        </p:txBody>
      </p:sp>
      <p:sp>
        <p:nvSpPr>
          <p:cNvPr id="10" name="Text 7"/>
          <p:cNvSpPr/>
          <p:nvPr/>
        </p:nvSpPr>
        <p:spPr>
          <a:xfrm>
            <a:off x="841248" y="2304288"/>
            <a:ext cx="4843120" cy="1645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el poder de voto se mide en el momento de votar, un atacante pide millones en tokens con un flash loan (Sesión 14), vota, y los devuelve — todo en una transacción. Ha pasado: propuestas maliciosas aprobadas con votos alquilados por segundos.</a:t>
            </a:r>
            <a:endParaRPr lang="en-US" sz="1250" dirty="0"/>
          </a:p>
        </p:txBody>
      </p:sp>
      <p:sp>
        <p:nvSpPr>
          <p:cNvPr id="11" name="Shape 8"/>
          <p:cNvSpPr/>
          <p:nvPr/>
        </p:nvSpPr>
        <p:spPr>
          <a:xfrm>
            <a:off x="6233008" y="1737360"/>
            <a:ext cx="5391760"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DEFENSA</a:t>
            </a:r>
            <a:endParaRPr lang="en-US" sz="1050" dirty="0"/>
          </a:p>
        </p:txBody>
      </p:sp>
      <p:sp>
        <p:nvSpPr>
          <p:cNvPr id="13" name="Text 10"/>
          <p:cNvSpPr/>
          <p:nvPr/>
        </p:nvSpPr>
        <p:spPr>
          <a:xfrm>
            <a:off x="6507328" y="2304288"/>
            <a:ext cx="4843120" cy="1645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Medir el voto en un bloque PASADO (al proponer), no al votar. El flash loan dura una transacción; no puede cambiar el saldo de un bloque anterior. Es exactamente lo que hace ERC20Votes con sus checkpoints.</a:t>
            </a:r>
            <a:endParaRPr lang="en-US" sz="1250" dirty="0"/>
          </a:p>
        </p:txBody>
      </p:sp>
      <p:sp>
        <p:nvSpPr>
          <p:cNvPr id="14" name="Shape 11"/>
          <p:cNvSpPr/>
          <p:nvPr/>
        </p:nvSpPr>
        <p:spPr>
          <a:xfrm>
            <a:off x="566928" y="4297680"/>
            <a:ext cx="11057839" cy="1828800"/>
          </a:xfrm>
          <a:prstGeom prst="rect">
            <a:avLst/>
          </a:prstGeom>
          <a:solidFill>
            <a:srgbClr val="F2F0F5"/>
          </a:solidFill>
          <a:ln w="22225">
            <a:solidFill>
              <a:srgbClr val="0F0F11"/>
            </a:solidFill>
            <a:prstDash val="solid"/>
          </a:ln>
        </p:spPr>
      </p:sp>
      <p:pic>
        <p:nvPicPr>
          <p:cNvPr id="15" name="Image 1" descr="preencoded.png">    </p:cNvPr>
          <p:cNvPicPr>
            <a:picLocks noChangeAspect="1"/>
          </p:cNvPicPr>
          <p:nvPr/>
        </p:nvPicPr>
        <p:blipFill>
          <a:blip r:embed="rId2"/>
          <a:stretch>
            <a:fillRect/>
          </a:stretch>
        </p:blipFill>
        <p:spPr>
          <a:xfrm>
            <a:off x="804672" y="4517136"/>
            <a:ext cx="237744" cy="237744"/>
          </a:xfrm>
          <a:prstGeom prst="rect">
            <a:avLst/>
          </a:prstGeom>
        </p:spPr>
      </p:pic>
      <p:sp>
        <p:nvSpPr>
          <p:cNvPr id="16" name="Text 12"/>
          <p:cNvSpPr/>
          <p:nvPr/>
        </p:nvSpPr>
        <p:spPr>
          <a:xfrm>
            <a:off x="1133856" y="448970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CAPTURA POR BALLENAS</a:t>
            </a:r>
            <a:endParaRPr lang="en-US" sz="950" dirty="0"/>
          </a:p>
        </p:txBody>
      </p:sp>
      <p:sp>
        <p:nvSpPr>
          <p:cNvPr id="17" name="Text 13"/>
          <p:cNvSpPr/>
          <p:nvPr/>
        </p:nvSpPr>
        <p:spPr>
          <a:xfrm>
            <a:off x="804672" y="4809744"/>
            <a:ext cx="10582351" cy="12252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Otro ataque, más lento y legal: una entidad acumula suficiente poder de voto para aprobar lo que quiera. No es un hackeo — es el sistema funcionando como está diseñado, y por eso es más difícil de resolver. La descentralización de la gobernanza, como la de la Sesión 4, es un vector, no un sí o un no: se mide en qué tan repartido está el poder de voto real.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IDENTIDAD DESCENTRALIZADA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QUIÉN ERES CUANDO NO HAY PLATAFORMA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Hoy tu identidad digital la guardan plataformas: Google, el banco, la universidad. La identidad descentralizada propone que la controles tú, con credenciales que presentas sin pedir permiso.</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CONCEPTO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DID · identificador descentralizado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identificador que tú controlas con tu clave, no una cuenta que una empresa te da y te puede quitar.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Credencial verificable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título, un carné, firmado por quien lo emite. Lo presentas y cualquiera verifica la firma, sin llamar al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Soulbound Token (SBT)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NFT no transferible (Sesión 11) para credenciales y reputación atadas a una persona.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Reputación on-chain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Tu historial de acciones en la cadena como base de confianza, sin un puntaje central.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2688336"/>
          </a:xfrm>
          <a:prstGeom prst="rect">
            <a:avLst/>
          </a:prstGeom>
          <a:ln w="22225">
            <a:solidFill>
              <a:srgbClr val="0F0F11"/>
            </a:solidFill>
            <a:prstDash val="solid"/>
          </a:ln>
        </p:spPr>
      </p:sp>
      <p:sp>
        <p:nvSpPr>
          <p:cNvPr id="11" name="Text 7"/>
          <p:cNvSpPr/>
          <p:nvPr/>
        </p:nvSpPr>
        <p:spPr>
          <a:xfrm>
            <a:off x="566928" y="553212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El diploma de la Sesión 11 era exactamente esto: una credencial verificable emitida por la universidad.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LA TENSIÓN DIFÍCIL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IDENTIDAD PERMANENTE VS. DERECHO AL OLVIDO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PROMETE LA IDENTIDAD ON-CHAIN</a:t>
            </a:r>
            <a:endParaRPr lang="en-US" sz="1050" dirty="0"/>
          </a:p>
        </p:txBody>
      </p:sp>
      <p:sp>
        <p:nvSpPr>
          <p:cNvPr id="10" name="Text 7"/>
          <p:cNvSpPr/>
          <p:nvPr/>
        </p:nvSpPr>
        <p:spPr>
          <a:xfrm>
            <a:off x="841248" y="2304288"/>
            <a:ext cx="4843120" cy="1600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Credenciales que nadie te puede quitar, que presentas sin permiso, verificables por cualquiera para siempre. Autonomía real sobre tu identidad.</a:t>
            </a:r>
            <a:endParaRPr lang="en-US" sz="1250" dirty="0"/>
          </a:p>
        </p:txBody>
      </p:sp>
      <p:sp>
        <p:nvSpPr>
          <p:cNvPr id="11" name="Shape 8"/>
          <p:cNvSpPr/>
          <p:nvPr/>
        </p:nvSpPr>
        <p:spPr>
          <a:xfrm>
            <a:off x="6233008" y="17373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CHOCA CON LA LEY</a:t>
            </a:r>
            <a:endParaRPr lang="en-US" sz="1050" dirty="0"/>
          </a:p>
        </p:txBody>
      </p:sp>
      <p:sp>
        <p:nvSpPr>
          <p:cNvPr id="13" name="Text 10"/>
          <p:cNvSpPr/>
          <p:nvPr/>
        </p:nvSpPr>
        <p:spPr>
          <a:xfrm>
            <a:off x="6507328" y="2304288"/>
            <a:ext cx="4843120" cy="1600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Ley 1581 de 2012 (habeas data) te da derecho a corregir y SUPRIMIR tus datos. Una credencial permanente en una cadena pública no se puede borrar. ¿Y si la credencial fue un error, o revela algo que preferirías olvidar?</a:t>
            </a:r>
            <a:endParaRPr lang="en-US" sz="1250" dirty="0"/>
          </a:p>
        </p:txBody>
      </p:sp>
      <p:sp>
        <p:nvSpPr>
          <p:cNvPr id="14" name="Shape 11"/>
          <p:cNvSpPr/>
          <p:nvPr/>
        </p:nvSpPr>
        <p:spPr>
          <a:xfrm>
            <a:off x="566928" y="4206240"/>
            <a:ext cx="11057839" cy="19202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5" name="Image 1" descr="preencoded.png">    </p:cNvPr>
          <p:cNvPicPr>
            <a:picLocks noChangeAspect="1"/>
          </p:cNvPicPr>
          <p:nvPr/>
        </p:nvPicPr>
        <p:blipFill>
          <a:blip r:embed="rId2"/>
          <a:stretch>
            <a:fillRect/>
          </a:stretch>
        </p:blipFill>
        <p:spPr>
          <a:xfrm>
            <a:off x="804672" y="4425696"/>
            <a:ext cx="237744" cy="237744"/>
          </a:xfrm>
          <a:prstGeom prst="rect">
            <a:avLst/>
          </a:prstGeom>
        </p:spPr>
      </p:pic>
      <p:sp>
        <p:nvSpPr>
          <p:cNvPr id="16" name="Text 12"/>
          <p:cNvSpPr/>
          <p:nvPr/>
        </p:nvSpPr>
        <p:spPr>
          <a:xfrm>
            <a:off x="1133856" y="43982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NO HAY RESPUESTA FÁCIL, Y ESE ES EL PUNTO</a:t>
            </a:r>
            <a:endParaRPr lang="en-US" sz="950" dirty="0"/>
          </a:p>
        </p:txBody>
      </p:sp>
      <p:sp>
        <p:nvSpPr>
          <p:cNvPr id="17" name="Text 13"/>
          <p:cNvSpPr/>
          <p:nvPr/>
        </p:nvSpPr>
        <p:spPr>
          <a:xfrm>
            <a:off x="804672" y="4718304"/>
            <a:ext cx="10582351" cy="13167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misma inmutabilidad que hace confiable un diploma hace imposible borrarlo. Las salidas —guardar solo hashes, credenciales revocables, datos fuera de la cadena— son parches parciales. Es exactamente la lección de la Sesión 6: en una cadena pública no van datos personales. Este es un tema abierto, ideal para el ensayo de RA7.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SEIS IDEAS SOBRE GOBIERNO E IDENTIDAD</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«DAO» es un espectro: casi siempre, empezar por un multisig es lo correcto.</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multisig m de n elimina el punto único de falla de un solo dueño.</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gobernanza on-chain ejecuta lo aprobado sin intermediarios: proponer → votar → ejecutar.</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Hay que DELEGAR el voto para que cuente; y se mide en un bloque pasado, contra flash loans.</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token, un voto» tiende a la plutocracia; la apatía concentra aún más el poder.</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identidad on-chain choca de frente con el derecho al olvido. No hay solución limpia.</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15</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Desplegar una DAO que gobierna una tesorería: proponer, delegar, votar y ejecutar. El ciclo completo, de verdad.</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LAS PIEZAS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TOKEN DE VOTO, GOBIERNO Y TESORERÍA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8680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16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TokenVoto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ERC20Votes: token con registro histórico de poder de voto y delegación.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16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GobiernoUSB</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Governor de OpenZeppelin: gestiona propuestas, votación, quórum y ejecución.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16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Tesoreria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Guarda fondos; su único dueño es el gobierno. Solo una propuesta ejecutada libera dinero.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002536"/>
          </a:xfrm>
          <a:prstGeom prst="rect">
            <a:avLst/>
          </a:prstGeom>
          <a:ln w="22225">
            <a:solidFill>
              <a:srgbClr val="0F0F11"/>
            </a:solidFill>
            <a:prstDash val="solid"/>
          </a:ln>
        </p:spPr>
      </p:sp>
      <p:sp>
        <p:nvSpPr>
          <p:cNvPr id="10" name="Shape 6"/>
          <p:cNvSpPr/>
          <p:nvPr/>
        </p:nvSpPr>
        <p:spPr>
          <a:xfrm>
            <a:off x="566928" y="3886200"/>
            <a:ext cx="11057839" cy="566928"/>
          </a:xfrm>
          <a:prstGeom prst="rect">
            <a:avLst/>
          </a:prstGeom>
          <a:solidFill>
            <a:srgbClr val="16151B"/>
          </a:solidFill>
          <a:ln w="22225">
            <a:solidFill>
              <a:srgbClr val="16151B"/>
            </a:solidFill>
            <a:prstDash val="solid"/>
          </a:ln>
        </p:spPr>
      </p:sp>
      <p:sp>
        <p:nvSpPr>
          <p:cNvPr id="11" name="Text 7"/>
          <p:cNvSpPr/>
          <p:nvPr/>
        </p:nvSpPr>
        <p:spPr>
          <a:xfrm>
            <a:off x="768096" y="4032504"/>
            <a:ext cx="10655503" cy="310896"/>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s15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Gobierno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ciclo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completo</a:t>
            </a:r>
            <a:endParaRPr lang="en-US" sz="1200" dirty="0"/>
          </a:p>
        </p:txBody>
      </p:sp>
      <p:sp>
        <p:nvSpPr>
          <p:cNvPr id="12" name="Shape 8"/>
          <p:cNvSpPr/>
          <p:nvPr/>
        </p:nvSpPr>
        <p:spPr>
          <a:xfrm>
            <a:off x="566928" y="4663440"/>
            <a:ext cx="11057839" cy="14630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3" name="Image 1" descr="preencoded.png">    </p:cNvPr>
          <p:cNvPicPr>
            <a:picLocks noChangeAspect="1"/>
          </p:cNvPicPr>
          <p:nvPr/>
        </p:nvPicPr>
        <p:blipFill>
          <a:blip r:embed="rId2"/>
          <a:stretch>
            <a:fillRect/>
          </a:stretch>
        </p:blipFill>
        <p:spPr>
          <a:xfrm>
            <a:off x="804672" y="4882896"/>
            <a:ext cx="237744" cy="237744"/>
          </a:xfrm>
          <a:prstGeom prst="rect">
            <a:avLst/>
          </a:prstGeom>
        </p:spPr>
      </p:pic>
      <p:sp>
        <p:nvSpPr>
          <p:cNvPr id="14" name="Text 9"/>
          <p:cNvSpPr/>
          <p:nvPr/>
        </p:nvSpPr>
        <p:spPr>
          <a:xfrm>
            <a:off x="1133856" y="48554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PRUEBA QUE LO DEMUESTRA TODO</a:t>
            </a:r>
            <a:endParaRPr lang="en-US" sz="950" dirty="0"/>
          </a:p>
        </p:txBody>
      </p:sp>
      <p:sp>
        <p:nvSpPr>
          <p:cNvPr id="15" name="Text 10"/>
          <p:cNvSpPr/>
          <p:nvPr/>
        </p:nvSpPr>
        <p:spPr>
          <a:xfrm>
            <a:off x="804672" y="5175504"/>
            <a:ext cx="10582351" cy="8595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«Proponer, votar a favor y ejecutar libera los fondos»: recorre el ciclo entero y comprueba que la tesorería suelta 2 ETH SOLO porque una propuesta se aprobó. Y otra prueba confirma que ni el fundador puede sacar un peso por su cuenta.</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EL CICLO, PASO A PASO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RECORRER UNA PROPUESTA REAL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ACUÑAR Y DELEGAR</a:t>
            </a:r>
            <a:endParaRPr lang="en-US" sz="1000" dirty="0"/>
          </a:p>
        </p:txBody>
      </p:sp>
      <p:sp>
        <p:nvSpPr>
          <p:cNvPr id="11" name="Text 8"/>
          <p:cNvSpPr/>
          <p:nvPr/>
        </p:nvSpPr>
        <p:spPr>
          <a:xfrm>
            <a:off x="3657600" y="1828800"/>
            <a:ext cx="785743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Repartir tokens entre tres cuentas y que cada una se delegue el voto a sí misma.</a:t>
            </a:r>
            <a:endParaRPr lang="en-US" sz="1250" dirty="0"/>
          </a:p>
        </p:txBody>
      </p:sp>
      <p:sp>
        <p:nvSpPr>
          <p:cNvPr id="12" name="Shape 9"/>
          <p:cNvSpPr/>
          <p:nvPr/>
        </p:nvSpPr>
        <p:spPr>
          <a:xfrm>
            <a:off x="566928" y="2596896"/>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9689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254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PROPONER</a:t>
            </a:r>
            <a:endParaRPr lang="en-US" sz="1000" dirty="0"/>
          </a:p>
        </p:txBody>
      </p:sp>
      <p:sp>
        <p:nvSpPr>
          <p:cNvPr id="15" name="Text 12"/>
          <p:cNvSpPr/>
          <p:nvPr/>
        </p:nvSpPr>
        <p:spPr>
          <a:xfrm>
            <a:off x="3657600" y="2688336"/>
            <a:ext cx="785743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propose() con la llamada a liberar fondos de la tesorería y una descripción.</a:t>
            </a:r>
            <a:endParaRPr lang="en-US" sz="1250" dirty="0"/>
          </a:p>
        </p:txBody>
      </p:sp>
      <p:sp>
        <p:nvSpPr>
          <p:cNvPr id="16" name="Shape 13"/>
          <p:cNvSpPr/>
          <p:nvPr/>
        </p:nvSpPr>
        <p:spPr>
          <a:xfrm>
            <a:off x="566928" y="3456432"/>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45643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8503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ESPERAR Y VOTAR</a:t>
            </a:r>
            <a:endParaRPr lang="en-US" sz="1000" dirty="0"/>
          </a:p>
        </p:txBody>
      </p:sp>
      <p:sp>
        <p:nvSpPr>
          <p:cNvPr id="19" name="Text 16"/>
          <p:cNvSpPr/>
          <p:nvPr/>
        </p:nvSpPr>
        <p:spPr>
          <a:xfrm>
            <a:off x="3657600" y="3547872"/>
            <a:ext cx="785743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Avanzar los bloques del retraso; castVote() a favor o en contra.</a:t>
            </a:r>
            <a:endParaRPr lang="en-US" sz="1250" dirty="0"/>
          </a:p>
        </p:txBody>
      </p:sp>
      <p:sp>
        <p:nvSpPr>
          <p:cNvPr id="20" name="Shape 17"/>
          <p:cNvSpPr/>
          <p:nvPr/>
        </p:nvSpPr>
        <p:spPr>
          <a:xfrm>
            <a:off x="566928" y="4315968"/>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31596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54456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CERRAR</a:t>
            </a:r>
            <a:endParaRPr lang="en-US" sz="1000" dirty="0"/>
          </a:p>
        </p:txBody>
      </p:sp>
      <p:sp>
        <p:nvSpPr>
          <p:cNvPr id="23" name="Text 20"/>
          <p:cNvSpPr/>
          <p:nvPr/>
        </p:nvSpPr>
        <p:spPr>
          <a:xfrm>
            <a:off x="3657600" y="4407408"/>
            <a:ext cx="785743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Avanzar los bloques del periodo; comprobar el estado: Succeeded o Defeated.</a:t>
            </a:r>
            <a:endParaRPr lang="en-US" sz="1250" dirty="0"/>
          </a:p>
        </p:txBody>
      </p:sp>
      <p:sp>
        <p:nvSpPr>
          <p:cNvPr id="24" name="Shape 21"/>
          <p:cNvSpPr/>
          <p:nvPr/>
        </p:nvSpPr>
        <p:spPr>
          <a:xfrm>
            <a:off x="566928" y="5175504"/>
            <a:ext cx="11057839" cy="749808"/>
          </a:xfrm>
          <a:prstGeom prst="rect">
            <a:avLst/>
          </a:prstGeom>
          <a:solidFill>
            <a:srgbClr val="FFFFFF"/>
          </a:solidFill>
          <a:ln w="15875">
            <a:solidFill>
              <a:srgbClr val="D9D6E0"/>
            </a:solidFill>
            <a:prstDash val="solid"/>
          </a:ln>
        </p:spPr>
      </p:sp>
      <p:sp>
        <p:nvSpPr>
          <p:cNvPr id="25" name="Text 22"/>
          <p:cNvSpPr/>
          <p:nvPr/>
        </p:nvSpPr>
        <p:spPr>
          <a:xfrm>
            <a:off x="694944" y="517550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40410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EJECUTAR</a:t>
            </a:r>
            <a:endParaRPr lang="en-US" sz="1000" dirty="0"/>
          </a:p>
        </p:txBody>
      </p:sp>
      <p:sp>
        <p:nvSpPr>
          <p:cNvPr id="27" name="Text 24"/>
          <p:cNvSpPr/>
          <p:nvPr/>
        </p:nvSpPr>
        <p:spPr>
          <a:xfrm>
            <a:off x="3657600" y="5266944"/>
            <a:ext cx="785743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execute() con los mismos parámetros y el hash de la descripción. Los fondos se mueven.</a:t>
            </a:r>
            <a:endParaRPr lang="en-US" sz="1250" dirty="0"/>
          </a:p>
        </p:txBody>
      </p:sp>
      <p:sp>
        <p:nvSpPr>
          <p:cNvPr id="28" name="Shape 25"/>
          <p:cNvSpPr/>
          <p:nvPr/>
        </p:nvSpPr>
        <p:spPr>
          <a:xfrm>
            <a:off x="566928" y="5230368"/>
            <a:ext cx="11057839" cy="960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9" name="Image 1" descr="preencoded.png">    </p:cNvPr>
          <p:cNvPicPr>
            <a:picLocks noChangeAspect="1"/>
          </p:cNvPicPr>
          <p:nvPr/>
        </p:nvPicPr>
        <p:blipFill>
          <a:blip r:embed="rId2"/>
          <a:stretch>
            <a:fillRect/>
          </a:stretch>
        </p:blipFill>
        <p:spPr>
          <a:xfrm>
            <a:off x="804672" y="5449824"/>
            <a:ext cx="237744" cy="237744"/>
          </a:xfrm>
          <a:prstGeom prst="rect">
            <a:avLst/>
          </a:prstGeom>
        </p:spPr>
      </p:pic>
      <p:sp>
        <p:nvSpPr>
          <p:cNvPr id="30" name="Text 26"/>
          <p:cNvSpPr/>
          <p:nvPr/>
        </p:nvSpPr>
        <p:spPr>
          <a:xfrm>
            <a:off x="1133856" y="542239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DETALLE QUE ATASCA A TODOS</a:t>
            </a:r>
            <a:endParaRPr lang="en-US" sz="950" dirty="0"/>
          </a:p>
        </p:txBody>
      </p:sp>
      <p:sp>
        <p:nvSpPr>
          <p:cNvPr id="31" name="Text 27"/>
          <p:cNvSpPr/>
          <p:nvPr/>
        </p:nvSpPr>
        <p:spPr>
          <a:xfrm>
            <a:off x="804672" y="5742432"/>
            <a:ext cx="10582351" cy="3566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execute() necesita los MISMOS targets, values y calldatas que propose(), y el HASH de la descripción. Si no coinciden, revierte.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EL RETO Y LA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AMPLIAR Y DEMOSTRAR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192024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Escribir una propuesta propia (por ejemplo, cambiar un parámetro de otro contrato del equipo) y llevarla del inicio a la ejecución.</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Provocar una derrota: una propuesta que pierde la votación y comprobar que NO se puede ejecutar.</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Opcional: configurar un multisig de prueba (Safe en testnet) y ejecutar una transacción con dos firmantes.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3794760"/>
          <a:ext cx="11057839" cy="914400"/>
        </p:xfrm>
        <a:graphic>
          <a:graphicData uri="http://schemas.openxmlformats.org/drawingml/2006/table">
            <a:tbl>
              <a:tblPr/>
              <a:tblGrid>
                <a:gridCol w="9229039"/>
                <a:gridCol w="182880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Las 5 pruebas del gobierno en verde (captura)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propuesta propia recorrida de principio a fin, con los hashes o la salida de las pruebas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40 %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propuesta derrotada, demostrando que no se ejecuta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 párrafo: ¿qué modelo de voto usaría su proyecto y por qué?</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3776472"/>
            <a:ext cx="11094415" cy="2231136"/>
          </a:xfrm>
          <a:prstGeom prst="rect">
            <a:avLst/>
          </a:prstGeom>
          <a:ln w="22225">
            <a:solidFill>
              <a:srgbClr val="0F0F11"/>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 · SE ENTREGA EN LA S17</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ENSAYO INDIVIDUAL (RA7)</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 única pieza estrictamente individual y escrita del curso: pensar en serio una implicación del ecosistema, en el contexto colombiano.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ENCARGO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1 500 PALABRAS, UNA POSTURA SOSTENIDA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904615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46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Qué 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ensayo individual de 1 500 palabras sobre una implicación del ecosistema aplicada a Colombia.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Ejes posibles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Regulatoria, ética, económica o ambiental. Uno, a fondo, no los cuatro por encima.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Qué se evalúa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Argumentación, uso de fuentes y una postura propia sostenida — no un resumen.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permite y se declara: una nota al final diciendo para qué se usó.</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Cuándo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plantea hoy, se entrega en la Sesión 17. Peso: 20 % del tercer corte.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99816"/>
          </a:xfrm>
          <a:prstGeom prst="rect">
            <a:avLst/>
          </a:prstGeom>
          <a:ln w="22225">
            <a:solidFill>
              <a:srgbClr val="0F0F11"/>
            </a:solidFill>
            <a:prstDash val="solid"/>
          </a:ln>
        </p:spPr>
      </p:sp>
      <p:sp>
        <p:nvSpPr>
          <p:cNvPr id="10" name="Shape 6"/>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2" name="Text 7"/>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TEMAS QUE SALIERON DEL CURSO</a:t>
            </a:r>
            <a:endParaRPr lang="en-US" sz="950" dirty="0"/>
          </a:p>
        </p:txBody>
      </p:sp>
      <p:sp>
        <p:nvSpPr>
          <p:cNvPr id="13" name="Text 8"/>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derecho al olvido frente a la inmutabilidad (hoy). El costo energético (S4). Estafas y responsabilidad del ingeniero (S9). La regulación colombiana (S16). Todos dan para un buen ensayo.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QUÉ DISTINGUE UN BUEN ENSAYO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POSTURA, NO RESUMEN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UN ENSAYO FLOJO</a:t>
            </a:r>
            <a:endParaRPr lang="en-US" sz="1050" dirty="0"/>
          </a:p>
        </p:txBody>
      </p:sp>
      <p:sp>
        <p:nvSpPr>
          <p:cNvPr id="10" name="Text 7"/>
          <p:cNvSpPr/>
          <p:nvPr/>
        </p:nvSpPr>
        <p:spPr>
          <a:xfrm>
            <a:off x="841248" y="23042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Resume qué es blockchain, otra vez.</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Enumera pros y contras sin decidir.</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Cita sin leer, o no cita.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Podría ser sobre cualquier país.</a:t>
            </a:r>
            <a:endParaRPr lang="en-US" sz="1300" dirty="0"/>
          </a:p>
        </p:txBody>
      </p:sp>
      <p:sp>
        <p:nvSpPr>
          <p:cNvPr id="11" name="Shape 8"/>
          <p:cNvSpPr/>
          <p:nvPr/>
        </p:nvSpPr>
        <p:spPr>
          <a:xfrm>
            <a:off x="6233008" y="173736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UN BUEN ENSAYO</a:t>
            </a:r>
            <a:endParaRPr lang="en-US" sz="1050" dirty="0"/>
          </a:p>
        </p:txBody>
      </p:sp>
      <p:sp>
        <p:nvSpPr>
          <p:cNvPr id="13" name="Text 10"/>
          <p:cNvSpPr/>
          <p:nvPr/>
        </p:nvSpPr>
        <p:spPr>
          <a:xfrm>
            <a:off x="6507328" y="230428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Toma una postura clara y la sostiene.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Usa fuentes reales, leídas, y las discute.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Se ancla en Colombia: una ley, un caso, un dato local.</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Reconoce el argumento contrario y responde.</a:t>
            </a:r>
            <a:endParaRPr lang="en-US" sz="1300" dirty="0"/>
          </a:p>
        </p:txBody>
      </p:sp>
      <p:sp>
        <p:nvSpPr>
          <p:cNvPr id="14" name="Text 11"/>
          <p:cNvSpPr/>
          <p:nvPr/>
        </p:nvSpPr>
        <p:spPr>
          <a:xfrm>
            <a:off x="566928" y="4251960"/>
            <a:ext cx="11057839" cy="6400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Es el mismo criterio de toda la actividad de Estonia: una afirmación sostenida con evidencia vale más que un resumen equilibrado que no arriesga nada.</a:t>
            </a:r>
            <a:endParaRPr lang="en-US" sz="1300" dirty="0"/>
          </a:p>
        </p:txBody>
      </p:sp>
      <p:sp>
        <p:nvSpPr>
          <p:cNvPr id="15" name="Shape 12"/>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6"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7" name="Text 13"/>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DECLARACIÓN DE USO DE IA, OBLIGATORIA</a:t>
            </a:r>
            <a:endParaRPr lang="en-US" sz="950" dirty="0"/>
          </a:p>
        </p:txBody>
      </p:sp>
      <p:sp>
        <p:nvSpPr>
          <p:cNvPr id="18" name="Text 14"/>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Igual que en el caso Estonia: se permite usar IA, y se declara para qué. Lo que no se acepta es presentar como propio un texto que no se pensó, ni citar fuentes que no se abrieron.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15 · DAOS, GOBERNANZA E IDENTIDAD</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Elijan el eje de su ensayo y escriban en una frase la postura que van a defender. Si no cabe en una frase, aún no la tienen.</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15.</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Definir la postura del ensayo individual (se entrega en la Sesión 17).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Avanzar hacia el Avance 2: la dApp integrada se entrega en la Sesión 16.</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sobre capas 2 y sobre la regulación colombiana de criptoactivos para la Sesión 16.</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Gobernar sin jefe no elimina el poder: lo hace visible.</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Ya no es quién manda, es quién tiene los votos. Saben construir, asegurar, integrar y gobernar; falta situarlo en el mundo: cuánto escala, cuánto cuesta y qué dice la ley colombiana.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16 · ESCALABILIDAD, INTEROPERABILIDAD Y MARCO REGULATORIO · AVANCE 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15 · DAOs e identidad</dc:title>
  <dc:subject>Sesión 15 · DAOs e identidad</dc:subject>
  <dc:creator>Universidad de San Buenaventura Medellín</dc:creator>
  <cp:lastModifiedBy>Universidad de San Buenaventura Medellín</cp:lastModifiedBy>
  <cp:revision>1</cp:revision>
  <dcterms:created xsi:type="dcterms:W3CDTF">2026-09-13T18:08:12Z</dcterms:created>
  <dcterms:modified xsi:type="dcterms:W3CDTF">2026-09-13T18:08:12Z</dcterms:modified>
</cp:coreProperties>
</file>