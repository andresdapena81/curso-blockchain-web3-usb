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la Unidad III: cosas que la gente usa. El punto de hoy es la interoperabilidad, no la sintaxis. Se construye SOBRE OpenZeppelin, auditado, no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B es en parejas y produce artefactos on-chain (token verificado, hashes de transferencia y de canje). El bloque C se puede acabar en trabajo autónomo.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EIP-20, autores Fabian Vogelsteller y Vitalik Buterin, creado 19 nov 2015, estado Final (eips.ethereum.org/EIPS/eip-20). El repositorio de EIPs es la fuente. La palabra clave: interoperabilidad.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en EIP-1 (eips.ethereum.org/EIPS/eip-1): estados Idea, Draft, Review, Last Call (fecha límite típicamente 14 días), Final, Stagnant (6+ meses inactivo), Withdrawn, Living. Tipos: Standards Track (Core, Networking, Interface, ERC), Meta, Informational. Preguntar: '¿quién decide que ERC-20 es el estándar?' Respuesta: nadie lo impone; se adopta porque todos lo implementan.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que 'indexed' en los eventos permite filtrar por dueño/gastador en el explorador (viene de la S6). Las seis firmas son EXACTAS: cambiar un nombre rompe la interoperabilidad.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por columnas: primero 'qué hace', después 'quién la llama'. La clave: transfer usa msg.sender como origen; transferFrom usa un 'de' explícito y consume allowance. Acuñar emite Transfer desde address(0); quemar, Transfer hacia address(0) (así lo hace OZ en _update).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Hacerla en el tablero, fila por fila, preguntando a la clase la siguiente fila antes de mostrarla. Error típico: creer que approve 'aparta' o 'bloquea' los tokens: Ana podría gastarlos igual y el canje fallaría por saldo. Las cifras de las filas 0, 2 y 3 son exactamente las de la prueba ★ de test/s10 (100, approve 25, queda 75 y tesorería 25) salvo la transferencia a Beto, añadida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error mental se paga en el laboratorio: el estudiante despliega el token, no lo ve en MetaMask, y cree que falló. No falló: hay que IMPORTARLO con la dirección del contrato (paso del bloque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Números verificados con ethers: 1 token = 1e18; 25 FUSB = 25·10^18 = 25000000000000000000; 0,5 = 5e17. Contraste útil: USDC usa 6 decimales, no 18 → 25 USDC = 25000000. No todos los tokens usan 18: siempre leer decimals().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Salidas calculadas con ethers 6 (node) en el repo de laboratorios, no de memoria. Number.MAX_SAFE_INTEGER ≈ 9·10^15, así que 25·10^18 pierde precisión si se usa Number: por eso ethers 6 devuelve bigint (el sufijo n). El último renglón es exactamente acunar(ana, 100) sin convertir: 100 unidades mínimas = 0,0000000000000001 FUSB.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Verificado en test/s10 (★): con aprobación exacta el canje retira 25 y la allowance queda en 0; sin aprobación revierte con ERC20InsufficientAllowance; un segundo canje sin re-aprobar revierte. Es la tesis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TODO 4 del laboratorio. Dos msg.sender distintos en la misma transacción: esa es la idea difícil. Dibujar la cadena Ana → Canje → FichaUSB en el tablero. Error de OZ 5 verificado en test/s10: ERC20InsufficientAllowance.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Badger DAO, 2 dic 2021, ~120 M USD. Script inyectado por Cloudflare en el front-end pedía approve ilimitado; ~500 wallets firmaron; el atacante usó transferFrom (coindesk, halborn). Es el caso REAL que exige el encargo para las aprobaciones ilimitadas. Herramientas de revocación: revoke.cash, y el 'Token Approvals' del explorador.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en el código de OpenZeppelin 5.6.1 (ERC20._spendAllowance): 'Does not update the allowance value in case of infinite allowance' — si currentAllowance == type(uint256).max no se descuenta. Pregunta de cierre del tramo de aprobaciones. Dar 45 segundos en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el EIP-20 documenta este vector y recomienda que la UI ponga la allowance en 0 antes de cambiarla a otro valor para el mismo gastador; el contrato no lo obliga, por compatibilidad hacia atrás (eips.ethereum.org/EIPS/eip-20). Cifras del ejemplo: 50 + 20 = 70. Conecta con 'el costo del estándar' de A.1: el defecto lo heredan todos los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(1) en node_modules/@openzeppelin/contracts 5.6.1, ERC20.sol no tiene increaseAllowance/decreaseAllowance; SafeERC20 trae safeIncreaseAllowance, safeDecreaseAllowance y forceApprove. (2) OZ 5.0 (oct 2023) las quitó por no ser parte del EIP-20 y por su uso en phishing (changelog de OpenZeppelin, issue #4583). El paso 'REVOCAR' del laboratorio es justamente pasar por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OpenZeppelin 5.6.1 (versiones.md). En v5: Ownable(msg.sender) en el constructor, y el override de _update sustituye a los _beforeTokenTransfer de v4. Este es el contrato real de contracts/s10/FichaUSB.sol.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Pausable en OZ v5 vive en utils/. ERC20Permit exige nombrar el token en el constructor del permit y trae DOMAIN_SEPARATOR (EIP-712). No hace falta implementar Permit hoy; sí saber que existe y qué resuelve.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Verificado en test/s10: ERC20ExceededCap al acuñar sobre el tope, y la prueba ★ de quemar y re-acuñar. En OZ 5, ERC20Pausable sobrescribe _update con whenNotPaused (verificado en node_modules). Preguntar: '¿pondrían Pausable en el token de su proyecto? ¿Quién tendría el freno?'.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EIP-2612, autor Martin Lundfall, creado 13 abr 2020, Final. Firma permit(owner, spender, value, deadline, v, r, s); depende de EIP-712 (eips.ethereum.org/EIPS/eip-2612). EIP-712 es firma de datos estructurados, tema de la S13.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Verificado en OZ 5.6.1 (ERC20Permit.sol): errores ERC2612ExpiredSignature(deadline) y ERC2612InvalidSigner(signer, owner), nonces(owner) y DOMAIN_SEPARATOR(). Firma del EIP-2612: permit(owner, spender, value, deadline, v, r, s). La construcción de la firma EIP-712 se hace en la S13; hoy basta el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la tesis del curso: la pregunta no es 'cómo hago un token', sino 'este token, ¿reparte poder o lo concentra?'. El FichaUSB del laboratorio es deliberadamente sostenible: tope + emisión controlada + quema abierta.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diseño B es ilustrativo, construido a propósito para el contraste; no describe un proyecto real concreto. Hacer la comparación columna por columna preguntando '¿a quién beneficia esta regla?'. Error típico: pensar que 'extractivo' significa 'código con bugs'. No: puede estar impecablemente escrito.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opcional si hay tiempo: abrir en el explorador de Sepolia la FichaUSB de una pareja y revisar las cinco señales en vivo. Conecta con la S14 (DeFi) y la S16 (regulación).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A. La idea 5 (aprobaciones ilimitadas, caso Badger) y la 6 (tokenómica) son las que más pesan en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Verificación de cierre del bloque A (estándar S4). La segunda pregunta: transferFrom revertiría con ERC20InsufficientBalance, no por allowance.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estudiante recibe el andamiaje (andamiaje/s10) con 4 TODO que compilan pero fallan las pruebas; la solución de referencia (contracts/s10) pasa las 12. La guía en PDF explica cada TODO. Verificado: solución 12/12 verdes; andamiaje falla solo en lo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TODO y sus pistas están en andamiaje/s10/FichaUSB.sol y Canje.sol, y explicados uno por uno en la guía (sección 3). Circular por las parejas preguntando '¿qué prueba falla y qué TODO la gobierna?' en vez de dictar la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salidas son reales: el andamiaje se probó copiándolo sobre contracts/s10 (2 passing, 10 failing) y la solución da 12 passing; el módulo ignition/modules/s10-FichaCanje.js se desplegó en la red local (direcciones deterministas de Hardhat). En Sepolia las direcciones serán otras.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módulo Ignition ignition/modules/s10-FichaCanje.js despliega FichaUSB y luego Canje con su dirección. Verificado que despliega en la red local. El JSON de parámetros lo escribe cada pareja con su tope, precio y tesorería. Es el mismo flujo keystore + Ignition + --verify de la S8.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con hashes verificables en el explorador de Sepolia. Un token que no aparece en la cadena no se califica. La revocación es literalmente approve(canje, 0): la guía lo muestra paso a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nombres de error son los de OpenZeppelin 5.6.1, verificados en test/s10 (ERC20InsufficientAllowance, ERC20InsufficientBalance, OwnableUnauthorizedAccount, ERC20ExceededCap).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en PDF trae la lista de chequeo de entrega y la rúbrica completa. El párrafo de tokenómica anticipa el bloque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corta de decisión también está dentro de la guía del laboratorio (sección de tokenómica), para que la puedan completar fuera de clase. Es el trabajo autónomo hacia el Avance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también está en la guía (sección 9) para completarla fuera de clase: media página para el Avance 1. El ejemplo de diplomas es de la lista de proyectos viables del plan (sección 8) y engancha con la S11 (ERC-721).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engancha con el caso Badger de A.6. Herramientas: revoke.cash o el 'Token Approvals' del explorador. En testnet las aprobaciones son las mismas que en mainnet.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ESTANDAR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10 · UNIDAD III · WEB 3.0</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ERC-20</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UN ESTÁNDAR</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COMPARTIDO</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Un token no vale por su código, sino porque miles de aplicaciones ya saben hablarle. Eso es un estándar.</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Se construye SOBRE OpenZeppelin: el estándar ya está escrito y auditado. Hoy se aprende el patrón de aprobación, se despliega en Sepolia y se decide la tokenómica del proyecto.</a:t>
            </a:r>
            <a:endParaRPr lang="en-US" sz="1450" dirty="0"/>
          </a:p>
        </p:txBody>
      </p:sp>
      <p:sp>
        <p:nvSpPr>
          <p:cNvPr id="9" name="Shape 6"/>
          <p:cNvSpPr/>
          <p:nvPr/>
        </p:nvSpPr>
        <p:spPr>
          <a:xfrm>
            <a:off x="566928" y="2468880"/>
            <a:ext cx="11057839" cy="10241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468880"/>
            <a:ext cx="777240" cy="1024128"/>
          </a:xfrm>
          <a:prstGeom prst="rect">
            <a:avLst/>
          </a:prstGeom>
          <a:solidFill>
            <a:srgbClr val="F07F06"/>
          </a:solidFill>
          <a:ln w="12700">
            <a:solidFill>
              <a:srgbClr val="333333"/>
            </a:solidFill>
            <a:prstDash val="solid"/>
          </a:ln>
        </p:spPr>
      </p:sp>
      <p:sp>
        <p:nvSpPr>
          <p:cNvPr id="11" name="Text 8"/>
          <p:cNvSpPr/>
          <p:nvPr/>
        </p:nvSpPr>
        <p:spPr>
          <a:xfrm>
            <a:off x="566928" y="2468880"/>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9689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EL ESTÁNDAR Y SU MECÁNICA</a:t>
            </a:r>
            <a:endParaRPr lang="en-US" sz="1100" dirty="0"/>
          </a:p>
        </p:txBody>
      </p:sp>
      <p:sp>
        <p:nvSpPr>
          <p:cNvPr id="13" name="Text 10"/>
          <p:cNvSpPr/>
          <p:nvPr/>
        </p:nvSpPr>
        <p:spPr>
          <a:xfrm>
            <a:off x="1572768" y="2926080"/>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Qué es un EIP/ERC, la interfaz, approve/transferFrom, decimales, extensiones y tokenómica.</a:t>
            </a:r>
            <a:endParaRPr lang="en-US" sz="1250" dirty="0"/>
          </a:p>
        </p:txBody>
      </p:sp>
      <p:sp>
        <p:nvSpPr>
          <p:cNvPr id="14" name="Text 11"/>
          <p:cNvSpPr/>
          <p:nvPr/>
        </p:nvSpPr>
        <p:spPr>
          <a:xfrm>
            <a:off x="9704527" y="2468880"/>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~65 min</a:t>
            </a:r>
            <a:endParaRPr lang="en-US" sz="1200" dirty="0"/>
          </a:p>
        </p:txBody>
      </p:sp>
      <p:sp>
        <p:nvSpPr>
          <p:cNvPr id="15" name="Shape 12"/>
          <p:cNvSpPr/>
          <p:nvPr/>
        </p:nvSpPr>
        <p:spPr>
          <a:xfrm>
            <a:off x="566928" y="3675888"/>
            <a:ext cx="11057839" cy="1024128"/>
          </a:xfrm>
          <a:prstGeom prst="rect">
            <a:avLst/>
          </a:prstGeom>
          <a:solidFill>
            <a:srgbClr val="FAF9FB"/>
          </a:solidFill>
          <a:ln w="22225">
            <a:solidFill>
              <a:srgbClr val="0F0F11"/>
            </a:solidFill>
            <a:prstDash val="solid"/>
          </a:ln>
        </p:spPr>
      </p:sp>
      <p:sp>
        <p:nvSpPr>
          <p:cNvPr id="16" name="Shape 13"/>
          <p:cNvSpPr/>
          <p:nvPr/>
        </p:nvSpPr>
        <p:spPr>
          <a:xfrm>
            <a:off x="566928" y="3675888"/>
            <a:ext cx="777240" cy="1024128"/>
          </a:xfrm>
          <a:prstGeom prst="rect">
            <a:avLst/>
          </a:prstGeom>
          <a:solidFill>
            <a:srgbClr val="D9D6E0"/>
          </a:solidFill>
          <a:ln w="12700">
            <a:solidFill>
              <a:srgbClr val="333333"/>
            </a:solidFill>
            <a:prstDash val="solid"/>
          </a:ln>
        </p:spPr>
      </p:sp>
      <p:sp>
        <p:nvSpPr>
          <p:cNvPr id="17" name="Text 14"/>
          <p:cNvSpPr/>
          <p:nvPr/>
        </p:nvSpPr>
        <p:spPr>
          <a:xfrm>
            <a:off x="566928" y="3675888"/>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80390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10</a:t>
            </a:r>
            <a:endParaRPr lang="en-US" sz="1100" dirty="0"/>
          </a:p>
        </p:txBody>
      </p:sp>
      <p:sp>
        <p:nvSpPr>
          <p:cNvPr id="19" name="Text 16"/>
          <p:cNvSpPr/>
          <p:nvPr/>
        </p:nvSpPr>
        <p:spPr>
          <a:xfrm>
            <a:off x="1572768" y="4133088"/>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Token con tope y quema, canje por aprobación, despliegue a Sepolia y revocación.</a:t>
            </a:r>
            <a:endParaRPr lang="en-US" sz="1250" dirty="0"/>
          </a:p>
        </p:txBody>
      </p:sp>
      <p:sp>
        <p:nvSpPr>
          <p:cNvPr id="20" name="Text 17"/>
          <p:cNvSpPr/>
          <p:nvPr/>
        </p:nvSpPr>
        <p:spPr>
          <a:xfrm>
            <a:off x="9704527" y="3675888"/>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~85 min</a:t>
            </a:r>
            <a:endParaRPr lang="en-US" sz="1200" dirty="0"/>
          </a:p>
        </p:txBody>
      </p:sp>
      <p:sp>
        <p:nvSpPr>
          <p:cNvPr id="21" name="Shape 18"/>
          <p:cNvSpPr/>
          <p:nvPr/>
        </p:nvSpPr>
        <p:spPr>
          <a:xfrm>
            <a:off x="566928" y="4882896"/>
            <a:ext cx="11057839" cy="1024128"/>
          </a:xfrm>
          <a:prstGeom prst="rect">
            <a:avLst/>
          </a:prstGeom>
          <a:solidFill>
            <a:srgbClr val="FAF9FB"/>
          </a:solidFill>
          <a:ln w="22225">
            <a:solidFill>
              <a:srgbClr val="0F0F11"/>
            </a:solidFill>
            <a:prstDash val="solid"/>
          </a:ln>
        </p:spPr>
      </p:sp>
      <p:sp>
        <p:nvSpPr>
          <p:cNvPr id="22" name="Shape 19"/>
          <p:cNvSpPr/>
          <p:nvPr/>
        </p:nvSpPr>
        <p:spPr>
          <a:xfrm>
            <a:off x="566928" y="4882896"/>
            <a:ext cx="777240" cy="1024128"/>
          </a:xfrm>
          <a:prstGeom prst="rect">
            <a:avLst/>
          </a:prstGeom>
          <a:solidFill>
            <a:srgbClr val="D9D6E0"/>
          </a:solidFill>
          <a:ln w="12700">
            <a:solidFill>
              <a:srgbClr val="333333"/>
            </a:solidFill>
            <a:prstDash val="solid"/>
          </a:ln>
        </p:spPr>
      </p:sp>
      <p:sp>
        <p:nvSpPr>
          <p:cNvPr id="23" name="Text 20"/>
          <p:cNvSpPr/>
          <p:nvPr/>
        </p:nvSpPr>
        <p:spPr>
          <a:xfrm>
            <a:off x="566928" y="4882896"/>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5010912"/>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PROYECTO</a:t>
            </a:r>
            <a:endParaRPr lang="en-US" sz="1100" dirty="0"/>
          </a:p>
        </p:txBody>
      </p:sp>
      <p:sp>
        <p:nvSpPr>
          <p:cNvPr id="25" name="Text 22"/>
          <p:cNvSpPr/>
          <p:nvPr/>
        </p:nvSpPr>
        <p:spPr>
          <a:xfrm>
            <a:off x="1572768" y="5340096"/>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Diseñar la tokenómica, o justificar por qué el proyecto NO lleva token.</a:t>
            </a:r>
            <a:endParaRPr lang="en-US" sz="1250" dirty="0"/>
          </a:p>
        </p:txBody>
      </p:sp>
      <p:sp>
        <p:nvSpPr>
          <p:cNvPr id="26" name="Text 23"/>
          <p:cNvSpPr/>
          <p:nvPr/>
        </p:nvSpPr>
        <p:spPr>
          <a:xfrm>
            <a:off x="9704527" y="4882896"/>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~30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Implementar un token fungible conforme al estándar y entender la mecánica de aprobaciones que usa todo DeFi.</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la interoperabilidad depende de un estándar y no del mejor código?</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existe approve + transferFrom, y qué riesgo trae?</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no hay decimales de verdad, y cómo se representa el valor?</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distingue una tokenómica sostenible de un esquema extractivo?</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RA3 · Programar contratos aplicando estándares de la industria (ERC-20, OpenZeppelin).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ERC / EIP</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Ethereum Request for Comments / Improvement Proposal</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 EIP propone; cuando define una interfaz de aplicación, se le llama ERC. ERC-20 es el número 20.</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FUNGIBLE</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intercambiable</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Cada unidad es idéntica a otra: un punto vale igual que cualquier otro punto. Como el dinero.</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ALLOWANCE</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autorización</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Cuántos tokens de A puede mover un tercero C. La base de approve + transferFrom.</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TRANSFERFROM</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transferir desde</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Mueve tokens de otra cuenta, dentro del límite que esa cuenta autorizó.</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DECIMALES</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decimals</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Cuántas cifras minúsculas tiene el token. 18 es lo habitual. No hay coma flotante real.</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MINT · BURN</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acuñar · quemar</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Crear tokens nuevos (sube el suministro) y destruirlos (lo baja).</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EIP-2612</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Permit</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Aprobar con una firma, sin una transacción aparte. Ahorra un paso y gas al usuario.</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TOKENÓMICA</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tokenomics</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Las reglas económicas del token: cuánto hay, cómo se emite, cómo se destruye, cómo se reparte.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65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ESTÁNDAR Y SU MECÁNICA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ERC-20 son seis funciones y dos eventos. Que sean SIEMPRE los mismos es justo lo que hace que un token sirva.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10 · TOKENS FUNGIBLES · ERC-20</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QUÉ ES UN EIP/ERC</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 ACUERDO, NO UNA LEY</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Un EIP (Ethereum Improvement Proposal) es una propuesta pública. Cuando define cómo deben hablar las aplicaciones entre sí, se le llama ERC. Nadie obliga a seguirlos; se siguen porque convienen.</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1057839" cy="914400"/>
        </p:xfrm>
        <a:graphic>
          <a:graphicData uri="http://schemas.openxmlformats.org/drawingml/2006/table">
            <a:tbl>
              <a:tblPr/>
              <a:tblGrid>
                <a:gridCol w="1554480"/>
                <a:gridCol w="6035040"/>
                <a:gridCol w="346831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EJEMPLO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5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EIP</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propuesta, con su número y su discusión abierta.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EIP-20, EIP-721, EIP-2612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5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ERC</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EIP que fija una interfaz de aplicación (el «RC» de Request for Comments).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ERC-20 = el EIP-20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5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número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Orden de llegada de la propuesta. No hay jerarquía en el número.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 fue de los primeros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679192"/>
            <a:ext cx="11094415" cy="1865376"/>
          </a:xfrm>
          <a:prstGeom prst="rect">
            <a:avLst/>
          </a:prstGeom>
          <a:ln w="22225">
            <a:solidFill>
              <a:srgbClr val="0F0F11"/>
            </a:solidFill>
            <a:prstDash val="solid"/>
          </a:ln>
        </p:spPr>
      </p:sp>
      <p:sp>
        <p:nvSpPr>
          <p:cNvPr id="11" name="Shape 7"/>
          <p:cNvSpPr/>
          <p:nvPr/>
        </p:nvSpPr>
        <p:spPr>
          <a:xfrm>
            <a:off x="566928" y="4754880"/>
            <a:ext cx="11057839" cy="14173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2"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3" name="Text 8"/>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POR QUÉ ESTO IMPORTA HOY</a:t>
            </a:r>
            <a:endParaRPr lang="en-US" sz="950" dirty="0"/>
          </a:p>
        </p:txBody>
      </p:sp>
      <p:sp>
        <p:nvSpPr>
          <p:cNvPr id="14" name="Text 9"/>
          <p:cNvSpPr/>
          <p:nvPr/>
        </p:nvSpPr>
        <p:spPr>
          <a:xfrm>
            <a:off x="804672" y="5266944"/>
            <a:ext cx="10582351" cy="81381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ERC-20 (EIP-20) lo propusieron Fabian Vogelsteller y Vitalik Buterin en noviembre de 2015. Está en estado «Final»: es un contrato social estable del que dependen billeteras, exchanges y todo DeFi. Programar contra un estándar Final es programar contra algo que no se va a mover bajo tus pies.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A.1B · CÓMO NACE UN ESTÁNDAR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DE UNA IDEA A «FINAL»: EL PROCESO EIP</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Text 5"/>
          <p:cNvSpPr/>
          <p:nvPr/>
        </p:nvSpPr>
        <p:spPr>
          <a:xfrm>
            <a:off x="566928" y="1691640"/>
            <a:ext cx="11057839" cy="8229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 EIP no se aprueba por votación ni lo decreta una empresa. Avanza por estados públicos, definidos en el EIP-1, con discusión abierta y editores que revisan la forma, no el gusto.</a:t>
            </a:r>
            <a:endParaRPr lang="en-US" sz="1400" dirty="0"/>
          </a:p>
        </p:txBody>
      </p:sp>
      <p:sp>
        <p:nvSpPr>
          <p:cNvPr id="9" name="Shape 6"/>
          <p:cNvSpPr/>
          <p:nvPr/>
        </p:nvSpPr>
        <p:spPr>
          <a:xfrm>
            <a:off x="566928" y="2697480"/>
            <a:ext cx="1992112" cy="1051560"/>
          </a:xfrm>
          <a:prstGeom prst="rect">
            <a:avLst/>
          </a:prstGeom>
          <a:solidFill>
            <a:srgbClr val="FAF9FB"/>
          </a:solidFill>
          <a:ln w="22225">
            <a:solidFill>
              <a:srgbClr val="0F0F11"/>
            </a:solidFill>
            <a:prstDash val="solid"/>
          </a:ln>
        </p:spPr>
      </p:sp>
      <p:sp>
        <p:nvSpPr>
          <p:cNvPr id="10" name="Text 7"/>
          <p:cNvSpPr/>
          <p:nvPr/>
        </p:nvSpPr>
        <p:spPr>
          <a:xfrm>
            <a:off x="658368" y="2788920"/>
            <a:ext cx="1809232"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IDEA</a:t>
            </a:r>
            <a:endParaRPr lang="en-US" sz="1100" dirty="0"/>
          </a:p>
        </p:txBody>
      </p:sp>
      <p:sp>
        <p:nvSpPr>
          <p:cNvPr id="11" name="Text 8"/>
          <p:cNvSpPr/>
          <p:nvPr/>
        </p:nvSpPr>
        <p:spPr>
          <a:xfrm>
            <a:off x="658368" y="3099816"/>
            <a:ext cx="1809232"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se discute</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en foros</a:t>
            </a:r>
            <a:endParaRPr lang="en-US" sz="1050" dirty="0"/>
          </a:p>
        </p:txBody>
      </p:sp>
      <p:sp>
        <p:nvSpPr>
          <p:cNvPr id="12" name="Shape 9"/>
          <p:cNvSpPr/>
          <p:nvPr/>
        </p:nvSpPr>
        <p:spPr>
          <a:xfrm>
            <a:off x="2559040" y="3218688"/>
            <a:ext cx="274320" cy="914"/>
          </a:xfrm>
          <a:prstGeom prst="line">
            <a:avLst/>
          </a:prstGeom>
          <a:noFill/>
          <a:ln w="22225">
            <a:solidFill>
              <a:srgbClr val="0F0F11"/>
            </a:solidFill>
            <a:prstDash val="solid"/>
            <a:tailEnd type="triangle"/>
          </a:ln>
        </p:spPr>
      </p:sp>
      <p:sp>
        <p:nvSpPr>
          <p:cNvPr id="13" name="Shape 10"/>
          <p:cNvSpPr/>
          <p:nvPr/>
        </p:nvSpPr>
        <p:spPr>
          <a:xfrm>
            <a:off x="2833360" y="2697480"/>
            <a:ext cx="1992112" cy="1051560"/>
          </a:xfrm>
          <a:prstGeom prst="rect">
            <a:avLst/>
          </a:prstGeom>
          <a:solidFill>
            <a:srgbClr val="FAF9FB"/>
          </a:solidFill>
          <a:ln w="22225">
            <a:solidFill>
              <a:srgbClr val="0F0F11"/>
            </a:solidFill>
            <a:prstDash val="solid"/>
          </a:ln>
        </p:spPr>
      </p:sp>
      <p:sp>
        <p:nvSpPr>
          <p:cNvPr id="14" name="Text 11"/>
          <p:cNvSpPr/>
          <p:nvPr/>
        </p:nvSpPr>
        <p:spPr>
          <a:xfrm>
            <a:off x="2924800" y="2788920"/>
            <a:ext cx="1809232"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DRAFT</a:t>
            </a:r>
            <a:endParaRPr lang="en-US" sz="1100" dirty="0"/>
          </a:p>
        </p:txBody>
      </p:sp>
      <p:sp>
        <p:nvSpPr>
          <p:cNvPr id="15" name="Text 12"/>
          <p:cNvSpPr/>
          <p:nvPr/>
        </p:nvSpPr>
        <p:spPr>
          <a:xfrm>
            <a:off x="2924800" y="3099816"/>
            <a:ext cx="1809232"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número y</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texto formal</a:t>
            </a:r>
            <a:endParaRPr lang="en-US" sz="1050" dirty="0"/>
          </a:p>
        </p:txBody>
      </p:sp>
      <p:sp>
        <p:nvSpPr>
          <p:cNvPr id="16" name="Shape 13"/>
          <p:cNvSpPr/>
          <p:nvPr/>
        </p:nvSpPr>
        <p:spPr>
          <a:xfrm>
            <a:off x="4825472" y="3218688"/>
            <a:ext cx="274320" cy="914"/>
          </a:xfrm>
          <a:prstGeom prst="line">
            <a:avLst/>
          </a:prstGeom>
          <a:noFill/>
          <a:ln w="22225">
            <a:solidFill>
              <a:srgbClr val="0F0F11"/>
            </a:solidFill>
            <a:prstDash val="solid"/>
            <a:tailEnd type="triangle"/>
          </a:ln>
        </p:spPr>
      </p:sp>
      <p:sp>
        <p:nvSpPr>
          <p:cNvPr id="17" name="Shape 14"/>
          <p:cNvSpPr/>
          <p:nvPr/>
        </p:nvSpPr>
        <p:spPr>
          <a:xfrm>
            <a:off x="5099792" y="2697480"/>
            <a:ext cx="1992112" cy="1051560"/>
          </a:xfrm>
          <a:prstGeom prst="rect">
            <a:avLst/>
          </a:prstGeom>
          <a:solidFill>
            <a:srgbClr val="FAF9FB"/>
          </a:solidFill>
          <a:ln w="22225">
            <a:solidFill>
              <a:srgbClr val="0F0F11"/>
            </a:solidFill>
            <a:prstDash val="solid"/>
          </a:ln>
        </p:spPr>
      </p:sp>
      <p:sp>
        <p:nvSpPr>
          <p:cNvPr id="18" name="Text 15"/>
          <p:cNvSpPr/>
          <p:nvPr/>
        </p:nvSpPr>
        <p:spPr>
          <a:xfrm>
            <a:off x="5191232" y="2788920"/>
            <a:ext cx="1809232"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REVIEW</a:t>
            </a:r>
            <a:endParaRPr lang="en-US" sz="1100" dirty="0"/>
          </a:p>
        </p:txBody>
      </p:sp>
      <p:sp>
        <p:nvSpPr>
          <p:cNvPr id="19" name="Text 16"/>
          <p:cNvSpPr/>
          <p:nvPr/>
        </p:nvSpPr>
        <p:spPr>
          <a:xfrm>
            <a:off x="5191232" y="3099816"/>
            <a:ext cx="1809232"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revisión</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de pares</a:t>
            </a:r>
            <a:endParaRPr lang="en-US" sz="1050" dirty="0"/>
          </a:p>
        </p:txBody>
      </p:sp>
      <p:sp>
        <p:nvSpPr>
          <p:cNvPr id="20" name="Shape 17"/>
          <p:cNvSpPr/>
          <p:nvPr/>
        </p:nvSpPr>
        <p:spPr>
          <a:xfrm>
            <a:off x="7091904" y="3218688"/>
            <a:ext cx="274320" cy="914"/>
          </a:xfrm>
          <a:prstGeom prst="line">
            <a:avLst/>
          </a:prstGeom>
          <a:noFill/>
          <a:ln w="22225">
            <a:solidFill>
              <a:srgbClr val="0F0F11"/>
            </a:solidFill>
            <a:prstDash val="solid"/>
            <a:tailEnd type="triangle"/>
          </a:ln>
        </p:spPr>
      </p:sp>
      <p:sp>
        <p:nvSpPr>
          <p:cNvPr id="21" name="Shape 18"/>
          <p:cNvSpPr/>
          <p:nvPr/>
        </p:nvSpPr>
        <p:spPr>
          <a:xfrm>
            <a:off x="7366224" y="2697480"/>
            <a:ext cx="1992112" cy="1051560"/>
          </a:xfrm>
          <a:prstGeom prst="rect">
            <a:avLst/>
          </a:prstGeom>
          <a:solidFill>
            <a:srgbClr val="FAF9FB"/>
          </a:solidFill>
          <a:ln w="22225">
            <a:solidFill>
              <a:srgbClr val="0F0F11"/>
            </a:solidFill>
            <a:prstDash val="solid"/>
          </a:ln>
        </p:spPr>
      </p:sp>
      <p:sp>
        <p:nvSpPr>
          <p:cNvPr id="22" name="Text 19"/>
          <p:cNvSpPr/>
          <p:nvPr/>
        </p:nvSpPr>
        <p:spPr>
          <a:xfrm>
            <a:off x="7457664" y="2788920"/>
            <a:ext cx="1809232"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LAST CALL</a:t>
            </a:r>
            <a:endParaRPr lang="en-US" sz="1100" dirty="0"/>
          </a:p>
        </p:txBody>
      </p:sp>
      <p:sp>
        <p:nvSpPr>
          <p:cNvPr id="23" name="Text 20"/>
          <p:cNvSpPr/>
          <p:nvPr/>
        </p:nvSpPr>
        <p:spPr>
          <a:xfrm>
            <a:off x="7457664" y="3099816"/>
            <a:ext cx="1809232"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última ventana,</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~14 días</a:t>
            </a:r>
            <a:endParaRPr lang="en-US" sz="1050" dirty="0"/>
          </a:p>
        </p:txBody>
      </p:sp>
      <p:sp>
        <p:nvSpPr>
          <p:cNvPr id="24" name="Shape 21"/>
          <p:cNvSpPr/>
          <p:nvPr/>
        </p:nvSpPr>
        <p:spPr>
          <a:xfrm>
            <a:off x="9358335" y="3218688"/>
            <a:ext cx="274320" cy="914"/>
          </a:xfrm>
          <a:prstGeom prst="line">
            <a:avLst/>
          </a:prstGeom>
          <a:noFill/>
          <a:ln w="22225">
            <a:solidFill>
              <a:srgbClr val="0F0F11"/>
            </a:solidFill>
            <a:prstDash val="solid"/>
            <a:tailEnd type="triangle"/>
          </a:ln>
        </p:spPr>
      </p:sp>
      <p:sp>
        <p:nvSpPr>
          <p:cNvPr id="25" name="Shape 22"/>
          <p:cNvSpPr/>
          <p:nvPr/>
        </p:nvSpPr>
        <p:spPr>
          <a:xfrm>
            <a:off x="9632655" y="2697480"/>
            <a:ext cx="1992112" cy="1051560"/>
          </a:xfrm>
          <a:prstGeom prst="rect">
            <a:avLst/>
          </a:prstGeom>
          <a:solidFill>
            <a:srgbClr val="FFFFFF"/>
          </a:solidFill>
          <a:ln w="22225">
            <a:solidFill>
              <a:srgbClr val="7152E9"/>
            </a:solidFill>
            <a:prstDash val="solid"/>
          </a:ln>
        </p:spPr>
      </p:sp>
      <p:sp>
        <p:nvSpPr>
          <p:cNvPr id="26" name="Text 23"/>
          <p:cNvSpPr/>
          <p:nvPr/>
        </p:nvSpPr>
        <p:spPr>
          <a:xfrm>
            <a:off x="9724095" y="2788920"/>
            <a:ext cx="1809232"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FINAL</a:t>
            </a:r>
            <a:endParaRPr lang="en-US" sz="1100" dirty="0"/>
          </a:p>
        </p:txBody>
      </p:sp>
      <p:sp>
        <p:nvSpPr>
          <p:cNvPr id="27" name="Text 24"/>
          <p:cNvSpPr/>
          <p:nvPr/>
        </p:nvSpPr>
        <p:spPr>
          <a:xfrm>
            <a:off x="9724095" y="3099816"/>
            <a:ext cx="1809232"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estable:</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ya no cambia</a:t>
            </a:r>
            <a:endParaRPr lang="en-US" sz="1050" dirty="0"/>
          </a:p>
        </p:txBody>
      </p:sp>
      <p:sp>
        <p:nvSpPr>
          <p:cNvPr id="28" name="Text 25"/>
          <p:cNvSpPr/>
          <p:nvPr/>
        </p:nvSpPr>
        <p:spPr>
          <a:xfrm>
            <a:off x="566928" y="393192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Salidas laterales: «Stagnant» (6 meses sin actividad), «Withdrawn» (el autor la retira) y «Living» (documentos que nunca se congelan, como el propio EIP-1).</a:t>
            </a:r>
            <a:endParaRPr lang="en-US" sz="1250" dirty="0"/>
          </a:p>
        </p:txBody>
      </p:sp>
      <p:sp>
        <p:nvSpPr>
          <p:cNvPr id="29" name="Shape 26"/>
          <p:cNvSpPr/>
          <p:nvPr/>
        </p:nvSpPr>
        <p:spPr>
          <a:xfrm>
            <a:off x="566928" y="4663440"/>
            <a:ext cx="11057839" cy="15087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30" name="Image 1" descr="preencoded.png">    </p:cNvPr>
          <p:cNvPicPr>
            <a:picLocks noChangeAspect="1"/>
          </p:cNvPicPr>
          <p:nvPr/>
        </p:nvPicPr>
        <p:blipFill>
          <a:blip r:embed="rId2"/>
          <a:stretch>
            <a:fillRect/>
          </a:stretch>
        </p:blipFill>
        <p:spPr>
          <a:xfrm>
            <a:off x="804672" y="4882896"/>
            <a:ext cx="237744" cy="237744"/>
          </a:xfrm>
          <a:prstGeom prst="rect">
            <a:avLst/>
          </a:prstGeom>
        </p:spPr>
      </p:pic>
      <p:sp>
        <p:nvSpPr>
          <p:cNvPr id="31" name="Text 27"/>
          <p:cNvSpPr/>
          <p:nvPr/>
        </p:nvSpPr>
        <p:spPr>
          <a:xfrm>
            <a:off x="1133856" y="48554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EJEMPLO REAL Y ERROR TÍPICO</a:t>
            </a:r>
            <a:endParaRPr lang="en-US" sz="950" dirty="0"/>
          </a:p>
        </p:txBody>
      </p:sp>
      <p:sp>
        <p:nvSpPr>
          <p:cNvPr id="32" name="Text 28"/>
          <p:cNvSpPr/>
          <p:nvPr/>
        </p:nvSpPr>
        <p:spPr>
          <a:xfrm>
            <a:off x="804672" y="5175504"/>
            <a:ext cx="10582351" cy="9052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EIP-20 recorrió ese camino y hoy está en «Final». El EIP-2612 (Permit) también. Error típico: citar un EIP en «Draft» como si fuera estándar. Antes de construir sobre un EIP, miren su estado en eips.ethereum.org: si es Draft o Review, la interfaz todavía puede cambiar bajo sus pies.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LA INTERFAZ</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SEIS FUNCIONES Y DOS EVENTOS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Shape 5"/>
          <p:cNvSpPr/>
          <p:nvPr/>
        </p:nvSpPr>
        <p:spPr>
          <a:xfrm>
            <a:off x="566928" y="1737360"/>
            <a:ext cx="11057839" cy="3200400"/>
          </a:xfrm>
          <a:prstGeom prst="rect">
            <a:avLst/>
          </a:prstGeom>
          <a:solidFill>
            <a:srgbClr val="16151B"/>
          </a:solidFill>
          <a:ln w="22225">
            <a:solidFill>
              <a:srgbClr val="16151B"/>
            </a:solidFill>
            <a:prstDash val="solid"/>
          </a:ln>
        </p:spPr>
      </p:sp>
      <p:sp>
        <p:nvSpPr>
          <p:cNvPr id="9" name="Text 6"/>
          <p:cNvSpPr/>
          <p:nvPr/>
        </p:nvSpPr>
        <p:spPr>
          <a:xfrm>
            <a:off x="768096" y="1883664"/>
            <a:ext cx="10655503" cy="2944368"/>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interface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IERC20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totalSupply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balanceOf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allowance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dueno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gastador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approve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gastador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event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indexed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indexed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event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Approval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indexed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dueno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indexed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gastador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0" name="Text 7"/>
          <p:cNvSpPr/>
          <p:nvPr/>
        </p:nvSpPr>
        <p:spPr>
          <a:xfrm>
            <a:off x="566928" y="5120640"/>
            <a:ext cx="11057839" cy="8229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Eso es todo. Un token ERC-20 es cualquier contrato que implemente exactamente estas firmas. OpenZeppelin ya lo hace, bien y auditado: nosotros no reescribimos nada de esto.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A.2B · LA INTERFAZ PIEZA POR PIEZA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QUÉ HACE CADA FUNCIÓN, Y QUIÉN LA LLAMA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3291840"/>
                <a:gridCol w="2377440"/>
                <a:gridCol w="30111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FUNCIÓN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HACE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QUIÉN LA LLAMA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EL ERROR TÍPICO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8826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totalSupply()</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Cuántas unidades existen en total.</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Cualquiera (lectura).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Leerla sin dividir por 10^decimals.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balanceOf(c)</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Cuánto tiene la cuenta c.</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Billeteras, exploradores.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Creer que el saldo está en la billetera.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8826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transfer(a, v)</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Mueve v de MÍ (msg.sender) hacia 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El dueño de los tokens.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Mandar a la dirección del propio contrato: se pierden.</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approve(g, v)</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Autoriza a g a mover hasta v de lo MÍO.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El dueño, antes de usar un contrato.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Aprobar de más «por comodidad».</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8826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allowance(d, g)</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Cuánto le queda a g por mover de d.</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Contratos y apps.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Olvidar que baja al gastarse.</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transferFrom(d, a, v)</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g mueve v de d hacia a, dentro de lo aprobado.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El gastador (un contrato).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Llamarla sin approve previo: revierte.</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877056"/>
          </a:xfrm>
          <a:prstGeom prst="rect">
            <a:avLst/>
          </a:prstGeom>
          <a:ln w="22225">
            <a:solidFill>
              <a:srgbClr val="0F0F11"/>
            </a:solidFill>
            <a:prstDash val="solid"/>
          </a:ln>
        </p:spPr>
      </p:sp>
      <p:sp>
        <p:nvSpPr>
          <p:cNvPr id="10" name="Text 6"/>
          <p:cNvSpPr/>
          <p:nvPr/>
        </p:nvSpPr>
        <p:spPr>
          <a:xfrm>
            <a:off x="566928" y="5669280"/>
            <a:ext cx="11057839" cy="54864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Y dos eventos: Transfer (cada movimiento, incluidos acuñar y quemar, con la dirección cero) y Approval (cada autorización). Los exploradores reconstruyen los saldos leyendo esos eventos.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A.2C · EJEMPLO DE ESTADO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LA TABLA DE SALDOS, ANTES Y DESPUÉS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Text 5"/>
          <p:cNvSpPr/>
          <p:nvPr/>
        </p:nvSpPr>
        <p:spPr>
          <a:xfrm>
            <a:off x="566928" y="169164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Todo el token son dos tablas: balances y allowances. Sigamos a Ana, a Beto y al contrato Canje (precio 25) a lo largo de cuatro operaciones. Cifras en FUSB; dentro del contrato, por 10¹⁸.</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651760"/>
          <a:ext cx="11057839" cy="914400"/>
        </p:xfrm>
        <a:graphic>
          <a:graphicData uri="http://schemas.openxmlformats.org/drawingml/2006/table">
            <a:tbl>
              <a:tblPr/>
              <a:tblGrid>
                <a:gridCol w="3566160"/>
                <a:gridCol w="1188720"/>
                <a:gridCol w="1188720"/>
                <a:gridCol w="1463040"/>
                <a:gridCol w="2194560"/>
                <a:gridCol w="1456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OPERACIÓN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BETO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TESORERÍA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ALLOWANCE ANA→CANJE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TOTALSUPPLY</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407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0 · acunar(ana, 100)</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407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 · ana.transfer(beto, 30)</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70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30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407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 ana.approve(canje, 25)</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70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30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25</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407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3 · canje.canjear()  (transferFrom)</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45</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30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25</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4074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4 · beto.burn(10)</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45</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25</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90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633472"/>
            <a:ext cx="11094415" cy="2551176"/>
          </a:xfrm>
          <a:prstGeom prst="rect">
            <a:avLst/>
          </a:prstGeom>
          <a:ln w="22225">
            <a:solidFill>
              <a:srgbClr val="0F0F11"/>
            </a:solidFill>
            <a:prstDash val="solid"/>
          </a:ln>
        </p:spPr>
      </p:sp>
      <p:sp>
        <p:nvSpPr>
          <p:cNvPr id="11" name="Shape 7"/>
          <p:cNvSpPr/>
          <p:nvPr/>
        </p:nvSpPr>
        <p:spPr>
          <a:xfrm>
            <a:off x="566928" y="5257800"/>
            <a:ext cx="11057839" cy="932688"/>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2" name="Image 1" descr="preencoded.png">    </p:cNvPr>
          <p:cNvPicPr>
            <a:picLocks noChangeAspect="1"/>
          </p:cNvPicPr>
          <p:nvPr/>
        </p:nvPicPr>
        <p:blipFill>
          <a:blip r:embed="rId2"/>
          <a:stretch>
            <a:fillRect/>
          </a:stretch>
        </p:blipFill>
        <p:spPr>
          <a:xfrm>
            <a:off x="804672" y="5477256"/>
            <a:ext cx="237744" cy="237744"/>
          </a:xfrm>
          <a:prstGeom prst="rect">
            <a:avLst/>
          </a:prstGeom>
        </p:spPr>
      </p:pic>
      <p:sp>
        <p:nvSpPr>
          <p:cNvPr id="13" name="Text 8"/>
          <p:cNvSpPr/>
          <p:nvPr/>
        </p:nvSpPr>
        <p:spPr>
          <a:xfrm>
            <a:off x="1133856" y="544982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QUÉ HAY QUE NOTAR</a:t>
            </a:r>
            <a:endParaRPr lang="en-US" sz="950" dirty="0"/>
          </a:p>
        </p:txBody>
      </p:sp>
      <p:sp>
        <p:nvSpPr>
          <p:cNvPr id="14" name="Text 9"/>
          <p:cNvSpPr/>
          <p:nvPr/>
        </p:nvSpPr>
        <p:spPr>
          <a:xfrm>
            <a:off x="804672" y="5769864"/>
            <a:ext cx="10582351" cy="32918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approve NO mueve tokens (fila 2): solo escribe en la tabla de allowances. Y solo acuñar y quemar cambian totalSupply.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LO QUE NO 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UN TOKEN NO ES UNA CUENTA CON MONEDAS DENTRO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Text 5"/>
          <p:cNvSpPr/>
          <p:nvPr/>
        </p:nvSpPr>
        <p:spPr>
          <a:xfrm>
            <a:off x="566928" y="1737360"/>
            <a:ext cx="11057839" cy="50292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error mental más común: creer que cada usuario «tiene» tokens en su billetera. No es así.</a:t>
            </a:r>
            <a:endParaRPr lang="en-US" sz="1450" dirty="0"/>
          </a:p>
        </p:txBody>
      </p:sp>
      <p:sp>
        <p:nvSpPr>
          <p:cNvPr id="9" name="Shape 6"/>
          <p:cNvSpPr/>
          <p:nvPr/>
        </p:nvSpPr>
        <p:spPr>
          <a:xfrm>
            <a:off x="566928" y="2377440"/>
            <a:ext cx="11057839" cy="594360"/>
          </a:xfrm>
          <a:prstGeom prst="rect">
            <a:avLst/>
          </a:prstGeom>
          <a:solidFill>
            <a:srgbClr val="F2F0F5"/>
          </a:solidFill>
          <a:ln w="12700">
            <a:solidFill>
              <a:srgbClr val="7152E9"/>
            </a:solidFill>
            <a:prstDash val="solid"/>
          </a:ln>
        </p:spPr>
      </p:sp>
      <p:sp>
        <p:nvSpPr>
          <p:cNvPr id="10" name="Text 7"/>
          <p:cNvSpPr/>
          <p:nvPr/>
        </p:nvSpPr>
        <p:spPr>
          <a:xfrm>
            <a:off x="731520" y="2450592"/>
            <a:ext cx="10728655" cy="448056"/>
          </a:xfrm>
          <a:prstGeom prst="rect">
            <a:avLst/>
          </a:prstGeom>
          <a:noFill/>
          <a:ln/>
        </p:spPr>
        <p:txBody>
          <a:bodyPr wrap="square" lIns="0" tIns="0" rIns="0" bIns="0" rtlCol="0" anchor="ctr"/>
          <a:lstStyle/>
          <a:p>
            <a:pPr indent="0" marL="0">
              <a:lnSpc>
                <a:spcPct val="120000"/>
              </a:lnSpc>
              <a:buNone/>
            </a:pPr>
            <a:r>
              <a:rPr lang="en-US" sz="1200" dirty="0">
                <a:solidFill>
                  <a:srgbClr val="3A3844"/>
                </a:solidFill>
                <a:latin typeface="Courier New" pitchFamily="34" charset="0"/>
                <a:ea typeface="Courier New" pitchFamily="34" charset="-122"/>
                <a:cs typeface="Courier New" pitchFamily="34" charset="-120"/>
              </a:rPr>
              <a:t>mapping(address =&gt; uint256) private _balances;   // TODO el token es esta tabla</a:t>
            </a:r>
            <a:endParaRPr lang="en-US" sz="1200" dirty="0"/>
          </a:p>
        </p:txBody>
      </p:sp>
      <p:sp>
        <p:nvSpPr>
          <p:cNvPr id="11" name="Shape 8"/>
          <p:cNvSpPr/>
          <p:nvPr/>
        </p:nvSpPr>
        <p:spPr>
          <a:xfrm>
            <a:off x="566928" y="3200400"/>
            <a:ext cx="5391760" cy="21031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9"/>
          <p:cNvSpPr/>
          <p:nvPr/>
        </p:nvSpPr>
        <p:spPr>
          <a:xfrm>
            <a:off x="841248" y="338328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DÓNDE VIVE EL TOKEN</a:t>
            </a:r>
            <a:endParaRPr lang="en-US" sz="1050" dirty="0"/>
          </a:p>
        </p:txBody>
      </p:sp>
      <p:sp>
        <p:nvSpPr>
          <p:cNvPr id="13" name="Text 10"/>
          <p:cNvSpPr/>
          <p:nvPr/>
        </p:nvSpPr>
        <p:spPr>
          <a:xfrm>
            <a:off x="841248" y="3767328"/>
            <a:ext cx="4843120" cy="13716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En UN contrato: la FichaUSB. Ese contrato guarda una tabla de saldos. Su billetera no contiene tokens: contiene la clave que autoriza a mover una fila de esa tabla.</a:t>
            </a:r>
            <a:endParaRPr lang="en-US" sz="1300" dirty="0"/>
          </a:p>
        </p:txBody>
      </p:sp>
      <p:sp>
        <p:nvSpPr>
          <p:cNvPr id="14" name="Shape 11"/>
          <p:cNvSpPr/>
          <p:nvPr/>
        </p:nvSpPr>
        <p:spPr>
          <a:xfrm>
            <a:off x="6233008" y="3200400"/>
            <a:ext cx="5391760" cy="21031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5" name="Text 12"/>
          <p:cNvSpPr/>
          <p:nvPr/>
        </p:nvSpPr>
        <p:spPr>
          <a:xfrm>
            <a:off x="6507328" y="33832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QUÉ SIGNIFICA «TRANSFERIR»</a:t>
            </a:r>
            <a:endParaRPr lang="en-US" sz="1050" dirty="0"/>
          </a:p>
        </p:txBody>
      </p:sp>
      <p:sp>
        <p:nvSpPr>
          <p:cNvPr id="16" name="Text 13"/>
          <p:cNvSpPr/>
          <p:nvPr/>
        </p:nvSpPr>
        <p:spPr>
          <a:xfrm>
            <a:off x="6507328" y="3767328"/>
            <a:ext cx="4843120" cy="13716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Restar de una fila y sumar a otra, dentro del mismo contrato. No se mueve nada de un lado a otro: se reescribe una tabla. Por eso una transferencia emite el evento Transfer.</a:t>
            </a:r>
            <a:endParaRPr lang="en-US" sz="1300" dirty="0"/>
          </a:p>
        </p:txBody>
      </p:sp>
      <p:sp>
        <p:nvSpPr>
          <p:cNvPr id="17" name="Shape 14"/>
          <p:cNvSpPr/>
          <p:nvPr/>
        </p:nvSpPr>
        <p:spPr>
          <a:xfrm>
            <a:off x="566928" y="5394960"/>
            <a:ext cx="11057839" cy="8229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8" name="Image 1" descr="preencoded.png">    </p:cNvPr>
          <p:cNvPicPr>
            <a:picLocks noChangeAspect="1"/>
          </p:cNvPicPr>
          <p:nvPr/>
        </p:nvPicPr>
        <p:blipFill>
          <a:blip r:embed="rId2"/>
          <a:stretch>
            <a:fillRect/>
          </a:stretch>
        </p:blipFill>
        <p:spPr>
          <a:xfrm>
            <a:off x="804672" y="5614416"/>
            <a:ext cx="237744" cy="237744"/>
          </a:xfrm>
          <a:prstGeom prst="rect">
            <a:avLst/>
          </a:prstGeom>
        </p:spPr>
      </p:pic>
      <p:sp>
        <p:nvSpPr>
          <p:cNvPr id="19" name="Text 15"/>
          <p:cNvSpPr/>
          <p:nvPr/>
        </p:nvSpPr>
        <p:spPr>
          <a:xfrm>
            <a:off x="1133856" y="55869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CONSECUENCIA PRÁCTICA</a:t>
            </a:r>
            <a:endParaRPr lang="en-US" sz="950" dirty="0"/>
          </a:p>
        </p:txBody>
      </p:sp>
      <p:sp>
        <p:nvSpPr>
          <p:cNvPr id="20" name="Text 16"/>
          <p:cNvSpPr/>
          <p:nvPr/>
        </p:nvSpPr>
        <p:spPr>
          <a:xfrm>
            <a:off x="804672" y="5907024"/>
            <a:ext cx="10582351" cy="2194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Para que una billetera «vea» un token, hay que darle la dirección del contrato: no está en la billetera, está en el contrato.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DECIMALES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POR QUÉ 1 TOKEN SON 1 000 000 000 000 000 000</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Text 5"/>
          <p:cNvSpPr/>
          <p:nvPr/>
        </p:nvSpPr>
        <p:spPr>
          <a:xfrm>
            <a:off x="566928" y="1737360"/>
            <a:ext cx="11057839" cy="6400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EVM no tiene coma flotante (Sesión 5). Un token con 18 decimales guarda internamente enteros enormes, y la coma es pura presentación.</a:t>
            </a:r>
            <a:endParaRPr lang="en-US" sz="1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514600"/>
          <a:ext cx="11057839" cy="914400"/>
        </p:xfrm>
        <a:graphic>
          <a:graphicData uri="http://schemas.openxmlformats.org/drawingml/2006/table">
            <a:tbl>
              <a:tblPr/>
              <a:tblGrid>
                <a:gridCol w="3931920"/>
                <a:gridCol w="7125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VE LA PERSONA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GUARDA EL CONTRATO (UNIDADES MÍNIMAS)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59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1 FUSB</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1 000 000 000 000 000 000  (1 × 10¹⁸)</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59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0,5 FUSB</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500 000 000 000 000 000</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59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0,000000000000000001 FUSB</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  (la unidad mínima, indivisible)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496312"/>
            <a:ext cx="11094415" cy="1865376"/>
          </a:xfrm>
          <a:prstGeom prst="rect">
            <a:avLst/>
          </a:prstGeom>
          <a:ln w="22225">
            <a:solidFill>
              <a:srgbClr val="0F0F11"/>
            </a:solidFill>
            <a:prstDash val="solid"/>
          </a:ln>
        </p:spPr>
      </p:sp>
      <p:sp>
        <p:nvSpPr>
          <p:cNvPr id="11" name="Shape 7"/>
          <p:cNvSpPr/>
          <p:nvPr/>
        </p:nvSpPr>
        <p:spPr>
          <a:xfrm>
            <a:off x="566928" y="4526280"/>
            <a:ext cx="11057839" cy="16916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4745736"/>
            <a:ext cx="237744" cy="237744"/>
          </a:xfrm>
          <a:prstGeom prst="rect">
            <a:avLst/>
          </a:prstGeom>
        </p:spPr>
      </p:pic>
      <p:sp>
        <p:nvSpPr>
          <p:cNvPr id="13" name="Text 8"/>
          <p:cNvSpPr/>
          <p:nvPr/>
        </p:nvSpPr>
        <p:spPr>
          <a:xfrm>
            <a:off x="1133856" y="47183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ERROR DE PRINCIPIANTE</a:t>
            </a:r>
            <a:endParaRPr lang="en-US" sz="950" dirty="0"/>
          </a:p>
        </p:txBody>
      </p:sp>
      <p:sp>
        <p:nvSpPr>
          <p:cNvPr id="14" name="Text 9"/>
          <p:cNvSpPr/>
          <p:nvPr/>
        </p:nvSpPr>
        <p:spPr>
          <a:xfrm>
            <a:off x="804672" y="5038344"/>
            <a:ext cx="10582351" cy="10881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Escribir acunar(ana, 100) pensando en 100 tokens, cuando la función espera unidades mínimas, acuña una fracción invisible (100 de 10¹⁸). Por eso el token del laboratorio recibe la cantidad EN TOKENS y multiplica por 10**decimals() adentro: la interfaz habla en tokens, el contrato en unidades mínimas. En ethers.js se usa parseUnits("1", 18) para escribir y formatUnits(v, 18) para leer.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A.4B · CONVERSIONES CALCULADAS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PARSEUNITS Y FORMATUNITS, CON NÚMEROS REALES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Text 5"/>
          <p:cNvSpPr/>
          <p:nvPr/>
        </p:nvSpPr>
        <p:spPr>
          <a:xfrm>
            <a:off x="566928" y="169164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En JavaScript nunca se multiplica a mano por 10¹⁸: se usan dos funciones de ethers. parseUnits va de lo humano al contrato; formatUnits, del contrato a lo humano. Salidas reales, ejecutadas con ethers 6:</a:t>
            </a:r>
            <a:endParaRPr lang="en-US" sz="1350" dirty="0"/>
          </a:p>
        </p:txBody>
      </p:sp>
      <p:sp>
        <p:nvSpPr>
          <p:cNvPr id="9" name="Shape 6"/>
          <p:cNvSpPr/>
          <p:nvPr/>
        </p:nvSpPr>
        <p:spPr>
          <a:xfrm>
            <a:off x="566928" y="2606040"/>
            <a:ext cx="11057839" cy="2377440"/>
          </a:xfrm>
          <a:prstGeom prst="rect">
            <a:avLst/>
          </a:prstGeom>
          <a:solidFill>
            <a:srgbClr val="16151B"/>
          </a:solidFill>
          <a:ln w="22225">
            <a:solidFill>
              <a:srgbClr val="16151B"/>
            </a:solidFill>
            <a:prstDash val="solid"/>
          </a:ln>
        </p:spPr>
      </p:sp>
      <p:sp>
        <p:nvSpPr>
          <p:cNvPr id="10" name="Text 7"/>
          <p:cNvSpPr/>
          <p:nvPr/>
        </p:nvSpPr>
        <p:spPr>
          <a:xfrm>
            <a:off x="768096" y="26791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ETHERS 6 · SALIDA REAL</a:t>
            </a:r>
            <a:endParaRPr lang="en-US" sz="850" dirty="0"/>
          </a:p>
        </p:txBody>
      </p:sp>
      <p:sp>
        <p:nvSpPr>
          <p:cNvPr id="11" name="Text 8"/>
          <p:cNvSpPr/>
          <p:nvPr/>
        </p:nvSpPr>
        <p:spPr>
          <a:xfrm>
            <a:off x="768096" y="2990088"/>
            <a:ext cx="10655503" cy="1883664"/>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parseUnits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"25"</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25000000000000000000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el precio del Canje</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parseUnits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100000000000000000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parseUnits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"1000000"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1000000000000000000000000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el tope</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parseUnits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"1.5"</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6</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1500000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un token de 6 decimales</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formatUnits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123456789000000000000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"123.456789"</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formatUnits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"0.0000000000000001"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el error de A.4</a:t>
            </a:r>
            <a:endParaRPr lang="en-US" sz="1100" dirty="0"/>
          </a:p>
        </p:txBody>
      </p:sp>
      <p:sp>
        <p:nvSpPr>
          <p:cNvPr id="12" name="Shape 9"/>
          <p:cNvSpPr/>
          <p:nvPr/>
        </p:nvSpPr>
        <p:spPr>
          <a:xfrm>
            <a:off x="566928" y="5120640"/>
            <a:ext cx="11057839" cy="1097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3"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14" name="Text 10"/>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TRES ERRORES TÍPICOS</a:t>
            </a:r>
            <a:endParaRPr lang="en-US" sz="950" dirty="0"/>
          </a:p>
        </p:txBody>
      </p:sp>
      <p:sp>
        <p:nvSpPr>
          <p:cNvPr id="15" name="Text 11"/>
          <p:cNvSpPr/>
          <p:nvPr/>
        </p:nvSpPr>
        <p:spPr>
          <a:xfrm>
            <a:off x="804672" y="5632704"/>
            <a:ext cx="10582351" cy="49377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(1) Usar Number en vez de BigInt: 25e18 no cabe exacto en un Number de JavaScript. (2) Suponer 18 decimales en un token de 6. (3) Pasar un string con coma («0,5»): parseUnits exige punto decimal.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EL PATRÓN DE APROBACIÓN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POR QUÉ TRANSFERIR EN DOS PASOS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transfer mueve MIS tokens. Pero, ¿cómo deja un usuario que un CONTRATO —un exchange, un canje— mueva los suyos, sin entregarle su clave privada? Con una autorización previa y acotada.</a:t>
            </a:r>
            <a:endParaRPr lang="en-US" sz="1400" dirty="0"/>
          </a:p>
        </p:txBody>
      </p:sp>
      <p:sp>
        <p:nvSpPr>
          <p:cNvPr id="9" name="Shape 6"/>
          <p:cNvSpPr/>
          <p:nvPr/>
        </p:nvSpPr>
        <p:spPr>
          <a:xfrm>
            <a:off x="566928" y="2788920"/>
            <a:ext cx="3200400" cy="914400"/>
          </a:xfrm>
          <a:prstGeom prst="rect">
            <a:avLst/>
          </a:prstGeom>
          <a:solidFill>
            <a:srgbClr val="FFFFFF"/>
          </a:solidFill>
          <a:ln w="22225">
            <a:solidFill>
              <a:srgbClr val="7152E9"/>
            </a:solidFill>
            <a:prstDash val="solid"/>
          </a:ln>
        </p:spPr>
      </p:sp>
      <p:sp>
        <p:nvSpPr>
          <p:cNvPr id="10" name="Text 7"/>
          <p:cNvSpPr/>
          <p:nvPr/>
        </p:nvSpPr>
        <p:spPr>
          <a:xfrm>
            <a:off x="658368" y="2880360"/>
            <a:ext cx="301752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1 · approve</a:t>
            </a:r>
            <a:endParaRPr lang="en-US" sz="1100" dirty="0"/>
          </a:p>
        </p:txBody>
      </p:sp>
      <p:sp>
        <p:nvSpPr>
          <p:cNvPr id="11" name="Text 8"/>
          <p:cNvSpPr/>
          <p:nvPr/>
        </p:nvSpPr>
        <p:spPr>
          <a:xfrm>
            <a:off x="658368" y="3191256"/>
            <a:ext cx="3017520" cy="43891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Ana autoriza al canje</a:t>
            </a:r>
            <a:endParaRPr lang="en-US" sz="1100" dirty="0"/>
          </a:p>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hasta 25 fichas</a:t>
            </a:r>
            <a:endParaRPr lang="en-US" sz="1100" dirty="0"/>
          </a:p>
        </p:txBody>
      </p:sp>
      <p:sp>
        <p:nvSpPr>
          <p:cNvPr id="12" name="Shape 9"/>
          <p:cNvSpPr/>
          <p:nvPr/>
        </p:nvSpPr>
        <p:spPr>
          <a:xfrm>
            <a:off x="3767328" y="3246120"/>
            <a:ext cx="731520" cy="914"/>
          </a:xfrm>
          <a:prstGeom prst="line">
            <a:avLst/>
          </a:prstGeom>
          <a:noFill/>
          <a:ln w="25400">
            <a:solidFill>
              <a:srgbClr val="0F0F11"/>
            </a:solidFill>
            <a:prstDash val="solid"/>
            <a:tailEnd type="triangle"/>
          </a:ln>
        </p:spPr>
      </p:sp>
      <p:sp>
        <p:nvSpPr>
          <p:cNvPr id="13" name="Shape 10"/>
          <p:cNvSpPr/>
          <p:nvPr/>
        </p:nvSpPr>
        <p:spPr>
          <a:xfrm>
            <a:off x="4498848" y="2788920"/>
            <a:ext cx="3383280" cy="914400"/>
          </a:xfrm>
          <a:prstGeom prst="rect">
            <a:avLst/>
          </a:prstGeom>
          <a:solidFill>
            <a:srgbClr val="FFFFFF"/>
          </a:solidFill>
          <a:ln w="22225">
            <a:solidFill>
              <a:srgbClr val="F07F06"/>
            </a:solidFill>
            <a:prstDash val="solid"/>
          </a:ln>
        </p:spPr>
      </p:sp>
      <p:sp>
        <p:nvSpPr>
          <p:cNvPr id="14" name="Text 11"/>
          <p:cNvSpPr/>
          <p:nvPr/>
        </p:nvSpPr>
        <p:spPr>
          <a:xfrm>
            <a:off x="4590288" y="2880360"/>
            <a:ext cx="32004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2 · transferFrom</a:t>
            </a:r>
            <a:endParaRPr lang="en-US" sz="1100" dirty="0"/>
          </a:p>
        </p:txBody>
      </p:sp>
      <p:sp>
        <p:nvSpPr>
          <p:cNvPr id="15" name="Text 12"/>
          <p:cNvSpPr/>
          <p:nvPr/>
        </p:nvSpPr>
        <p:spPr>
          <a:xfrm>
            <a:off x="4590288" y="3191256"/>
            <a:ext cx="3200400" cy="43891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el canje retira 25,</a:t>
            </a:r>
            <a:endParaRPr lang="en-US" sz="1100" dirty="0"/>
          </a:p>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ni una más</a:t>
            </a:r>
            <a:endParaRPr lang="en-US" sz="1100" dirty="0"/>
          </a:p>
        </p:txBody>
      </p:sp>
      <p:sp>
        <p:nvSpPr>
          <p:cNvPr id="16" name="Shape 13"/>
          <p:cNvSpPr/>
          <p:nvPr/>
        </p:nvSpPr>
        <p:spPr>
          <a:xfrm>
            <a:off x="7882128" y="3246120"/>
            <a:ext cx="731520" cy="914"/>
          </a:xfrm>
          <a:prstGeom prst="line">
            <a:avLst/>
          </a:prstGeom>
          <a:noFill/>
          <a:ln w="25400">
            <a:solidFill>
              <a:srgbClr val="0F0F11"/>
            </a:solidFill>
            <a:prstDash val="solid"/>
            <a:tailEnd type="triangle"/>
          </a:ln>
        </p:spPr>
      </p:sp>
      <p:sp>
        <p:nvSpPr>
          <p:cNvPr id="17" name="Shape 14"/>
          <p:cNvSpPr/>
          <p:nvPr/>
        </p:nvSpPr>
        <p:spPr>
          <a:xfrm>
            <a:off x="8613648" y="2788920"/>
            <a:ext cx="3011119" cy="914400"/>
          </a:xfrm>
          <a:prstGeom prst="rect">
            <a:avLst/>
          </a:prstGeom>
          <a:solidFill>
            <a:srgbClr val="FAF9FB"/>
          </a:solidFill>
          <a:ln w="22225">
            <a:solidFill>
              <a:srgbClr val="0F0F11"/>
            </a:solidFill>
            <a:prstDash val="solid"/>
          </a:ln>
        </p:spPr>
      </p:sp>
      <p:sp>
        <p:nvSpPr>
          <p:cNvPr id="18" name="Text 15"/>
          <p:cNvSpPr/>
          <p:nvPr/>
        </p:nvSpPr>
        <p:spPr>
          <a:xfrm>
            <a:off x="8705088" y="2880360"/>
            <a:ext cx="2828239"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allowance = 0</a:t>
            </a:r>
            <a:endParaRPr lang="en-US" sz="1100" dirty="0"/>
          </a:p>
        </p:txBody>
      </p:sp>
      <p:sp>
        <p:nvSpPr>
          <p:cNvPr id="19" name="Text 16"/>
          <p:cNvSpPr/>
          <p:nvPr/>
        </p:nvSpPr>
        <p:spPr>
          <a:xfrm>
            <a:off x="8705088" y="3191256"/>
            <a:ext cx="2828239" cy="43891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la autorización se gastó</a:t>
            </a:r>
            <a:endParaRPr lang="en-US" sz="1100" dirty="0"/>
          </a:p>
        </p:txBody>
      </p:sp>
      <p:sp>
        <p:nvSpPr>
          <p:cNvPr id="20" name="Shape 17"/>
          <p:cNvSpPr/>
          <p:nvPr/>
        </p:nvSpPr>
        <p:spPr>
          <a:xfrm>
            <a:off x="566928" y="4023360"/>
            <a:ext cx="11057839" cy="12344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21" name="Image 1" descr="preencoded.png">    </p:cNvPr>
          <p:cNvPicPr>
            <a:picLocks noChangeAspect="1"/>
          </p:cNvPicPr>
          <p:nvPr/>
        </p:nvPicPr>
        <p:blipFill>
          <a:blip r:embed="rId2"/>
          <a:stretch>
            <a:fillRect/>
          </a:stretch>
        </p:blipFill>
        <p:spPr>
          <a:xfrm>
            <a:off x="804672" y="4242816"/>
            <a:ext cx="237744" cy="237744"/>
          </a:xfrm>
          <a:prstGeom prst="rect">
            <a:avLst/>
          </a:prstGeom>
        </p:spPr>
      </p:pic>
      <p:sp>
        <p:nvSpPr>
          <p:cNvPr id="22" name="Text 18"/>
          <p:cNvSpPr/>
          <p:nvPr/>
        </p:nvSpPr>
        <p:spPr>
          <a:xfrm>
            <a:off x="1133856" y="4215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LO QUE HACE SEGURO EL PATRÓN</a:t>
            </a:r>
            <a:endParaRPr lang="en-US" sz="950" dirty="0"/>
          </a:p>
        </p:txBody>
      </p:sp>
      <p:sp>
        <p:nvSpPr>
          <p:cNvPr id="23" name="Text 19"/>
          <p:cNvSpPr/>
          <p:nvPr/>
        </p:nvSpPr>
        <p:spPr>
          <a:xfrm>
            <a:off x="804672" y="4535424"/>
            <a:ext cx="10582351" cy="63093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contrato NUNCA puede mover más de lo aprobado. Verificado en el laboratorio: un segundo canje sin volver a aprobar revierte. La clave privada de Ana no sale nunca de su billetera.</a:t>
            </a:r>
            <a:endParaRPr lang="en-US" sz="1300" dirty="0"/>
          </a:p>
        </p:txBody>
      </p:sp>
      <p:sp>
        <p:nvSpPr>
          <p:cNvPr id="24" name="Text 20"/>
          <p:cNvSpPr/>
          <p:nvPr/>
        </p:nvSpPr>
        <p:spPr>
          <a:xfrm>
            <a:off x="566928" y="539496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Así funcionan todos los intercambios descentralizados: primero autorizas al contrato del DEX, después el DEX mueve tus tokens al hacer el swap.</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A.5B · EL CANJE POR DENTRO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QUÉ PASA EXACTAMENTE EN CANJEAR()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737360"/>
            <a:ext cx="6675120" cy="2651760"/>
          </a:xfrm>
          <a:prstGeom prst="rect">
            <a:avLst/>
          </a:prstGeom>
          <a:solidFill>
            <a:srgbClr val="16151B"/>
          </a:solidFill>
          <a:ln w="22225">
            <a:solidFill>
              <a:srgbClr val="16151B"/>
            </a:solidFill>
            <a:prstDash val="solid"/>
          </a:ln>
        </p:spPr>
      </p:sp>
      <p:sp>
        <p:nvSpPr>
          <p:cNvPr id="9" name="Text 6"/>
          <p:cNvSpPr/>
          <p:nvPr/>
        </p:nvSpPr>
        <p:spPr>
          <a:xfrm>
            <a:off x="768096" y="1883664"/>
            <a:ext cx="6272784" cy="2395728"/>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canjear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el Canje es msg.sender para la ficha: es el GASTADOR</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transferFrom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tesoreria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precio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TransferenciaFallida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premiosDe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Canjeado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precio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0" name="Text 7"/>
          <p:cNvSpPr/>
          <p:nvPr/>
        </p:nvSpPr>
        <p:spPr>
          <a:xfrm>
            <a:off x="7470648" y="1737360"/>
            <a:ext cx="4154119" cy="269748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200" dirty="0">
                <a:solidFill>
                  <a:srgbClr val="3A3844"/>
                </a:solidFill>
                <a:latin typeface="Arial" pitchFamily="34" charset="0"/>
                <a:ea typeface="Arial" pitchFamily="34" charset="-122"/>
                <a:cs typeface="Arial" pitchFamily="34" charset="-120"/>
              </a:rPr>
              <a:t>Ana llama canjear(): para el Canje, msg.sender = Ana.</a:t>
            </a:r>
            <a:endParaRPr lang="en-US" sz="1200" dirty="0"/>
          </a:p>
          <a:p>
            <a:pPr marL="203200" indent="-203200">
              <a:lnSpc>
                <a:spcPct val="118000"/>
              </a:lnSpc>
              <a:spcAft>
                <a:spcPts val="600"/>
              </a:spcAft>
              <a:buSzPct val="100000"/>
              <a:buChar char="■"/>
            </a:pPr>
            <a:r>
              <a:rPr lang="en-US" sz="1200" dirty="0">
                <a:solidFill>
                  <a:srgbClr val="3A3844"/>
                </a:solidFill>
                <a:latin typeface="Arial" pitchFamily="34" charset="0"/>
                <a:ea typeface="Arial" pitchFamily="34" charset="-122"/>
                <a:cs typeface="Arial" pitchFamily="34" charset="-120"/>
              </a:rPr>
              <a:t>El Canje llama a la ficha: para la ficha, msg.sender = el Canje.</a:t>
            </a:r>
            <a:endParaRPr lang="en-US" sz="1200" dirty="0"/>
          </a:p>
          <a:p>
            <a:pPr marL="203200" indent="-203200">
              <a:lnSpc>
                <a:spcPct val="118000"/>
              </a:lnSpc>
              <a:spcAft>
                <a:spcPts val="600"/>
              </a:spcAft>
              <a:buSzPct val="100000"/>
              <a:buChar char="■"/>
            </a:pPr>
            <a:r>
              <a:rPr lang="en-US" sz="1200" dirty="0">
                <a:solidFill>
                  <a:srgbClr val="3A3844"/>
                </a:solidFill>
                <a:latin typeface="Arial" pitchFamily="34" charset="0"/>
                <a:ea typeface="Arial" pitchFamily="34" charset="-122"/>
                <a:cs typeface="Arial" pitchFamily="34" charset="-120"/>
              </a:rPr>
              <a:t>La ficha revisa allowance[Ana][Canje] ≥ 25, la descuenta y mueve 25 de Ana a la tesorería.</a:t>
            </a:r>
            <a:endParaRPr lang="en-US" sz="1200" dirty="0"/>
          </a:p>
          <a:p>
            <a:pPr marL="203200" indent="-203200">
              <a:lnSpc>
                <a:spcPct val="118000"/>
              </a:lnSpc>
              <a:spcAft>
                <a:spcPts val="600"/>
              </a:spcAft>
              <a:buSzPct val="100000"/>
              <a:buChar char="■"/>
            </a:pPr>
            <a:r>
              <a:rPr lang="en-US" sz="1200" dirty="0">
                <a:solidFill>
                  <a:srgbClr val="3A3844"/>
                </a:solidFill>
                <a:latin typeface="Arial" pitchFamily="34" charset="0"/>
                <a:ea typeface="Arial" pitchFamily="34" charset="-122"/>
                <a:cs typeface="Arial" pitchFamily="34" charset="-120"/>
              </a:rPr>
              <a:t>Si no alcanza, revierte TODO: no hay premio sin pago.</a:t>
            </a:r>
            <a:endParaRPr lang="en-US" sz="1200" dirty="0"/>
          </a:p>
        </p:txBody>
      </p:sp>
      <p:sp>
        <p:nvSpPr>
          <p:cNvPr id="11" name="Shape 8"/>
          <p:cNvSpPr/>
          <p:nvPr/>
        </p:nvSpPr>
        <p:spPr>
          <a:xfrm>
            <a:off x="566928" y="4572000"/>
            <a:ext cx="11057839" cy="16002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4791456"/>
            <a:ext cx="237744" cy="237744"/>
          </a:xfrm>
          <a:prstGeom prst="rect">
            <a:avLst/>
          </a:prstGeom>
        </p:spPr>
      </p:pic>
      <p:sp>
        <p:nvSpPr>
          <p:cNvPr id="13" name="Text 9"/>
          <p:cNvSpPr/>
          <p:nvPr/>
        </p:nvSpPr>
        <p:spPr>
          <a:xfrm>
            <a:off x="1133856" y="47640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ERROR TÍPICO DE QUIEN LO PROGRAMA</a:t>
            </a:r>
            <a:endParaRPr lang="en-US" sz="950" dirty="0"/>
          </a:p>
        </p:txBody>
      </p:sp>
      <p:sp>
        <p:nvSpPr>
          <p:cNvPr id="14" name="Text 10"/>
          <p:cNvSpPr/>
          <p:nvPr/>
        </p:nvSpPr>
        <p:spPr>
          <a:xfrm>
            <a:off x="804672" y="5084064"/>
            <a:ext cx="10582351" cy="99669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Escribir ficha.transferFrom(tesoreria, msg.sender, precio) —al revés—, o usar ficha.transfer(tesoreria, precio): eso intentaría mover los tokens DEL CANJE, que no tiene ninguno. El «de» de transferFrom es el usuario; quien gasta la autorización es el contrato que hace la llamada. Tampoco hace falta un require sobre la allowance: transferFrom ya revierte con ERC20InsufficientAllowance.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EL RIESGO DEL PATRÓN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APROBACIONES ILIMITADAS: COMODIDAD PELIGROSA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Text 5"/>
          <p:cNvSpPr/>
          <p:nvPr/>
        </p:nvSpPr>
        <p:spPr>
          <a:xfrm>
            <a:off x="566928" y="1737360"/>
            <a:ext cx="11057839" cy="54864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Muchas aplicaciones piden aprobar una cantidad gigante «para no molestar otra vez». Es cómodo, y es el origen de robos enormes.</a:t>
            </a:r>
            <a:endParaRPr lang="en-US" sz="1450" dirty="0"/>
          </a:p>
        </p:txBody>
      </p:sp>
      <p:sp>
        <p:nvSpPr>
          <p:cNvPr id="9" name="Shape 6"/>
          <p:cNvSpPr/>
          <p:nvPr/>
        </p:nvSpPr>
        <p:spPr>
          <a:xfrm>
            <a:off x="566928" y="2377440"/>
            <a:ext cx="5391760" cy="19659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0" name="Text 7"/>
          <p:cNvSpPr/>
          <p:nvPr/>
        </p:nvSpPr>
        <p:spPr>
          <a:xfrm>
            <a:off x="841248" y="256032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QUÉ PASA</a:t>
            </a:r>
            <a:endParaRPr lang="en-US" sz="1050" dirty="0"/>
          </a:p>
        </p:txBody>
      </p:sp>
      <p:sp>
        <p:nvSpPr>
          <p:cNvPr id="11" name="Text 8"/>
          <p:cNvSpPr/>
          <p:nvPr/>
        </p:nvSpPr>
        <p:spPr>
          <a:xfrm>
            <a:off x="841248" y="2944368"/>
            <a:ext cx="4843120" cy="12344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apruebas una cantidad ilimitada a un contrato, y ese contrato resulta malicioso o es hackeado más adelante, puede vaciar TODO tu saldo de ese token cuando quiera. La autorización sigue viva hasta que la revoques.</a:t>
            </a:r>
            <a:endParaRPr lang="en-US" sz="1250" dirty="0"/>
          </a:p>
        </p:txBody>
      </p:sp>
      <p:sp>
        <p:nvSpPr>
          <p:cNvPr id="12" name="Shape 9"/>
          <p:cNvSpPr/>
          <p:nvPr/>
        </p:nvSpPr>
        <p:spPr>
          <a:xfrm>
            <a:off x="6233008" y="2377440"/>
            <a:ext cx="5391760" cy="19659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5603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QUÉ HACER</a:t>
            </a:r>
            <a:endParaRPr lang="en-US" sz="1050" dirty="0"/>
          </a:p>
        </p:txBody>
      </p:sp>
      <p:sp>
        <p:nvSpPr>
          <p:cNvPr id="14" name="Text 11"/>
          <p:cNvSpPr/>
          <p:nvPr/>
        </p:nvSpPr>
        <p:spPr>
          <a:xfrm>
            <a:off x="6507328" y="2944368"/>
            <a:ext cx="4843120" cy="12344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Aprobar solo lo necesario para la operación. Revisar y revocar aprobaciones viejas (hay herramientas para verlas todas). Desconfiar de una app que pide aprobación ilimitada sin explicarlo.</a:t>
            </a:r>
            <a:endParaRPr lang="en-US" sz="1250" dirty="0"/>
          </a:p>
        </p:txBody>
      </p:sp>
      <p:sp>
        <p:nvSpPr>
          <p:cNvPr id="15" name="Shape 12"/>
          <p:cNvSpPr/>
          <p:nvPr/>
        </p:nvSpPr>
        <p:spPr>
          <a:xfrm>
            <a:off x="566928" y="4480560"/>
            <a:ext cx="11057839" cy="169164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6" name="Image 1" descr="preencoded.png">    </p:cNvPr>
          <p:cNvPicPr>
            <a:picLocks noChangeAspect="1"/>
          </p:cNvPicPr>
          <p:nvPr/>
        </p:nvPicPr>
        <p:blipFill>
          <a:blip r:embed="rId2"/>
          <a:stretch>
            <a:fillRect/>
          </a:stretch>
        </p:blipFill>
        <p:spPr>
          <a:xfrm>
            <a:off x="804672" y="4700016"/>
            <a:ext cx="237744" cy="237744"/>
          </a:xfrm>
          <a:prstGeom prst="rect">
            <a:avLst/>
          </a:prstGeom>
        </p:spPr>
      </p:pic>
      <p:sp>
        <p:nvSpPr>
          <p:cNvPr id="17" name="Text 13"/>
          <p:cNvSpPr/>
          <p:nvPr/>
        </p:nvSpPr>
        <p:spPr>
          <a:xfrm>
            <a:off x="1133856" y="467258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EL CASO REAL · BADGER DAO, DICIEMBRE DE 2021</a:t>
            </a:r>
            <a:endParaRPr lang="en-US" sz="950" dirty="0"/>
          </a:p>
        </p:txBody>
      </p:sp>
      <p:sp>
        <p:nvSpPr>
          <p:cNvPr id="18" name="Text 14"/>
          <p:cNvSpPr/>
          <p:nvPr/>
        </p:nvSpPr>
        <p:spPr>
          <a:xfrm>
            <a:off x="804672" y="4992624"/>
            <a:ext cx="10582351" cy="10881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front-end de Badger DAO fue comprometido (un script malicioso inyectado vía Cloudflare) y pedía a los usuarios firmar aprobaciones ILIMITADAS. Unas 500 billeteras aprobaron; el atacante usó transferFrom y drenó del orden de 120 millones de dólares. El contrato estaba bien: el robo entró por una aprobación excesiva que la gente firmó sin mirar. Regla: se entrega la aprobación más pequeña que sirva, y se revoca poniendo la allowance en cero.</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A.6B · VERIFICACIÓN · APROBACIONES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¿QUÉ PUEDE HACER EL CANJE CON ESTO?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Shape 5"/>
          <p:cNvSpPr/>
          <p:nvPr/>
        </p:nvSpPr>
        <p:spPr>
          <a:xfrm>
            <a:off x="566928" y="1737360"/>
            <a:ext cx="11057839" cy="173736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37160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Ana, «para no aprobar cada vez», autoriza al Canje por type(uint256).max. Canjea una vez (25). ¿Cuánto le queda de autorización, y qué podría hacer el Canje si mañana lo reemplazan por uno malicioso?</a:t>
            </a:r>
            <a:endParaRPr lang="en-US" sz="1800" dirty="0"/>
          </a:p>
        </p:txBody>
      </p:sp>
      <p:sp>
        <p:nvSpPr>
          <p:cNvPr id="10" name="Shape 7"/>
          <p:cNvSpPr/>
          <p:nvPr/>
        </p:nvSpPr>
        <p:spPr>
          <a:xfrm>
            <a:off x="566928" y="3657600"/>
            <a:ext cx="5391760" cy="25146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1" name="Text 8"/>
          <p:cNvSpPr/>
          <p:nvPr/>
        </p:nvSpPr>
        <p:spPr>
          <a:xfrm>
            <a:off x="841248" y="384048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LA RESPUESTA</a:t>
            </a:r>
            <a:endParaRPr lang="en-US" sz="1050" dirty="0"/>
          </a:p>
        </p:txBody>
      </p:sp>
      <p:sp>
        <p:nvSpPr>
          <p:cNvPr id="12" name="Text 9"/>
          <p:cNvSpPr/>
          <p:nvPr/>
        </p:nvSpPr>
        <p:spPr>
          <a:xfrm>
            <a:off x="841248" y="4224528"/>
            <a:ext cx="4843120" cy="17830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Le sigue quedando el máximo: en OpenZeppelin 5, una allowance igual a type(uint256).max se trata como INFINITA y no se descuenta al gastarse. El gastador puede mover TODO el saldo de Ana, hoy y dentro de un año.</a:t>
            </a:r>
            <a:endParaRPr lang="en-US" sz="1250" dirty="0"/>
          </a:p>
        </p:txBody>
      </p:sp>
      <p:sp>
        <p:nvSpPr>
          <p:cNvPr id="13" name="Shape 10"/>
          <p:cNvSpPr/>
          <p:nvPr/>
        </p:nvSpPr>
        <p:spPr>
          <a:xfrm>
            <a:off x="6233008" y="3657600"/>
            <a:ext cx="5391760" cy="25146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8404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LA LECCIÓN</a:t>
            </a:r>
            <a:endParaRPr lang="en-US" sz="1050" dirty="0"/>
          </a:p>
        </p:txBody>
      </p:sp>
      <p:sp>
        <p:nvSpPr>
          <p:cNvPr id="15" name="Text 12"/>
          <p:cNvSpPr/>
          <p:nvPr/>
        </p:nvSpPr>
        <p:spPr>
          <a:xfrm>
            <a:off x="6507328" y="4224528"/>
            <a:ext cx="4843120" cy="17830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Con una aprobación exacta (25), después del canje la allowance queda en 0 y no hay nada que robar. La aprobación ilimitada convierte cualquier fallo futuro del gastador en un robo de tu saldo completo. Es el mecanismo exacto de Badger.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LA CARRERA DEL APPROVE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CAMBIAR UNA APROBACIÓN DE 50 A 20</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Text 5"/>
          <p:cNvSpPr/>
          <p:nvPr/>
        </p:nvSpPr>
        <p:spPr>
          <a:xfrm>
            <a:off x="566928" y="169164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propio EIP-20 advierte de un riesgo de carrera. Ana aprobó 50 a Beto (un gastador) y decide bajarlo a 20. Parece inofensivo. Pero su transacción pasa por el mempool, a la vista (Sesión 9, A.12):</a:t>
            </a:r>
            <a:endParaRPr lang="en-US" sz="1350" dirty="0"/>
          </a:p>
        </p:txBody>
      </p:sp>
      <p:sp>
        <p:nvSpPr>
          <p:cNvPr id="9" name="Shape 6"/>
          <p:cNvSpPr/>
          <p:nvPr/>
        </p:nvSpPr>
        <p:spPr>
          <a:xfrm>
            <a:off x="566928" y="2606040"/>
            <a:ext cx="11057839" cy="566928"/>
          </a:xfrm>
          <a:prstGeom prst="rect">
            <a:avLst/>
          </a:prstGeom>
          <a:solidFill>
            <a:srgbClr val="FFFFFF"/>
          </a:solidFill>
          <a:ln w="15875">
            <a:solidFill>
              <a:srgbClr val="D9D6E0"/>
            </a:solidFill>
            <a:prstDash val="solid"/>
          </a:ln>
        </p:spPr>
      </p:sp>
      <p:sp>
        <p:nvSpPr>
          <p:cNvPr id="10" name="Text 7"/>
          <p:cNvSpPr/>
          <p:nvPr/>
        </p:nvSpPr>
        <p:spPr>
          <a:xfrm>
            <a:off x="694944" y="2606040"/>
            <a:ext cx="548640" cy="56692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743200"/>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ANA ENVÍA APPROVE(BETO, 20)</a:t>
            </a:r>
            <a:endParaRPr lang="en-US" sz="1000" dirty="0"/>
          </a:p>
        </p:txBody>
      </p:sp>
      <p:sp>
        <p:nvSpPr>
          <p:cNvPr id="12" name="Text 9"/>
          <p:cNvSpPr/>
          <p:nvPr/>
        </p:nvSpPr>
        <p:spPr>
          <a:xfrm>
            <a:off x="4389120" y="2697480"/>
            <a:ext cx="7125919" cy="42062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Su transacción queda pendiente en el mempool. La allowance todavía vale 50.</a:t>
            </a:r>
            <a:endParaRPr lang="en-US" sz="1200" dirty="0"/>
          </a:p>
        </p:txBody>
      </p:sp>
      <p:sp>
        <p:nvSpPr>
          <p:cNvPr id="13" name="Shape 10"/>
          <p:cNvSpPr/>
          <p:nvPr/>
        </p:nvSpPr>
        <p:spPr>
          <a:xfrm>
            <a:off x="566928" y="3264408"/>
            <a:ext cx="11057839" cy="566928"/>
          </a:xfrm>
          <a:prstGeom prst="rect">
            <a:avLst/>
          </a:prstGeom>
          <a:solidFill>
            <a:srgbClr val="FAF9FB"/>
          </a:solidFill>
          <a:ln w="15875">
            <a:solidFill>
              <a:srgbClr val="D9D6E0"/>
            </a:solidFill>
            <a:prstDash val="solid"/>
          </a:ln>
        </p:spPr>
      </p:sp>
      <p:sp>
        <p:nvSpPr>
          <p:cNvPr id="14" name="Text 11"/>
          <p:cNvSpPr/>
          <p:nvPr/>
        </p:nvSpPr>
        <p:spPr>
          <a:xfrm>
            <a:off x="694944" y="3264408"/>
            <a:ext cx="548640" cy="56692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401568"/>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BETO LA VE Y SE ADELANTA</a:t>
            </a:r>
            <a:endParaRPr lang="en-US" sz="1000" dirty="0"/>
          </a:p>
        </p:txBody>
      </p:sp>
      <p:sp>
        <p:nvSpPr>
          <p:cNvPr id="16" name="Text 13"/>
          <p:cNvSpPr/>
          <p:nvPr/>
        </p:nvSpPr>
        <p:spPr>
          <a:xfrm>
            <a:off x="4389120" y="3355848"/>
            <a:ext cx="7125919" cy="42062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Envía transferFrom(ana, beto, 50) con más gas: entra ANTES. Se lleva los 50 viejos.</a:t>
            </a:r>
            <a:endParaRPr lang="en-US" sz="1200" dirty="0"/>
          </a:p>
        </p:txBody>
      </p:sp>
      <p:sp>
        <p:nvSpPr>
          <p:cNvPr id="17" name="Shape 14"/>
          <p:cNvSpPr/>
          <p:nvPr/>
        </p:nvSpPr>
        <p:spPr>
          <a:xfrm>
            <a:off x="566928" y="3922776"/>
            <a:ext cx="11057839" cy="566928"/>
          </a:xfrm>
          <a:prstGeom prst="rect">
            <a:avLst/>
          </a:prstGeom>
          <a:solidFill>
            <a:srgbClr val="FFFFFF"/>
          </a:solidFill>
          <a:ln w="15875">
            <a:solidFill>
              <a:srgbClr val="D9D6E0"/>
            </a:solidFill>
            <a:prstDash val="solid"/>
          </a:ln>
        </p:spPr>
      </p:sp>
      <p:sp>
        <p:nvSpPr>
          <p:cNvPr id="18" name="Text 15"/>
          <p:cNvSpPr/>
          <p:nvPr/>
        </p:nvSpPr>
        <p:spPr>
          <a:xfrm>
            <a:off x="694944" y="3922776"/>
            <a:ext cx="548640" cy="56692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059936"/>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 CONFIRMA LA DE ANA</a:t>
            </a:r>
            <a:endParaRPr lang="en-US" sz="1000" dirty="0"/>
          </a:p>
        </p:txBody>
      </p:sp>
      <p:sp>
        <p:nvSpPr>
          <p:cNvPr id="20" name="Text 17"/>
          <p:cNvSpPr/>
          <p:nvPr/>
        </p:nvSpPr>
        <p:spPr>
          <a:xfrm>
            <a:off x="4389120" y="4014216"/>
            <a:ext cx="7125919" cy="42062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approve escribe 20 (no resta: SOBRESCRIBE). Beto tiene una allowance nueva de 20.</a:t>
            </a:r>
            <a:endParaRPr lang="en-US" sz="1200" dirty="0"/>
          </a:p>
        </p:txBody>
      </p:sp>
      <p:sp>
        <p:nvSpPr>
          <p:cNvPr id="21" name="Shape 18"/>
          <p:cNvSpPr/>
          <p:nvPr/>
        </p:nvSpPr>
        <p:spPr>
          <a:xfrm>
            <a:off x="566928" y="4581144"/>
            <a:ext cx="11057839" cy="566928"/>
          </a:xfrm>
          <a:prstGeom prst="rect">
            <a:avLst/>
          </a:prstGeom>
          <a:solidFill>
            <a:srgbClr val="FAF9FB"/>
          </a:solidFill>
          <a:ln w="15875">
            <a:solidFill>
              <a:srgbClr val="D9D6E0"/>
            </a:solidFill>
            <a:prstDash val="solid"/>
          </a:ln>
        </p:spPr>
      </p:sp>
      <p:sp>
        <p:nvSpPr>
          <p:cNvPr id="22" name="Text 19"/>
          <p:cNvSpPr/>
          <p:nvPr/>
        </p:nvSpPr>
        <p:spPr>
          <a:xfrm>
            <a:off x="694944" y="4581144"/>
            <a:ext cx="548640" cy="56692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4718304"/>
            <a:ext cx="28346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BETO GASTA OTRA VEZ</a:t>
            </a:r>
            <a:endParaRPr lang="en-US" sz="1000" dirty="0"/>
          </a:p>
        </p:txBody>
      </p:sp>
      <p:sp>
        <p:nvSpPr>
          <p:cNvPr id="24" name="Text 21"/>
          <p:cNvSpPr/>
          <p:nvPr/>
        </p:nvSpPr>
        <p:spPr>
          <a:xfrm>
            <a:off x="4389120" y="4672584"/>
            <a:ext cx="7125919" cy="42062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transferFrom(ana, beto, 20). Total: 70. Ana quería autorizar como máximo 50.</a:t>
            </a:r>
            <a:endParaRPr lang="en-US" sz="1200" dirty="0"/>
          </a:p>
        </p:txBody>
      </p:sp>
      <p:sp>
        <p:nvSpPr>
          <p:cNvPr id="25" name="Shape 22"/>
          <p:cNvSpPr/>
          <p:nvPr/>
        </p:nvSpPr>
        <p:spPr>
          <a:xfrm>
            <a:off x="566928" y="5257800"/>
            <a:ext cx="11057839" cy="932688"/>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26" name="Image 1" descr="preencoded.png">    </p:cNvPr>
          <p:cNvPicPr>
            <a:picLocks noChangeAspect="1"/>
          </p:cNvPicPr>
          <p:nvPr/>
        </p:nvPicPr>
        <p:blipFill>
          <a:blip r:embed="rId2"/>
          <a:stretch>
            <a:fillRect/>
          </a:stretch>
        </p:blipFill>
        <p:spPr>
          <a:xfrm>
            <a:off x="804672" y="5477256"/>
            <a:ext cx="237744" cy="237744"/>
          </a:xfrm>
          <a:prstGeom prst="rect">
            <a:avLst/>
          </a:prstGeom>
        </p:spPr>
      </p:pic>
      <p:sp>
        <p:nvSpPr>
          <p:cNvPr id="27" name="Text 23"/>
          <p:cNvSpPr/>
          <p:nvPr/>
        </p:nvSpPr>
        <p:spPr>
          <a:xfrm>
            <a:off x="1133856" y="544982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IDEA LLANA</a:t>
            </a:r>
            <a:endParaRPr lang="en-US" sz="950" dirty="0"/>
          </a:p>
        </p:txBody>
      </p:sp>
      <p:sp>
        <p:nvSpPr>
          <p:cNvPr id="28" name="Text 24"/>
          <p:cNvSpPr/>
          <p:nvPr/>
        </p:nvSpPr>
        <p:spPr>
          <a:xfrm>
            <a:off x="804672" y="5769864"/>
            <a:ext cx="10582351" cy="32918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approve no dice «cambia de 50 a 20»; dice «ahora son 20», sin saber cuánto se gastó ya.</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A.7B · LAS SALIDAS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CÓMO CAMBIAR UNA APROBACIÓN SIN REGALAR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651760"/>
                <a:gridCol w="4389120"/>
                <a:gridCol w="40169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OPCIÓN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FUNCIONA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TRADE-OFF</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73380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Pasar por 0</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approve(g, 0), confirmar, mirar cuánto gastó g, y recién entonces approve(g, M).</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Dos transacciones, pero decides M sabiendo lo gastado. Lo recomienda el EIP-20.</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3380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increase / decreaseAllowance</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Sumar o restar a la allowance en vez de sobrescribirla.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Existían en OpenZeppelin 4. Se QUITARON de ERC20 en OZ 5 (no son del estándar y se usaron en phishing).</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3380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SafeERC20 (lado del contrato)</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forceApprove y safeIncreaseAllowance, para contratos que aprueban a otros.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Es una librería para quien LLAMA al token, no una función del token.</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33806">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Aprobar exacto y a tiempo</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Aprobar solo lo que se va a gastar, justo antes de usarlo (o con Permit).</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La allowance vive poco y vale poco: casi nada que correr.</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282696"/>
          </a:xfrm>
          <a:prstGeom prst="rect">
            <a:avLst/>
          </a:prstGeom>
          <a:ln w="22225">
            <a:solidFill>
              <a:srgbClr val="0F0F11"/>
            </a:solidFill>
            <a:prstDash val="solid"/>
          </a:ln>
        </p:spPr>
      </p:sp>
      <p:sp>
        <p:nvSpPr>
          <p:cNvPr id="10" name="Shape 6"/>
          <p:cNvSpPr/>
          <p:nvPr/>
        </p:nvSpPr>
        <p:spPr>
          <a:xfrm>
            <a:off x="566928" y="5074920"/>
            <a:ext cx="11057839" cy="1143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2" name="Text 7"/>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ERROR TÍPICO: COPIAR UN TUTORIAL VIEJO</a:t>
            </a:r>
            <a:endParaRPr lang="en-US" sz="950" dirty="0"/>
          </a:p>
        </p:txBody>
      </p:sp>
      <p:sp>
        <p:nvSpPr>
          <p:cNvPr id="13" name="Text 8"/>
          <p:cNvSpPr/>
          <p:nvPr/>
        </p:nvSpPr>
        <p:spPr>
          <a:xfrm>
            <a:off x="804672" y="5586984"/>
            <a:ext cx="10582351" cy="53949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Muchos tutoriales llaman token.increaseAllowance(...). Con OpenZeppelin 5.6.1 (el del curso) eso no compila: la función ya no existe en ERC20.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EL TOKEN, CASI ENTERO HEREDADO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OPENZEPPELIN: COMPONER EXTENSIONES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1737360"/>
            <a:ext cx="7315200" cy="3931920"/>
          </a:xfrm>
          <a:prstGeom prst="rect">
            <a:avLst/>
          </a:prstGeom>
          <a:solidFill>
            <a:srgbClr val="16151B"/>
          </a:solidFill>
          <a:ln w="22225">
            <a:solidFill>
              <a:srgbClr val="16151B"/>
            </a:solidFill>
            <a:prstDash val="solid"/>
          </a:ln>
        </p:spPr>
      </p:sp>
      <p:sp>
        <p:nvSpPr>
          <p:cNvPr id="9" name="Text 6"/>
          <p:cNvSpPr/>
          <p:nvPr/>
        </p:nvSpPr>
        <p:spPr>
          <a:xfrm>
            <a:off x="768096" y="1883664"/>
            <a:ext cx="6912864" cy="3675888"/>
          </a:xfrm>
          <a:prstGeom prst="rect">
            <a:avLst/>
          </a:prstGeom>
          <a:noFill/>
          <a:ln/>
        </p:spPr>
        <p:txBody>
          <a:bodyPr wrap="square" lIns="0" tIns="0" rIns="0" bIns="0" rtlCol="0" anchor="t"/>
          <a:lstStyle/>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contract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FichaUSB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ERC20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ERC20Burnable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ERC20Capped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Ownable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constructor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topeEnTokens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ERC20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"Ficha 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"FUSB"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ERC20Capped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topeEnTokens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decimals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Ownable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acunar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cant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onlyOwner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_mint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cant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decimals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_update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internal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override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ERC20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ERC20Capped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super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_update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0" name="Text 7"/>
          <p:cNvSpPr/>
          <p:nvPr/>
        </p:nvSpPr>
        <p:spPr>
          <a:xfrm>
            <a:off x="8156448" y="1737360"/>
            <a:ext cx="3468319" cy="3931920"/>
          </a:xfrm>
          <a:prstGeom prst="rect">
            <a:avLst/>
          </a:prstGeom>
          <a:noFill/>
          <a:ln/>
        </p:spPr>
        <p:txBody>
          <a:bodyPr wrap="square" lIns="0" tIns="0" rIns="0" bIns="0" rtlCol="0" anchor="t"/>
          <a:lstStyle/>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ERC20: las seis funciones.</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Burnable: quemar los propios.</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Capped: tope de emisión.</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Ownable: solo el dueño acuña.</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Lo único propio: acunar y el _update que compone las extensiones.</a:t>
            </a:r>
            <a:endParaRPr lang="en-US" sz="1200" dirty="0"/>
          </a:p>
        </p:txBody>
      </p:sp>
      <p:sp>
        <p:nvSpPr>
          <p:cNvPr id="11" name="Text 8"/>
          <p:cNvSpPr/>
          <p:nvPr/>
        </p:nvSpPr>
        <p:spPr>
          <a:xfrm>
            <a:off x="566928" y="5806440"/>
            <a:ext cx="11057839" cy="411480"/>
          </a:xfrm>
          <a:prstGeom prst="rect">
            <a:avLst/>
          </a:prstGeom>
          <a:noFill/>
          <a:ln/>
        </p:spPr>
        <p:txBody>
          <a:bodyPr wrap="square" lIns="0" tIns="0" rIns="0" bIns="0" rtlCol="0" anchor="t"/>
          <a:lstStyle/>
          <a:p>
            <a:pPr indent="0" marL="0">
              <a:lnSpc>
                <a:spcPct val="124000"/>
              </a:lnSpc>
              <a:buNone/>
            </a:pPr>
            <a:r>
              <a:rPr lang="en-US" sz="1150" dirty="0">
                <a:solidFill>
                  <a:srgbClr val="A35604"/>
                </a:solidFill>
                <a:latin typeface="Arial" pitchFamily="34" charset="0"/>
                <a:ea typeface="Arial" pitchFamily="34" charset="-122"/>
                <a:cs typeface="Arial" pitchFamily="34" charset="-120"/>
              </a:rPr>
              <a:t>El _update override es obligatorio en OpenZeppelin v5: al mezclar ERC20 y Capped hay que decir cuál gana. Sin él, no compila — a propósito, para entender que las extensiones se componen aquí.</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EL CATÁLOGO DE EXTENSIONES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QUÉ AÑADE CADA PIEZA DE OPENZEPPELIN</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743200"/>
                <a:gridCol w="4754880"/>
                <a:gridCol w="35597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EXTENSIÓN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AÑADE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CUÁNDO USARLA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995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ERC20Burnable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burn y burnFrom: destruir tokens propios o aprobados.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Puntos que se canjean o retiran de circulación.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995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ERC20Capped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tope máximo de emisión que nunca se supera.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Cuando prometes escasez: oferta con techo.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995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ERC20Pausable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Congelar todas las transferencias ante una emergencia.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Si necesitas un «freno» (con su propio riesgo de centralización).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995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ERC20Permit (EIP-2612)</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Aprobar con una FIRMA fuera de la cadena, sin transacción de approve.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Mejor experiencia: una sola transacción hace todo.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145536"/>
          </a:xfrm>
          <a:prstGeom prst="rect">
            <a:avLst/>
          </a:prstGeom>
          <a:ln w="22225">
            <a:solidFill>
              <a:srgbClr val="0F0F11"/>
            </a:solidFill>
            <a:prstDash val="solid"/>
          </a:ln>
        </p:spPr>
      </p:sp>
      <p:sp>
        <p:nvSpPr>
          <p:cNvPr id="10" name="Shape 6"/>
          <p:cNvSpPr/>
          <p:nvPr/>
        </p:nvSpPr>
        <p:spPr>
          <a:xfrm>
            <a:off x="566928" y="4983480"/>
            <a:ext cx="11057839" cy="1188720"/>
          </a:xfrm>
          <a:prstGeom prst="rect">
            <a:avLst/>
          </a:prstGeom>
          <a:solidFill>
            <a:srgbClr val="F2F0F5"/>
          </a:solidFill>
          <a:ln w="22225">
            <a:solidFill>
              <a:srgbClr val="0F0F11"/>
            </a:solidFill>
            <a:prstDash val="solid"/>
          </a:ln>
        </p:spPr>
      </p:sp>
      <p:pic>
        <p:nvPicPr>
          <p:cNvPr id="11"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2" name="Text 7"/>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COMPONER, NO REESCRIBIR</a:t>
            </a:r>
            <a:endParaRPr lang="en-US" sz="950" dirty="0"/>
          </a:p>
        </p:txBody>
      </p:sp>
      <p:sp>
        <p:nvSpPr>
          <p:cNvPr id="13" name="Text 8"/>
          <p:cNvSpPr/>
          <p:nvPr/>
        </p:nvSpPr>
        <p:spPr>
          <a:xfrm>
            <a:off x="804672" y="5495544"/>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Se heredan las que se necesitan y se combinan. Cada una está auditada por separado. La habilidad no es escribir un ERC-20 desde cero —eso es un antipatrón— sino elegir y componer las extensiones correctas para tu problema.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A.9B · CADA EXTENSIÓN TIENE SU PRECIO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BURNABLE, CAPPED Y PAUSABLE: LOS TRADE-OFFS</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1737360"/>
                <a:gridCol w="3017520"/>
                <a:gridCol w="3474720"/>
                <a:gridCol w="2828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EXTENSIÓN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GANAS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CUESTA O ARRIESGA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EJEMPLO EN FICHAUSB</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993648">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Burnable</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Sacar unidades de circulación: canjes, retiros, deflación.</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La quema es irreversible; burnFrom exige allowance (otra aprobación que vigilar).</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Ana quema 40 → balance y totalSupply bajan 40.</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93648">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Capped</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Escasez creíble: nadie puede emitir por encima del tope, ni el dueño.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Si el tope es muy bajo, el proyecto se queda sin emisión. Cambiarlo exige otro contrato.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Tope 1 000 000: acuñar 1 más revierte con ERC20ExceededCap.</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993648">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Pausable</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Un freno de emergencia: congelar todas las transferencias.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Quien tiene el freno puede congelar el dinero de todos: es poder centralizado.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FichaUSB NO la usa, a propósito: no hay freno que abusar.</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328416"/>
          </a:xfrm>
          <a:prstGeom prst="rect">
            <a:avLst/>
          </a:prstGeom>
          <a:ln w="22225">
            <a:solidFill>
              <a:srgbClr val="0F0F11"/>
            </a:solidFill>
            <a:prstDash val="solid"/>
          </a:ln>
        </p:spPr>
      </p:sp>
      <p:sp>
        <p:nvSpPr>
          <p:cNvPr id="10" name="Shape 6"/>
          <p:cNvSpPr/>
          <p:nvPr/>
        </p:nvSpPr>
        <p:spPr>
          <a:xfrm>
            <a:off x="566928" y="5166360"/>
            <a:ext cx="11057839" cy="102412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385816"/>
            <a:ext cx="237744" cy="237744"/>
          </a:xfrm>
          <a:prstGeom prst="rect">
            <a:avLst/>
          </a:prstGeom>
        </p:spPr>
      </p:pic>
      <p:sp>
        <p:nvSpPr>
          <p:cNvPr id="12" name="Text 7"/>
          <p:cNvSpPr/>
          <p:nvPr/>
        </p:nvSpPr>
        <p:spPr>
          <a:xfrm>
            <a:off x="1133856" y="535838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ERROR TÍPICO CON CAPPED</a:t>
            </a:r>
            <a:endParaRPr lang="en-US" sz="950" dirty="0"/>
          </a:p>
        </p:txBody>
      </p:sp>
      <p:sp>
        <p:nvSpPr>
          <p:cNvPr id="13" name="Text 8"/>
          <p:cNvSpPr/>
          <p:nvPr/>
        </p:nvSpPr>
        <p:spPr>
          <a:xfrm>
            <a:off x="804672" y="5678424"/>
            <a:ext cx="10582351" cy="420624"/>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Creer que el tope cuenta lo acuñado en la historia. Cuenta el suministro VIVO: si se queman 10 con el tope lleno, se pueden volver a acuñar 10. Lo demuestra la prueba ★ «quemar libera espacio bajo el tope».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APROBAR CON UNA FIRMA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EIP-2612 PERMIT: UN PASO MENOS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patrón clásico exige DOS transacciones: aprobar y luego usar. Permit deja aprobar con una FIRMA fuera de la cadena, que el contrato verifica al usarla. El usuario firma gratis; una sola transacción hace todo.</a:t>
            </a:r>
            <a:endParaRPr lang="en-US" sz="1400" dirty="0"/>
          </a:p>
        </p:txBody>
      </p:sp>
      <p:sp>
        <p:nvSpPr>
          <p:cNvPr id="9" name="Shape 6"/>
          <p:cNvSpPr/>
          <p:nvPr/>
        </p:nvSpPr>
        <p:spPr>
          <a:xfrm>
            <a:off x="566928" y="2788920"/>
            <a:ext cx="5391760" cy="19202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9718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SIN PERMIT</a:t>
            </a:r>
            <a:endParaRPr lang="en-US" sz="1050" dirty="0"/>
          </a:p>
        </p:txBody>
      </p:sp>
      <p:sp>
        <p:nvSpPr>
          <p:cNvPr id="11" name="Text 8"/>
          <p:cNvSpPr/>
          <p:nvPr/>
        </p:nvSpPr>
        <p:spPr>
          <a:xfrm>
            <a:off x="841248" y="3355848"/>
            <a:ext cx="4843120" cy="118872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Transacción 1: approve (cuesta gas).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Transacción 2: la operación (cuesta gas).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Dos confirmaciones en la billetera.</a:t>
            </a:r>
            <a:endParaRPr lang="en-US" sz="1250" dirty="0"/>
          </a:p>
        </p:txBody>
      </p:sp>
      <p:sp>
        <p:nvSpPr>
          <p:cNvPr id="12" name="Shape 9"/>
          <p:cNvSpPr/>
          <p:nvPr/>
        </p:nvSpPr>
        <p:spPr>
          <a:xfrm>
            <a:off x="6233008" y="2788920"/>
            <a:ext cx="5391760" cy="1920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9718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CON PERMIT (EIP-2612)</a:t>
            </a:r>
            <a:endParaRPr lang="en-US" sz="1050" dirty="0"/>
          </a:p>
        </p:txBody>
      </p:sp>
      <p:sp>
        <p:nvSpPr>
          <p:cNvPr id="14" name="Text 11"/>
          <p:cNvSpPr/>
          <p:nvPr/>
        </p:nvSpPr>
        <p:spPr>
          <a:xfrm>
            <a:off x="6507328" y="3355848"/>
            <a:ext cx="4843120" cy="118872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Una firma fuera de la cadena (gratis, sin gas).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Transacción única: la operación incluye la aprobación.</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La firma usa EIP-712, que veremos en la Sesión 13.</a:t>
            </a:r>
            <a:endParaRPr lang="en-US" sz="1250" dirty="0"/>
          </a:p>
        </p:txBody>
      </p:sp>
      <p:sp>
        <p:nvSpPr>
          <p:cNvPr id="15" name="Text 12"/>
          <p:cNvSpPr/>
          <p:nvPr/>
        </p:nvSpPr>
        <p:spPr>
          <a:xfrm>
            <a:off x="566928" y="4892040"/>
            <a:ext cx="11057839" cy="7315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OpenZeppelin lo trae en la extensión ERC20Permit. Lo propuso Martin Lundfall en 2020, es estándar «Final», y hoy lo usan casi todos los tokens grandes. En el proyecto es opcional, pero mejora mucho la experiencia.</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A.10B · PERMIT PASO A PASO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EL FLUJO DE UNA APROBACIÓN FIRMADA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Shape 5"/>
          <p:cNvSpPr/>
          <p:nvPr/>
        </p:nvSpPr>
        <p:spPr>
          <a:xfrm>
            <a:off x="566928" y="1737360"/>
            <a:ext cx="11057839" cy="658368"/>
          </a:xfrm>
          <a:prstGeom prst="rect">
            <a:avLst/>
          </a:prstGeom>
          <a:solidFill>
            <a:srgbClr val="FFFFFF"/>
          </a:solidFill>
          <a:ln w="15875">
            <a:solidFill>
              <a:srgbClr val="D9D6E0"/>
            </a:solidFill>
            <a:prstDash val="solid"/>
          </a:ln>
        </p:spPr>
      </p:sp>
      <p:sp>
        <p:nvSpPr>
          <p:cNvPr id="9" name="Text 6"/>
          <p:cNvSpPr/>
          <p:nvPr/>
        </p:nvSpPr>
        <p:spPr>
          <a:xfrm>
            <a:off x="694944" y="173736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20240"/>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ANA FIRMA, SIN GAS</a:t>
            </a:r>
            <a:endParaRPr lang="en-US" sz="1000" dirty="0"/>
          </a:p>
        </p:txBody>
      </p:sp>
      <p:sp>
        <p:nvSpPr>
          <p:cNvPr id="11" name="Text 8"/>
          <p:cNvSpPr/>
          <p:nvPr/>
        </p:nvSpPr>
        <p:spPr>
          <a:xfrm>
            <a:off x="4114800" y="1828800"/>
            <a:ext cx="7400239" cy="512064"/>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Su billetera muestra un mensaje estructurado (EIP-712): dueño, gastador, valor, nonce y fecha límite. Firma fuera de la cadena.</a:t>
            </a:r>
            <a:endParaRPr lang="en-US" sz="1150" dirty="0"/>
          </a:p>
        </p:txBody>
      </p:sp>
      <p:sp>
        <p:nvSpPr>
          <p:cNvPr id="12" name="Shape 9"/>
          <p:cNvSpPr/>
          <p:nvPr/>
        </p:nvSpPr>
        <p:spPr>
          <a:xfrm>
            <a:off x="566928" y="2468880"/>
            <a:ext cx="11057839" cy="658368"/>
          </a:xfrm>
          <a:prstGeom prst="rect">
            <a:avLst/>
          </a:prstGeom>
          <a:solidFill>
            <a:srgbClr val="FAF9FB"/>
          </a:solidFill>
          <a:ln w="15875">
            <a:solidFill>
              <a:srgbClr val="D9D6E0"/>
            </a:solidFill>
            <a:prstDash val="solid"/>
          </a:ln>
        </p:spPr>
      </p:sp>
      <p:sp>
        <p:nvSpPr>
          <p:cNvPr id="13" name="Text 10"/>
          <p:cNvSpPr/>
          <p:nvPr/>
        </p:nvSpPr>
        <p:spPr>
          <a:xfrm>
            <a:off x="694944" y="246888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651760"/>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APP RECIBE LA FIRMA</a:t>
            </a:r>
            <a:endParaRPr lang="en-US" sz="1000" dirty="0"/>
          </a:p>
        </p:txBody>
      </p:sp>
      <p:sp>
        <p:nvSpPr>
          <p:cNvPr id="15" name="Text 12"/>
          <p:cNvSpPr/>
          <p:nvPr/>
        </p:nvSpPr>
        <p:spPr>
          <a:xfrm>
            <a:off x="4114800" y="2560320"/>
            <a:ext cx="7400239" cy="512064"/>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La firma (v, r, s) viaja a la aplicación. Todavía no ha pasado nada en la cadena.</a:t>
            </a:r>
            <a:endParaRPr lang="en-US" sz="1150" dirty="0"/>
          </a:p>
        </p:txBody>
      </p:sp>
      <p:sp>
        <p:nvSpPr>
          <p:cNvPr id="16" name="Shape 13"/>
          <p:cNvSpPr/>
          <p:nvPr/>
        </p:nvSpPr>
        <p:spPr>
          <a:xfrm>
            <a:off x="566928" y="3200400"/>
            <a:ext cx="11057839" cy="658368"/>
          </a:xfrm>
          <a:prstGeom prst="rect">
            <a:avLst/>
          </a:prstGeom>
          <a:solidFill>
            <a:srgbClr val="FFFFFF"/>
          </a:solidFill>
          <a:ln w="15875">
            <a:solidFill>
              <a:srgbClr val="D9D6E0"/>
            </a:solidFill>
            <a:prstDash val="solid"/>
          </a:ln>
        </p:spPr>
      </p:sp>
      <p:sp>
        <p:nvSpPr>
          <p:cNvPr id="17" name="Text 14"/>
          <p:cNvSpPr/>
          <p:nvPr/>
        </p:nvSpPr>
        <p:spPr>
          <a:xfrm>
            <a:off x="694944" y="320040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383280"/>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UNA SOLA TRANSACCIÓN</a:t>
            </a:r>
            <a:endParaRPr lang="en-US" sz="1000" dirty="0"/>
          </a:p>
        </p:txBody>
      </p:sp>
      <p:sp>
        <p:nvSpPr>
          <p:cNvPr id="19" name="Text 16"/>
          <p:cNvSpPr/>
          <p:nvPr/>
        </p:nvSpPr>
        <p:spPr>
          <a:xfrm>
            <a:off x="4114800" y="3291840"/>
            <a:ext cx="7400239" cy="512064"/>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El contrato llama token.permit(ana, gastador, valor, deadline, v, r, s) y, a continuación, transferFrom.</a:t>
            </a:r>
            <a:endParaRPr lang="en-US" sz="1150" dirty="0"/>
          </a:p>
        </p:txBody>
      </p:sp>
      <p:sp>
        <p:nvSpPr>
          <p:cNvPr id="20" name="Shape 17"/>
          <p:cNvSpPr/>
          <p:nvPr/>
        </p:nvSpPr>
        <p:spPr>
          <a:xfrm>
            <a:off x="566928" y="3931920"/>
            <a:ext cx="11057839" cy="658368"/>
          </a:xfrm>
          <a:prstGeom prst="rect">
            <a:avLst/>
          </a:prstGeom>
          <a:solidFill>
            <a:srgbClr val="FAF9FB"/>
          </a:solidFill>
          <a:ln w="15875">
            <a:solidFill>
              <a:srgbClr val="D9D6E0"/>
            </a:solidFill>
            <a:prstDash val="solid"/>
          </a:ln>
        </p:spPr>
      </p:sp>
      <p:sp>
        <p:nvSpPr>
          <p:cNvPr id="21" name="Text 18"/>
          <p:cNvSpPr/>
          <p:nvPr/>
        </p:nvSpPr>
        <p:spPr>
          <a:xfrm>
            <a:off x="694944" y="393192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114800"/>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 TOKEN VERIFICA</a:t>
            </a:r>
            <a:endParaRPr lang="en-US" sz="1000" dirty="0"/>
          </a:p>
        </p:txBody>
      </p:sp>
      <p:sp>
        <p:nvSpPr>
          <p:cNvPr id="23" name="Text 20"/>
          <p:cNvSpPr/>
          <p:nvPr/>
        </p:nvSpPr>
        <p:spPr>
          <a:xfrm>
            <a:off x="4114800" y="4023360"/>
            <a:ext cx="7400239" cy="512064"/>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Recupera quién firmó, compara con ana, revisa el deadline y consume el nonce: la misma firma no se puede reusar.</a:t>
            </a:r>
            <a:endParaRPr lang="en-US" sz="1150" dirty="0"/>
          </a:p>
        </p:txBody>
      </p:sp>
      <p:sp>
        <p:nvSpPr>
          <p:cNvPr id="24" name="Shape 21"/>
          <p:cNvSpPr/>
          <p:nvPr/>
        </p:nvSpPr>
        <p:spPr>
          <a:xfrm>
            <a:off x="566928" y="4663440"/>
            <a:ext cx="5391760" cy="15544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25" name="Text 22"/>
          <p:cNvSpPr/>
          <p:nvPr/>
        </p:nvSpPr>
        <p:spPr>
          <a:xfrm>
            <a:off x="841248" y="48463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SI ALGO NO CUADRA</a:t>
            </a:r>
            <a:endParaRPr lang="en-US" sz="1050" dirty="0"/>
          </a:p>
        </p:txBody>
      </p:sp>
      <p:sp>
        <p:nvSpPr>
          <p:cNvPr id="26" name="Text 23"/>
          <p:cNvSpPr/>
          <p:nvPr/>
        </p:nvSpPr>
        <p:spPr>
          <a:xfrm>
            <a:off x="841248" y="5230368"/>
            <a:ext cx="4843120" cy="822960"/>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Firma vencida: ERC2612ExpiredSignature. Firmante distinto del dueño: ERC2612InvalidSigner. El DOMAIN_SEPARATOR ata la firma a esa red y a ese contrato.</a:t>
            </a:r>
            <a:endParaRPr lang="en-US" sz="1150" dirty="0"/>
          </a:p>
        </p:txBody>
      </p:sp>
      <p:sp>
        <p:nvSpPr>
          <p:cNvPr id="27" name="Shape 24"/>
          <p:cNvSpPr/>
          <p:nvPr/>
        </p:nvSpPr>
        <p:spPr>
          <a:xfrm>
            <a:off x="6233008" y="4663440"/>
            <a:ext cx="5391760" cy="15544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28" name="Text 25"/>
          <p:cNvSpPr/>
          <p:nvPr/>
        </p:nvSpPr>
        <p:spPr>
          <a:xfrm>
            <a:off x="6507328" y="484632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EL TRADE-OFF</a:t>
            </a:r>
            <a:endParaRPr lang="en-US" sz="1050" dirty="0"/>
          </a:p>
        </p:txBody>
      </p:sp>
      <p:sp>
        <p:nvSpPr>
          <p:cNvPr id="29" name="Text 26"/>
          <p:cNvSpPr/>
          <p:nvPr/>
        </p:nvSpPr>
        <p:spPr>
          <a:xfrm>
            <a:off x="6507328" y="5230368"/>
            <a:ext cx="4843120" cy="822960"/>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Firmar un permit ES aprobar, aunque no cueste gas. «Es gratis, solo una firma» es justo lo que usa el phishing: se lee el gastador y el valor antes de firmar.</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TOKENÓMICA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LAS REGLAS ECONÓMICAS SON UNA DECISIÓN DE DISEÑO</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4206240"/>
                <a:gridCol w="44741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DECISIÓN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OPCIONES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COMUNICA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Suministro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Fijo (tope) vs. inflacionario (se emite sin fin).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tope da escasez creíble; la inflación premia sin fin, pero diluye.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Emisión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Quién acuña y bajo qué regla.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dueño imprime cuando quiere» es una señal de alarma.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Quema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Si se pueden destruir tokens, y quién.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quema reduce el suministro: puede canjear o retirar de circulación.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Distribución inicial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Cómo se reparte el primer lote.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Si el equipo se queda con casi todo, los demás compran su salida.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4477">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Vesting</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Liberar por partes en el tiempo.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Evita que los primeros vendan todo el día uno.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419856"/>
          </a:xfrm>
          <a:prstGeom prst="rect">
            <a:avLst/>
          </a:prstGeom>
          <a:ln w="22225">
            <a:solidFill>
              <a:srgbClr val="0F0F11"/>
            </a:solidFill>
            <a:prstDash val="solid"/>
          </a:ln>
        </p:spPr>
      </p:sp>
      <p:sp>
        <p:nvSpPr>
          <p:cNvPr id="10" name="Shape 6"/>
          <p:cNvSpPr/>
          <p:nvPr/>
        </p:nvSpPr>
        <p:spPr>
          <a:xfrm>
            <a:off x="566928" y="5257800"/>
            <a:ext cx="11057839" cy="86868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7"/>
          <p:cNvSpPr/>
          <p:nvPr/>
        </p:nvSpPr>
        <p:spPr>
          <a:xfrm>
            <a:off x="950976" y="5440680"/>
            <a:ext cx="10289743" cy="502920"/>
          </a:xfrm>
          <a:prstGeom prst="rect">
            <a:avLst/>
          </a:prstGeom>
          <a:noFill/>
          <a:ln/>
        </p:spPr>
        <p:txBody>
          <a:bodyPr wrap="square" lIns="0" tIns="0" rIns="0" bIns="0" rtlCol="0" anchor="ctr"/>
          <a:lstStyle/>
          <a:p>
            <a:pPr indent="0" marL="0">
              <a:lnSpc>
                <a:spcPct val="106000"/>
              </a:lnSpc>
              <a:buNone/>
            </a:pPr>
            <a:r>
              <a:rPr lang="en-US" sz="1600" dirty="0">
                <a:solidFill>
                  <a:srgbClr val="0F0F11"/>
                </a:solidFill>
                <a:latin typeface="Arial Black" pitchFamily="34" charset="0"/>
                <a:ea typeface="Arial Black" pitchFamily="34" charset="-122"/>
                <a:cs typeface="Arial Black" pitchFamily="34" charset="-120"/>
              </a:rPr>
              <a:t>Un diseño sostenible reparte y limita el poder de emisión. Un esquema extractivo concentra ambos en quien lo lanzó.</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A.11B · DOS DISEÑOS CONTRASTADOS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MISMO CÓDIGO, DOS INTENCIONES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Text 5"/>
          <p:cNvSpPr/>
          <p:nvPr/>
        </p:nvSpPr>
        <p:spPr>
          <a:xfrm>
            <a:off x="566928" y="169164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Los dos tokens siguientes son ERC-20 perfectamente válidos, heredados de OpenZeppelin. Lo que los separa no es la calidad del código: es a quién le sirven las reglas.</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11057839" cy="914400"/>
        </p:xfrm>
        <a:graphic>
          <a:graphicData uri="http://schemas.openxmlformats.org/drawingml/2006/table">
            <a:tbl>
              <a:tblPr/>
              <a:tblGrid>
                <a:gridCol w="2103120"/>
                <a:gridCol w="4480560"/>
                <a:gridCol w="44741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DECISIÓN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 · SOSTENIBLE (FICHAUSB)</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 · EXTRACTIVO (EJEMPLO ILUSTRATIVO)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4749">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Suministro</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Tope fijo de 1 000 000, visible en cap().</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Sin tope: mint() del dueño sin límite.</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4749">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Emisión</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El organizador acuña por asistencia, a la vista (eventos Transfer).</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El dueño acuña cuando quiere, sin regla pública.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4749">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Distribución</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Se reparte a quien participa; el equipo no se queda un lote.</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90 % preasignado al equipo, sin vesting.</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4749">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Quema</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Cualquiera quema lo suyo al canjear un premio.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Sin quema; o el dueño quema saldos AJENOS.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4749">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Poderes especiales</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Ninguno más allá de acuñar bajo el tope.</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Pausa, lista negra y comisión de venta que el dueño cambia a su antojo.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359152"/>
            <a:ext cx="11094415" cy="2871216"/>
          </a:xfrm>
          <a:prstGeom prst="rect">
            <a:avLst/>
          </a:prstGeom>
          <a:ln w="22225">
            <a:solidFill>
              <a:srgbClr val="0F0F11"/>
            </a:solidFill>
            <a:prstDash val="solid"/>
          </a:ln>
        </p:spPr>
      </p:sp>
      <p:sp>
        <p:nvSpPr>
          <p:cNvPr id="11" name="Shape 7"/>
          <p:cNvSpPr/>
          <p:nvPr/>
        </p:nvSpPr>
        <p:spPr>
          <a:xfrm>
            <a:off x="566928" y="5303520"/>
            <a:ext cx="11057839" cy="9144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2" name="Image 1" descr="preencoded.png">    </p:cNvPr>
          <p:cNvPicPr>
            <a:picLocks noChangeAspect="1"/>
          </p:cNvPicPr>
          <p:nvPr/>
        </p:nvPicPr>
        <p:blipFill>
          <a:blip r:embed="rId2"/>
          <a:stretch>
            <a:fillRect/>
          </a:stretch>
        </p:blipFill>
        <p:spPr>
          <a:xfrm>
            <a:off x="804672" y="5522976"/>
            <a:ext cx="237744" cy="237744"/>
          </a:xfrm>
          <a:prstGeom prst="rect">
            <a:avLst/>
          </a:prstGeom>
        </p:spPr>
      </p:pic>
      <p:sp>
        <p:nvSpPr>
          <p:cNvPr id="13" name="Text 8"/>
          <p:cNvSpPr/>
          <p:nvPr/>
        </p:nvSpPr>
        <p:spPr>
          <a:xfrm>
            <a:off x="1133856" y="549554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QUE DECIDE</a:t>
            </a:r>
            <a:endParaRPr lang="en-US" sz="950" dirty="0"/>
          </a:p>
        </p:txBody>
      </p:sp>
      <p:sp>
        <p:nvSpPr>
          <p:cNvPr id="14" name="Text 9"/>
          <p:cNvSpPr/>
          <p:nvPr/>
        </p:nvSpPr>
        <p:spPr>
          <a:xfrm>
            <a:off x="804672" y="5815584"/>
            <a:ext cx="10582351" cy="3108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¿Quién puede cambiar las reglas después de que tú compraste o recibiste el token?</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A.11C · SEÑALES DE ALERTA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CÓMO LEER UN TOKEN ANTES DE CONFIAR EN ÉL</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Text 5"/>
          <p:cNvSpPr/>
          <p:nvPr/>
        </p:nvSpPr>
        <p:spPr>
          <a:xfrm>
            <a:off x="566928" y="169164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Todo esto se puede verificar en el explorador, con el código verificado delante. Verificar en vez de creer (la tesis del curso) aplicado a tokens:</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11057839" cy="914400"/>
        </p:xfrm>
        <a:graphic>
          <a:graphicData uri="http://schemas.openxmlformats.org/drawingml/2006/table">
            <a:tbl>
              <a:tblPr/>
              <a:tblGrid>
                <a:gridCol w="3291840"/>
                <a:gridCol w="77659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SEÑAL DE ALERTA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SE VE EN EL CÓDIGO O EN LA CADENA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474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El dueño imprime sin tope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Una función de mint con onlyOwner y sin cap(), o con un cap que el dueño cambia.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474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Concentración inicial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Los primeros eventos Transfer desde 0x0 van casi todos a pocas direcciones.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474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Sin vesting</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equipo recibe todo el día uno, sin contrato que libere por partes.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474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Poderes de congelar o confiscar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Pausable, listas negras o funciones que mueven saldos ajenos en manos de una sola llave.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474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Código no verificado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Si no se puede leer el código en el explorador, no hay nada que auditar: se descarta.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359152"/>
            <a:ext cx="11094415" cy="2871216"/>
          </a:xfrm>
          <a:prstGeom prst="rect">
            <a:avLst/>
          </a:prstGeom>
          <a:ln w="22225">
            <a:solidFill>
              <a:srgbClr val="0F0F11"/>
            </a:solidFill>
            <a:prstDash val="solid"/>
          </a:ln>
        </p:spPr>
      </p:sp>
      <p:sp>
        <p:nvSpPr>
          <p:cNvPr id="11" name="Shape 7"/>
          <p:cNvSpPr/>
          <p:nvPr/>
        </p:nvSpPr>
        <p:spPr>
          <a:xfrm>
            <a:off x="566928" y="5303520"/>
            <a:ext cx="11057839" cy="9144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522976"/>
            <a:ext cx="237744" cy="237744"/>
          </a:xfrm>
          <a:prstGeom prst="rect">
            <a:avLst/>
          </a:prstGeom>
        </p:spPr>
      </p:pic>
      <p:sp>
        <p:nvSpPr>
          <p:cNvPr id="13" name="Text 8"/>
          <p:cNvSpPr/>
          <p:nvPr/>
        </p:nvSpPr>
        <p:spPr>
          <a:xfrm>
            <a:off x="1133856" y="54955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ERROR TÍPICO</a:t>
            </a:r>
            <a:endParaRPr lang="en-US" sz="950" dirty="0"/>
          </a:p>
        </p:txBody>
      </p:sp>
      <p:sp>
        <p:nvSpPr>
          <p:cNvPr id="14" name="Text 9"/>
          <p:cNvSpPr/>
          <p:nvPr/>
        </p:nvSpPr>
        <p:spPr>
          <a:xfrm>
            <a:off x="804672" y="5815584"/>
            <a:ext cx="10582351" cy="3108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Juzgar el token por el sitio web o por el precio. Se juzga por el contrato y por la distribución real en la cadena.</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LO QUE HAY QUE LLEVARSE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SEIS IDEAS SOBRE TOKENS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Text 5"/>
          <p:cNvSpPr/>
          <p:nvPr/>
        </p:nvSpPr>
        <p:spPr>
          <a:xfrm>
            <a:off x="566928" y="17373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1344168" y="181051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 token vale por cumplir el estándar (EIP-20), no por tener el mejor código.</a:t>
            </a:r>
            <a:endParaRPr lang="en-US" sz="1400" dirty="0"/>
          </a:p>
        </p:txBody>
      </p:sp>
      <p:sp>
        <p:nvSpPr>
          <p:cNvPr id="10" name="Shape 7"/>
          <p:cNvSpPr/>
          <p:nvPr/>
        </p:nvSpPr>
        <p:spPr>
          <a:xfrm>
            <a:off x="566928" y="2414016"/>
            <a:ext cx="11057839" cy="914"/>
          </a:xfrm>
          <a:prstGeom prst="line">
            <a:avLst/>
          </a:prstGeom>
          <a:noFill/>
          <a:ln w="12700">
            <a:solidFill>
              <a:srgbClr val="D9D6E0"/>
            </a:solidFill>
            <a:prstDash val="solid"/>
          </a:ln>
        </p:spPr>
      </p:sp>
      <p:sp>
        <p:nvSpPr>
          <p:cNvPr id="11" name="Text 8"/>
          <p:cNvSpPr/>
          <p:nvPr/>
        </p:nvSpPr>
        <p:spPr>
          <a:xfrm>
            <a:off x="566928" y="246888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2" name="Text 9"/>
          <p:cNvSpPr/>
          <p:nvPr/>
        </p:nvSpPr>
        <p:spPr>
          <a:xfrm>
            <a:off x="1344168" y="254203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Todo el token es una tabla de saldos dentro de UN contrato.</a:t>
            </a:r>
            <a:endParaRPr lang="en-US" sz="1400" dirty="0"/>
          </a:p>
        </p:txBody>
      </p:sp>
      <p:sp>
        <p:nvSpPr>
          <p:cNvPr id="13" name="Shape 10"/>
          <p:cNvSpPr/>
          <p:nvPr/>
        </p:nvSpPr>
        <p:spPr>
          <a:xfrm>
            <a:off x="566928" y="3145536"/>
            <a:ext cx="11057839" cy="914"/>
          </a:xfrm>
          <a:prstGeom prst="line">
            <a:avLst/>
          </a:prstGeom>
          <a:noFill/>
          <a:ln w="12700">
            <a:solidFill>
              <a:srgbClr val="D9D6E0"/>
            </a:solidFill>
            <a:prstDash val="solid"/>
          </a:ln>
        </p:spPr>
      </p:sp>
      <p:sp>
        <p:nvSpPr>
          <p:cNvPr id="14" name="Text 11"/>
          <p:cNvSpPr/>
          <p:nvPr/>
        </p:nvSpPr>
        <p:spPr>
          <a:xfrm>
            <a:off x="566928" y="320040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5" name="Text 12"/>
          <p:cNvSpPr/>
          <p:nvPr/>
        </p:nvSpPr>
        <p:spPr>
          <a:xfrm>
            <a:off x="1344168" y="327355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Se hereda y se COMPONE de OpenZeppelin; casi nada se escribe a mano.</a:t>
            </a:r>
            <a:endParaRPr lang="en-US" sz="1400" dirty="0"/>
          </a:p>
        </p:txBody>
      </p:sp>
      <p:sp>
        <p:nvSpPr>
          <p:cNvPr id="16" name="Shape 13"/>
          <p:cNvSpPr/>
          <p:nvPr/>
        </p:nvSpPr>
        <p:spPr>
          <a:xfrm>
            <a:off x="566928" y="3877056"/>
            <a:ext cx="11057839" cy="914"/>
          </a:xfrm>
          <a:prstGeom prst="line">
            <a:avLst/>
          </a:prstGeom>
          <a:noFill/>
          <a:ln w="12700">
            <a:solidFill>
              <a:srgbClr val="D9D6E0"/>
            </a:solidFill>
            <a:prstDash val="solid"/>
          </a:ln>
        </p:spPr>
      </p:sp>
      <p:sp>
        <p:nvSpPr>
          <p:cNvPr id="17" name="Text 14"/>
          <p:cNvSpPr/>
          <p:nvPr/>
        </p:nvSpPr>
        <p:spPr>
          <a:xfrm>
            <a:off x="566928" y="393192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04</a:t>
            </a:r>
            <a:endParaRPr lang="en-US" sz="2000" dirty="0"/>
          </a:p>
        </p:txBody>
      </p:sp>
      <p:sp>
        <p:nvSpPr>
          <p:cNvPr id="18" name="Text 15"/>
          <p:cNvSpPr/>
          <p:nvPr/>
        </p:nvSpPr>
        <p:spPr>
          <a:xfrm>
            <a:off x="1344168" y="400507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No hay decimales reales: la interfaz habla en tokens, el contrato en unidades mínimas.</a:t>
            </a:r>
            <a:endParaRPr lang="en-US" sz="1400" dirty="0"/>
          </a:p>
        </p:txBody>
      </p:sp>
      <p:sp>
        <p:nvSpPr>
          <p:cNvPr id="19" name="Shape 16"/>
          <p:cNvSpPr/>
          <p:nvPr/>
        </p:nvSpPr>
        <p:spPr>
          <a:xfrm>
            <a:off x="566928" y="4608576"/>
            <a:ext cx="11057839" cy="914"/>
          </a:xfrm>
          <a:prstGeom prst="line">
            <a:avLst/>
          </a:prstGeom>
          <a:noFill/>
          <a:ln w="12700">
            <a:solidFill>
              <a:srgbClr val="D9D6E0"/>
            </a:solidFill>
            <a:prstDash val="solid"/>
          </a:ln>
        </p:spPr>
      </p:sp>
      <p:sp>
        <p:nvSpPr>
          <p:cNvPr id="20" name="Text 17"/>
          <p:cNvSpPr/>
          <p:nvPr/>
        </p:nvSpPr>
        <p:spPr>
          <a:xfrm>
            <a:off x="566928" y="466344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05</a:t>
            </a:r>
            <a:endParaRPr lang="en-US" sz="2000" dirty="0"/>
          </a:p>
        </p:txBody>
      </p:sp>
      <p:sp>
        <p:nvSpPr>
          <p:cNvPr id="21" name="Text 18"/>
          <p:cNvSpPr/>
          <p:nvPr/>
        </p:nvSpPr>
        <p:spPr>
          <a:xfrm>
            <a:off x="1344168" y="473659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approve + transferFrom deja mover tus tokens sin tu clave, y solo lo aprobado; ilimitado es peligroso.</a:t>
            </a:r>
            <a:endParaRPr lang="en-US" sz="1400" dirty="0"/>
          </a:p>
        </p:txBody>
      </p:sp>
      <p:sp>
        <p:nvSpPr>
          <p:cNvPr id="22" name="Shape 19"/>
          <p:cNvSpPr/>
          <p:nvPr/>
        </p:nvSpPr>
        <p:spPr>
          <a:xfrm>
            <a:off x="566928" y="5340096"/>
            <a:ext cx="11057839" cy="914"/>
          </a:xfrm>
          <a:prstGeom prst="line">
            <a:avLst/>
          </a:prstGeom>
          <a:noFill/>
          <a:ln w="12700">
            <a:solidFill>
              <a:srgbClr val="D9D6E0"/>
            </a:solidFill>
            <a:prstDash val="solid"/>
          </a:ln>
        </p:spPr>
      </p:sp>
      <p:sp>
        <p:nvSpPr>
          <p:cNvPr id="23" name="Text 20"/>
          <p:cNvSpPr/>
          <p:nvPr/>
        </p:nvSpPr>
        <p:spPr>
          <a:xfrm>
            <a:off x="566928" y="53949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06</a:t>
            </a:r>
            <a:endParaRPr lang="en-US" sz="2000" dirty="0"/>
          </a:p>
        </p:txBody>
      </p:sp>
      <p:sp>
        <p:nvSpPr>
          <p:cNvPr id="24" name="Text 21"/>
          <p:cNvSpPr/>
          <p:nvPr/>
        </p:nvSpPr>
        <p:spPr>
          <a:xfrm>
            <a:off x="1344168" y="546811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La tokenómica es una decisión ética además de técnica: repartir y limitar, o concentrar.</a:t>
            </a:r>
            <a:endParaRPr lang="en-US" sz="1400" dirty="0"/>
          </a:p>
        </p:txBody>
      </p:sp>
      <p:sp>
        <p:nvSpPr>
          <p:cNvPr id="25" name="Shape 22"/>
          <p:cNvSpPr/>
          <p:nvPr/>
        </p:nvSpPr>
        <p:spPr>
          <a:xfrm>
            <a:off x="566928" y="6071616"/>
            <a:ext cx="11057839" cy="914"/>
          </a:xfrm>
          <a:prstGeom prst="line">
            <a:avLst/>
          </a:prstGeom>
          <a:noFill/>
          <a:ln w="12700">
            <a:solidFill>
              <a:srgbClr val="D9D6E0"/>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A.13 · VERIFICACIÓN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TRES PREGUNTAS ANTES DEL LABORATORIO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5760720"/>
                <a:gridCol w="52971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PREGUNTA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RESPUESTA ESPERADA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90220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El token tiene 18 decimales. ¿Qué valor debe recibir approve para autorizar 25 fichas?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25 × 10¹⁸ = 25000000000000000000 (parseUnits("25", 18)).</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0220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Ana aprobó 25 al Canje y luego transfirió todo su saldo a Beto. ¿Funciona canjear()?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 la allowance sigue en 25, pero Ana no tiene saldo. approve no aparta tokens (A.2c).</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90220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¿Por qué FichaUSB no hereda Pausable?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Porque el freno sería un poder centralizado sin necesidad en este caso (A.9b).</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054096"/>
          </a:xfrm>
          <a:prstGeom prst="rect">
            <a:avLst/>
          </a:prstGeom>
          <a:ln w="22225">
            <a:solidFill>
              <a:srgbClr val="0F0F11"/>
            </a:solidFill>
            <a:prstDash val="solid"/>
          </a:ln>
        </p:spPr>
      </p:sp>
      <p:sp>
        <p:nvSpPr>
          <p:cNvPr id="10" name="Shape 6"/>
          <p:cNvSpPr/>
          <p:nvPr/>
        </p:nvSpPr>
        <p:spPr>
          <a:xfrm>
            <a:off x="566928" y="4937760"/>
            <a:ext cx="11057839" cy="12344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157216"/>
            <a:ext cx="237744" cy="237744"/>
          </a:xfrm>
          <a:prstGeom prst="rect">
            <a:avLst/>
          </a:prstGeom>
        </p:spPr>
      </p:pic>
      <p:sp>
        <p:nvSpPr>
          <p:cNvPr id="12" name="Text 7"/>
          <p:cNvSpPr/>
          <p:nvPr/>
        </p:nvSpPr>
        <p:spPr>
          <a:xfrm>
            <a:off x="1133856" y="512978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CÓMO USAR ESTA LÁMINA</a:t>
            </a:r>
            <a:endParaRPr lang="en-US" sz="950" dirty="0"/>
          </a:p>
        </p:txBody>
      </p:sp>
      <p:sp>
        <p:nvSpPr>
          <p:cNvPr id="13" name="Text 8"/>
          <p:cNvSpPr/>
          <p:nvPr/>
        </p:nvSpPr>
        <p:spPr>
          <a:xfrm>
            <a:off x="804672" y="5449824"/>
            <a:ext cx="10582351" cy="6309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Tapar la segunda columna. Una pareja responde cada pregunta en voz alta; otra la corrige. Si la segunda falla en la mayoría del grupo, volver a A.2c antes de abrir el laboratorio: es el error que más tiempo cuesta en el bloque B.</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85 MINUTOS ·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LABORATORIO 10</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 token con tope y quema, un contrato que canjea por aprobación, y su despliegue a Sepolia: verificar, importar, transferir y revocar.</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10 · TOKENS FUNGIBLES · ERC-20</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LO QUE SE CONSTRUYE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FICHAUSB Y CANJE</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103120"/>
                <a:gridCol w="5303520"/>
                <a:gridCol w="36511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HACE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ESTÁNDAR QUE APLICA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2788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FichaUSB</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Token de puntos con tope, acuñación controlada y quema.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ERC20 + Capped + Burnable + Ownable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2788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acunar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organizador crea puntos, hasta el tope.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_mint con control de acceso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2788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Canje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 puesto que cobra fichas por un premio, usando la aprobación.</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approve + transferFrom</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231136"/>
          </a:xfrm>
          <a:prstGeom prst="rect">
            <a:avLst/>
          </a:prstGeom>
          <a:ln w="22225">
            <a:solidFill>
              <a:srgbClr val="0F0F11"/>
            </a:solidFill>
            <a:prstDash val="solid"/>
          </a:ln>
        </p:spPr>
      </p:sp>
      <p:sp>
        <p:nvSpPr>
          <p:cNvPr id="10" name="Shape 6"/>
          <p:cNvSpPr/>
          <p:nvPr/>
        </p:nvSpPr>
        <p:spPr>
          <a:xfrm>
            <a:off x="566928" y="4069080"/>
            <a:ext cx="11057839" cy="914400"/>
          </a:xfrm>
          <a:prstGeom prst="rect">
            <a:avLst/>
          </a:prstGeom>
          <a:solidFill>
            <a:srgbClr val="16151B"/>
          </a:solidFill>
          <a:ln w="22225">
            <a:solidFill>
              <a:srgbClr val="16151B"/>
            </a:solidFill>
            <a:prstDash val="solid"/>
          </a:ln>
        </p:spPr>
      </p:sp>
      <p:sp>
        <p:nvSpPr>
          <p:cNvPr id="11" name="Text 7"/>
          <p:cNvSpPr/>
          <p:nvPr/>
        </p:nvSpPr>
        <p:spPr>
          <a:xfrm>
            <a:off x="768096" y="4215384"/>
            <a:ext cx="10655503" cy="658368"/>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copia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andamiaje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sobre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contracts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s10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completan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4</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s10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FichaUSB</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pruebas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deben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pasar</a:t>
            </a:r>
            <a:endParaRPr lang="en-US" sz="1150" dirty="0"/>
          </a:p>
        </p:txBody>
      </p:sp>
      <p:sp>
        <p:nvSpPr>
          <p:cNvPr id="12" name="Shape 8"/>
          <p:cNvSpPr/>
          <p:nvPr/>
        </p:nvSpPr>
        <p:spPr>
          <a:xfrm>
            <a:off x="566928" y="507492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3"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4" name="Text 9"/>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LAS PRUEBAS ★ SON LAS QUE IMPORTAN</a:t>
            </a:r>
            <a:endParaRPr lang="en-US" sz="950" dirty="0"/>
          </a:p>
        </p:txBody>
      </p:sp>
      <p:sp>
        <p:nvSpPr>
          <p:cNvPr id="15" name="Text 10"/>
          <p:cNvSpPr/>
          <p:nvPr/>
        </p:nvSpPr>
        <p:spPr>
          <a:xfrm>
            <a:off x="804672" y="5586984"/>
            <a:ext cx="10582351" cy="4937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acuñar sobre el tope; quemar libera espacio; el canje retira exactamente lo aprobado; el contrato no puede tomar más. Esas cuatro son la tesis de la sesión.</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B.1B · EL CÓDIGO QUE ESCRIBEN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LOS CUATRO TODO, EN ORDEN</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sp>
        <p:nvSpPr>
          <p:cNvPr id="8" name="Shape 5"/>
          <p:cNvSpPr/>
          <p:nvPr/>
        </p:nvSpPr>
        <p:spPr>
          <a:xfrm>
            <a:off x="566928" y="1737360"/>
            <a:ext cx="11057839" cy="768096"/>
          </a:xfrm>
          <a:prstGeom prst="rect">
            <a:avLst/>
          </a:prstGeom>
          <a:solidFill>
            <a:srgbClr val="FFFFFF"/>
          </a:solidFill>
          <a:ln w="15875">
            <a:solidFill>
              <a:srgbClr val="D9D6E0"/>
            </a:solidFill>
            <a:prstDash val="solid"/>
          </a:ln>
        </p:spPr>
      </p:sp>
      <p:sp>
        <p:nvSpPr>
          <p:cNvPr id="9" name="Text 6"/>
          <p:cNvSpPr/>
          <p:nvPr/>
        </p:nvSpPr>
        <p:spPr>
          <a:xfrm>
            <a:off x="694944" y="1737360"/>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75104"/>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1 · EL TOPE</a:t>
            </a:r>
            <a:endParaRPr lang="en-US" sz="1000" dirty="0"/>
          </a:p>
        </p:txBody>
      </p:sp>
      <p:sp>
        <p:nvSpPr>
          <p:cNvPr id="11" name="Text 8"/>
          <p:cNvSpPr/>
          <p:nvPr/>
        </p:nvSpPr>
        <p:spPr>
          <a:xfrm>
            <a:off x="3931920" y="1828800"/>
            <a:ext cx="758311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En el constructor: ERC20Capped(topeEnTokens * 10 ** decimals()). Sin convertir, el tope es una fracción invisible.</a:t>
            </a:r>
            <a:endParaRPr lang="en-US" sz="1200" dirty="0"/>
          </a:p>
        </p:txBody>
      </p:sp>
      <p:sp>
        <p:nvSpPr>
          <p:cNvPr id="12" name="Shape 9"/>
          <p:cNvSpPr/>
          <p:nvPr/>
        </p:nvSpPr>
        <p:spPr>
          <a:xfrm>
            <a:off x="566928" y="2615184"/>
            <a:ext cx="11057839" cy="768096"/>
          </a:xfrm>
          <a:prstGeom prst="rect">
            <a:avLst/>
          </a:prstGeom>
          <a:solidFill>
            <a:srgbClr val="FAF9FB"/>
          </a:solidFill>
          <a:ln w="15875">
            <a:solidFill>
              <a:srgbClr val="D9D6E0"/>
            </a:solidFill>
            <a:prstDash val="solid"/>
          </a:ln>
        </p:spPr>
      </p:sp>
      <p:sp>
        <p:nvSpPr>
          <p:cNvPr id="13" name="Text 10"/>
          <p:cNvSpPr/>
          <p:nvPr/>
        </p:nvSpPr>
        <p:spPr>
          <a:xfrm>
            <a:off x="694944" y="2615184"/>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852928"/>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2 · ACUNAR</a:t>
            </a:r>
            <a:endParaRPr lang="en-US" sz="1000" dirty="0"/>
          </a:p>
        </p:txBody>
      </p:sp>
      <p:sp>
        <p:nvSpPr>
          <p:cNvPr id="15" name="Text 12"/>
          <p:cNvSpPr/>
          <p:nvPr/>
        </p:nvSpPr>
        <p:spPr>
          <a:xfrm>
            <a:off x="3931920" y="2706624"/>
            <a:ext cx="758311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_mint(a, cantidadEnTokens * 10 ** decimals()). No revisar el tope aquí: lo hace Capped en _update.</a:t>
            </a:r>
            <a:endParaRPr lang="en-US" sz="1200" dirty="0"/>
          </a:p>
        </p:txBody>
      </p:sp>
      <p:sp>
        <p:nvSpPr>
          <p:cNvPr id="16" name="Shape 13"/>
          <p:cNvSpPr/>
          <p:nvPr/>
        </p:nvSpPr>
        <p:spPr>
          <a:xfrm>
            <a:off x="566928" y="3493008"/>
            <a:ext cx="11057839" cy="768096"/>
          </a:xfrm>
          <a:prstGeom prst="rect">
            <a:avLst/>
          </a:prstGeom>
          <a:solidFill>
            <a:srgbClr val="FFFFFF"/>
          </a:solidFill>
          <a:ln w="15875">
            <a:solidFill>
              <a:srgbClr val="D9D6E0"/>
            </a:solidFill>
            <a:prstDash val="solid"/>
          </a:ln>
        </p:spPr>
      </p:sp>
      <p:sp>
        <p:nvSpPr>
          <p:cNvPr id="17" name="Text 14"/>
          <p:cNvSpPr/>
          <p:nvPr/>
        </p:nvSpPr>
        <p:spPr>
          <a:xfrm>
            <a:off x="694944" y="3493008"/>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730752"/>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3 · _UPDATE</a:t>
            </a:r>
            <a:endParaRPr lang="en-US" sz="1000" dirty="0"/>
          </a:p>
        </p:txBody>
      </p:sp>
      <p:sp>
        <p:nvSpPr>
          <p:cNvPr id="19" name="Text 16"/>
          <p:cNvSpPr/>
          <p:nvPr/>
        </p:nvSpPr>
        <p:spPr>
          <a:xfrm>
            <a:off x="3931920" y="3584448"/>
            <a:ext cx="758311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Una línea: super._update(from, to, value). Mientras esté vacío, NINGÚN saldo se mueve.</a:t>
            </a:r>
            <a:endParaRPr lang="en-US" sz="1200" dirty="0"/>
          </a:p>
        </p:txBody>
      </p:sp>
      <p:sp>
        <p:nvSpPr>
          <p:cNvPr id="20" name="Shape 17"/>
          <p:cNvSpPr/>
          <p:nvPr/>
        </p:nvSpPr>
        <p:spPr>
          <a:xfrm>
            <a:off x="566928" y="4370832"/>
            <a:ext cx="11057839" cy="768096"/>
          </a:xfrm>
          <a:prstGeom prst="rect">
            <a:avLst/>
          </a:prstGeom>
          <a:solidFill>
            <a:srgbClr val="FAF9FB"/>
          </a:solidFill>
          <a:ln w="15875">
            <a:solidFill>
              <a:srgbClr val="D9D6E0"/>
            </a:solidFill>
            <a:prstDash val="solid"/>
          </a:ln>
        </p:spPr>
      </p:sp>
      <p:sp>
        <p:nvSpPr>
          <p:cNvPr id="21" name="Text 18"/>
          <p:cNvSpPr/>
          <p:nvPr/>
        </p:nvSpPr>
        <p:spPr>
          <a:xfrm>
            <a:off x="694944" y="4370832"/>
            <a:ext cx="548640" cy="76809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608576"/>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4 · CANJEAR</a:t>
            </a:r>
            <a:endParaRPr lang="en-US" sz="1000" dirty="0"/>
          </a:p>
        </p:txBody>
      </p:sp>
      <p:sp>
        <p:nvSpPr>
          <p:cNvPr id="23" name="Text 20"/>
          <p:cNvSpPr/>
          <p:nvPr/>
        </p:nvSpPr>
        <p:spPr>
          <a:xfrm>
            <a:off x="3931920" y="4462272"/>
            <a:ext cx="7583119" cy="62179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transferFrom(msg.sender, tesoreria, precio), revert si false, sumar el premio y emitir Canjeado (A.5b).</a:t>
            </a:r>
            <a:endParaRPr lang="en-US" sz="1200" dirty="0"/>
          </a:p>
        </p:txBody>
      </p:sp>
      <p:sp>
        <p:nvSpPr>
          <p:cNvPr id="24" name="Shape 21"/>
          <p:cNvSpPr/>
          <p:nvPr/>
        </p:nvSpPr>
        <p:spPr>
          <a:xfrm>
            <a:off x="566928" y="5303520"/>
            <a:ext cx="11057839" cy="9144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5" name="Image 1" descr="preencoded.png">    </p:cNvPr>
          <p:cNvPicPr>
            <a:picLocks noChangeAspect="1"/>
          </p:cNvPicPr>
          <p:nvPr/>
        </p:nvPicPr>
        <p:blipFill>
          <a:blip r:embed="rId2"/>
          <a:stretch>
            <a:fillRect/>
          </a:stretch>
        </p:blipFill>
        <p:spPr>
          <a:xfrm>
            <a:off x="804672" y="5522976"/>
            <a:ext cx="237744" cy="237744"/>
          </a:xfrm>
          <a:prstGeom prst="rect">
            <a:avLst/>
          </a:prstGeom>
        </p:spPr>
      </p:pic>
      <p:sp>
        <p:nvSpPr>
          <p:cNvPr id="26" name="Text 22"/>
          <p:cNvSpPr/>
          <p:nvPr/>
        </p:nvSpPr>
        <p:spPr>
          <a:xfrm>
            <a:off x="1133856" y="54955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ORDEN IMPORTA</a:t>
            </a:r>
            <a:endParaRPr lang="en-US" sz="950" dirty="0"/>
          </a:p>
        </p:txBody>
      </p:sp>
      <p:sp>
        <p:nvSpPr>
          <p:cNvPr id="27" name="Text 23"/>
          <p:cNvSpPr/>
          <p:nvPr/>
        </p:nvSpPr>
        <p:spPr>
          <a:xfrm>
            <a:off x="804672" y="5815584"/>
            <a:ext cx="10582351" cy="3108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Empiecen por el TODO 3: sin él casi todas las pruebas fallan, y los otros tres TODO parecen rotos aunque estén bien.</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B.1C · CÓMO SABEN QUE TERMINARON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SALIDA ESPERADA, AL EMPEZAR Y AL TERMINAR</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sp>
        <p:nvSpPr>
          <p:cNvPr id="8" name="Shape 5"/>
          <p:cNvSpPr/>
          <p:nvPr/>
        </p:nvSpPr>
        <p:spPr>
          <a:xfrm>
            <a:off x="566928" y="1737360"/>
            <a:ext cx="11057839" cy="3200400"/>
          </a:xfrm>
          <a:prstGeom prst="rect">
            <a:avLst/>
          </a:prstGeom>
          <a:solidFill>
            <a:srgbClr val="16151B"/>
          </a:solidFill>
          <a:ln w="22225">
            <a:solidFill>
              <a:srgbClr val="16151B"/>
            </a:solidFill>
            <a:prstDash val="solid"/>
          </a:ln>
        </p:spPr>
      </p:sp>
      <p:sp>
        <p:nvSpPr>
          <p:cNvPr id="9" name="Text 6"/>
          <p:cNvSpPr/>
          <p:nvPr/>
        </p:nvSpPr>
        <p:spPr>
          <a:xfrm>
            <a:off x="768096" y="181051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NPX HARDHAT TEST TEST/S10/FICHAUSB.TEST.JS</a:t>
            </a:r>
            <a:endParaRPr lang="en-US" sz="850" dirty="0"/>
          </a:p>
        </p:txBody>
      </p:sp>
      <p:sp>
        <p:nvSpPr>
          <p:cNvPr id="10" name="Text 7"/>
          <p:cNvSpPr/>
          <p:nvPr/>
        </p:nvSpPr>
        <p:spPr>
          <a:xfrm>
            <a:off x="768096" y="2121408"/>
            <a:ext cx="10655503" cy="2706624"/>
          </a:xfrm>
          <a:prstGeom prst="rect">
            <a:avLst/>
          </a:prstGeom>
          <a:noFill/>
          <a:ln/>
        </p:spPr>
        <p:txBody>
          <a:bodyPr wrap="square" lIns="0" tIns="0" rIns="0" bIns="0" rtlCol="0" anchor="t"/>
          <a:lstStyle/>
          <a:p>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con el andamiaje recién copiado (salida real):</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passing</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failing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pasan solo nombre/decimales y "solo el organizador acuña"</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con los cuatro TODO completos:</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passing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esa es la meta local</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ensayo del despliegue en la red local (salida real):</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FichaCanjeModulo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successfully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deployed</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FichaCanjeModulo</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#FichaUSB - 0x5FbD...0aa3</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FichaCanjeModulo</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#Canje    - 0xe7f1...0512</a:t>
            </a:r>
            <a:endParaRPr lang="en-US" sz="1100" dirty="0"/>
          </a:p>
        </p:txBody>
      </p:sp>
      <p:sp>
        <p:nvSpPr>
          <p:cNvPr id="11" name="Shape 8"/>
          <p:cNvSpPr/>
          <p:nvPr/>
        </p:nvSpPr>
        <p:spPr>
          <a:xfrm>
            <a:off x="566928" y="5074920"/>
            <a:ext cx="11057839" cy="1115568"/>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2"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3" name="Text 9"/>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TERMINADO SIGNIFICA LAS TRES COSAS</a:t>
            </a:r>
            <a:endParaRPr lang="en-US" sz="950" dirty="0"/>
          </a:p>
        </p:txBody>
      </p:sp>
      <p:sp>
        <p:nvSpPr>
          <p:cNvPr id="14" name="Text 10"/>
          <p:cNvSpPr/>
          <p:nvPr/>
        </p:nvSpPr>
        <p:spPr>
          <a:xfrm>
            <a:off x="804672" y="5586984"/>
            <a:ext cx="10582351"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(1) 12 pruebas en verde en su máquina. (2) FichaUSB y Canje desplegados en Sepolia con el check verde de verificación en el explorador. (3) Los hashes de transferencia, approve, canjear y el canje fallido tras revocar, anotados.</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DESPLEGAR A SEPOLIA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DEL CONTRATO A UNA DIRECCIÓN REAL</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sp>
        <p:nvSpPr>
          <p:cNvPr id="8" name="Shape 5"/>
          <p:cNvSpPr/>
          <p:nvPr/>
        </p:nvSpPr>
        <p:spPr>
          <a:xfrm>
            <a:off x="566928" y="1737360"/>
            <a:ext cx="11057839" cy="2743200"/>
          </a:xfrm>
          <a:prstGeom prst="rect">
            <a:avLst/>
          </a:prstGeom>
          <a:solidFill>
            <a:srgbClr val="16151B"/>
          </a:solidFill>
          <a:ln w="22225">
            <a:solidFill>
              <a:srgbClr val="16151B"/>
            </a:solidFill>
            <a:prstDash val="solid"/>
          </a:ln>
        </p:spPr>
      </p:sp>
      <p:sp>
        <p:nvSpPr>
          <p:cNvPr id="9" name="Text 6"/>
          <p:cNvSpPr/>
          <p:nvPr/>
        </p:nvSpPr>
        <p:spPr>
          <a:xfrm>
            <a:off x="768096" y="1883664"/>
            <a:ext cx="10655503" cy="2487168"/>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Guardar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secretos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almac</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é</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cifrado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una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vez</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keystore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SEPOLIA_RPC_URL</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keystore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SEPOLIA_PRIVATE_KEY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billetera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DEL</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CURSO</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keystore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ETHERSCAN_API_KEY</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Desplegar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verificar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mismo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dulo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que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S8</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deploy</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modules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s10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FichaCanje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sepolia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parameters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parametros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s10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mi</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json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verify</a:t>
            </a:r>
            <a:endParaRPr lang="en-US" sz="1100" dirty="0"/>
          </a:p>
        </p:txBody>
      </p:sp>
      <p:sp>
        <p:nvSpPr>
          <p:cNvPr id="10" name="Shape 7"/>
          <p:cNvSpPr/>
          <p:nvPr/>
        </p:nvSpPr>
        <p:spPr>
          <a:xfrm>
            <a:off x="566928" y="4617720"/>
            <a:ext cx="11057839" cy="15544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1" name="Image 1" descr="preencoded.png">    </p:cNvPr>
          <p:cNvPicPr>
            <a:picLocks noChangeAspect="1"/>
          </p:cNvPicPr>
          <p:nvPr/>
        </p:nvPicPr>
        <p:blipFill>
          <a:blip r:embed="rId2"/>
          <a:stretch>
            <a:fillRect/>
          </a:stretch>
        </p:blipFill>
        <p:spPr>
          <a:xfrm>
            <a:off x="804672" y="4837176"/>
            <a:ext cx="237744" cy="237744"/>
          </a:xfrm>
          <a:prstGeom prst="rect">
            <a:avLst/>
          </a:prstGeom>
        </p:spPr>
      </p:pic>
      <p:sp>
        <p:nvSpPr>
          <p:cNvPr id="12" name="Text 8"/>
          <p:cNvSpPr/>
          <p:nvPr/>
        </p:nvSpPr>
        <p:spPr>
          <a:xfrm>
            <a:off x="1133856" y="480974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LAS REGLAS QUE NO CAMBIAN</a:t>
            </a:r>
            <a:endParaRPr lang="en-US" sz="950" dirty="0"/>
          </a:p>
        </p:txBody>
      </p:sp>
      <p:sp>
        <p:nvSpPr>
          <p:cNvPr id="13" name="Text 9"/>
          <p:cNvSpPr/>
          <p:nvPr/>
        </p:nvSpPr>
        <p:spPr>
          <a:xfrm>
            <a:off x="804672" y="5129784"/>
            <a:ext cx="10582351" cy="9509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clave privada es la de la billetera del curso, SIN fondos reales. Ninguna clave ni URL con API key se escribe en un archivo del repositorio: solo en el almacén cifrado (keystore). Antes de cada git push: git status, y confirmar que no se sube nada. Si la verificación falla por tiempo, esperar un minuto y repetir el MISMO comando: Ignition sabe que ya desplegó.</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EN LA BILLETERA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IMPORTAR, TRANSFERIR Y CANJEAR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sp>
        <p:nvSpPr>
          <p:cNvPr id="8" name="Shape 5"/>
          <p:cNvSpPr/>
          <p:nvPr/>
        </p:nvSpPr>
        <p:spPr>
          <a:xfrm>
            <a:off x="566928" y="1737360"/>
            <a:ext cx="11057839" cy="658368"/>
          </a:xfrm>
          <a:prstGeom prst="rect">
            <a:avLst/>
          </a:prstGeom>
          <a:solidFill>
            <a:srgbClr val="FFFFFF"/>
          </a:solidFill>
          <a:ln w="15875">
            <a:solidFill>
              <a:srgbClr val="D9D6E0"/>
            </a:solidFill>
            <a:prstDash val="solid"/>
          </a:ln>
        </p:spPr>
      </p:sp>
      <p:sp>
        <p:nvSpPr>
          <p:cNvPr id="9" name="Text 6"/>
          <p:cNvSpPr/>
          <p:nvPr/>
        </p:nvSpPr>
        <p:spPr>
          <a:xfrm>
            <a:off x="694944" y="173736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20240"/>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IMPORTAR EL TOKEN</a:t>
            </a:r>
            <a:endParaRPr lang="en-US" sz="1000" dirty="0"/>
          </a:p>
        </p:txBody>
      </p:sp>
      <p:sp>
        <p:nvSpPr>
          <p:cNvPr id="11" name="Text 8"/>
          <p:cNvSpPr/>
          <p:nvPr/>
        </p:nvSpPr>
        <p:spPr>
          <a:xfrm>
            <a:off x="3749040" y="1828800"/>
            <a:ext cx="77659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 MetaMask: «Importar token» con la dirección del contrato. Recordar A.3: no aparece solo.</a:t>
            </a:r>
            <a:endParaRPr lang="en-US" sz="1250" dirty="0"/>
          </a:p>
        </p:txBody>
      </p:sp>
      <p:sp>
        <p:nvSpPr>
          <p:cNvPr id="12" name="Shape 9"/>
          <p:cNvSpPr/>
          <p:nvPr/>
        </p:nvSpPr>
        <p:spPr>
          <a:xfrm>
            <a:off x="566928" y="2487168"/>
            <a:ext cx="11057839" cy="658368"/>
          </a:xfrm>
          <a:prstGeom prst="rect">
            <a:avLst/>
          </a:prstGeom>
          <a:solidFill>
            <a:srgbClr val="FAF9FB"/>
          </a:solidFill>
          <a:ln w="15875">
            <a:solidFill>
              <a:srgbClr val="D9D6E0"/>
            </a:solidFill>
            <a:prstDash val="solid"/>
          </a:ln>
        </p:spPr>
      </p:sp>
      <p:sp>
        <p:nvSpPr>
          <p:cNvPr id="13" name="Text 10"/>
          <p:cNvSpPr/>
          <p:nvPr/>
        </p:nvSpPr>
        <p:spPr>
          <a:xfrm>
            <a:off x="694944" y="2487168"/>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670048"/>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TRANSFERIR</a:t>
            </a:r>
            <a:endParaRPr lang="en-US" sz="1000" dirty="0"/>
          </a:p>
        </p:txBody>
      </p:sp>
      <p:sp>
        <p:nvSpPr>
          <p:cNvPr id="15" name="Text 12"/>
          <p:cNvSpPr/>
          <p:nvPr/>
        </p:nvSpPr>
        <p:spPr>
          <a:xfrm>
            <a:off x="3749040" y="2578608"/>
            <a:ext cx="77659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Acuñar puntos a un compañero y que él los vea; guardar el hash de una transferencia entre dos cuentas.</a:t>
            </a:r>
            <a:endParaRPr lang="en-US" sz="1250" dirty="0"/>
          </a:p>
        </p:txBody>
      </p:sp>
      <p:sp>
        <p:nvSpPr>
          <p:cNvPr id="16" name="Shape 13"/>
          <p:cNvSpPr/>
          <p:nvPr/>
        </p:nvSpPr>
        <p:spPr>
          <a:xfrm>
            <a:off x="566928" y="3236976"/>
            <a:ext cx="11057839" cy="658368"/>
          </a:xfrm>
          <a:prstGeom prst="rect">
            <a:avLst/>
          </a:prstGeom>
          <a:solidFill>
            <a:srgbClr val="FFFFFF"/>
          </a:solidFill>
          <a:ln w="15875">
            <a:solidFill>
              <a:srgbClr val="D9D6E0"/>
            </a:solidFill>
            <a:prstDash val="solid"/>
          </a:ln>
        </p:spPr>
      </p:sp>
      <p:sp>
        <p:nvSpPr>
          <p:cNvPr id="17" name="Text 14"/>
          <p:cNvSpPr/>
          <p:nvPr/>
        </p:nvSpPr>
        <p:spPr>
          <a:xfrm>
            <a:off x="694944" y="3236976"/>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419856"/>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APROBAR Y CANJEAR</a:t>
            </a:r>
            <a:endParaRPr lang="en-US" sz="1000" dirty="0"/>
          </a:p>
        </p:txBody>
      </p:sp>
      <p:sp>
        <p:nvSpPr>
          <p:cNvPr id="19" name="Text 16"/>
          <p:cNvSpPr/>
          <p:nvPr/>
        </p:nvSpPr>
        <p:spPr>
          <a:xfrm>
            <a:off x="3749040" y="3328416"/>
            <a:ext cx="77659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Desplegar/usar Canje, aprobar el precio desde la billetera, canjear. Revisar que la allowance quedó en cero.</a:t>
            </a:r>
            <a:endParaRPr lang="en-US" sz="1250" dirty="0"/>
          </a:p>
        </p:txBody>
      </p:sp>
      <p:sp>
        <p:nvSpPr>
          <p:cNvPr id="20" name="Shape 17"/>
          <p:cNvSpPr/>
          <p:nvPr/>
        </p:nvSpPr>
        <p:spPr>
          <a:xfrm>
            <a:off x="566928" y="3986784"/>
            <a:ext cx="11057839" cy="658368"/>
          </a:xfrm>
          <a:prstGeom prst="rect">
            <a:avLst/>
          </a:prstGeom>
          <a:solidFill>
            <a:srgbClr val="FAF9FB"/>
          </a:solidFill>
          <a:ln w="15875">
            <a:solidFill>
              <a:srgbClr val="D9D6E0"/>
            </a:solidFill>
            <a:prstDash val="solid"/>
          </a:ln>
        </p:spPr>
      </p:sp>
      <p:sp>
        <p:nvSpPr>
          <p:cNvPr id="21" name="Text 18"/>
          <p:cNvSpPr/>
          <p:nvPr/>
        </p:nvSpPr>
        <p:spPr>
          <a:xfrm>
            <a:off x="694944" y="3986784"/>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169664"/>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REVOCAR</a:t>
            </a:r>
            <a:endParaRPr lang="en-US" sz="1000" dirty="0"/>
          </a:p>
        </p:txBody>
      </p:sp>
      <p:sp>
        <p:nvSpPr>
          <p:cNvPr id="23" name="Text 20"/>
          <p:cNvSpPr/>
          <p:nvPr/>
        </p:nvSpPr>
        <p:spPr>
          <a:xfrm>
            <a:off x="3749040" y="4078224"/>
            <a:ext cx="776599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Aprobar de nuevo y luego poner la aprobación en cero: ver que el canje ya NO funciona (revierte).</a:t>
            </a:r>
            <a:endParaRPr lang="en-US" sz="1250" dirty="0"/>
          </a:p>
        </p:txBody>
      </p:sp>
      <p:sp>
        <p:nvSpPr>
          <p:cNvPr id="24" name="Shape 21"/>
          <p:cNvSpPr/>
          <p:nvPr/>
        </p:nvSpPr>
        <p:spPr>
          <a:xfrm>
            <a:off x="566928" y="4709160"/>
            <a:ext cx="11057839" cy="146304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25" name="Image 1" descr="preencoded.png">    </p:cNvPr>
          <p:cNvPicPr>
            <a:picLocks noChangeAspect="1"/>
          </p:cNvPicPr>
          <p:nvPr/>
        </p:nvPicPr>
        <p:blipFill>
          <a:blip r:embed="rId2"/>
          <a:stretch>
            <a:fillRect/>
          </a:stretch>
        </p:blipFill>
        <p:spPr>
          <a:xfrm>
            <a:off x="804672" y="4928616"/>
            <a:ext cx="237744" cy="237744"/>
          </a:xfrm>
          <a:prstGeom prst="rect">
            <a:avLst/>
          </a:prstGeom>
        </p:spPr>
      </p:pic>
      <p:sp>
        <p:nvSpPr>
          <p:cNvPr id="26" name="Text 22"/>
          <p:cNvSpPr/>
          <p:nvPr/>
        </p:nvSpPr>
        <p:spPr>
          <a:xfrm>
            <a:off x="1133856" y="490118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EL GESTO QUE EVITA LOS ROBOS DE A.6</a:t>
            </a:r>
            <a:endParaRPr lang="en-US" sz="950" dirty="0"/>
          </a:p>
        </p:txBody>
      </p:sp>
      <p:sp>
        <p:nvSpPr>
          <p:cNvPr id="27" name="Text 23"/>
          <p:cNvSpPr/>
          <p:nvPr/>
        </p:nvSpPr>
        <p:spPr>
          <a:xfrm>
            <a:off x="804672" y="5221224"/>
            <a:ext cx="10582351" cy="8595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Antes de firmar cada approve, mirar A QUIÉN se autoriza y CUÁNTO. Aprobar el precio exacto, no una cantidad ilimitada. Revocar cuando ya no se usa es poner la allowance en cero. Es el mismo cuidado que le habría ahorrado 120 millones de dólares a las víctimas de Badger.</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B.3B · ERRORES COMUNES DEL LABORATORIO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SÍNTOMA, CAUSA Y ARREGLO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4572000"/>
                <a:gridCol w="6485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CAUSA Y ARREGLO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187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Desplegué y no veo el token en MetaMask.</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falló: hay que importarlo con la dirección del contrato (A.3).</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87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acunar(ana, 100) y aparece 0,0000000000000001.</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Falta multiplicar por 10 ** decimals() (TODO 1 y 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87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canjear() revierte con ERC20InsufficientAllowance.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aprobaron, aprobaron menos del precio, o ya se gastó/revocó. approve del precio exacto.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87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canjear() revierte con ERC20InsufficientBalance.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Hay allowance pero no saldo: la cuenta no tiene 25 fichas.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187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acunar revierte con OwnableUnauthorizedAccount.</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 llamó desde una cuenta que no desplegó el token. Solo el organizador acuña.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1874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verificación en Etherscan falla.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Falta ETHERSCAN_API_KEY en el keystore, o esperar un minuto y repetir el MISMO comando.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4059936"/>
          </a:xfrm>
          <a:prstGeom prst="rect">
            <a:avLst/>
          </a:prstGeom>
          <a:ln w="22225">
            <a:solidFill>
              <a:srgbClr val="0F0F11"/>
            </a:solidFill>
            <a:prstDash val="solid"/>
          </a:ln>
        </p:spPr>
      </p:sp>
      <p:sp>
        <p:nvSpPr>
          <p:cNvPr id="10" name="Text 6"/>
          <p:cNvSpPr/>
          <p:nvPr/>
        </p:nvSpPr>
        <p:spPr>
          <a:xfrm>
            <a:off x="566928" y="5852160"/>
            <a:ext cx="11057839" cy="36576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La tabla completa, con más casos, está en la guía del laboratorio (sección 10).</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QUÉ SE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EVIDENCIA DEL LABORATORIO 10</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7217359"/>
                <a:gridCol w="146304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EVIDENCIA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3093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Token verificado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FichaUSB en Sepolia, verificado, importado en la billetera.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35 %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3093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Transferencia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Hash de una transferencia entre dos cuentas del curso.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20 %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3093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Canje completo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Hashes de: approve, canjear, y el intento fallido tras revocar.</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30 %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3093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Tokenómica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 párrafo: ¿por qué eligieron ese tope? ¿Quemarían? ¿Cómo repartirían?</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15 %</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871216"/>
          </a:xfrm>
          <a:prstGeom prst="rect">
            <a:avLst/>
          </a:prstGeom>
          <a:ln w="22225">
            <a:solidFill>
              <a:srgbClr val="0F0F11"/>
            </a:solidFill>
            <a:prstDash val="solid"/>
          </a:ln>
        </p:spPr>
      </p:sp>
      <p:sp>
        <p:nvSpPr>
          <p:cNvPr id="10" name="Text 6"/>
          <p:cNvSpPr/>
          <p:nvPr/>
        </p:nvSpPr>
        <p:spPr>
          <a:xfrm>
            <a:off x="566928" y="475488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Todo con hashes verificables en el explorador. Un token que no aparece en la cadena no se califica (política de laboratorios del curso).</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30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PROYECTO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Muchos proyectos no necesitan un token. Decidir eso con honestidad vale tanto como diseñar uno bueno.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10 · TOKENS FUNGIBLES · ERC-20</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LA DECISIÓN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¿SU PROYECTO LLEVA TOKEN, O NO?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39</a:t>
            </a:r>
            <a:endParaRPr lang="en-US" sz="900" dirty="0"/>
          </a:p>
        </p:txBody>
      </p:sp>
      <p:sp>
        <p:nvSpPr>
          <p:cNvPr id="8" name="Shape 5"/>
          <p:cNvSpPr/>
          <p:nvPr/>
        </p:nvSpPr>
        <p:spPr>
          <a:xfrm>
            <a:off x="566928" y="1737360"/>
            <a:ext cx="5391760" cy="23317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SÍ, SI…</a:t>
            </a:r>
            <a:endParaRPr lang="en-US" sz="1050" dirty="0"/>
          </a:p>
        </p:txBody>
      </p:sp>
      <p:sp>
        <p:nvSpPr>
          <p:cNvPr id="10" name="Text 7"/>
          <p:cNvSpPr/>
          <p:nvPr/>
        </p:nvSpPr>
        <p:spPr>
          <a:xfrm>
            <a:off x="841248" y="2304288"/>
            <a:ext cx="4843120" cy="160020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Hay algo intercambiable que circula entre usuarios.</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Se necesita representar valor, puntos o participación fungibles.</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La interoperabilidad con otras apps aporta de verdad.</a:t>
            </a:r>
            <a:endParaRPr lang="en-US" sz="1300" dirty="0"/>
          </a:p>
        </p:txBody>
      </p:sp>
      <p:sp>
        <p:nvSpPr>
          <p:cNvPr id="11" name="Shape 8"/>
          <p:cNvSpPr/>
          <p:nvPr/>
        </p:nvSpPr>
        <p:spPr>
          <a:xfrm>
            <a:off x="6233008" y="1737360"/>
            <a:ext cx="5391760" cy="233172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NO, SI…</a:t>
            </a:r>
            <a:endParaRPr lang="en-US" sz="1050" dirty="0"/>
          </a:p>
        </p:txBody>
      </p:sp>
      <p:sp>
        <p:nvSpPr>
          <p:cNvPr id="13" name="Text 10"/>
          <p:cNvSpPr/>
          <p:nvPr/>
        </p:nvSpPr>
        <p:spPr>
          <a:xfrm>
            <a:off x="6507328" y="2304288"/>
            <a:ext cx="4843120" cy="160020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El token se añade «porque es un curso de blockchain».</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Una variable en un contrato haría lo mismo sin token.</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Solo sirve para especular, sin uso real dentro del proyecto.</a:t>
            </a:r>
            <a:endParaRPr lang="en-US" sz="1300" dirty="0"/>
          </a:p>
        </p:txBody>
      </p:sp>
      <p:sp>
        <p:nvSpPr>
          <p:cNvPr id="14" name="Shape 11"/>
          <p:cNvSpPr/>
          <p:nvPr/>
        </p:nvSpPr>
        <p:spPr>
          <a:xfrm>
            <a:off x="566928" y="4251960"/>
            <a:ext cx="11057839" cy="19202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5" name="Image 1" descr="preencoded.png">    </p:cNvPr>
          <p:cNvPicPr>
            <a:picLocks noChangeAspect="1"/>
          </p:cNvPicPr>
          <p:nvPr/>
        </p:nvPicPr>
        <p:blipFill>
          <a:blip r:embed="rId2"/>
          <a:stretch>
            <a:fillRect/>
          </a:stretch>
        </p:blipFill>
        <p:spPr>
          <a:xfrm>
            <a:off x="804672" y="4471416"/>
            <a:ext cx="237744" cy="237744"/>
          </a:xfrm>
          <a:prstGeom prst="rect">
            <a:avLst/>
          </a:prstGeom>
        </p:spPr>
      </p:pic>
      <p:sp>
        <p:nvSpPr>
          <p:cNvPr id="16" name="Text 12"/>
          <p:cNvSpPr/>
          <p:nvPr/>
        </p:nvSpPr>
        <p:spPr>
          <a:xfrm>
            <a:off x="1133856" y="444398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PLANTILLA DE DECISIÓN (MEDIA PÁGINA, PARA EL AVANCE 1)</a:t>
            </a:r>
            <a:endParaRPr lang="en-US" sz="950" dirty="0"/>
          </a:p>
        </p:txBody>
      </p:sp>
      <p:sp>
        <p:nvSpPr>
          <p:cNvPr id="17" name="Text 13"/>
          <p:cNvSpPr/>
          <p:nvPr/>
        </p:nvSpPr>
        <p:spPr>
          <a:xfrm>
            <a:off x="804672" y="4764024"/>
            <a:ext cx="10582351" cy="13167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Respondan por escrito: (1) ¿Qué circula entre usuarios y por qué debe ser fungible? (2) ¿Una variable en un contrato lo resolvería sin token? (3) Si SÍ lleva token: suministro, emisión, quema y distribución. Si NO: por qué. Las dos respuestas valen igual; lo que no vale es un token decorativo. Es el mismo criterio de pertinencia de la Sesión 1.</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LA PLANTILLA DE DECISIÓN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¿MI PROYECTO LLEVA TOKEN? EN CINCO PREGUNTAS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548640"/>
                <a:gridCol w="5852160"/>
                <a:gridCol w="46570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PREGUNTA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SI LA RESPUESTA 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¿Qué circula entre usuarios, y por qué cada unidad debe ser idéntica a otra?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«Nada circula» → no lleva token.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variable o un mapping en un contrato haría lo mismo?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«Sí» → no lleva token: usen el mapping.</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3</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¿Aporta algo que billeteras y otras apps lo reconozcan (interoperabilidad)?</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 el estándar ERC-20 sobra.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4</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 lleva: ¿suministro, emisión, quema y distribución? (A.11)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Cada respuesta con su porqué, en una línea.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9618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5</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¿Quién puede cambiar las reglas después, y quién lo controla? (A.11c)</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 es una sola llave, justificar por qué.</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328416"/>
          </a:xfrm>
          <a:prstGeom prst="rect">
            <a:avLst/>
          </a:prstGeom>
          <a:ln w="22225">
            <a:solidFill>
              <a:srgbClr val="0F0F11"/>
            </a:solidFill>
            <a:prstDash val="solid"/>
          </a:ln>
        </p:spPr>
      </p:sp>
      <p:sp>
        <p:nvSpPr>
          <p:cNvPr id="10" name="Shape 6"/>
          <p:cNvSpPr/>
          <p:nvPr/>
        </p:nvSpPr>
        <p:spPr>
          <a:xfrm>
            <a:off x="566928" y="5166360"/>
            <a:ext cx="11057839" cy="1024128"/>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5385816"/>
            <a:ext cx="237744" cy="237744"/>
          </a:xfrm>
          <a:prstGeom prst="rect">
            <a:avLst/>
          </a:prstGeom>
        </p:spPr>
      </p:pic>
      <p:sp>
        <p:nvSpPr>
          <p:cNvPr id="12" name="Text 7"/>
          <p:cNvSpPr/>
          <p:nvPr/>
        </p:nvSpPr>
        <p:spPr>
          <a:xfrm>
            <a:off x="1133856" y="5358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EJEMPLO RESUELTO: UN REGISTRO DE DIPLOMAS</a:t>
            </a:r>
            <a:endParaRPr lang="en-US" sz="950" dirty="0"/>
          </a:p>
        </p:txBody>
      </p:sp>
      <p:sp>
        <p:nvSpPr>
          <p:cNvPr id="13" name="Text 8"/>
          <p:cNvSpPr/>
          <p:nvPr/>
        </p:nvSpPr>
        <p:spPr>
          <a:xfrm>
            <a:off x="804672" y="5678424"/>
            <a:ext cx="10582351" cy="420624"/>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Un diploma no es intercambiable (pregunta 1: nada fungible circula) y un mapping lo resuelve (pregunta 2). Conclusión: no lleva ERC-20. Si acaso, un token no fungible, tema de la Sesión 11.</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10 · TOKENS FUNGIBLES · ERC-20</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¿Han aprobado alguna vez una cantidad ilimitada de un token a una aplicación? Revisen sus aprobaciones activas con una herramienta de revocación y cuenten qué encontraron.</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Entregar la evidencia del laboratorio 10 (token verificado + hashes).</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Completar la plantilla de decisión de tokenómica del proyecto (lleva token o no).</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Leer sobre NFTs e IPFS para la Sesión 11: la diferencia entre «el NFT» y «el archivo».</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Quien no haya empezado la nivelación de React: la Sesión 12 la asume por completo.</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Un token no vale por su código. Vale porque todo el ecosistema ya sabe hablarle.</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Hoy construyeron algo fungible: cada unidad igual a otra. La próxima sesión, lo contrario: tokens únicos, y el problema de dónde vive de verdad la imagen.</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11 · NFTS, ERC-721/1155 Y ALMACENAMIENTO DESCENTRALIZADO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10 · ERC-20</dc:title>
  <dc:subject>Sesión 10 · ERC-20</dc:subject>
  <dc:creator>Universidad de San Buenaventura Medellín</dc:creator>
  <cp:lastModifiedBy>Universidad de San Buenaventura Medellín</cp:lastModifiedBy>
  <cp:revision>1</cp:revision>
  <dcterms:created xsi:type="dcterms:W3CDTF">2026-09-18T01:21:57Z</dcterms:created>
  <dcterms:modified xsi:type="dcterms:W3CDTF">2026-09-18T01:21:57Z</dcterms:modified>
</cp:coreProperties>
</file>