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con la plenaria de la pregunta de la semana: ¿qué le falta a un hash para demostrar además quién escribió el dato? Recoger dos o tres propuestas y anunciar que hoy se responde. Esta sesión cierra la parte técnica de la Unidad I.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Comprobar entornos en la apertura.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Tras esta sesión, todo lo que la Sesión 1 afirmó sin demostrar queda demostrado y programado por los propios estudiantes.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 10–70. Criptografía asimétrica sin matemática pesada: la idea, un ejemplo real y los errores de concepto típicos. Todo lo que se muestra aquí se programa en el bloque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pregunta de la semana de la Sesión 2 pedía exactamente esto: diseñar un esquema y encontrar dónde falla. Recoger dos o tres propuestas antes de seguir.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Enunciado así parece contradictorio, y durante siglos la criptografía no supo construirlo. La solución llegó en 1976 con la criptografía de clave pública.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proyecto: la afirmación «el sistema garantiza que fue el usuario» es falsa. Lo que garantiza es que fue quien tenía la clave.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Esa asimetría es toda la construcción: k es la clave privada, P es la clave pública. El problema se llama logaritmo discreto sobre curvas elípticas.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 la clave privada sea «solo» un número sorteado es lo que sorprende a los estudiantes. De ahí sale la alerta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Vincular con la regla general del curso: no se implementa criptografía a mano. Vuelve en la alerta del nonce de firma.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se firma el mensaje: se firma su hash. Por eso una firma de 64 bytes compromete un documento de cualquier tamaño. Ahí encajan las sesiones 2 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Cambiar un solo carácter del mensaje —un cero de más— invalida la firma. La firma no protege «el sentido»: protege los bytes exactos.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columna derecha es la que importa para el proyecto: cada supuesto de la columna derecha que un diseño necesite tiene que resolverse fuera de la criptografía.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moraleja profesional que vale para todo el curso, y se aplica literalmente en el laboratorio de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cuarenta caracteres resaltados en el hash SON la dirección. No hay transformación adicional: se recorta y se antepone 0x.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20 bytes y no 32: por costo. Cada byte almacenado en el estado de todos los nodos del mundo se paga. Es una decisión de ingeniería, no de criptografía.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 78–118, después de la pausa. Ya están todas las piezas; ahora se ensamblan en un bloque. Pedir que tengan a mano la figura del bloque de la Sesión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Ese es el trabajo que hizo la Sesión 2: comprimir un conjunto arbitrariamente grande en 32 bytes verificables.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cuarta es la única que todavía no tenemos. Ese es el gancho de toda la sesión hacia la S4.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secuencia es mecánica y no requiere confiar en nadie. Es la Fig. 2 de la Sesión 1, ahora con la raíz de Merkle explicando el primer eslabón.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falta es un criterio para que toda la red elija la misma cadena. Es el doble gasto de la Sesión 1, reaparecido. Se cierra en la Sesión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nodo completo valida firma, saldos, no repetición y reglas del bloque antes de propagar. Su poder es negarse: un bloque inválido no se propaga, venga de donde venga.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 118–170, en parejas. Laboratorio 02: claves y firmas, dirección y checksum, mini-blockchain. Verificar entornos y dependencia instalada antes de empezar. El error más común está en la serialización.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Parte 1 del laboratorio · ≈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Parte 2 del laboratorio · ≈ 12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Entregable: repositorio con pruebas pasando + media página describiendo qué comprobación falló primero y por qué en ese orden. Antes de la Sesión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cinco explican casi todas las preguntas del laboratorio. Proyectarlos antes ahorra media hora.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 170–180. Síntesis, entregable y el hueco que abre la Sesión 4. No abrir temas nuevos.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esta sesión termina la parte criptográfica del curso. Todo lo que la Sesión 1 afirmó está ahora demostrado y programado.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Anunciar el Quiz 1 con una semana de antelación y recordar que los glosarios de las tres sesiones son acumulativos.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Glosario acumulativo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Glosario acumulativo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Comprobar el vector de keccak al arrancar el laboratorio evita la mitad de los problemas de la parte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la próxima sesión: consenso y trilema, y el Quiz 1 de la Unidad I (sesiones 1 a 4). Entregable de hoy: la mini-blockchain con las pruebas pasando, antes de que empiece la Sesión 4. 1 minuto.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F07F06"/>
          </a:solidFill>
          <a:ln w="12700">
            <a:solidFill>
              <a:srgbClr val="333333"/>
            </a:solidFill>
            <a:prstDash val="solid"/>
          </a:ln>
        </p:spPr>
      </p:sp>
      <p:sp>
        <p:nvSpPr>
          <p:cNvPr id="3" name="Text 1"/>
          <p:cNvSpPr/>
          <p:nvPr/>
        </p:nvSpPr>
        <p:spPr>
          <a:xfrm>
            <a:off x="0" y="1920240"/>
            <a:ext cx="3749040" cy="2743200"/>
          </a:xfrm>
          <a:prstGeom prst="rect">
            <a:avLst/>
          </a:prstGeom>
          <a:noFill/>
          <a:ln/>
        </p:spPr>
        <p:txBody>
          <a:bodyPr wrap="square" lIns="0" tIns="0" rIns="0" bIns="0" rtlCol="0" anchor="ctr"/>
          <a:lstStyle/>
          <a:p>
            <a:pPr algn="ctr" indent="0" marL="0">
              <a:buNone/>
            </a:pPr>
            <a:r>
              <a:rPr lang="en-US" sz="19000" dirty="0">
                <a:solidFill>
                  <a:srgbClr val="0F0F11"/>
                </a:solidFill>
                <a:latin typeface="Arial Black" pitchFamily="34" charset="0"/>
                <a:ea typeface="Arial Black" pitchFamily="34" charset="-122"/>
                <a:cs typeface="Arial Black" pitchFamily="34" charset="-120"/>
              </a:rPr>
              <a:t>03</a:t>
            </a:r>
            <a:endParaRPr lang="en-US" sz="19000" dirty="0"/>
          </a:p>
        </p:txBody>
      </p:sp>
      <p:pic>
        <p:nvPicPr>
          <p:cNvPr id="4" name="Image 0" descr="preencoded.png">    </p:cNvPr>
          <p:cNvPicPr>
            <a:picLocks noChangeAspect="1"/>
          </p:cNvPicPr>
          <p:nvPr/>
        </p:nvPicPr>
        <p:blipFill>
          <a:blip r:embed="rId1"/>
          <a:stretch>
            <a:fillRect/>
          </a:stretch>
        </p:blipFill>
        <p:spPr>
          <a:xfrm>
            <a:off x="4389120" y="1170432"/>
            <a:ext cx="310896" cy="310896"/>
          </a:xfrm>
          <a:prstGeom prst="rect">
            <a:avLst/>
          </a:prstGeom>
        </p:spPr>
      </p:pic>
      <p:sp>
        <p:nvSpPr>
          <p:cNvPr id="5" name="Text 2"/>
          <p:cNvSpPr/>
          <p:nvPr/>
        </p:nvSpPr>
        <p:spPr>
          <a:xfrm>
            <a:off x="4809744" y="1152144"/>
            <a:ext cx="6858000" cy="347472"/>
          </a:xfrm>
          <a:prstGeom prst="rect">
            <a:avLst/>
          </a:prstGeom>
          <a:noFill/>
          <a:ln/>
        </p:spPr>
        <p:txBody>
          <a:bodyPr wrap="square" lIns="0" tIns="0" rIns="0" bIns="0" rtlCol="0" anchor="ctr"/>
          <a:lstStyle/>
          <a:p>
            <a:pPr indent="0" marL="0">
              <a:buNone/>
            </a:pPr>
            <a:r>
              <a:rPr lang="en-US" sz="1050" spc="160" kern="0" dirty="0">
                <a:solidFill>
                  <a:srgbClr val="F07F06"/>
                </a:solidFill>
                <a:latin typeface="Courier New" pitchFamily="34" charset="0"/>
                <a:ea typeface="Courier New" pitchFamily="34" charset="-122"/>
                <a:cs typeface="Courier New" pitchFamily="34" charset="-120"/>
              </a:rPr>
              <a:t>UNIDAD I · FUNDAMENTOS DE SISTEMAS DISTRIBUIDOS CONFIABLES</a:t>
            </a:r>
            <a:endParaRPr lang="en-US" sz="1050" dirty="0"/>
          </a:p>
        </p:txBody>
      </p:sp>
      <p:sp>
        <p:nvSpPr>
          <p:cNvPr id="6" name="Text 3"/>
          <p:cNvSpPr/>
          <p:nvPr/>
        </p:nvSpPr>
        <p:spPr>
          <a:xfrm>
            <a:off x="4389120" y="1783080"/>
            <a:ext cx="7269480" cy="2286000"/>
          </a:xfrm>
          <a:prstGeom prst="rect">
            <a:avLst/>
          </a:prstGeom>
          <a:noFill/>
          <a:ln/>
        </p:spPr>
        <p:txBody>
          <a:bodyPr wrap="square" lIns="0" tIns="0" rIns="0" bIns="0" rtlCol="0" anchor="t"/>
          <a:lstStyle/>
          <a:p>
            <a:pPr indent="0" marL="0">
              <a:lnSpc>
                <a:spcPct val="95000"/>
              </a:lnSpc>
              <a:buNone/>
            </a:pPr>
            <a:r>
              <a:rPr lang="en-US" sz="4300" dirty="0">
                <a:solidFill>
                  <a:srgbClr val="FFFFFF"/>
                </a:solidFill>
                <a:latin typeface="Arial Black" pitchFamily="34" charset="0"/>
                <a:ea typeface="Arial Black" pitchFamily="34" charset="-122"/>
                <a:cs typeface="Arial Black" pitchFamily="34" charset="-120"/>
              </a:rPr>
              <a:t>FIRMAS DIGITALES</a:t>
            </a:r>
            <a:endParaRPr lang="en-US" sz="4300" dirty="0"/>
          </a:p>
          <a:p>
            <a:pPr indent="0" marL="0">
              <a:lnSpc>
                <a:spcPct val="95000"/>
              </a:lnSpc>
              <a:buNone/>
            </a:pPr>
            <a:r>
              <a:rPr lang="en-US" sz="4300" dirty="0">
                <a:solidFill>
                  <a:srgbClr val="FFFFFF"/>
                </a:solidFill>
                <a:latin typeface="Arial Black" pitchFamily="34" charset="0"/>
                <a:ea typeface="Arial Black" pitchFamily="34" charset="-122"/>
                <a:cs typeface="Arial Black" pitchFamily="34" charset="-120"/>
              </a:rPr>
              <a:t>Y ANATOMÍA DE LA CADENA</a:t>
            </a:r>
            <a:endParaRPr lang="en-US" sz="4300" dirty="0"/>
          </a:p>
        </p:txBody>
      </p:sp>
      <p:sp>
        <p:nvSpPr>
          <p:cNvPr id="7" name="Text 4"/>
          <p:cNvSpPr/>
          <p:nvPr/>
        </p:nvSpPr>
        <p:spPr>
          <a:xfrm>
            <a:off x="4389120" y="4224528"/>
            <a:ext cx="7269480" cy="731520"/>
          </a:xfrm>
          <a:prstGeom prst="rect">
            <a:avLst/>
          </a:prstGeom>
          <a:noFill/>
          <a:ln/>
        </p:spPr>
        <p:txBody>
          <a:bodyPr wrap="square" lIns="0" tIns="0" rIns="0" bIns="0" rtlCol="0" anchor="t"/>
          <a:lstStyle/>
          <a:p>
            <a:pPr indent="0" marL="0">
              <a:lnSpc>
                <a:spcPct val="125000"/>
              </a:lnSpc>
              <a:buNone/>
            </a:pPr>
            <a:r>
              <a:rPr lang="en-US" sz="1450" dirty="0">
                <a:solidFill>
                  <a:srgbClr val="B9B4C4"/>
                </a:solidFill>
                <a:latin typeface="Arial" pitchFamily="34" charset="0"/>
                <a:ea typeface="Arial" pitchFamily="34" charset="-122"/>
                <a:cs typeface="Arial" pitchFamily="34" charset="-120"/>
              </a:rPr>
              <a:t>Blockchain y Web 3.0 · Ingeniería de Sistemas</a:t>
            </a:r>
            <a:endParaRPr lang="en-US" sz="1450" dirty="0"/>
          </a:p>
          <a:p>
            <a:pPr indent="0" marL="0">
              <a:lnSpc>
                <a:spcPct val="125000"/>
              </a:lnSpc>
              <a:buNone/>
            </a:pPr>
            <a:r>
              <a:rPr lang="en-US" sz="1450" dirty="0">
                <a:solidFill>
                  <a:srgbClr val="B9B4C4"/>
                </a:solidFill>
                <a:latin typeface="Arial" pitchFamily="34" charset="0"/>
                <a:ea typeface="Arial" pitchFamily="34" charset="-122"/>
                <a:cs typeface="Arial" pitchFamily="34" charset="-120"/>
              </a:rPr>
              <a:t>Universidad de San Buenaventura Medellín</a:t>
            </a:r>
            <a:endParaRPr lang="en-US" sz="1450" dirty="0"/>
          </a:p>
        </p:txBody>
      </p:sp>
      <p:sp>
        <p:nvSpPr>
          <p:cNvPr id="8" name="Text 5"/>
          <p:cNvSpPr/>
          <p:nvPr/>
        </p:nvSpPr>
        <p:spPr>
          <a:xfrm>
            <a:off x="4389120" y="5230368"/>
            <a:ext cx="1691640" cy="457200"/>
          </a:xfrm>
          <a:prstGeom prst="rect">
            <a:avLst/>
          </a:prstGeom>
          <a:noFill/>
          <a:ln/>
        </p:spPr>
        <p:txBody>
          <a:bodyPr wrap="square" lIns="0" tIns="0" rIns="0" bIns="0" rtlCol="0" anchor="t"/>
          <a:lstStyle/>
          <a:p>
            <a:pPr indent="0" marL="0">
              <a:lnSpc>
                <a:spcPct val="105000"/>
              </a:lnSpc>
              <a:buNone/>
            </a:pPr>
            <a:r>
              <a:rPr lang="en-US" sz="1150" b="1" dirty="0">
                <a:solidFill>
                  <a:srgbClr val="FFFFFF"/>
                </a:solidFill>
                <a:latin typeface="Courier New" pitchFamily="34" charset="0"/>
                <a:ea typeface="Courier New" pitchFamily="34" charset="-122"/>
                <a:cs typeface="Courier New" pitchFamily="34" charset="-120"/>
              </a:rPr>
              <a:t>180 MIN</a:t>
            </a:r>
            <a:endParaRPr lang="en-US" sz="1150" dirty="0"/>
          </a:p>
        </p:txBody>
      </p:sp>
      <p:sp>
        <p:nvSpPr>
          <p:cNvPr id="9" name="Text 6"/>
          <p:cNvSpPr/>
          <p:nvPr/>
        </p:nvSpPr>
        <p:spPr>
          <a:xfrm>
            <a:off x="4389120" y="5705856"/>
            <a:ext cx="1691640" cy="256032"/>
          </a:xfrm>
          <a:prstGeom prst="rect">
            <a:avLst/>
          </a:prstGeom>
          <a:noFill/>
          <a:ln/>
        </p:spPr>
        <p:txBody>
          <a:bodyPr wrap="square" lIns="0" tIns="0" rIns="0" bIns="0" rtlCol="0" anchor="t"/>
          <a:lstStyle/>
          <a:p>
            <a:pPr indent="0" marL="0">
              <a:buNone/>
            </a:pPr>
            <a:r>
              <a:rPr lang="en-US" sz="850" spc="120" kern="0" dirty="0">
                <a:solidFill>
                  <a:srgbClr val="A39EAF"/>
                </a:solidFill>
                <a:latin typeface="Courier New" pitchFamily="34" charset="0"/>
                <a:ea typeface="Courier New" pitchFamily="34" charset="-122"/>
                <a:cs typeface="Courier New" pitchFamily="34" charset="-120"/>
              </a:rPr>
              <a:t>DURACIÓN</a:t>
            </a:r>
            <a:endParaRPr lang="en-US" sz="850" dirty="0"/>
          </a:p>
        </p:txBody>
      </p:sp>
      <p:sp>
        <p:nvSpPr>
          <p:cNvPr id="10" name="Text 7"/>
          <p:cNvSpPr/>
          <p:nvPr/>
        </p:nvSpPr>
        <p:spPr>
          <a:xfrm>
            <a:off x="6217920" y="5230368"/>
            <a:ext cx="1691640" cy="457200"/>
          </a:xfrm>
          <a:prstGeom prst="rect">
            <a:avLst/>
          </a:prstGeom>
          <a:noFill/>
          <a:ln/>
        </p:spPr>
        <p:txBody>
          <a:bodyPr wrap="square" lIns="0" tIns="0" rIns="0" bIns="0" rtlCol="0" anchor="t"/>
          <a:lstStyle/>
          <a:p>
            <a:pPr indent="0" marL="0">
              <a:lnSpc>
                <a:spcPct val="105000"/>
              </a:lnSpc>
              <a:buNone/>
            </a:pPr>
            <a:r>
              <a:rPr lang="en-US" sz="1150" b="1" dirty="0">
                <a:solidFill>
                  <a:srgbClr val="FFFFFF"/>
                </a:solidFill>
                <a:latin typeface="Courier New" pitchFamily="34" charset="0"/>
                <a:ea typeface="Courier New" pitchFamily="34" charset="-122"/>
                <a:cs typeface="Courier New" pitchFamily="34" charset="-120"/>
              </a:rPr>
              <a:t>TEÓRICO-</a:t>
            </a:r>
            <a:endParaRPr lang="en-US" sz="1150" dirty="0"/>
          </a:p>
          <a:p>
            <a:pPr indent="0" marL="0">
              <a:lnSpc>
                <a:spcPct val="105000"/>
              </a:lnSpc>
              <a:buNone/>
            </a:pPr>
            <a:r>
              <a:rPr lang="en-US" sz="1150" b="1" dirty="0">
                <a:solidFill>
                  <a:srgbClr val="FFFFFF"/>
                </a:solidFill>
                <a:latin typeface="Courier New" pitchFamily="34" charset="0"/>
                <a:ea typeface="Courier New" pitchFamily="34" charset="-122"/>
                <a:cs typeface="Courier New" pitchFamily="34" charset="-120"/>
              </a:rPr>
              <a:t>PRÁCTICA</a:t>
            </a:r>
            <a:endParaRPr lang="en-US" sz="1150" dirty="0"/>
          </a:p>
        </p:txBody>
      </p:sp>
      <p:sp>
        <p:nvSpPr>
          <p:cNvPr id="11" name="Text 8"/>
          <p:cNvSpPr/>
          <p:nvPr/>
        </p:nvSpPr>
        <p:spPr>
          <a:xfrm>
            <a:off x="6217920" y="5705856"/>
            <a:ext cx="1691640" cy="256032"/>
          </a:xfrm>
          <a:prstGeom prst="rect">
            <a:avLst/>
          </a:prstGeom>
          <a:noFill/>
          <a:ln/>
        </p:spPr>
        <p:txBody>
          <a:bodyPr wrap="square" lIns="0" tIns="0" rIns="0" bIns="0" rtlCol="0" anchor="t"/>
          <a:lstStyle/>
          <a:p>
            <a:pPr indent="0" marL="0">
              <a:buNone/>
            </a:pPr>
            <a:r>
              <a:rPr lang="en-US" sz="850" spc="120" kern="0" dirty="0">
                <a:solidFill>
                  <a:srgbClr val="A39EAF"/>
                </a:solidFill>
                <a:latin typeface="Courier New" pitchFamily="34" charset="0"/>
                <a:ea typeface="Courier New" pitchFamily="34" charset="-122"/>
                <a:cs typeface="Courier New" pitchFamily="34" charset="-120"/>
              </a:rPr>
              <a:t>MODALIDAD</a:t>
            </a:r>
            <a:endParaRPr lang="en-US" sz="850" dirty="0"/>
          </a:p>
        </p:txBody>
      </p:sp>
      <p:sp>
        <p:nvSpPr>
          <p:cNvPr id="12" name="Text 9"/>
          <p:cNvSpPr/>
          <p:nvPr/>
        </p:nvSpPr>
        <p:spPr>
          <a:xfrm>
            <a:off x="8046720" y="5230368"/>
            <a:ext cx="1691640" cy="457200"/>
          </a:xfrm>
          <a:prstGeom prst="rect">
            <a:avLst/>
          </a:prstGeom>
          <a:noFill/>
          <a:ln/>
        </p:spPr>
        <p:txBody>
          <a:bodyPr wrap="square" lIns="0" tIns="0" rIns="0" bIns="0" rtlCol="0" anchor="t"/>
          <a:lstStyle/>
          <a:p>
            <a:pPr indent="0" marL="0">
              <a:lnSpc>
                <a:spcPct val="105000"/>
              </a:lnSpc>
              <a:buNone/>
            </a:pPr>
            <a:r>
              <a:rPr lang="en-US" sz="1150" b="1" dirty="0">
                <a:solidFill>
                  <a:srgbClr val="FFFFFF"/>
                </a:solidFill>
                <a:latin typeface="Courier New" pitchFamily="34" charset="0"/>
                <a:ea typeface="Courier New" pitchFamily="34" charset="-122"/>
                <a:cs typeface="Courier New" pitchFamily="34" charset="-120"/>
              </a:rPr>
              <a:t>LAB 01</a:t>
            </a:r>
            <a:endParaRPr lang="en-US" sz="1150" dirty="0"/>
          </a:p>
          <a:p>
            <a:pPr indent="0" marL="0">
              <a:lnSpc>
                <a:spcPct val="105000"/>
              </a:lnSpc>
              <a:buNone/>
            </a:pPr>
            <a:r>
              <a:rPr lang="en-US" sz="1150" b="1" dirty="0">
                <a:solidFill>
                  <a:srgbClr val="FFFFFF"/>
                </a:solidFill>
                <a:latin typeface="Courier New" pitchFamily="34" charset="0"/>
                <a:ea typeface="Courier New" pitchFamily="34" charset="-122"/>
                <a:cs typeface="Courier New" pitchFamily="34" charset="-120"/>
              </a:rPr>
              <a:t>ENTREGADO</a:t>
            </a:r>
            <a:endParaRPr lang="en-US" sz="1150" dirty="0"/>
          </a:p>
        </p:txBody>
      </p:sp>
      <p:sp>
        <p:nvSpPr>
          <p:cNvPr id="13" name="Text 10"/>
          <p:cNvSpPr/>
          <p:nvPr/>
        </p:nvSpPr>
        <p:spPr>
          <a:xfrm>
            <a:off x="8046720" y="5705856"/>
            <a:ext cx="1691640" cy="256032"/>
          </a:xfrm>
          <a:prstGeom prst="rect">
            <a:avLst/>
          </a:prstGeom>
          <a:noFill/>
          <a:ln/>
        </p:spPr>
        <p:txBody>
          <a:bodyPr wrap="square" lIns="0" tIns="0" rIns="0" bIns="0" rtlCol="0" anchor="t"/>
          <a:lstStyle/>
          <a:p>
            <a:pPr indent="0" marL="0">
              <a:buNone/>
            </a:pPr>
            <a:r>
              <a:rPr lang="en-US" sz="850" spc="120" kern="0" dirty="0">
                <a:solidFill>
                  <a:srgbClr val="A39EAF"/>
                </a:solidFill>
                <a:latin typeface="Courier New" pitchFamily="34" charset="0"/>
                <a:ea typeface="Courier New" pitchFamily="34" charset="-122"/>
                <a:cs typeface="Courier New" pitchFamily="34" charset="-120"/>
              </a:rPr>
              <a:t>PRERREQUISITO</a:t>
            </a:r>
            <a:endParaRPr lang="en-US" sz="850" dirty="0"/>
          </a:p>
        </p:txBody>
      </p:sp>
      <p:sp>
        <p:nvSpPr>
          <p:cNvPr id="14" name="Text 11"/>
          <p:cNvSpPr/>
          <p:nvPr/>
        </p:nvSpPr>
        <p:spPr>
          <a:xfrm>
            <a:off x="9875520" y="5230368"/>
            <a:ext cx="1691640" cy="457200"/>
          </a:xfrm>
          <a:prstGeom prst="rect">
            <a:avLst/>
          </a:prstGeom>
          <a:noFill/>
          <a:ln/>
        </p:spPr>
        <p:txBody>
          <a:bodyPr wrap="square" lIns="0" tIns="0" rIns="0" bIns="0" rtlCol="0" anchor="t"/>
          <a:lstStyle/>
          <a:p>
            <a:pPr indent="0" marL="0">
              <a:lnSpc>
                <a:spcPct val="105000"/>
              </a:lnSpc>
              <a:buNone/>
            </a:pPr>
            <a:r>
              <a:rPr lang="en-US" sz="1150" b="1" dirty="0">
                <a:solidFill>
                  <a:srgbClr val="FFFFFF"/>
                </a:solidFill>
                <a:latin typeface="Courier New" pitchFamily="34" charset="0"/>
                <a:ea typeface="Courier New" pitchFamily="34" charset="-122"/>
                <a:cs typeface="Courier New" pitchFamily="34" charset="-120"/>
              </a:rPr>
              <a:t>MINI-</a:t>
            </a:r>
            <a:endParaRPr lang="en-US" sz="1150" dirty="0"/>
          </a:p>
          <a:p>
            <a:pPr indent="0" marL="0">
              <a:lnSpc>
                <a:spcPct val="105000"/>
              </a:lnSpc>
              <a:buNone/>
            </a:pPr>
            <a:r>
              <a:rPr lang="en-US" sz="1150" b="1" dirty="0">
                <a:solidFill>
                  <a:srgbClr val="FFFFFF"/>
                </a:solidFill>
                <a:latin typeface="Courier New" pitchFamily="34" charset="0"/>
                <a:ea typeface="Courier New" pitchFamily="34" charset="-122"/>
                <a:cs typeface="Courier New" pitchFamily="34" charset="-120"/>
              </a:rPr>
              <a:t>BLOCKCHAIN</a:t>
            </a:r>
            <a:endParaRPr lang="en-US" sz="1150" dirty="0"/>
          </a:p>
        </p:txBody>
      </p:sp>
      <p:sp>
        <p:nvSpPr>
          <p:cNvPr id="15" name="Text 12"/>
          <p:cNvSpPr/>
          <p:nvPr/>
        </p:nvSpPr>
        <p:spPr>
          <a:xfrm>
            <a:off x="9875520" y="5705856"/>
            <a:ext cx="1691640" cy="256032"/>
          </a:xfrm>
          <a:prstGeom prst="rect">
            <a:avLst/>
          </a:prstGeom>
          <a:noFill/>
          <a:ln/>
        </p:spPr>
        <p:txBody>
          <a:bodyPr wrap="square" lIns="0" tIns="0" rIns="0" bIns="0" rtlCol="0" anchor="t"/>
          <a:lstStyle/>
          <a:p>
            <a:pPr indent="0" marL="0">
              <a:buNone/>
            </a:pPr>
            <a:r>
              <a:rPr lang="en-US" sz="850" spc="120" kern="0" dirty="0">
                <a:solidFill>
                  <a:srgbClr val="A39EAF"/>
                </a:solidFill>
                <a:latin typeface="Courier New" pitchFamily="34" charset="0"/>
                <a:ea typeface="Courier New" pitchFamily="34" charset="-122"/>
                <a:cs typeface="Courier New" pitchFamily="34" charset="-120"/>
              </a:rPr>
              <a:t>ENTREGABLE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PRELIMINAR · PARA PODER TRABAJAR HOY</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LO QUE HAY QUE TRAER</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02</a:t>
            </a:r>
            <a:endParaRPr lang="en-US" sz="900" dirty="0"/>
          </a:p>
        </p:txBody>
      </p:sp>
      <p:sp>
        <p:nvSpPr>
          <p:cNvPr id="8" name="Text 5"/>
          <p:cNvSpPr/>
          <p:nvPr/>
        </p:nvSpPr>
        <p:spPr>
          <a:xfrm>
            <a:off x="566928" y="2057400"/>
            <a:ext cx="731520" cy="457200"/>
          </a:xfrm>
          <a:prstGeom prst="rect">
            <a:avLst/>
          </a:prstGeom>
          <a:noFill/>
          <a:ln/>
        </p:spPr>
        <p:txBody>
          <a:bodyPr wrap="square" lIns="0" tIns="0" rIns="0" bIns="0" rtlCol="0" anchor="ctr"/>
          <a:lstStyle/>
          <a:p>
            <a:pPr indent="0" marL="0">
              <a:buNone/>
            </a:pPr>
            <a:r>
              <a:rPr lang="en-US" sz="2600" dirty="0">
                <a:solidFill>
                  <a:srgbClr val="F07F06"/>
                </a:solidFill>
                <a:latin typeface="Arial Black" pitchFamily="34" charset="0"/>
                <a:ea typeface="Arial Black" pitchFamily="34" charset="-122"/>
                <a:cs typeface="Arial Black" pitchFamily="34" charset="-120"/>
              </a:rPr>
              <a:t>01</a:t>
            </a:r>
            <a:endParaRPr lang="en-US" sz="2600" dirty="0"/>
          </a:p>
        </p:txBody>
      </p:sp>
      <p:sp>
        <p:nvSpPr>
          <p:cNvPr id="9" name="Text 6"/>
          <p:cNvSpPr/>
          <p:nvPr/>
        </p:nvSpPr>
        <p:spPr>
          <a:xfrm>
            <a:off x="1435608" y="2011680"/>
            <a:ext cx="4754880" cy="365760"/>
          </a:xfrm>
          <a:prstGeom prst="rect">
            <a:avLst/>
          </a:prstGeom>
          <a:noFill/>
          <a:ln/>
        </p:spPr>
        <p:txBody>
          <a:bodyPr wrap="square" lIns="0" tIns="0" rIns="0" bIns="0" rtlCol="0" anchor="ctr"/>
          <a:lstStyle/>
          <a:p>
            <a:pPr indent="0" marL="0">
              <a:buNone/>
            </a:pPr>
            <a:r>
              <a:rPr lang="en-US" sz="1100" b="1" spc="115" kern="0" dirty="0">
                <a:solidFill>
                  <a:srgbClr val="0F0F11"/>
                </a:solidFill>
                <a:latin typeface="Courier New" pitchFamily="34" charset="0"/>
                <a:ea typeface="Courier New" pitchFamily="34" charset="-122"/>
                <a:cs typeface="Courier New" pitchFamily="34" charset="-120"/>
              </a:rPr>
              <a:t>EL LABORATORIO 01 FUNCIONANDO</a:t>
            </a:r>
            <a:endParaRPr lang="en-US" sz="1100" dirty="0"/>
          </a:p>
        </p:txBody>
      </p:sp>
      <p:sp>
        <p:nvSpPr>
          <p:cNvPr id="10" name="Text 7"/>
          <p:cNvSpPr/>
          <p:nvPr/>
        </p:nvSpPr>
        <p:spPr>
          <a:xfrm>
            <a:off x="6327648" y="1993392"/>
            <a:ext cx="5297119" cy="10058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El de hoy REUTILIZA la función de hash y el árbol de Merkle de la sesión pasada. Se entrega una implementación de referencia, pero conviene llegar con la propia.</a:t>
            </a:r>
            <a:endParaRPr lang="en-US" sz="1300" dirty="0"/>
          </a:p>
        </p:txBody>
      </p:sp>
      <p:sp>
        <p:nvSpPr>
          <p:cNvPr id="11" name="Shape 8"/>
          <p:cNvSpPr/>
          <p:nvPr/>
        </p:nvSpPr>
        <p:spPr>
          <a:xfrm>
            <a:off x="566928" y="1847088"/>
            <a:ext cx="11057839" cy="0"/>
          </a:xfrm>
          <a:prstGeom prst="line">
            <a:avLst/>
          </a:prstGeom>
          <a:noFill/>
          <a:ln w="12700">
            <a:solidFill>
              <a:srgbClr val="D9D6E0"/>
            </a:solidFill>
            <a:prstDash val="solid"/>
          </a:ln>
        </p:spPr>
      </p:sp>
      <p:sp>
        <p:nvSpPr>
          <p:cNvPr id="12" name="Text 9"/>
          <p:cNvSpPr/>
          <p:nvPr/>
        </p:nvSpPr>
        <p:spPr>
          <a:xfrm>
            <a:off x="566928" y="3154680"/>
            <a:ext cx="731520" cy="457200"/>
          </a:xfrm>
          <a:prstGeom prst="rect">
            <a:avLst/>
          </a:prstGeom>
          <a:noFill/>
          <a:ln/>
        </p:spPr>
        <p:txBody>
          <a:bodyPr wrap="square" lIns="0" tIns="0" rIns="0" bIns="0" rtlCol="0" anchor="ctr"/>
          <a:lstStyle/>
          <a:p>
            <a:pPr indent="0" marL="0">
              <a:buNone/>
            </a:pPr>
            <a:r>
              <a:rPr lang="en-US" sz="2600" dirty="0">
                <a:solidFill>
                  <a:srgbClr val="F07F06"/>
                </a:solidFill>
                <a:latin typeface="Arial Black" pitchFamily="34" charset="0"/>
                <a:ea typeface="Arial Black" pitchFamily="34" charset="-122"/>
                <a:cs typeface="Arial Black" pitchFamily="34" charset="-120"/>
              </a:rPr>
              <a:t>02</a:t>
            </a:r>
            <a:endParaRPr lang="en-US" sz="2600" dirty="0"/>
          </a:p>
        </p:txBody>
      </p:sp>
      <p:sp>
        <p:nvSpPr>
          <p:cNvPr id="13" name="Text 10"/>
          <p:cNvSpPr/>
          <p:nvPr/>
        </p:nvSpPr>
        <p:spPr>
          <a:xfrm>
            <a:off x="1435608" y="3108960"/>
            <a:ext cx="4754880" cy="365760"/>
          </a:xfrm>
          <a:prstGeom prst="rect">
            <a:avLst/>
          </a:prstGeom>
          <a:noFill/>
          <a:ln/>
        </p:spPr>
        <p:txBody>
          <a:bodyPr wrap="square" lIns="0" tIns="0" rIns="0" bIns="0" rtlCol="0" anchor="ctr"/>
          <a:lstStyle/>
          <a:p>
            <a:pPr indent="0" marL="0">
              <a:buNone/>
            </a:pPr>
            <a:r>
              <a:rPr lang="en-US" sz="1100" b="1" spc="115" kern="0" dirty="0">
                <a:solidFill>
                  <a:srgbClr val="0F0F11"/>
                </a:solidFill>
                <a:latin typeface="Courier New" pitchFamily="34" charset="0"/>
                <a:ea typeface="Courier New" pitchFamily="34" charset="-122"/>
                <a:cs typeface="Courier New" pitchFamily="34" charset="-120"/>
              </a:rPr>
              <a:t>LA DEPENDENCIA NUEVA INSTALADA</a:t>
            </a:r>
            <a:endParaRPr lang="en-US" sz="1100" dirty="0"/>
          </a:p>
        </p:txBody>
      </p:sp>
      <p:sp>
        <p:nvSpPr>
          <p:cNvPr id="14" name="Text 11"/>
          <p:cNvSpPr/>
          <p:nvPr/>
        </p:nvSpPr>
        <p:spPr>
          <a:xfrm>
            <a:off x="6327648" y="3090672"/>
            <a:ext cx="5297119" cy="10058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Está en el archivo de requisitos del laboratorio. Instalarla antes de clase ahorra diez minutos.</a:t>
            </a:r>
            <a:endParaRPr lang="en-US" sz="1300" dirty="0"/>
          </a:p>
        </p:txBody>
      </p:sp>
      <p:sp>
        <p:nvSpPr>
          <p:cNvPr id="15" name="Shape 12"/>
          <p:cNvSpPr/>
          <p:nvPr/>
        </p:nvSpPr>
        <p:spPr>
          <a:xfrm>
            <a:off x="566928" y="2944368"/>
            <a:ext cx="11057839" cy="0"/>
          </a:xfrm>
          <a:prstGeom prst="line">
            <a:avLst/>
          </a:prstGeom>
          <a:noFill/>
          <a:ln w="12700">
            <a:solidFill>
              <a:srgbClr val="D9D6E0"/>
            </a:solidFill>
            <a:prstDash val="solid"/>
          </a:ln>
        </p:spPr>
      </p:sp>
      <p:sp>
        <p:nvSpPr>
          <p:cNvPr id="16" name="Text 13"/>
          <p:cNvSpPr/>
          <p:nvPr/>
        </p:nvSpPr>
        <p:spPr>
          <a:xfrm>
            <a:off x="566928" y="4251960"/>
            <a:ext cx="731520" cy="457200"/>
          </a:xfrm>
          <a:prstGeom prst="rect">
            <a:avLst/>
          </a:prstGeom>
          <a:noFill/>
          <a:ln/>
        </p:spPr>
        <p:txBody>
          <a:bodyPr wrap="square" lIns="0" tIns="0" rIns="0" bIns="0" rtlCol="0" anchor="ctr"/>
          <a:lstStyle/>
          <a:p>
            <a:pPr indent="0" marL="0">
              <a:buNone/>
            </a:pPr>
            <a:r>
              <a:rPr lang="en-US" sz="2600" dirty="0">
                <a:solidFill>
                  <a:srgbClr val="F07F06"/>
                </a:solidFill>
                <a:latin typeface="Arial Black" pitchFamily="34" charset="0"/>
                <a:ea typeface="Arial Black" pitchFamily="34" charset="-122"/>
                <a:cs typeface="Arial Black" pitchFamily="34" charset="-120"/>
              </a:rPr>
              <a:t>03</a:t>
            </a:r>
            <a:endParaRPr lang="en-US" sz="2600" dirty="0"/>
          </a:p>
        </p:txBody>
      </p:sp>
      <p:sp>
        <p:nvSpPr>
          <p:cNvPr id="17" name="Text 14"/>
          <p:cNvSpPr/>
          <p:nvPr/>
        </p:nvSpPr>
        <p:spPr>
          <a:xfrm>
            <a:off x="1435608" y="4206240"/>
            <a:ext cx="4754880" cy="365760"/>
          </a:xfrm>
          <a:prstGeom prst="rect">
            <a:avLst/>
          </a:prstGeom>
          <a:noFill/>
          <a:ln/>
        </p:spPr>
        <p:txBody>
          <a:bodyPr wrap="square" lIns="0" tIns="0" rIns="0" bIns="0" rtlCol="0" anchor="ctr"/>
          <a:lstStyle/>
          <a:p>
            <a:pPr indent="0" marL="0">
              <a:buNone/>
            </a:pPr>
            <a:r>
              <a:rPr lang="en-US" sz="1100" b="1" spc="115" kern="0" dirty="0">
                <a:solidFill>
                  <a:srgbClr val="0F0F11"/>
                </a:solidFill>
                <a:latin typeface="Courier New" pitchFamily="34" charset="0"/>
                <a:ea typeface="Courier New" pitchFamily="34" charset="-122"/>
                <a:cs typeface="Courier New" pitchFamily="34" charset="-120"/>
              </a:rPr>
              <a:t>LA PREGUNTA DE LA SEMANA PENSADA</a:t>
            </a:r>
            <a:endParaRPr lang="en-US" sz="1100" dirty="0"/>
          </a:p>
        </p:txBody>
      </p:sp>
      <p:sp>
        <p:nvSpPr>
          <p:cNvPr id="18" name="Text 15"/>
          <p:cNvSpPr/>
          <p:nvPr/>
        </p:nvSpPr>
        <p:spPr>
          <a:xfrm>
            <a:off x="6327648" y="4187952"/>
            <a:ext cx="5297119" cy="10058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Qué le falta a un hash para demostrar además quién escribió el dato. Abre la sesión.</a:t>
            </a:r>
            <a:endParaRPr lang="en-US" sz="1300" dirty="0"/>
          </a:p>
        </p:txBody>
      </p:sp>
      <p:sp>
        <p:nvSpPr>
          <p:cNvPr id="19" name="Shape 16"/>
          <p:cNvSpPr/>
          <p:nvPr/>
        </p:nvSpPr>
        <p:spPr>
          <a:xfrm>
            <a:off x="566928" y="4041648"/>
            <a:ext cx="11057839" cy="0"/>
          </a:xfrm>
          <a:prstGeom prst="line">
            <a:avLst/>
          </a:prstGeom>
          <a:noFill/>
          <a:ln w="12700">
            <a:solidFill>
              <a:srgbClr val="D9D6E0"/>
            </a:solidFill>
            <a:prstDash val="solid"/>
          </a:ln>
        </p:spPr>
      </p:sp>
      <p:sp>
        <p:nvSpPr>
          <p:cNvPr id="20" name="Shape 17"/>
          <p:cNvSpPr/>
          <p:nvPr/>
        </p:nvSpPr>
        <p:spPr>
          <a:xfrm>
            <a:off x="566928" y="5138928"/>
            <a:ext cx="11057839" cy="0"/>
          </a:xfrm>
          <a:prstGeom prst="line">
            <a:avLst/>
          </a:prstGeom>
          <a:noFill/>
          <a:ln w="12700">
            <a:solidFill>
              <a:srgbClr val="D9D6E0"/>
            </a:solidFill>
            <a:prstDash val="solid"/>
          </a:ln>
        </p:spPr>
      </p:sp>
      <p:sp>
        <p:nvSpPr>
          <p:cNvPr id="21" name="Shape 18"/>
          <p:cNvSpPr/>
          <p:nvPr/>
        </p:nvSpPr>
        <p:spPr>
          <a:xfrm>
            <a:off x="566928" y="5285232"/>
            <a:ext cx="11057839" cy="841248"/>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22" name="Image 1" descr="preencoded.png">    </p:cNvPr>
          <p:cNvPicPr>
            <a:picLocks noChangeAspect="1"/>
          </p:cNvPicPr>
          <p:nvPr/>
        </p:nvPicPr>
        <p:blipFill>
          <a:blip r:embed="rId2"/>
          <a:stretch>
            <a:fillRect/>
          </a:stretch>
        </p:blipFill>
        <p:spPr>
          <a:xfrm>
            <a:off x="804672" y="5504688"/>
            <a:ext cx="237744" cy="237744"/>
          </a:xfrm>
          <a:prstGeom prst="rect">
            <a:avLst/>
          </a:prstGeom>
        </p:spPr>
      </p:pic>
      <p:sp>
        <p:nvSpPr>
          <p:cNvPr id="23" name="Text 19"/>
          <p:cNvSpPr/>
          <p:nvPr/>
        </p:nvSpPr>
        <p:spPr>
          <a:xfrm>
            <a:off x="1133856" y="5477256"/>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DÓNDE ESTAMOS</a:t>
            </a:r>
            <a:endParaRPr lang="en-US" sz="950" dirty="0"/>
          </a:p>
        </p:txBody>
      </p:sp>
      <p:sp>
        <p:nvSpPr>
          <p:cNvPr id="24" name="Text 20"/>
          <p:cNvSpPr/>
          <p:nvPr/>
        </p:nvSpPr>
        <p:spPr>
          <a:xfrm>
            <a:off x="804672" y="5742432"/>
            <a:ext cx="10582351" cy="365760"/>
          </a:xfrm>
          <a:prstGeom prst="rect">
            <a:avLst/>
          </a:prstGeom>
          <a:noFill/>
          <a:ln/>
        </p:spPr>
        <p:txBody>
          <a:bodyPr wrap="square" lIns="0" tIns="0" rIns="0" bIns="0" rtlCol="0" anchor="ctr"/>
          <a:lstStyle/>
          <a:p>
            <a:pPr indent="0" marL="0">
              <a:buNone/>
            </a:pPr>
            <a:r>
              <a:rPr lang="en-US" sz="1350" dirty="0">
                <a:solidFill>
                  <a:srgbClr val="0F0F11"/>
                </a:solidFill>
                <a:latin typeface="Arial Black" pitchFamily="34" charset="0"/>
                <a:ea typeface="Arial Black" pitchFamily="34" charset="-122"/>
                <a:cs typeface="Arial Black" pitchFamily="34" charset="-120"/>
              </a:rPr>
              <a:t>Esta sesión cierra la Unidad I: después de hoy, todo lo que la Sesión 1 afirmó queda demostrado y programado.</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PRELIMINAR · ESTRUCTURA DE LOS 180 MINUTOS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MAPA DE LA SESIÓN</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03</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755648"/>
          <a:ext cx="11057839" cy="914400"/>
        </p:xfrm>
        <a:graphic>
          <a:graphicData uri="http://schemas.openxmlformats.org/drawingml/2006/table">
            <a:tbl>
              <a:tblPr/>
              <a:tblGrid>
                <a:gridCol w="1051560"/>
                <a:gridCol w="1371600"/>
                <a:gridCol w="86346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MIN</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BLOQUE</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CONTENIDO</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379060">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00–10</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Apertura</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Plenaria de la pregunta de la semana y revisión del entregable de la Sesión 2.</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379060">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10–25</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A.1</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problema de la autoría: por qué un hash no basta y por qué fallan los intentos ingenuos.</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379060">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25–42</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A.2</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Criptografía asimétrica: la función de un solo sentido con trampa y la curva secp256k1.</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379060">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42–58</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A.3</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ECDSA: firmar y verificar. Qué prueba una firma y qué no. El fallo que revela la clave.</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379060">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58–70</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A.4</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De clave pública a dirección: keccak-256, los últimos 20 bytes y el checksum EIP-55.</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379060">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70–78</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Pausa</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379060">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78–92</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B.1</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Anatomía del bloque: cabecera y cuerpo, campo por campo.</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379060">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92–105</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B.2</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Encadenamiento e inmutabilidad, ahora con todas las piezas en la mano.</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379060">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105–118</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B.3</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red P2P: propagación, mempool y el conflicto que queda abierto.</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379060">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118–170</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BLOQUE C</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Laboratorio 02: firmas, dirección y mini-blockchain con transacciones firmadas.</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379060">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170–180</a:t>
                      </a:r>
                      <a:endParaRPr lang="en-US" sz="11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BLOQUE D</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Cierre, entregable y puente hacia el consenso.</a:t>
                      </a:r>
                      <a:endParaRPr lang="en-US" sz="11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37360"/>
            <a:ext cx="11094415" cy="4517136"/>
          </a:xfrm>
          <a:prstGeom prst="rect">
            <a:avLst/>
          </a:prstGeom>
          <a:ln w="22225">
            <a:solidFill>
              <a:srgbClr val="0F0F11"/>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A</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MIN 10 — 70 · EXPOSICIÓN DIALOGADA</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CRIPTOGRAFÍA ASIMÉTRICA</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Cómo se demuestra la autoría ante alguien que no te conoce, sin revelarle ningún secreto.</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 · MIN 10–25</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LA SESIÓN 2 RESOLVIÓ MEDIA PREGUNTA</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05</a:t>
            </a:r>
            <a:endParaRPr lang="en-US" sz="900" dirty="0"/>
          </a:p>
        </p:txBody>
      </p:sp>
      <p:sp>
        <p:nvSpPr>
          <p:cNvPr id="8" name="Text 5"/>
          <p:cNvSpPr/>
          <p:nvPr/>
        </p:nvSpPr>
        <p:spPr>
          <a:xfrm>
            <a:off x="566928" y="1737360"/>
            <a:ext cx="11057839" cy="64008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Sabemos comprobar que un dato no cambió: se publica su hash y cualquiera verifica. Pero eso deja abierta la otra mitad, que es la que hace falta para que exista el dinero digital.</a:t>
            </a:r>
            <a:endParaRPr lang="en-US" sz="1450" dirty="0"/>
          </a:p>
        </p:txBody>
      </p:sp>
      <p:sp>
        <p:nvSpPr>
          <p:cNvPr id="9" name="Shape 6"/>
          <p:cNvSpPr/>
          <p:nvPr/>
        </p:nvSpPr>
        <p:spPr>
          <a:xfrm>
            <a:off x="566928" y="2560320"/>
            <a:ext cx="11057839" cy="150876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10" name="Text 7"/>
          <p:cNvSpPr/>
          <p:nvPr/>
        </p:nvSpPr>
        <p:spPr>
          <a:xfrm>
            <a:off x="950976" y="2779776"/>
            <a:ext cx="10289743" cy="1069848"/>
          </a:xfrm>
          <a:prstGeom prst="rect">
            <a:avLst/>
          </a:prstGeom>
          <a:noFill/>
          <a:ln/>
        </p:spPr>
        <p:txBody>
          <a:bodyPr wrap="square" lIns="0" tIns="0" rIns="0" bIns="0" rtlCol="0" anchor="ctr"/>
          <a:lstStyle/>
          <a:p>
            <a:pPr indent="0" marL="0">
              <a:lnSpc>
                <a:spcPct val="106000"/>
              </a:lnSpc>
              <a:buNone/>
            </a:pPr>
            <a:r>
              <a:rPr lang="en-US" sz="2100" dirty="0">
                <a:solidFill>
                  <a:srgbClr val="0F0F11"/>
                </a:solidFill>
                <a:latin typeface="Arial Black" pitchFamily="34" charset="0"/>
                <a:ea typeface="Arial Black" pitchFamily="34" charset="-122"/>
                <a:cs typeface="Arial Black" pitchFamily="34" charset="-120"/>
              </a:rPr>
              <a:t>Un hash lo puede calcular cualquiera. ¿Cómo demuestro que FUI YO quien escribió el dato, ante alguien que no me conoce y sin revelarle ningún secreto?</a:t>
            </a:r>
            <a:endParaRPr lang="en-US" sz="2100" dirty="0"/>
          </a:p>
        </p:txBody>
      </p:sp>
      <p:sp>
        <p:nvSpPr>
          <p:cNvPr id="11" name="Text 8"/>
          <p:cNvSpPr/>
          <p:nvPr/>
        </p:nvSpPr>
        <p:spPr>
          <a:xfrm>
            <a:off x="566928" y="4297680"/>
            <a:ext cx="11057839"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Antes de dar la respuesta conviene agotar los caminos que no funcionan, porque cada fracaso deja claro un requisito.</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 · LOS DOS CAMINOS QUE NO FUNCIONAN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POR QUÉ LA CLAVE COMPARTIDA FRACASA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06</a:t>
            </a:r>
            <a:endParaRPr lang="en-US" sz="900" dirty="0"/>
          </a:p>
        </p:txBody>
      </p:sp>
      <p:sp>
        <p:nvSpPr>
          <p:cNvPr id="8" name="Shape 5"/>
          <p:cNvSpPr/>
          <p:nvPr/>
        </p:nvSpPr>
        <p:spPr>
          <a:xfrm>
            <a:off x="566928" y="1737360"/>
            <a:ext cx="11057839" cy="2057400"/>
          </a:xfrm>
          <a:prstGeom prst="rect">
            <a:avLst/>
          </a:prstGeom>
          <a:solidFill>
            <a:srgbClr val="FAF9FB"/>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9" name="Text 6"/>
          <p:cNvSpPr/>
          <p:nvPr/>
        </p:nvSpPr>
        <p:spPr>
          <a:xfrm>
            <a:off x="841248" y="1938528"/>
            <a:ext cx="5486400" cy="292608"/>
          </a:xfrm>
          <a:prstGeom prst="rect">
            <a:avLst/>
          </a:prstGeom>
          <a:noFill/>
          <a:ln/>
        </p:spPr>
        <p:txBody>
          <a:bodyPr wrap="square" lIns="0" tIns="0" rIns="0" bIns="0" rtlCol="0" anchor="ctr"/>
          <a:lstStyle/>
          <a:p>
            <a:pPr indent="0" marL="0">
              <a:buNone/>
            </a:pPr>
            <a:r>
              <a:rPr lang="en-US" sz="1100" b="1" spc="130" kern="0" dirty="0">
                <a:solidFill>
                  <a:srgbClr val="A35604"/>
                </a:solidFill>
                <a:latin typeface="Courier New" pitchFamily="34" charset="0"/>
                <a:ea typeface="Courier New" pitchFamily="34" charset="-122"/>
                <a:cs typeface="Courier New" pitchFamily="34" charset="-120"/>
              </a:rPr>
              <a:t>INTENTO 1 · CONTRASEÑA COMPARTIDA</a:t>
            </a:r>
            <a:endParaRPr lang="en-US" sz="1100" dirty="0"/>
          </a:p>
        </p:txBody>
      </p:sp>
      <p:sp>
        <p:nvSpPr>
          <p:cNvPr id="10" name="Text 7"/>
          <p:cNvSpPr/>
          <p:nvPr/>
        </p:nvSpPr>
        <p:spPr>
          <a:xfrm>
            <a:off x="841248" y="2286000"/>
            <a:ext cx="10417759" cy="64008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Ana y Bruno acuerdan un secreto. Ana publica el mensaje junto a hash(secreto + mensaje). Bruno recalcula y comprueba. Funciona — es una construcción real —, pero tiene dos fallas que lo descartan.</a:t>
            </a:r>
            <a:endParaRPr lang="en-US" sz="1300" dirty="0"/>
          </a:p>
        </p:txBody>
      </p:sp>
      <p:sp>
        <p:nvSpPr>
          <p:cNvPr id="11" name="Text 8"/>
          <p:cNvSpPr/>
          <p:nvPr/>
        </p:nvSpPr>
        <p:spPr>
          <a:xfrm>
            <a:off x="841248" y="2926080"/>
            <a:ext cx="10417759" cy="274320"/>
          </a:xfrm>
          <a:prstGeom prst="rect">
            <a:avLst/>
          </a:prstGeom>
          <a:noFill/>
          <a:ln/>
        </p:spPr>
        <p:txBody>
          <a:bodyPr wrap="square" lIns="0" tIns="0" rIns="0" bIns="0" rtlCol="0" anchor="ctr"/>
          <a:lstStyle/>
          <a:p>
            <a:pPr indent="0" marL="0">
              <a:buNone/>
            </a:pPr>
            <a:r>
              <a:rPr lang="en-US" sz="1250" dirty="0">
                <a:solidFill>
                  <a:srgbClr val="3A3844"/>
                </a:solidFill>
                <a:latin typeface="Arial" pitchFamily="34" charset="0"/>
                <a:ea typeface="Arial" pitchFamily="34" charset="-122"/>
                <a:cs typeface="Arial" pitchFamily="34" charset="-120"/>
              </a:rPr>
              <a:t>NO ESCALA — hace falta un secreto distinto con cada persona, y distribuirlo por un canal seguro que todavía no existe.</a:t>
            </a:r>
            <a:endParaRPr lang="en-US" sz="1250" dirty="0"/>
          </a:p>
        </p:txBody>
      </p:sp>
      <p:sp>
        <p:nvSpPr>
          <p:cNvPr id="12" name="Text 9"/>
          <p:cNvSpPr/>
          <p:nvPr/>
        </p:nvSpPr>
        <p:spPr>
          <a:xfrm>
            <a:off x="841248" y="3246120"/>
            <a:ext cx="10417759" cy="274320"/>
          </a:xfrm>
          <a:prstGeom prst="rect">
            <a:avLst/>
          </a:prstGeom>
          <a:noFill/>
          <a:ln/>
        </p:spPr>
        <p:txBody>
          <a:bodyPr wrap="square" lIns="0" tIns="0" rIns="0" bIns="0" rtlCol="0" anchor="ctr"/>
          <a:lstStyle/>
          <a:p>
            <a:pPr indent="0" marL="0">
              <a:buNone/>
            </a:pPr>
            <a:r>
              <a:rPr lang="en-US" sz="1250" dirty="0">
                <a:solidFill>
                  <a:srgbClr val="3A3844"/>
                </a:solidFill>
                <a:latin typeface="Arial" pitchFamily="34" charset="0"/>
                <a:ea typeface="Arial" pitchFamily="34" charset="-122"/>
                <a:cs typeface="Arial" pitchFamily="34" charset="-120"/>
              </a:rPr>
              <a:t>EL VERIFICADOR PUEDE SUPLANTAR — Bruno conoce el secreto, así que Bruno puede fabricar mensajes que parezcan de Ana.</a:t>
            </a:r>
            <a:endParaRPr lang="en-US" sz="1250" dirty="0"/>
          </a:p>
        </p:txBody>
      </p:sp>
      <p:sp>
        <p:nvSpPr>
          <p:cNvPr id="13" name="Shape 10"/>
          <p:cNvSpPr/>
          <p:nvPr/>
        </p:nvSpPr>
        <p:spPr>
          <a:xfrm>
            <a:off x="566928" y="3977640"/>
            <a:ext cx="11057839" cy="10515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4" name="Text 11"/>
          <p:cNvSpPr/>
          <p:nvPr/>
        </p:nvSpPr>
        <p:spPr>
          <a:xfrm>
            <a:off x="841248" y="4160520"/>
            <a:ext cx="7315200" cy="292608"/>
          </a:xfrm>
          <a:prstGeom prst="rect">
            <a:avLst/>
          </a:prstGeom>
          <a:noFill/>
          <a:ln/>
        </p:spPr>
        <p:txBody>
          <a:bodyPr wrap="square" lIns="0" tIns="0" rIns="0" bIns="0" rtlCol="0" anchor="ctr"/>
          <a:lstStyle/>
          <a:p>
            <a:pPr indent="0" marL="0">
              <a:buNone/>
            </a:pPr>
            <a:r>
              <a:rPr lang="en-US" sz="1100" b="1" spc="130" kern="0" dirty="0">
                <a:solidFill>
                  <a:srgbClr val="A35604"/>
                </a:solidFill>
                <a:latin typeface="Courier New" pitchFamily="34" charset="0"/>
                <a:ea typeface="Courier New" pitchFamily="34" charset="-122"/>
                <a:cs typeface="Courier New" pitchFamily="34" charset="-120"/>
              </a:rPr>
              <a:t>INTENTO 2 · PUBLICAR EL SECRETO PARA QUE TODOS VERIFIQUEN</a:t>
            </a:r>
            <a:endParaRPr lang="en-US" sz="1100" dirty="0"/>
          </a:p>
        </p:txBody>
      </p:sp>
      <p:sp>
        <p:nvSpPr>
          <p:cNvPr id="15" name="Text 12"/>
          <p:cNvSpPr/>
          <p:nvPr/>
        </p:nvSpPr>
        <p:spPr>
          <a:xfrm>
            <a:off x="841248" y="4498848"/>
            <a:ext cx="10417759" cy="411480"/>
          </a:xfrm>
          <a:prstGeom prst="rect">
            <a:avLst/>
          </a:prstGeom>
          <a:noFill/>
          <a:ln/>
        </p:spPr>
        <p:txBody>
          <a:bodyPr wrap="square" lIns="0" tIns="0" rIns="0" bIns="0" rtlCol="0" anchor="t"/>
          <a:lstStyle/>
          <a:p>
            <a:pPr indent="0" marL="0">
              <a:lnSpc>
                <a:spcPct val="124000"/>
              </a:lnSpc>
              <a:buNone/>
            </a:pPr>
            <a:r>
              <a:rPr lang="en-US" sz="1300" dirty="0">
                <a:solidFill>
                  <a:srgbClr val="0F0F11"/>
                </a:solidFill>
                <a:latin typeface="Arial" pitchFamily="34" charset="0"/>
                <a:ea typeface="Arial" pitchFamily="34" charset="-122"/>
                <a:cs typeface="Arial" pitchFamily="34" charset="-120"/>
              </a:rPr>
              <a:t>Y ahora cualquiera la fabrica. El sistema no distingue a Ana de un impostor. Se derrumba de inmediato.</a:t>
            </a:r>
            <a:endParaRPr lang="en-US" sz="1300" dirty="0"/>
          </a:p>
        </p:txBody>
      </p:sp>
      <p:sp>
        <p:nvSpPr>
          <p:cNvPr id="16" name="Shape 13"/>
          <p:cNvSpPr/>
          <p:nvPr/>
        </p:nvSpPr>
        <p:spPr>
          <a:xfrm>
            <a:off x="566928" y="5212080"/>
            <a:ext cx="11057839" cy="82296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17" name="Text 14"/>
          <p:cNvSpPr/>
          <p:nvPr/>
        </p:nvSpPr>
        <p:spPr>
          <a:xfrm>
            <a:off x="950976" y="5431536"/>
            <a:ext cx="10289743" cy="384048"/>
          </a:xfrm>
          <a:prstGeom prst="rect">
            <a:avLst/>
          </a:prstGeom>
          <a:noFill/>
          <a:ln/>
        </p:spPr>
        <p:txBody>
          <a:bodyPr wrap="square" lIns="0" tIns="0" rIns="0" bIns="0" rtlCol="0" anchor="ctr"/>
          <a:lstStyle/>
          <a:p>
            <a:pPr indent="0" marL="0">
              <a:lnSpc>
                <a:spcPct val="106000"/>
              </a:lnSpc>
              <a:buNone/>
            </a:pPr>
            <a:r>
              <a:rPr lang="en-US" sz="2000" dirty="0">
                <a:solidFill>
                  <a:srgbClr val="0F0F11"/>
                </a:solidFill>
                <a:latin typeface="Arial Black" pitchFamily="34" charset="0"/>
                <a:ea typeface="Arial Black" pitchFamily="34" charset="-122"/>
                <a:cs typeface="Arial Black" pitchFamily="34" charset="-120"/>
              </a:rPr>
              <a:t>El requisito: que quien puede VERIFICAR una firma no pueda PRODUCIRLA.</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 · LO QUE APORTA UNA FIRMA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AUTENTICIDAD, INTEGRIDAD Y NO REPUDIO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57839" cy="914400"/>
        </p:xfrm>
        <a:graphic>
          <a:graphicData uri="http://schemas.openxmlformats.org/drawingml/2006/table">
            <a:tbl>
              <a:tblPr/>
              <a:tblGrid>
                <a:gridCol w="2377440"/>
                <a:gridCol w="868039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PROPIEDAD</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SIGNIFICA</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36448">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Autenticidad</a:t>
                      </a:r>
                      <a:endParaRPr lang="en-US" sz="12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El mensaje proviene de quien controla una clave concreta. Nadie más pudo producir esa firma.</a:t>
                      </a:r>
                      <a:endParaRPr lang="en-US" sz="12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36448">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Integridad</a:t>
                      </a:r>
                      <a:endParaRPr lang="en-US" sz="12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El mensaje no fue alterado después de firmarse. Cambiar un byte invalida la firma.</a:t>
                      </a:r>
                      <a:endParaRPr lang="en-US" sz="12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36448">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No repudio</a:t>
                      </a:r>
                      <a:endParaRPr lang="en-US" sz="12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Quien firmó no puede negar después haberlo hecho, porque nadie más tenía la capacidad de hacerlo.</a:t>
                      </a:r>
                      <a:endParaRPr lang="en-US" sz="12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64792"/>
            <a:ext cx="11094415" cy="1956816"/>
          </a:xfrm>
          <a:prstGeom prst="rect">
            <a:avLst/>
          </a:prstGeom>
          <a:ln w="22225">
            <a:solidFill>
              <a:srgbClr val="0F0F11"/>
            </a:solidFill>
            <a:prstDash val="solid"/>
          </a:ln>
        </p:spPr>
      </p:sp>
      <p:sp>
        <p:nvSpPr>
          <p:cNvPr id="10" name="Shape 6"/>
          <p:cNvSpPr/>
          <p:nvPr/>
        </p:nvSpPr>
        <p:spPr>
          <a:xfrm>
            <a:off x="566928" y="3886200"/>
            <a:ext cx="11057839" cy="201168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1" name="Image 1" descr="preencoded.png">    </p:cNvPr>
          <p:cNvPicPr>
            <a:picLocks noChangeAspect="1"/>
          </p:cNvPicPr>
          <p:nvPr/>
        </p:nvPicPr>
        <p:blipFill>
          <a:blip r:embed="rId2"/>
          <a:stretch>
            <a:fillRect/>
          </a:stretch>
        </p:blipFill>
        <p:spPr>
          <a:xfrm>
            <a:off x="804672" y="4105656"/>
            <a:ext cx="237744" cy="237744"/>
          </a:xfrm>
          <a:prstGeom prst="rect">
            <a:avLst/>
          </a:prstGeom>
        </p:spPr>
      </p:pic>
      <p:sp>
        <p:nvSpPr>
          <p:cNvPr id="12" name="Text 7"/>
          <p:cNvSpPr/>
          <p:nvPr/>
        </p:nvSpPr>
        <p:spPr>
          <a:xfrm>
            <a:off x="1133856" y="407822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EL NO REPUDIO ES TÉCNICO, NO JURÍDICO</a:t>
            </a:r>
            <a:endParaRPr lang="en-US" sz="950" dirty="0"/>
          </a:p>
        </p:txBody>
      </p:sp>
      <p:sp>
        <p:nvSpPr>
          <p:cNvPr id="13" name="Text 8"/>
          <p:cNvSpPr/>
          <p:nvPr/>
        </p:nvSpPr>
        <p:spPr>
          <a:xfrm>
            <a:off x="804672" y="4471416"/>
            <a:ext cx="10582351" cy="68580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La firma demuestra que SE USÓ UNA CLAVE CONCRETA. No demuestra que la persona a la que atribuimos esa clave estuviera consciente, de acuerdo, o siquiera presente.</a:t>
            </a:r>
            <a:endParaRPr lang="en-US" sz="1350" dirty="0"/>
          </a:p>
        </p:txBody>
      </p:sp>
      <p:sp>
        <p:nvSpPr>
          <p:cNvPr id="14" name="Text 9"/>
          <p:cNvSpPr/>
          <p:nvPr/>
        </p:nvSpPr>
        <p:spPr>
          <a:xfrm>
            <a:off x="804672" y="5202936"/>
            <a:ext cx="10582351" cy="731520"/>
          </a:xfrm>
          <a:prstGeom prst="rect">
            <a:avLst/>
          </a:prstGeom>
          <a:noFill/>
          <a:ln/>
        </p:spPr>
        <p:txBody>
          <a:bodyPr wrap="square" lIns="0" tIns="0" rIns="0" bIns="0" rtlCol="0" anchor="t"/>
          <a:lstStyle/>
          <a:p>
            <a:pPr indent="0" marL="0">
              <a:lnSpc>
                <a:spcPct val="124000"/>
              </a:lnSpc>
              <a:buNone/>
            </a:pPr>
            <a:r>
              <a:rPr lang="en-US" sz="1350" dirty="0">
                <a:solidFill>
                  <a:srgbClr val="0F0F11"/>
                </a:solidFill>
                <a:latin typeface="Arial" pitchFamily="34" charset="0"/>
                <a:ea typeface="Arial" pitchFamily="34" charset="-122"/>
                <a:cs typeface="Arial" pitchFamily="34" charset="-120"/>
              </a:rPr>
              <a:t>Si roban una clave privada, el sistema seguirá considerando auténtica cada firma del ladrón — y matemáticamente tendrá razón. Es lo que ocurre en cada robo de billetera: no falla la criptografía, falla la custodia.</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 · MIN 25–42</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UNA FUNCIÓN DE UN SOLO SENTIDO, CON TRAMPA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08</a:t>
            </a:r>
            <a:endParaRPr lang="en-US" sz="900" dirty="0"/>
          </a:p>
        </p:txBody>
      </p:sp>
      <p:sp>
        <p:nvSpPr>
          <p:cNvPr id="8" name="Text 5"/>
          <p:cNvSpPr/>
          <p:nvPr/>
        </p:nvSpPr>
        <p:spPr>
          <a:xfrm>
            <a:off x="566928" y="1737360"/>
            <a:ext cx="11057839" cy="77724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Ya conocemos una función de un solo sentido: el hash de la Sesión 2. Pero al hash le falta algo — es DEMASIADO irreversible, no deja ninguna puerta. Lo que hace falta es una que sea irreversible para todo el mundo salvo para quien conoce un dato secreto.</a:t>
            </a:r>
            <a:endParaRPr lang="en-US" sz="1450" dirty="0"/>
          </a:p>
        </p:txBody>
      </p:sp>
      <p:sp>
        <p:nvSpPr>
          <p:cNvPr id="9" name="Shape 6"/>
          <p:cNvSpPr/>
          <p:nvPr/>
        </p:nvSpPr>
        <p:spPr>
          <a:xfrm>
            <a:off x="566928" y="2651760"/>
            <a:ext cx="11057839" cy="1874520"/>
          </a:xfrm>
          <a:prstGeom prst="rect">
            <a:avLst/>
          </a:prstGeom>
          <a:solidFill>
            <a:srgbClr val="F2F0F5"/>
          </a:solidFill>
          <a:ln w="22225">
            <a:solidFill>
              <a:srgbClr val="0F0F11"/>
            </a:solidFill>
            <a:prstDash val="solid"/>
          </a:ln>
        </p:spPr>
      </p:sp>
      <p:pic>
        <p:nvPicPr>
          <p:cNvPr id="10" name="Image 1" descr="preencoded.png">    </p:cNvPr>
          <p:cNvPicPr>
            <a:picLocks noChangeAspect="1"/>
          </p:cNvPicPr>
          <p:nvPr/>
        </p:nvPicPr>
        <p:blipFill>
          <a:blip r:embed="rId2"/>
          <a:stretch>
            <a:fillRect/>
          </a:stretch>
        </p:blipFill>
        <p:spPr>
          <a:xfrm>
            <a:off x="804672" y="2871216"/>
            <a:ext cx="237744" cy="237744"/>
          </a:xfrm>
          <a:prstGeom prst="rect">
            <a:avLst/>
          </a:prstGeom>
        </p:spPr>
      </p:pic>
      <p:sp>
        <p:nvSpPr>
          <p:cNvPr id="11" name="Text 7"/>
          <p:cNvSpPr/>
          <p:nvPr/>
        </p:nvSpPr>
        <p:spPr>
          <a:xfrm>
            <a:off x="1133856" y="2843784"/>
            <a:ext cx="10234879" cy="292608"/>
          </a:xfrm>
          <a:prstGeom prst="rect">
            <a:avLst/>
          </a:prstGeom>
          <a:noFill/>
          <a:ln/>
        </p:spPr>
        <p:txBody>
          <a:bodyPr wrap="square" lIns="0" tIns="0" rIns="0" bIns="0" rtlCol="0" anchor="ctr"/>
          <a:lstStyle/>
          <a:p>
            <a:pPr indent="0" marL="0">
              <a:buNone/>
            </a:pPr>
            <a:r>
              <a:rPr lang="en-US" sz="950" b="1" spc="150" kern="0" dirty="0">
                <a:solidFill>
                  <a:srgbClr val="6F6B80"/>
                </a:solidFill>
                <a:latin typeface="Courier New" pitchFamily="34" charset="0"/>
                <a:ea typeface="Courier New" pitchFamily="34" charset="-122"/>
                <a:cs typeface="Courier New" pitchFamily="34" charset="-120"/>
              </a:rPr>
              <a:t>ANALOGÍA · EL CANDADO ABIERTO</a:t>
            </a:r>
            <a:endParaRPr lang="en-US" sz="950" dirty="0"/>
          </a:p>
        </p:txBody>
      </p:sp>
      <p:sp>
        <p:nvSpPr>
          <p:cNvPr id="12" name="Text 8"/>
          <p:cNvSpPr/>
          <p:nvPr/>
        </p:nvSpPr>
        <p:spPr>
          <a:xfrm>
            <a:off x="804672" y="3236976"/>
            <a:ext cx="10582351" cy="64008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Imagine que reparte por la ciudad candados abiertos con su nombre grabado, y se queda con la única llave. Cualquiera puede cerrar uno de sus candados; solo usted puede abrirlo.</a:t>
            </a:r>
            <a:endParaRPr lang="en-US" sz="1350" dirty="0"/>
          </a:p>
        </p:txBody>
      </p:sp>
      <p:sp>
        <p:nvSpPr>
          <p:cNvPr id="13" name="Text 9"/>
          <p:cNvSpPr/>
          <p:nvPr/>
        </p:nvSpPr>
        <p:spPr>
          <a:xfrm>
            <a:off x="804672" y="3895344"/>
            <a:ext cx="10582351" cy="640080"/>
          </a:xfrm>
          <a:prstGeom prst="rect">
            <a:avLst/>
          </a:prstGeom>
          <a:noFill/>
          <a:ln/>
        </p:spPr>
        <p:txBody>
          <a:bodyPr wrap="square" lIns="0" tIns="0" rIns="0" bIns="0" rtlCol="0" anchor="t"/>
          <a:lstStyle/>
          <a:p>
            <a:pPr indent="0" marL="0">
              <a:lnSpc>
                <a:spcPct val="124000"/>
              </a:lnSpc>
              <a:buNone/>
            </a:pPr>
            <a:r>
              <a:rPr lang="en-US" sz="1350" dirty="0">
                <a:solidFill>
                  <a:srgbClr val="0F0F11"/>
                </a:solidFill>
                <a:latin typeface="Arial" pitchFamily="34" charset="0"/>
                <a:ea typeface="Arial" pitchFamily="34" charset="-122"/>
                <a:cs typeface="Arial" pitchFamily="34" charset="-120"/>
              </a:rPr>
              <a:t>Para la FIRMA hay que darle la vuelta: usted usa la llave para producir algo que solo su llave puede producir, y cualquiera comprueba con el candado que salió de allí. La operación privada produce; la pública verifica.</a:t>
            </a:r>
            <a:endParaRPr lang="en-US" sz="13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4681728"/>
          <a:ext cx="11057839" cy="914400"/>
        </p:xfrm>
        <a:graphic>
          <a:graphicData uri="http://schemas.openxmlformats.org/drawingml/2006/table">
            <a:tbl>
              <a:tblPr/>
              <a:tblGrid>
                <a:gridCol w="3657600"/>
                <a:gridCol w="74002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OPERACIÓN</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COSTE</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07492">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Dados k y G, calcular P = k · G</a:t>
                      </a:r>
                      <a:endParaRPr lang="en-US" sz="12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BARATO. Hay atajos que lo resuelven en unos cientos de operaciones aunque k tenga 256 bits.</a:t>
                      </a:r>
                      <a:endParaRPr lang="en-US" sz="12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07492">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Dados P y G, recuperar k</a:t>
                      </a:r>
                      <a:endParaRPr lang="en-US" sz="12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INVIABLE. No se conoce método sustancialmente mejor que probar valores. Con 256 bits está fuera del alcance de cualquier cómputo concebible.</a:t>
                      </a:r>
                      <a:endParaRPr lang="en-US" sz="12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5" name="Shape 10"/>
          <p:cNvSpPr/>
          <p:nvPr/>
        </p:nvSpPr>
        <p:spPr>
          <a:xfrm>
            <a:off x="548640" y="4663440"/>
            <a:ext cx="11094415" cy="1362456"/>
          </a:xfrm>
          <a:prstGeom prst="rect">
            <a:avLst/>
          </a:prstGeom>
          <a:ln w="22225">
            <a:solidFill>
              <a:srgbClr val="0F0F11"/>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 · FICHA DE TÉRMINO 02</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SECP256K1 Y EL PAR DE CLAVES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09</a:t>
            </a:r>
            <a:endParaRPr lang="en-US" sz="900" dirty="0"/>
          </a:p>
        </p:txBody>
      </p:sp>
      <p:sp>
        <p:nvSpPr>
          <p:cNvPr id="8" name="Shape 5"/>
          <p:cNvSpPr/>
          <p:nvPr/>
        </p:nvSpPr>
        <p:spPr>
          <a:xfrm>
            <a:off x="566928" y="1737360"/>
            <a:ext cx="11057839" cy="32004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9" name="Image 1" descr="preencoded.png">    </p:cNvPr>
          <p:cNvPicPr>
            <a:picLocks noChangeAspect="1"/>
          </p:cNvPicPr>
          <p:nvPr/>
        </p:nvPicPr>
        <p:blipFill>
          <a:blip r:embed="rId2"/>
          <a:stretch>
            <a:fillRect/>
          </a:stretch>
        </p:blipFill>
        <p:spPr>
          <a:xfrm>
            <a:off x="804672" y="1956816"/>
            <a:ext cx="237744" cy="237744"/>
          </a:xfrm>
          <a:prstGeom prst="rect">
            <a:avLst/>
          </a:prstGeom>
        </p:spPr>
      </p:pic>
      <p:sp>
        <p:nvSpPr>
          <p:cNvPr id="10" name="Text 6"/>
          <p:cNvSpPr/>
          <p:nvPr/>
        </p:nvSpPr>
        <p:spPr>
          <a:xfrm>
            <a:off x="1133856" y="192938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FICHA DE TÉRMINO 02 · LA CURVA DE BITCOIN Y ETHEREUM</a:t>
            </a:r>
            <a:endParaRPr lang="en-US" sz="950" dirty="0"/>
          </a:p>
        </p:txBody>
      </p:sp>
      <p:sp>
        <p:nvSpPr>
          <p:cNvPr id="11" name="Shape 7"/>
          <p:cNvSpPr/>
          <p:nvPr/>
        </p:nvSpPr>
        <p:spPr>
          <a:xfrm>
            <a:off x="804672" y="2322576"/>
            <a:ext cx="10582351" cy="960120"/>
          </a:xfrm>
          <a:prstGeom prst="rect">
            <a:avLst/>
          </a:prstGeom>
          <a:solidFill>
            <a:srgbClr val="F2F0F5"/>
          </a:solidFill>
          <a:ln w="12700">
            <a:solidFill>
              <a:srgbClr val="7152E9"/>
            </a:solidFill>
            <a:prstDash val="solid"/>
          </a:ln>
        </p:spPr>
      </p:sp>
      <p:sp>
        <p:nvSpPr>
          <p:cNvPr id="12" name="Text 8"/>
          <p:cNvSpPr/>
          <p:nvPr/>
        </p:nvSpPr>
        <p:spPr>
          <a:xfrm>
            <a:off x="969264" y="2414016"/>
            <a:ext cx="10253167" cy="777240"/>
          </a:xfrm>
          <a:prstGeom prst="rect">
            <a:avLst/>
          </a:prstGeom>
          <a:noFill/>
          <a:ln/>
        </p:spPr>
        <p:txBody>
          <a:bodyPr wrap="square" lIns="0" tIns="0" rIns="0" bIns="0" rtlCol="0" anchor="ctr"/>
          <a:lstStyle/>
          <a:p>
            <a:pPr indent="0" marL="0">
              <a:lnSpc>
                <a:spcPct val="120000"/>
              </a:lnSpc>
              <a:buNone/>
            </a:pPr>
            <a:r>
              <a:rPr lang="en-US" sz="1100" dirty="0">
                <a:solidFill>
                  <a:srgbClr val="3A3844"/>
                </a:solidFill>
                <a:latin typeface="Courier New" pitchFamily="34" charset="0"/>
                <a:ea typeface="Courier New" pitchFamily="34" charset="-122"/>
                <a:cs typeface="Courier New" pitchFamily="34" charset="-120"/>
              </a:rPr>
              <a:t>SECP256K1: curva elíptica definida por y² = x³ + 7 sobre un cuerpo finito. Trae</a:t>
            </a:r>
            <a:endParaRPr lang="en-US" sz="1100" dirty="0"/>
          </a:p>
          <a:p>
            <a:pPr indent="0" marL="0">
              <a:lnSpc>
                <a:spcPct val="120000"/>
              </a:lnSpc>
              <a:buNone/>
            </a:pPr>
            <a:r>
              <a:rPr lang="en-US" sz="1100" dirty="0">
                <a:solidFill>
                  <a:srgbClr val="3A3844"/>
                </a:solidFill>
                <a:latin typeface="Courier New" pitchFamily="34" charset="0"/>
                <a:ea typeface="Courier New" pitchFamily="34" charset="-122"/>
                <a:cs typeface="Courier New" pitchFamily="34" charset="-120"/>
              </a:rPr>
              <a:t>fijados un punto generador G y un orden n, que es la cantidad de puntos distintos</a:t>
            </a:r>
            <a:endParaRPr lang="en-US" sz="1100" dirty="0"/>
          </a:p>
          <a:p>
            <a:pPr indent="0" marL="0">
              <a:lnSpc>
                <a:spcPct val="120000"/>
              </a:lnSpc>
              <a:buNone/>
            </a:pPr>
            <a:r>
              <a:rPr lang="en-US" sz="1100" dirty="0">
                <a:solidFill>
                  <a:srgbClr val="3A3844"/>
                </a:solidFill>
                <a:latin typeface="Courier New" pitchFamily="34" charset="0"/>
                <a:ea typeface="Courier New" pitchFamily="34" charset="-122"/>
                <a:cs typeface="Courier New" pitchFamily="34" charset="-120"/>
              </a:rPr>
              <a:t>que se pueden alcanzar.</a:t>
            </a:r>
            <a:endParaRPr lang="en-US" sz="1100" dirty="0"/>
          </a:p>
        </p:txBody>
      </p:sp>
      <p:sp>
        <p:nvSpPr>
          <p:cNvPr id="13" name="Shape 9"/>
          <p:cNvSpPr/>
          <p:nvPr/>
        </p:nvSpPr>
        <p:spPr>
          <a:xfrm>
            <a:off x="804672" y="3438144"/>
            <a:ext cx="5199736" cy="1188720"/>
          </a:xfrm>
          <a:prstGeom prst="rect">
            <a:avLst/>
          </a:prstGeom>
          <a:solidFill>
            <a:srgbClr val="FFFFFF"/>
          </a:solidFill>
          <a:ln w="22225">
            <a:solidFill>
              <a:srgbClr val="7152E9"/>
            </a:solidFill>
            <a:prstDash val="solid"/>
          </a:ln>
        </p:spPr>
      </p:sp>
      <p:sp>
        <p:nvSpPr>
          <p:cNvPr id="14" name="Text 10"/>
          <p:cNvSpPr/>
          <p:nvPr/>
        </p:nvSpPr>
        <p:spPr>
          <a:xfrm>
            <a:off x="1024128" y="3602736"/>
            <a:ext cx="3200400" cy="274320"/>
          </a:xfrm>
          <a:prstGeom prst="rect">
            <a:avLst/>
          </a:prstGeom>
          <a:noFill/>
          <a:ln/>
        </p:spPr>
        <p:txBody>
          <a:bodyPr wrap="square" lIns="0" tIns="0" rIns="0" bIns="0" rtlCol="0" anchor="ctr"/>
          <a:lstStyle/>
          <a:p>
            <a:pPr indent="0" marL="0">
              <a:buNone/>
            </a:pPr>
            <a:r>
              <a:rPr lang="en-US" sz="1050" b="1" spc="120" kern="0" dirty="0">
                <a:solidFill>
                  <a:srgbClr val="5638C9"/>
                </a:solidFill>
                <a:latin typeface="Courier New" pitchFamily="34" charset="0"/>
                <a:ea typeface="Courier New" pitchFamily="34" charset="-122"/>
                <a:cs typeface="Courier New" pitchFamily="34" charset="-120"/>
              </a:rPr>
              <a:t>CLAVE PRIVADA</a:t>
            </a:r>
            <a:endParaRPr lang="en-US" sz="1050" dirty="0"/>
          </a:p>
        </p:txBody>
      </p:sp>
      <p:sp>
        <p:nvSpPr>
          <p:cNvPr id="15" name="Text 11"/>
          <p:cNvSpPr/>
          <p:nvPr/>
        </p:nvSpPr>
        <p:spPr>
          <a:xfrm>
            <a:off x="1024128" y="3913632"/>
            <a:ext cx="4760824" cy="68580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Un número entero aleatorio entre 1 y n−1. En la práctica, 32 bytes. No se «genera» con un algoritmo elaborado: se SORTEA.</a:t>
            </a:r>
            <a:endParaRPr lang="en-US" sz="1250" dirty="0"/>
          </a:p>
        </p:txBody>
      </p:sp>
      <p:sp>
        <p:nvSpPr>
          <p:cNvPr id="16" name="Shape 12"/>
          <p:cNvSpPr/>
          <p:nvPr/>
        </p:nvSpPr>
        <p:spPr>
          <a:xfrm>
            <a:off x="6187288" y="3438144"/>
            <a:ext cx="5199736" cy="1188720"/>
          </a:xfrm>
          <a:prstGeom prst="rect">
            <a:avLst/>
          </a:prstGeom>
          <a:solidFill>
            <a:srgbClr val="FAF9FB"/>
          </a:solidFill>
          <a:ln w="22225">
            <a:solidFill>
              <a:srgbClr val="0F0F11"/>
            </a:solidFill>
            <a:prstDash val="solid"/>
          </a:ln>
        </p:spPr>
      </p:sp>
      <p:sp>
        <p:nvSpPr>
          <p:cNvPr id="17" name="Text 13"/>
          <p:cNvSpPr/>
          <p:nvPr/>
        </p:nvSpPr>
        <p:spPr>
          <a:xfrm>
            <a:off x="6406744" y="3602736"/>
            <a:ext cx="3200400" cy="274320"/>
          </a:xfrm>
          <a:prstGeom prst="rect">
            <a:avLst/>
          </a:prstGeom>
          <a:noFill/>
          <a:ln/>
        </p:spPr>
        <p:txBody>
          <a:bodyPr wrap="square" lIns="0" tIns="0" rIns="0" bIns="0" rtlCol="0" anchor="ctr"/>
          <a:lstStyle/>
          <a:p>
            <a:pPr indent="0" marL="0">
              <a:buNone/>
            </a:pPr>
            <a:r>
              <a:rPr lang="en-US" sz="1050" b="1" spc="120" kern="0" dirty="0">
                <a:solidFill>
                  <a:srgbClr val="6F6B80"/>
                </a:solidFill>
                <a:latin typeface="Courier New" pitchFamily="34" charset="0"/>
                <a:ea typeface="Courier New" pitchFamily="34" charset="-122"/>
                <a:cs typeface="Courier New" pitchFamily="34" charset="-120"/>
              </a:rPr>
              <a:t>CLAVE PÚBLICA</a:t>
            </a:r>
            <a:endParaRPr lang="en-US" sz="1050" dirty="0"/>
          </a:p>
        </p:txBody>
      </p:sp>
      <p:sp>
        <p:nvSpPr>
          <p:cNvPr id="18" name="Text 14"/>
          <p:cNvSpPr/>
          <p:nvPr/>
        </p:nvSpPr>
        <p:spPr>
          <a:xfrm>
            <a:off x="6406744" y="3913632"/>
            <a:ext cx="4760824" cy="68580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El punto P = k · G. Son dos coordenadas de 32 bytes cada una: 64 bytes en total. Publicarla no compromete nada.</a:t>
            </a:r>
            <a:endParaRPr lang="en-US" sz="1250" dirty="0"/>
          </a:p>
        </p:txBody>
      </p:sp>
      <p:sp>
        <p:nvSpPr>
          <p:cNvPr id="19" name="Text 15"/>
          <p:cNvSpPr/>
          <p:nvPr/>
        </p:nvSpPr>
        <p:spPr>
          <a:xfrm>
            <a:off x="566928" y="5120640"/>
            <a:ext cx="11057839" cy="548640"/>
          </a:xfrm>
          <a:prstGeom prst="rect">
            <a:avLst/>
          </a:prstGeom>
          <a:noFill/>
          <a:ln/>
        </p:spPr>
        <p:txBody>
          <a:bodyPr wrap="square" lIns="0" tIns="0" rIns="0" bIns="0" rtlCol="0" anchor="t"/>
          <a:lstStyle/>
          <a:p>
            <a:pPr indent="0" marL="0">
              <a:lnSpc>
                <a:spcPct val="124000"/>
              </a:lnSpc>
              <a:buNone/>
            </a:pPr>
            <a:r>
              <a:rPr lang="en-US" sz="1250" dirty="0">
                <a:solidFill>
                  <a:srgbClr val="6F6B80"/>
                </a:solidFill>
                <a:latin typeface="Arial" pitchFamily="34" charset="0"/>
                <a:ea typeface="Arial" pitchFamily="34" charset="-122"/>
                <a:cs typeface="Arial" pitchFamily="34" charset="-120"/>
              </a:rPr>
              <a:t>El nombre no es decorativo: sec por el consorcio que la estandarizó, p256 por los bits, k por Koblitz —la familia de curvas— y 1 por ser la primera de esa lista.</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 · DÓNDE ESTÁ DE VERDAD LA SEGURIDAD</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LA SEGURIDAD ESTÁ EN EL SORTEO, NO EN LA CURVA</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10</a:t>
            </a:r>
            <a:endParaRPr lang="en-US" sz="900" dirty="0"/>
          </a:p>
        </p:txBody>
      </p:sp>
      <p:sp>
        <p:nvSpPr>
          <p:cNvPr id="8" name="Shape 5"/>
          <p:cNvSpPr/>
          <p:nvPr/>
        </p:nvSpPr>
        <p:spPr>
          <a:xfrm>
            <a:off x="566928" y="1783080"/>
            <a:ext cx="11057839" cy="22860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9" name="Image 1" descr="preencoded.png">    </p:cNvPr>
          <p:cNvPicPr>
            <a:picLocks noChangeAspect="1"/>
          </p:cNvPicPr>
          <p:nvPr/>
        </p:nvPicPr>
        <p:blipFill>
          <a:blip r:embed="rId2"/>
          <a:stretch>
            <a:fillRect/>
          </a:stretch>
        </p:blipFill>
        <p:spPr>
          <a:xfrm>
            <a:off x="804672" y="2002536"/>
            <a:ext cx="237744" cy="237744"/>
          </a:xfrm>
          <a:prstGeom prst="rect">
            <a:avLst/>
          </a:prstGeom>
        </p:spPr>
      </p:pic>
      <p:sp>
        <p:nvSpPr>
          <p:cNvPr id="10" name="Text 6"/>
          <p:cNvSpPr/>
          <p:nvPr/>
        </p:nvSpPr>
        <p:spPr>
          <a:xfrm>
            <a:off x="1133856" y="197510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ALERTA PROFESIONAL</a:t>
            </a:r>
            <a:endParaRPr lang="en-US" sz="950" dirty="0"/>
          </a:p>
        </p:txBody>
      </p:sp>
      <p:sp>
        <p:nvSpPr>
          <p:cNvPr id="11" name="Text 7"/>
          <p:cNvSpPr/>
          <p:nvPr/>
        </p:nvSpPr>
        <p:spPr>
          <a:xfrm>
            <a:off x="804672" y="2368296"/>
            <a:ext cx="10582351" cy="82296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Si la clave privada es simplemente un número aleatorio, toda la seguridad del sistema descansa en la calidad de ese azar. Una clave generada con un generador predecible es tan insegura como la contraseña «1234», por impecable que sea la curva.</a:t>
            </a:r>
            <a:endParaRPr lang="en-US" sz="1350" dirty="0"/>
          </a:p>
        </p:txBody>
      </p:sp>
      <p:sp>
        <p:nvSpPr>
          <p:cNvPr id="12" name="Text 8"/>
          <p:cNvSpPr/>
          <p:nvPr/>
        </p:nvSpPr>
        <p:spPr>
          <a:xfrm>
            <a:off x="804672" y="3236976"/>
            <a:ext cx="10582351" cy="777240"/>
          </a:xfrm>
          <a:prstGeom prst="rect">
            <a:avLst/>
          </a:prstGeom>
          <a:noFill/>
          <a:ln/>
        </p:spPr>
        <p:txBody>
          <a:bodyPr wrap="square" lIns="0" tIns="0" rIns="0" bIns="0" rtlCol="0" anchor="t"/>
          <a:lstStyle/>
          <a:p>
            <a:pPr indent="0" marL="0">
              <a:lnSpc>
                <a:spcPct val="124000"/>
              </a:lnSpc>
              <a:buNone/>
            </a:pPr>
            <a:r>
              <a:rPr lang="en-US" sz="1350" dirty="0">
                <a:solidFill>
                  <a:srgbClr val="0F0F11"/>
                </a:solidFill>
                <a:latin typeface="Arial" pitchFamily="34" charset="0"/>
                <a:ea typeface="Arial" pitchFamily="34" charset="-122"/>
                <a:cs typeface="Arial" pitchFamily="34" charset="-120"/>
              </a:rPr>
              <a:t>No es teórico. Ha habido incidentes reales, con pérdidas grandes, causados exclusivamente por generadores de aleatoriedad defectuosos en dispositivos y bibliotecas — no por debilidades de la criptografía.</a:t>
            </a:r>
            <a:endParaRPr lang="en-US" sz="1350" dirty="0"/>
          </a:p>
        </p:txBody>
      </p:sp>
      <p:sp>
        <p:nvSpPr>
          <p:cNvPr id="13" name="Shape 9"/>
          <p:cNvSpPr/>
          <p:nvPr/>
        </p:nvSpPr>
        <p:spPr>
          <a:xfrm>
            <a:off x="566928" y="4297680"/>
            <a:ext cx="11057839" cy="123444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14" name="Text 10"/>
          <p:cNvSpPr/>
          <p:nvPr/>
        </p:nvSpPr>
        <p:spPr>
          <a:xfrm>
            <a:off x="950976" y="4517136"/>
            <a:ext cx="10289743" cy="795528"/>
          </a:xfrm>
          <a:prstGeom prst="rect">
            <a:avLst/>
          </a:prstGeom>
          <a:noFill/>
          <a:ln/>
        </p:spPr>
        <p:txBody>
          <a:bodyPr wrap="square" lIns="0" tIns="0" rIns="0" bIns="0" rtlCol="0" anchor="ctr"/>
          <a:lstStyle/>
          <a:p>
            <a:pPr indent="0" marL="0">
              <a:lnSpc>
                <a:spcPct val="106000"/>
              </a:lnSpc>
              <a:buNone/>
            </a:pPr>
            <a:r>
              <a:rPr lang="en-US" sz="1900" dirty="0">
                <a:solidFill>
                  <a:srgbClr val="0F0F11"/>
                </a:solidFill>
                <a:latin typeface="Arial Black" pitchFamily="34" charset="0"/>
                <a:ea typeface="Arial Black" pitchFamily="34" charset="-122"/>
                <a:cs typeface="Arial Black" pitchFamily="34" charset="-120"/>
              </a:rPr>
              <a:t>Nunca se genera una clave con la función de azar de propósito general del lenguaje. Se usa la fuente criptográficamente segura del sistema.</a:t>
            </a:r>
            <a:endParaRPr lang="en-US" sz="1900" dirty="0"/>
          </a:p>
        </p:txBody>
      </p:sp>
      <p:sp>
        <p:nvSpPr>
          <p:cNvPr id="15" name="Text 11"/>
          <p:cNvSpPr/>
          <p:nvPr/>
        </p:nvSpPr>
        <p:spPr>
          <a:xfrm>
            <a:off x="566928" y="5623560"/>
            <a:ext cx="11057839" cy="365760"/>
          </a:xfrm>
          <a:prstGeom prst="rect">
            <a:avLst/>
          </a:prstGeom>
          <a:noFill/>
          <a:ln/>
        </p:spPr>
        <p:txBody>
          <a:bodyPr wrap="square" lIns="0" tIns="0" rIns="0" bIns="0" rtlCol="0" anchor="t"/>
          <a:lstStyle/>
          <a:p>
            <a:pPr indent="0" marL="0">
              <a:lnSpc>
                <a:spcPct val="124000"/>
              </a:lnSpc>
              <a:buNone/>
            </a:pPr>
            <a:r>
              <a:rPr lang="en-US" sz="1300" dirty="0">
                <a:solidFill>
                  <a:srgbClr val="6F6B80"/>
                </a:solidFill>
                <a:latin typeface="Arial" pitchFamily="34" charset="0"/>
                <a:ea typeface="Arial" pitchFamily="34" charset="-122"/>
                <a:cs typeface="Arial" pitchFamily="34" charset="-120"/>
              </a:rPr>
              <a:t>Es lo que hacen por defecto las bibliotecas serias — y es lo que se usará en el laboratorio.</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A.3 · MIN 42–58 · FIGURA 1</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QUIEN VERIFICA NUNCA TOCA LA CLAVE PRIVADA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11</a:t>
            </a:r>
            <a:endParaRPr lang="en-US" sz="900" dirty="0"/>
          </a:p>
        </p:txBody>
      </p:sp>
      <p:sp>
        <p:nvSpPr>
          <p:cNvPr id="8" name="Text 5"/>
          <p:cNvSpPr/>
          <p:nvPr/>
        </p:nvSpPr>
        <p:spPr>
          <a:xfrm>
            <a:off x="566928" y="1691640"/>
            <a:ext cx="5486400" cy="274320"/>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FIRMAR · OPERACIÓN PRIVADA</a:t>
            </a:r>
            <a:endParaRPr lang="en-US" sz="1050" dirty="0"/>
          </a:p>
        </p:txBody>
      </p:sp>
      <p:sp>
        <p:nvSpPr>
          <p:cNvPr id="9" name="Shape 6"/>
          <p:cNvSpPr/>
          <p:nvPr/>
        </p:nvSpPr>
        <p:spPr>
          <a:xfrm>
            <a:off x="566928" y="2011680"/>
            <a:ext cx="2286000" cy="548640"/>
          </a:xfrm>
          <a:prstGeom prst="rect">
            <a:avLst/>
          </a:prstGeom>
          <a:solidFill>
            <a:srgbClr val="FFFFFF"/>
          </a:solidFill>
          <a:ln w="22225">
            <a:solidFill>
              <a:srgbClr val="7152E9"/>
            </a:solidFill>
            <a:prstDash val="solid"/>
          </a:ln>
        </p:spPr>
      </p:sp>
      <p:sp>
        <p:nvSpPr>
          <p:cNvPr id="10" name="Text 7"/>
          <p:cNvSpPr/>
          <p:nvPr/>
        </p:nvSpPr>
        <p:spPr>
          <a:xfrm>
            <a:off x="676656" y="2130552"/>
            <a:ext cx="2066544" cy="274320"/>
          </a:xfrm>
          <a:prstGeom prst="rect">
            <a:avLst/>
          </a:prstGeom>
          <a:noFill/>
          <a:ln/>
        </p:spPr>
        <p:txBody>
          <a:bodyPr wrap="square" lIns="0" tIns="0" rIns="0" bIns="0" rtlCol="0" anchor="ctr"/>
          <a:lstStyle/>
          <a:p>
            <a:pPr algn="ctr" indent="0" marL="0">
              <a:buNone/>
            </a:pPr>
            <a:r>
              <a:rPr lang="en-US" sz="1150" b="1" spc="110" kern="0" dirty="0">
                <a:solidFill>
                  <a:srgbClr val="0F0F11"/>
                </a:solidFill>
                <a:latin typeface="Courier New" pitchFamily="34" charset="0"/>
                <a:ea typeface="Courier New" pitchFamily="34" charset="-122"/>
                <a:cs typeface="Courier New" pitchFamily="34" charset="-120"/>
              </a:rPr>
              <a:t>clave privada</a:t>
            </a:r>
            <a:endParaRPr lang="en-US" sz="1150" dirty="0"/>
          </a:p>
        </p:txBody>
      </p:sp>
      <p:sp>
        <p:nvSpPr>
          <p:cNvPr id="11" name="Shape 8"/>
          <p:cNvSpPr/>
          <p:nvPr/>
        </p:nvSpPr>
        <p:spPr>
          <a:xfrm>
            <a:off x="566928" y="2651760"/>
            <a:ext cx="2286000" cy="548640"/>
          </a:xfrm>
          <a:prstGeom prst="rect">
            <a:avLst/>
          </a:prstGeom>
          <a:solidFill>
            <a:srgbClr val="FAF9FB"/>
          </a:solidFill>
          <a:ln w="22225">
            <a:solidFill>
              <a:srgbClr val="0F0F11"/>
            </a:solidFill>
            <a:prstDash val="solid"/>
          </a:ln>
        </p:spPr>
      </p:sp>
      <p:sp>
        <p:nvSpPr>
          <p:cNvPr id="12" name="Text 9"/>
          <p:cNvSpPr/>
          <p:nvPr/>
        </p:nvSpPr>
        <p:spPr>
          <a:xfrm>
            <a:off x="676656" y="2770632"/>
            <a:ext cx="2066544" cy="274320"/>
          </a:xfrm>
          <a:prstGeom prst="rect">
            <a:avLst/>
          </a:prstGeom>
          <a:noFill/>
          <a:ln/>
        </p:spPr>
        <p:txBody>
          <a:bodyPr wrap="square" lIns="0" tIns="0" rIns="0" bIns="0" rtlCol="0" anchor="ctr"/>
          <a:lstStyle/>
          <a:p>
            <a:pPr algn="ctr" indent="0" marL="0">
              <a:buNone/>
            </a:pPr>
            <a:r>
              <a:rPr lang="en-US" sz="1150" b="1" spc="110" kern="0" dirty="0">
                <a:solidFill>
                  <a:srgbClr val="0F0F11"/>
                </a:solidFill>
                <a:latin typeface="Courier New" pitchFamily="34" charset="0"/>
                <a:ea typeface="Courier New" pitchFamily="34" charset="-122"/>
                <a:cs typeface="Courier New" pitchFamily="34" charset="-120"/>
              </a:rPr>
              <a:t>mensaje</a:t>
            </a:r>
            <a:endParaRPr lang="en-US" sz="1150" dirty="0"/>
          </a:p>
        </p:txBody>
      </p:sp>
      <p:sp>
        <p:nvSpPr>
          <p:cNvPr id="13" name="Shape 10"/>
          <p:cNvSpPr/>
          <p:nvPr/>
        </p:nvSpPr>
        <p:spPr>
          <a:xfrm>
            <a:off x="2852928" y="2286000"/>
            <a:ext cx="457200" cy="0"/>
          </a:xfrm>
          <a:prstGeom prst="line">
            <a:avLst/>
          </a:prstGeom>
          <a:noFill/>
          <a:ln w="22225">
            <a:solidFill>
              <a:srgbClr val="0F0F11"/>
            </a:solidFill>
            <a:prstDash val="solid"/>
          </a:ln>
        </p:spPr>
      </p:sp>
      <p:sp>
        <p:nvSpPr>
          <p:cNvPr id="14" name="Shape 11"/>
          <p:cNvSpPr/>
          <p:nvPr/>
        </p:nvSpPr>
        <p:spPr>
          <a:xfrm>
            <a:off x="3310128" y="2286000"/>
            <a:ext cx="0" cy="640080"/>
          </a:xfrm>
          <a:prstGeom prst="line">
            <a:avLst/>
          </a:prstGeom>
          <a:noFill/>
          <a:ln w="22225">
            <a:solidFill>
              <a:srgbClr val="0F0F11"/>
            </a:solidFill>
            <a:prstDash val="solid"/>
          </a:ln>
        </p:spPr>
      </p:sp>
      <p:sp>
        <p:nvSpPr>
          <p:cNvPr id="15" name="Shape 12"/>
          <p:cNvSpPr/>
          <p:nvPr/>
        </p:nvSpPr>
        <p:spPr>
          <a:xfrm>
            <a:off x="2852928" y="2926080"/>
            <a:ext cx="457200" cy="0"/>
          </a:xfrm>
          <a:prstGeom prst="line">
            <a:avLst/>
          </a:prstGeom>
          <a:noFill/>
          <a:ln w="22225">
            <a:solidFill>
              <a:srgbClr val="0F0F11"/>
            </a:solidFill>
            <a:prstDash val="solid"/>
          </a:ln>
        </p:spPr>
      </p:sp>
      <p:sp>
        <p:nvSpPr>
          <p:cNvPr id="16" name="Shape 13"/>
          <p:cNvSpPr/>
          <p:nvPr/>
        </p:nvSpPr>
        <p:spPr>
          <a:xfrm>
            <a:off x="3310128" y="2606040"/>
            <a:ext cx="411480" cy="0"/>
          </a:xfrm>
          <a:prstGeom prst="line">
            <a:avLst/>
          </a:prstGeom>
          <a:noFill/>
          <a:ln w="22225">
            <a:solidFill>
              <a:srgbClr val="0F0F11"/>
            </a:solidFill>
            <a:prstDash val="solid"/>
            <a:tailEnd type="triangle"/>
          </a:ln>
        </p:spPr>
      </p:sp>
      <p:sp>
        <p:nvSpPr>
          <p:cNvPr id="17" name="Shape 14"/>
          <p:cNvSpPr/>
          <p:nvPr/>
        </p:nvSpPr>
        <p:spPr>
          <a:xfrm>
            <a:off x="3767328" y="2331720"/>
            <a:ext cx="1828800" cy="548640"/>
          </a:xfrm>
          <a:prstGeom prst="rect">
            <a:avLst/>
          </a:prstGeom>
          <a:solidFill>
            <a:srgbClr val="FAF9FB"/>
          </a:solidFill>
          <a:ln w="22225">
            <a:solidFill>
              <a:srgbClr val="0F0F11"/>
            </a:solidFill>
            <a:prstDash val="solid"/>
          </a:ln>
        </p:spPr>
      </p:sp>
      <p:sp>
        <p:nvSpPr>
          <p:cNvPr id="18" name="Text 15"/>
          <p:cNvSpPr/>
          <p:nvPr/>
        </p:nvSpPr>
        <p:spPr>
          <a:xfrm>
            <a:off x="3877056" y="2450592"/>
            <a:ext cx="1609344" cy="274320"/>
          </a:xfrm>
          <a:prstGeom prst="rect">
            <a:avLst/>
          </a:prstGeom>
          <a:noFill/>
          <a:ln/>
        </p:spPr>
        <p:txBody>
          <a:bodyPr wrap="square" lIns="0" tIns="0" rIns="0" bIns="0" rtlCol="0" anchor="ctr"/>
          <a:lstStyle/>
          <a:p>
            <a:pPr algn="ctr" indent="0" marL="0">
              <a:buNone/>
            </a:pPr>
            <a:r>
              <a:rPr lang="en-US" sz="1150" b="1" spc="110" kern="0" dirty="0">
                <a:solidFill>
                  <a:srgbClr val="0F0F11"/>
                </a:solidFill>
                <a:latin typeface="Courier New" pitchFamily="34" charset="0"/>
                <a:ea typeface="Courier New" pitchFamily="34" charset="-122"/>
                <a:cs typeface="Courier New" pitchFamily="34" charset="-120"/>
              </a:rPr>
              <a:t>ECDSA</a:t>
            </a:r>
            <a:endParaRPr lang="en-US" sz="1150" dirty="0"/>
          </a:p>
        </p:txBody>
      </p:sp>
      <p:sp>
        <p:nvSpPr>
          <p:cNvPr id="19" name="Shape 16"/>
          <p:cNvSpPr/>
          <p:nvPr/>
        </p:nvSpPr>
        <p:spPr>
          <a:xfrm>
            <a:off x="5596128" y="2606040"/>
            <a:ext cx="411480" cy="0"/>
          </a:xfrm>
          <a:prstGeom prst="line">
            <a:avLst/>
          </a:prstGeom>
          <a:noFill/>
          <a:ln w="22225">
            <a:solidFill>
              <a:srgbClr val="0F0F11"/>
            </a:solidFill>
            <a:prstDash val="solid"/>
            <a:tailEnd type="triangle"/>
          </a:ln>
        </p:spPr>
      </p:sp>
      <p:sp>
        <p:nvSpPr>
          <p:cNvPr id="20" name="Shape 17"/>
          <p:cNvSpPr/>
          <p:nvPr/>
        </p:nvSpPr>
        <p:spPr>
          <a:xfrm>
            <a:off x="6053328" y="2331720"/>
            <a:ext cx="5568696" cy="54864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21" name="Text 18"/>
          <p:cNvSpPr/>
          <p:nvPr/>
        </p:nvSpPr>
        <p:spPr>
          <a:xfrm>
            <a:off x="6053328" y="2331720"/>
            <a:ext cx="5568696" cy="548640"/>
          </a:xfrm>
          <a:prstGeom prst="rect">
            <a:avLst/>
          </a:prstGeom>
          <a:noFill/>
          <a:ln/>
        </p:spPr>
        <p:txBody>
          <a:bodyPr wrap="square" lIns="0" tIns="0" rIns="0" bIns="0" rtlCol="0" anchor="ctr"/>
          <a:lstStyle/>
          <a:p>
            <a:pPr algn="ctr" indent="0" marL="0">
              <a:buNone/>
            </a:pPr>
            <a:r>
              <a:rPr lang="en-US" sz="1250" dirty="0">
                <a:solidFill>
                  <a:srgbClr val="0F0F11"/>
                </a:solidFill>
                <a:latin typeface="Courier New" pitchFamily="34" charset="0"/>
                <a:ea typeface="Courier New" pitchFamily="34" charset="-122"/>
                <a:cs typeface="Courier New" pitchFamily="34" charset="-120"/>
              </a:rPr>
              <a:t>firma = (r, s) · 64 bytes</a:t>
            </a:r>
            <a:endParaRPr lang="en-US" sz="1250" dirty="0"/>
          </a:p>
        </p:txBody>
      </p:sp>
      <p:sp>
        <p:nvSpPr>
          <p:cNvPr id="22" name="Shape 19"/>
          <p:cNvSpPr/>
          <p:nvPr/>
        </p:nvSpPr>
        <p:spPr>
          <a:xfrm>
            <a:off x="566928" y="3566160"/>
            <a:ext cx="11057839" cy="0"/>
          </a:xfrm>
          <a:prstGeom prst="line">
            <a:avLst/>
          </a:prstGeom>
          <a:noFill/>
          <a:ln w="19050">
            <a:solidFill>
              <a:srgbClr val="D9D6E0"/>
            </a:solidFill>
            <a:prstDash val="dash"/>
          </a:ln>
        </p:spPr>
      </p:sp>
      <p:sp>
        <p:nvSpPr>
          <p:cNvPr id="23" name="Text 20"/>
          <p:cNvSpPr/>
          <p:nvPr/>
        </p:nvSpPr>
        <p:spPr>
          <a:xfrm>
            <a:off x="566928" y="3794760"/>
            <a:ext cx="5486400" cy="274320"/>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VERIFICAR · OPERACIÓN PÚBLICA</a:t>
            </a:r>
            <a:endParaRPr lang="en-US" sz="1050" dirty="0"/>
          </a:p>
        </p:txBody>
      </p:sp>
      <p:sp>
        <p:nvSpPr>
          <p:cNvPr id="24" name="Shape 21"/>
          <p:cNvSpPr/>
          <p:nvPr/>
        </p:nvSpPr>
        <p:spPr>
          <a:xfrm>
            <a:off x="566928" y="4114800"/>
            <a:ext cx="2286000" cy="548640"/>
          </a:xfrm>
          <a:prstGeom prst="rect">
            <a:avLst/>
          </a:prstGeom>
          <a:solidFill>
            <a:srgbClr val="FAF9FB"/>
          </a:solidFill>
          <a:ln w="22225">
            <a:solidFill>
              <a:srgbClr val="0F0F11"/>
            </a:solidFill>
            <a:prstDash val="solid"/>
          </a:ln>
        </p:spPr>
      </p:sp>
      <p:sp>
        <p:nvSpPr>
          <p:cNvPr id="25" name="Text 22"/>
          <p:cNvSpPr/>
          <p:nvPr/>
        </p:nvSpPr>
        <p:spPr>
          <a:xfrm>
            <a:off x="676656" y="4233672"/>
            <a:ext cx="2066544" cy="274320"/>
          </a:xfrm>
          <a:prstGeom prst="rect">
            <a:avLst/>
          </a:prstGeom>
          <a:noFill/>
          <a:ln/>
        </p:spPr>
        <p:txBody>
          <a:bodyPr wrap="square" lIns="0" tIns="0" rIns="0" bIns="0" rtlCol="0" anchor="ctr"/>
          <a:lstStyle/>
          <a:p>
            <a:pPr algn="ctr" indent="0" marL="0">
              <a:buNone/>
            </a:pPr>
            <a:r>
              <a:rPr lang="en-US" sz="1150" b="1" spc="110" kern="0" dirty="0">
                <a:solidFill>
                  <a:srgbClr val="0F0F11"/>
                </a:solidFill>
                <a:latin typeface="Courier New" pitchFamily="34" charset="0"/>
                <a:ea typeface="Courier New" pitchFamily="34" charset="-122"/>
                <a:cs typeface="Courier New" pitchFamily="34" charset="-120"/>
              </a:rPr>
              <a:t>clave pública</a:t>
            </a:r>
            <a:endParaRPr lang="en-US" sz="1150" dirty="0"/>
          </a:p>
        </p:txBody>
      </p:sp>
      <p:sp>
        <p:nvSpPr>
          <p:cNvPr id="26" name="Shape 23"/>
          <p:cNvSpPr/>
          <p:nvPr/>
        </p:nvSpPr>
        <p:spPr>
          <a:xfrm>
            <a:off x="566928" y="4754880"/>
            <a:ext cx="2286000" cy="548640"/>
          </a:xfrm>
          <a:prstGeom prst="rect">
            <a:avLst/>
          </a:prstGeom>
          <a:solidFill>
            <a:srgbClr val="FAF9FB"/>
          </a:solidFill>
          <a:ln w="22225">
            <a:solidFill>
              <a:srgbClr val="0F0F11"/>
            </a:solidFill>
            <a:prstDash val="solid"/>
          </a:ln>
        </p:spPr>
      </p:sp>
      <p:sp>
        <p:nvSpPr>
          <p:cNvPr id="27" name="Text 24"/>
          <p:cNvSpPr/>
          <p:nvPr/>
        </p:nvSpPr>
        <p:spPr>
          <a:xfrm>
            <a:off x="676656" y="4873752"/>
            <a:ext cx="2066544" cy="274320"/>
          </a:xfrm>
          <a:prstGeom prst="rect">
            <a:avLst/>
          </a:prstGeom>
          <a:noFill/>
          <a:ln/>
        </p:spPr>
        <p:txBody>
          <a:bodyPr wrap="square" lIns="0" tIns="0" rIns="0" bIns="0" rtlCol="0" anchor="ctr"/>
          <a:lstStyle/>
          <a:p>
            <a:pPr algn="ctr" indent="0" marL="0">
              <a:buNone/>
            </a:pPr>
            <a:r>
              <a:rPr lang="en-US" sz="1150" b="1" spc="110" kern="0" dirty="0">
                <a:solidFill>
                  <a:srgbClr val="0F0F11"/>
                </a:solidFill>
                <a:latin typeface="Courier New" pitchFamily="34" charset="0"/>
                <a:ea typeface="Courier New" pitchFamily="34" charset="-122"/>
                <a:cs typeface="Courier New" pitchFamily="34" charset="-120"/>
              </a:rPr>
              <a:t>mensaje + firma</a:t>
            </a:r>
            <a:endParaRPr lang="en-US" sz="1150" dirty="0"/>
          </a:p>
        </p:txBody>
      </p:sp>
      <p:sp>
        <p:nvSpPr>
          <p:cNvPr id="28" name="Shape 25"/>
          <p:cNvSpPr/>
          <p:nvPr/>
        </p:nvSpPr>
        <p:spPr>
          <a:xfrm>
            <a:off x="2852928" y="4389120"/>
            <a:ext cx="457200" cy="0"/>
          </a:xfrm>
          <a:prstGeom prst="line">
            <a:avLst/>
          </a:prstGeom>
          <a:noFill/>
          <a:ln w="22225">
            <a:solidFill>
              <a:srgbClr val="0F0F11"/>
            </a:solidFill>
            <a:prstDash val="solid"/>
          </a:ln>
        </p:spPr>
      </p:sp>
      <p:sp>
        <p:nvSpPr>
          <p:cNvPr id="29" name="Shape 26"/>
          <p:cNvSpPr/>
          <p:nvPr/>
        </p:nvSpPr>
        <p:spPr>
          <a:xfrm>
            <a:off x="3310128" y="4389120"/>
            <a:ext cx="0" cy="640080"/>
          </a:xfrm>
          <a:prstGeom prst="line">
            <a:avLst/>
          </a:prstGeom>
          <a:noFill/>
          <a:ln w="22225">
            <a:solidFill>
              <a:srgbClr val="0F0F11"/>
            </a:solidFill>
            <a:prstDash val="solid"/>
          </a:ln>
        </p:spPr>
      </p:sp>
      <p:sp>
        <p:nvSpPr>
          <p:cNvPr id="30" name="Shape 27"/>
          <p:cNvSpPr/>
          <p:nvPr/>
        </p:nvSpPr>
        <p:spPr>
          <a:xfrm>
            <a:off x="2852928" y="5029200"/>
            <a:ext cx="457200" cy="0"/>
          </a:xfrm>
          <a:prstGeom prst="line">
            <a:avLst/>
          </a:prstGeom>
          <a:noFill/>
          <a:ln w="22225">
            <a:solidFill>
              <a:srgbClr val="0F0F11"/>
            </a:solidFill>
            <a:prstDash val="solid"/>
          </a:ln>
        </p:spPr>
      </p:sp>
      <p:sp>
        <p:nvSpPr>
          <p:cNvPr id="31" name="Shape 28"/>
          <p:cNvSpPr/>
          <p:nvPr/>
        </p:nvSpPr>
        <p:spPr>
          <a:xfrm>
            <a:off x="3310128" y="4709160"/>
            <a:ext cx="411480" cy="0"/>
          </a:xfrm>
          <a:prstGeom prst="line">
            <a:avLst/>
          </a:prstGeom>
          <a:noFill/>
          <a:ln w="22225">
            <a:solidFill>
              <a:srgbClr val="0F0F11"/>
            </a:solidFill>
            <a:prstDash val="solid"/>
            <a:tailEnd type="triangle"/>
          </a:ln>
        </p:spPr>
      </p:sp>
      <p:sp>
        <p:nvSpPr>
          <p:cNvPr id="32" name="Shape 29"/>
          <p:cNvSpPr/>
          <p:nvPr/>
        </p:nvSpPr>
        <p:spPr>
          <a:xfrm>
            <a:off x="3767328" y="4434840"/>
            <a:ext cx="1828800" cy="548640"/>
          </a:xfrm>
          <a:prstGeom prst="rect">
            <a:avLst/>
          </a:prstGeom>
          <a:solidFill>
            <a:srgbClr val="FAF9FB"/>
          </a:solidFill>
          <a:ln w="22225">
            <a:solidFill>
              <a:srgbClr val="0F0F11"/>
            </a:solidFill>
            <a:prstDash val="solid"/>
          </a:ln>
        </p:spPr>
      </p:sp>
      <p:sp>
        <p:nvSpPr>
          <p:cNvPr id="33" name="Text 30"/>
          <p:cNvSpPr/>
          <p:nvPr/>
        </p:nvSpPr>
        <p:spPr>
          <a:xfrm>
            <a:off x="3877056" y="4553712"/>
            <a:ext cx="1609344" cy="274320"/>
          </a:xfrm>
          <a:prstGeom prst="rect">
            <a:avLst/>
          </a:prstGeom>
          <a:noFill/>
          <a:ln/>
        </p:spPr>
        <p:txBody>
          <a:bodyPr wrap="square" lIns="0" tIns="0" rIns="0" bIns="0" rtlCol="0" anchor="ctr"/>
          <a:lstStyle/>
          <a:p>
            <a:pPr algn="ctr" indent="0" marL="0">
              <a:buNone/>
            </a:pPr>
            <a:r>
              <a:rPr lang="en-US" sz="1150" b="1" spc="110" kern="0" dirty="0">
                <a:solidFill>
                  <a:srgbClr val="0F0F11"/>
                </a:solidFill>
                <a:latin typeface="Courier New" pitchFamily="34" charset="0"/>
                <a:ea typeface="Courier New" pitchFamily="34" charset="-122"/>
                <a:cs typeface="Courier New" pitchFamily="34" charset="-120"/>
              </a:rPr>
              <a:t>VERIFY</a:t>
            </a:r>
            <a:endParaRPr lang="en-US" sz="1150" dirty="0"/>
          </a:p>
        </p:txBody>
      </p:sp>
      <p:sp>
        <p:nvSpPr>
          <p:cNvPr id="34" name="Shape 31"/>
          <p:cNvSpPr/>
          <p:nvPr/>
        </p:nvSpPr>
        <p:spPr>
          <a:xfrm>
            <a:off x="5596128" y="4709160"/>
            <a:ext cx="411480" cy="0"/>
          </a:xfrm>
          <a:prstGeom prst="line">
            <a:avLst/>
          </a:prstGeom>
          <a:noFill/>
          <a:ln w="22225">
            <a:solidFill>
              <a:srgbClr val="0F0F11"/>
            </a:solidFill>
            <a:prstDash val="solid"/>
            <a:tailEnd type="triangle"/>
          </a:ln>
        </p:spPr>
      </p:sp>
      <p:sp>
        <p:nvSpPr>
          <p:cNvPr id="35" name="Shape 32"/>
          <p:cNvSpPr/>
          <p:nvPr/>
        </p:nvSpPr>
        <p:spPr>
          <a:xfrm>
            <a:off x="6053328" y="4434840"/>
            <a:ext cx="5568696" cy="548640"/>
          </a:xfrm>
          <a:prstGeom prst="rect">
            <a:avLst/>
          </a:prstGeom>
          <a:solidFill>
            <a:srgbClr val="FAF9FB"/>
          </a:solidFill>
          <a:ln w="22225">
            <a:solidFill>
              <a:srgbClr val="0F0F11"/>
            </a:solidFill>
            <a:prstDash val="solid"/>
          </a:ln>
        </p:spPr>
      </p:sp>
      <p:sp>
        <p:nvSpPr>
          <p:cNvPr id="36" name="Text 33"/>
          <p:cNvSpPr/>
          <p:nvPr/>
        </p:nvSpPr>
        <p:spPr>
          <a:xfrm>
            <a:off x="6163056" y="4553712"/>
            <a:ext cx="5349240" cy="274320"/>
          </a:xfrm>
          <a:prstGeom prst="rect">
            <a:avLst/>
          </a:prstGeom>
          <a:noFill/>
          <a:ln/>
        </p:spPr>
        <p:txBody>
          <a:bodyPr wrap="square" lIns="0" tIns="0" rIns="0" bIns="0" rtlCol="0" anchor="ctr"/>
          <a:lstStyle/>
          <a:p>
            <a:pPr algn="ctr" indent="0" marL="0">
              <a:buNone/>
            </a:pPr>
            <a:r>
              <a:rPr lang="en-US" sz="1150" b="1" spc="110" kern="0" dirty="0">
                <a:solidFill>
                  <a:srgbClr val="0F0F11"/>
                </a:solidFill>
                <a:latin typeface="Courier New" pitchFamily="34" charset="0"/>
                <a:ea typeface="Courier New" pitchFamily="34" charset="-122"/>
                <a:cs typeface="Courier New" pitchFamily="34" charset="-120"/>
              </a:rPr>
              <a:t>verdadero  /  falso</a:t>
            </a:r>
            <a:endParaRPr lang="en-US" sz="1150" dirty="0"/>
          </a:p>
        </p:txBody>
      </p:sp>
      <p:sp>
        <p:nvSpPr>
          <p:cNvPr id="37" name="Text 34"/>
          <p:cNvSpPr/>
          <p:nvPr/>
        </p:nvSpPr>
        <p:spPr>
          <a:xfrm>
            <a:off x="566928" y="5623560"/>
            <a:ext cx="11057839" cy="274320"/>
          </a:xfrm>
          <a:prstGeom prst="rect">
            <a:avLst/>
          </a:prstGeom>
          <a:noFill/>
          <a:ln/>
        </p:spPr>
        <p:txBody>
          <a:bodyPr wrap="square" lIns="0" tIns="0" rIns="0" bIns="0" rtlCol="0" anchor="ctr"/>
          <a:lstStyle/>
          <a:p>
            <a:pPr indent="0" marL="0">
              <a:buNone/>
            </a:pPr>
            <a:r>
              <a:rPr lang="en-US" sz="1000" spc="100" kern="0" dirty="0">
                <a:solidFill>
                  <a:srgbClr val="6F6B80"/>
                </a:solidFill>
                <a:latin typeface="Courier New" pitchFamily="34" charset="0"/>
                <a:ea typeface="Courier New" pitchFamily="34" charset="-122"/>
                <a:cs typeface="Courier New" pitchFamily="34" charset="-120"/>
              </a:rPr>
              <a:t>Fig. 1 · toda la asimetría cabe en esta diferencia</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A.3 · VALORES REALES Y REPRODUCIBLES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UNA FIRMA, DE VERDAD</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12</a:t>
            </a:r>
            <a:endParaRPr lang="en-US" sz="900" dirty="0"/>
          </a:p>
        </p:txBody>
      </p:sp>
      <p:sp>
        <p:nvSpPr>
          <p:cNvPr id="8" name="Shape 5"/>
          <p:cNvSpPr/>
          <p:nvPr/>
        </p:nvSpPr>
        <p:spPr>
          <a:xfrm>
            <a:off x="566928" y="1737360"/>
            <a:ext cx="11057839" cy="3291840"/>
          </a:xfrm>
          <a:prstGeom prst="rect">
            <a:avLst/>
          </a:prstGeom>
          <a:solidFill>
            <a:srgbClr val="0F0F11"/>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9" name="Text 6"/>
          <p:cNvSpPr/>
          <p:nvPr/>
        </p:nvSpPr>
        <p:spPr>
          <a:xfrm>
            <a:off x="841248" y="1965960"/>
            <a:ext cx="10509199" cy="2834640"/>
          </a:xfrm>
          <a:prstGeom prst="rect">
            <a:avLst/>
          </a:prstGeom>
          <a:noFill/>
          <a:ln/>
        </p:spPr>
        <p:txBody>
          <a:bodyPr wrap="square" lIns="0" tIns="0" rIns="0" bIns="0" rtlCol="0" anchor="t"/>
          <a:lstStyle/>
          <a:p>
            <a:pPr indent="0" marL="0">
              <a:lnSpc>
                <a:spcPct val="120000"/>
              </a:lnSpc>
              <a:buNone/>
            </a:pPr>
            <a:r>
              <a:rPr lang="en-US" sz="1100" dirty="0">
                <a:solidFill>
                  <a:srgbClr val="9A95A8"/>
                </a:solidFill>
                <a:latin typeface="Courier New" pitchFamily="34" charset="0"/>
                <a:ea typeface="Courier New" pitchFamily="34" charset="-122"/>
                <a:cs typeface="Courier New" pitchFamily="34" charset="-120"/>
              </a:rPr>
              <a:t>// NUNCA usar esta clave con fondos reales: es material de clase.
</a:t>
            </a:r>
            <a:pPr indent="0" marL="0">
              <a:lnSpc>
                <a:spcPct val="120000"/>
              </a:lnSpc>
              <a:buNone/>
            </a:pPr>
            <a:r>
              <a:rPr lang="en-US" sz="1100" dirty="0">
                <a:solidFill>
                  <a:srgbClr val="F07F06"/>
                </a:solidFill>
                <a:latin typeface="Courier New" pitchFamily="34" charset="0"/>
                <a:ea typeface="Courier New" pitchFamily="34" charset="-122"/>
                <a:cs typeface="Courier New" pitchFamily="34" charset="-120"/>
              </a:rPr>
              <a:t>clave privada  </a:t>
            </a:r>
            <a:pPr indent="0" marL="0">
              <a:lnSpc>
                <a:spcPct val="120000"/>
              </a:lnSpc>
              <a:buNone/>
            </a:pPr>
            <a:r>
              <a:rPr lang="en-US" sz="1100" dirty="0">
                <a:solidFill>
                  <a:srgbClr val="F4F2F7"/>
                </a:solidFill>
                <a:latin typeface="Courier New" pitchFamily="34" charset="0"/>
                <a:ea typeface="Courier New" pitchFamily="34" charset="-122"/>
                <a:cs typeface="Courier New" pitchFamily="34" charset="-120"/>
              </a:rPr>
              <a:t>7fa03ea163b89b38dfe61c7070b0894b2b5b3eee14187af429a90d17ec19fd1e
</a:t>
            </a:r>
            <a:pPr indent="0" marL="0">
              <a:lnSpc>
                <a:spcPct val="120000"/>
              </a:lnSpc>
              <a:buNone/>
            </a:pPr>
            <a:r>
              <a:rPr lang="en-US" sz="1100" dirty="0">
                <a:solidFill>
                  <a:srgbClr val="9A95A8"/>
                </a:solidFill>
                <a:latin typeface="Courier New" pitchFamily="34" charset="0"/>
                <a:ea typeface="Courier New" pitchFamily="34" charset="-122"/>
                <a:cs typeface="Courier New" pitchFamily="34" charset="-120"/>
              </a:rPr>
              <a:t>               32 bytes · el secreto absoluto
</a:t>
            </a:r>
            <a:pPr indent="0" marL="0">
              <a:lnSpc>
                <a:spcPct val="120000"/>
              </a:lnSpc>
              <a:buNone/>
            </a:pPr>
            <a:r>
              <a:rPr lang="en-US" sz="1100" dirty="0">
                <a:solidFill>
                  <a:srgbClr val="F07F06"/>
                </a:solidFill>
                <a:latin typeface="Courier New" pitchFamily="34" charset="0"/>
                <a:ea typeface="Courier New" pitchFamily="34" charset="-122"/>
                <a:cs typeface="Courier New" pitchFamily="34" charset="-120"/>
              </a:rPr>
              <a:t>clave pública  </a:t>
            </a:r>
            <a:pPr indent="0" marL="0">
              <a:lnSpc>
                <a:spcPct val="120000"/>
              </a:lnSpc>
              <a:buNone/>
            </a:pPr>
            <a:r>
              <a:rPr lang="en-US" sz="1100" dirty="0">
                <a:solidFill>
                  <a:srgbClr val="F4F2F7"/>
                </a:solidFill>
                <a:latin typeface="Courier New" pitchFamily="34" charset="0"/>
                <a:ea typeface="Courier New" pitchFamily="34" charset="-122"/>
                <a:cs typeface="Courier New" pitchFamily="34" charset="-120"/>
              </a:rPr>
              <a:t>edafd5fc366ffb944d605a7050235b9d … 9f0aaadac58bb61d
</a:t>
            </a:r>
            <a:pPr indent="0" marL="0">
              <a:lnSpc>
                <a:spcPct val="120000"/>
              </a:lnSpc>
              <a:buNone/>
            </a:pPr>
            <a:r>
              <a:rPr lang="en-US" sz="1100" dirty="0">
                <a:solidFill>
                  <a:srgbClr val="9A95A8"/>
                </a:solidFill>
                <a:latin typeface="Courier New" pitchFamily="34" charset="0"/>
                <a:ea typeface="Courier New" pitchFamily="34" charset="-122"/>
                <a:cs typeface="Courier New" pitchFamily="34" charset="-120"/>
              </a:rPr>
              <a:t>               64 bytes · coordenada X seguida de coordenada Y
</a:t>
            </a:r>
            <a:pPr indent="0" marL="0">
              <a:lnSpc>
                <a:spcPct val="120000"/>
              </a:lnSpc>
              <a:buNone/>
            </a:pPr>
            <a:r>
              <a:rPr lang="en-US" sz="1100" dirty="0">
                <a:solidFill>
                  <a:srgbClr val="F07F06"/>
                </a:solidFill>
                <a:latin typeface="Courier New" pitchFamily="34" charset="0"/>
                <a:ea typeface="Courier New" pitchFamily="34" charset="-122"/>
                <a:cs typeface="Courier New" pitchFamily="34" charset="-120"/>
              </a:rPr>
              <a:t>mensaje        </a:t>
            </a:r>
            <a:pPr indent="0" marL="0">
              <a:lnSpc>
                <a:spcPct val="120000"/>
              </a:lnSpc>
              <a:buNone/>
            </a:pPr>
            <a:r>
              <a:rPr lang="en-US" sz="1100" dirty="0">
                <a:solidFill>
                  <a:srgbClr val="FFA41B"/>
                </a:solidFill>
                <a:latin typeface="Courier New" pitchFamily="34" charset="0"/>
                <a:ea typeface="Courier New" pitchFamily="34" charset="-122"/>
                <a:cs typeface="Courier New" pitchFamily="34" charset="-120"/>
              </a:rPr>
              <a:t>"Transfiero 10 lotes a Bruno"
</a:t>
            </a:r>
            <a:pPr indent="0" marL="0">
              <a:lnSpc>
                <a:spcPct val="120000"/>
              </a:lnSpc>
              <a:buNone/>
            </a:pPr>
            <a:r>
              <a:rPr lang="en-US" sz="1100" dirty="0">
                <a:solidFill>
                  <a:srgbClr val="F07F06"/>
                </a:solidFill>
                <a:latin typeface="Courier New" pitchFamily="34" charset="0"/>
                <a:ea typeface="Courier New" pitchFamily="34" charset="-122"/>
                <a:cs typeface="Courier New" pitchFamily="34" charset="-120"/>
              </a:rPr>
              <a:t>firma          </a:t>
            </a:r>
            <a:pPr indent="0" marL="0">
              <a:lnSpc>
                <a:spcPct val="120000"/>
              </a:lnSpc>
              <a:buNone/>
            </a:pPr>
            <a:r>
              <a:rPr lang="en-US" sz="1100" dirty="0">
                <a:solidFill>
                  <a:srgbClr val="F4F2F7"/>
                </a:solidFill>
                <a:latin typeface="Courier New" pitchFamily="34" charset="0"/>
                <a:ea typeface="Courier New" pitchFamily="34" charset="-122"/>
                <a:cs typeface="Courier New" pitchFamily="34" charset="-120"/>
              </a:rPr>
              <a:t>c877ef924d6ed057e27af4e21bb6a36f8ce97565a85d5172535f8a541aec3d30
</a:t>
            </a:r>
            <a:pPr indent="0" marL="0">
              <a:lnSpc>
                <a:spcPct val="120000"/>
              </a:lnSpc>
              <a:buNone/>
            </a:pPr>
            <a:r>
              <a:rPr lang="en-US" sz="1100" dirty="0">
                <a:solidFill>
                  <a:srgbClr val="F4F2F7"/>
                </a:solidFill>
                <a:latin typeface="Courier New" pitchFamily="34" charset="0"/>
                <a:ea typeface="Courier New" pitchFamily="34" charset="-122"/>
                <a:cs typeface="Courier New" pitchFamily="34" charset="-120"/>
              </a:rPr>
              <a:t>               f21fe2d75a6cab0e93b080a2020b02cebfc8d5ed6990d90fcde7a432966fe023</a:t>
            </a:r>
            <a:endParaRPr lang="en-US" sz="1100" dirty="0"/>
          </a:p>
        </p:txBody>
      </p:sp>
      <p:sp>
        <p:nvSpPr>
          <p:cNvPr id="10" name="Shape 7"/>
          <p:cNvSpPr/>
          <p:nvPr/>
        </p:nvSpPr>
        <p:spPr>
          <a:xfrm>
            <a:off x="566928" y="5212080"/>
            <a:ext cx="11057839" cy="86868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1" name="Text 8"/>
          <p:cNvSpPr/>
          <p:nvPr/>
        </p:nvSpPr>
        <p:spPr>
          <a:xfrm>
            <a:off x="795528" y="5212080"/>
            <a:ext cx="10600639" cy="868680"/>
          </a:xfrm>
          <a:prstGeom prst="rect">
            <a:avLst/>
          </a:prstGeom>
          <a:noFill/>
          <a:ln/>
        </p:spPr>
        <p:txBody>
          <a:bodyPr wrap="square" lIns="0" tIns="0" rIns="0" bIns="0" rtlCol="0" anchor="ctr"/>
          <a:lstStyle/>
          <a:p>
            <a:pPr algn="ctr" indent="0" marL="0">
              <a:buNone/>
            </a:pPr>
            <a:r>
              <a:rPr lang="en-US" sz="1150" b="1" dirty="0">
                <a:solidFill>
                  <a:srgbClr val="A35604"/>
                </a:solidFill>
                <a:latin typeface="Courier New" pitchFamily="34" charset="0"/>
                <a:ea typeface="Courier New" pitchFamily="34" charset="-122"/>
                <a:cs typeface="Courier New" pitchFamily="34" charset="-120"/>
              </a:rPr>
              <a:t>verificar(mensaje, firma, pública) → VERDADERO          verificar("Transfiero 100 lotes…", firma, pública) → FALSO</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A.3 · PRECISIÓN NECESARIA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QUÉ PRUEBA UNA FIRMA Y QUÉ NO PRUEBA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13</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57839" cy="914400"/>
        </p:xfrm>
        <a:graphic>
          <a:graphicData uri="http://schemas.openxmlformats.org/drawingml/2006/table">
            <a:tbl>
              <a:tblPr/>
              <a:tblGrid>
                <a:gridCol w="5486400"/>
                <a:gridCol w="55714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SÍ PRUEBA</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NO PRUEBA</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7665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Que quien produjo la firma tenía la clave privada correspondiente.</a:t>
                      </a:r>
                      <a:endParaRPr lang="en-US" sz="12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Quién es esa persona. La clave no lleva nombre, cédula ni nacionalidad.</a:t>
                      </a:r>
                      <a:endParaRPr lang="en-US" sz="12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7665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Que el mensaje no cambió ni un byte después de firmarse.</a:t>
                      </a:r>
                      <a:endParaRPr lang="en-US" sz="12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Que el firmante entendiera lo que firmaba. Es la base de casi todos los robos a usuarios.</a:t>
                      </a:r>
                      <a:endParaRPr lang="en-US" sz="12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7665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Que la firma corresponde a ese mensaje y no a otro.</a:t>
                      </a:r>
                      <a:endParaRPr lang="en-US" sz="12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Cuándo se firmó. No hay marca temporal dentro de la firma.</a:t>
                      </a:r>
                      <a:endParaRPr lang="en-US" sz="12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7665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Que nadie sin la clave pudo fabricarla.</a:t>
                      </a:r>
                      <a:endParaRPr lang="en-US" sz="120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Que el firmante fuera el dueño legítimo de la clave, y no alguien que se la robó.</a:t>
                      </a:r>
                      <a:endParaRPr lang="en-US" sz="120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64792"/>
            <a:ext cx="11094415" cy="3054096"/>
          </a:xfrm>
          <a:prstGeom prst="rect">
            <a:avLst/>
          </a:prstGeom>
          <a:ln w="22225">
            <a:solidFill>
              <a:srgbClr val="0F0F11"/>
            </a:solidFill>
            <a:prstDash val="solid"/>
          </a:ln>
        </p:spPr>
      </p:sp>
      <p:sp>
        <p:nvSpPr>
          <p:cNvPr id="10" name="Shape 6"/>
          <p:cNvSpPr/>
          <p:nvPr/>
        </p:nvSpPr>
        <p:spPr>
          <a:xfrm>
            <a:off x="566928" y="4983480"/>
            <a:ext cx="11057839" cy="109728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1" name="Image 1" descr="preencoded.png">    </p:cNvPr>
          <p:cNvPicPr>
            <a:picLocks noChangeAspect="1"/>
          </p:cNvPicPr>
          <p:nvPr/>
        </p:nvPicPr>
        <p:blipFill>
          <a:blip r:embed="rId2"/>
          <a:stretch>
            <a:fillRect/>
          </a:stretch>
        </p:blipFill>
        <p:spPr>
          <a:xfrm>
            <a:off x="804672" y="5202936"/>
            <a:ext cx="237744" cy="237744"/>
          </a:xfrm>
          <a:prstGeom prst="rect">
            <a:avLst/>
          </a:prstGeom>
        </p:spPr>
      </p:pic>
      <p:sp>
        <p:nvSpPr>
          <p:cNvPr id="12" name="Text 7"/>
          <p:cNvSpPr/>
          <p:nvPr/>
        </p:nvSpPr>
        <p:spPr>
          <a:xfrm>
            <a:off x="1133856" y="517550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LO QUE HAY QUE RETENER</a:t>
            </a:r>
            <a:endParaRPr lang="en-US" sz="950" dirty="0"/>
          </a:p>
        </p:txBody>
      </p:sp>
      <p:sp>
        <p:nvSpPr>
          <p:cNvPr id="13" name="Text 8"/>
          <p:cNvSpPr/>
          <p:nvPr/>
        </p:nvSpPr>
        <p:spPr>
          <a:xfrm>
            <a:off x="804672" y="5477256"/>
            <a:ext cx="10582351" cy="530352"/>
          </a:xfrm>
          <a:prstGeom prst="rect">
            <a:avLst/>
          </a:prstGeom>
          <a:noFill/>
          <a:ln/>
        </p:spPr>
        <p:txBody>
          <a:bodyPr wrap="square" lIns="0" tIns="0" rIns="0" bIns="0" rtlCol="0" anchor="ctr"/>
          <a:lstStyle/>
          <a:p>
            <a:pPr indent="0" marL="0">
              <a:buNone/>
            </a:pPr>
            <a:r>
              <a:rPr lang="en-US" sz="1500" dirty="0">
                <a:solidFill>
                  <a:srgbClr val="0F0F11"/>
                </a:solidFill>
                <a:latin typeface="Arial Black" pitchFamily="34" charset="0"/>
                <a:ea typeface="Arial Black" pitchFamily="34" charset="-122"/>
                <a:cs typeface="Arial Black" pitchFamily="34" charset="-120"/>
              </a:rPr>
              <a:t>Una firma prueba que se usó una clave. Todo lo demás son supuestos que hay que sostener por otros medios.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A.3 · ALERTA CRÍTICA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EL NÚMERO QUE NO SE PUEDE REPETIR</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14</a:t>
            </a:r>
            <a:endParaRPr lang="en-US" sz="900" dirty="0"/>
          </a:p>
        </p:txBody>
      </p:sp>
      <p:sp>
        <p:nvSpPr>
          <p:cNvPr id="8" name="Shape 5"/>
          <p:cNvSpPr/>
          <p:nvPr/>
        </p:nvSpPr>
        <p:spPr>
          <a:xfrm>
            <a:off x="566928" y="1783080"/>
            <a:ext cx="11057839" cy="224028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9" name="Image 1" descr="preencoded.png">    </p:cNvPr>
          <p:cNvPicPr>
            <a:picLocks noChangeAspect="1"/>
          </p:cNvPicPr>
          <p:nvPr/>
        </p:nvPicPr>
        <p:blipFill>
          <a:blip r:embed="rId2"/>
          <a:stretch>
            <a:fillRect/>
          </a:stretch>
        </p:blipFill>
        <p:spPr>
          <a:xfrm>
            <a:off x="804672" y="2002536"/>
            <a:ext cx="237744" cy="237744"/>
          </a:xfrm>
          <a:prstGeom prst="rect">
            <a:avLst/>
          </a:prstGeom>
        </p:spPr>
      </p:pic>
      <p:sp>
        <p:nvSpPr>
          <p:cNvPr id="10" name="Text 6"/>
          <p:cNvSpPr/>
          <p:nvPr/>
        </p:nvSpPr>
        <p:spPr>
          <a:xfrm>
            <a:off x="1133856" y="197510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REPETIRLO REVELA LA CLAVE PRIVADA</a:t>
            </a:r>
            <a:endParaRPr lang="en-US" sz="950" dirty="0"/>
          </a:p>
        </p:txBody>
      </p:sp>
      <p:sp>
        <p:nvSpPr>
          <p:cNvPr id="11" name="Text 7"/>
          <p:cNvSpPr/>
          <p:nvPr/>
        </p:nvSpPr>
        <p:spPr>
          <a:xfrm>
            <a:off x="804672" y="2368296"/>
            <a:ext cx="10582351" cy="96012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Cada firma ECDSA necesita internamente un número aleatorio de un solo uso. Si ese número SE REPITE en dos firmas hechas con la misma clave, cualquiera que vea ambas puede despejar la clave privada con álgebra elemental. No hace falta romper nada: basta resolver un sistema de dos ecuaciones.</a:t>
            </a:r>
            <a:endParaRPr lang="en-US" sz="1350" dirty="0"/>
          </a:p>
        </p:txBody>
      </p:sp>
      <p:sp>
        <p:nvSpPr>
          <p:cNvPr id="12" name="Text 8"/>
          <p:cNvSpPr/>
          <p:nvPr/>
        </p:nvSpPr>
        <p:spPr>
          <a:xfrm>
            <a:off x="804672" y="3374136"/>
            <a:ext cx="10582351" cy="777240"/>
          </a:xfrm>
          <a:prstGeom prst="rect">
            <a:avLst/>
          </a:prstGeom>
          <a:noFill/>
          <a:ln/>
        </p:spPr>
        <p:txBody>
          <a:bodyPr wrap="square" lIns="0" tIns="0" rIns="0" bIns="0" rtlCol="0" anchor="t"/>
          <a:lstStyle/>
          <a:p>
            <a:pPr indent="0" marL="0">
              <a:lnSpc>
                <a:spcPct val="124000"/>
              </a:lnSpc>
              <a:buNone/>
            </a:pPr>
            <a:r>
              <a:rPr lang="en-US" sz="1350" dirty="0">
                <a:solidFill>
                  <a:srgbClr val="0F0F11"/>
                </a:solidFill>
                <a:latin typeface="Arial" pitchFamily="34" charset="0"/>
                <a:ea typeface="Arial" pitchFamily="34" charset="-122"/>
                <a:cs typeface="Arial" pitchFamily="34" charset="-120"/>
              </a:rPr>
              <a:t>Ha ocurrido en producción más de una vez, con consecuencias graves: consolas cuya clave de firmado quedó expuesta, y billeteras móviles vaciadas porque el generador del sistema devolvía valores repetidos.</a:t>
            </a:r>
            <a:endParaRPr lang="en-US" sz="1350" dirty="0"/>
          </a:p>
        </p:txBody>
      </p:sp>
      <p:sp>
        <p:nvSpPr>
          <p:cNvPr id="13" name="Shape 9"/>
          <p:cNvSpPr/>
          <p:nvPr/>
        </p:nvSpPr>
        <p:spPr>
          <a:xfrm>
            <a:off x="566928" y="4160520"/>
            <a:ext cx="11057839" cy="987552"/>
          </a:xfrm>
          <a:prstGeom prst="rect">
            <a:avLst/>
          </a:prstGeom>
          <a:solidFill>
            <a:srgbClr val="FAF9FB"/>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4" name="Text 10"/>
          <p:cNvSpPr/>
          <p:nvPr/>
        </p:nvSpPr>
        <p:spPr>
          <a:xfrm>
            <a:off x="841248" y="4279392"/>
            <a:ext cx="3657600" cy="274320"/>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LA DEFENSA ESTÁNDAR</a:t>
            </a:r>
            <a:endParaRPr lang="en-US" sz="1050" dirty="0"/>
          </a:p>
        </p:txBody>
      </p:sp>
      <p:sp>
        <p:nvSpPr>
          <p:cNvPr id="15" name="Text 11"/>
          <p:cNvSpPr/>
          <p:nvPr/>
        </p:nvSpPr>
        <p:spPr>
          <a:xfrm>
            <a:off x="841248" y="4590288"/>
            <a:ext cx="10417759" cy="50292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Derivar ese número de forma determinista a partir de la clave privada y del mensaje, en lugar de sortearlo. Así nunca se repite mientras el mensaje sea distinto, y no depende del azar del dispositivo.</a:t>
            </a:r>
            <a:endParaRPr lang="en-US" sz="1300" dirty="0"/>
          </a:p>
        </p:txBody>
      </p:sp>
      <p:sp>
        <p:nvSpPr>
          <p:cNvPr id="16" name="Shape 12"/>
          <p:cNvSpPr/>
          <p:nvPr/>
        </p:nvSpPr>
        <p:spPr>
          <a:xfrm>
            <a:off x="566928" y="5303520"/>
            <a:ext cx="11057839" cy="82296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17" name="Text 13"/>
          <p:cNvSpPr/>
          <p:nvPr/>
        </p:nvSpPr>
        <p:spPr>
          <a:xfrm>
            <a:off x="950976" y="5522976"/>
            <a:ext cx="10289743" cy="384048"/>
          </a:xfrm>
          <a:prstGeom prst="rect">
            <a:avLst/>
          </a:prstGeom>
          <a:noFill/>
          <a:ln/>
        </p:spPr>
        <p:txBody>
          <a:bodyPr wrap="square" lIns="0" tIns="0" rIns="0" bIns="0" rtlCol="0" anchor="ctr"/>
          <a:lstStyle/>
          <a:p>
            <a:pPr indent="0" marL="0">
              <a:lnSpc>
                <a:spcPct val="106000"/>
              </a:lnSpc>
              <a:buNone/>
            </a:pPr>
            <a:r>
              <a:rPr lang="en-US" sz="1700" dirty="0">
                <a:solidFill>
                  <a:srgbClr val="0F0F11"/>
                </a:solidFill>
                <a:latin typeface="Arial Black" pitchFamily="34" charset="0"/>
                <a:ea typeface="Arial Black" pitchFamily="34" charset="-122"/>
                <a:cs typeface="Arial Black" pitchFamily="34" charset="-120"/>
              </a:rPr>
              <a:t>No se implementa criptografía a mano. Se usan bibliotecas establecidas y se comprueban contra vectores de prueba conocidos.</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A.4 · MIN 58–70 · FIGURA 2</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400" dirty="0">
                <a:solidFill>
                  <a:srgbClr val="0F0F11"/>
                </a:solidFill>
                <a:latin typeface="Arial Black" pitchFamily="34" charset="0"/>
                <a:ea typeface="Arial Black" pitchFamily="34" charset="-122"/>
                <a:cs typeface="Arial Black" pitchFamily="34" charset="-120"/>
              </a:rPr>
              <a:t>LA DIRECCIÓN ES LA COLA DEL HASH DE LA CLAVE PÚBLICA</a:t>
            </a:r>
            <a:endParaRPr lang="en-US" sz="24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15</a:t>
            </a:r>
            <a:endParaRPr lang="en-US" sz="900" dirty="0"/>
          </a:p>
        </p:txBody>
      </p:sp>
      <p:sp>
        <p:nvSpPr>
          <p:cNvPr id="8" name="Shape 5"/>
          <p:cNvSpPr/>
          <p:nvPr/>
        </p:nvSpPr>
        <p:spPr>
          <a:xfrm>
            <a:off x="566928" y="1737360"/>
            <a:ext cx="11057839" cy="841248"/>
          </a:xfrm>
          <a:prstGeom prst="rect">
            <a:avLst/>
          </a:prstGeom>
          <a:solidFill>
            <a:srgbClr val="FFFFFF"/>
          </a:solidFill>
          <a:ln w="22225">
            <a:solidFill>
              <a:srgbClr val="7152E9"/>
            </a:solidFill>
            <a:prstDash val="solid"/>
          </a:ln>
        </p:spPr>
      </p:sp>
      <p:sp>
        <p:nvSpPr>
          <p:cNvPr id="9" name="Text 6"/>
          <p:cNvSpPr/>
          <p:nvPr/>
        </p:nvSpPr>
        <p:spPr>
          <a:xfrm>
            <a:off x="795528" y="1847088"/>
            <a:ext cx="10600639" cy="256032"/>
          </a:xfrm>
          <a:prstGeom prst="rect">
            <a:avLst/>
          </a:prstGeom>
          <a:noFill/>
          <a:ln/>
        </p:spPr>
        <p:txBody>
          <a:bodyPr wrap="square" lIns="0" tIns="0" rIns="0" bIns="0" rtlCol="0" anchor="ctr"/>
          <a:lstStyle/>
          <a:p>
            <a:pPr indent="0" marL="0">
              <a:buNone/>
            </a:pPr>
            <a:r>
              <a:rPr lang="en-US" sz="1000" spc="100" kern="0" dirty="0">
                <a:solidFill>
                  <a:srgbClr val="6F6B80"/>
                </a:solidFill>
                <a:latin typeface="Courier New" pitchFamily="34" charset="0"/>
                <a:ea typeface="Courier New" pitchFamily="34" charset="-122"/>
                <a:cs typeface="Courier New" pitchFamily="34" charset="-120"/>
              </a:rPr>
              <a:t>1 · CLAVE PRIVADA · 32 bytes · sorteada al azar</a:t>
            </a:r>
            <a:endParaRPr lang="en-US" sz="1000" dirty="0"/>
          </a:p>
        </p:txBody>
      </p:sp>
      <p:sp>
        <p:nvSpPr>
          <p:cNvPr id="10" name="Text 7"/>
          <p:cNvSpPr/>
          <p:nvPr/>
        </p:nvSpPr>
        <p:spPr>
          <a:xfrm>
            <a:off x="795528" y="2148840"/>
            <a:ext cx="10600639" cy="292608"/>
          </a:xfrm>
          <a:prstGeom prst="rect">
            <a:avLst/>
          </a:prstGeom>
          <a:noFill/>
          <a:ln/>
        </p:spPr>
        <p:txBody>
          <a:bodyPr wrap="square" lIns="0" tIns="0" rIns="0" bIns="0" rtlCol="0" anchor="ctr"/>
          <a:lstStyle/>
          <a:p>
            <a:pPr indent="0" marL="0">
              <a:buNone/>
            </a:pPr>
            <a:r>
              <a:rPr lang="en-US" sz="1200" dirty="0">
                <a:solidFill>
                  <a:srgbClr val="3A3844"/>
                </a:solidFill>
                <a:latin typeface="Courier New" pitchFamily="34" charset="0"/>
                <a:ea typeface="Courier New" pitchFamily="34" charset="-122"/>
                <a:cs typeface="Courier New" pitchFamily="34" charset="-120"/>
              </a:rPr>
              <a:t>7fa03ea163b89b38dfe61c7070b0894b2b5b3eee14187af429a90d17ec19fd1e</a:t>
            </a:r>
            <a:endParaRPr lang="en-US" sz="1200" dirty="0"/>
          </a:p>
        </p:txBody>
      </p:sp>
      <p:sp>
        <p:nvSpPr>
          <p:cNvPr id="11" name="Shape 8"/>
          <p:cNvSpPr/>
          <p:nvPr/>
        </p:nvSpPr>
        <p:spPr>
          <a:xfrm>
            <a:off x="1024128" y="2578608"/>
            <a:ext cx="0" cy="365760"/>
          </a:xfrm>
          <a:prstGeom prst="line">
            <a:avLst/>
          </a:prstGeom>
          <a:noFill/>
          <a:ln w="22225">
            <a:solidFill>
              <a:srgbClr val="0F0F11"/>
            </a:solidFill>
            <a:prstDash val="solid"/>
            <a:tailEnd type="triangle"/>
          </a:ln>
        </p:spPr>
      </p:sp>
      <p:sp>
        <p:nvSpPr>
          <p:cNvPr id="12" name="Text 9"/>
          <p:cNvSpPr/>
          <p:nvPr/>
        </p:nvSpPr>
        <p:spPr>
          <a:xfrm>
            <a:off x="1252728" y="2606040"/>
            <a:ext cx="5486400" cy="292608"/>
          </a:xfrm>
          <a:prstGeom prst="rect">
            <a:avLst/>
          </a:prstGeom>
          <a:noFill/>
          <a:ln/>
        </p:spPr>
        <p:txBody>
          <a:bodyPr wrap="square" lIns="0" tIns="0" rIns="0" bIns="0" rtlCol="0" anchor="ctr"/>
          <a:lstStyle/>
          <a:p>
            <a:pPr indent="0" marL="0">
              <a:buNone/>
            </a:pPr>
            <a:r>
              <a:rPr lang="en-US" sz="1000" dirty="0">
                <a:solidFill>
                  <a:srgbClr val="6F6B80"/>
                </a:solidFill>
                <a:latin typeface="Courier New" pitchFamily="34" charset="0"/>
                <a:ea typeface="Courier New" pitchFamily="34" charset="-122"/>
                <a:cs typeface="Courier New" pitchFamily="34" charset="-120"/>
              </a:rPr>
              <a:t>multiplicación sobre la curva · k · G</a:t>
            </a:r>
            <a:endParaRPr lang="en-US" sz="1000" dirty="0"/>
          </a:p>
        </p:txBody>
      </p:sp>
      <p:sp>
        <p:nvSpPr>
          <p:cNvPr id="13" name="Shape 10"/>
          <p:cNvSpPr/>
          <p:nvPr/>
        </p:nvSpPr>
        <p:spPr>
          <a:xfrm>
            <a:off x="566928" y="2944368"/>
            <a:ext cx="11057839" cy="841248"/>
          </a:xfrm>
          <a:prstGeom prst="rect">
            <a:avLst/>
          </a:prstGeom>
          <a:solidFill>
            <a:srgbClr val="FAF9FB"/>
          </a:solidFill>
          <a:ln w="22225">
            <a:solidFill>
              <a:srgbClr val="0F0F11"/>
            </a:solidFill>
            <a:prstDash val="solid"/>
          </a:ln>
        </p:spPr>
      </p:sp>
      <p:sp>
        <p:nvSpPr>
          <p:cNvPr id="14" name="Text 11"/>
          <p:cNvSpPr/>
          <p:nvPr/>
        </p:nvSpPr>
        <p:spPr>
          <a:xfrm>
            <a:off x="795528" y="3054096"/>
            <a:ext cx="10600639" cy="256032"/>
          </a:xfrm>
          <a:prstGeom prst="rect">
            <a:avLst/>
          </a:prstGeom>
          <a:noFill/>
          <a:ln/>
        </p:spPr>
        <p:txBody>
          <a:bodyPr wrap="square" lIns="0" tIns="0" rIns="0" bIns="0" rtlCol="0" anchor="ctr"/>
          <a:lstStyle/>
          <a:p>
            <a:pPr indent="0" marL="0">
              <a:buNone/>
            </a:pPr>
            <a:r>
              <a:rPr lang="en-US" sz="1000" spc="100" kern="0" dirty="0">
                <a:solidFill>
                  <a:srgbClr val="6F6B80"/>
                </a:solidFill>
                <a:latin typeface="Courier New" pitchFamily="34" charset="0"/>
                <a:ea typeface="Courier New" pitchFamily="34" charset="-122"/>
                <a:cs typeface="Courier New" pitchFamily="34" charset="-120"/>
              </a:rPr>
              <a:t>2 · CLAVE PÚBLICA · 64 bytes · coordenada X seguida de Y</a:t>
            </a:r>
            <a:endParaRPr lang="en-US" sz="1000" dirty="0"/>
          </a:p>
        </p:txBody>
      </p:sp>
      <p:sp>
        <p:nvSpPr>
          <p:cNvPr id="15" name="Text 12"/>
          <p:cNvSpPr/>
          <p:nvPr/>
        </p:nvSpPr>
        <p:spPr>
          <a:xfrm>
            <a:off x="795528" y="3355848"/>
            <a:ext cx="10600639" cy="292608"/>
          </a:xfrm>
          <a:prstGeom prst="rect">
            <a:avLst/>
          </a:prstGeom>
          <a:noFill/>
          <a:ln/>
        </p:spPr>
        <p:txBody>
          <a:bodyPr wrap="square" lIns="0" tIns="0" rIns="0" bIns="0" rtlCol="0" anchor="ctr"/>
          <a:lstStyle/>
          <a:p>
            <a:pPr indent="0" marL="0">
              <a:buNone/>
            </a:pPr>
            <a:r>
              <a:rPr lang="en-US" sz="1200" dirty="0">
                <a:solidFill>
                  <a:srgbClr val="3A3844"/>
                </a:solidFill>
                <a:latin typeface="Courier New" pitchFamily="34" charset="0"/>
                <a:ea typeface="Courier New" pitchFamily="34" charset="-122"/>
                <a:cs typeface="Courier New" pitchFamily="34" charset="-120"/>
              </a:rPr>
              <a:t>edafd5fc366ffb944d605a7050235b9d … 9f0aaadac58bb61d</a:t>
            </a:r>
            <a:endParaRPr lang="en-US" sz="1200" dirty="0"/>
          </a:p>
        </p:txBody>
      </p:sp>
      <p:sp>
        <p:nvSpPr>
          <p:cNvPr id="16" name="Shape 13"/>
          <p:cNvSpPr/>
          <p:nvPr/>
        </p:nvSpPr>
        <p:spPr>
          <a:xfrm>
            <a:off x="1024128" y="3785616"/>
            <a:ext cx="0" cy="365760"/>
          </a:xfrm>
          <a:prstGeom prst="line">
            <a:avLst/>
          </a:prstGeom>
          <a:noFill/>
          <a:ln w="22225">
            <a:solidFill>
              <a:srgbClr val="0F0F11"/>
            </a:solidFill>
            <a:prstDash val="solid"/>
            <a:tailEnd type="triangle"/>
          </a:ln>
        </p:spPr>
      </p:sp>
      <p:sp>
        <p:nvSpPr>
          <p:cNvPr id="17" name="Text 14"/>
          <p:cNvSpPr/>
          <p:nvPr/>
        </p:nvSpPr>
        <p:spPr>
          <a:xfrm>
            <a:off x="1252728" y="3813048"/>
            <a:ext cx="5486400" cy="292608"/>
          </a:xfrm>
          <a:prstGeom prst="rect">
            <a:avLst/>
          </a:prstGeom>
          <a:noFill/>
          <a:ln/>
        </p:spPr>
        <p:txBody>
          <a:bodyPr wrap="square" lIns="0" tIns="0" rIns="0" bIns="0" rtlCol="0" anchor="ctr"/>
          <a:lstStyle/>
          <a:p>
            <a:pPr indent="0" marL="0">
              <a:buNone/>
            </a:pPr>
            <a:r>
              <a:rPr lang="en-US" sz="1000" dirty="0">
                <a:solidFill>
                  <a:srgbClr val="6F6B80"/>
                </a:solidFill>
                <a:latin typeface="Courier New" pitchFamily="34" charset="0"/>
                <a:ea typeface="Courier New" pitchFamily="34" charset="-122"/>
                <a:cs typeface="Courier New" pitchFamily="34" charset="-120"/>
              </a:rPr>
              <a:t>keccak-256</a:t>
            </a:r>
            <a:endParaRPr lang="en-US" sz="1000" dirty="0"/>
          </a:p>
        </p:txBody>
      </p:sp>
      <p:sp>
        <p:nvSpPr>
          <p:cNvPr id="18" name="Shape 15"/>
          <p:cNvSpPr/>
          <p:nvPr/>
        </p:nvSpPr>
        <p:spPr>
          <a:xfrm>
            <a:off x="566928" y="4151376"/>
            <a:ext cx="11057839" cy="841248"/>
          </a:xfrm>
          <a:prstGeom prst="rect">
            <a:avLst/>
          </a:prstGeom>
          <a:solidFill>
            <a:srgbClr val="FAF9FB"/>
          </a:solidFill>
          <a:ln w="22225">
            <a:solidFill>
              <a:srgbClr val="0F0F11"/>
            </a:solidFill>
            <a:prstDash val="solid"/>
          </a:ln>
        </p:spPr>
      </p:sp>
      <p:sp>
        <p:nvSpPr>
          <p:cNvPr id="19" name="Text 16"/>
          <p:cNvSpPr/>
          <p:nvPr/>
        </p:nvSpPr>
        <p:spPr>
          <a:xfrm>
            <a:off x="795528" y="4261104"/>
            <a:ext cx="10600639" cy="256032"/>
          </a:xfrm>
          <a:prstGeom prst="rect">
            <a:avLst/>
          </a:prstGeom>
          <a:noFill/>
          <a:ln/>
        </p:spPr>
        <p:txBody>
          <a:bodyPr wrap="square" lIns="0" tIns="0" rIns="0" bIns="0" rtlCol="0" anchor="ctr"/>
          <a:lstStyle/>
          <a:p>
            <a:pPr indent="0" marL="0">
              <a:buNone/>
            </a:pPr>
            <a:r>
              <a:rPr lang="en-US" sz="1000" spc="100" kern="0" dirty="0">
                <a:solidFill>
                  <a:srgbClr val="6F6B80"/>
                </a:solidFill>
                <a:latin typeface="Courier New" pitchFamily="34" charset="0"/>
                <a:ea typeface="Courier New" pitchFamily="34" charset="-122"/>
                <a:cs typeface="Courier New" pitchFamily="34" charset="-120"/>
              </a:rPr>
              <a:t>3 · HASH DE LA CLAVE PÚBLICA · 32 bytes</a:t>
            </a:r>
            <a:endParaRPr lang="en-US" sz="1000" dirty="0"/>
          </a:p>
        </p:txBody>
      </p:sp>
      <p:sp>
        <p:nvSpPr>
          <p:cNvPr id="20" name="Text 17"/>
          <p:cNvSpPr/>
          <p:nvPr/>
        </p:nvSpPr>
        <p:spPr>
          <a:xfrm>
            <a:off x="795528" y="4562856"/>
            <a:ext cx="10600639" cy="292608"/>
          </a:xfrm>
          <a:prstGeom prst="rect">
            <a:avLst/>
          </a:prstGeom>
          <a:noFill/>
          <a:ln/>
        </p:spPr>
        <p:txBody>
          <a:bodyPr wrap="square" lIns="0" tIns="0" rIns="0" bIns="0" rtlCol="0" anchor="ctr"/>
          <a:lstStyle/>
          <a:p>
            <a:pPr indent="0" marL="0">
              <a:buNone/>
            </a:pPr>
            <a:r>
              <a:rPr lang="en-US" sz="1200" dirty="0">
                <a:solidFill>
                  <a:srgbClr val="3A3844"/>
                </a:solidFill>
                <a:latin typeface="Courier New" pitchFamily="34" charset="0"/>
                <a:ea typeface="Courier New" pitchFamily="34" charset="-122"/>
                <a:cs typeface="Courier New" pitchFamily="34" charset="-120"/>
              </a:rPr>
              <a:t>3c966aba52e0ac36472673387</a:t>
            </a:r>
            <a:pPr indent="0" marL="0">
              <a:buNone/>
            </a:pPr>
            <a:r>
              <a:rPr lang="en-US" sz="1200" b="1" dirty="0">
                <a:solidFill>
                  <a:srgbClr val="A35604"/>
                </a:solidFill>
                <a:latin typeface="Courier New" pitchFamily="34" charset="0"/>
                <a:ea typeface="Courier New" pitchFamily="34" charset="-122"/>
                <a:cs typeface="Courier New" pitchFamily="34" charset="-120"/>
              </a:rPr>
              <a:t>32805fbe544f6117b755512f2029e3e8b6aa135</a:t>
            </a:r>
            <a:endParaRPr lang="en-US" sz="1200" dirty="0"/>
          </a:p>
        </p:txBody>
      </p:sp>
      <p:sp>
        <p:nvSpPr>
          <p:cNvPr id="21" name="Shape 18"/>
          <p:cNvSpPr/>
          <p:nvPr/>
        </p:nvSpPr>
        <p:spPr>
          <a:xfrm>
            <a:off x="566928" y="5394960"/>
            <a:ext cx="11057839" cy="0"/>
          </a:xfrm>
          <a:prstGeom prst="line">
            <a:avLst/>
          </a:prstGeom>
          <a:noFill/>
          <a:ln w="25400">
            <a:solidFill>
              <a:srgbClr val="F07F06"/>
            </a:solidFill>
            <a:prstDash val="solid"/>
          </a:ln>
        </p:spPr>
      </p:sp>
      <p:sp>
        <p:nvSpPr>
          <p:cNvPr id="22" name="Text 19"/>
          <p:cNvSpPr/>
          <p:nvPr/>
        </p:nvSpPr>
        <p:spPr>
          <a:xfrm>
            <a:off x="566928" y="5532120"/>
            <a:ext cx="11057839" cy="310896"/>
          </a:xfrm>
          <a:prstGeom prst="rect">
            <a:avLst/>
          </a:prstGeom>
          <a:noFill/>
          <a:ln/>
        </p:spPr>
        <p:txBody>
          <a:bodyPr wrap="square" lIns="0" tIns="0" rIns="0" bIns="0" rtlCol="0" anchor="ctr"/>
          <a:lstStyle/>
          <a:p>
            <a:pPr indent="0" marL="0">
              <a:buNone/>
            </a:pPr>
            <a:r>
              <a:rPr lang="en-US" sz="1150" b="1" spc="110" kern="0" dirty="0">
                <a:solidFill>
                  <a:srgbClr val="A35604"/>
                </a:solidFill>
                <a:latin typeface="Courier New" pitchFamily="34" charset="0"/>
                <a:ea typeface="Courier New" pitchFamily="34" charset="-122"/>
                <a:cs typeface="Courier New" pitchFamily="34" charset="-120"/>
              </a:rPr>
              <a:t>4 · DIRECCIÓN = LOS ÚLTIMOS 20 BYTES · se descartan los 12 primeros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A.4 · FICHA DE TÉRMINO 04</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EL CHECKSUM DE EIP-55</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16</a:t>
            </a:r>
            <a:endParaRPr lang="en-US" sz="900" dirty="0"/>
          </a:p>
        </p:txBody>
      </p:sp>
      <p:sp>
        <p:nvSpPr>
          <p:cNvPr id="8" name="Shape 5"/>
          <p:cNvSpPr/>
          <p:nvPr/>
        </p:nvSpPr>
        <p:spPr>
          <a:xfrm>
            <a:off x="566928" y="1737360"/>
            <a:ext cx="11057839" cy="269748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9" name="Image 1" descr="preencoded.png">    </p:cNvPr>
          <p:cNvPicPr>
            <a:picLocks noChangeAspect="1"/>
          </p:cNvPicPr>
          <p:nvPr/>
        </p:nvPicPr>
        <p:blipFill>
          <a:blip r:embed="rId2"/>
          <a:stretch>
            <a:fillRect/>
          </a:stretch>
        </p:blipFill>
        <p:spPr>
          <a:xfrm>
            <a:off x="804672" y="1956816"/>
            <a:ext cx="237744" cy="237744"/>
          </a:xfrm>
          <a:prstGeom prst="rect">
            <a:avLst/>
          </a:prstGeom>
        </p:spPr>
      </p:pic>
      <p:sp>
        <p:nvSpPr>
          <p:cNvPr id="10" name="Text 6"/>
          <p:cNvSpPr/>
          <p:nvPr/>
        </p:nvSpPr>
        <p:spPr>
          <a:xfrm>
            <a:off x="1133856" y="192938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UNA SUMA DE VERIFICACIÓN QUE NO OCUPA UN SOLO BYTE</a:t>
            </a:r>
            <a:endParaRPr lang="en-US" sz="950" dirty="0"/>
          </a:p>
        </p:txBody>
      </p:sp>
      <p:sp>
        <p:nvSpPr>
          <p:cNvPr id="11" name="Text 7"/>
          <p:cNvSpPr/>
          <p:nvPr/>
        </p:nvSpPr>
        <p:spPr>
          <a:xfrm>
            <a:off x="804672" y="2322576"/>
            <a:ext cx="10582351" cy="91440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Se toma la dirección en minúsculas y se calcula su hash. Después, para cada carácter: si es una LETRA y el dígito correspondiente del hash es 8 o mayor, esa letra se escribe en mayúscula. Los dígitos numéricos no cambian, porque no tienen mayúscula.</a:t>
            </a:r>
            <a:endParaRPr lang="en-US" sz="1350" dirty="0"/>
          </a:p>
        </p:txBody>
      </p:sp>
      <p:sp>
        <p:nvSpPr>
          <p:cNvPr id="12" name="Shape 8"/>
          <p:cNvSpPr/>
          <p:nvPr/>
        </p:nvSpPr>
        <p:spPr>
          <a:xfrm>
            <a:off x="804672" y="3282696"/>
            <a:ext cx="10582351" cy="1051560"/>
          </a:xfrm>
          <a:prstGeom prst="rect">
            <a:avLst/>
          </a:prstGeom>
          <a:solidFill>
            <a:srgbClr val="0F0F11"/>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3" name="Text 9"/>
          <p:cNvSpPr/>
          <p:nvPr/>
        </p:nvSpPr>
        <p:spPr>
          <a:xfrm>
            <a:off x="1033272" y="3374136"/>
            <a:ext cx="10125151" cy="868680"/>
          </a:xfrm>
          <a:prstGeom prst="rect">
            <a:avLst/>
          </a:prstGeom>
          <a:noFill/>
          <a:ln/>
        </p:spPr>
        <p:txBody>
          <a:bodyPr wrap="square" lIns="0" tIns="0" rIns="0" bIns="0" rtlCol="0" anchor="ctr"/>
          <a:lstStyle/>
          <a:p>
            <a:pPr indent="0" marL="0">
              <a:lnSpc>
                <a:spcPct val="110000"/>
              </a:lnSpc>
              <a:buNone/>
            </a:pPr>
            <a:r>
              <a:rPr lang="en-US" sz="1250" dirty="0">
                <a:solidFill>
                  <a:srgbClr val="9A95A8"/>
                </a:solidFill>
                <a:latin typeface="Courier New" pitchFamily="34" charset="0"/>
                <a:ea typeface="Courier New" pitchFamily="34" charset="-122"/>
                <a:cs typeface="Courier New" pitchFamily="34" charset="-120"/>
              </a:rPr>
              <a:t>sin checksum   </a:t>
            </a:r>
            <a:pPr indent="0" marL="0">
              <a:lnSpc>
                <a:spcPct val="110000"/>
              </a:lnSpc>
              <a:buNone/>
            </a:pPr>
            <a:r>
              <a:rPr lang="en-US" sz="1250" dirty="0">
                <a:solidFill>
                  <a:srgbClr val="F4F2F7"/>
                </a:solidFill>
                <a:latin typeface="Courier New" pitchFamily="34" charset="0"/>
                <a:ea typeface="Courier New" pitchFamily="34" charset="-122"/>
                <a:cs typeface="Courier New" pitchFamily="34" charset="-120"/>
              </a:rPr>
              <a:t>0x732805fbe544f6117b755512f2029e3e8b6aa135
</a:t>
            </a:r>
            <a:pPr indent="0" marL="0">
              <a:lnSpc>
                <a:spcPct val="110000"/>
              </a:lnSpc>
              <a:buNone/>
            </a:pPr>
            <a:r>
              <a:rPr lang="en-US" sz="1250" dirty="0">
                <a:solidFill>
                  <a:srgbClr val="9A95A8"/>
                </a:solidFill>
                <a:latin typeface="Courier New" pitchFamily="34" charset="0"/>
                <a:ea typeface="Courier New" pitchFamily="34" charset="-122"/>
                <a:cs typeface="Courier New" pitchFamily="34" charset="-120"/>
              </a:rPr>
              <a:t>con EIP-55     </a:t>
            </a:r>
            <a:pPr indent="0" marL="0">
              <a:lnSpc>
                <a:spcPct val="110000"/>
              </a:lnSpc>
              <a:buNone/>
            </a:pPr>
            <a:r>
              <a:rPr lang="en-US" sz="1250" dirty="0">
                <a:solidFill>
                  <a:srgbClr val="FFA41B"/>
                </a:solidFill>
                <a:latin typeface="Courier New" pitchFamily="34" charset="0"/>
                <a:ea typeface="Courier New" pitchFamily="34" charset="-122"/>
                <a:cs typeface="Courier New" pitchFamily="34" charset="-120"/>
              </a:rPr>
              <a:t>0x732805FbE544F6117B755512f2029e3e8B6aa135</a:t>
            </a:r>
            <a:endParaRPr lang="en-US" sz="1250" dirty="0"/>
          </a:p>
        </p:txBody>
      </p:sp>
      <p:sp>
        <p:nvSpPr>
          <p:cNvPr id="14" name="Text 10"/>
          <p:cNvSpPr/>
          <p:nvPr/>
        </p:nvSpPr>
        <p:spPr>
          <a:xfrm>
            <a:off x="566928" y="4553712"/>
            <a:ext cx="11057839" cy="50292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Son la MISMA dirección: para la red, las mayúsculas son irrelevantes. Pero un programa que valide el patrón detecta casi cualquier error de transcripción antes de enviar los fondos.</a:t>
            </a:r>
            <a:endParaRPr lang="en-US" sz="1300" dirty="0"/>
          </a:p>
        </p:txBody>
      </p:sp>
      <p:sp>
        <p:nvSpPr>
          <p:cNvPr id="15" name="Shape 11"/>
          <p:cNvSpPr/>
          <p:nvPr/>
        </p:nvSpPr>
        <p:spPr>
          <a:xfrm>
            <a:off x="566928" y="5138928"/>
            <a:ext cx="11057839" cy="96012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6" name="Image 2" descr="preencoded.png">    </p:cNvPr>
          <p:cNvPicPr>
            <a:picLocks noChangeAspect="1"/>
          </p:cNvPicPr>
          <p:nvPr/>
        </p:nvPicPr>
        <p:blipFill>
          <a:blip r:embed="rId3"/>
          <a:stretch>
            <a:fillRect/>
          </a:stretch>
        </p:blipFill>
        <p:spPr>
          <a:xfrm>
            <a:off x="804672" y="5358384"/>
            <a:ext cx="237744" cy="237744"/>
          </a:xfrm>
          <a:prstGeom prst="rect">
            <a:avLst/>
          </a:prstGeom>
        </p:spPr>
      </p:pic>
      <p:sp>
        <p:nvSpPr>
          <p:cNvPr id="17" name="Text 12"/>
          <p:cNvSpPr/>
          <p:nvPr/>
        </p:nvSpPr>
        <p:spPr>
          <a:xfrm>
            <a:off x="1133856" y="5330952"/>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LO QUE EL CHECKSUM NO HACE</a:t>
            </a:r>
            <a:endParaRPr lang="en-US" sz="950" dirty="0"/>
          </a:p>
        </p:txBody>
      </p:sp>
      <p:sp>
        <p:nvSpPr>
          <p:cNvPr id="18" name="Text 13"/>
          <p:cNvSpPr/>
          <p:nvPr/>
        </p:nvSpPr>
        <p:spPr>
          <a:xfrm>
            <a:off x="804672" y="5596128"/>
            <a:ext cx="10582351" cy="45720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Detecta errores de transcripción, no direcciones inexistentes. Enviar fondos a una dirección bien formada pero sin dueño los destruye para siempre.</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B</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MIN 78 — 118 · EXPOSICIÓN DIALOGADA</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ANATOMÍA DE LA CADENA</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Ya están todas las piezas. Un bloque es la estructura que las ensambla.</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 · MIN 78–92</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LA CABECERA DEL BLOQUE, CAMPO POR CAMPO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18</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57839" cy="914400"/>
        </p:xfrm>
        <a:graphic>
          <a:graphicData uri="http://schemas.openxmlformats.org/drawingml/2006/table">
            <a:tbl>
              <a:tblPr/>
              <a:tblGrid>
                <a:gridCol w="2743200"/>
                <a:gridCol w="4572000"/>
                <a:gridCol w="37426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CAMPO DE LA CABECERA</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PARA QUÉ SIRVE</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DE DÓNDE SALE</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41325">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Hash del bloque anterior</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eslabón. Es lo que convierte una lista de bloques en una cadena.</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Se copia del bloque padre.</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41325">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Raíz de Merkle</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Compromete el contenido completo del cuerpo en 32 bytes.</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SESIÓN 2. Se calcula sobre las transacciones del bloque.</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41325">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Marca temporal</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Cuándo declara el proponente que se creó el bloque.</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La pone quien propone, dentro de márgenes que la red valida.</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41325">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Dificultad</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Cuán costoso debía ser el trabajo para que el bloque sea válido.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La calcula el protocolo, no el minero. Sesión 4.</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41325">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Nonce</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campo que se recorre por fuerza bruta hasta cumplir la dificultad.</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Lo busca quien mina. Sesión 4.</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64792"/>
            <a:ext cx="11094415" cy="3054096"/>
          </a:xfrm>
          <a:prstGeom prst="rect">
            <a:avLst/>
          </a:prstGeom>
          <a:ln w="22225">
            <a:solidFill>
              <a:srgbClr val="0F0F11"/>
            </a:solidFill>
            <a:prstDash val="solid"/>
          </a:ln>
        </p:spPr>
      </p:sp>
      <p:sp>
        <p:nvSpPr>
          <p:cNvPr id="10" name="Shape 6"/>
          <p:cNvSpPr/>
          <p:nvPr/>
        </p:nvSpPr>
        <p:spPr>
          <a:xfrm>
            <a:off x="566928" y="4983480"/>
            <a:ext cx="11057839" cy="109728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1" name="Image 1" descr="preencoded.png">    </p:cNvPr>
          <p:cNvPicPr>
            <a:picLocks noChangeAspect="1"/>
          </p:cNvPicPr>
          <p:nvPr/>
        </p:nvPicPr>
        <p:blipFill>
          <a:blip r:embed="rId2"/>
          <a:stretch>
            <a:fillRect/>
          </a:stretch>
        </p:blipFill>
        <p:spPr>
          <a:xfrm>
            <a:off x="804672" y="5202936"/>
            <a:ext cx="237744" cy="237744"/>
          </a:xfrm>
          <a:prstGeom prst="rect">
            <a:avLst/>
          </a:prstGeom>
        </p:spPr>
      </p:pic>
      <p:sp>
        <p:nvSpPr>
          <p:cNvPr id="12" name="Text 7"/>
          <p:cNvSpPr/>
          <p:nvPr/>
        </p:nvSpPr>
        <p:spPr>
          <a:xfrm>
            <a:off x="1133856" y="517550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LA OBSERVACIÓN QUE HAY QUE HACER</a:t>
            </a:r>
            <a:endParaRPr lang="en-US" sz="950" dirty="0"/>
          </a:p>
        </p:txBody>
      </p:sp>
      <p:sp>
        <p:nvSpPr>
          <p:cNvPr id="13" name="Text 8"/>
          <p:cNvSpPr/>
          <p:nvPr/>
        </p:nvSpPr>
        <p:spPr>
          <a:xfrm>
            <a:off x="804672" y="5513832"/>
            <a:ext cx="10582351" cy="5486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El cuerpo puede pesar megabytes, pero solo se hashea la cabecera. Y aun así el hash del bloque queda comprometido con todas sus transacciones — porque la raíz de Merkle está DENTRO de la cabecera.</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 · CADA PIEZA RESPONDE UNA PREGUNTA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LA DIVISIÓN DE RESPONSABILIDADES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19</a:t>
            </a:r>
            <a:endParaRPr lang="en-US" sz="900" dirty="0"/>
          </a:p>
        </p:txBody>
      </p:sp>
      <p:sp>
        <p:nvSpPr>
          <p:cNvPr id="8" name="Text 5"/>
          <p:cNvSpPr/>
          <p:nvPr/>
        </p:nvSpPr>
        <p:spPr>
          <a:xfrm>
            <a:off x="566928" y="1737360"/>
            <a:ext cx="11057839" cy="50292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Las firmas no están en la cabecera: viajan dentro de cada transacción, en el cuerpo. Cada nodo las verifica de forma independiente antes de aceptarlas.</a:t>
            </a:r>
            <a:endParaRPr lang="en-US" sz="1400" dirty="0"/>
          </a:p>
        </p:txBody>
      </p:sp>
      <p:sp>
        <p:nvSpPr>
          <p:cNvPr id="9" name="Shape 6"/>
          <p:cNvSpPr/>
          <p:nvPr/>
        </p:nvSpPr>
        <p:spPr>
          <a:xfrm>
            <a:off x="566928" y="2423160"/>
            <a:ext cx="11057839" cy="804672"/>
          </a:xfrm>
          <a:prstGeom prst="rect">
            <a:avLst/>
          </a:prstGeom>
          <a:solidFill>
            <a:srgbClr val="FAF9FB"/>
          </a:solidFill>
          <a:ln w="22225">
            <a:solidFill>
              <a:srgbClr val="0F0F11"/>
            </a:solidFill>
            <a:prstDash val="solid"/>
          </a:ln>
        </p:spPr>
      </p:sp>
      <p:sp>
        <p:nvSpPr>
          <p:cNvPr id="10" name="Text 7"/>
          <p:cNvSpPr/>
          <p:nvPr/>
        </p:nvSpPr>
        <p:spPr>
          <a:xfrm>
            <a:off x="841248" y="2514600"/>
            <a:ext cx="4023360" cy="292608"/>
          </a:xfrm>
          <a:prstGeom prst="rect">
            <a:avLst/>
          </a:prstGeom>
          <a:noFill/>
          <a:ln/>
        </p:spPr>
        <p:txBody>
          <a:bodyPr wrap="square" lIns="0" tIns="0" rIns="0" bIns="0" rtlCol="0" anchor="ctr"/>
          <a:lstStyle/>
          <a:p>
            <a:pPr indent="0" marL="0">
              <a:buNone/>
            </a:pPr>
            <a:r>
              <a:rPr lang="en-US" sz="1100" b="1" spc="120" kern="0" dirty="0">
                <a:solidFill>
                  <a:srgbClr val="0F0F11"/>
                </a:solidFill>
                <a:latin typeface="Courier New" pitchFamily="34" charset="0"/>
                <a:ea typeface="Courier New" pitchFamily="34" charset="-122"/>
                <a:cs typeface="Courier New" pitchFamily="34" charset="-120"/>
              </a:rPr>
              <a:t>LA FIRMA</a:t>
            </a:r>
            <a:endParaRPr lang="en-US" sz="1100" dirty="0"/>
          </a:p>
        </p:txBody>
      </p:sp>
      <p:sp>
        <p:nvSpPr>
          <p:cNvPr id="11" name="Text 8"/>
          <p:cNvSpPr/>
          <p:nvPr/>
        </p:nvSpPr>
        <p:spPr>
          <a:xfrm>
            <a:off x="841248" y="2834640"/>
            <a:ext cx="9046159" cy="292608"/>
          </a:xfrm>
          <a:prstGeom prst="rect">
            <a:avLst/>
          </a:prstGeom>
          <a:noFill/>
          <a:ln/>
        </p:spPr>
        <p:txBody>
          <a:bodyPr wrap="square" lIns="0" tIns="0" rIns="0" bIns="0" rtlCol="0" anchor="ctr"/>
          <a:lstStyle/>
          <a:p>
            <a:pPr indent="0" marL="0">
              <a:buNone/>
            </a:pPr>
            <a:r>
              <a:rPr lang="en-US" sz="1350" dirty="0">
                <a:solidFill>
                  <a:srgbClr val="3A3844"/>
                </a:solidFill>
                <a:latin typeface="Arial" pitchFamily="34" charset="0"/>
                <a:ea typeface="Arial" pitchFamily="34" charset="-122"/>
                <a:cs typeface="Arial" pitchFamily="34" charset="-120"/>
              </a:rPr>
              <a:t>¿Esta transacción la autorizó quien controla esos fondos?</a:t>
            </a:r>
            <a:endParaRPr lang="en-US" sz="1350" dirty="0"/>
          </a:p>
        </p:txBody>
      </p:sp>
      <p:sp>
        <p:nvSpPr>
          <p:cNvPr id="12" name="Text 9"/>
          <p:cNvSpPr/>
          <p:nvPr/>
        </p:nvSpPr>
        <p:spPr>
          <a:xfrm>
            <a:off x="10161727" y="2514600"/>
            <a:ext cx="1188720" cy="292608"/>
          </a:xfrm>
          <a:prstGeom prst="rect">
            <a:avLst/>
          </a:prstGeom>
          <a:noFill/>
          <a:ln/>
        </p:spPr>
        <p:txBody>
          <a:bodyPr wrap="square" lIns="0" tIns="0" rIns="0" bIns="0" rtlCol="0" anchor="ctr"/>
          <a:lstStyle/>
          <a:p>
            <a:pPr algn="r" indent="0" marL="0">
              <a:buNone/>
            </a:pPr>
            <a:r>
              <a:rPr lang="en-US" sz="1000" dirty="0">
                <a:solidFill>
                  <a:srgbClr val="6F6B80"/>
                </a:solidFill>
                <a:latin typeface="Courier New" pitchFamily="34" charset="0"/>
                <a:ea typeface="Courier New" pitchFamily="34" charset="-122"/>
                <a:cs typeface="Courier New" pitchFamily="34" charset="-120"/>
              </a:rPr>
              <a:t>Sesión 3</a:t>
            </a:r>
            <a:endParaRPr lang="en-US" sz="1000" dirty="0"/>
          </a:p>
        </p:txBody>
      </p:sp>
      <p:sp>
        <p:nvSpPr>
          <p:cNvPr id="13" name="Shape 10"/>
          <p:cNvSpPr/>
          <p:nvPr/>
        </p:nvSpPr>
        <p:spPr>
          <a:xfrm>
            <a:off x="566928" y="3383280"/>
            <a:ext cx="11057839" cy="804672"/>
          </a:xfrm>
          <a:prstGeom prst="rect">
            <a:avLst/>
          </a:prstGeom>
          <a:solidFill>
            <a:srgbClr val="FAF9FB"/>
          </a:solidFill>
          <a:ln w="22225">
            <a:solidFill>
              <a:srgbClr val="0F0F11"/>
            </a:solidFill>
            <a:prstDash val="solid"/>
          </a:ln>
        </p:spPr>
      </p:sp>
      <p:sp>
        <p:nvSpPr>
          <p:cNvPr id="14" name="Text 11"/>
          <p:cNvSpPr/>
          <p:nvPr/>
        </p:nvSpPr>
        <p:spPr>
          <a:xfrm>
            <a:off x="841248" y="3474720"/>
            <a:ext cx="4023360" cy="292608"/>
          </a:xfrm>
          <a:prstGeom prst="rect">
            <a:avLst/>
          </a:prstGeom>
          <a:noFill/>
          <a:ln/>
        </p:spPr>
        <p:txBody>
          <a:bodyPr wrap="square" lIns="0" tIns="0" rIns="0" bIns="0" rtlCol="0" anchor="ctr"/>
          <a:lstStyle/>
          <a:p>
            <a:pPr indent="0" marL="0">
              <a:buNone/>
            </a:pPr>
            <a:r>
              <a:rPr lang="en-US" sz="1100" b="1" spc="120" kern="0" dirty="0">
                <a:solidFill>
                  <a:srgbClr val="0F0F11"/>
                </a:solidFill>
                <a:latin typeface="Courier New" pitchFamily="34" charset="0"/>
                <a:ea typeface="Courier New" pitchFamily="34" charset="-122"/>
                <a:cs typeface="Courier New" pitchFamily="34" charset="-120"/>
              </a:rPr>
              <a:t>EL ÁRBOL DE MERKLE</a:t>
            </a:r>
            <a:endParaRPr lang="en-US" sz="1100" dirty="0"/>
          </a:p>
        </p:txBody>
      </p:sp>
      <p:sp>
        <p:nvSpPr>
          <p:cNvPr id="15" name="Text 12"/>
          <p:cNvSpPr/>
          <p:nvPr/>
        </p:nvSpPr>
        <p:spPr>
          <a:xfrm>
            <a:off x="841248" y="3794760"/>
            <a:ext cx="9046159" cy="292608"/>
          </a:xfrm>
          <a:prstGeom prst="rect">
            <a:avLst/>
          </a:prstGeom>
          <a:noFill/>
          <a:ln/>
        </p:spPr>
        <p:txBody>
          <a:bodyPr wrap="square" lIns="0" tIns="0" rIns="0" bIns="0" rtlCol="0" anchor="ctr"/>
          <a:lstStyle/>
          <a:p>
            <a:pPr indent="0" marL="0">
              <a:buNone/>
            </a:pPr>
            <a:r>
              <a:rPr lang="en-US" sz="1350" dirty="0">
                <a:solidFill>
                  <a:srgbClr val="3A3844"/>
                </a:solidFill>
                <a:latin typeface="Arial" pitchFamily="34" charset="0"/>
                <a:ea typeface="Arial" pitchFamily="34" charset="-122"/>
                <a:cs typeface="Arial" pitchFamily="34" charset="-120"/>
              </a:rPr>
              <a:t>¿Esta transacción está en este bloque?</a:t>
            </a:r>
            <a:endParaRPr lang="en-US" sz="1350" dirty="0"/>
          </a:p>
        </p:txBody>
      </p:sp>
      <p:sp>
        <p:nvSpPr>
          <p:cNvPr id="16" name="Text 13"/>
          <p:cNvSpPr/>
          <p:nvPr/>
        </p:nvSpPr>
        <p:spPr>
          <a:xfrm>
            <a:off x="10161727" y="3474720"/>
            <a:ext cx="1188720" cy="292608"/>
          </a:xfrm>
          <a:prstGeom prst="rect">
            <a:avLst/>
          </a:prstGeom>
          <a:noFill/>
          <a:ln/>
        </p:spPr>
        <p:txBody>
          <a:bodyPr wrap="square" lIns="0" tIns="0" rIns="0" bIns="0" rtlCol="0" anchor="ctr"/>
          <a:lstStyle/>
          <a:p>
            <a:pPr algn="r" indent="0" marL="0">
              <a:buNone/>
            </a:pPr>
            <a:r>
              <a:rPr lang="en-US" sz="1000" dirty="0">
                <a:solidFill>
                  <a:srgbClr val="6F6B80"/>
                </a:solidFill>
                <a:latin typeface="Courier New" pitchFamily="34" charset="0"/>
                <a:ea typeface="Courier New" pitchFamily="34" charset="-122"/>
                <a:cs typeface="Courier New" pitchFamily="34" charset="-120"/>
              </a:rPr>
              <a:t>Sesión 2</a:t>
            </a:r>
            <a:endParaRPr lang="en-US" sz="1000" dirty="0"/>
          </a:p>
        </p:txBody>
      </p:sp>
      <p:sp>
        <p:nvSpPr>
          <p:cNvPr id="17" name="Shape 14"/>
          <p:cNvSpPr/>
          <p:nvPr/>
        </p:nvSpPr>
        <p:spPr>
          <a:xfrm>
            <a:off x="566928" y="4343400"/>
            <a:ext cx="11057839" cy="804672"/>
          </a:xfrm>
          <a:prstGeom prst="rect">
            <a:avLst/>
          </a:prstGeom>
          <a:solidFill>
            <a:srgbClr val="FAF9FB"/>
          </a:solidFill>
          <a:ln w="22225">
            <a:solidFill>
              <a:srgbClr val="0F0F11"/>
            </a:solidFill>
            <a:prstDash val="solid"/>
          </a:ln>
        </p:spPr>
      </p:sp>
      <p:sp>
        <p:nvSpPr>
          <p:cNvPr id="18" name="Text 15"/>
          <p:cNvSpPr/>
          <p:nvPr/>
        </p:nvSpPr>
        <p:spPr>
          <a:xfrm>
            <a:off x="841248" y="4434840"/>
            <a:ext cx="4023360" cy="292608"/>
          </a:xfrm>
          <a:prstGeom prst="rect">
            <a:avLst/>
          </a:prstGeom>
          <a:noFill/>
          <a:ln/>
        </p:spPr>
        <p:txBody>
          <a:bodyPr wrap="square" lIns="0" tIns="0" rIns="0" bIns="0" rtlCol="0" anchor="ctr"/>
          <a:lstStyle/>
          <a:p>
            <a:pPr indent="0" marL="0">
              <a:buNone/>
            </a:pPr>
            <a:r>
              <a:rPr lang="en-US" sz="1100" b="1" spc="120" kern="0" dirty="0">
                <a:solidFill>
                  <a:srgbClr val="0F0F11"/>
                </a:solidFill>
                <a:latin typeface="Courier New" pitchFamily="34" charset="0"/>
                <a:ea typeface="Courier New" pitchFamily="34" charset="-122"/>
                <a:cs typeface="Courier New" pitchFamily="34" charset="-120"/>
              </a:rPr>
              <a:t>EL ENCADENAMIENTO POR HASH</a:t>
            </a:r>
            <a:endParaRPr lang="en-US" sz="1100" dirty="0"/>
          </a:p>
        </p:txBody>
      </p:sp>
      <p:sp>
        <p:nvSpPr>
          <p:cNvPr id="19" name="Text 16"/>
          <p:cNvSpPr/>
          <p:nvPr/>
        </p:nvSpPr>
        <p:spPr>
          <a:xfrm>
            <a:off x="841248" y="4754880"/>
            <a:ext cx="9046159" cy="292608"/>
          </a:xfrm>
          <a:prstGeom prst="rect">
            <a:avLst/>
          </a:prstGeom>
          <a:noFill/>
          <a:ln/>
        </p:spPr>
        <p:txBody>
          <a:bodyPr wrap="square" lIns="0" tIns="0" rIns="0" bIns="0" rtlCol="0" anchor="ctr"/>
          <a:lstStyle/>
          <a:p>
            <a:pPr indent="0" marL="0">
              <a:buNone/>
            </a:pPr>
            <a:r>
              <a:rPr lang="en-US" sz="1350" dirty="0">
                <a:solidFill>
                  <a:srgbClr val="3A3844"/>
                </a:solidFill>
                <a:latin typeface="Arial" pitchFamily="34" charset="0"/>
                <a:ea typeface="Arial" pitchFamily="34" charset="-122"/>
                <a:cs typeface="Arial" pitchFamily="34" charset="-120"/>
              </a:rPr>
              <a:t>¿Este bloque sigue siendo el que era?</a:t>
            </a:r>
            <a:endParaRPr lang="en-US" sz="1350" dirty="0"/>
          </a:p>
        </p:txBody>
      </p:sp>
      <p:sp>
        <p:nvSpPr>
          <p:cNvPr id="20" name="Text 17"/>
          <p:cNvSpPr/>
          <p:nvPr/>
        </p:nvSpPr>
        <p:spPr>
          <a:xfrm>
            <a:off x="10161727" y="4434840"/>
            <a:ext cx="1188720" cy="292608"/>
          </a:xfrm>
          <a:prstGeom prst="rect">
            <a:avLst/>
          </a:prstGeom>
          <a:noFill/>
          <a:ln/>
        </p:spPr>
        <p:txBody>
          <a:bodyPr wrap="square" lIns="0" tIns="0" rIns="0" bIns="0" rtlCol="0" anchor="ctr"/>
          <a:lstStyle/>
          <a:p>
            <a:pPr algn="r" indent="0" marL="0">
              <a:buNone/>
            </a:pPr>
            <a:r>
              <a:rPr lang="en-US" sz="1000" dirty="0">
                <a:solidFill>
                  <a:srgbClr val="6F6B80"/>
                </a:solidFill>
                <a:latin typeface="Courier New" pitchFamily="34" charset="0"/>
                <a:ea typeface="Courier New" pitchFamily="34" charset="-122"/>
                <a:cs typeface="Courier New" pitchFamily="34" charset="-120"/>
              </a:rPr>
              <a:t>Sesión 3</a:t>
            </a:r>
            <a:endParaRPr lang="en-US" sz="1000" dirty="0"/>
          </a:p>
        </p:txBody>
      </p:sp>
      <p:sp>
        <p:nvSpPr>
          <p:cNvPr id="21" name="Shape 18"/>
          <p:cNvSpPr/>
          <p:nvPr/>
        </p:nvSpPr>
        <p:spPr>
          <a:xfrm>
            <a:off x="566928" y="5303520"/>
            <a:ext cx="11057839" cy="804672"/>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22" name="Text 19"/>
          <p:cNvSpPr/>
          <p:nvPr/>
        </p:nvSpPr>
        <p:spPr>
          <a:xfrm>
            <a:off x="841248" y="5394960"/>
            <a:ext cx="4023360" cy="292608"/>
          </a:xfrm>
          <a:prstGeom prst="rect">
            <a:avLst/>
          </a:prstGeom>
          <a:noFill/>
          <a:ln/>
        </p:spPr>
        <p:txBody>
          <a:bodyPr wrap="square" lIns="0" tIns="0" rIns="0" bIns="0" rtlCol="0" anchor="ctr"/>
          <a:lstStyle/>
          <a:p>
            <a:pPr indent="0" marL="0">
              <a:buNone/>
            </a:pPr>
            <a:r>
              <a:rPr lang="en-US" sz="1100" b="1" spc="120" kern="0" dirty="0">
                <a:solidFill>
                  <a:srgbClr val="A35604"/>
                </a:solidFill>
                <a:latin typeface="Courier New" pitchFamily="34" charset="0"/>
                <a:ea typeface="Courier New" pitchFamily="34" charset="-122"/>
                <a:cs typeface="Courier New" pitchFamily="34" charset="-120"/>
              </a:rPr>
              <a:t>EL CONSENSO</a:t>
            </a:r>
            <a:endParaRPr lang="en-US" sz="1100" dirty="0"/>
          </a:p>
        </p:txBody>
      </p:sp>
      <p:sp>
        <p:nvSpPr>
          <p:cNvPr id="23" name="Text 20"/>
          <p:cNvSpPr/>
          <p:nvPr/>
        </p:nvSpPr>
        <p:spPr>
          <a:xfrm>
            <a:off x="841248" y="5715000"/>
            <a:ext cx="9046159" cy="292608"/>
          </a:xfrm>
          <a:prstGeom prst="rect">
            <a:avLst/>
          </a:prstGeom>
          <a:noFill/>
          <a:ln/>
        </p:spPr>
        <p:txBody>
          <a:bodyPr wrap="square" lIns="0" tIns="0" rIns="0" bIns="0" rtlCol="0" anchor="ctr"/>
          <a:lstStyle/>
          <a:p>
            <a:pPr indent="0" marL="0">
              <a:buNone/>
            </a:pPr>
            <a:r>
              <a:rPr lang="en-US" sz="1350" dirty="0">
                <a:solidFill>
                  <a:srgbClr val="3A3844"/>
                </a:solidFill>
                <a:latin typeface="Arial" pitchFamily="34" charset="0"/>
                <a:ea typeface="Arial" pitchFamily="34" charset="-122"/>
                <a:cs typeface="Arial" pitchFamily="34" charset="-120"/>
              </a:rPr>
              <a:t>¿Es esta la cadena en la que todos estamos de acuerdo?</a:t>
            </a:r>
            <a:endParaRPr lang="en-US" sz="1350" dirty="0"/>
          </a:p>
        </p:txBody>
      </p:sp>
      <p:sp>
        <p:nvSpPr>
          <p:cNvPr id="24" name="Text 21"/>
          <p:cNvSpPr/>
          <p:nvPr/>
        </p:nvSpPr>
        <p:spPr>
          <a:xfrm>
            <a:off x="10161727" y="5394960"/>
            <a:ext cx="1188720" cy="292608"/>
          </a:xfrm>
          <a:prstGeom prst="rect">
            <a:avLst/>
          </a:prstGeom>
          <a:noFill/>
          <a:ln/>
        </p:spPr>
        <p:txBody>
          <a:bodyPr wrap="square" lIns="0" tIns="0" rIns="0" bIns="0" rtlCol="0" anchor="ctr"/>
          <a:lstStyle/>
          <a:p>
            <a:pPr algn="r" indent="0" marL="0">
              <a:buNone/>
            </a:pPr>
            <a:r>
              <a:rPr lang="en-US" sz="1000" dirty="0">
                <a:solidFill>
                  <a:srgbClr val="6F6B80"/>
                </a:solidFill>
                <a:latin typeface="Courier New" pitchFamily="34" charset="0"/>
                <a:ea typeface="Courier New" pitchFamily="34" charset="-122"/>
                <a:cs typeface="Courier New" pitchFamily="34" charset="-120"/>
              </a:rPr>
              <a:t>Sesión 4</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B.2 · MIN 92–105 · FIGURA 3</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EL EFECTO CASCADA, CON LA PIEZA QUE LO EXPLICA</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20</a:t>
            </a:r>
            <a:endParaRPr lang="en-US" sz="900" dirty="0"/>
          </a:p>
        </p:txBody>
      </p:sp>
      <p:sp>
        <p:nvSpPr>
          <p:cNvPr id="8" name="Shape 5"/>
          <p:cNvSpPr/>
          <p:nvPr/>
        </p:nvSpPr>
        <p:spPr>
          <a:xfrm>
            <a:off x="566928" y="1920240"/>
            <a:ext cx="3291840" cy="2514600"/>
          </a:xfrm>
          <a:prstGeom prst="rect">
            <a:avLst/>
          </a:prstGeom>
          <a:solidFill>
            <a:srgbClr val="FAF9FB"/>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9" name="Shape 6"/>
          <p:cNvSpPr/>
          <p:nvPr/>
        </p:nvSpPr>
        <p:spPr>
          <a:xfrm>
            <a:off x="566928" y="1920240"/>
            <a:ext cx="3291840" cy="365760"/>
          </a:xfrm>
          <a:prstGeom prst="rect">
            <a:avLst/>
          </a:prstGeom>
          <a:solidFill>
            <a:srgbClr val="0F0F11"/>
          </a:solidFill>
          <a:ln w="22225">
            <a:solidFill>
              <a:srgbClr val="0F0F11"/>
            </a:solidFill>
            <a:prstDash val="solid"/>
          </a:ln>
        </p:spPr>
      </p:sp>
      <p:sp>
        <p:nvSpPr>
          <p:cNvPr id="10" name="Text 7"/>
          <p:cNvSpPr/>
          <p:nvPr/>
        </p:nvSpPr>
        <p:spPr>
          <a:xfrm>
            <a:off x="731520" y="1920240"/>
            <a:ext cx="2962656" cy="365760"/>
          </a:xfrm>
          <a:prstGeom prst="rect">
            <a:avLst/>
          </a:prstGeom>
          <a:noFill/>
          <a:ln/>
        </p:spPr>
        <p:txBody>
          <a:bodyPr wrap="square" lIns="0" tIns="0" rIns="0" bIns="0" rtlCol="0" anchor="ctr"/>
          <a:lstStyle/>
          <a:p>
            <a:pPr indent="0" marL="0">
              <a:buNone/>
            </a:pPr>
            <a:r>
              <a:rPr lang="en-US" sz="1100" b="1" spc="130" kern="0" dirty="0">
                <a:solidFill>
                  <a:srgbClr val="FFFFFF"/>
                </a:solidFill>
                <a:latin typeface="Courier New" pitchFamily="34" charset="0"/>
                <a:ea typeface="Courier New" pitchFamily="34" charset="-122"/>
                <a:cs typeface="Courier New" pitchFamily="34" charset="-120"/>
              </a:rPr>
              <a:t>BLOQUE 120</a:t>
            </a:r>
            <a:endParaRPr lang="en-US" sz="1100" dirty="0"/>
          </a:p>
        </p:txBody>
      </p:sp>
      <p:sp>
        <p:nvSpPr>
          <p:cNvPr id="11" name="Text 8"/>
          <p:cNvSpPr/>
          <p:nvPr/>
        </p:nvSpPr>
        <p:spPr>
          <a:xfrm>
            <a:off x="731520" y="2423160"/>
            <a:ext cx="2962656" cy="219456"/>
          </a:xfrm>
          <a:prstGeom prst="rect">
            <a:avLst/>
          </a:prstGeom>
          <a:noFill/>
          <a:ln/>
        </p:spPr>
        <p:txBody>
          <a:bodyPr wrap="square" lIns="0" tIns="0" rIns="0" bIns="0" rtlCol="0" anchor="ctr"/>
          <a:lstStyle/>
          <a:p>
            <a:pPr indent="0" marL="0">
              <a:buNone/>
            </a:pPr>
            <a:r>
              <a:rPr lang="en-US" sz="900" spc="110" kern="0" dirty="0">
                <a:solidFill>
                  <a:srgbClr val="6F6B80"/>
                </a:solidFill>
                <a:latin typeface="Courier New" pitchFamily="34" charset="0"/>
                <a:ea typeface="Courier New" pitchFamily="34" charset="-122"/>
                <a:cs typeface="Courier New" pitchFamily="34" charset="-120"/>
              </a:rPr>
              <a:t>hash anterior</a:t>
            </a:r>
            <a:endParaRPr lang="en-US" sz="900" dirty="0"/>
          </a:p>
        </p:txBody>
      </p:sp>
      <p:sp>
        <p:nvSpPr>
          <p:cNvPr id="12" name="Text 9"/>
          <p:cNvSpPr/>
          <p:nvPr/>
        </p:nvSpPr>
        <p:spPr>
          <a:xfrm>
            <a:off x="731520" y="2642616"/>
            <a:ext cx="2962656" cy="274320"/>
          </a:xfrm>
          <a:prstGeom prst="rect">
            <a:avLst/>
          </a:prstGeom>
          <a:noFill/>
          <a:ln/>
        </p:spPr>
        <p:txBody>
          <a:bodyPr wrap="square" lIns="0" tIns="0" rIns="0" bIns="0" rtlCol="0" anchor="ctr"/>
          <a:lstStyle/>
          <a:p>
            <a:pPr indent="0" marL="0">
              <a:buNone/>
            </a:pPr>
            <a:r>
              <a:rPr lang="en-US" sz="1100" dirty="0">
                <a:solidFill>
                  <a:srgbClr val="3A3844"/>
                </a:solidFill>
                <a:latin typeface="Courier New" pitchFamily="34" charset="0"/>
                <a:ea typeface="Courier New" pitchFamily="34" charset="-122"/>
                <a:cs typeface="Courier New" pitchFamily="34" charset="-120"/>
              </a:rPr>
              <a:t>0x4c1e…9ab2</a:t>
            </a:r>
            <a:endParaRPr lang="en-US" sz="1100" dirty="0"/>
          </a:p>
        </p:txBody>
      </p:sp>
      <p:sp>
        <p:nvSpPr>
          <p:cNvPr id="13" name="Text 10"/>
          <p:cNvSpPr/>
          <p:nvPr/>
        </p:nvSpPr>
        <p:spPr>
          <a:xfrm>
            <a:off x="731520" y="3081528"/>
            <a:ext cx="2962656" cy="219456"/>
          </a:xfrm>
          <a:prstGeom prst="rect">
            <a:avLst/>
          </a:prstGeom>
          <a:noFill/>
          <a:ln/>
        </p:spPr>
        <p:txBody>
          <a:bodyPr wrap="square" lIns="0" tIns="0" rIns="0" bIns="0" rtlCol="0" anchor="ctr"/>
          <a:lstStyle/>
          <a:p>
            <a:pPr indent="0" marL="0">
              <a:buNone/>
            </a:pPr>
            <a:r>
              <a:rPr lang="en-US" sz="900" spc="110" kern="0" dirty="0">
                <a:solidFill>
                  <a:srgbClr val="6F6B80"/>
                </a:solidFill>
                <a:latin typeface="Courier New" pitchFamily="34" charset="0"/>
                <a:ea typeface="Courier New" pitchFamily="34" charset="-122"/>
                <a:cs typeface="Courier New" pitchFamily="34" charset="-120"/>
              </a:rPr>
              <a:t>raíz de Merkle</a:t>
            </a:r>
            <a:endParaRPr lang="en-US" sz="900" dirty="0"/>
          </a:p>
        </p:txBody>
      </p:sp>
      <p:sp>
        <p:nvSpPr>
          <p:cNvPr id="14" name="Text 11"/>
          <p:cNvSpPr/>
          <p:nvPr/>
        </p:nvSpPr>
        <p:spPr>
          <a:xfrm>
            <a:off x="731520" y="3300984"/>
            <a:ext cx="2962656" cy="274320"/>
          </a:xfrm>
          <a:prstGeom prst="rect">
            <a:avLst/>
          </a:prstGeom>
          <a:noFill/>
          <a:ln/>
        </p:spPr>
        <p:txBody>
          <a:bodyPr wrap="square" lIns="0" tIns="0" rIns="0" bIns="0" rtlCol="0" anchor="ctr"/>
          <a:lstStyle/>
          <a:p>
            <a:pPr indent="0" marL="0">
              <a:buNone/>
            </a:pPr>
            <a:r>
              <a:rPr lang="en-US" sz="1100" b="1" dirty="0">
                <a:solidFill>
                  <a:srgbClr val="A35604"/>
                </a:solidFill>
                <a:latin typeface="Courier New" pitchFamily="34" charset="0"/>
                <a:ea typeface="Courier New" pitchFamily="34" charset="-122"/>
                <a:cs typeface="Courier New" pitchFamily="34" charset="-120"/>
              </a:rPr>
              <a:t>0x8f3a… → 0xd4b7…</a:t>
            </a:r>
            <a:endParaRPr lang="en-US" sz="1100" dirty="0"/>
          </a:p>
        </p:txBody>
      </p:sp>
      <p:sp>
        <p:nvSpPr>
          <p:cNvPr id="15" name="Text 12"/>
          <p:cNvSpPr/>
          <p:nvPr/>
        </p:nvSpPr>
        <p:spPr>
          <a:xfrm>
            <a:off x="731520" y="3739896"/>
            <a:ext cx="2962656" cy="219456"/>
          </a:xfrm>
          <a:prstGeom prst="rect">
            <a:avLst/>
          </a:prstGeom>
          <a:noFill/>
          <a:ln/>
        </p:spPr>
        <p:txBody>
          <a:bodyPr wrap="square" lIns="0" tIns="0" rIns="0" bIns="0" rtlCol="0" anchor="ctr"/>
          <a:lstStyle/>
          <a:p>
            <a:pPr indent="0" marL="0">
              <a:buNone/>
            </a:pPr>
            <a:r>
              <a:rPr lang="en-US" sz="900" spc="110" kern="0" dirty="0">
                <a:solidFill>
                  <a:srgbClr val="6F6B80"/>
                </a:solidFill>
                <a:latin typeface="Courier New" pitchFamily="34" charset="0"/>
                <a:ea typeface="Courier New" pitchFamily="34" charset="-122"/>
                <a:cs typeface="Courier New" pitchFamily="34" charset="-120"/>
              </a:rPr>
              <a:t>hash del bloque</a:t>
            </a:r>
            <a:endParaRPr lang="en-US" sz="900" dirty="0"/>
          </a:p>
        </p:txBody>
      </p:sp>
      <p:sp>
        <p:nvSpPr>
          <p:cNvPr id="16" name="Text 13"/>
          <p:cNvSpPr/>
          <p:nvPr/>
        </p:nvSpPr>
        <p:spPr>
          <a:xfrm>
            <a:off x="731520" y="3959352"/>
            <a:ext cx="2962656" cy="274320"/>
          </a:xfrm>
          <a:prstGeom prst="rect">
            <a:avLst/>
          </a:prstGeom>
          <a:noFill/>
          <a:ln/>
        </p:spPr>
        <p:txBody>
          <a:bodyPr wrap="square" lIns="0" tIns="0" rIns="0" bIns="0" rtlCol="0" anchor="ctr"/>
          <a:lstStyle/>
          <a:p>
            <a:pPr indent="0" marL="0">
              <a:buNone/>
            </a:pPr>
            <a:r>
              <a:rPr lang="en-US" sz="1100" b="1" dirty="0">
                <a:solidFill>
                  <a:srgbClr val="A35604"/>
                </a:solidFill>
                <a:latin typeface="Courier New" pitchFamily="34" charset="0"/>
                <a:ea typeface="Courier New" pitchFamily="34" charset="-122"/>
                <a:cs typeface="Courier New" pitchFamily="34" charset="-120"/>
              </a:rPr>
              <a:t>CAMBIA</a:t>
            </a:r>
            <a:endParaRPr lang="en-US" sz="1100" dirty="0"/>
          </a:p>
        </p:txBody>
      </p:sp>
      <p:sp>
        <p:nvSpPr>
          <p:cNvPr id="17" name="Shape 14"/>
          <p:cNvSpPr/>
          <p:nvPr/>
        </p:nvSpPr>
        <p:spPr>
          <a:xfrm>
            <a:off x="4453128" y="1920240"/>
            <a:ext cx="3291840" cy="2514600"/>
          </a:xfrm>
          <a:prstGeom prst="rect">
            <a:avLst/>
          </a:prstGeom>
          <a:solidFill>
            <a:srgbClr val="FAF9FB"/>
          </a:solidFill>
          <a:ln w="22225">
            <a:solidFill>
              <a:srgbClr val="0F0F11"/>
            </a:solidFill>
            <a:prstDash val="solid"/>
          </a:ln>
        </p:spPr>
      </p:sp>
      <p:sp>
        <p:nvSpPr>
          <p:cNvPr id="18" name="Shape 15"/>
          <p:cNvSpPr/>
          <p:nvPr/>
        </p:nvSpPr>
        <p:spPr>
          <a:xfrm>
            <a:off x="4453128" y="1920240"/>
            <a:ext cx="3291840" cy="365760"/>
          </a:xfrm>
          <a:prstGeom prst="rect">
            <a:avLst/>
          </a:prstGeom>
          <a:solidFill>
            <a:srgbClr val="0F0F11"/>
          </a:solidFill>
          <a:ln w="22225">
            <a:solidFill>
              <a:srgbClr val="0F0F11"/>
            </a:solidFill>
            <a:prstDash val="solid"/>
          </a:ln>
        </p:spPr>
      </p:sp>
      <p:sp>
        <p:nvSpPr>
          <p:cNvPr id="19" name="Text 16"/>
          <p:cNvSpPr/>
          <p:nvPr/>
        </p:nvSpPr>
        <p:spPr>
          <a:xfrm>
            <a:off x="4617720" y="1920240"/>
            <a:ext cx="2962656" cy="365760"/>
          </a:xfrm>
          <a:prstGeom prst="rect">
            <a:avLst/>
          </a:prstGeom>
          <a:noFill/>
          <a:ln/>
        </p:spPr>
        <p:txBody>
          <a:bodyPr wrap="square" lIns="0" tIns="0" rIns="0" bIns="0" rtlCol="0" anchor="ctr"/>
          <a:lstStyle/>
          <a:p>
            <a:pPr indent="0" marL="0">
              <a:buNone/>
            </a:pPr>
            <a:r>
              <a:rPr lang="en-US" sz="1100" b="1" spc="130" kern="0" dirty="0">
                <a:solidFill>
                  <a:srgbClr val="FFFFFF"/>
                </a:solidFill>
                <a:latin typeface="Courier New" pitchFamily="34" charset="0"/>
                <a:ea typeface="Courier New" pitchFamily="34" charset="-122"/>
                <a:cs typeface="Courier New" pitchFamily="34" charset="-120"/>
              </a:rPr>
              <a:t>BLOQUE 121</a:t>
            </a:r>
            <a:endParaRPr lang="en-US" sz="1100" dirty="0"/>
          </a:p>
        </p:txBody>
      </p:sp>
      <p:sp>
        <p:nvSpPr>
          <p:cNvPr id="20" name="Text 17"/>
          <p:cNvSpPr/>
          <p:nvPr/>
        </p:nvSpPr>
        <p:spPr>
          <a:xfrm>
            <a:off x="4617720" y="2423160"/>
            <a:ext cx="2962656" cy="219456"/>
          </a:xfrm>
          <a:prstGeom prst="rect">
            <a:avLst/>
          </a:prstGeom>
          <a:noFill/>
          <a:ln/>
        </p:spPr>
        <p:txBody>
          <a:bodyPr wrap="square" lIns="0" tIns="0" rIns="0" bIns="0" rtlCol="0" anchor="ctr"/>
          <a:lstStyle/>
          <a:p>
            <a:pPr indent="0" marL="0">
              <a:buNone/>
            </a:pPr>
            <a:r>
              <a:rPr lang="en-US" sz="900" spc="110" kern="0" dirty="0">
                <a:solidFill>
                  <a:srgbClr val="6F6B80"/>
                </a:solidFill>
                <a:latin typeface="Courier New" pitchFamily="34" charset="0"/>
                <a:ea typeface="Courier New" pitchFamily="34" charset="-122"/>
                <a:cs typeface="Courier New" pitchFamily="34" charset="-120"/>
              </a:rPr>
              <a:t>hash anterior</a:t>
            </a:r>
            <a:endParaRPr lang="en-US" sz="900" dirty="0"/>
          </a:p>
        </p:txBody>
      </p:sp>
      <p:sp>
        <p:nvSpPr>
          <p:cNvPr id="21" name="Text 18"/>
          <p:cNvSpPr/>
          <p:nvPr/>
        </p:nvSpPr>
        <p:spPr>
          <a:xfrm>
            <a:off x="4617720" y="2642616"/>
            <a:ext cx="2962656" cy="274320"/>
          </a:xfrm>
          <a:prstGeom prst="rect">
            <a:avLst/>
          </a:prstGeom>
          <a:noFill/>
          <a:ln/>
        </p:spPr>
        <p:txBody>
          <a:bodyPr wrap="square" lIns="0" tIns="0" rIns="0" bIns="0" rtlCol="0" anchor="ctr"/>
          <a:lstStyle/>
          <a:p>
            <a:pPr indent="0" marL="0">
              <a:buNone/>
            </a:pPr>
            <a:r>
              <a:rPr lang="en-US" sz="1100" b="1" dirty="0">
                <a:solidFill>
                  <a:srgbClr val="A35604"/>
                </a:solidFill>
                <a:latin typeface="Courier New" pitchFamily="34" charset="0"/>
                <a:ea typeface="Courier New" pitchFamily="34" charset="-122"/>
                <a:cs typeface="Courier New" pitchFamily="34" charset="-120"/>
              </a:rPr>
              <a:t>ya no coincide</a:t>
            </a:r>
            <a:endParaRPr lang="en-US" sz="1100" dirty="0"/>
          </a:p>
        </p:txBody>
      </p:sp>
      <p:sp>
        <p:nvSpPr>
          <p:cNvPr id="22" name="Text 19"/>
          <p:cNvSpPr/>
          <p:nvPr/>
        </p:nvSpPr>
        <p:spPr>
          <a:xfrm>
            <a:off x="4617720" y="3081528"/>
            <a:ext cx="2962656" cy="219456"/>
          </a:xfrm>
          <a:prstGeom prst="rect">
            <a:avLst/>
          </a:prstGeom>
          <a:noFill/>
          <a:ln/>
        </p:spPr>
        <p:txBody>
          <a:bodyPr wrap="square" lIns="0" tIns="0" rIns="0" bIns="0" rtlCol="0" anchor="ctr"/>
          <a:lstStyle/>
          <a:p>
            <a:pPr indent="0" marL="0">
              <a:buNone/>
            </a:pPr>
            <a:r>
              <a:rPr lang="en-US" sz="900" spc="110" kern="0" dirty="0">
                <a:solidFill>
                  <a:srgbClr val="6F6B80"/>
                </a:solidFill>
                <a:latin typeface="Courier New" pitchFamily="34" charset="0"/>
                <a:ea typeface="Courier New" pitchFamily="34" charset="-122"/>
                <a:cs typeface="Courier New" pitchFamily="34" charset="-120"/>
              </a:rPr>
              <a:t>raíz de Merkle</a:t>
            </a:r>
            <a:endParaRPr lang="en-US" sz="900" dirty="0"/>
          </a:p>
        </p:txBody>
      </p:sp>
      <p:sp>
        <p:nvSpPr>
          <p:cNvPr id="23" name="Text 20"/>
          <p:cNvSpPr/>
          <p:nvPr/>
        </p:nvSpPr>
        <p:spPr>
          <a:xfrm>
            <a:off x="4617720" y="3300984"/>
            <a:ext cx="2962656" cy="274320"/>
          </a:xfrm>
          <a:prstGeom prst="rect">
            <a:avLst/>
          </a:prstGeom>
          <a:noFill/>
          <a:ln/>
        </p:spPr>
        <p:txBody>
          <a:bodyPr wrap="square" lIns="0" tIns="0" rIns="0" bIns="0" rtlCol="0" anchor="ctr"/>
          <a:lstStyle/>
          <a:p>
            <a:pPr indent="0" marL="0">
              <a:buNone/>
            </a:pPr>
            <a:r>
              <a:rPr lang="en-US" sz="1100" dirty="0">
                <a:solidFill>
                  <a:srgbClr val="3A3844"/>
                </a:solidFill>
                <a:latin typeface="Courier New" pitchFamily="34" charset="0"/>
                <a:ea typeface="Courier New" pitchFamily="34" charset="-122"/>
                <a:cs typeface="Courier New" pitchFamily="34" charset="-120"/>
              </a:rPr>
              <a:t>0x21b7…0f5e</a:t>
            </a:r>
            <a:endParaRPr lang="en-US" sz="1100" dirty="0"/>
          </a:p>
        </p:txBody>
      </p:sp>
      <p:sp>
        <p:nvSpPr>
          <p:cNvPr id="24" name="Text 21"/>
          <p:cNvSpPr/>
          <p:nvPr/>
        </p:nvSpPr>
        <p:spPr>
          <a:xfrm>
            <a:off x="4617720" y="3739896"/>
            <a:ext cx="2962656" cy="219456"/>
          </a:xfrm>
          <a:prstGeom prst="rect">
            <a:avLst/>
          </a:prstGeom>
          <a:noFill/>
          <a:ln/>
        </p:spPr>
        <p:txBody>
          <a:bodyPr wrap="square" lIns="0" tIns="0" rIns="0" bIns="0" rtlCol="0" anchor="ctr"/>
          <a:lstStyle/>
          <a:p>
            <a:pPr indent="0" marL="0">
              <a:buNone/>
            </a:pPr>
            <a:r>
              <a:rPr lang="en-US" sz="900" spc="110" kern="0" dirty="0">
                <a:solidFill>
                  <a:srgbClr val="6F6B80"/>
                </a:solidFill>
                <a:latin typeface="Courier New" pitchFamily="34" charset="0"/>
                <a:ea typeface="Courier New" pitchFamily="34" charset="-122"/>
                <a:cs typeface="Courier New" pitchFamily="34" charset="-120"/>
              </a:rPr>
              <a:t>hash del bloque</a:t>
            </a:r>
            <a:endParaRPr lang="en-US" sz="900" dirty="0"/>
          </a:p>
        </p:txBody>
      </p:sp>
      <p:sp>
        <p:nvSpPr>
          <p:cNvPr id="25" name="Text 22"/>
          <p:cNvSpPr/>
          <p:nvPr/>
        </p:nvSpPr>
        <p:spPr>
          <a:xfrm>
            <a:off x="4617720" y="3959352"/>
            <a:ext cx="2962656" cy="274320"/>
          </a:xfrm>
          <a:prstGeom prst="rect">
            <a:avLst/>
          </a:prstGeom>
          <a:noFill/>
          <a:ln/>
        </p:spPr>
        <p:txBody>
          <a:bodyPr wrap="square" lIns="0" tIns="0" rIns="0" bIns="0" rtlCol="0" anchor="ctr"/>
          <a:lstStyle/>
          <a:p>
            <a:pPr indent="0" marL="0">
              <a:buNone/>
            </a:pPr>
            <a:r>
              <a:rPr lang="en-US" sz="1100" b="1" dirty="0">
                <a:solidFill>
                  <a:srgbClr val="A35604"/>
                </a:solidFill>
                <a:latin typeface="Courier New" pitchFamily="34" charset="0"/>
                <a:ea typeface="Courier New" pitchFamily="34" charset="-122"/>
                <a:cs typeface="Courier New" pitchFamily="34" charset="-120"/>
              </a:rPr>
              <a:t>INVÁLIDO</a:t>
            </a:r>
            <a:endParaRPr lang="en-US" sz="1100" dirty="0"/>
          </a:p>
        </p:txBody>
      </p:sp>
      <p:sp>
        <p:nvSpPr>
          <p:cNvPr id="26" name="Shape 23"/>
          <p:cNvSpPr/>
          <p:nvPr/>
        </p:nvSpPr>
        <p:spPr>
          <a:xfrm>
            <a:off x="8339328" y="1920240"/>
            <a:ext cx="3291840" cy="2514600"/>
          </a:xfrm>
          <a:prstGeom prst="rect">
            <a:avLst/>
          </a:prstGeom>
          <a:solidFill>
            <a:srgbClr val="FAF9FB"/>
          </a:solidFill>
          <a:ln w="22225">
            <a:solidFill>
              <a:srgbClr val="0F0F11"/>
            </a:solidFill>
            <a:prstDash val="solid"/>
          </a:ln>
        </p:spPr>
      </p:sp>
      <p:sp>
        <p:nvSpPr>
          <p:cNvPr id="27" name="Shape 24"/>
          <p:cNvSpPr/>
          <p:nvPr/>
        </p:nvSpPr>
        <p:spPr>
          <a:xfrm>
            <a:off x="8339328" y="1920240"/>
            <a:ext cx="3291840" cy="365760"/>
          </a:xfrm>
          <a:prstGeom prst="rect">
            <a:avLst/>
          </a:prstGeom>
          <a:solidFill>
            <a:srgbClr val="0F0F11"/>
          </a:solidFill>
          <a:ln w="22225">
            <a:solidFill>
              <a:srgbClr val="0F0F11"/>
            </a:solidFill>
            <a:prstDash val="solid"/>
          </a:ln>
        </p:spPr>
      </p:sp>
      <p:sp>
        <p:nvSpPr>
          <p:cNvPr id="28" name="Text 25"/>
          <p:cNvSpPr/>
          <p:nvPr/>
        </p:nvSpPr>
        <p:spPr>
          <a:xfrm>
            <a:off x="8503920" y="1920240"/>
            <a:ext cx="2962656" cy="365760"/>
          </a:xfrm>
          <a:prstGeom prst="rect">
            <a:avLst/>
          </a:prstGeom>
          <a:noFill/>
          <a:ln/>
        </p:spPr>
        <p:txBody>
          <a:bodyPr wrap="square" lIns="0" tIns="0" rIns="0" bIns="0" rtlCol="0" anchor="ctr"/>
          <a:lstStyle/>
          <a:p>
            <a:pPr indent="0" marL="0">
              <a:buNone/>
            </a:pPr>
            <a:r>
              <a:rPr lang="en-US" sz="1100" b="1" spc="130" kern="0" dirty="0">
                <a:solidFill>
                  <a:srgbClr val="FFFFFF"/>
                </a:solidFill>
                <a:latin typeface="Courier New" pitchFamily="34" charset="0"/>
                <a:ea typeface="Courier New" pitchFamily="34" charset="-122"/>
                <a:cs typeface="Courier New" pitchFamily="34" charset="-120"/>
              </a:rPr>
              <a:t>BLOQUE 122</a:t>
            </a:r>
            <a:endParaRPr lang="en-US" sz="1100" dirty="0"/>
          </a:p>
        </p:txBody>
      </p:sp>
      <p:sp>
        <p:nvSpPr>
          <p:cNvPr id="29" name="Text 26"/>
          <p:cNvSpPr/>
          <p:nvPr/>
        </p:nvSpPr>
        <p:spPr>
          <a:xfrm>
            <a:off x="8503920" y="2423160"/>
            <a:ext cx="2962656" cy="219456"/>
          </a:xfrm>
          <a:prstGeom prst="rect">
            <a:avLst/>
          </a:prstGeom>
          <a:noFill/>
          <a:ln/>
        </p:spPr>
        <p:txBody>
          <a:bodyPr wrap="square" lIns="0" tIns="0" rIns="0" bIns="0" rtlCol="0" anchor="ctr"/>
          <a:lstStyle/>
          <a:p>
            <a:pPr indent="0" marL="0">
              <a:buNone/>
            </a:pPr>
            <a:r>
              <a:rPr lang="en-US" sz="900" spc="110" kern="0" dirty="0">
                <a:solidFill>
                  <a:srgbClr val="6F6B80"/>
                </a:solidFill>
                <a:latin typeface="Courier New" pitchFamily="34" charset="0"/>
                <a:ea typeface="Courier New" pitchFamily="34" charset="-122"/>
                <a:cs typeface="Courier New" pitchFamily="34" charset="-120"/>
              </a:rPr>
              <a:t>hash anterior</a:t>
            </a:r>
            <a:endParaRPr lang="en-US" sz="900" dirty="0"/>
          </a:p>
        </p:txBody>
      </p:sp>
      <p:sp>
        <p:nvSpPr>
          <p:cNvPr id="30" name="Text 27"/>
          <p:cNvSpPr/>
          <p:nvPr/>
        </p:nvSpPr>
        <p:spPr>
          <a:xfrm>
            <a:off x="8503920" y="2642616"/>
            <a:ext cx="2962656" cy="274320"/>
          </a:xfrm>
          <a:prstGeom prst="rect">
            <a:avLst/>
          </a:prstGeom>
          <a:noFill/>
          <a:ln/>
        </p:spPr>
        <p:txBody>
          <a:bodyPr wrap="square" lIns="0" tIns="0" rIns="0" bIns="0" rtlCol="0" anchor="ctr"/>
          <a:lstStyle/>
          <a:p>
            <a:pPr indent="0" marL="0">
              <a:buNone/>
            </a:pPr>
            <a:r>
              <a:rPr lang="en-US" sz="1100" b="1" dirty="0">
                <a:solidFill>
                  <a:srgbClr val="A35604"/>
                </a:solidFill>
                <a:latin typeface="Courier New" pitchFamily="34" charset="0"/>
                <a:ea typeface="Courier New" pitchFamily="34" charset="-122"/>
                <a:cs typeface="Courier New" pitchFamily="34" charset="-120"/>
              </a:rPr>
              <a:t>ya no coincide</a:t>
            </a:r>
            <a:endParaRPr lang="en-US" sz="1100" dirty="0"/>
          </a:p>
        </p:txBody>
      </p:sp>
      <p:sp>
        <p:nvSpPr>
          <p:cNvPr id="31" name="Text 28"/>
          <p:cNvSpPr/>
          <p:nvPr/>
        </p:nvSpPr>
        <p:spPr>
          <a:xfrm>
            <a:off x="8503920" y="3081528"/>
            <a:ext cx="2962656" cy="219456"/>
          </a:xfrm>
          <a:prstGeom prst="rect">
            <a:avLst/>
          </a:prstGeom>
          <a:noFill/>
          <a:ln/>
        </p:spPr>
        <p:txBody>
          <a:bodyPr wrap="square" lIns="0" tIns="0" rIns="0" bIns="0" rtlCol="0" anchor="ctr"/>
          <a:lstStyle/>
          <a:p>
            <a:pPr indent="0" marL="0">
              <a:buNone/>
            </a:pPr>
            <a:r>
              <a:rPr lang="en-US" sz="900" spc="110" kern="0" dirty="0">
                <a:solidFill>
                  <a:srgbClr val="6F6B80"/>
                </a:solidFill>
                <a:latin typeface="Courier New" pitchFamily="34" charset="0"/>
                <a:ea typeface="Courier New" pitchFamily="34" charset="-122"/>
                <a:cs typeface="Courier New" pitchFamily="34" charset="-120"/>
              </a:rPr>
              <a:t>raíz de Merkle</a:t>
            </a:r>
            <a:endParaRPr lang="en-US" sz="900" dirty="0"/>
          </a:p>
        </p:txBody>
      </p:sp>
      <p:sp>
        <p:nvSpPr>
          <p:cNvPr id="32" name="Text 29"/>
          <p:cNvSpPr/>
          <p:nvPr/>
        </p:nvSpPr>
        <p:spPr>
          <a:xfrm>
            <a:off x="8503920" y="3300984"/>
            <a:ext cx="2962656" cy="274320"/>
          </a:xfrm>
          <a:prstGeom prst="rect">
            <a:avLst/>
          </a:prstGeom>
          <a:noFill/>
          <a:ln/>
        </p:spPr>
        <p:txBody>
          <a:bodyPr wrap="square" lIns="0" tIns="0" rIns="0" bIns="0" rtlCol="0" anchor="ctr"/>
          <a:lstStyle/>
          <a:p>
            <a:pPr indent="0" marL="0">
              <a:buNone/>
            </a:pPr>
            <a:r>
              <a:rPr lang="en-US" sz="1100" dirty="0">
                <a:solidFill>
                  <a:srgbClr val="3A3844"/>
                </a:solidFill>
                <a:latin typeface="Courier New" pitchFamily="34" charset="0"/>
                <a:ea typeface="Courier New" pitchFamily="34" charset="-122"/>
                <a:cs typeface="Courier New" pitchFamily="34" charset="-120"/>
              </a:rPr>
              <a:t>0x9d02…7e13</a:t>
            </a:r>
            <a:endParaRPr lang="en-US" sz="1100" dirty="0"/>
          </a:p>
        </p:txBody>
      </p:sp>
      <p:sp>
        <p:nvSpPr>
          <p:cNvPr id="33" name="Text 30"/>
          <p:cNvSpPr/>
          <p:nvPr/>
        </p:nvSpPr>
        <p:spPr>
          <a:xfrm>
            <a:off x="8503920" y="3739896"/>
            <a:ext cx="2962656" cy="219456"/>
          </a:xfrm>
          <a:prstGeom prst="rect">
            <a:avLst/>
          </a:prstGeom>
          <a:noFill/>
          <a:ln/>
        </p:spPr>
        <p:txBody>
          <a:bodyPr wrap="square" lIns="0" tIns="0" rIns="0" bIns="0" rtlCol="0" anchor="ctr"/>
          <a:lstStyle/>
          <a:p>
            <a:pPr indent="0" marL="0">
              <a:buNone/>
            </a:pPr>
            <a:r>
              <a:rPr lang="en-US" sz="900" spc="110" kern="0" dirty="0">
                <a:solidFill>
                  <a:srgbClr val="6F6B80"/>
                </a:solidFill>
                <a:latin typeface="Courier New" pitchFamily="34" charset="0"/>
                <a:ea typeface="Courier New" pitchFamily="34" charset="-122"/>
                <a:cs typeface="Courier New" pitchFamily="34" charset="-120"/>
              </a:rPr>
              <a:t>hash del bloque</a:t>
            </a:r>
            <a:endParaRPr lang="en-US" sz="900" dirty="0"/>
          </a:p>
        </p:txBody>
      </p:sp>
      <p:sp>
        <p:nvSpPr>
          <p:cNvPr id="34" name="Text 31"/>
          <p:cNvSpPr/>
          <p:nvPr/>
        </p:nvSpPr>
        <p:spPr>
          <a:xfrm>
            <a:off x="8503920" y="3959352"/>
            <a:ext cx="2962656" cy="274320"/>
          </a:xfrm>
          <a:prstGeom prst="rect">
            <a:avLst/>
          </a:prstGeom>
          <a:noFill/>
          <a:ln/>
        </p:spPr>
        <p:txBody>
          <a:bodyPr wrap="square" lIns="0" tIns="0" rIns="0" bIns="0" rtlCol="0" anchor="ctr"/>
          <a:lstStyle/>
          <a:p>
            <a:pPr indent="0" marL="0">
              <a:buNone/>
            </a:pPr>
            <a:r>
              <a:rPr lang="en-US" sz="1100" b="1" dirty="0">
                <a:solidFill>
                  <a:srgbClr val="A35604"/>
                </a:solidFill>
                <a:latin typeface="Courier New" pitchFamily="34" charset="0"/>
                <a:ea typeface="Courier New" pitchFamily="34" charset="-122"/>
                <a:cs typeface="Courier New" pitchFamily="34" charset="-120"/>
              </a:rPr>
              <a:t>INVÁLIDO</a:t>
            </a:r>
            <a:endParaRPr lang="en-US" sz="1100" dirty="0"/>
          </a:p>
        </p:txBody>
      </p:sp>
      <p:sp>
        <p:nvSpPr>
          <p:cNvPr id="35" name="Shape 32"/>
          <p:cNvSpPr/>
          <p:nvPr/>
        </p:nvSpPr>
        <p:spPr>
          <a:xfrm>
            <a:off x="3858768" y="2743200"/>
            <a:ext cx="594360" cy="0"/>
          </a:xfrm>
          <a:prstGeom prst="line">
            <a:avLst/>
          </a:prstGeom>
          <a:noFill/>
          <a:ln w="22225">
            <a:solidFill>
              <a:srgbClr val="0F0F11"/>
            </a:solidFill>
            <a:prstDash val="solid"/>
            <a:tailEnd type="triangle"/>
          </a:ln>
        </p:spPr>
      </p:sp>
      <p:sp>
        <p:nvSpPr>
          <p:cNvPr id="36" name="Shape 33"/>
          <p:cNvSpPr/>
          <p:nvPr/>
        </p:nvSpPr>
        <p:spPr>
          <a:xfrm>
            <a:off x="7744968" y="2743200"/>
            <a:ext cx="594360" cy="0"/>
          </a:xfrm>
          <a:prstGeom prst="line">
            <a:avLst/>
          </a:prstGeom>
          <a:noFill/>
          <a:ln w="22225">
            <a:solidFill>
              <a:srgbClr val="0F0F11"/>
            </a:solidFill>
            <a:prstDash val="solid"/>
            <a:tailEnd type="triangle"/>
          </a:ln>
        </p:spPr>
      </p:sp>
      <p:sp>
        <p:nvSpPr>
          <p:cNvPr id="37" name="Shape 34"/>
          <p:cNvSpPr/>
          <p:nvPr/>
        </p:nvSpPr>
        <p:spPr>
          <a:xfrm>
            <a:off x="566928" y="4800600"/>
            <a:ext cx="11057839" cy="0"/>
          </a:xfrm>
          <a:prstGeom prst="line">
            <a:avLst/>
          </a:prstGeom>
          <a:noFill/>
          <a:ln w="25400">
            <a:solidFill>
              <a:srgbClr val="F07F06"/>
            </a:solidFill>
            <a:prstDash val="solid"/>
          </a:ln>
        </p:spPr>
      </p:sp>
      <p:sp>
        <p:nvSpPr>
          <p:cNvPr id="38" name="Text 35"/>
          <p:cNvSpPr/>
          <p:nvPr/>
        </p:nvSpPr>
        <p:spPr>
          <a:xfrm>
            <a:off x="566928" y="4937760"/>
            <a:ext cx="11057839" cy="310896"/>
          </a:xfrm>
          <a:prstGeom prst="rect">
            <a:avLst/>
          </a:prstGeom>
          <a:noFill/>
          <a:ln/>
        </p:spPr>
        <p:txBody>
          <a:bodyPr wrap="square" lIns="0" tIns="0" rIns="0" bIns="0" rtlCol="0" anchor="ctr"/>
          <a:lstStyle/>
          <a:p>
            <a:pPr indent="0" marL="0">
              <a:buNone/>
            </a:pPr>
            <a:r>
              <a:rPr lang="en-US" sz="1800" dirty="0">
                <a:solidFill>
                  <a:srgbClr val="A35604"/>
                </a:solidFill>
                <a:latin typeface="Arial Black" pitchFamily="34" charset="0"/>
                <a:ea typeface="Arial Black" pitchFamily="34" charset="-122"/>
                <a:cs typeface="Arial Black" pitchFamily="34" charset="-120"/>
              </a:rPr>
              <a:t>SE ALTERA UNA TRANSACCIÓN DEL BLOQUE 120</a:t>
            </a:r>
            <a:endParaRPr lang="en-US" sz="1800" dirty="0"/>
          </a:p>
        </p:txBody>
      </p:sp>
      <p:sp>
        <p:nvSpPr>
          <p:cNvPr id="39" name="Text 36"/>
          <p:cNvSpPr/>
          <p:nvPr/>
        </p:nvSpPr>
        <p:spPr>
          <a:xfrm>
            <a:off x="566928" y="5349240"/>
            <a:ext cx="11057839" cy="5486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cambia su raíz de Merkle · cambia el hash de la cabecera · el bloque siguiente ya no apunta a un hash que exista · y así hasta el final de la cadena</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B.2 · EL LÍMITE DEL ENCADENAMIENTO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LO QUE EL ENCADENAMIENTO NO RESUELVE</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21</a:t>
            </a:r>
            <a:endParaRPr lang="en-US" sz="900" dirty="0"/>
          </a:p>
        </p:txBody>
      </p:sp>
      <p:sp>
        <p:nvSpPr>
          <p:cNvPr id="8" name="Shape 5"/>
          <p:cNvSpPr/>
          <p:nvPr/>
        </p:nvSpPr>
        <p:spPr>
          <a:xfrm>
            <a:off x="566928" y="1737360"/>
            <a:ext cx="11057839" cy="178308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9" name="Image 1" descr="preencoded.png">    </p:cNvPr>
          <p:cNvPicPr>
            <a:picLocks noChangeAspect="1"/>
          </p:cNvPicPr>
          <p:nvPr/>
        </p:nvPicPr>
        <p:blipFill>
          <a:blip r:embed="rId2"/>
          <a:stretch>
            <a:fillRect/>
          </a:stretch>
        </p:blipFill>
        <p:spPr>
          <a:xfrm>
            <a:off x="804672" y="1956816"/>
            <a:ext cx="237744" cy="237744"/>
          </a:xfrm>
          <a:prstGeom prst="rect">
            <a:avLst/>
          </a:prstGeom>
        </p:spPr>
      </p:pic>
      <p:sp>
        <p:nvSpPr>
          <p:cNvPr id="10" name="Text 6"/>
          <p:cNvSpPr/>
          <p:nvPr/>
        </p:nvSpPr>
        <p:spPr>
          <a:xfrm>
            <a:off x="1133856" y="192938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FICHA DE TÉRMINO 05 · INMUTABILIDAD, CON PRECISIÓN</a:t>
            </a:r>
            <a:endParaRPr lang="en-US" sz="950" dirty="0"/>
          </a:p>
        </p:txBody>
      </p:sp>
      <p:sp>
        <p:nvSpPr>
          <p:cNvPr id="11" name="Text 7"/>
          <p:cNvSpPr/>
          <p:nvPr/>
        </p:nvSpPr>
        <p:spPr>
          <a:xfrm>
            <a:off x="804672" y="2322576"/>
            <a:ext cx="10582351" cy="96012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Alterar un registro escrito es económicamente inviable, no físicamente imposible. Habría que rehacer el trabajo de todos los bloques posteriores más rápido de lo que la red produce bloques nuevos. De ahí la práctica de esperar CONFIRMACIONES: cada bloque encima multiplica el costo de revertir.</a:t>
            </a:r>
            <a:endParaRPr lang="en-US" sz="1350" dirty="0"/>
          </a:p>
        </p:txBody>
      </p:sp>
      <p:sp>
        <p:nvSpPr>
          <p:cNvPr id="12" name="Shape 8"/>
          <p:cNvSpPr/>
          <p:nvPr/>
        </p:nvSpPr>
        <p:spPr>
          <a:xfrm>
            <a:off x="566928" y="3703320"/>
            <a:ext cx="11057839" cy="21945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3" name="Image 2" descr="preencoded.png">    </p:cNvPr>
          <p:cNvPicPr>
            <a:picLocks noChangeAspect="1"/>
          </p:cNvPicPr>
          <p:nvPr/>
        </p:nvPicPr>
        <p:blipFill>
          <a:blip r:embed="rId3"/>
          <a:stretch>
            <a:fillRect/>
          </a:stretch>
        </p:blipFill>
        <p:spPr>
          <a:xfrm>
            <a:off x="804672" y="3922776"/>
            <a:ext cx="237744" cy="237744"/>
          </a:xfrm>
          <a:prstGeom prst="rect">
            <a:avLst/>
          </a:prstGeom>
        </p:spPr>
      </p:pic>
      <p:sp>
        <p:nvSpPr>
          <p:cNvPr id="14" name="Text 9"/>
          <p:cNvSpPr/>
          <p:nvPr/>
        </p:nvSpPr>
        <p:spPr>
          <a:xfrm>
            <a:off x="1133856" y="389534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EL HUECO QUE QUEDA</a:t>
            </a:r>
            <a:endParaRPr lang="en-US" sz="950" dirty="0"/>
          </a:p>
        </p:txBody>
      </p:sp>
      <p:sp>
        <p:nvSpPr>
          <p:cNvPr id="15" name="Text 10"/>
          <p:cNvSpPr/>
          <p:nvPr/>
        </p:nvSpPr>
        <p:spPr>
          <a:xfrm>
            <a:off x="804672" y="4288536"/>
            <a:ext cx="10582351" cy="59436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El encadenamiento garantiza que UNA cadena dada es internamente coherente. No dice nada sobre cuál de dos cadenas coherentes es la buena.</a:t>
            </a:r>
            <a:endParaRPr lang="en-US" sz="1350" dirty="0"/>
          </a:p>
        </p:txBody>
      </p:sp>
      <p:sp>
        <p:nvSpPr>
          <p:cNvPr id="16" name="Text 11"/>
          <p:cNvSpPr/>
          <p:nvPr/>
        </p:nvSpPr>
        <p:spPr>
          <a:xfrm>
            <a:off x="804672" y="4928616"/>
            <a:ext cx="10582351" cy="868680"/>
          </a:xfrm>
          <a:prstGeom prst="rect">
            <a:avLst/>
          </a:prstGeom>
          <a:noFill/>
          <a:ln/>
        </p:spPr>
        <p:txBody>
          <a:bodyPr wrap="square" lIns="0" tIns="0" rIns="0" bIns="0" rtlCol="0" anchor="t"/>
          <a:lstStyle/>
          <a:p>
            <a:pPr indent="0" marL="0">
              <a:lnSpc>
                <a:spcPct val="124000"/>
              </a:lnSpc>
              <a:buNone/>
            </a:pPr>
            <a:r>
              <a:rPr lang="en-US" sz="1350" dirty="0">
                <a:solidFill>
                  <a:srgbClr val="0F0F11"/>
                </a:solidFill>
                <a:latin typeface="Arial" pitchFamily="34" charset="0"/>
                <a:ea typeface="Arial" pitchFamily="34" charset="-122"/>
                <a:cs typeface="Arial" pitchFamily="34" charset="-120"/>
              </a:rPr>
              <a:t>Un atacante puede construir su propia cadena, perfectamente encadenada, con las transacciones que le convengan. Todas sus firmas serán válidas y todos sus hashes cuadrarán. El encadenamiento no lo detecta, porque no hay nada que detectar: esa cadena es válida.</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B.3 · MIN 105–118</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PROPAGACIÓN POR RUMOR Y MEMPOOL</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22</a:t>
            </a:r>
            <a:endParaRPr lang="en-US" sz="900" dirty="0"/>
          </a:p>
        </p:txBody>
      </p:sp>
      <p:sp>
        <p:nvSpPr>
          <p:cNvPr id="8" name="Text 5"/>
          <p:cNvSpPr/>
          <p:nvPr/>
        </p:nvSpPr>
        <p:spPr>
          <a:xfrm>
            <a:off x="566928" y="1737360"/>
            <a:ext cx="11057839" cy="59436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No hay servidor ni directorio central. Cada nodo mantiene conexiones con un puñado de vecinos y aplica una regla simple: cuando recibo algo válido que no conocía, lo valido y se lo paso a mis vecinos.</a:t>
            </a:r>
            <a:endParaRPr lang="en-US" sz="1450" dirty="0"/>
          </a:p>
        </p:txBody>
      </p:sp>
      <p:sp>
        <p:nvSpPr>
          <p:cNvPr id="9" name="Shape 6"/>
          <p:cNvSpPr/>
          <p:nvPr/>
        </p:nvSpPr>
        <p:spPr>
          <a:xfrm>
            <a:off x="566928" y="2423160"/>
            <a:ext cx="11057839" cy="260604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0" name="Image 1" descr="preencoded.png">    </p:cNvPr>
          <p:cNvPicPr>
            <a:picLocks noChangeAspect="1"/>
          </p:cNvPicPr>
          <p:nvPr/>
        </p:nvPicPr>
        <p:blipFill>
          <a:blip r:embed="rId2"/>
          <a:stretch>
            <a:fillRect/>
          </a:stretch>
        </p:blipFill>
        <p:spPr>
          <a:xfrm>
            <a:off x="804672" y="2642616"/>
            <a:ext cx="237744" cy="237744"/>
          </a:xfrm>
          <a:prstGeom prst="rect">
            <a:avLst/>
          </a:prstGeom>
        </p:spPr>
      </p:pic>
      <p:sp>
        <p:nvSpPr>
          <p:cNvPr id="11" name="Text 7"/>
          <p:cNvSpPr/>
          <p:nvPr/>
        </p:nvSpPr>
        <p:spPr>
          <a:xfrm>
            <a:off x="1133856" y="261518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FICHA DE TÉRMINO 06 · MEMPOOL</a:t>
            </a:r>
            <a:endParaRPr lang="en-US" sz="950" dirty="0"/>
          </a:p>
        </p:txBody>
      </p:sp>
      <p:sp>
        <p:nvSpPr>
          <p:cNvPr id="12" name="Text 8"/>
          <p:cNvSpPr/>
          <p:nvPr/>
        </p:nvSpPr>
        <p:spPr>
          <a:xfrm>
            <a:off x="804672" y="3008376"/>
            <a:ext cx="10582351" cy="73152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Conjunto de transacciones que un nodo ha recibido y considerado válidas, pero que todavía no están en ningún bloque. Es la sala de espera: cuando en la demostración de la Sesión 2 la transacción apareció como «pendiente», estaba aquí.</a:t>
            </a:r>
            <a:endParaRPr lang="en-US" sz="1350" dirty="0"/>
          </a:p>
        </p:txBody>
      </p:sp>
      <p:sp>
        <p:nvSpPr>
          <p:cNvPr id="13" name="Text 9"/>
          <p:cNvSpPr/>
          <p:nvPr/>
        </p:nvSpPr>
        <p:spPr>
          <a:xfrm>
            <a:off x="804672" y="3831336"/>
            <a:ext cx="3017520" cy="274320"/>
          </a:xfrm>
          <a:prstGeom prst="rect">
            <a:avLst/>
          </a:prstGeom>
          <a:noFill/>
          <a:ln/>
        </p:spPr>
        <p:txBody>
          <a:bodyPr wrap="square" lIns="0" tIns="0" rIns="0" bIns="0" rtlCol="0" anchor="t"/>
          <a:lstStyle/>
          <a:p>
            <a:pPr indent="0" marL="0">
              <a:buNone/>
            </a:pPr>
            <a:r>
              <a:rPr lang="en-US" sz="950" b="1" spc="110" kern="0" dirty="0">
                <a:solidFill>
                  <a:srgbClr val="5638C9"/>
                </a:solidFill>
                <a:latin typeface="Courier New" pitchFamily="34" charset="0"/>
                <a:ea typeface="Courier New" pitchFamily="34" charset="-122"/>
                <a:cs typeface="Courier New" pitchFamily="34" charset="-120"/>
              </a:rPr>
              <a:t>CADA NODO TIENE EL SUYO</a:t>
            </a:r>
            <a:endParaRPr lang="en-US" sz="950" dirty="0"/>
          </a:p>
        </p:txBody>
      </p:sp>
      <p:sp>
        <p:nvSpPr>
          <p:cNvPr id="14" name="Text 10"/>
          <p:cNvSpPr/>
          <p:nvPr/>
        </p:nvSpPr>
        <p:spPr>
          <a:xfrm>
            <a:off x="4005072" y="3813048"/>
            <a:ext cx="7381951" cy="402336"/>
          </a:xfrm>
          <a:prstGeom prst="rect">
            <a:avLst/>
          </a:prstGeom>
          <a:noFill/>
          <a:ln/>
        </p:spPr>
        <p:txBody>
          <a:bodyPr wrap="square" lIns="0" tIns="0" rIns="0" bIns="0" rtlCol="0" anchor="t"/>
          <a:lstStyle/>
          <a:p>
            <a:pPr indent="0" marL="0">
              <a:buNone/>
            </a:pPr>
            <a:r>
              <a:rPr lang="en-US" sz="1200" dirty="0">
                <a:solidFill>
                  <a:srgbClr val="3A3844"/>
                </a:solidFill>
                <a:latin typeface="Arial" pitchFamily="34" charset="0"/>
                <a:ea typeface="Arial" pitchFamily="34" charset="-122"/>
                <a:cs typeface="Arial" pitchFamily="34" charset="-120"/>
              </a:rPr>
              <a:t>y no son idénticos: dependen de qué le llegó a cada uno y en qué orden.</a:t>
            </a:r>
            <a:endParaRPr lang="en-US" sz="1200" dirty="0"/>
          </a:p>
        </p:txBody>
      </p:sp>
      <p:sp>
        <p:nvSpPr>
          <p:cNvPr id="15" name="Text 11"/>
          <p:cNvSpPr/>
          <p:nvPr/>
        </p:nvSpPr>
        <p:spPr>
          <a:xfrm>
            <a:off x="804672" y="4251960"/>
            <a:ext cx="3017520" cy="274320"/>
          </a:xfrm>
          <a:prstGeom prst="rect">
            <a:avLst/>
          </a:prstGeom>
          <a:noFill/>
          <a:ln/>
        </p:spPr>
        <p:txBody>
          <a:bodyPr wrap="square" lIns="0" tIns="0" rIns="0" bIns="0" rtlCol="0" anchor="t"/>
          <a:lstStyle/>
          <a:p>
            <a:pPr indent="0" marL="0">
              <a:buNone/>
            </a:pPr>
            <a:r>
              <a:rPr lang="en-US" sz="950" b="1" spc="110" kern="0" dirty="0">
                <a:solidFill>
                  <a:srgbClr val="5638C9"/>
                </a:solidFill>
                <a:latin typeface="Courier New" pitchFamily="34" charset="0"/>
                <a:ea typeface="Courier New" pitchFamily="34" charset="-122"/>
                <a:cs typeface="Courier New" pitchFamily="34" charset="-120"/>
              </a:rPr>
              <a:t>ES PÚBLICO</a:t>
            </a:r>
            <a:endParaRPr lang="en-US" sz="950" dirty="0"/>
          </a:p>
        </p:txBody>
      </p:sp>
      <p:sp>
        <p:nvSpPr>
          <p:cNvPr id="16" name="Text 12"/>
          <p:cNvSpPr/>
          <p:nvPr/>
        </p:nvSpPr>
        <p:spPr>
          <a:xfrm>
            <a:off x="4005072" y="4233672"/>
            <a:ext cx="7381951" cy="402336"/>
          </a:xfrm>
          <a:prstGeom prst="rect">
            <a:avLst/>
          </a:prstGeom>
          <a:noFill/>
          <a:ln/>
        </p:spPr>
        <p:txBody>
          <a:bodyPr wrap="square" lIns="0" tIns="0" rIns="0" bIns="0" rtlCol="0" anchor="t"/>
          <a:lstStyle/>
          <a:p>
            <a:pPr indent="0" marL="0">
              <a:buNone/>
            </a:pPr>
            <a:r>
              <a:rPr lang="en-US" sz="1200" dirty="0">
                <a:solidFill>
                  <a:srgbClr val="3A3844"/>
                </a:solidFill>
                <a:latin typeface="Arial" pitchFamily="34" charset="0"/>
                <a:ea typeface="Arial" pitchFamily="34" charset="-122"/>
                <a:cs typeface="Arial" pitchFamily="34" charset="-120"/>
              </a:rPr>
              <a:t>cualquiera observa las transacciones pendientes antes de que se ejecuten. De ahí el reordenamiento de la Sesión 9.</a:t>
            </a:r>
            <a:endParaRPr lang="en-US" sz="1200" dirty="0"/>
          </a:p>
        </p:txBody>
      </p:sp>
      <p:sp>
        <p:nvSpPr>
          <p:cNvPr id="17" name="Text 13"/>
          <p:cNvSpPr/>
          <p:nvPr/>
        </p:nvSpPr>
        <p:spPr>
          <a:xfrm>
            <a:off x="804672" y="4672584"/>
            <a:ext cx="3017520" cy="274320"/>
          </a:xfrm>
          <a:prstGeom prst="rect">
            <a:avLst/>
          </a:prstGeom>
          <a:noFill/>
          <a:ln/>
        </p:spPr>
        <p:txBody>
          <a:bodyPr wrap="square" lIns="0" tIns="0" rIns="0" bIns="0" rtlCol="0" anchor="t"/>
          <a:lstStyle/>
          <a:p>
            <a:pPr indent="0" marL="0">
              <a:buNone/>
            </a:pPr>
            <a:r>
              <a:rPr lang="en-US" sz="950" b="1" spc="110" kern="0" dirty="0">
                <a:solidFill>
                  <a:srgbClr val="5638C9"/>
                </a:solidFill>
                <a:latin typeface="Courier New" pitchFamily="34" charset="0"/>
                <a:ea typeface="Courier New" pitchFamily="34" charset="-122"/>
                <a:cs typeface="Courier New" pitchFamily="34" charset="-120"/>
              </a:rPr>
              <a:t>ESTAR AHÍ NO GARANTIZA NADA</a:t>
            </a:r>
            <a:endParaRPr lang="en-US" sz="950" dirty="0"/>
          </a:p>
        </p:txBody>
      </p:sp>
      <p:sp>
        <p:nvSpPr>
          <p:cNvPr id="18" name="Text 14"/>
          <p:cNvSpPr/>
          <p:nvPr/>
        </p:nvSpPr>
        <p:spPr>
          <a:xfrm>
            <a:off x="4005072" y="4654296"/>
            <a:ext cx="7381951" cy="402336"/>
          </a:xfrm>
          <a:prstGeom prst="rect">
            <a:avLst/>
          </a:prstGeom>
          <a:noFill/>
          <a:ln/>
        </p:spPr>
        <p:txBody>
          <a:bodyPr wrap="square" lIns="0" tIns="0" rIns="0" bIns="0" rtlCol="0" anchor="t"/>
          <a:lstStyle/>
          <a:p>
            <a:pPr indent="0" marL="0">
              <a:buNone/>
            </a:pPr>
            <a:r>
              <a:rPr lang="en-US" sz="1200" dirty="0">
                <a:solidFill>
                  <a:srgbClr val="3A3844"/>
                </a:solidFill>
                <a:latin typeface="Arial" pitchFamily="34" charset="0"/>
                <a:ea typeface="Arial" pitchFamily="34" charset="-122"/>
                <a:cs typeface="Arial" pitchFamily="34" charset="-120"/>
              </a:rPr>
              <a:t>una transacción puede quedarse indefinidamente si nadie tiene incentivo para incluirla.</a:t>
            </a:r>
            <a:endParaRPr lang="en-US" sz="1200" dirty="0"/>
          </a:p>
        </p:txBody>
      </p:sp>
      <p:sp>
        <p:nvSpPr>
          <p:cNvPr id="19" name="Shape 15"/>
          <p:cNvSpPr/>
          <p:nvPr/>
        </p:nvSpPr>
        <p:spPr>
          <a:xfrm>
            <a:off x="566928" y="5120640"/>
            <a:ext cx="11057839" cy="109728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20" name="Image 2" descr="preencoded.png">    </p:cNvPr>
          <p:cNvPicPr>
            <a:picLocks noChangeAspect="1"/>
          </p:cNvPicPr>
          <p:nvPr/>
        </p:nvPicPr>
        <p:blipFill>
          <a:blip r:embed="rId3"/>
          <a:stretch>
            <a:fillRect/>
          </a:stretch>
        </p:blipFill>
        <p:spPr>
          <a:xfrm>
            <a:off x="804672" y="5340096"/>
            <a:ext cx="237744" cy="237744"/>
          </a:xfrm>
          <a:prstGeom prst="rect">
            <a:avLst/>
          </a:prstGeom>
        </p:spPr>
      </p:pic>
      <p:sp>
        <p:nvSpPr>
          <p:cNvPr id="21" name="Text 16"/>
          <p:cNvSpPr/>
          <p:nvPr/>
        </p:nvSpPr>
        <p:spPr>
          <a:xfrm>
            <a:off x="1133856" y="531266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EL CONFLICTO QUE QUEDA ABIERTO</a:t>
            </a:r>
            <a:endParaRPr lang="en-US" sz="950" dirty="0"/>
          </a:p>
        </p:txBody>
      </p:sp>
      <p:sp>
        <p:nvSpPr>
          <p:cNvPr id="22" name="Text 17"/>
          <p:cNvSpPr/>
          <p:nvPr/>
        </p:nvSpPr>
        <p:spPr>
          <a:xfrm>
            <a:off x="804672" y="5650992"/>
            <a:ext cx="10582351" cy="502920"/>
          </a:xfrm>
          <a:prstGeom prst="rect">
            <a:avLst/>
          </a:prstGeom>
          <a:noFill/>
          <a:ln/>
        </p:spPr>
        <p:txBody>
          <a:bodyPr wrap="square" lIns="0" tIns="0" rIns="0" bIns="0" rtlCol="0" anchor="t"/>
          <a:lstStyle/>
          <a:p>
            <a:pPr indent="0" marL="0">
              <a:lnSpc>
                <a:spcPct val="124000"/>
              </a:lnSpc>
              <a:buNone/>
            </a:pPr>
            <a:r>
              <a:rPr lang="en-US" sz="1300" dirty="0">
                <a:solidFill>
                  <a:srgbClr val="0F0F11"/>
                </a:solidFill>
                <a:latin typeface="Arial" pitchFamily="34" charset="0"/>
                <a:ea typeface="Arial" pitchFamily="34" charset="-122"/>
                <a:cs typeface="Arial" pitchFamily="34" charset="-120"/>
              </a:rPr>
              <a:t>Dos nodos producen un bloque válido casi al mismo tiempo, apuntando al mismo padre. Ambos son correctos. Media red ve uno y media red ve el otro. Nada de lo construido hasta hoy resuelve esto.</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C</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MIN 118 — 170 · EN MÁQUINA, EN PAREJAS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LABORATORIO 02</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Doscientas líneas que reúnen toda la Unidad I: firmas, Merkle y encadenamiento. Y después romperlo.</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BLOQUE C · PARTE 1 · ≈ 15 MIN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CLAVES Y FIRMAS</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24</a:t>
            </a:r>
            <a:endParaRPr lang="en-US" sz="900" dirty="0"/>
          </a:p>
        </p:txBody>
      </p:sp>
      <p:sp>
        <p:nvSpPr>
          <p:cNvPr id="8" name="Text 5"/>
          <p:cNvSpPr/>
          <p:nvPr/>
        </p:nvSpPr>
        <p:spPr>
          <a:xfrm>
            <a:off x="566928" y="1828800"/>
            <a:ext cx="777240" cy="548640"/>
          </a:xfrm>
          <a:prstGeom prst="rect">
            <a:avLst/>
          </a:prstGeom>
          <a:noFill/>
          <a:ln/>
        </p:spPr>
        <p:txBody>
          <a:bodyPr wrap="square" lIns="0" tIns="0" rIns="0" bIns="0" rtlCol="0" anchor="t"/>
          <a:lstStyle/>
          <a:p>
            <a:pPr indent="0" marL="0">
              <a:buNone/>
            </a:pPr>
            <a:r>
              <a:rPr lang="en-US" sz="3000" dirty="0">
                <a:solidFill>
                  <a:srgbClr val="F07F06"/>
                </a:solidFill>
                <a:latin typeface="Arial Black" pitchFamily="34" charset="0"/>
                <a:ea typeface="Arial Black" pitchFamily="34" charset="-122"/>
                <a:cs typeface="Arial Black" pitchFamily="34" charset="-120"/>
              </a:rPr>
              <a:t>01</a:t>
            </a:r>
            <a:endParaRPr lang="en-US" sz="3000" dirty="0"/>
          </a:p>
        </p:txBody>
      </p:sp>
      <p:sp>
        <p:nvSpPr>
          <p:cNvPr id="9" name="Text 6"/>
          <p:cNvSpPr/>
          <p:nvPr/>
        </p:nvSpPr>
        <p:spPr>
          <a:xfrm>
            <a:off x="1435608" y="1783080"/>
            <a:ext cx="10189159" cy="365760"/>
          </a:xfrm>
          <a:prstGeom prst="rect">
            <a:avLst/>
          </a:prstGeom>
          <a:noFill/>
          <a:ln/>
        </p:spPr>
        <p:txBody>
          <a:bodyPr wrap="square" lIns="0" tIns="0" rIns="0" bIns="0" rtlCol="0" anchor="t"/>
          <a:lstStyle/>
          <a:p>
            <a:pPr indent="0" marL="0">
              <a:buNone/>
            </a:pPr>
            <a:r>
              <a:rPr lang="en-US" sz="1500" b="1" dirty="0">
                <a:solidFill>
                  <a:srgbClr val="0F0F11"/>
                </a:solidFill>
                <a:latin typeface="Arial" pitchFamily="34" charset="0"/>
                <a:ea typeface="Arial" pitchFamily="34" charset="-122"/>
                <a:cs typeface="Arial" pitchFamily="34" charset="-120"/>
              </a:rPr>
              <a:t>Generar un par de claves</a:t>
            </a:r>
            <a:endParaRPr lang="en-US" sz="1500" dirty="0"/>
          </a:p>
        </p:txBody>
      </p:sp>
      <p:sp>
        <p:nvSpPr>
          <p:cNvPr id="10" name="Text 7"/>
          <p:cNvSpPr/>
          <p:nvPr/>
        </p:nvSpPr>
        <p:spPr>
          <a:xfrm>
            <a:off x="1435608" y="2221992"/>
            <a:ext cx="10189159" cy="86868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generar_par() usando la fuente de aleatoriedad segura de la biblioteca. Observar los tamaños: 32 bytes la privada, 64 la pública.</a:t>
            </a:r>
            <a:endParaRPr lang="en-US" sz="1300" dirty="0"/>
          </a:p>
        </p:txBody>
      </p:sp>
      <p:sp>
        <p:nvSpPr>
          <p:cNvPr id="11" name="Shape 8"/>
          <p:cNvSpPr/>
          <p:nvPr/>
        </p:nvSpPr>
        <p:spPr>
          <a:xfrm>
            <a:off x="566928" y="1636776"/>
            <a:ext cx="11057839" cy="0"/>
          </a:xfrm>
          <a:prstGeom prst="line">
            <a:avLst/>
          </a:prstGeom>
          <a:noFill/>
          <a:ln w="12700">
            <a:solidFill>
              <a:srgbClr val="D9D6E0"/>
            </a:solidFill>
            <a:prstDash val="solid"/>
          </a:ln>
        </p:spPr>
      </p:sp>
      <p:sp>
        <p:nvSpPr>
          <p:cNvPr id="12" name="Text 9"/>
          <p:cNvSpPr/>
          <p:nvPr/>
        </p:nvSpPr>
        <p:spPr>
          <a:xfrm>
            <a:off x="566928" y="3246120"/>
            <a:ext cx="777240" cy="548640"/>
          </a:xfrm>
          <a:prstGeom prst="rect">
            <a:avLst/>
          </a:prstGeom>
          <a:noFill/>
          <a:ln/>
        </p:spPr>
        <p:txBody>
          <a:bodyPr wrap="square" lIns="0" tIns="0" rIns="0" bIns="0" rtlCol="0" anchor="t"/>
          <a:lstStyle/>
          <a:p>
            <a:pPr indent="0" marL="0">
              <a:buNone/>
            </a:pPr>
            <a:r>
              <a:rPr lang="en-US" sz="3000" dirty="0">
                <a:solidFill>
                  <a:srgbClr val="F07F06"/>
                </a:solidFill>
                <a:latin typeface="Arial Black" pitchFamily="34" charset="0"/>
                <a:ea typeface="Arial Black" pitchFamily="34" charset="-122"/>
                <a:cs typeface="Arial Black" pitchFamily="34" charset="-120"/>
              </a:rPr>
              <a:t>02</a:t>
            </a:r>
            <a:endParaRPr lang="en-US" sz="3000" dirty="0"/>
          </a:p>
        </p:txBody>
      </p:sp>
      <p:sp>
        <p:nvSpPr>
          <p:cNvPr id="13" name="Text 10"/>
          <p:cNvSpPr/>
          <p:nvPr/>
        </p:nvSpPr>
        <p:spPr>
          <a:xfrm>
            <a:off x="1435608" y="3200400"/>
            <a:ext cx="10189159" cy="365760"/>
          </a:xfrm>
          <a:prstGeom prst="rect">
            <a:avLst/>
          </a:prstGeom>
          <a:noFill/>
          <a:ln/>
        </p:spPr>
        <p:txBody>
          <a:bodyPr wrap="square" lIns="0" tIns="0" rIns="0" bIns="0" rtlCol="0" anchor="t"/>
          <a:lstStyle/>
          <a:p>
            <a:pPr indent="0" marL="0">
              <a:buNone/>
            </a:pPr>
            <a:r>
              <a:rPr lang="en-US" sz="1500" b="1" dirty="0">
                <a:solidFill>
                  <a:srgbClr val="0F0F11"/>
                </a:solidFill>
                <a:latin typeface="Arial" pitchFamily="34" charset="0"/>
                <a:ea typeface="Arial" pitchFamily="34" charset="-122"/>
                <a:cs typeface="Arial" pitchFamily="34" charset="-120"/>
              </a:rPr>
              <a:t>Firmar y verificar</a:t>
            </a:r>
            <a:endParaRPr lang="en-US" sz="1500" dirty="0"/>
          </a:p>
        </p:txBody>
      </p:sp>
      <p:sp>
        <p:nvSpPr>
          <p:cNvPr id="14" name="Text 11"/>
          <p:cNvSpPr/>
          <p:nvPr/>
        </p:nvSpPr>
        <p:spPr>
          <a:xfrm>
            <a:off x="1435608" y="3639312"/>
            <a:ext cx="10189159" cy="86868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firmar(privada, mensaje) y verificar(publica, mensaje, firma). Comprobar que una firma válida verifica.</a:t>
            </a:r>
            <a:endParaRPr lang="en-US" sz="1300" dirty="0"/>
          </a:p>
        </p:txBody>
      </p:sp>
      <p:sp>
        <p:nvSpPr>
          <p:cNvPr id="15" name="Shape 12"/>
          <p:cNvSpPr/>
          <p:nvPr/>
        </p:nvSpPr>
        <p:spPr>
          <a:xfrm>
            <a:off x="566928" y="3054096"/>
            <a:ext cx="11057839" cy="0"/>
          </a:xfrm>
          <a:prstGeom prst="line">
            <a:avLst/>
          </a:prstGeom>
          <a:noFill/>
          <a:ln w="12700">
            <a:solidFill>
              <a:srgbClr val="D9D6E0"/>
            </a:solidFill>
            <a:prstDash val="solid"/>
          </a:ln>
        </p:spPr>
      </p:sp>
      <p:sp>
        <p:nvSpPr>
          <p:cNvPr id="16" name="Text 13"/>
          <p:cNvSpPr/>
          <p:nvPr/>
        </p:nvSpPr>
        <p:spPr>
          <a:xfrm>
            <a:off x="566928" y="4663440"/>
            <a:ext cx="777240" cy="548640"/>
          </a:xfrm>
          <a:prstGeom prst="rect">
            <a:avLst/>
          </a:prstGeom>
          <a:noFill/>
          <a:ln/>
        </p:spPr>
        <p:txBody>
          <a:bodyPr wrap="square" lIns="0" tIns="0" rIns="0" bIns="0" rtlCol="0" anchor="t"/>
          <a:lstStyle/>
          <a:p>
            <a:pPr indent="0" marL="0">
              <a:buNone/>
            </a:pPr>
            <a:r>
              <a:rPr lang="en-US" sz="3000" dirty="0">
                <a:solidFill>
                  <a:srgbClr val="F07F06"/>
                </a:solidFill>
                <a:latin typeface="Arial Black" pitchFamily="34" charset="0"/>
                <a:ea typeface="Arial Black" pitchFamily="34" charset="-122"/>
                <a:cs typeface="Arial Black" pitchFamily="34" charset="-120"/>
              </a:rPr>
              <a:t>03</a:t>
            </a:r>
            <a:endParaRPr lang="en-US" sz="3000" dirty="0"/>
          </a:p>
        </p:txBody>
      </p:sp>
      <p:sp>
        <p:nvSpPr>
          <p:cNvPr id="17" name="Text 14"/>
          <p:cNvSpPr/>
          <p:nvPr/>
        </p:nvSpPr>
        <p:spPr>
          <a:xfrm>
            <a:off x="1435608" y="4617720"/>
            <a:ext cx="10189159" cy="365760"/>
          </a:xfrm>
          <a:prstGeom prst="rect">
            <a:avLst/>
          </a:prstGeom>
          <a:noFill/>
          <a:ln/>
        </p:spPr>
        <p:txBody>
          <a:bodyPr wrap="square" lIns="0" tIns="0" rIns="0" bIns="0" rtlCol="0" anchor="t"/>
          <a:lstStyle/>
          <a:p>
            <a:pPr indent="0" marL="0">
              <a:buNone/>
            </a:pPr>
            <a:r>
              <a:rPr lang="en-US" sz="1500" b="1" dirty="0">
                <a:solidFill>
                  <a:srgbClr val="0F0F11"/>
                </a:solidFill>
                <a:latin typeface="Arial" pitchFamily="34" charset="0"/>
                <a:ea typeface="Arial" pitchFamily="34" charset="-122"/>
                <a:cs typeface="Arial" pitchFamily="34" charset="-120"/>
              </a:rPr>
              <a:t>Romperla de tres maneras</a:t>
            </a:r>
            <a:endParaRPr lang="en-US" sz="1500" dirty="0"/>
          </a:p>
        </p:txBody>
      </p:sp>
      <p:sp>
        <p:nvSpPr>
          <p:cNvPr id="18" name="Text 15"/>
          <p:cNvSpPr/>
          <p:nvPr/>
        </p:nvSpPr>
        <p:spPr>
          <a:xfrm>
            <a:off x="1435608" y="5056632"/>
            <a:ext cx="10189159" cy="86868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Alterar el mensaje, alterar un byte de la firma, y usar la clave pública de otro par. LAS TRES DEBEN FALLAR. Una función que solo acepta lo correcto está a medio escribir.</a:t>
            </a:r>
            <a:endParaRPr lang="en-US" sz="1300" dirty="0"/>
          </a:p>
        </p:txBody>
      </p:sp>
      <p:sp>
        <p:nvSpPr>
          <p:cNvPr id="19" name="Shape 16"/>
          <p:cNvSpPr/>
          <p:nvPr/>
        </p:nvSpPr>
        <p:spPr>
          <a:xfrm>
            <a:off x="566928" y="4471416"/>
            <a:ext cx="11057839" cy="0"/>
          </a:xfrm>
          <a:prstGeom prst="line">
            <a:avLst/>
          </a:prstGeom>
          <a:noFill/>
          <a:ln w="12700">
            <a:solidFill>
              <a:srgbClr val="D9D6E0"/>
            </a:solidFill>
            <a:prstDash val="solid"/>
          </a:ln>
        </p:spPr>
      </p:sp>
      <p:sp>
        <p:nvSpPr>
          <p:cNvPr id="20" name="Shape 17"/>
          <p:cNvSpPr/>
          <p:nvPr/>
        </p:nvSpPr>
        <p:spPr>
          <a:xfrm>
            <a:off x="566928" y="5888736"/>
            <a:ext cx="11057839" cy="0"/>
          </a:xfrm>
          <a:prstGeom prst="line">
            <a:avLst/>
          </a:prstGeom>
          <a:noFill/>
          <a:ln w="12700">
            <a:solidFill>
              <a:srgbClr val="D9D6E0"/>
            </a:solidFill>
            <a:prstDash val="soli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BLOQUE C · PARTE 2 · ≈ 12 MIN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DIRECCIÓN Y CHECKSUM</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25</a:t>
            </a:r>
            <a:endParaRPr lang="en-US" sz="900" dirty="0"/>
          </a:p>
        </p:txBody>
      </p:sp>
      <p:sp>
        <p:nvSpPr>
          <p:cNvPr id="8" name="Text 5"/>
          <p:cNvSpPr/>
          <p:nvPr/>
        </p:nvSpPr>
        <p:spPr>
          <a:xfrm>
            <a:off x="566928" y="1828800"/>
            <a:ext cx="777240" cy="548640"/>
          </a:xfrm>
          <a:prstGeom prst="rect">
            <a:avLst/>
          </a:prstGeom>
          <a:noFill/>
          <a:ln/>
        </p:spPr>
        <p:txBody>
          <a:bodyPr wrap="square" lIns="0" tIns="0" rIns="0" bIns="0" rtlCol="0" anchor="t"/>
          <a:lstStyle/>
          <a:p>
            <a:pPr indent="0" marL="0">
              <a:buNone/>
            </a:pPr>
            <a:r>
              <a:rPr lang="en-US" sz="3000" dirty="0">
                <a:solidFill>
                  <a:srgbClr val="F07F06"/>
                </a:solidFill>
                <a:latin typeface="Arial Black" pitchFamily="34" charset="0"/>
                <a:ea typeface="Arial Black" pitchFamily="34" charset="-122"/>
                <a:cs typeface="Arial Black" pitchFamily="34" charset="-120"/>
              </a:rPr>
              <a:t>01</a:t>
            </a:r>
            <a:endParaRPr lang="en-US" sz="3000" dirty="0"/>
          </a:p>
        </p:txBody>
      </p:sp>
      <p:sp>
        <p:nvSpPr>
          <p:cNvPr id="9" name="Text 6"/>
          <p:cNvSpPr/>
          <p:nvPr/>
        </p:nvSpPr>
        <p:spPr>
          <a:xfrm>
            <a:off x="1435608" y="1783080"/>
            <a:ext cx="10189159" cy="365760"/>
          </a:xfrm>
          <a:prstGeom prst="rect">
            <a:avLst/>
          </a:prstGeom>
          <a:noFill/>
          <a:ln/>
        </p:spPr>
        <p:txBody>
          <a:bodyPr wrap="square" lIns="0" tIns="0" rIns="0" bIns="0" rtlCol="0" anchor="t"/>
          <a:lstStyle/>
          <a:p>
            <a:pPr indent="0" marL="0">
              <a:buNone/>
            </a:pPr>
            <a:r>
              <a:rPr lang="en-US" sz="1500" b="1" dirty="0">
                <a:solidFill>
                  <a:srgbClr val="0F0F11"/>
                </a:solidFill>
                <a:latin typeface="Arial" pitchFamily="34" charset="0"/>
                <a:ea typeface="Arial" pitchFamily="34" charset="-122"/>
                <a:cs typeface="Arial" pitchFamily="34" charset="-120"/>
              </a:rPr>
              <a:t>Derivar la dirección</a:t>
            </a:r>
            <a:endParaRPr lang="en-US" sz="1500" dirty="0"/>
          </a:p>
        </p:txBody>
      </p:sp>
      <p:sp>
        <p:nvSpPr>
          <p:cNvPr id="10" name="Text 7"/>
          <p:cNvSpPr/>
          <p:nvPr/>
        </p:nvSpPr>
        <p:spPr>
          <a:xfrm>
            <a:off x="1435608" y="2221992"/>
            <a:ext cx="10189159" cy="86868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keccak-256 de los 64 bytes de la clave pública, quedarse con los ÚLTIMOS 20. Contrastar con el valor de referencia del archivo de pruebas.</a:t>
            </a:r>
            <a:endParaRPr lang="en-US" sz="1300" dirty="0"/>
          </a:p>
        </p:txBody>
      </p:sp>
      <p:sp>
        <p:nvSpPr>
          <p:cNvPr id="11" name="Shape 8"/>
          <p:cNvSpPr/>
          <p:nvPr/>
        </p:nvSpPr>
        <p:spPr>
          <a:xfrm>
            <a:off x="566928" y="1636776"/>
            <a:ext cx="11057839" cy="0"/>
          </a:xfrm>
          <a:prstGeom prst="line">
            <a:avLst/>
          </a:prstGeom>
          <a:noFill/>
          <a:ln w="12700">
            <a:solidFill>
              <a:srgbClr val="D9D6E0"/>
            </a:solidFill>
            <a:prstDash val="solid"/>
          </a:ln>
        </p:spPr>
      </p:sp>
      <p:sp>
        <p:nvSpPr>
          <p:cNvPr id="12" name="Text 9"/>
          <p:cNvSpPr/>
          <p:nvPr/>
        </p:nvSpPr>
        <p:spPr>
          <a:xfrm>
            <a:off x="566928" y="3246120"/>
            <a:ext cx="777240" cy="548640"/>
          </a:xfrm>
          <a:prstGeom prst="rect">
            <a:avLst/>
          </a:prstGeom>
          <a:noFill/>
          <a:ln/>
        </p:spPr>
        <p:txBody>
          <a:bodyPr wrap="square" lIns="0" tIns="0" rIns="0" bIns="0" rtlCol="0" anchor="t"/>
          <a:lstStyle/>
          <a:p>
            <a:pPr indent="0" marL="0">
              <a:buNone/>
            </a:pPr>
            <a:r>
              <a:rPr lang="en-US" sz="3000" dirty="0">
                <a:solidFill>
                  <a:srgbClr val="F07F06"/>
                </a:solidFill>
                <a:latin typeface="Arial Black" pitchFamily="34" charset="0"/>
                <a:ea typeface="Arial Black" pitchFamily="34" charset="-122"/>
                <a:cs typeface="Arial Black" pitchFamily="34" charset="-120"/>
              </a:rPr>
              <a:t>02</a:t>
            </a:r>
            <a:endParaRPr lang="en-US" sz="3000" dirty="0"/>
          </a:p>
        </p:txBody>
      </p:sp>
      <p:sp>
        <p:nvSpPr>
          <p:cNvPr id="13" name="Text 10"/>
          <p:cNvSpPr/>
          <p:nvPr/>
        </p:nvSpPr>
        <p:spPr>
          <a:xfrm>
            <a:off x="1435608" y="3200400"/>
            <a:ext cx="10189159" cy="365760"/>
          </a:xfrm>
          <a:prstGeom prst="rect">
            <a:avLst/>
          </a:prstGeom>
          <a:noFill/>
          <a:ln/>
        </p:spPr>
        <p:txBody>
          <a:bodyPr wrap="square" lIns="0" tIns="0" rIns="0" bIns="0" rtlCol="0" anchor="t"/>
          <a:lstStyle/>
          <a:p>
            <a:pPr indent="0" marL="0">
              <a:buNone/>
            </a:pPr>
            <a:r>
              <a:rPr lang="en-US" sz="1500" b="1" dirty="0">
                <a:solidFill>
                  <a:srgbClr val="0F0F11"/>
                </a:solidFill>
                <a:latin typeface="Arial" pitchFamily="34" charset="0"/>
                <a:ea typeface="Arial" pitchFamily="34" charset="-122"/>
                <a:cs typeface="Arial" pitchFamily="34" charset="-120"/>
              </a:rPr>
              <a:t>Aplicar EIP-55</a:t>
            </a:r>
            <a:endParaRPr lang="en-US" sz="1500" dirty="0"/>
          </a:p>
        </p:txBody>
      </p:sp>
      <p:sp>
        <p:nvSpPr>
          <p:cNvPr id="14" name="Text 11"/>
          <p:cNvSpPr/>
          <p:nvPr/>
        </p:nvSpPr>
        <p:spPr>
          <a:xfrm>
            <a:off x="1435608" y="3639312"/>
            <a:ext cx="10189159" cy="86868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Hashear la dirección en minúsculas y poner en mayúscula cada letra cuyo dígito correspondiente del hash sea 8 o mayor.</a:t>
            </a:r>
            <a:endParaRPr lang="en-US" sz="1300" dirty="0"/>
          </a:p>
        </p:txBody>
      </p:sp>
      <p:sp>
        <p:nvSpPr>
          <p:cNvPr id="15" name="Shape 12"/>
          <p:cNvSpPr/>
          <p:nvPr/>
        </p:nvSpPr>
        <p:spPr>
          <a:xfrm>
            <a:off x="566928" y="3054096"/>
            <a:ext cx="11057839" cy="0"/>
          </a:xfrm>
          <a:prstGeom prst="line">
            <a:avLst/>
          </a:prstGeom>
          <a:noFill/>
          <a:ln w="12700">
            <a:solidFill>
              <a:srgbClr val="D9D6E0"/>
            </a:solidFill>
            <a:prstDash val="solid"/>
          </a:ln>
        </p:spPr>
      </p:sp>
      <p:sp>
        <p:nvSpPr>
          <p:cNvPr id="16" name="Text 13"/>
          <p:cNvSpPr/>
          <p:nvPr/>
        </p:nvSpPr>
        <p:spPr>
          <a:xfrm>
            <a:off x="566928" y="4663440"/>
            <a:ext cx="777240" cy="548640"/>
          </a:xfrm>
          <a:prstGeom prst="rect">
            <a:avLst/>
          </a:prstGeom>
          <a:noFill/>
          <a:ln/>
        </p:spPr>
        <p:txBody>
          <a:bodyPr wrap="square" lIns="0" tIns="0" rIns="0" bIns="0" rtlCol="0" anchor="t"/>
          <a:lstStyle/>
          <a:p>
            <a:pPr indent="0" marL="0">
              <a:buNone/>
            </a:pPr>
            <a:r>
              <a:rPr lang="en-US" sz="3000" dirty="0">
                <a:solidFill>
                  <a:srgbClr val="F07F06"/>
                </a:solidFill>
                <a:latin typeface="Arial Black" pitchFamily="34" charset="0"/>
                <a:ea typeface="Arial Black" pitchFamily="34" charset="-122"/>
                <a:cs typeface="Arial Black" pitchFamily="34" charset="-120"/>
              </a:rPr>
              <a:t>03</a:t>
            </a:r>
            <a:endParaRPr lang="en-US" sz="3000" dirty="0"/>
          </a:p>
        </p:txBody>
      </p:sp>
      <p:sp>
        <p:nvSpPr>
          <p:cNvPr id="17" name="Text 14"/>
          <p:cNvSpPr/>
          <p:nvPr/>
        </p:nvSpPr>
        <p:spPr>
          <a:xfrm>
            <a:off x="1435608" y="4617720"/>
            <a:ext cx="10189159" cy="365760"/>
          </a:xfrm>
          <a:prstGeom prst="rect">
            <a:avLst/>
          </a:prstGeom>
          <a:noFill/>
          <a:ln/>
        </p:spPr>
        <p:txBody>
          <a:bodyPr wrap="square" lIns="0" tIns="0" rIns="0" bIns="0" rtlCol="0" anchor="t"/>
          <a:lstStyle/>
          <a:p>
            <a:pPr indent="0" marL="0">
              <a:buNone/>
            </a:pPr>
            <a:r>
              <a:rPr lang="en-US" sz="1500" b="1" dirty="0">
                <a:solidFill>
                  <a:srgbClr val="0F0F11"/>
                </a:solidFill>
                <a:latin typeface="Arial" pitchFamily="34" charset="0"/>
                <a:ea typeface="Arial" pitchFamily="34" charset="-122"/>
                <a:cs typeface="Arial" pitchFamily="34" charset="-120"/>
              </a:rPr>
              <a:t>Detectar un error de transcripción</a:t>
            </a:r>
            <a:endParaRPr lang="en-US" sz="1500" dirty="0"/>
          </a:p>
        </p:txBody>
      </p:sp>
      <p:sp>
        <p:nvSpPr>
          <p:cNvPr id="18" name="Text 15"/>
          <p:cNvSpPr/>
          <p:nvPr/>
        </p:nvSpPr>
        <p:spPr>
          <a:xfrm>
            <a:off x="1435608" y="5056632"/>
            <a:ext cx="10189159" cy="86868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eip55_valido() debe rechazar una dirección a la que se le cambió una sola letra de caja.</a:t>
            </a:r>
            <a:endParaRPr lang="en-US" sz="1300" dirty="0"/>
          </a:p>
        </p:txBody>
      </p:sp>
      <p:sp>
        <p:nvSpPr>
          <p:cNvPr id="19" name="Shape 16"/>
          <p:cNvSpPr/>
          <p:nvPr/>
        </p:nvSpPr>
        <p:spPr>
          <a:xfrm>
            <a:off x="566928" y="4471416"/>
            <a:ext cx="11057839" cy="0"/>
          </a:xfrm>
          <a:prstGeom prst="line">
            <a:avLst/>
          </a:prstGeom>
          <a:noFill/>
          <a:ln w="12700">
            <a:solidFill>
              <a:srgbClr val="D9D6E0"/>
            </a:solidFill>
            <a:prstDash val="solid"/>
          </a:ln>
        </p:spPr>
      </p:sp>
      <p:sp>
        <p:nvSpPr>
          <p:cNvPr id="20" name="Shape 17"/>
          <p:cNvSpPr/>
          <p:nvPr/>
        </p:nvSpPr>
        <p:spPr>
          <a:xfrm>
            <a:off x="566928" y="5888736"/>
            <a:ext cx="11057839" cy="0"/>
          </a:xfrm>
          <a:prstGeom prst="line">
            <a:avLst/>
          </a:prstGeom>
          <a:noFill/>
          <a:ln w="12700">
            <a:solidFill>
              <a:srgbClr val="D9D6E0"/>
            </a:solidFill>
            <a:prstDash val="solid"/>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BLOQUE C · PARTE 3 · ≈ 25 MIN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LA MINI-BLOCKCHAIN</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26</a:t>
            </a:r>
            <a:endParaRPr lang="en-US" sz="900" dirty="0"/>
          </a:p>
        </p:txBody>
      </p:sp>
      <p:sp>
        <p:nvSpPr>
          <p:cNvPr id="8" name="Text 5"/>
          <p:cNvSpPr/>
          <p:nvPr/>
        </p:nvSpPr>
        <p:spPr>
          <a:xfrm>
            <a:off x="566928" y="1773936"/>
            <a:ext cx="685800" cy="457200"/>
          </a:xfrm>
          <a:prstGeom prst="rect">
            <a:avLst/>
          </a:prstGeom>
          <a:noFill/>
          <a:ln/>
        </p:spPr>
        <p:txBody>
          <a:bodyPr wrap="square" lIns="0" tIns="0" rIns="0" bIns="0" rtlCol="0" anchor="t"/>
          <a:lstStyle/>
          <a:p>
            <a:pPr indent="0" marL="0">
              <a:buNone/>
            </a:pPr>
            <a:r>
              <a:rPr lang="en-US" sz="2500" dirty="0">
                <a:solidFill>
                  <a:srgbClr val="F07F06"/>
                </a:solidFill>
                <a:latin typeface="Arial Black" pitchFamily="34" charset="0"/>
                <a:ea typeface="Arial Black" pitchFamily="34" charset="-122"/>
                <a:cs typeface="Arial Black" pitchFamily="34" charset="-120"/>
              </a:rPr>
              <a:t>01</a:t>
            </a:r>
            <a:endParaRPr lang="en-US" sz="2500" dirty="0"/>
          </a:p>
        </p:txBody>
      </p:sp>
      <p:sp>
        <p:nvSpPr>
          <p:cNvPr id="9" name="Text 6"/>
          <p:cNvSpPr/>
          <p:nvPr/>
        </p:nvSpPr>
        <p:spPr>
          <a:xfrm>
            <a:off x="1344168" y="1737360"/>
            <a:ext cx="10280599" cy="329184"/>
          </a:xfrm>
          <a:prstGeom prst="rect">
            <a:avLst/>
          </a:prstGeom>
          <a:noFill/>
          <a:ln/>
        </p:spPr>
        <p:txBody>
          <a:bodyPr wrap="square" lIns="0" tIns="0" rIns="0" bIns="0" rtlCol="0" anchor="t"/>
          <a:lstStyle/>
          <a:p>
            <a:pPr indent="0" marL="0">
              <a:buNone/>
            </a:pPr>
            <a:r>
              <a:rPr lang="en-US" sz="1450" b="1" dirty="0">
                <a:solidFill>
                  <a:srgbClr val="0F0F11"/>
                </a:solidFill>
                <a:latin typeface="Arial" pitchFamily="34" charset="0"/>
                <a:ea typeface="Arial" pitchFamily="34" charset="-122"/>
                <a:cs typeface="Arial" pitchFamily="34" charset="-120"/>
              </a:rPr>
              <a:t>Transacciones firmadas</a:t>
            </a:r>
            <a:endParaRPr lang="en-US" sz="1450" dirty="0"/>
          </a:p>
        </p:txBody>
      </p:sp>
      <p:sp>
        <p:nvSpPr>
          <p:cNvPr id="10" name="Text 7"/>
          <p:cNvSpPr/>
          <p:nvPr/>
        </p:nvSpPr>
        <p:spPr>
          <a:xfrm>
            <a:off x="1344168" y="2084832"/>
            <a:ext cx="10280599" cy="60350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Origen, destino, monto, contador y firma. Serialización DETERMINISTA —siempre los mismos campos en el mismo orden— y firma sobre esa serialización. Si dos nodos serializan distinto, la firma no verifica.</a:t>
            </a:r>
            <a:endParaRPr lang="en-US" sz="1250" dirty="0"/>
          </a:p>
        </p:txBody>
      </p:sp>
      <p:sp>
        <p:nvSpPr>
          <p:cNvPr id="11" name="Shape 8"/>
          <p:cNvSpPr/>
          <p:nvPr/>
        </p:nvSpPr>
        <p:spPr>
          <a:xfrm>
            <a:off x="566928" y="1627632"/>
            <a:ext cx="11057839" cy="0"/>
          </a:xfrm>
          <a:prstGeom prst="line">
            <a:avLst/>
          </a:prstGeom>
          <a:noFill/>
          <a:ln w="12700">
            <a:solidFill>
              <a:srgbClr val="D9D6E0"/>
            </a:solidFill>
            <a:prstDash val="solid"/>
          </a:ln>
        </p:spPr>
      </p:sp>
      <p:sp>
        <p:nvSpPr>
          <p:cNvPr id="12" name="Text 9"/>
          <p:cNvSpPr/>
          <p:nvPr/>
        </p:nvSpPr>
        <p:spPr>
          <a:xfrm>
            <a:off x="566928" y="2798064"/>
            <a:ext cx="685800" cy="457200"/>
          </a:xfrm>
          <a:prstGeom prst="rect">
            <a:avLst/>
          </a:prstGeom>
          <a:noFill/>
          <a:ln/>
        </p:spPr>
        <p:txBody>
          <a:bodyPr wrap="square" lIns="0" tIns="0" rIns="0" bIns="0" rtlCol="0" anchor="t"/>
          <a:lstStyle/>
          <a:p>
            <a:pPr indent="0" marL="0">
              <a:buNone/>
            </a:pPr>
            <a:r>
              <a:rPr lang="en-US" sz="2500" dirty="0">
                <a:solidFill>
                  <a:srgbClr val="F07F06"/>
                </a:solidFill>
                <a:latin typeface="Arial Black" pitchFamily="34" charset="0"/>
                <a:ea typeface="Arial Black" pitchFamily="34" charset="-122"/>
                <a:cs typeface="Arial Black" pitchFamily="34" charset="-120"/>
              </a:rPr>
              <a:t>02</a:t>
            </a:r>
            <a:endParaRPr lang="en-US" sz="2500" dirty="0"/>
          </a:p>
        </p:txBody>
      </p:sp>
      <p:sp>
        <p:nvSpPr>
          <p:cNvPr id="13" name="Text 10"/>
          <p:cNvSpPr/>
          <p:nvPr/>
        </p:nvSpPr>
        <p:spPr>
          <a:xfrm>
            <a:off x="1344168" y="2761488"/>
            <a:ext cx="10280599" cy="329184"/>
          </a:xfrm>
          <a:prstGeom prst="rect">
            <a:avLst/>
          </a:prstGeom>
          <a:noFill/>
          <a:ln/>
        </p:spPr>
        <p:txBody>
          <a:bodyPr wrap="square" lIns="0" tIns="0" rIns="0" bIns="0" rtlCol="0" anchor="t"/>
          <a:lstStyle/>
          <a:p>
            <a:pPr indent="0" marL="0">
              <a:buNone/>
            </a:pPr>
            <a:r>
              <a:rPr lang="en-US" sz="1450" b="1" dirty="0">
                <a:solidFill>
                  <a:srgbClr val="0F0F11"/>
                </a:solidFill>
                <a:latin typeface="Arial" pitchFamily="34" charset="0"/>
                <a:ea typeface="Arial" pitchFamily="34" charset="-122"/>
                <a:cs typeface="Arial" pitchFamily="34" charset="-120"/>
              </a:rPr>
              <a:t>El bloque</a:t>
            </a:r>
            <a:endParaRPr lang="en-US" sz="1450" dirty="0"/>
          </a:p>
        </p:txBody>
      </p:sp>
      <p:sp>
        <p:nvSpPr>
          <p:cNvPr id="14" name="Text 11"/>
          <p:cNvSpPr/>
          <p:nvPr/>
        </p:nvSpPr>
        <p:spPr>
          <a:xfrm>
            <a:off x="1344168" y="3108960"/>
            <a:ext cx="10280599" cy="60350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Cabecera con hash del padre, raíz de Merkle de sus transacciones —REUTILIZANDO EL LABORATORIO 01—, marca temporal y nonce. El hash se calcula solo sobre la cabecera.</a:t>
            </a:r>
            <a:endParaRPr lang="en-US" sz="1250" dirty="0"/>
          </a:p>
        </p:txBody>
      </p:sp>
      <p:sp>
        <p:nvSpPr>
          <p:cNvPr id="15" name="Shape 12"/>
          <p:cNvSpPr/>
          <p:nvPr/>
        </p:nvSpPr>
        <p:spPr>
          <a:xfrm>
            <a:off x="566928" y="2651760"/>
            <a:ext cx="11057839" cy="0"/>
          </a:xfrm>
          <a:prstGeom prst="line">
            <a:avLst/>
          </a:prstGeom>
          <a:noFill/>
          <a:ln w="12700">
            <a:solidFill>
              <a:srgbClr val="D9D6E0"/>
            </a:solidFill>
            <a:prstDash val="solid"/>
          </a:ln>
        </p:spPr>
      </p:sp>
      <p:sp>
        <p:nvSpPr>
          <p:cNvPr id="16" name="Text 13"/>
          <p:cNvSpPr/>
          <p:nvPr/>
        </p:nvSpPr>
        <p:spPr>
          <a:xfrm>
            <a:off x="566928" y="3822192"/>
            <a:ext cx="685800" cy="457200"/>
          </a:xfrm>
          <a:prstGeom prst="rect">
            <a:avLst/>
          </a:prstGeom>
          <a:noFill/>
          <a:ln/>
        </p:spPr>
        <p:txBody>
          <a:bodyPr wrap="square" lIns="0" tIns="0" rIns="0" bIns="0" rtlCol="0" anchor="t"/>
          <a:lstStyle/>
          <a:p>
            <a:pPr indent="0" marL="0">
              <a:buNone/>
            </a:pPr>
            <a:r>
              <a:rPr lang="en-US" sz="2500" dirty="0">
                <a:solidFill>
                  <a:srgbClr val="F07F06"/>
                </a:solidFill>
                <a:latin typeface="Arial Black" pitchFamily="34" charset="0"/>
                <a:ea typeface="Arial Black" pitchFamily="34" charset="-122"/>
                <a:cs typeface="Arial Black" pitchFamily="34" charset="-120"/>
              </a:rPr>
              <a:t>03</a:t>
            </a:r>
            <a:endParaRPr lang="en-US" sz="2500" dirty="0"/>
          </a:p>
        </p:txBody>
      </p:sp>
      <p:sp>
        <p:nvSpPr>
          <p:cNvPr id="17" name="Text 14"/>
          <p:cNvSpPr/>
          <p:nvPr/>
        </p:nvSpPr>
        <p:spPr>
          <a:xfrm>
            <a:off x="1344168" y="3785616"/>
            <a:ext cx="10280599" cy="329184"/>
          </a:xfrm>
          <a:prstGeom prst="rect">
            <a:avLst/>
          </a:prstGeom>
          <a:noFill/>
          <a:ln/>
        </p:spPr>
        <p:txBody>
          <a:bodyPr wrap="square" lIns="0" tIns="0" rIns="0" bIns="0" rtlCol="0" anchor="t"/>
          <a:lstStyle/>
          <a:p>
            <a:pPr indent="0" marL="0">
              <a:buNone/>
            </a:pPr>
            <a:r>
              <a:rPr lang="en-US" sz="1450" b="1" dirty="0">
                <a:solidFill>
                  <a:srgbClr val="0F0F11"/>
                </a:solidFill>
                <a:latin typeface="Arial" pitchFamily="34" charset="0"/>
                <a:ea typeface="Arial" pitchFamily="34" charset="-122"/>
                <a:cs typeface="Arial" pitchFamily="34" charset="-120"/>
              </a:rPr>
              <a:t>Validación de la cadena</a:t>
            </a:r>
            <a:endParaRPr lang="en-US" sz="1450" dirty="0"/>
          </a:p>
        </p:txBody>
      </p:sp>
      <p:sp>
        <p:nvSpPr>
          <p:cNvPr id="18" name="Text 15"/>
          <p:cNvSpPr/>
          <p:nvPr/>
        </p:nvSpPr>
        <p:spPr>
          <a:xfrm>
            <a:off x="1344168" y="4133088"/>
            <a:ext cx="10280599" cy="60350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cadena_valida() comprueba para cada bloque: que el hash del padre coincida con el hash real del anterior, que la raíz corresponda a sus transacciones, y que TODAS las firmas verifiquen.</a:t>
            </a:r>
            <a:endParaRPr lang="en-US" sz="1250" dirty="0"/>
          </a:p>
        </p:txBody>
      </p:sp>
      <p:sp>
        <p:nvSpPr>
          <p:cNvPr id="19" name="Shape 16"/>
          <p:cNvSpPr/>
          <p:nvPr/>
        </p:nvSpPr>
        <p:spPr>
          <a:xfrm>
            <a:off x="566928" y="3675888"/>
            <a:ext cx="11057839" cy="0"/>
          </a:xfrm>
          <a:prstGeom prst="line">
            <a:avLst/>
          </a:prstGeom>
          <a:noFill/>
          <a:ln w="12700">
            <a:solidFill>
              <a:srgbClr val="D9D6E0"/>
            </a:solidFill>
            <a:prstDash val="solid"/>
          </a:ln>
        </p:spPr>
      </p:sp>
      <p:sp>
        <p:nvSpPr>
          <p:cNvPr id="20" name="Text 17"/>
          <p:cNvSpPr/>
          <p:nvPr/>
        </p:nvSpPr>
        <p:spPr>
          <a:xfrm>
            <a:off x="566928" y="4846320"/>
            <a:ext cx="685800" cy="457200"/>
          </a:xfrm>
          <a:prstGeom prst="rect">
            <a:avLst/>
          </a:prstGeom>
          <a:noFill/>
          <a:ln/>
        </p:spPr>
        <p:txBody>
          <a:bodyPr wrap="square" lIns="0" tIns="0" rIns="0" bIns="0" rtlCol="0" anchor="t"/>
          <a:lstStyle/>
          <a:p>
            <a:pPr indent="0" marL="0">
              <a:buNone/>
            </a:pPr>
            <a:r>
              <a:rPr lang="en-US" sz="2500" dirty="0">
                <a:solidFill>
                  <a:srgbClr val="F07F06"/>
                </a:solidFill>
                <a:latin typeface="Arial Black" pitchFamily="34" charset="0"/>
                <a:ea typeface="Arial Black" pitchFamily="34" charset="-122"/>
                <a:cs typeface="Arial Black" pitchFamily="34" charset="-120"/>
              </a:rPr>
              <a:t>04</a:t>
            </a:r>
            <a:endParaRPr lang="en-US" sz="2500" dirty="0"/>
          </a:p>
        </p:txBody>
      </p:sp>
      <p:sp>
        <p:nvSpPr>
          <p:cNvPr id="21" name="Text 18"/>
          <p:cNvSpPr/>
          <p:nvPr/>
        </p:nvSpPr>
        <p:spPr>
          <a:xfrm>
            <a:off x="1344168" y="4809744"/>
            <a:ext cx="10280599" cy="329184"/>
          </a:xfrm>
          <a:prstGeom prst="rect">
            <a:avLst/>
          </a:prstGeom>
          <a:noFill/>
          <a:ln/>
        </p:spPr>
        <p:txBody>
          <a:bodyPr wrap="square" lIns="0" tIns="0" rIns="0" bIns="0" rtlCol="0" anchor="t"/>
          <a:lstStyle/>
          <a:p>
            <a:pPr indent="0" marL="0">
              <a:buNone/>
            </a:pPr>
            <a:r>
              <a:rPr lang="en-US" sz="1450" b="1" dirty="0">
                <a:solidFill>
                  <a:srgbClr val="0F0F11"/>
                </a:solidFill>
                <a:latin typeface="Arial" pitchFamily="34" charset="0"/>
                <a:ea typeface="Arial" pitchFamily="34" charset="-122"/>
                <a:cs typeface="Arial" pitchFamily="34" charset="-120"/>
              </a:rPr>
              <a:t>Romper la cadena</a:t>
            </a:r>
            <a:endParaRPr lang="en-US" sz="1450" dirty="0"/>
          </a:p>
        </p:txBody>
      </p:sp>
      <p:sp>
        <p:nvSpPr>
          <p:cNvPr id="22" name="Text 19"/>
          <p:cNvSpPr/>
          <p:nvPr/>
        </p:nvSpPr>
        <p:spPr>
          <a:xfrm>
            <a:off x="1344168" y="5157216"/>
            <a:ext cx="10280599" cy="60350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Alterar el monto de una transacción de un bloque intermedio y validar. Observar QUÉ falla y DÓNDE: primero la firma, después la raíz de Merkle, después el eslabón de todos los posteriores.</a:t>
            </a:r>
            <a:endParaRPr lang="en-US" sz="1250" dirty="0"/>
          </a:p>
        </p:txBody>
      </p:sp>
      <p:sp>
        <p:nvSpPr>
          <p:cNvPr id="23" name="Shape 20"/>
          <p:cNvSpPr/>
          <p:nvPr/>
        </p:nvSpPr>
        <p:spPr>
          <a:xfrm>
            <a:off x="566928" y="4700016"/>
            <a:ext cx="11057839" cy="0"/>
          </a:xfrm>
          <a:prstGeom prst="line">
            <a:avLst/>
          </a:prstGeom>
          <a:noFill/>
          <a:ln w="12700">
            <a:solidFill>
              <a:srgbClr val="D9D6E0"/>
            </a:solidFill>
            <a:prstDash val="solid"/>
          </a:ln>
        </p:spPr>
      </p:sp>
      <p:sp>
        <p:nvSpPr>
          <p:cNvPr id="24" name="Shape 21"/>
          <p:cNvSpPr/>
          <p:nvPr/>
        </p:nvSpPr>
        <p:spPr>
          <a:xfrm>
            <a:off x="566928" y="5724144"/>
            <a:ext cx="11057839" cy="0"/>
          </a:xfrm>
          <a:prstGeom prst="line">
            <a:avLst/>
          </a:prstGeom>
          <a:noFill/>
          <a:ln w="12700">
            <a:solidFill>
              <a:srgbClr val="D9D6E0"/>
            </a:solidFill>
            <a:prstDash val="solid"/>
          </a:ln>
        </p:spPr>
      </p:sp>
      <p:sp>
        <p:nvSpPr>
          <p:cNvPr id="25" name="Text 22"/>
          <p:cNvSpPr/>
          <p:nvPr/>
        </p:nvSpPr>
        <p:spPr>
          <a:xfrm>
            <a:off x="566928" y="5852160"/>
            <a:ext cx="11057839" cy="274320"/>
          </a:xfrm>
          <a:prstGeom prst="rect">
            <a:avLst/>
          </a:prstGeom>
          <a:noFill/>
          <a:ln/>
        </p:spPr>
        <p:txBody>
          <a:bodyPr wrap="square" lIns="0" tIns="0" rIns="0" bIns="0" rtlCol="0" anchor="ctr"/>
          <a:lstStyle/>
          <a:p>
            <a:pPr indent="0" marL="0">
              <a:buNone/>
            </a:pPr>
            <a:r>
              <a:rPr lang="en-US" sz="1050" b="1" spc="110" kern="0" dirty="0">
                <a:solidFill>
                  <a:srgbClr val="A35604"/>
                </a:solidFill>
                <a:latin typeface="Courier New" pitchFamily="34" charset="0"/>
                <a:ea typeface="Courier New" pitchFamily="34" charset="-122"/>
                <a:cs typeface="Courier New" pitchFamily="34" charset="-120"/>
              </a:rPr>
              <a:t>EL PASO 04 ES LA COMPROBACIÓN CENTRAL Y EL CIERRE DE LA UNIDAD I: LA FIG. 3, EJECUTÁNDOSE.</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BLOQUE C · PROYECTAR ANTES DE EMPEZAR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ERRORES FRECUENTES DEL LABORATORIO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27</a:t>
            </a:r>
            <a:endParaRPr lang="en-US" sz="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57839" cy="914400"/>
        </p:xfrm>
        <a:graphic>
          <a:graphicData uri="http://schemas.openxmlformats.org/drawingml/2006/table">
            <a:tbl>
              <a:tblPr/>
              <a:tblGrid>
                <a:gridCol w="3931920"/>
                <a:gridCol w="71259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SÍNTOMA</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CAUSA Y SOLUCIÓN</a:t>
                      </a:r>
                      <a:endParaRPr lang="en-US" sz="900" dirty="0">
                        <a:latin typeface="Courier New" charset="0"/>
                        <a:ea typeface="Courier New" charset="0"/>
                        <a:cs typeface="Courier New" charset="0"/>
                      </a:endParaRPr>
                    </a:p>
                  </a:txBody>
                  <a:tcPr marL="114300" marR="114300" marT="88900" marB="889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742493">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La firma verifica en una máquina y no en otra</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Serialización no determinista: campos en distinto orden, o un diccionario sin orden fijo. Fija el orden y hashea bytes, no la representación de un objeto.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742493">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La dirección no coincide con la de referencia</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Casi siempre se hashea la clave pública CON el prefijo de formato. Hay que hashear los 64 bytes de las coordenadas, sin byte inicial.</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742493">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Se usó SHA-3 en lugar de Keccak</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La trampa de la Sesión 2. Comprueba el vector conocido: keccak256("") empieza por c5d2460186f7233c.</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742493">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La cadena valida aunque se alteró un bloque</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La validación lee el hash guardado en el bloque en lugar de recalcularlo desde la cabecera. Es el error conceptual más grave de este laboratorio.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742493">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Todas las firmas fallan tras cambiar un campo</a:t>
                      </a:r>
                      <a:endParaRPr lang="en-US" sz="1150" dirty="0">
                        <a:latin typeface="Courier New" charset="0"/>
                        <a:ea typeface="Courier New" charset="0"/>
                        <a:cs typeface="Courier New"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Correcto. Es el resultado esperado del paso 4, no un fallo.</a:t>
                      </a:r>
                      <a:endParaRPr lang="en-US" sz="1150" dirty="0">
                        <a:latin typeface="Arial" charset="0"/>
                        <a:ea typeface="Arial" charset="0"/>
                        <a:cs typeface="Arial" charset="0"/>
                      </a:endParaRPr>
                    </a:p>
                  </a:txBody>
                  <a:tcPr marL="114300" marR="114300" marT="88900" marB="889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64792"/>
            <a:ext cx="11094415" cy="4059936"/>
          </a:xfrm>
          <a:prstGeom prst="rect">
            <a:avLst/>
          </a:prstGeom>
          <a:ln w="22225">
            <a:solidFill>
              <a:srgbClr val="0F0F11"/>
            </a:solidFill>
            <a:prstDash val="solid"/>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D</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MIN 170 — 180 · PLENARIA</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CIERRE</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Qué llevarse, qué entregar y el hueco que abre la Sesión 4.</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BLOQUE D · SÍNTESIS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LO QUE HAY QUE LLEVARSE DE ESTA SESIÓN</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29</a:t>
            </a:r>
            <a:endParaRPr lang="en-US" sz="900" dirty="0"/>
          </a:p>
        </p:txBody>
      </p:sp>
      <p:sp>
        <p:nvSpPr>
          <p:cNvPr id="8" name="Text 5"/>
          <p:cNvSpPr/>
          <p:nvPr/>
        </p:nvSpPr>
        <p:spPr>
          <a:xfrm>
            <a:off x="566928" y="1801368"/>
            <a:ext cx="1234440" cy="365760"/>
          </a:xfrm>
          <a:prstGeom prst="rect">
            <a:avLst/>
          </a:prstGeom>
          <a:noFill/>
          <a:ln/>
        </p:spPr>
        <p:txBody>
          <a:bodyPr wrap="square" lIns="0" tIns="0" rIns="0" bIns="0" rtlCol="0" anchor="ctr"/>
          <a:lstStyle/>
          <a:p>
            <a:pPr indent="0" marL="0">
              <a:buNone/>
            </a:pPr>
            <a:r>
              <a:rPr lang="en-US" sz="1050" b="1" spc="140" kern="0" dirty="0">
                <a:solidFill>
                  <a:srgbClr val="F07F06"/>
                </a:solidFill>
                <a:latin typeface="Courier New" pitchFamily="34" charset="0"/>
                <a:ea typeface="Courier New" pitchFamily="34" charset="-122"/>
                <a:cs typeface="Courier New" pitchFamily="34" charset="-120"/>
              </a:rPr>
              <a:t>UNO</a:t>
            </a:r>
            <a:endParaRPr lang="en-US" sz="1050" dirty="0"/>
          </a:p>
        </p:txBody>
      </p:sp>
      <p:sp>
        <p:nvSpPr>
          <p:cNvPr id="9" name="Text 6"/>
          <p:cNvSpPr/>
          <p:nvPr/>
        </p:nvSpPr>
        <p:spPr>
          <a:xfrm>
            <a:off x="1938528" y="1755648"/>
            <a:ext cx="9686239" cy="64008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El requisito era ASIMETRÍA: que quien puede verificar no pueda firmar. Los esquemas de clave compartida fracasan por eso.</a:t>
            </a:r>
            <a:endParaRPr lang="en-US" sz="1300" dirty="0"/>
          </a:p>
        </p:txBody>
      </p:sp>
      <p:sp>
        <p:nvSpPr>
          <p:cNvPr id="10" name="Shape 7"/>
          <p:cNvSpPr/>
          <p:nvPr/>
        </p:nvSpPr>
        <p:spPr>
          <a:xfrm>
            <a:off x="566928" y="1655064"/>
            <a:ext cx="11057839" cy="0"/>
          </a:xfrm>
          <a:prstGeom prst="line">
            <a:avLst/>
          </a:prstGeom>
          <a:noFill/>
          <a:ln w="12700">
            <a:solidFill>
              <a:srgbClr val="D9D6E0"/>
            </a:solidFill>
            <a:prstDash val="solid"/>
          </a:ln>
        </p:spPr>
      </p:sp>
      <p:sp>
        <p:nvSpPr>
          <p:cNvPr id="11" name="Text 8"/>
          <p:cNvSpPr/>
          <p:nvPr/>
        </p:nvSpPr>
        <p:spPr>
          <a:xfrm>
            <a:off x="566928" y="2514600"/>
            <a:ext cx="1234440" cy="365760"/>
          </a:xfrm>
          <a:prstGeom prst="rect">
            <a:avLst/>
          </a:prstGeom>
          <a:noFill/>
          <a:ln/>
        </p:spPr>
        <p:txBody>
          <a:bodyPr wrap="square" lIns="0" tIns="0" rIns="0" bIns="0" rtlCol="0" anchor="ctr"/>
          <a:lstStyle/>
          <a:p>
            <a:pPr indent="0" marL="0">
              <a:buNone/>
            </a:pPr>
            <a:r>
              <a:rPr lang="en-US" sz="1050" b="1" spc="140" kern="0" dirty="0">
                <a:solidFill>
                  <a:srgbClr val="F07F06"/>
                </a:solidFill>
                <a:latin typeface="Courier New" pitchFamily="34" charset="0"/>
                <a:ea typeface="Courier New" pitchFamily="34" charset="-122"/>
                <a:cs typeface="Courier New" pitchFamily="34" charset="-120"/>
              </a:rPr>
              <a:t>DOS</a:t>
            </a:r>
            <a:endParaRPr lang="en-US" sz="1050" dirty="0"/>
          </a:p>
        </p:txBody>
      </p:sp>
      <p:sp>
        <p:nvSpPr>
          <p:cNvPr id="12" name="Text 9"/>
          <p:cNvSpPr/>
          <p:nvPr/>
        </p:nvSpPr>
        <p:spPr>
          <a:xfrm>
            <a:off x="1938528" y="2468880"/>
            <a:ext cx="9686239" cy="64008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La clave privada es UN NÚMERO SORTEADO AL AZAR. Toda la seguridad descansa en la calidad de ese sorteo.</a:t>
            </a:r>
            <a:endParaRPr lang="en-US" sz="1300" dirty="0"/>
          </a:p>
        </p:txBody>
      </p:sp>
      <p:sp>
        <p:nvSpPr>
          <p:cNvPr id="13" name="Shape 10"/>
          <p:cNvSpPr/>
          <p:nvPr/>
        </p:nvSpPr>
        <p:spPr>
          <a:xfrm>
            <a:off x="566928" y="2368296"/>
            <a:ext cx="11057839" cy="0"/>
          </a:xfrm>
          <a:prstGeom prst="line">
            <a:avLst/>
          </a:prstGeom>
          <a:noFill/>
          <a:ln w="12700">
            <a:solidFill>
              <a:srgbClr val="D9D6E0"/>
            </a:solidFill>
            <a:prstDash val="solid"/>
          </a:ln>
        </p:spPr>
      </p:sp>
      <p:sp>
        <p:nvSpPr>
          <p:cNvPr id="14" name="Text 11"/>
          <p:cNvSpPr/>
          <p:nvPr/>
        </p:nvSpPr>
        <p:spPr>
          <a:xfrm>
            <a:off x="566928" y="3227832"/>
            <a:ext cx="1234440" cy="365760"/>
          </a:xfrm>
          <a:prstGeom prst="rect">
            <a:avLst/>
          </a:prstGeom>
          <a:noFill/>
          <a:ln/>
        </p:spPr>
        <p:txBody>
          <a:bodyPr wrap="square" lIns="0" tIns="0" rIns="0" bIns="0" rtlCol="0" anchor="ctr"/>
          <a:lstStyle/>
          <a:p>
            <a:pPr indent="0" marL="0">
              <a:buNone/>
            </a:pPr>
            <a:r>
              <a:rPr lang="en-US" sz="1050" b="1" spc="140" kern="0" dirty="0">
                <a:solidFill>
                  <a:srgbClr val="F07F06"/>
                </a:solidFill>
                <a:latin typeface="Courier New" pitchFamily="34" charset="0"/>
                <a:ea typeface="Courier New" pitchFamily="34" charset="-122"/>
                <a:cs typeface="Courier New" pitchFamily="34" charset="-120"/>
              </a:rPr>
              <a:t>TRES</a:t>
            </a:r>
            <a:endParaRPr lang="en-US" sz="1050" dirty="0"/>
          </a:p>
        </p:txBody>
      </p:sp>
      <p:sp>
        <p:nvSpPr>
          <p:cNvPr id="15" name="Text 12"/>
          <p:cNvSpPr/>
          <p:nvPr/>
        </p:nvSpPr>
        <p:spPr>
          <a:xfrm>
            <a:off x="1938528" y="3182112"/>
            <a:ext cx="9686239" cy="64008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Una firma prueba QUE SE USÓ UNA CLAVE. No prueba identidad, ni intención, ni momento, ni comprensión.</a:t>
            </a:r>
            <a:endParaRPr lang="en-US" sz="1300" dirty="0"/>
          </a:p>
        </p:txBody>
      </p:sp>
      <p:sp>
        <p:nvSpPr>
          <p:cNvPr id="16" name="Shape 13"/>
          <p:cNvSpPr/>
          <p:nvPr/>
        </p:nvSpPr>
        <p:spPr>
          <a:xfrm>
            <a:off x="566928" y="3081528"/>
            <a:ext cx="11057839" cy="0"/>
          </a:xfrm>
          <a:prstGeom prst="line">
            <a:avLst/>
          </a:prstGeom>
          <a:noFill/>
          <a:ln w="12700">
            <a:solidFill>
              <a:srgbClr val="D9D6E0"/>
            </a:solidFill>
            <a:prstDash val="solid"/>
          </a:ln>
        </p:spPr>
      </p:sp>
      <p:sp>
        <p:nvSpPr>
          <p:cNvPr id="17" name="Text 14"/>
          <p:cNvSpPr/>
          <p:nvPr/>
        </p:nvSpPr>
        <p:spPr>
          <a:xfrm>
            <a:off x="566928" y="3941064"/>
            <a:ext cx="1234440" cy="365760"/>
          </a:xfrm>
          <a:prstGeom prst="rect">
            <a:avLst/>
          </a:prstGeom>
          <a:noFill/>
          <a:ln/>
        </p:spPr>
        <p:txBody>
          <a:bodyPr wrap="square" lIns="0" tIns="0" rIns="0" bIns="0" rtlCol="0" anchor="ctr"/>
          <a:lstStyle/>
          <a:p>
            <a:pPr indent="0" marL="0">
              <a:buNone/>
            </a:pPr>
            <a:r>
              <a:rPr lang="en-US" sz="1050" b="1" spc="140" kern="0" dirty="0">
                <a:solidFill>
                  <a:srgbClr val="F07F06"/>
                </a:solidFill>
                <a:latin typeface="Courier New" pitchFamily="34" charset="0"/>
                <a:ea typeface="Courier New" pitchFamily="34" charset="-122"/>
                <a:cs typeface="Courier New" pitchFamily="34" charset="-120"/>
              </a:rPr>
              <a:t>CUATRO</a:t>
            </a:r>
            <a:endParaRPr lang="en-US" sz="1050" dirty="0"/>
          </a:p>
        </p:txBody>
      </p:sp>
      <p:sp>
        <p:nvSpPr>
          <p:cNvPr id="18" name="Text 15"/>
          <p:cNvSpPr/>
          <p:nvPr/>
        </p:nvSpPr>
        <p:spPr>
          <a:xfrm>
            <a:off x="1938528" y="3895344"/>
            <a:ext cx="9686239" cy="64008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La dirección es literalmente LA COLA DEL HASH de la clave pública, y su patrón de mayúsculas es un checksum gratuito.</a:t>
            </a:r>
            <a:endParaRPr lang="en-US" sz="1300" dirty="0"/>
          </a:p>
        </p:txBody>
      </p:sp>
      <p:sp>
        <p:nvSpPr>
          <p:cNvPr id="19" name="Shape 16"/>
          <p:cNvSpPr/>
          <p:nvPr/>
        </p:nvSpPr>
        <p:spPr>
          <a:xfrm>
            <a:off x="566928" y="3794760"/>
            <a:ext cx="11057839" cy="0"/>
          </a:xfrm>
          <a:prstGeom prst="line">
            <a:avLst/>
          </a:prstGeom>
          <a:noFill/>
          <a:ln w="12700">
            <a:solidFill>
              <a:srgbClr val="D9D6E0"/>
            </a:solidFill>
            <a:prstDash val="solid"/>
          </a:ln>
        </p:spPr>
      </p:sp>
      <p:sp>
        <p:nvSpPr>
          <p:cNvPr id="20" name="Text 17"/>
          <p:cNvSpPr/>
          <p:nvPr/>
        </p:nvSpPr>
        <p:spPr>
          <a:xfrm>
            <a:off x="566928" y="4654296"/>
            <a:ext cx="1234440" cy="365760"/>
          </a:xfrm>
          <a:prstGeom prst="rect">
            <a:avLst/>
          </a:prstGeom>
          <a:noFill/>
          <a:ln/>
        </p:spPr>
        <p:txBody>
          <a:bodyPr wrap="square" lIns="0" tIns="0" rIns="0" bIns="0" rtlCol="0" anchor="ctr"/>
          <a:lstStyle/>
          <a:p>
            <a:pPr indent="0" marL="0">
              <a:buNone/>
            </a:pPr>
            <a:r>
              <a:rPr lang="en-US" sz="1050" b="1" spc="140" kern="0" dirty="0">
                <a:solidFill>
                  <a:srgbClr val="F07F06"/>
                </a:solidFill>
                <a:latin typeface="Courier New" pitchFamily="34" charset="0"/>
                <a:ea typeface="Courier New" pitchFamily="34" charset="-122"/>
                <a:cs typeface="Courier New" pitchFamily="34" charset="-120"/>
              </a:rPr>
              <a:t>CINCO</a:t>
            </a:r>
            <a:endParaRPr lang="en-US" sz="1050" dirty="0"/>
          </a:p>
        </p:txBody>
      </p:sp>
      <p:sp>
        <p:nvSpPr>
          <p:cNvPr id="21" name="Text 18"/>
          <p:cNvSpPr/>
          <p:nvPr/>
        </p:nvSpPr>
        <p:spPr>
          <a:xfrm>
            <a:off x="1938528" y="4608576"/>
            <a:ext cx="9686239" cy="64008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El bloque ensambla las tres piezas: firmas en el cuerpo, raíz de Merkle en la cabecera, hash del padre como eslabón.</a:t>
            </a:r>
            <a:endParaRPr lang="en-US" sz="1300" dirty="0"/>
          </a:p>
        </p:txBody>
      </p:sp>
      <p:sp>
        <p:nvSpPr>
          <p:cNvPr id="22" name="Shape 19"/>
          <p:cNvSpPr/>
          <p:nvPr/>
        </p:nvSpPr>
        <p:spPr>
          <a:xfrm>
            <a:off x="566928" y="4507992"/>
            <a:ext cx="11057839" cy="0"/>
          </a:xfrm>
          <a:prstGeom prst="line">
            <a:avLst/>
          </a:prstGeom>
          <a:noFill/>
          <a:ln w="12700">
            <a:solidFill>
              <a:srgbClr val="D9D6E0"/>
            </a:solidFill>
            <a:prstDash val="solid"/>
          </a:ln>
        </p:spPr>
      </p:sp>
      <p:sp>
        <p:nvSpPr>
          <p:cNvPr id="23" name="Text 20"/>
          <p:cNvSpPr/>
          <p:nvPr/>
        </p:nvSpPr>
        <p:spPr>
          <a:xfrm>
            <a:off x="566928" y="5367528"/>
            <a:ext cx="1234440" cy="365760"/>
          </a:xfrm>
          <a:prstGeom prst="rect">
            <a:avLst/>
          </a:prstGeom>
          <a:noFill/>
          <a:ln/>
        </p:spPr>
        <p:txBody>
          <a:bodyPr wrap="square" lIns="0" tIns="0" rIns="0" bIns="0" rtlCol="0" anchor="ctr"/>
          <a:lstStyle/>
          <a:p>
            <a:pPr indent="0" marL="0">
              <a:buNone/>
            </a:pPr>
            <a:r>
              <a:rPr lang="en-US" sz="1050" b="1" spc="140" kern="0" dirty="0">
                <a:solidFill>
                  <a:srgbClr val="F07F06"/>
                </a:solidFill>
                <a:latin typeface="Courier New" pitchFamily="34" charset="0"/>
                <a:ea typeface="Courier New" pitchFamily="34" charset="-122"/>
                <a:cs typeface="Courier New" pitchFamily="34" charset="-120"/>
              </a:rPr>
              <a:t>SEIS</a:t>
            </a:r>
            <a:endParaRPr lang="en-US" sz="1050" dirty="0"/>
          </a:p>
        </p:txBody>
      </p:sp>
      <p:sp>
        <p:nvSpPr>
          <p:cNvPr id="24" name="Text 21"/>
          <p:cNvSpPr/>
          <p:nvPr/>
        </p:nvSpPr>
        <p:spPr>
          <a:xfrm>
            <a:off x="1938528" y="5321808"/>
            <a:ext cx="9686239" cy="64008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Nada de lo construido resuelve CUÁL DE DOS CADENAS VÁLIDAS es la buena. Ese hueco tiene nombre y fecha: Sesión 4.</a:t>
            </a:r>
            <a:endParaRPr lang="en-US" sz="1300" dirty="0"/>
          </a:p>
        </p:txBody>
      </p:sp>
      <p:sp>
        <p:nvSpPr>
          <p:cNvPr id="25" name="Shape 22"/>
          <p:cNvSpPr/>
          <p:nvPr/>
        </p:nvSpPr>
        <p:spPr>
          <a:xfrm>
            <a:off x="566928" y="5221224"/>
            <a:ext cx="11057839" cy="0"/>
          </a:xfrm>
          <a:prstGeom prst="line">
            <a:avLst/>
          </a:prstGeom>
          <a:noFill/>
          <a:ln w="12700">
            <a:solidFill>
              <a:srgbClr val="D9D6E0"/>
            </a:solidFill>
            <a:prstDash val="solid"/>
          </a:ln>
        </p:spPr>
      </p:sp>
      <p:sp>
        <p:nvSpPr>
          <p:cNvPr id="26" name="Shape 23"/>
          <p:cNvSpPr/>
          <p:nvPr/>
        </p:nvSpPr>
        <p:spPr>
          <a:xfrm>
            <a:off x="566928" y="5934456"/>
            <a:ext cx="11057839" cy="0"/>
          </a:xfrm>
          <a:prstGeom prst="line">
            <a:avLst/>
          </a:prstGeom>
          <a:noFill/>
          <a:ln w="12700">
            <a:solidFill>
              <a:srgbClr val="D9D6E0"/>
            </a:solidFill>
            <a:prstDash val="solid"/>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BLOQUE D · PUENTE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QUEDA UN HUECO PERFECTAMENTE DELIMITADO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30</a:t>
            </a:r>
            <a:endParaRPr lang="en-US" sz="900" dirty="0"/>
          </a:p>
        </p:txBody>
      </p:sp>
      <p:sp>
        <p:nvSpPr>
          <p:cNvPr id="8" name="Text 5"/>
          <p:cNvSpPr/>
          <p:nvPr/>
        </p:nvSpPr>
        <p:spPr>
          <a:xfrm>
            <a:off x="566928" y="1737360"/>
            <a:ext cx="11057839" cy="502920"/>
          </a:xfrm>
          <a:prstGeom prst="rect">
            <a:avLst/>
          </a:prstGeom>
          <a:noFill/>
          <a:ln/>
        </p:spPr>
        <p:txBody>
          <a:bodyPr wrap="square" lIns="0" tIns="0" rIns="0" bIns="0" rtlCol="0" anchor="t"/>
          <a:lstStyle/>
          <a:p>
            <a:pPr indent="0" marL="0">
              <a:lnSpc>
                <a:spcPct val="124000"/>
              </a:lnSpc>
              <a:buNone/>
            </a:pPr>
            <a:r>
              <a:rPr lang="en-US" sz="1500" dirty="0">
                <a:solidFill>
                  <a:srgbClr val="3A3844"/>
                </a:solidFill>
                <a:latin typeface="Arial" pitchFamily="34" charset="0"/>
                <a:ea typeface="Arial" pitchFamily="34" charset="-122"/>
                <a:cs typeface="Arial" pitchFamily="34" charset="-120"/>
              </a:rPr>
              <a:t>Sabemos construir una cadena válida. No sabemos decidir cuál de varias cadenas válidas es LA cadena.</a:t>
            </a:r>
            <a:endParaRPr lang="en-US" sz="1500" dirty="0"/>
          </a:p>
        </p:txBody>
      </p:sp>
      <p:sp>
        <p:nvSpPr>
          <p:cNvPr id="9" name="Shape 6"/>
          <p:cNvSpPr/>
          <p:nvPr/>
        </p:nvSpPr>
        <p:spPr>
          <a:xfrm>
            <a:off x="566928" y="2377440"/>
            <a:ext cx="11057839" cy="13716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0" name="Text 7"/>
          <p:cNvSpPr/>
          <p:nvPr/>
        </p:nvSpPr>
        <p:spPr>
          <a:xfrm>
            <a:off x="877824" y="2606040"/>
            <a:ext cx="10436047" cy="96012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Pregunta de la semana: si un atacante construye su propia cadena, perfectamente encadenada y con todas las firmas válidas, ¿qué impide que la red la acepte? Proponga un criterio y busque cómo se lo saltaría usted mismo.</a:t>
            </a:r>
            <a:endParaRPr lang="en-US" sz="1400" dirty="0"/>
          </a:p>
        </p:txBody>
      </p:sp>
      <p:sp>
        <p:nvSpPr>
          <p:cNvPr id="11" name="Shape 8"/>
          <p:cNvSpPr/>
          <p:nvPr/>
        </p:nvSpPr>
        <p:spPr>
          <a:xfrm>
            <a:off x="566928" y="3977640"/>
            <a:ext cx="11057839" cy="192024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2" name="Text 9"/>
          <p:cNvSpPr/>
          <p:nvPr/>
        </p:nvSpPr>
        <p:spPr>
          <a:xfrm>
            <a:off x="877824" y="4206240"/>
            <a:ext cx="8229600" cy="310896"/>
          </a:xfrm>
          <a:prstGeom prst="rect">
            <a:avLst/>
          </a:prstGeom>
          <a:noFill/>
          <a:ln/>
        </p:spPr>
        <p:txBody>
          <a:bodyPr wrap="square" lIns="0" tIns="0" rIns="0" bIns="0" rtlCol="0" anchor="ctr"/>
          <a:lstStyle/>
          <a:p>
            <a:pPr indent="0" marL="0">
              <a:buNone/>
            </a:pPr>
            <a:r>
              <a:rPr lang="en-US" sz="1100" b="1" spc="140" kern="0" dirty="0">
                <a:solidFill>
                  <a:srgbClr val="5638C9"/>
                </a:solidFill>
                <a:latin typeface="Courier New" pitchFamily="34" charset="0"/>
                <a:ea typeface="Courier New" pitchFamily="34" charset="-122"/>
                <a:cs typeface="Courier New" pitchFamily="34" charset="-120"/>
              </a:rPr>
              <a:t>SESIÓN 04 · CONSENSO, INCENTIVOS Y EL TRILEMA</a:t>
            </a:r>
            <a:endParaRPr lang="en-US" sz="1100" dirty="0"/>
          </a:p>
        </p:txBody>
      </p:sp>
      <p:sp>
        <p:nvSpPr>
          <p:cNvPr id="13" name="Text 10"/>
          <p:cNvSpPr/>
          <p:nvPr/>
        </p:nvSpPr>
        <p:spPr>
          <a:xfrm>
            <a:off x="877824" y="4572000"/>
            <a:ext cx="10436047" cy="109728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Generales bizantinos, prueba de trabajo, prueba de participación, bifurcaciones y finalidad, y el trilema de escalabilidad. Cierra la Unidad I con el QUIZ 1, que evalúa todo lo visto desde la Sesión 1.</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ANEXO · GLOSARIO DE LA SESIÓN · 1 DE 2</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GLOSARIO DE LA SESIÓN</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31</a:t>
            </a:r>
            <a:endParaRPr lang="en-US" sz="900" dirty="0"/>
          </a:p>
        </p:txBody>
      </p:sp>
      <p:sp>
        <p:nvSpPr>
          <p:cNvPr id="8" name="Text 5"/>
          <p:cNvSpPr/>
          <p:nvPr/>
        </p:nvSpPr>
        <p:spPr>
          <a:xfrm>
            <a:off x="566928" y="1719072"/>
            <a:ext cx="11057839" cy="320040"/>
          </a:xfrm>
          <a:prstGeom prst="rect">
            <a:avLst/>
          </a:prstGeom>
          <a:noFill/>
          <a:ln/>
        </p:spPr>
        <p:txBody>
          <a:bodyPr wrap="square" lIns="0" tIns="0" rIns="0" bIns="0" rtlCol="0" anchor="t"/>
          <a:lstStyle/>
          <a:p>
            <a:pPr indent="0" marL="0">
              <a:lnSpc>
                <a:spcPct val="124000"/>
              </a:lnSpc>
              <a:buNone/>
            </a:pPr>
            <a:r>
              <a:rPr lang="en-US" sz="1250" dirty="0">
                <a:solidFill>
                  <a:srgbClr val="6F6B80"/>
                </a:solidFill>
                <a:latin typeface="Arial" pitchFamily="34" charset="0"/>
                <a:ea typeface="Arial" pitchFamily="34" charset="-122"/>
                <a:cs typeface="Arial" pitchFamily="34" charset="-120"/>
              </a:rPr>
              <a:t>Solo los términos que introduce esta sesión. Los de las sesiones 1 y 2 siguen siendo exigibles.</a:t>
            </a:r>
            <a:endParaRPr lang="en-US" sz="1250" dirty="0"/>
          </a:p>
        </p:txBody>
      </p:sp>
      <p:sp>
        <p:nvSpPr>
          <p:cNvPr id="9" name="Text 6"/>
          <p:cNvSpPr/>
          <p:nvPr/>
        </p:nvSpPr>
        <p:spPr>
          <a:xfrm>
            <a:off x="566928" y="2194560"/>
            <a:ext cx="2651760" cy="329184"/>
          </a:xfrm>
          <a:prstGeom prst="rect">
            <a:avLst/>
          </a:prstGeom>
          <a:noFill/>
          <a:ln/>
        </p:spPr>
        <p:txBody>
          <a:bodyPr wrap="square" lIns="0" tIns="0" rIns="0" bIns="0" rtlCol="0" anchor="t"/>
          <a:lstStyle/>
          <a:p>
            <a:pPr indent="0" marL="0">
              <a:lnSpc>
                <a:spcPct val="105000"/>
              </a:lnSpc>
              <a:buNone/>
            </a:pPr>
            <a:r>
              <a:rPr lang="en-US" sz="1050" b="1" dirty="0">
                <a:solidFill>
                  <a:srgbClr val="0F0F11"/>
                </a:solidFill>
                <a:latin typeface="Courier New" pitchFamily="34" charset="0"/>
                <a:ea typeface="Courier New" pitchFamily="34" charset="-122"/>
                <a:cs typeface="Courier New" pitchFamily="34" charset="-120"/>
              </a:rPr>
              <a:t>Autenticidad</a:t>
            </a:r>
            <a:endParaRPr lang="en-US" sz="1050" dirty="0"/>
          </a:p>
        </p:txBody>
      </p:sp>
      <p:sp>
        <p:nvSpPr>
          <p:cNvPr id="10" name="Text 7"/>
          <p:cNvSpPr/>
          <p:nvPr/>
        </p:nvSpPr>
        <p:spPr>
          <a:xfrm>
            <a:off x="5184648" y="2167128"/>
            <a:ext cx="6440119" cy="585216"/>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Garantía de que un mensaje proviene de quien controla una clave concreta.</a:t>
            </a:r>
            <a:endParaRPr lang="en-US" sz="1150" dirty="0"/>
          </a:p>
        </p:txBody>
      </p:sp>
      <p:sp>
        <p:nvSpPr>
          <p:cNvPr id="11" name="Shape 8"/>
          <p:cNvSpPr/>
          <p:nvPr/>
        </p:nvSpPr>
        <p:spPr>
          <a:xfrm>
            <a:off x="566928" y="2075688"/>
            <a:ext cx="11057839" cy="0"/>
          </a:xfrm>
          <a:prstGeom prst="line">
            <a:avLst/>
          </a:prstGeom>
          <a:noFill/>
          <a:ln w="12700">
            <a:solidFill>
              <a:srgbClr val="D9D6E0"/>
            </a:solidFill>
            <a:prstDash val="solid"/>
          </a:ln>
        </p:spPr>
      </p:sp>
      <p:sp>
        <p:nvSpPr>
          <p:cNvPr id="12" name="Text 9"/>
          <p:cNvSpPr/>
          <p:nvPr/>
        </p:nvSpPr>
        <p:spPr>
          <a:xfrm>
            <a:off x="566928" y="2852928"/>
            <a:ext cx="2651760" cy="329184"/>
          </a:xfrm>
          <a:prstGeom prst="rect">
            <a:avLst/>
          </a:prstGeom>
          <a:noFill/>
          <a:ln/>
        </p:spPr>
        <p:txBody>
          <a:bodyPr wrap="square" lIns="0" tIns="0" rIns="0" bIns="0" rtlCol="0" anchor="t"/>
          <a:lstStyle/>
          <a:p>
            <a:pPr indent="0" marL="0">
              <a:lnSpc>
                <a:spcPct val="105000"/>
              </a:lnSpc>
              <a:buNone/>
            </a:pPr>
            <a:r>
              <a:rPr lang="en-US" sz="1050" b="1" dirty="0">
                <a:solidFill>
                  <a:srgbClr val="0F0F11"/>
                </a:solidFill>
                <a:latin typeface="Courier New" pitchFamily="34" charset="0"/>
                <a:ea typeface="Courier New" pitchFamily="34" charset="-122"/>
                <a:cs typeface="Courier New" pitchFamily="34" charset="-120"/>
              </a:rPr>
              <a:t>Cabecera de bloque</a:t>
            </a:r>
            <a:endParaRPr lang="en-US" sz="1050" dirty="0"/>
          </a:p>
        </p:txBody>
      </p:sp>
      <p:sp>
        <p:nvSpPr>
          <p:cNvPr id="13" name="Text 10"/>
          <p:cNvSpPr/>
          <p:nvPr/>
        </p:nvSpPr>
        <p:spPr>
          <a:xfrm>
            <a:off x="3310128" y="2880360"/>
            <a:ext cx="1737360" cy="274320"/>
          </a:xfrm>
          <a:prstGeom prst="rect">
            <a:avLst/>
          </a:prstGeom>
          <a:noFill/>
          <a:ln/>
        </p:spPr>
        <p:txBody>
          <a:bodyPr wrap="square" lIns="0" tIns="0" rIns="0" bIns="0" rtlCol="0" anchor="t"/>
          <a:lstStyle/>
          <a:p>
            <a:pPr indent="0" marL="0">
              <a:buNone/>
            </a:pPr>
            <a:r>
              <a:rPr lang="en-US" sz="900" dirty="0">
                <a:solidFill>
                  <a:srgbClr val="5638C9"/>
                </a:solidFill>
                <a:latin typeface="Courier New" pitchFamily="34" charset="0"/>
                <a:ea typeface="Courier New" pitchFamily="34" charset="-122"/>
                <a:cs typeface="Courier New" pitchFamily="34" charset="-120"/>
              </a:rPr>
              <a:t>block header</a:t>
            </a:r>
            <a:endParaRPr lang="en-US" sz="900" dirty="0"/>
          </a:p>
        </p:txBody>
      </p:sp>
      <p:sp>
        <p:nvSpPr>
          <p:cNvPr id="14" name="Text 11"/>
          <p:cNvSpPr/>
          <p:nvPr/>
        </p:nvSpPr>
        <p:spPr>
          <a:xfrm>
            <a:off x="5184648" y="2825496"/>
            <a:ext cx="6440119" cy="585216"/>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Parte pequeña y de tamaño fijo con el hash del padre, la raíz de Merkle, la marca temporal, la dificultad y el nonce. Es lo único que se hashea.</a:t>
            </a:r>
            <a:endParaRPr lang="en-US" sz="1150" dirty="0"/>
          </a:p>
        </p:txBody>
      </p:sp>
      <p:sp>
        <p:nvSpPr>
          <p:cNvPr id="15" name="Shape 12"/>
          <p:cNvSpPr/>
          <p:nvPr/>
        </p:nvSpPr>
        <p:spPr>
          <a:xfrm>
            <a:off x="566928" y="2734056"/>
            <a:ext cx="11057839" cy="0"/>
          </a:xfrm>
          <a:prstGeom prst="line">
            <a:avLst/>
          </a:prstGeom>
          <a:noFill/>
          <a:ln w="12700">
            <a:solidFill>
              <a:srgbClr val="D9D6E0"/>
            </a:solidFill>
            <a:prstDash val="solid"/>
          </a:ln>
        </p:spPr>
      </p:sp>
      <p:sp>
        <p:nvSpPr>
          <p:cNvPr id="16" name="Text 13"/>
          <p:cNvSpPr/>
          <p:nvPr/>
        </p:nvSpPr>
        <p:spPr>
          <a:xfrm>
            <a:off x="566928" y="3511296"/>
            <a:ext cx="2651760" cy="329184"/>
          </a:xfrm>
          <a:prstGeom prst="rect">
            <a:avLst/>
          </a:prstGeom>
          <a:noFill/>
          <a:ln/>
        </p:spPr>
        <p:txBody>
          <a:bodyPr wrap="square" lIns="0" tIns="0" rIns="0" bIns="0" rtlCol="0" anchor="t"/>
          <a:lstStyle/>
          <a:p>
            <a:pPr indent="0" marL="0">
              <a:lnSpc>
                <a:spcPct val="105000"/>
              </a:lnSpc>
              <a:buNone/>
            </a:pPr>
            <a:r>
              <a:rPr lang="en-US" sz="1050" b="1" dirty="0">
                <a:solidFill>
                  <a:srgbClr val="0F0F11"/>
                </a:solidFill>
                <a:latin typeface="Courier New" pitchFamily="34" charset="0"/>
                <a:ea typeface="Courier New" pitchFamily="34" charset="-122"/>
                <a:cs typeface="Courier New" pitchFamily="34" charset="-120"/>
              </a:rPr>
              <a:t>Clave privada</a:t>
            </a:r>
            <a:endParaRPr lang="en-US" sz="1050" dirty="0"/>
          </a:p>
        </p:txBody>
      </p:sp>
      <p:sp>
        <p:nvSpPr>
          <p:cNvPr id="17" name="Text 14"/>
          <p:cNvSpPr/>
          <p:nvPr/>
        </p:nvSpPr>
        <p:spPr>
          <a:xfrm>
            <a:off x="5184648" y="3483864"/>
            <a:ext cx="6440119" cy="585216"/>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Número entero de 32 bytes sorteado al azar. Quien lo tiene controla los fondos. No se deriva de nada ni se recupera si se pierde.</a:t>
            </a:r>
            <a:endParaRPr lang="en-US" sz="1150" dirty="0"/>
          </a:p>
        </p:txBody>
      </p:sp>
      <p:sp>
        <p:nvSpPr>
          <p:cNvPr id="18" name="Shape 15"/>
          <p:cNvSpPr/>
          <p:nvPr/>
        </p:nvSpPr>
        <p:spPr>
          <a:xfrm>
            <a:off x="566928" y="3392424"/>
            <a:ext cx="11057839" cy="0"/>
          </a:xfrm>
          <a:prstGeom prst="line">
            <a:avLst/>
          </a:prstGeom>
          <a:noFill/>
          <a:ln w="12700">
            <a:solidFill>
              <a:srgbClr val="D9D6E0"/>
            </a:solidFill>
            <a:prstDash val="solid"/>
          </a:ln>
        </p:spPr>
      </p:sp>
      <p:sp>
        <p:nvSpPr>
          <p:cNvPr id="19" name="Text 16"/>
          <p:cNvSpPr/>
          <p:nvPr/>
        </p:nvSpPr>
        <p:spPr>
          <a:xfrm>
            <a:off x="566928" y="4169664"/>
            <a:ext cx="2651760" cy="329184"/>
          </a:xfrm>
          <a:prstGeom prst="rect">
            <a:avLst/>
          </a:prstGeom>
          <a:noFill/>
          <a:ln/>
        </p:spPr>
        <p:txBody>
          <a:bodyPr wrap="square" lIns="0" tIns="0" rIns="0" bIns="0" rtlCol="0" anchor="t"/>
          <a:lstStyle/>
          <a:p>
            <a:pPr indent="0" marL="0">
              <a:lnSpc>
                <a:spcPct val="105000"/>
              </a:lnSpc>
              <a:buNone/>
            </a:pPr>
            <a:r>
              <a:rPr lang="en-US" sz="1050" b="1" dirty="0">
                <a:solidFill>
                  <a:srgbClr val="0F0F11"/>
                </a:solidFill>
                <a:latin typeface="Courier New" pitchFamily="34" charset="0"/>
                <a:ea typeface="Courier New" pitchFamily="34" charset="-122"/>
                <a:cs typeface="Courier New" pitchFamily="34" charset="-120"/>
              </a:rPr>
              <a:t>Clave pública</a:t>
            </a:r>
            <a:endParaRPr lang="en-US" sz="1050" dirty="0"/>
          </a:p>
        </p:txBody>
      </p:sp>
      <p:sp>
        <p:nvSpPr>
          <p:cNvPr id="20" name="Text 17"/>
          <p:cNvSpPr/>
          <p:nvPr/>
        </p:nvSpPr>
        <p:spPr>
          <a:xfrm>
            <a:off x="5184648" y="4142232"/>
            <a:ext cx="6440119" cy="585216"/>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Punto de la curva obtenido multiplicando el generador por la clave privada. Son 64 bytes. Publicarla no compromete nada.</a:t>
            </a:r>
            <a:endParaRPr lang="en-US" sz="1150" dirty="0"/>
          </a:p>
        </p:txBody>
      </p:sp>
      <p:sp>
        <p:nvSpPr>
          <p:cNvPr id="21" name="Shape 18"/>
          <p:cNvSpPr/>
          <p:nvPr/>
        </p:nvSpPr>
        <p:spPr>
          <a:xfrm>
            <a:off x="566928" y="4050792"/>
            <a:ext cx="11057839" cy="0"/>
          </a:xfrm>
          <a:prstGeom prst="line">
            <a:avLst/>
          </a:prstGeom>
          <a:noFill/>
          <a:ln w="12700">
            <a:solidFill>
              <a:srgbClr val="D9D6E0"/>
            </a:solidFill>
            <a:prstDash val="solid"/>
          </a:ln>
        </p:spPr>
      </p:sp>
      <p:sp>
        <p:nvSpPr>
          <p:cNvPr id="22" name="Text 19"/>
          <p:cNvSpPr/>
          <p:nvPr/>
        </p:nvSpPr>
        <p:spPr>
          <a:xfrm>
            <a:off x="566928" y="4828032"/>
            <a:ext cx="2651760" cy="329184"/>
          </a:xfrm>
          <a:prstGeom prst="rect">
            <a:avLst/>
          </a:prstGeom>
          <a:noFill/>
          <a:ln/>
        </p:spPr>
        <p:txBody>
          <a:bodyPr wrap="square" lIns="0" tIns="0" rIns="0" bIns="0" rtlCol="0" anchor="t"/>
          <a:lstStyle/>
          <a:p>
            <a:pPr indent="0" marL="0">
              <a:lnSpc>
                <a:spcPct val="105000"/>
              </a:lnSpc>
              <a:buNone/>
            </a:pPr>
            <a:r>
              <a:rPr lang="en-US" sz="1050" b="1" dirty="0">
                <a:solidFill>
                  <a:srgbClr val="0F0F11"/>
                </a:solidFill>
                <a:latin typeface="Courier New" pitchFamily="34" charset="0"/>
                <a:ea typeface="Courier New" pitchFamily="34" charset="-122"/>
                <a:cs typeface="Courier New" pitchFamily="34" charset="-120"/>
              </a:rPr>
              <a:t>ECDSA</a:t>
            </a:r>
            <a:endParaRPr lang="en-US" sz="1050" dirty="0"/>
          </a:p>
        </p:txBody>
      </p:sp>
      <p:sp>
        <p:nvSpPr>
          <p:cNvPr id="23" name="Text 20"/>
          <p:cNvSpPr/>
          <p:nvPr/>
        </p:nvSpPr>
        <p:spPr>
          <a:xfrm>
            <a:off x="3310128" y="4855464"/>
            <a:ext cx="1737360" cy="274320"/>
          </a:xfrm>
          <a:prstGeom prst="rect">
            <a:avLst/>
          </a:prstGeom>
          <a:noFill/>
          <a:ln/>
        </p:spPr>
        <p:txBody>
          <a:bodyPr wrap="square" lIns="0" tIns="0" rIns="0" bIns="0" rtlCol="0" anchor="t"/>
          <a:lstStyle/>
          <a:p>
            <a:pPr indent="0" marL="0">
              <a:buNone/>
            </a:pPr>
            <a:r>
              <a:rPr lang="en-US" sz="900" dirty="0">
                <a:solidFill>
                  <a:srgbClr val="5638C9"/>
                </a:solidFill>
                <a:latin typeface="Courier New" pitchFamily="34" charset="0"/>
                <a:ea typeface="Courier New" pitchFamily="34" charset="-122"/>
                <a:cs typeface="Courier New" pitchFamily="34" charset="-120"/>
              </a:rPr>
              <a:t>Elliptic Curve DSA</a:t>
            </a:r>
            <a:endParaRPr lang="en-US" sz="900" dirty="0"/>
          </a:p>
        </p:txBody>
      </p:sp>
      <p:sp>
        <p:nvSpPr>
          <p:cNvPr id="24" name="Text 21"/>
          <p:cNvSpPr/>
          <p:nvPr/>
        </p:nvSpPr>
        <p:spPr>
          <a:xfrm>
            <a:off x="5184648" y="4800600"/>
            <a:ext cx="6440119" cy="585216"/>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Algoritmo de firma sobre curva elíptica. Produce un par (r, s) de 64 bytes a partir del hash del mensaje y la clave privada.</a:t>
            </a:r>
            <a:endParaRPr lang="en-US" sz="1150" dirty="0"/>
          </a:p>
        </p:txBody>
      </p:sp>
      <p:sp>
        <p:nvSpPr>
          <p:cNvPr id="25" name="Shape 22"/>
          <p:cNvSpPr/>
          <p:nvPr/>
        </p:nvSpPr>
        <p:spPr>
          <a:xfrm>
            <a:off x="566928" y="4709160"/>
            <a:ext cx="11057839" cy="0"/>
          </a:xfrm>
          <a:prstGeom prst="line">
            <a:avLst/>
          </a:prstGeom>
          <a:noFill/>
          <a:ln w="12700">
            <a:solidFill>
              <a:srgbClr val="D9D6E0"/>
            </a:solidFill>
            <a:prstDash val="solid"/>
          </a:ln>
        </p:spPr>
      </p:sp>
      <p:sp>
        <p:nvSpPr>
          <p:cNvPr id="26" name="Text 23"/>
          <p:cNvSpPr/>
          <p:nvPr/>
        </p:nvSpPr>
        <p:spPr>
          <a:xfrm>
            <a:off x="566928" y="5486400"/>
            <a:ext cx="2651760" cy="329184"/>
          </a:xfrm>
          <a:prstGeom prst="rect">
            <a:avLst/>
          </a:prstGeom>
          <a:noFill/>
          <a:ln/>
        </p:spPr>
        <p:txBody>
          <a:bodyPr wrap="square" lIns="0" tIns="0" rIns="0" bIns="0" rtlCol="0" anchor="t"/>
          <a:lstStyle/>
          <a:p>
            <a:pPr indent="0" marL="0">
              <a:lnSpc>
                <a:spcPct val="105000"/>
              </a:lnSpc>
              <a:buNone/>
            </a:pPr>
            <a:r>
              <a:rPr lang="en-US" sz="1050" b="1" dirty="0">
                <a:solidFill>
                  <a:srgbClr val="0F0F11"/>
                </a:solidFill>
                <a:latin typeface="Courier New" pitchFamily="34" charset="0"/>
                <a:ea typeface="Courier New" pitchFamily="34" charset="-122"/>
                <a:cs typeface="Courier New" pitchFamily="34" charset="-120"/>
              </a:rPr>
              <a:t>EIP-55</a:t>
            </a:r>
            <a:endParaRPr lang="en-US" sz="1050" dirty="0"/>
          </a:p>
        </p:txBody>
      </p:sp>
      <p:sp>
        <p:nvSpPr>
          <p:cNvPr id="27" name="Text 24"/>
          <p:cNvSpPr/>
          <p:nvPr/>
        </p:nvSpPr>
        <p:spPr>
          <a:xfrm>
            <a:off x="5184648" y="5458968"/>
            <a:ext cx="6440119" cy="585216"/>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Convención que codifica una suma de verificación en el patrón de mayúsculas de una dirección, sin ocupar espacio adicional.</a:t>
            </a:r>
            <a:endParaRPr lang="en-US" sz="1150" dirty="0"/>
          </a:p>
        </p:txBody>
      </p:sp>
      <p:sp>
        <p:nvSpPr>
          <p:cNvPr id="28" name="Shape 25"/>
          <p:cNvSpPr/>
          <p:nvPr/>
        </p:nvSpPr>
        <p:spPr>
          <a:xfrm>
            <a:off x="566928" y="5367528"/>
            <a:ext cx="11057839" cy="0"/>
          </a:xfrm>
          <a:prstGeom prst="line">
            <a:avLst/>
          </a:prstGeom>
          <a:noFill/>
          <a:ln w="12700">
            <a:solidFill>
              <a:srgbClr val="D9D6E0"/>
            </a:solidFill>
            <a:prstDash val="solid"/>
          </a:ln>
        </p:spPr>
      </p:sp>
      <p:sp>
        <p:nvSpPr>
          <p:cNvPr id="29" name="Shape 26"/>
          <p:cNvSpPr/>
          <p:nvPr/>
        </p:nvSpPr>
        <p:spPr>
          <a:xfrm>
            <a:off x="566928" y="6025896"/>
            <a:ext cx="11057839" cy="0"/>
          </a:xfrm>
          <a:prstGeom prst="line">
            <a:avLst/>
          </a:prstGeom>
          <a:noFill/>
          <a:ln w="12700">
            <a:solidFill>
              <a:srgbClr val="D9D6E0"/>
            </a:solidFill>
            <a:prstDash val="solid"/>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ANEXO · GLOSARIO DE LA SESIÓN · 2 DE 2</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GLOSARIO · CONTINUACIÓN</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32</a:t>
            </a:r>
            <a:endParaRPr lang="en-US" sz="900" dirty="0"/>
          </a:p>
        </p:txBody>
      </p:sp>
      <p:sp>
        <p:nvSpPr>
          <p:cNvPr id="8" name="Text 5"/>
          <p:cNvSpPr/>
          <p:nvPr/>
        </p:nvSpPr>
        <p:spPr>
          <a:xfrm>
            <a:off x="566928" y="1828800"/>
            <a:ext cx="2651760" cy="329184"/>
          </a:xfrm>
          <a:prstGeom prst="rect">
            <a:avLst/>
          </a:prstGeom>
          <a:noFill/>
          <a:ln/>
        </p:spPr>
        <p:txBody>
          <a:bodyPr wrap="square" lIns="0" tIns="0" rIns="0" bIns="0" rtlCol="0" anchor="t"/>
          <a:lstStyle/>
          <a:p>
            <a:pPr indent="0" marL="0">
              <a:lnSpc>
                <a:spcPct val="105000"/>
              </a:lnSpc>
              <a:buNone/>
            </a:pPr>
            <a:r>
              <a:rPr lang="en-US" sz="1050" b="1" dirty="0">
                <a:solidFill>
                  <a:srgbClr val="0F0F11"/>
                </a:solidFill>
                <a:latin typeface="Courier New" pitchFamily="34" charset="0"/>
                <a:ea typeface="Courier New" pitchFamily="34" charset="-122"/>
                <a:cs typeface="Courier New" pitchFamily="34" charset="-120"/>
              </a:rPr>
              <a:t>Logaritmo discreto elíptico</a:t>
            </a:r>
            <a:endParaRPr lang="en-US" sz="1050" dirty="0"/>
          </a:p>
        </p:txBody>
      </p:sp>
      <p:sp>
        <p:nvSpPr>
          <p:cNvPr id="9" name="Text 6"/>
          <p:cNvSpPr/>
          <p:nvPr/>
        </p:nvSpPr>
        <p:spPr>
          <a:xfrm>
            <a:off x="5184648" y="1801368"/>
            <a:ext cx="6440119" cy="585216"/>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Recuperar k dados P = k·G y G. Calcular P es barato; recuperar k es inviable. Esa asimetría sostiene toda la criptografía de clave pública del curso.</a:t>
            </a:r>
            <a:endParaRPr lang="en-US" sz="1150" dirty="0"/>
          </a:p>
        </p:txBody>
      </p:sp>
      <p:sp>
        <p:nvSpPr>
          <p:cNvPr id="10" name="Shape 7"/>
          <p:cNvSpPr/>
          <p:nvPr/>
        </p:nvSpPr>
        <p:spPr>
          <a:xfrm>
            <a:off x="566928" y="1709928"/>
            <a:ext cx="11057839" cy="0"/>
          </a:xfrm>
          <a:prstGeom prst="line">
            <a:avLst/>
          </a:prstGeom>
          <a:noFill/>
          <a:ln w="12700">
            <a:solidFill>
              <a:srgbClr val="D9D6E0"/>
            </a:solidFill>
            <a:prstDash val="solid"/>
          </a:ln>
        </p:spPr>
      </p:sp>
      <p:sp>
        <p:nvSpPr>
          <p:cNvPr id="11" name="Text 8"/>
          <p:cNvSpPr/>
          <p:nvPr/>
        </p:nvSpPr>
        <p:spPr>
          <a:xfrm>
            <a:off x="566928" y="2487168"/>
            <a:ext cx="2651760" cy="329184"/>
          </a:xfrm>
          <a:prstGeom prst="rect">
            <a:avLst/>
          </a:prstGeom>
          <a:noFill/>
          <a:ln/>
        </p:spPr>
        <p:txBody>
          <a:bodyPr wrap="square" lIns="0" tIns="0" rIns="0" bIns="0" rtlCol="0" anchor="t"/>
          <a:lstStyle/>
          <a:p>
            <a:pPr indent="0" marL="0">
              <a:lnSpc>
                <a:spcPct val="105000"/>
              </a:lnSpc>
              <a:buNone/>
            </a:pPr>
            <a:r>
              <a:rPr lang="en-US" sz="1050" b="1" dirty="0">
                <a:solidFill>
                  <a:srgbClr val="0F0F11"/>
                </a:solidFill>
                <a:latin typeface="Courier New" pitchFamily="34" charset="0"/>
                <a:ea typeface="Courier New" pitchFamily="34" charset="-122"/>
                <a:cs typeface="Courier New" pitchFamily="34" charset="-120"/>
              </a:rPr>
              <a:t>Mempool</a:t>
            </a:r>
            <a:endParaRPr lang="en-US" sz="1050" dirty="0"/>
          </a:p>
        </p:txBody>
      </p:sp>
      <p:sp>
        <p:nvSpPr>
          <p:cNvPr id="12" name="Text 9"/>
          <p:cNvSpPr/>
          <p:nvPr/>
        </p:nvSpPr>
        <p:spPr>
          <a:xfrm>
            <a:off x="3310128" y="2514600"/>
            <a:ext cx="1737360" cy="274320"/>
          </a:xfrm>
          <a:prstGeom prst="rect">
            <a:avLst/>
          </a:prstGeom>
          <a:noFill/>
          <a:ln/>
        </p:spPr>
        <p:txBody>
          <a:bodyPr wrap="square" lIns="0" tIns="0" rIns="0" bIns="0" rtlCol="0" anchor="t"/>
          <a:lstStyle/>
          <a:p>
            <a:pPr indent="0" marL="0">
              <a:buNone/>
            </a:pPr>
            <a:r>
              <a:rPr lang="en-US" sz="900" dirty="0">
                <a:solidFill>
                  <a:srgbClr val="5638C9"/>
                </a:solidFill>
                <a:latin typeface="Courier New" pitchFamily="34" charset="0"/>
                <a:ea typeface="Courier New" pitchFamily="34" charset="-122"/>
                <a:cs typeface="Courier New" pitchFamily="34" charset="-120"/>
              </a:rPr>
              <a:t>memory pool</a:t>
            </a:r>
            <a:endParaRPr lang="en-US" sz="900" dirty="0"/>
          </a:p>
        </p:txBody>
      </p:sp>
      <p:sp>
        <p:nvSpPr>
          <p:cNvPr id="13" name="Text 10"/>
          <p:cNvSpPr/>
          <p:nvPr/>
        </p:nvSpPr>
        <p:spPr>
          <a:xfrm>
            <a:off x="5184648" y="2459736"/>
            <a:ext cx="6440119" cy="585216"/>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Transacciones que un nodo considera válidas pero que aún no están en ningún bloque. Público, distinto en cada nodo, y sin garantía de inclusión.</a:t>
            </a:r>
            <a:endParaRPr lang="en-US" sz="1150" dirty="0"/>
          </a:p>
        </p:txBody>
      </p:sp>
      <p:sp>
        <p:nvSpPr>
          <p:cNvPr id="14" name="Shape 11"/>
          <p:cNvSpPr/>
          <p:nvPr/>
        </p:nvSpPr>
        <p:spPr>
          <a:xfrm>
            <a:off x="566928" y="2368296"/>
            <a:ext cx="11057839" cy="0"/>
          </a:xfrm>
          <a:prstGeom prst="line">
            <a:avLst/>
          </a:prstGeom>
          <a:noFill/>
          <a:ln w="12700">
            <a:solidFill>
              <a:srgbClr val="D9D6E0"/>
            </a:solidFill>
            <a:prstDash val="solid"/>
          </a:ln>
        </p:spPr>
      </p:sp>
      <p:sp>
        <p:nvSpPr>
          <p:cNvPr id="15" name="Text 12"/>
          <p:cNvSpPr/>
          <p:nvPr/>
        </p:nvSpPr>
        <p:spPr>
          <a:xfrm>
            <a:off x="566928" y="3145536"/>
            <a:ext cx="2651760" cy="329184"/>
          </a:xfrm>
          <a:prstGeom prst="rect">
            <a:avLst/>
          </a:prstGeom>
          <a:noFill/>
          <a:ln/>
        </p:spPr>
        <p:txBody>
          <a:bodyPr wrap="square" lIns="0" tIns="0" rIns="0" bIns="0" rtlCol="0" anchor="t"/>
          <a:lstStyle/>
          <a:p>
            <a:pPr indent="0" marL="0">
              <a:lnSpc>
                <a:spcPct val="105000"/>
              </a:lnSpc>
              <a:buNone/>
            </a:pPr>
            <a:r>
              <a:rPr lang="en-US" sz="1050" b="1" dirty="0">
                <a:solidFill>
                  <a:srgbClr val="0F0F11"/>
                </a:solidFill>
                <a:latin typeface="Courier New" pitchFamily="34" charset="0"/>
                <a:ea typeface="Courier New" pitchFamily="34" charset="-122"/>
                <a:cs typeface="Courier New" pitchFamily="34" charset="-120"/>
              </a:rPr>
              <a:t>No repudio</a:t>
            </a:r>
            <a:endParaRPr lang="en-US" sz="1050" dirty="0"/>
          </a:p>
        </p:txBody>
      </p:sp>
      <p:sp>
        <p:nvSpPr>
          <p:cNvPr id="16" name="Text 13"/>
          <p:cNvSpPr/>
          <p:nvPr/>
        </p:nvSpPr>
        <p:spPr>
          <a:xfrm>
            <a:off x="5184648" y="3118104"/>
            <a:ext cx="6440119" cy="585216"/>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Imposibilidad de negar haber firmado. Es una propiedad técnica sobre la clave, no una prueba jurídica sobre la persona.</a:t>
            </a:r>
            <a:endParaRPr lang="en-US" sz="1150" dirty="0"/>
          </a:p>
        </p:txBody>
      </p:sp>
      <p:sp>
        <p:nvSpPr>
          <p:cNvPr id="17" name="Shape 14"/>
          <p:cNvSpPr/>
          <p:nvPr/>
        </p:nvSpPr>
        <p:spPr>
          <a:xfrm>
            <a:off x="566928" y="3026664"/>
            <a:ext cx="11057839" cy="0"/>
          </a:xfrm>
          <a:prstGeom prst="line">
            <a:avLst/>
          </a:prstGeom>
          <a:noFill/>
          <a:ln w="12700">
            <a:solidFill>
              <a:srgbClr val="D9D6E0"/>
            </a:solidFill>
            <a:prstDash val="solid"/>
          </a:ln>
        </p:spPr>
      </p:sp>
      <p:sp>
        <p:nvSpPr>
          <p:cNvPr id="18" name="Text 15"/>
          <p:cNvSpPr/>
          <p:nvPr/>
        </p:nvSpPr>
        <p:spPr>
          <a:xfrm>
            <a:off x="566928" y="3803904"/>
            <a:ext cx="2651760" cy="329184"/>
          </a:xfrm>
          <a:prstGeom prst="rect">
            <a:avLst/>
          </a:prstGeom>
          <a:noFill/>
          <a:ln/>
        </p:spPr>
        <p:txBody>
          <a:bodyPr wrap="square" lIns="0" tIns="0" rIns="0" bIns="0" rtlCol="0" anchor="t"/>
          <a:lstStyle/>
          <a:p>
            <a:pPr indent="0" marL="0">
              <a:lnSpc>
                <a:spcPct val="105000"/>
              </a:lnSpc>
              <a:buNone/>
            </a:pPr>
            <a:r>
              <a:rPr lang="en-US" sz="1050" b="1" dirty="0">
                <a:solidFill>
                  <a:srgbClr val="0F0F11"/>
                </a:solidFill>
                <a:latin typeface="Courier New" pitchFamily="34" charset="0"/>
                <a:ea typeface="Courier New" pitchFamily="34" charset="-122"/>
                <a:cs typeface="Courier New" pitchFamily="34" charset="-120"/>
              </a:rPr>
              <a:t>Propagación por rumor</a:t>
            </a:r>
            <a:endParaRPr lang="en-US" sz="1050" dirty="0"/>
          </a:p>
        </p:txBody>
      </p:sp>
      <p:sp>
        <p:nvSpPr>
          <p:cNvPr id="19" name="Text 16"/>
          <p:cNvSpPr/>
          <p:nvPr/>
        </p:nvSpPr>
        <p:spPr>
          <a:xfrm>
            <a:off x="3310128" y="3831336"/>
            <a:ext cx="1737360" cy="274320"/>
          </a:xfrm>
          <a:prstGeom prst="rect">
            <a:avLst/>
          </a:prstGeom>
          <a:noFill/>
          <a:ln/>
        </p:spPr>
        <p:txBody>
          <a:bodyPr wrap="square" lIns="0" tIns="0" rIns="0" bIns="0" rtlCol="0" anchor="t"/>
          <a:lstStyle/>
          <a:p>
            <a:pPr indent="0" marL="0">
              <a:buNone/>
            </a:pPr>
            <a:r>
              <a:rPr lang="en-US" sz="900" dirty="0">
                <a:solidFill>
                  <a:srgbClr val="5638C9"/>
                </a:solidFill>
                <a:latin typeface="Courier New" pitchFamily="34" charset="0"/>
                <a:ea typeface="Courier New" pitchFamily="34" charset="-122"/>
                <a:cs typeface="Courier New" pitchFamily="34" charset="-120"/>
              </a:rPr>
              <a:t>gossip</a:t>
            </a:r>
            <a:endParaRPr lang="en-US" sz="900" dirty="0"/>
          </a:p>
        </p:txBody>
      </p:sp>
      <p:sp>
        <p:nvSpPr>
          <p:cNvPr id="20" name="Text 17"/>
          <p:cNvSpPr/>
          <p:nvPr/>
        </p:nvSpPr>
        <p:spPr>
          <a:xfrm>
            <a:off x="5184648" y="3776472"/>
            <a:ext cx="6440119" cy="585216"/>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Cada nodo reenvía a sus vecinos lo que recibe y valida. No requiere servidor ni conocer la topología.</a:t>
            </a:r>
            <a:endParaRPr lang="en-US" sz="1150" dirty="0"/>
          </a:p>
        </p:txBody>
      </p:sp>
      <p:sp>
        <p:nvSpPr>
          <p:cNvPr id="21" name="Shape 18"/>
          <p:cNvSpPr/>
          <p:nvPr/>
        </p:nvSpPr>
        <p:spPr>
          <a:xfrm>
            <a:off x="566928" y="3685032"/>
            <a:ext cx="11057839" cy="0"/>
          </a:xfrm>
          <a:prstGeom prst="line">
            <a:avLst/>
          </a:prstGeom>
          <a:noFill/>
          <a:ln w="12700">
            <a:solidFill>
              <a:srgbClr val="D9D6E0"/>
            </a:solidFill>
            <a:prstDash val="solid"/>
          </a:ln>
        </p:spPr>
      </p:sp>
      <p:sp>
        <p:nvSpPr>
          <p:cNvPr id="22" name="Text 19"/>
          <p:cNvSpPr/>
          <p:nvPr/>
        </p:nvSpPr>
        <p:spPr>
          <a:xfrm>
            <a:off x="566928" y="4462272"/>
            <a:ext cx="2651760" cy="329184"/>
          </a:xfrm>
          <a:prstGeom prst="rect">
            <a:avLst/>
          </a:prstGeom>
          <a:noFill/>
          <a:ln/>
        </p:spPr>
        <p:txBody>
          <a:bodyPr wrap="square" lIns="0" tIns="0" rIns="0" bIns="0" rtlCol="0" anchor="t"/>
          <a:lstStyle/>
          <a:p>
            <a:pPr indent="0" marL="0">
              <a:lnSpc>
                <a:spcPct val="105000"/>
              </a:lnSpc>
              <a:buNone/>
            </a:pPr>
            <a:r>
              <a:rPr lang="en-US" sz="1050" b="1" dirty="0">
                <a:solidFill>
                  <a:srgbClr val="0F0F11"/>
                </a:solidFill>
                <a:latin typeface="Courier New" pitchFamily="34" charset="0"/>
                <a:ea typeface="Courier New" pitchFamily="34" charset="-122"/>
                <a:cs typeface="Courier New" pitchFamily="34" charset="-120"/>
              </a:rPr>
              <a:t>secp256k1</a:t>
            </a:r>
            <a:endParaRPr lang="en-US" sz="1050" dirty="0"/>
          </a:p>
        </p:txBody>
      </p:sp>
      <p:sp>
        <p:nvSpPr>
          <p:cNvPr id="23" name="Text 20"/>
          <p:cNvSpPr/>
          <p:nvPr/>
        </p:nvSpPr>
        <p:spPr>
          <a:xfrm>
            <a:off x="5184648" y="4434840"/>
            <a:ext cx="6440119" cy="585216"/>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Curva elíptica de Bitcoin y Ethereum: y² = x³ + 7 sobre un cuerpo finito, con generador y orden fijados por el estándar.</a:t>
            </a:r>
            <a:endParaRPr lang="en-US" sz="1150" dirty="0"/>
          </a:p>
        </p:txBody>
      </p:sp>
      <p:sp>
        <p:nvSpPr>
          <p:cNvPr id="24" name="Shape 21"/>
          <p:cNvSpPr/>
          <p:nvPr/>
        </p:nvSpPr>
        <p:spPr>
          <a:xfrm>
            <a:off x="566928" y="4343400"/>
            <a:ext cx="11057839" cy="0"/>
          </a:xfrm>
          <a:prstGeom prst="line">
            <a:avLst/>
          </a:prstGeom>
          <a:noFill/>
          <a:ln w="12700">
            <a:solidFill>
              <a:srgbClr val="D9D6E0"/>
            </a:solidFill>
            <a:prstDash val="solid"/>
          </a:ln>
        </p:spPr>
      </p:sp>
      <p:sp>
        <p:nvSpPr>
          <p:cNvPr id="25" name="Text 22"/>
          <p:cNvSpPr/>
          <p:nvPr/>
        </p:nvSpPr>
        <p:spPr>
          <a:xfrm>
            <a:off x="566928" y="5120640"/>
            <a:ext cx="2651760" cy="329184"/>
          </a:xfrm>
          <a:prstGeom prst="rect">
            <a:avLst/>
          </a:prstGeom>
          <a:noFill/>
          <a:ln/>
        </p:spPr>
        <p:txBody>
          <a:bodyPr wrap="square" lIns="0" tIns="0" rIns="0" bIns="0" rtlCol="0" anchor="t"/>
          <a:lstStyle/>
          <a:p>
            <a:pPr indent="0" marL="0">
              <a:lnSpc>
                <a:spcPct val="105000"/>
              </a:lnSpc>
              <a:buNone/>
            </a:pPr>
            <a:r>
              <a:rPr lang="en-US" sz="1050" b="1" dirty="0">
                <a:solidFill>
                  <a:srgbClr val="0F0F11"/>
                </a:solidFill>
                <a:latin typeface="Courier New" pitchFamily="34" charset="0"/>
                <a:ea typeface="Courier New" pitchFamily="34" charset="-122"/>
                <a:cs typeface="Courier New" pitchFamily="34" charset="-120"/>
              </a:rPr>
              <a:t>Serialización determinista</a:t>
            </a:r>
            <a:endParaRPr lang="en-US" sz="1050" dirty="0"/>
          </a:p>
        </p:txBody>
      </p:sp>
      <p:sp>
        <p:nvSpPr>
          <p:cNvPr id="26" name="Text 23"/>
          <p:cNvSpPr/>
          <p:nvPr/>
        </p:nvSpPr>
        <p:spPr>
          <a:xfrm>
            <a:off x="5184648" y="5093208"/>
            <a:ext cx="6440119" cy="585216"/>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Representación en bytes que siempre produce la misma salida para los mismos datos. Condición necesaria para que la firma verifique en todos los nodos.</a:t>
            </a:r>
            <a:endParaRPr lang="en-US" sz="1150" dirty="0"/>
          </a:p>
        </p:txBody>
      </p:sp>
      <p:sp>
        <p:nvSpPr>
          <p:cNvPr id="27" name="Shape 24"/>
          <p:cNvSpPr/>
          <p:nvPr/>
        </p:nvSpPr>
        <p:spPr>
          <a:xfrm>
            <a:off x="566928" y="5001768"/>
            <a:ext cx="11057839" cy="0"/>
          </a:xfrm>
          <a:prstGeom prst="line">
            <a:avLst/>
          </a:prstGeom>
          <a:noFill/>
          <a:ln w="12700">
            <a:solidFill>
              <a:srgbClr val="D9D6E0"/>
            </a:solidFill>
            <a:prstDash val="solid"/>
          </a:ln>
        </p:spPr>
      </p:sp>
      <p:sp>
        <p:nvSpPr>
          <p:cNvPr id="28" name="Shape 25"/>
          <p:cNvSpPr/>
          <p:nvPr/>
        </p:nvSpPr>
        <p:spPr>
          <a:xfrm>
            <a:off x="566928" y="5660136"/>
            <a:ext cx="11057839" cy="0"/>
          </a:xfrm>
          <a:prstGeom prst="line">
            <a:avLst/>
          </a:prstGeom>
          <a:noFill/>
          <a:ln w="12700">
            <a:solidFill>
              <a:srgbClr val="D9D6E0"/>
            </a:solidFill>
            <a:prstDash val="solid"/>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ANEXO · FUENTES Y LECTURAS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FUENTES</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03 · FIRMAS DIGITALES Y ANATOMÍA DE LA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33</a:t>
            </a:r>
            <a:endParaRPr lang="en-US" sz="900" dirty="0"/>
          </a:p>
        </p:txBody>
      </p:sp>
      <p:sp>
        <p:nvSpPr>
          <p:cNvPr id="8" name="Shape 5"/>
          <p:cNvSpPr/>
          <p:nvPr/>
        </p:nvSpPr>
        <p:spPr>
          <a:xfrm>
            <a:off x="566928" y="1783080"/>
            <a:ext cx="11057839" cy="1847088"/>
          </a:xfrm>
          <a:prstGeom prst="rect">
            <a:avLst/>
          </a:prstGeom>
          <a:solidFill>
            <a:srgbClr val="FFFFFF"/>
          </a:solidFill>
          <a:ln w="22225">
            <a:solidFill>
              <a:srgbClr val="0F0F11"/>
            </a:solidFill>
            <a:prstDash val="solid"/>
          </a:ln>
        </p:spPr>
      </p:sp>
      <p:sp>
        <p:nvSpPr>
          <p:cNvPr id="9" name="Text 6"/>
          <p:cNvSpPr/>
          <p:nvPr/>
        </p:nvSpPr>
        <p:spPr>
          <a:xfrm>
            <a:off x="841248" y="1892808"/>
            <a:ext cx="5486400" cy="274320"/>
          </a:xfrm>
          <a:prstGeom prst="rect">
            <a:avLst/>
          </a:prstGeom>
          <a:noFill/>
          <a:ln/>
        </p:spPr>
        <p:txBody>
          <a:bodyPr wrap="square" lIns="0" tIns="0" rIns="0" bIns="0" rtlCol="0" anchor="ctr"/>
          <a:lstStyle/>
          <a:p>
            <a:pPr indent="0" marL="0">
              <a:buNone/>
            </a:pPr>
            <a:r>
              <a:rPr lang="en-US" sz="1000" b="1" spc="130" kern="0" dirty="0">
                <a:solidFill>
                  <a:srgbClr val="A35604"/>
                </a:solidFill>
                <a:latin typeface="Courier New" pitchFamily="34" charset="0"/>
                <a:ea typeface="Courier New" pitchFamily="34" charset="-122"/>
                <a:cs typeface="Courier New" pitchFamily="34" charset="-120"/>
              </a:rPr>
              <a:t>FUENTES PRIMARIAS</a:t>
            </a:r>
            <a:endParaRPr lang="en-US" sz="1000" dirty="0"/>
          </a:p>
        </p:txBody>
      </p:sp>
      <p:sp>
        <p:nvSpPr>
          <p:cNvPr id="10" name="Text 7"/>
          <p:cNvSpPr/>
          <p:nvPr/>
        </p:nvSpPr>
        <p:spPr>
          <a:xfrm>
            <a:off x="841248" y="2203704"/>
            <a:ext cx="10509199" cy="1371600"/>
          </a:xfrm>
          <a:prstGeom prst="rect">
            <a:avLst/>
          </a:prstGeom>
          <a:noFill/>
          <a:ln/>
        </p:spPr>
        <p:txBody>
          <a:bodyPr wrap="square" lIns="0" tIns="0" rIns="0" bIns="0" rtlCol="0" anchor="t"/>
          <a:lstStyle/>
          <a:p>
            <a:pPr marL="203200" indent="-203200">
              <a:lnSpc>
                <a:spcPct val="118000"/>
              </a:lnSpc>
              <a:spcAft>
                <a:spcPts val="300"/>
              </a:spcAft>
              <a:buSzPct val="100000"/>
              <a:buChar char="■"/>
            </a:pPr>
            <a:r>
              <a:rPr lang="en-US" sz="1200" dirty="0">
                <a:solidFill>
                  <a:srgbClr val="3A3844"/>
                </a:solidFill>
                <a:latin typeface="Arial" pitchFamily="34" charset="0"/>
                <a:ea typeface="Arial" pitchFamily="34" charset="-122"/>
                <a:cs typeface="Arial" pitchFamily="34" charset="-120"/>
              </a:rPr>
              <a:t>Diffie, W. y Hellman, M. (1976). New Directions in Cryptography.</a:t>
            </a:r>
            <a:endParaRPr lang="en-US" sz="1200" dirty="0"/>
          </a:p>
          <a:p>
            <a:pPr marL="203200" indent="-203200">
              <a:lnSpc>
                <a:spcPct val="118000"/>
              </a:lnSpc>
              <a:spcAft>
                <a:spcPts val="300"/>
              </a:spcAft>
              <a:buSzPct val="100000"/>
              <a:buChar char="■"/>
            </a:pPr>
            <a:r>
              <a:rPr lang="en-US" sz="1200" dirty="0">
                <a:solidFill>
                  <a:srgbClr val="3A3844"/>
                </a:solidFill>
                <a:latin typeface="Arial" pitchFamily="34" charset="0"/>
                <a:ea typeface="Arial" pitchFamily="34" charset="-122"/>
                <a:cs typeface="Arial" pitchFamily="34" charset="-120"/>
              </a:rPr>
              <a:t>Estándar SEC 2 — define secp256k1.</a:t>
            </a:r>
            <a:endParaRPr lang="en-US" sz="1200" dirty="0"/>
          </a:p>
          <a:p>
            <a:pPr marL="203200" indent="-203200">
              <a:lnSpc>
                <a:spcPct val="118000"/>
              </a:lnSpc>
              <a:spcAft>
                <a:spcPts val="300"/>
              </a:spcAft>
              <a:buSzPct val="100000"/>
              <a:buChar char="■"/>
            </a:pPr>
            <a:r>
              <a:rPr lang="en-US" sz="1200" dirty="0">
                <a:solidFill>
                  <a:srgbClr val="3A3844"/>
                </a:solidFill>
                <a:latin typeface="Arial" pitchFamily="34" charset="0"/>
                <a:ea typeface="Arial" pitchFamily="34" charset="-122"/>
                <a:cs typeface="Arial" pitchFamily="34" charset="-120"/>
              </a:rPr>
              <a:t>RFC 6979 — uso determinista de DSA y ECDSA.</a:t>
            </a:r>
            <a:endParaRPr lang="en-US" sz="1200" dirty="0"/>
          </a:p>
          <a:p>
            <a:pPr marL="203200" indent="-203200">
              <a:lnSpc>
                <a:spcPct val="118000"/>
              </a:lnSpc>
              <a:spcAft>
                <a:spcPts val="300"/>
              </a:spcAft>
              <a:buSzPct val="100000"/>
              <a:buChar char="■"/>
            </a:pPr>
            <a:r>
              <a:rPr lang="en-US" sz="1200" dirty="0">
                <a:solidFill>
                  <a:srgbClr val="3A3844"/>
                </a:solidFill>
                <a:latin typeface="Arial" pitchFamily="34" charset="0"/>
                <a:ea typeface="Arial" pitchFamily="34" charset="-122"/>
                <a:cs typeface="Arial" pitchFamily="34" charset="-120"/>
              </a:rPr>
              <a:t>EIP-55 — codificación de dirección con checksum en mayúsculas.</a:t>
            </a:r>
            <a:endParaRPr lang="en-US" sz="1200" dirty="0"/>
          </a:p>
        </p:txBody>
      </p:sp>
      <p:sp>
        <p:nvSpPr>
          <p:cNvPr id="11" name="Shape 8"/>
          <p:cNvSpPr/>
          <p:nvPr/>
        </p:nvSpPr>
        <p:spPr>
          <a:xfrm>
            <a:off x="566928" y="3831336"/>
            <a:ext cx="11057839" cy="1481328"/>
          </a:xfrm>
          <a:prstGeom prst="rect">
            <a:avLst/>
          </a:prstGeom>
          <a:solidFill>
            <a:srgbClr val="FFFFFF"/>
          </a:solidFill>
          <a:ln w="22225">
            <a:solidFill>
              <a:srgbClr val="0F0F11"/>
            </a:solidFill>
            <a:prstDash val="solid"/>
          </a:ln>
        </p:spPr>
      </p:sp>
      <p:sp>
        <p:nvSpPr>
          <p:cNvPr id="12" name="Text 9"/>
          <p:cNvSpPr/>
          <p:nvPr/>
        </p:nvSpPr>
        <p:spPr>
          <a:xfrm>
            <a:off x="841248" y="3941064"/>
            <a:ext cx="5486400" cy="274320"/>
          </a:xfrm>
          <a:prstGeom prst="rect">
            <a:avLst/>
          </a:prstGeom>
          <a:noFill/>
          <a:ln/>
        </p:spPr>
        <p:txBody>
          <a:bodyPr wrap="square" lIns="0" tIns="0" rIns="0" bIns="0" rtlCol="0" anchor="ctr"/>
          <a:lstStyle/>
          <a:p>
            <a:pPr indent="0" marL="0">
              <a:buNone/>
            </a:pPr>
            <a:r>
              <a:rPr lang="en-US" sz="1000" b="1" spc="130" kern="0" dirty="0">
                <a:solidFill>
                  <a:srgbClr val="A35604"/>
                </a:solidFill>
                <a:latin typeface="Courier New" pitchFamily="34" charset="0"/>
                <a:ea typeface="Courier New" pitchFamily="34" charset="-122"/>
                <a:cs typeface="Courier New" pitchFamily="34" charset="-120"/>
              </a:rPr>
              <a:t>AMPLIACIÓN RECOMENDADA</a:t>
            </a:r>
            <a:endParaRPr lang="en-US" sz="1000" dirty="0"/>
          </a:p>
        </p:txBody>
      </p:sp>
      <p:sp>
        <p:nvSpPr>
          <p:cNvPr id="13" name="Text 10"/>
          <p:cNvSpPr/>
          <p:nvPr/>
        </p:nvSpPr>
        <p:spPr>
          <a:xfrm>
            <a:off x="841248" y="4251960"/>
            <a:ext cx="10509199" cy="1005840"/>
          </a:xfrm>
          <a:prstGeom prst="rect">
            <a:avLst/>
          </a:prstGeom>
          <a:noFill/>
          <a:ln/>
        </p:spPr>
        <p:txBody>
          <a:bodyPr wrap="square" lIns="0" tIns="0" rIns="0" bIns="0" rtlCol="0" anchor="t"/>
          <a:lstStyle/>
          <a:p>
            <a:pPr marL="203200" indent="-203200">
              <a:lnSpc>
                <a:spcPct val="118000"/>
              </a:lnSpc>
              <a:spcAft>
                <a:spcPts val="300"/>
              </a:spcAft>
              <a:buSzPct val="100000"/>
              <a:buChar char="■"/>
            </a:pPr>
            <a:r>
              <a:rPr lang="en-US" sz="1200" dirty="0">
                <a:solidFill>
                  <a:srgbClr val="3A3844"/>
                </a:solidFill>
                <a:latin typeface="Arial" pitchFamily="34" charset="0"/>
                <a:ea typeface="Arial" pitchFamily="34" charset="-122"/>
                <a:cs typeface="Arial" pitchFamily="34" charset="-120"/>
              </a:rPr>
              <a:t>Antonopoulos, A. Mastering Bitcoin. Capítulo de claves y direcciones. Libre acceso.</a:t>
            </a:r>
            <a:endParaRPr lang="en-US" sz="1200" dirty="0"/>
          </a:p>
          <a:p>
            <a:pPr marL="203200" indent="-203200">
              <a:lnSpc>
                <a:spcPct val="118000"/>
              </a:lnSpc>
              <a:spcAft>
                <a:spcPts val="300"/>
              </a:spcAft>
              <a:buSzPct val="100000"/>
              <a:buChar char="■"/>
            </a:pPr>
            <a:r>
              <a:rPr lang="en-US" sz="1200" dirty="0">
                <a:solidFill>
                  <a:srgbClr val="3A3844"/>
                </a:solidFill>
                <a:latin typeface="Arial" pitchFamily="34" charset="0"/>
                <a:ea typeface="Arial" pitchFamily="34" charset="-122"/>
                <a:cs typeface="Arial" pitchFamily="34" charset="-120"/>
              </a:rPr>
              <a:t>Antonopoulos, A. y Wood, G. Mastering Ethereum. Capítulo de criptografía. Libre acceso.</a:t>
            </a:r>
            <a:endParaRPr lang="en-US" sz="1200" dirty="0"/>
          </a:p>
          <a:p>
            <a:pPr marL="203200" indent="-203200">
              <a:lnSpc>
                <a:spcPct val="118000"/>
              </a:lnSpc>
              <a:spcAft>
                <a:spcPts val="300"/>
              </a:spcAft>
              <a:buSzPct val="100000"/>
              <a:buChar char="■"/>
            </a:pPr>
            <a:r>
              <a:rPr lang="en-US" sz="1200" dirty="0">
                <a:solidFill>
                  <a:srgbClr val="3A3844"/>
                </a:solidFill>
                <a:latin typeface="Arial" pitchFamily="34" charset="0"/>
                <a:ea typeface="Arial" pitchFamily="34" charset="-122"/>
                <a:cs typeface="Arial" pitchFamily="34" charset="-120"/>
              </a:rPr>
              <a:t>Narayanan, A. et al. Bitcoin and Cryptocurrency Technologies. Capítulo 1, firmas digitales.</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0F1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1417320"/>
            <a:ext cx="384048" cy="384048"/>
          </a:xfrm>
          <a:prstGeom prst="rect">
            <a:avLst/>
          </a:prstGeom>
        </p:spPr>
      </p:pic>
      <p:sp>
        <p:nvSpPr>
          <p:cNvPr id="3" name="Text 0"/>
          <p:cNvSpPr/>
          <p:nvPr/>
        </p:nvSpPr>
        <p:spPr>
          <a:xfrm>
            <a:off x="1115568" y="1399032"/>
            <a:ext cx="7315200" cy="402336"/>
          </a:xfrm>
          <a:prstGeom prst="rect">
            <a:avLst/>
          </a:prstGeom>
          <a:noFill/>
          <a:ln/>
        </p:spPr>
        <p:txBody>
          <a:bodyPr wrap="square" lIns="0" tIns="0" rIns="0" bIns="0" rtlCol="0" anchor="ctr"/>
          <a:lstStyle/>
          <a:p>
            <a:pPr indent="0" marL="0">
              <a:buNone/>
            </a:pPr>
            <a:r>
              <a:rPr lang="en-US" sz="1200" spc="200" kern="0" dirty="0">
                <a:solidFill>
                  <a:srgbClr val="F07F06"/>
                </a:solidFill>
                <a:latin typeface="Courier New" pitchFamily="34" charset="0"/>
                <a:ea typeface="Courier New" pitchFamily="34" charset="-122"/>
                <a:cs typeface="Courier New" pitchFamily="34" charset="-120"/>
              </a:rPr>
              <a:t>FIN DE LA SESIÓN 03</a:t>
            </a:r>
            <a:endParaRPr lang="en-US" sz="1200" dirty="0"/>
          </a:p>
        </p:txBody>
      </p:sp>
      <p:sp>
        <p:nvSpPr>
          <p:cNvPr id="4" name="Text 1"/>
          <p:cNvSpPr/>
          <p:nvPr/>
        </p:nvSpPr>
        <p:spPr>
          <a:xfrm>
            <a:off x="566928" y="2148840"/>
            <a:ext cx="10515600" cy="1828800"/>
          </a:xfrm>
          <a:prstGeom prst="rect">
            <a:avLst/>
          </a:prstGeom>
          <a:noFill/>
          <a:ln/>
        </p:spPr>
        <p:txBody>
          <a:bodyPr wrap="square" lIns="0" tIns="0" rIns="0" bIns="0" rtlCol="0" anchor="t"/>
          <a:lstStyle/>
          <a:p>
            <a:pPr indent="0" marL="0">
              <a:lnSpc>
                <a:spcPct val="98000"/>
              </a:lnSpc>
              <a:buNone/>
            </a:pPr>
            <a:r>
              <a:rPr lang="en-US" sz="4600" dirty="0">
                <a:solidFill>
                  <a:srgbClr val="FFFFFF"/>
                </a:solidFill>
                <a:latin typeface="Arial Black" pitchFamily="34" charset="0"/>
                <a:ea typeface="Arial Black" pitchFamily="34" charset="-122"/>
                <a:cs typeface="Arial Black" pitchFamily="34" charset="-120"/>
              </a:rPr>
              <a:t>PRÓXIMA SESIÓN:</a:t>
            </a:r>
            <a:endParaRPr lang="en-US" sz="4600" dirty="0"/>
          </a:p>
          <a:p>
            <a:pPr indent="0" marL="0">
              <a:lnSpc>
                <a:spcPct val="98000"/>
              </a:lnSpc>
              <a:buNone/>
            </a:pPr>
            <a:r>
              <a:rPr lang="en-US" sz="4600" dirty="0">
                <a:solidFill>
                  <a:srgbClr val="FFFFFF"/>
                </a:solidFill>
                <a:latin typeface="Arial Black" pitchFamily="34" charset="0"/>
                <a:ea typeface="Arial Black" pitchFamily="34" charset="-122"/>
                <a:cs typeface="Arial Black" pitchFamily="34" charset="-120"/>
              </a:rPr>
              <a:t>CONSENSO Y EL TRILEMA</a:t>
            </a:r>
            <a:endParaRPr lang="en-US" sz="4600" dirty="0"/>
          </a:p>
        </p:txBody>
      </p:sp>
      <p:sp>
        <p:nvSpPr>
          <p:cNvPr id="5" name="Text 2"/>
          <p:cNvSpPr/>
          <p:nvPr/>
        </p:nvSpPr>
        <p:spPr>
          <a:xfrm>
            <a:off x="566928" y="4069080"/>
            <a:ext cx="8961120" cy="868680"/>
          </a:xfrm>
          <a:prstGeom prst="rect">
            <a:avLst/>
          </a:prstGeom>
          <a:noFill/>
          <a:ln/>
        </p:spPr>
        <p:txBody>
          <a:bodyPr wrap="square" lIns="0" tIns="0" rIns="0" bIns="0" rtlCol="0" anchor="t"/>
          <a:lstStyle/>
          <a:p>
            <a:pPr indent="0" marL="0">
              <a:lnSpc>
                <a:spcPct val="128000"/>
              </a:lnSpc>
              <a:buNone/>
            </a:pPr>
            <a:r>
              <a:rPr lang="en-US" sz="1600" dirty="0">
                <a:solidFill>
                  <a:srgbClr val="B9B4C4"/>
                </a:solidFill>
                <a:latin typeface="Arial" pitchFamily="34" charset="0"/>
                <a:ea typeface="Arial" pitchFamily="34" charset="-122"/>
                <a:cs typeface="Arial" pitchFamily="34" charset="-120"/>
              </a:rPr>
              <a:t>Cierra la Unidad I y trae el Quiz 1. Entregable de hoy: la mini-blockchain con las pruebas pasando, antes de que empiece.</a:t>
            </a:r>
            <a:endParaRPr lang="en-US" sz="1600" dirty="0"/>
          </a:p>
        </p:txBody>
      </p:sp>
      <p:sp>
        <p:nvSpPr>
          <p:cNvPr id="6" name="Text 3"/>
          <p:cNvSpPr/>
          <p:nvPr/>
        </p:nvSpPr>
        <p:spPr>
          <a:xfrm>
            <a:off x="566928" y="5440680"/>
            <a:ext cx="8686800" cy="731520"/>
          </a:xfrm>
          <a:prstGeom prst="rect">
            <a:avLst/>
          </a:prstGeom>
          <a:noFill/>
          <a:ln/>
        </p:spPr>
        <p:txBody>
          <a:bodyPr wrap="square" lIns="0" tIns="0" rIns="0" bIns="0" rtlCol="0" anchor="t"/>
          <a:lstStyle/>
          <a:p>
            <a:pPr indent="0" marL="0">
              <a:lnSpc>
                <a:spcPct val="135000"/>
              </a:lnSpc>
              <a:buNone/>
            </a:pPr>
            <a:r>
              <a:rPr lang="en-US" sz="1000" dirty="0">
                <a:solidFill>
                  <a:srgbClr val="6E6A7C"/>
                </a:solidFill>
                <a:latin typeface="Courier New" pitchFamily="34" charset="0"/>
                <a:ea typeface="Courier New" pitchFamily="34" charset="-122"/>
                <a:cs typeface="Courier New" pitchFamily="34" charset="-120"/>
              </a:rPr>
              <a:t>Universidad de San Buenaventura Medellín · Facultad de Ingeniería</a:t>
            </a:r>
            <a:endParaRPr lang="en-US" sz="1000" dirty="0"/>
          </a:p>
          <a:p>
            <a:pPr indent="0" marL="0">
              <a:lnSpc>
                <a:spcPct val="135000"/>
              </a:lnSpc>
              <a:buNone/>
            </a:pPr>
            <a:r>
              <a:rPr lang="en-US" sz="1000" dirty="0">
                <a:solidFill>
                  <a:srgbClr val="6E6A7C"/>
                </a:solidFill>
                <a:latin typeface="Courier New" pitchFamily="34" charset="0"/>
                <a:ea typeface="Courier New" pitchFamily="34" charset="-122"/>
                <a:cs typeface="Courier New" pitchFamily="34" charset="-120"/>
              </a:rPr>
              <a:t>Blockchain y Web 3.0 · Unidad I · Sesión 03 de 17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Blockchain y Web 3.0 — Sesión 03</dc:title>
  <dc:subject>Firmas digitales y anatomía de la cadena</dc:subject>
  <dc:creator>Universidad de San Buenaventura Medellín</dc:creator>
  <cp:lastModifiedBy>Universidad de San Buenaventura Medellín</cp:lastModifiedBy>
  <cp:revision>1</cp:revision>
  <dcterms:created xsi:type="dcterms:W3CDTF">2026-09-18T01:10:39Z</dcterms:created>
  <dcterms:modified xsi:type="dcterms:W3CDTF">2026-09-18T01:10:39Z</dcterms:modified>
</cp:coreProperties>
</file>