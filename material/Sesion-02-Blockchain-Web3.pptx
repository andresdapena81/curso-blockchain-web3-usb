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Comprobar entornos en la apertura, no al empezar el bloque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laboratorio arranca en el minuto 120 y no hay margen para instalaciones. Verificar entornos en la apertura, no al empezar el bloque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se enuncian en el bloque C y se comprueban en código en el bloque D. Esa es la estructura de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guion completo —ruta de clics, frases para decir, montaje de dos navegadores y planes de contingencia— está en la Guía de demostración, documento aparte.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la pregunta abierta. Se responde en C.2 con la medición del efecto avalancha.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confirmación explícita del grupo. Es el único momento del semestre en que se enuncian completas y con la billetera delante.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 los doce minutos hay más de tres o cuatro atascados, seguir adelante: el laboratorio de hoy no necesita billetera y el punto de control de la Sesión 5 recoge a los rezagados.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sinónimos —hash, resumen, digest, huella digital— designan todos lo mismo. Conviene decirlo para que no suene a conceptos distintos cuando aparezcan en la bibliografía.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confusión entre hash y cifrado aparece en informes de auditoría y en respuestas a incidentes reales. Vale la pena insistir.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razonamiento desmonta la creencia de que «un buen hash no tiene colisiones». Sí las tiene; lo que no tiene es forma de hallarlas.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función se elige por el problema, no por costumbre. Es la lección transferible de esta lámina.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primeras son de funcionamiento; las tres siguientes son de resistencia frente a un atacante.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eso una función puede seguir siendo resistente a preimagen cuando ya se le encontraron colisiones, que es lo que ocurrió con funciones hoy retiradas.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 no evaluable en el Quiz 1, pero explica una decisión de diseño que los estudiantes verán repetida en toda la criptografía aplicada.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reales de SHA-256, verificados. El laboratorio de hoy reproduce esta medición sobre 100 pares y obtiene un promedio cercano a 128.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Conviene anticipar que en Solidity el operador se llama keccak256 y que ese nombre no es casual: es la variante de Ethereum, no la del estándar.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Muchas bibliotecas llaman sha3 a la variante de Ethereum y otras a la del estándar. Aparece cada semestre en el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Ralph Merkle, 1979, «A Certified Digital Signature». La estructura es anterior a Bitcoin en casi treinta años.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 compromiso es lo que hace que la raíz sirva en la cabecera del bloque: fija el contenido sin almacenarlo.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de abajo hacia arriba: se parte de H(C), se combina con H(D) para obtener H(CD), luego con H(AB) para obtener H(ABCD), y por último con H(EFGH) para llegar a la raíz.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error número uno de la parte 3 del laboratorio. Anticiparlo ahorra veinte minutos de depuración.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conviene detenerse: es el resultado más contraintuitivo de la sesión y el que hace posibles las billeteras móviles.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 8 minutos al terminar. El laboratorio empieza en el minuto 120.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código completo está en la carpeta del laboratorio, en Python y en JavaScript. Se entrega antes de empezar el recorrido para que puedan seguirlo en pantalla.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Preguntar antes de mostrar la segunda caja: ¿por qué no basta con comparar los dos hashes carácter a carácter?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una pareja obtiene una raíz distinta a la del resto, la causa está en una de estas tres. En ese orden de probabilidad.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bucle en voz alta con 8 hojas: primera vuelta guarda 8 y produce 4; segunda guarda 4 y produce 2; tercera guarda 2 y produce 1; cuarta guarda 1 y devuelve.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esta lámina con la Fig. 2 del bloque C proyectada al lado, si se puede: el código y el dibujo dicen exactamente lo mismo.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durante estos quince minutos. El fallo más común es que no instalaron nada y no pueden ejecutar: emparejar con quien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Proyectar el visor en vivo mientras se explica. Editar un dato delante del grupo y dejar que vean la raíz anterior tachada.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Trabajo en parejas. Plazo y peso los fija el docente. El visor que se acaba de proyectar es la referencia de lo que se espera, no el techo.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tres explican el 80 % de las preguntas del laboratorio. Proyectarlos antes ahorra media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último remite directamente a la alerta de C.3. Aparece cada semestre.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Preguntar cuál de las seis les resultó más contraintuitiva. Suele ser la cinco.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de la semana: ¿qué le falta a un hash para poder demostrar además quién escribió el dato? Intente diseñar un esquema que lo consiga y encuentre el punto donde falla.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acumulativo del curso: cada sesión añade entradas y ninguna se elimina.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acumulativo del curso: cada sesión añade entradas y ninguna se elimina.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trampa señalada en C.3 y aparece cada semestre.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1920240"/>
            <a:ext cx="3749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17043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09744" y="115214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UNIDAD I · FUNDAMENTOS DE SISTEMAS DISTRIBUIDOS CONFIABLES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389120" y="1783080"/>
            <a:ext cx="7269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INTEGRIDAD VERIFICABLE:</a:t>
            </a:r>
            <a:endParaRPr lang="en-US" sz="43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HASH Y ÁRBOLES DE MERKLE</a:t>
            </a:r>
            <a:endParaRPr lang="en-US" sz="4300" dirty="0"/>
          </a:p>
        </p:txBody>
      </p:sp>
      <p:sp>
        <p:nvSpPr>
          <p:cNvPr id="7" name="Text 4"/>
          <p:cNvSpPr/>
          <p:nvPr/>
        </p:nvSpPr>
        <p:spPr>
          <a:xfrm>
            <a:off x="4389120" y="4224528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389120" y="52303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 MIN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389120" y="57058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A39E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DURACIÓN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217920" y="52303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217920" y="57058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A39E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046720" y="52303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NODE.JS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046720" y="57058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A39E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875520" y="52303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REPOSITORIO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875520" y="57058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A39E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ENTREGABLE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PRELIMINAR · PARA PODER TRABAJAR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HAY QUE TRAER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2148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435608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 O NODE.JS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144768" y="2084832"/>
            <a:ext cx="54799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Instalado y funcionando desde la línea de comandos. Se anunció la sesión pasada. El bloque D empieza en el minuto 120 y no hay tiempo para instalaciones.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193852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33832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1435608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WHITEPAPER LEÍDO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144768" y="3319272"/>
            <a:ext cx="54799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Secciones 1 a 5. Abrimos con la plenaria de la pregunta de la semana.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317296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46177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1435608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PAPEL Y LAPICERO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144768" y="4553712"/>
            <a:ext cx="54799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la frase semilla del bloque B. No sirve el teléfono, y la razón se explica ahí mismo.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40740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6928" y="564184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5486400"/>
            <a:ext cx="11057839" cy="82296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705856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133856" y="56784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LLEGA SIN ENTORNO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804672" y="5943600"/>
            <a:ext cx="105823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Trabaja en pareja con alguien que sí lo tenga, y resuelve su instalación fuera de clase.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PRELIMINAR · ESTRUCTURA DE LOS 180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MAPA DE LA SESIÓN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55648"/>
          <a:ext cx="1105783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371600"/>
                <a:gridCol w="86346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BLOQUE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CONTENIDO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00–10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Apertura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Plenaria de la pregunta de la semana: ¿qué garantiza una cadena sobre la veracidad de lo escrito?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10–55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 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Demostración en vivo. Siete demostraciones proyectadas: de la clave a la cadena.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55–70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 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Billetera propia. Cada estudiante replica lo que acaba de ver.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70–80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es un hash y qué no es. Las cuatro confusiones que salen caras.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80–92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propiedades exigibles y qué se rompe si falla cada una.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92–100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SHA-256 y Keccak-256. La trampa de que Keccak-256 no es SHA3-256.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100–112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Árboles de Merkle: probar que algo está en un bloque sin descargar el bloque.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112–120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120–170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 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Laboratorio 01: hash, efecto avalancha, árbol de Merkle y prueba de inclusión.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170–180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 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Cierre, entregable y puente hacia las firmas digitales.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37360"/>
            <a:ext cx="11094415" cy="45171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PRELIMINAR · QUÉ SE ESPERA AL TERMINAR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RESULTADOS DE APRENDIZAJE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7839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120640"/>
                <a:gridCol w="1417320"/>
                <a:gridCol w="37426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RESULTADO DE APRENDIZAJE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NIVEL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DÓNDE SE EVIDENCIA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Explicar los fundamentos criptográficos que sustentan la integridad de un registro distribuido.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Comprender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Núcleo de esta sesión. Laboratorio + Quiz 1 (S4)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Construir una suite de pruebas automatizadas.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inicia aquí con las pruebas del laboratorio. Se evalúa en S8.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64792"/>
            <a:ext cx="11094415" cy="17739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3840480"/>
            <a:ext cx="11057839" cy="21031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05993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40325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TRES AFIRMACIONES QUE HOY SE DEMUESTRAN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44714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444752" y="4489704"/>
            <a:ext cx="99422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cambio mínimo altera la mitad de la salida.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04672" y="49286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444752" y="4946904"/>
            <a:ext cx="99422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raíz de Merkle compromete el conjunto entero.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04672" y="53858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444752" y="5404104"/>
            <a:ext cx="99422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pertenencia se prueba con una fracción logarítmica de los datos.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10 — 55 · EL DOCENTE EJECUTA Y NARRA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DEMOSTRACIÓN EN VIVO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Siete demostraciones proyectadas. Convierte en datos concretos todo lo que la Sesión 1 dejó en abstracto.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A · DE LA CLAVE A LA CADENA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DEJA CADA DEMOSTRACIÓN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7839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2591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DEMOSTRACIÓN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IDEA QUE DEBE QUEDAR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3688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 una identidad desde cero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cuenta válida en una red global en menos de un minuto, sin nombre, sin documento y sin que nadie la apruebe.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688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frase semilla, en pantalla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Doce palabras reconstruyen la cuenta completa en otro navegador y sin contraseña. La frase no da acceso: ES la billetera.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3688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Anatomía de una dirección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Cuarenta y dos caracteres, y las mayúsculas no son decorativas: codifican una suma de verificación.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688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Cambiar de red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misma dirección en dos libros independientes con saldos distintos.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3688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Firmar: la pantalla que nadie lee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Firmar es irreversible. La mayoría de los robos no rompe criptografía: consigue que la víctima firme.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688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explorador, campo por campo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 lo de la sesión pasada aparece como datos concretos. Es la demostración central.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3688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cuenta de un desconocido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Seudónimo no es anónimo: sin nombre, pero todo enlazado y permanente.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64792"/>
            <a:ext cx="11094415" cy="41056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A · CIERRE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GANCHO HACIA EL BLOQUE CONCEPTUAL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1057839" cy="160020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2231136"/>
            <a:ext cx="10289743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 la demostración 06 apareció un campo llamado «Transaction Hash», y se dijo que cambia por completo si se altera un solo byte. Eso es una afirmación fuerte.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388620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hora y media la habremos demostrado — no de palabra, sino midiéndola en código propio.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55 — 70 · CADA ESTUDIANTE EN SU MÁQUINA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BILLETERA PROPIA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Quince minutos, inmediatamente después de haberlo visto hacer. Es el momento de máxima comprensión.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B · RIGEN DESDE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TRES REGLAS QUE NO ADMITEN EXCEPCIÓN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enunciaron en la Sesión 1. A partir de este momento aplican de verdad, porque cada quien tiene su propia billetera.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240280"/>
            <a:ext cx="11057839" cy="11430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4597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1664208" y="2404872"/>
            <a:ext cx="96405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se ingresa dinero real en la billetera del curso.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664208" y="2743200"/>
            <a:ext cx="96405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quiera operar con fondos reales debe usar otra, creada fuera de clase, en un equipo de su propiedad.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3538728"/>
            <a:ext cx="11057839" cy="11430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758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1664208" y="3703320"/>
            <a:ext cx="96405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frase de recuperación no se comparte con nadie. Nunca. Tampoco con el docente.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664208" y="4041648"/>
            <a:ext cx="96405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legítimo la pedirá jamás. Cualquiera que la pida está intentando robar.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6928" y="4837176"/>
            <a:ext cx="11057839" cy="11430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41248" y="50566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1664208" y="5001768"/>
            <a:ext cx="96405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firma ninguna transacción cuyo contenido no se comprenda.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664208" y="5340096"/>
            <a:ext cx="96405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 es irreversible y puede autorizar a un tercero a mover todos los fondos de la cuenta.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B · PROCEDIMIENTO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CINCO PASOS, QUINCE MINUTOS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8013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225296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INSTALAR DESDE LA TIENDA OFICIAL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321808" y="1764792"/>
            <a:ext cx="6302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desarrollador y número de instalaciones. Existen falsificaciones con ícono casi idéntico cuyo único fin es capturar la frase semilla.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165506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26609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225296" y="26426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CREAR Y ANOTAR LAS DOCE PALABRAS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21808" y="2624328"/>
            <a:ext cx="6302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papel, a mano, en orden. No captura, no foto, no archivo, no nota del teléfono, no correo a sí mismo.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2514600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352044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225296" y="35021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HABILITAR LA RED DE PRUEBA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321808" y="3483864"/>
            <a:ext cx="6302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en el selector antes de continuar. La contraseña del navegador no es la cuenta y no la recupera en otro equipo.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6928" y="337413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37997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225296" y="43616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RECIBIR FONDOS DE PRUEBA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321808" y="4343400"/>
            <a:ext cx="6302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docente distribuye desde la billetera institucional. No se depende de faucets públicos en clase.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66928" y="4233672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523951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225296" y="522122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 LA DIRECCIÓN AL CANAL DEL CURSO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321808" y="5202936"/>
            <a:ext cx="6302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la dirección, que es pública. Sirve para el punto de control de la Sesión 5 y para las distribuciones siguientes.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66928" y="509320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6928" y="595274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70 — 112 · EXPOSICIÓN DIALOGADA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INTEGRIDAD VERIFICABLE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realmente un hash, qué propiedades debe cumplir y cómo se resume un conjunto entero en un solo valor.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MIN 70–80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ES UNA FUNCIÓN HASH, Y QUÉ NO ES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Sesión 1 usamos la palabra hash tres veces sin definirla con rigor: al describir el enlace entre bloques, al derivar una dirección desde una clave pública y al identificar una transacción. Aquí se salda esa deuda.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560320"/>
            <a:ext cx="11057839" cy="32918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779776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3856" y="275234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 DE TÉRMINO 01 · FUNCIÓN HASH CRIPTOGRÁFICA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4672" y="3145536"/>
            <a:ext cx="10582351" cy="96012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69264" y="3236976"/>
            <a:ext cx="1025316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Función matemática que toma una entrada de LONGITUD ARBITRARIA y produce una salida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LONGITUD FIJA, de forma determinista, eficiente de calcular en un sentido 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inviable de invertir.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04672" y="4261104"/>
            <a:ext cx="1058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entrada puede ser un carácter o una película de tres horas: la salida siempre mide lo mismo. En SHA-256, 256 bits, que se escriben como 64 caracteres hexadecimales.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804672" y="4974336"/>
            <a:ext cx="1058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Nótese la asimetría, que es toda la utilidad: calcular el hash de un dato es instantáneo; recuperar el dato a partir del hash es inviable con cualquier cómputo concebible.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HIGIENE CONCEPTUAL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3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HASH NO ES CIFRADO, NI COMPRESIÓN, NI AZAR, NI FIRMA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 lo que sale mal con funciones hash en la práctica profesional viene de confundirlas con otra cosa.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7718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 HASH NO ES…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POR QUÉ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8252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…cifrado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cifrado es REVERSIBLE: existe una clave que devuelve el texto original, y ese es su propósito. Un hash no tiene clave y no tiene vuelta. «Hasheada» y «encriptada» no son lo mismo, y confundirlo cambia por completo el análisis de riesgo.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52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…compresión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compresión conserva la información: por eso se puede descomprimir. El hash DESTRUYE información. Un archivo de 4 GB y uno de 4 bytes producen salidas del mismo tamaño.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8252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…aleatorio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 completamente DETERMINISTA: la misma entrada produce siempre la misma salida, en cualquier máquina y momento. Parece aleatorio, que es distinto. Esa apariencia es una propiedad buscada, no azar.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52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…una firma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que un dato no cambió; NO prueba quién lo escribió. Cualquiera puede calcular el hash de cualquier cosa. La autoría requiere criptografía asimétrica: Sesión 3.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221992"/>
            <a:ext cx="11094415" cy="36484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EL PRINCIPIO DEL PALOMAR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COLISIONES EXISTEN. NECESARIAMENTE.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3520440" cy="15544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49808" y="1984248"/>
            <a:ext cx="315468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∞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749808" y="2684678"/>
            <a:ext cx="3154680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posibles: cualquier archivo, de cualquier tamaño.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34256" y="1783080"/>
            <a:ext cx="3520440" cy="15544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17136" y="1984248"/>
            <a:ext cx="315468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A3560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2²⁵⁶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4517136" y="2684678"/>
            <a:ext cx="3154680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Salidas posibles en SHA-256. Un número finito.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101584" y="1783080"/>
            <a:ext cx="3520440" cy="15544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284464" y="1984248"/>
            <a:ext cx="315468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7152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⇒</a:t>
            </a:r>
            <a:endParaRPr lang="en-US" sz="4600" dirty="0"/>
          </a:p>
        </p:txBody>
      </p:sp>
      <p:sp>
        <p:nvSpPr>
          <p:cNvPr id="16" name="Text 13"/>
          <p:cNvSpPr/>
          <p:nvPr/>
        </p:nvSpPr>
        <p:spPr>
          <a:xfrm>
            <a:off x="8284464" y="2684678"/>
            <a:ext cx="3154680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meter infinitos elementos en casillas finitas, hay casillas con más de uno.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611880"/>
            <a:ext cx="11057839" cy="14173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50976" y="3831336"/>
            <a:ext cx="10289743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colisiones no solo son posibles: es matemáticamente seguro que existen. La seguridad no consiste en que no existan, sino en que NADIE SEA CAPAZ DE ENCONTRAR UNA.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66928" y="525780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número 2²⁵⁶ es difícil de dimensionar. Una comparación que suele funcionar en clase: es del orden de la cantidad estimada de átomos en el universo observable. Encontrar dos entradas con el mismo hash de 256 bits por fuerza bruta no es difícil — es imposible con la física conocida.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ALERTA PROFESIONAL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NUNCA USES SHA-256 PARA GUARDAR CONTRASEÑAS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11057839" cy="23774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0253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19751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APLICACIÓN EQUIVOCADA MÁS FRECUENTE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804672" y="2368296"/>
            <a:ext cx="105823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está diseñada para ser RÁPIDA, y esa es exactamente la propiedad que no se quiere al almacenar contraseñas: un atacante con la base de datos filtrada puede probar miles de millones de candidatos por segundo.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804672" y="3328416"/>
            <a:ext cx="105823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contraseñas se usan funciones deliberadamente lentas y con sal —bcrypt, scrypt, Argon2—, diseñadas para que cada intento cueste. Es un dominio distinto con requisitos opuestos.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66928" y="4434840"/>
            <a:ext cx="5419192" cy="146304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841248" y="46451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BLOCKCHAIN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4870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velocidad: cada nodo verifica millones de hashes. SHA-256 y Keccak-256 son la elección correcta.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205576" y="4434840"/>
            <a:ext cx="5419192" cy="146304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6479896" y="46451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AUTENTICACIÓN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6479896" y="4983480"/>
            <a:ext cx="4870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lentitud: que cada intento del atacante cueste. Son la elección incorrecta.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C.2 · MIN 80–92 · 1 DE 2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PROPIEDADES EXIGIBLES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una función produzca salida de longitud fija no la hace criptográfica. Léase la última columna: dice qué se rompería en una blockchain si esa propiedad fallara.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7484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PROPIEDAD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EXIGE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SE ROMPE SI FALLA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1085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Determinismo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misma entrada produce siempre la misma salida.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Todo. Dos nodos calcularían hashes distintos para el mismo bloque y la red nunca alcanzaría acuerdo.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85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Eficiencia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Calcular el hash debe ser rápido y barato.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verificación se volvería impracticable: cada nodo comprueba millones de hashes por bloque.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1085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Efecto avalancha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cambio mínimo altera aproximadamente la mitad de los bits de la salida, de forma impredecible.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podrían hacer cambios «pequeños» con hashes parecidos, y la manipulación dejaría de ser evidente.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267712"/>
            <a:ext cx="11094415" cy="36027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C.2 · 2 DE 2 · RESISTENCIA FRENTE A UN ATACANTE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PREIMAGEN, SEGUNDA PREIMAGEN Y COLISIÓN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998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PROPIEDAD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EXIGE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SE ROMPE SI FALLA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902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Resistencia a preimagen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 un hash h, es inviable encontrar ALGUNA entrada m tal que hash(m) = h.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podría revertir un hash. Toda la construcción «clave pública → dirección» se vendría abajo.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Resistencia a segunda preimagen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 un mensaje m₁, es inviable encontrar otro m₂ ≠ m₁ con el mismo hash.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podría sustituir una transacción por otra distinta conservando el mismo hash: fraude indetectable.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902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Resistencia a colisiones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 inviable encontrar CUALQUIER par m₁ ≠ m₂ con el mismo hash.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atacante prepararía de antemano dos documentos con el mismo hash y cambiaría uno por otro después de que el primero fuera aceptado.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64792"/>
            <a:ext cx="11094415" cy="30540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983480"/>
            <a:ext cx="11057839" cy="9601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20293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51755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 DE TÉRMINO 02 · ESTÁN ORDENADAS DE MÁS DIFÍCIL A MÁS FÁCIL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5495544"/>
            <a:ext cx="105823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preimagen el objetivo está fijo. En una segunda preimagen hay un mensaje dado que igualar. En una colisión el atacante elige LOS DOS mensajes, y esa libertad la hace mucho más barata.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C.2 · PROFUNDIDAD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QUÉ LAS COLISIONES CUESTAN LA MITAD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828800"/>
          </a:xfrm>
          <a:prstGeom prst="rect">
            <a:avLst/>
          </a:prstGeom>
          <a:solidFill>
            <a:srgbClr val="F2F0F5"/>
          </a:solidFill>
          <a:ln w="22225">
            <a:solidFill>
              <a:srgbClr val="0F0F1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5681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19293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PARADOJA DEL CUMPLEAÑOS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804672" y="2322576"/>
            <a:ext cx="1058235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 salón de 23 personas, la probabilidad de que dos compartan cumpleaños supera el 50 %. Sorprende porque uno piensa en «alguien que coincida CONMIGO», cuando lo que cuenta es cualquier par entre todos. Con 23 personas hay 253 pares posibles.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66928" y="3749040"/>
            <a:ext cx="3520440" cy="146304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49808" y="3950208"/>
            <a:ext cx="3154680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2ⁿ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49808" y="4597603"/>
            <a:ext cx="31546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 de encontrar una PREIMAGEN sobre una salida de n bits.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334256" y="3749040"/>
            <a:ext cx="3520440" cy="146304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517136" y="3950208"/>
            <a:ext cx="3154680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A3560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2ⁿ/²</a:t>
            </a:r>
            <a:endParaRPr lang="en-US" sz="3600" dirty="0"/>
          </a:p>
        </p:txBody>
      </p:sp>
      <p:sp>
        <p:nvSpPr>
          <p:cNvPr id="17" name="Text 13"/>
          <p:cNvSpPr/>
          <p:nvPr/>
        </p:nvSpPr>
        <p:spPr>
          <a:xfrm>
            <a:off x="4517136" y="4597603"/>
            <a:ext cx="31546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 de encontrar una COLISIÓN. Cada hash nuevo se compara con todos los anteriores.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101584" y="3749040"/>
            <a:ext cx="3520440" cy="146304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284464" y="3950208"/>
            <a:ext cx="3154680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7152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128</a:t>
            </a:r>
            <a:endParaRPr lang="en-US" sz="4000" dirty="0"/>
          </a:p>
        </p:txBody>
      </p:sp>
      <p:sp>
        <p:nvSpPr>
          <p:cNvPr id="20" name="Text 16"/>
          <p:cNvSpPr/>
          <p:nvPr/>
        </p:nvSpPr>
        <p:spPr>
          <a:xfrm>
            <a:off x="8284464" y="4597603"/>
            <a:ext cx="315468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 de resistencia real de SHA-256 frente a colisiones, no 256.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66928" y="539496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 siendo un número inalcanzable, pero explica por qué el tamaño de salida se elige al doble del nivel de seguridad que se busca.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C.2 · FIGURA 1 · VALORES REALES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TILDE CAMBIA LA MITAD DE LA SALIDA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828800"/>
            <a:ext cx="3108960" cy="77724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" y="194767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 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76656" y="223113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"USB Medellin"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75888" y="2217420"/>
            <a:ext cx="502920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242816" y="1828800"/>
            <a:ext cx="7379208" cy="77724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07408" y="19385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a4bca74553f433194546f1ca04e5ac39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407408" y="223113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80e9005c4ce7041f594a2b15f50ff0cc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3108960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9443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 B · UNA TILDE MÁS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04088" y="3236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"USB Medellín"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675888" y="3223260"/>
            <a:ext cx="502920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42816" y="2834640"/>
            <a:ext cx="7379208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07408" y="29443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6a26f8eaf52f416dc14ad4dfe64db2c1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407408" y="323697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6e17c4f4e03e1a4022062f7b9ba7a6bd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57839" cy="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1148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3560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134 DE LOS 256 BITS CAMBIARON · 52,3 %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566928" y="461772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de los 64 caracteres hexadecimales son distintos. No hay ninguna relación visible entre las dos salidas — y sin embargo la entrada cambió en un solo carácter.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5257800"/>
            <a:ext cx="11057839" cy="86868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477256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133856" y="54498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IMPORTA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804672" y="5751576"/>
            <a:ext cx="105823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efecto avalancha es lo que hace que toda manipulación sea siempre evidente.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C.3 · MIN 92–100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SHA-256 Y KECCAK-256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una sola función hash: hay familias, y cada red eligió la suya. El laboratorio de hoy y todo el código de contratos a partir de la Sesión 6 dependen de esa elección.</a:t>
            </a:r>
            <a:endParaRPr lang="en-US" sz="13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57839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52056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FUNCIÓN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ORIGEN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DÓNDE SE USA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SHA-256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Familia SHA-2, publicada por el instituto de estándares estadounidense en 2001.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Bitcoin, en casi todo: identificadores de transacción, árboles de Merkle y prueba de trabajo — habitualmente aplicada dos veces seguidas.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Keccak-256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Algoritmo ganador del concurso público que buscaba el sucesor de SHA-2.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Ethereum, en todo: identificadores, derivación de direcciones, firmas de función en los contratos y el operador keccak256 de Solidity.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221992"/>
            <a:ext cx="11094415" cy="21396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4526280"/>
            <a:ext cx="11057839" cy="1417320"/>
          </a:xfrm>
          <a:prstGeom prst="rect">
            <a:avLst/>
          </a:prstGeom>
          <a:solidFill>
            <a:srgbClr val="F2F0F5"/>
          </a:solidFill>
          <a:ln w="22225">
            <a:solidFill>
              <a:srgbClr val="0F0F1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745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47183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DOS FAMILIAS Y NO UNA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804672" y="5074920"/>
            <a:ext cx="105823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 construidas sobre principios estructurales distintos, y esa diversidad es deliberada: si apareciera un ataque contra una de las dos familias, la otra no quedaría comprometida por la misma vía. Es el mismo argumento que en la Sesión 1 justificaba tener varias implementaciones del cliente — la monocultura es frágil.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C.3 · LA TRAMPA QUE ROMPE CÓDIGO REAL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KECCAK-256 NO ES SHA3-256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11057839" cy="26060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0253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19751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 DISTINCIÓN CONFUNDE A TODO EL MUNDO AL MENOS UNA VEZ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804672" y="2368296"/>
            <a:ext cx="105823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Keccak ganó el concurso, pero antes de publicarlo como estándar oficial con el nombre SHA-3, el organismo normalizador MODIFICÓ EL RELLENO del algoritmo. Ethereum ya estaba usando la versión original y se quedó con ella.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804672" y="3328416"/>
            <a:ext cx="105823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keccak256(x) y sha3_256(x) producen salidas distintas para la misma entrada, aunque el algoritmo de fondo sea el mismo.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66928" y="4617720"/>
            <a:ext cx="11057839" cy="132588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50976" y="4837176"/>
            <a:ext cx="10289743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 una biblioteca ofrece «SHA-3», hay que verificar cuál de las dos implementa. Comprobarlo siempre contra un valor conocido antes de confiar en el resultado.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C.4 · MIN 100–112 · ÁRBOLES DE MERKLE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PROBAR SIN ENTREGAR EL CONJUNTO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Planteemos el problema antes de la solución, que es como se entiende.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194560"/>
            <a:ext cx="11057839" cy="13716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7824" y="2395728"/>
            <a:ext cx="104360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teléfono quiere comprobar que UNA transacción concreta está incluida en un bloque. El bloque contiene miles de transacciones y pesa megabytes. Descargarlo entero para verificar una sola línea es absurdo, y descargar la cadena completa está fuera del alcance de un dispositivo móvil.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3794760"/>
            <a:ext cx="11057839" cy="114300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0976" y="4014216"/>
            <a:ext cx="10289743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2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¿Se puede demostrar que un elemento pertenece a un conjunto SIN ENTREGAR EL CONJUNTO?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566928" y="512064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Sí. La estructura que lo hace posible se publicó en 1979 y hoy sostiene tanto la cabecera de un bloque como el direccionamiento por contenido de los sistemas de archivos descentralizados.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C.4 · FICHA DE TÉRMINO 03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ÁRBOL DE MERKLE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41605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5681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19293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 DE TÉRMINO 03 · MERKLE TREE / HASH TREE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804672" y="2322576"/>
            <a:ext cx="10582351" cy="96012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69264" y="2414016"/>
            <a:ext cx="1025316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Árbol binario en el que cada hoja es el hash de un dato y cada nodo interno es el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de la concatenación de sus dos hijos. El nodo superior se llama RAÍZ DE MERKLE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resume todo el conjunto en un solo valor de longitud fija.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04672" y="3438144"/>
            <a:ext cx="105823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construcción es sencilla: se calcula el hash de cada elemento, se agrupan de dos en dos, se concatenan y se vuelve a hashear; el resultado sube un nivel. Se repite hasta quedar un único valor.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804672" y="4197096"/>
            <a:ext cx="10582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número de elementos de un nivel es impar, la convención más extendida es duplicar el último para completar el par.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04672" y="4882896"/>
            <a:ext cx="10582351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1060704" y="5065776"/>
            <a:ext cx="1007028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un solo elemento cambia su hoja, lo que cambia su padre, y así hasta la raíz. LA RAÍZ ES UN COMPROMISO SOBRE EL CONJUNTO ENTERO.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C.4 · FIGURA 2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3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PRUEBA DE INCLUSIÓN: TRES HASHES EN LUGAR DE OCHO HOJAS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31536" y="1965960"/>
            <a:ext cx="124358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31536" y="19659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RAÍZ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51760" y="2880360"/>
            <a:ext cx="124358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5176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H(ABCD)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11312" y="2880360"/>
            <a:ext cx="124358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11312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H(EFGH)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261872" y="3794760"/>
            <a:ext cx="124358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37947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H(AB)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3794760"/>
            <a:ext cx="124358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41648" y="37947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H(CD)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821424" y="3794760"/>
            <a:ext cx="1243584" cy="4572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21424" y="37947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H(EF)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601200" y="3794760"/>
            <a:ext cx="1243584" cy="4572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601200" y="37947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H(GH)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243584" cy="4572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709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H(A)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956816" y="4709160"/>
            <a:ext cx="1243584" cy="4572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956816" y="4709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H(B)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46704" y="4709160"/>
            <a:ext cx="124358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46704" y="4709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H(C)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36592" y="4709160"/>
            <a:ext cx="124358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36592" y="4709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H(D)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126480" y="4709160"/>
            <a:ext cx="1243584" cy="4572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26480" y="4709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H(E)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516368" y="4709160"/>
            <a:ext cx="1243584" cy="4572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516368" y="4709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H(F)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06256" y="4709160"/>
            <a:ext cx="1243584" cy="4572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906256" y="4709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H(G)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10296144" y="4709160"/>
            <a:ext cx="1243584" cy="4572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296144" y="4709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H(H)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 flipV="1">
            <a:off x="1188720" y="45445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2578608" y="45445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88720" y="4544568"/>
            <a:ext cx="1389888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1883664" y="4251960"/>
            <a:ext cx="0" cy="292608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3968496" y="45445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358384" y="45445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968496" y="4544568"/>
            <a:ext cx="1389888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663440" y="4251960"/>
            <a:ext cx="0" cy="292608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6748272" y="45445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8138160" y="45445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748272" y="4544568"/>
            <a:ext cx="1389888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443216" y="4251960"/>
            <a:ext cx="0" cy="292608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9528048" y="45445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10917936" y="45445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528048" y="4544568"/>
            <a:ext cx="1389888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10222992" y="4251960"/>
            <a:ext cx="0" cy="292608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1883664" y="36301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4663440" y="36301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883664" y="3630168"/>
            <a:ext cx="2779776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3273552" y="3337560"/>
            <a:ext cx="0" cy="292608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7443216" y="36301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222992" y="36301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443216" y="3630168"/>
            <a:ext cx="2779776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8833104" y="3337560"/>
            <a:ext cx="0" cy="292608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3273552" y="27157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8833104" y="2715768"/>
            <a:ext cx="0" cy="164592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3273552" y="2715768"/>
            <a:ext cx="5559552" cy="0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053328" y="2423160"/>
            <a:ext cx="0" cy="292608"/>
          </a:xfrm>
          <a:prstGeom prst="line">
            <a:avLst/>
          </a:prstGeom>
          <a:noFill/>
          <a:ln w="22225">
            <a:solidFill>
              <a:srgbClr val="0F0F11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6928" y="5440680"/>
            <a:ext cx="11057839" cy="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566928" y="555955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 DE INCLUSIÓN DE C  =  H(D) + H(AB) + H(EFGH)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5687568" y="5559552"/>
            <a:ext cx="59371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naranja: la prueba · violeta: el camino que se recalcula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C.4 · FICHA DE TÉRMINO 04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PRUEBA DE INCLUSIÓN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30632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5681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19293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 DE TÉRMINO 04 · MERKLE PROOF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804672" y="2322576"/>
            <a:ext cx="10582351" cy="73152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69264" y="2414016"/>
            <a:ext cx="102531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Conjunto mínimo de hashes que permite a quien conoce la raíz verificar que un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elemento pertenece al conjunto, SIN NECESIDAD DE CONOCER LOS DEMÁS ELEMENTOS.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04672" y="3191256"/>
            <a:ext cx="1058235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recibe la prueba parte del dato, calcula su hash, lo combina con el primer hash de la prueba, hashea el resultado, lo combina con el siguiente, y así sucesivamente. Si el valor al que llega coincide con la raíz que ya tenía, el elemento estaba en el conjunto. Si no coincide, no estaba.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804672" y="4197096"/>
            <a:ext cx="105823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notable es lo que NO hace falta: no se necesitan los otros elementos, ni confiar en quien envía la prueba. Una prueba falsa no cuadra con la raíz.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66928" y="4983480"/>
            <a:ext cx="11057839" cy="9601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520293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51755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TRAMPA DEL LABORATORIO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804672" y="5495544"/>
            <a:ext cx="105823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prueba debe guardar si cada hermano estaba a la izquierda o a la derecha. Si se concatena siempre en el mismo orden, la verificación falla la mitad de las veces.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C.4 · POR QUÉ ESTO LO CAMBIA TODO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CRECIMIENTO LOGARÍTMICO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prueba tiene tantos hashes como niveles tiene el árbol, es decir log₂(n). Ese crecimiento tan lento es lo que hace la técnica útil a escala real.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926080"/>
                <a:gridCol w="49313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ELEMENTOS EN EL CONJUNTO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HASHES EN LA PRUEBA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TAMAÑO APROXIMADO (32 BYTES CADA UNO)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 bytes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1 024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 bytes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1 048 576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 bytes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1 000 000 000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bytes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267712"/>
            <a:ext cx="11094415" cy="21854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4663440"/>
            <a:ext cx="11057839" cy="128016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950976" y="4882896"/>
            <a:ext cx="1028974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Multiplicar el conjunto por mil añade diez hashes a la prueba. Un teléfono verifica la pertenencia a un conjunto de mil millones de elementos con menos de un kilobyte.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C.4 · CIERRE DEL BLOQUE CONCEPTUAL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DÓNDE VUELVE A APARECER ESTO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11057839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19110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LA CABECERA DEL BLOQUE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230368" y="1892808"/>
            <a:ext cx="61200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raíz es uno de los campos de la Fig. 2 de la Sesión 1. Alterar una transacción cambia la raíz, que cambia el hash del bloque, que rompe el enlace del siguiente. Ahora esa cadena es demostrable, no una afirmación.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2862072"/>
            <a:ext cx="11057839" cy="9144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29900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LOS CLIENTES LIGEROS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971800"/>
            <a:ext cx="61200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lo que permite que una billetera de teléfono verifique sus transacciones sin descargar la cadena. Retoma la distinción entre nodo completo y ligero de la Sesión 1.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941064"/>
            <a:ext cx="11057839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1248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LAS LISTAS DE DISTRIBUCIÓN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230368" y="4050792"/>
            <a:ext cx="61200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publica una sola raíz en el contrato en lugar de miles de direcciones, y cada beneficiario presenta su prueba. Se usa en la Sesión 10.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020056"/>
            <a:ext cx="11057839" cy="9144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1248" y="51480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EL DIRECCIONAMIENTO POR CONTENIDO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230368" y="5129784"/>
            <a:ext cx="61200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de cómo IPFS identifica archivos. Se usa en la Sesión 11.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120 — 170 · EN MÁQUINA, EN PAREJAS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CÓDIGO, EN VIVO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Recorremos la implementación completa, la ejecutan ustedes, y de ahí sale el trabajo del semestre.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FORMATO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 ENTREGA RESUELTO, Y SE LEE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código de esta sesión viene completo. No hay que escribirlo desde cero: hay que ENTENDERLO, ejecutarlo y romperlo. Son setenta líneas y en ellas está toda la Sesión 2.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259689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298448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RECORREMOS JUNTOS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596128" y="2542032"/>
            <a:ext cx="60286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láminas, función por función. Cada una responde a una idea que ya vimos en el bloque C.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43230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346557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298448" y="34290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EJECUTAN USTEDES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596128" y="3410712"/>
            <a:ext cx="60286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sus máquinas, con los ocho valores de referencia. La raíz que obtengan debe coincidir con la de la lámina.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30098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33425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298448" y="429768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ROMPEN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596128" y="4279392"/>
            <a:ext cx="60286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Cambian un carácter de un dato y vuelven a calcular. Ahí se ve el compromiso de la raíz, en su propia pantalla.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16966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" y="52029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1298448" y="516636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CONVIERTEN EN ALGO SUYO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596128" y="5148072"/>
            <a:ext cx="60286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trabajo del semestre parte de aquí: construir una interfaz sobre este código.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03834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90702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6928" y="5532120"/>
            <a:ext cx="11057839" cy="77724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751576"/>
            <a:ext cx="237744" cy="23774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133856" y="572414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ASÍ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804672" y="5971032"/>
            <a:ext cx="105823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Leer código ajeno y entenderlo es una competencia profesional. Escribirlo desde cero, hoy, no lo es todavía.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EL CÓDIGO · 1 DE 5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HASH Y EFECTO AVALANCHA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537960" cy="2880360"/>
          </a:xfrm>
          <a:prstGeom prst="rect">
            <a:avLst/>
          </a:prstGeom>
          <a:solidFill>
            <a:srgbClr val="0F0F11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1938528"/>
            <a:ext cx="6035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hash_hex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(dato):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isinstance(dato, str):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dato = dato.encode(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FD9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hashlib.sha256(dato).hexdigest()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bits_distintos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(a, b):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bin(int(a, 16) ^ int(b, 16)).count(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FD9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"1"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87768" y="1737360"/>
            <a:ext cx="4334256" cy="13258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16368" y="18653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¿POR QUÉ .encode()?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516368" y="21762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hashea BYTES, no texto. Fijar utf-8 explícitamente es lo que hace que dos máquinas obtengan el mismo hash.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287768" y="3200400"/>
            <a:ext cx="4334256" cy="13258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16368" y="332841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¿POR QUÉ XOR?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516368" y="363931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XOR pone a 1 exactamente los bits que difieren. Contar los unos da el número de bits distintos — comparar caracteres hexadecimales daría otra cosa: cada carácter son 4 bits.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57839" cy="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0292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1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PROMEDIO SOBRE 100 PARES QUE DIFIEREN EN UN CARÁCTER → ≈ 128 DE 256 BITS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544068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número no está pactado en ninguna parte del código: emerge de la función. Es la propiedad del efecto avalancha, medida.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EL CÓDIGO · 2 DE 5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TRES CONVENCIONES, EN TRES LÍNEAS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371600"/>
          </a:xfrm>
          <a:prstGeom prst="rect">
            <a:avLst/>
          </a:prstGeom>
          <a:solidFill>
            <a:srgbClr val="0F0F11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19659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_combinar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(izquierdo, derecho):
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hashlib.sha256(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bytes.fromhex(izquierdo) + bytes.fromhex(derecho)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).hexdigest()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324612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línea, y es donde se pierde la mitad de las parejas. Si en lugar de bytes.fromhex() se concatenan las cadenas de texto, el resultado es un hash perfectamente válido — y distinto del de todo el mundo.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069848" y="4023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HOJAS SON EL HASH DEL DATO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76088" y="4005072"/>
            <a:ext cx="6348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mete el dato crudo en el árbol. Se hashea primero.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89534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069848" y="47365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CONCATENAN BYTES, NO TEXTO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276088" y="4718304"/>
            <a:ext cx="6348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bytes.fromhex() convierte los 64 caracteres hexadecimales en los 32 bytes que representan.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" y="460857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5468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69848" y="54498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NIVEL IMPAR: SE DUPLICA EL ÚLTIMO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276088" y="5431536"/>
            <a:ext cx="6348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una convención, no una ley matemática. Otras implementaciones eligen distinto — y obtienen otra raíz.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66928" y="532180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66928" y="6035040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EL CÓDIGO · 3 DE 5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CONSTRUIR EL ÁRBOL: UN BUCLE QUE SUBE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537960" cy="3200400"/>
          </a:xfrm>
          <a:prstGeom prst="rect">
            <a:avLst/>
          </a:prstGeom>
          <a:solidFill>
            <a:srgbClr val="0F0F11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1938528"/>
            <a:ext cx="60350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construir_arbol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(hojas):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nivel = [hash_hex(h)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hojas]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niveles = []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True: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len(nivel) &gt; 1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len(nivel) % 2 == 1: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nivel = nivel + [nivel[-1]]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niveles.append(nivel)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len(nivel) == 1: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niveles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nivel = [_combinar(nivel[i], nivel[i+1])
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range(0, len(nivel), 2)]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287768" y="1737360"/>
            <a:ext cx="4334256" cy="150876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16368" y="18653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→ 4 → 2 →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516368" y="219456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vuelta del bucle reduce el nivel a la mitad. Por eso la altura del árbol es log₂(n), y por eso la prueba de inclusión también.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287768" y="3383280"/>
            <a:ext cx="4334256" cy="150876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16368" y="3511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¿POR QUÉ DEVUELVE TODOS LOS NIVELES?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516368" y="384048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generar_prueba() los necesita: para subir por el árbol hay que saber quién era el hermano en cada escalón.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516636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naranja es la convención 3. Es la única decisión arbitraria de toda la función — y es la que hay que acordar antes de comparar resultados con otra pareja.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EL CÓDIGO · 4 DE 5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GENERAR Y VERIFICAR LA PRUEBA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419192" cy="2331720"/>
          </a:xfrm>
          <a:prstGeom prst="rect">
            <a:avLst/>
          </a:prstGeom>
          <a:solidFill>
            <a:srgbClr val="0F0F11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86384" y="1920240"/>
            <a:ext cx="4980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generar_prueba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(hojas, indice):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niveles = construir_arbol(hojas)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prueba, idx = [], indice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nivel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niveles[:-1]: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% 2 == 0: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prueba.append((nivel[idx+1],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D9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"der"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prueba.append((nivel[idx-1],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D9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"izq"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idx = idx // 2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5576" y="1737360"/>
            <a:ext cx="5419192" cy="2331720"/>
          </a:xfrm>
          <a:prstGeom prst="rect">
            <a:avLst/>
          </a:prstGeom>
          <a:solidFill>
            <a:srgbClr val="0F0F11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25032" y="1920240"/>
            <a:ext cx="4980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verificar_prueba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(dato, prueba, raiz):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actual = hash_hex(dato)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hermano, lado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lado ==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D9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"izq"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actual = _combinar(hermano, actual)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actual = _combinar(actual, hermano)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 == raiz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57839" cy="14173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425696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33856" y="43982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DOS LÍNEAS NARANJA SON EL MISMO TEMA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804672" y="4736592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 izquierda, idx // 2 es «subir un escalón». A la derecha, el orden de la concatenación depende del lado. Si se ignora el lado y se concatena siempre igual, la verificación falla la mitad de las veces — y falla de forma intermitente, que es lo peor que le puede pasar a un error.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66928" y="574243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Nótese lo que verificar_prueba NO recibe: el conjunto de datos. Solo el dato, los hashes hermanos y la raíz. Ahí está toda la utilidad de la estructura.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EL CÓDIGO · 5 DE 5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AHORA CÓRRANLO USTEDES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Quince minutos. En parejas, con el código ya en la máquina.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66928" y="232257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298448" y="22860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EJECUTAR EL ARCHIVO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681728" y="2267712"/>
            <a:ext cx="69430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merkle.py  ·  o  node merkle.js</a:t>
            </a: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 imprimir los dos hashes de referencia, los bits distintos y la raíz de ocho elementos.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15798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331012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298448" y="327355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COMPARAR LA RAÍZ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681728" y="3255264"/>
            <a:ext cx="69430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raíz de lote-000 … lote-007 debe empezar por 53c895e4. Si no coincide, revisen las tres convenciones.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14553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29768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298448" y="426110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ROMPERLA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681728" y="4242816"/>
            <a:ext cx="69430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Cambien un solo carácter de un solo dato. Vuelvan a ejecutar. La raíz cambia por completo: el compromiso, en su propia pantalla.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13308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" y="52852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1298448" y="524865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PEDIR UNA PRUEBA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681728" y="5230368"/>
            <a:ext cx="69430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generar_prueba(lotes, 2) devuelve 3 hashes. Verifíquenla. Después verifiquen un dato que NO está y comprueben que devuelve falso.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120640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6108192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6928" y="5532120"/>
            <a:ext cx="11057839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95528" y="5532120"/>
            <a:ext cx="106006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RAÍZ DE REFERENCIA  ·  53c895e4efd5451ab9e313d532203158e907660d0e5d860a5a5cc99ada592fa3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HERRAMIENTA DE APOYO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VISOR DE ÁRBOLES DE MERKLE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página que implementa exactamente estas mismas tres convenciones. Sirve para comprobar el propio código y para ver el árbol completo, que en texto no se aprecia.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514600"/>
            <a:ext cx="5419192" cy="11887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2660904"/>
            <a:ext cx="487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EDITAR LOS DATOS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2990088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ver la raíz cambiar al instante, con la anterior tachada al lado.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05576" y="2514600"/>
            <a:ext cx="5419192" cy="11887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79896" y="2660904"/>
            <a:ext cx="487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 EN UNA HOJA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479896" y="2990088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resalta en violeta el camino hasta la raíz y en naranja los hashes que forman la prueba.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86200"/>
            <a:ext cx="5419192" cy="11887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4032504"/>
            <a:ext cx="487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VERIFICACIÓN PASO A PASO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41248" y="4361688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combinación, con el lado y el valor intermedio, hasta comparar con la raíz.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05576" y="3886200"/>
            <a:ext cx="5419192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79896" y="4032504"/>
            <a:ext cx="487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PROBAR CON UN DATO FALSO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479896" y="4361688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muestra el rechazo. Una verificación que solo acepta lo correcto está a medio escribir.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5349240"/>
            <a:ext cx="11057839" cy="91440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568696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133856" y="55412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IMPORTANTE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804672" y="5843016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raíz del visor y la de su código deben ser idénticas. Si no lo son, la diferencia está en una de las tres convenciones.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TRABAJO DEL SEMESTRE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CONSTRUYAN SU PROPIA INTERFAZ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del código que acaban de ejecutar, construir una interfaz web que lo haga visible. No hay que reimplementar la criptografía: ya está resuelta y probada.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173736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59536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MÍNIMO EXIGIBLE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59536" y="3035808"/>
            <a:ext cx="1047262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campo para introducir varios datos · la raíz calculada y visible · que la raíz cambie al editar un dato · y que se vea, de alguna forma, la estructura del árbol.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4434840"/>
            <a:ext cx="3576218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4562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04672" y="4828032"/>
            <a:ext cx="31007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de inclusión al hacer clic en un elemento.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07738" y="4434840"/>
            <a:ext cx="3576218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45482" y="4562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SUMA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545482" y="4828032"/>
            <a:ext cx="31007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paso a paso, mostrando cada combinación.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48549" y="4434840"/>
            <a:ext cx="3576218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6293" y="4562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SUMA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6293" y="4828032"/>
            <a:ext cx="31007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Rechazo visible de un elemento que no pertenece.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 libre. Puede ser una sola página con HTML y JavaScript, o el marco de trabajo que prefieran. Lo que se evalúa es que funcione y que se entienda lo que muestra.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PROYECTAR ANTES DE EMPEZAR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ERRORES FRECUENTES · 1 DE 2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7839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02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SÍNTOMA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CAUSA Y SOLUCIÓN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12070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hash cambia entre ejecuciones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está hasheando un objeto cuya representación varía —un diccionario sin orden fijo, o algo con marca temporal—. Hay que hashear BYTES de una serialización determinista, no la representación de un objeto.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2070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hash no coincide con el de un compañero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Codificación de texto distinta, o un salto de línea invisible al final de la cadena. Fijar utf-8 explícitamente y comprobar la longitud en bytes antes de hashear.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12070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raíz no coincide con la de otra pareja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Casi siempre una de tres: se concatenan CADENAS HEXADECIMALES en lugar de BYTES; se hashea el elemento crudo en lugar de su hash al construir las hojas; o se resuelve distinto el nivel impar. Acordar las tres convenciones antes de comparar.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64792"/>
            <a:ext cx="11094415" cy="39684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D · PROYECTAR ANTES DE EMPEZAR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ERRORES FRECUENTES · 2 DE 2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7839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02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SÍNTOMA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CAUSA Y SOLUCIÓN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verificación falla la mitad de las veces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está respetando el orden izquierda/derecha al concatenar con el hermano. Es el error más común de la parte 3: la prueba debe guardar la posición, no solo el hash.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promedio de bits distintos da lejos de 128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están comparando caracteres hexadecimales en lugar de bits. Cada carácter hexadecimal son 4 bits: hay que convertir a entero y usar XOR, no comparar cadenas posición a posición.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 JavaScript los números salen mal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 bits no caben en el tipo numérico por defecto. Usar BigInt para las operaciones de bits, o trabajar directamente sobre Buffer byte a byte.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biblioteca de «SHA-3» da otro resultado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 la trampa de C.3: unas bibliotecas llaman sha3 a la variante de Ethereum y otras a la del estándar. Comprobar contra un valor conocido antes de confiar.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64792"/>
            <a:ext cx="11094415" cy="39684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170 — 180 · PLENARIA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CIERRE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llevarse, qué entregar y qué viene en la Sesión 3.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E · SÍNTESIS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HAY QUE LLEVARSE DE ESTA SESIÓN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80136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938528" y="1755648"/>
            <a:ext cx="96862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hash NO es cifrado, ni compresión, ni azar, ni firma. Es una función determinista de un solo sentido.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165506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5146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938528" y="2468880"/>
            <a:ext cx="96862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colisiones EXISTEN NECESARIAMENTE: infinitas entradas, finitas salidas. La seguridad está en que nadie pueda encontrarlas.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236829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938528" y="3182112"/>
            <a:ext cx="96862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EFECTO AVALANCHA ya no es una afirmación: cada pareja lo midió y obtuvo alrededor de 128 bits sobre 256.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08152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94106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CUATRO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938528" y="3895344"/>
            <a:ext cx="96862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RAÍZ DE MERKLE es un compromiso sobre todo el conjunto. Por eso alterar una transacción rompe el bloque, y romper el bloque rompe la cadena.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3794760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65429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CINCO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938528" y="4608576"/>
            <a:ext cx="96862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puede probar pertenencia con LOG₂(N) HASHES. Mil millones de elementos caben en una prueba de menos de un kilobyte.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507992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53675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SEIS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938528" y="5321808"/>
            <a:ext cx="96862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función se elige POR EL PROBLEMA: rápida para verificar cadenas, deliberadamente lenta para guardar contraseñas.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2122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6928" y="593445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E · PUENTE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HOY RESOLVIMOS LA MITAD DEL PROBLEMA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Sabemos comprobar que un dato no cambió. Pero un hash lo puede calcular cualquiera, y por lo tanto no dice nada sobre QUIÉN escribió el dato.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14173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7824" y="2697480"/>
            <a:ext cx="1043604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demostración de apertura hubo un momento en el que el docente pulsó «Confirmar» y la red aceptó la transacción como suya. Nadie mostró un documento de identidad. ¿Cómo se logra eso?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66928" y="4114800"/>
            <a:ext cx="11057839" cy="178308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77824" y="43434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03 · FIRMAS DIGITALES Y ANATOMÍA DE LA CADENA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77824" y="4709160"/>
            <a:ext cx="104360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Criptografía asimétrica, firma con curva elíptica, y la construcción completa clave privada → clave pública → dirección que hoy quedó dibujada pero no demostrada. Con las firmas disponibles, el laboratorio construye la mini-blockchain con transacciones firmadas de verdad.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 · GLOSARIO DE LA SESIÓN · 1 DE 2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GLOSARIO DE LA SESIÓN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los términos que introduce esta sesión. Los de la Sesión 1 no se repiten y siguen siendo exigibles.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1488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Árbol de Merkle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035808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Merkle tree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818888" y="2121408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Árbol binario en el que cada hoja es el hash de un dato y cada nodo interno es el hash de la concatenación de sus dos hijos. Resume un conjunto entero en un único valor.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039112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2724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Colisión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818888" y="2697480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de entradas distintas que producen el mismo hash. Existen necesariamente; la seguridad consiste en que sean inencontrables, no inexistentes.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61518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3300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Digest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035808" y="33284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818888" y="3273552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Sinónimo de hash: la salida de longitud fija que produce la función. También «huella digital».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19125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38770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Efecto avalancha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818888" y="3849624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Propiedad por la cual un cambio mínimo en la entrada altera aproximadamente la mitad de los bits de la salida, de forma impredecible.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376732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453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Función hash criptográfica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818888" y="4425696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determinista que convierte una entrada de longitud arbitraria en una salida de longitud fija, barata de calcular e inviable de invertir.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343400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" y="50292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Keccak-256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818888" y="5001768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hash de 256 bits que usa Ethereum en todo. Corresponde a la versión original del concurso SHA-3 y NO coincide con SHA3-256, que lleva un relleno distinto.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4919472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66928" y="56052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Paradoja del cumpleaños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818888" y="5577840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Fenómeno por el cual hallar cualquier coincidencia dentro de un conjunto es mucho más barato que hallar una coincidencia con un elemento fijo. Explica que la resistencia a colisiones sea del orden de 2ⁿ/².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549554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6928" y="607161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 · GLOSARIO DE LA SESIÓN · 2 DE 2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GLOSARIO · CONTINUACIÓN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Preimagen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818888" y="1783080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que produce un hash dado. La resistencia a preimagen exige que, conocido el hash, sea inviable hallar una entrada que lo genere.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170078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3865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 de inclusión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035808" y="2414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Merkle proof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18888" y="2359152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mínimo de hashes hermanos que permite verificar que un elemento pertenece a un conjunto conociendo solo la raíz. Su tamaño crece como log₂(n).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227685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29626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Raíz de Merkle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035808" y="29900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Merkle root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818888" y="2935224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superior del árbol. Compromiso sobre el conjunto completo: cambiar cualquier elemento la cambia. Es uno de los campos de la cabecera de un bloque.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2852928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35387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035808" y="3566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818888" y="3511296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aleatorio que se añade a una entrada antes de hashearla para que entradas iguales produzcan salidas distintas. Imprescindible con contraseñas; no se usa en una cadena de bloques, cuyos hashes deben ser reproducibles.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3429000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1148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Segunda preimagen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818888" y="4087368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distinto de uno dado que produce su mismo hash. Más difícil de hallar que una colisión, porque uno de los dos mensajes está fijado.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005072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" y="46908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818888" y="4663440"/>
            <a:ext cx="6805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hash de 256 bits de la familia SHA-2. La que usa Bitcoin en identificadores, árboles de Merkle y prueba de trabajo.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4581144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5157216"/>
            <a:ext cx="11057839" cy="0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 · FUENTES Y LECTURAS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02 · INTEGRIDAD VERIFICABLE: HASH Y ÁRBOLES DE MERKLE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11057839" cy="14813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1892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FUENTES PRIMARIAS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41248" y="2203704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Merkle, R. (1979). A Certified Digital Signature. Origen de la estructura.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Nakamoto, S. (2008). Bitcoin. Sección 7 «Reclaiming Disk Space» y sección 8 «Simplified Payment Verification».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Especificaciones oficiales de SHA-2 y SHA-3 del instituto de estándares estadounidense.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465576"/>
            <a:ext cx="11057839" cy="14813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3575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AMPLIACIÓN RECOMENDADA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41248" y="388620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Antonopoulos, A. Mastering Bitcoin. Capítulo sobre estructura del bloque y árboles de Merkle. Libre acceso.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Narayanan, A. et al. Bitcoin and Cryptocurrency Technologies. Capítulo 1, primitivas criptográficas.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de Solidity, entrada del operador keccak256 — anticipa su uso desde la Sesión 6.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5568" y="139903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 DE LA SESIÓN 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21488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SESIÓN: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FIRMAS DIGITALES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566928" y="4069080"/>
            <a:ext cx="8961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Criptografía asimétrica, ECDSA y la mini-blockchain con transacciones firmadas de verdad. Entregable de hoy: repositorio con la suite de pruebas pasando, antes de que empiece.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66928" y="544068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Universidad de San Buenaventura Medellín · Facultad de Ingeniería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Blockchain y Web 3.0 · Unidad I · Sesión 02 de 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Blockchain y Web 3.0 — Sesión 02</dc:title>
  <dc:subject>Integridad verificable: hash y árboles de Merkle</dc:subject>
  <dc:creator>Universidad de San Buenaventura Medellín</dc:creator>
  <cp:lastModifiedBy>Universidad de San Buenaventura Medellín</cp:lastModifiedBy>
  <cp:revision>1</cp:revision>
  <dcterms:created xsi:type="dcterms:W3CDTF">2026-08-20T15:10:37Z</dcterms:created>
  <dcterms:modified xsi:type="dcterms:W3CDTF">2026-08-20T15:10:37Z</dcterms:modified>
</cp:coreProperties>
</file>