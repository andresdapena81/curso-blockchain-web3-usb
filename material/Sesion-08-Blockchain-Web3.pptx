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(3 min). Retomar la pregunta de la semana de la S7 (el postor hostil que bloquea sin robar). Sesión bisagra: desde hoy todo el trabajo del curso, incluido el proyecto, se hace con este flujo. La pregunta que guía el día: ¿cómo sé que mis pruebas sirven, y no solo que están en verde?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+ 10 + 80 + 25 = 180. El plan pide migrar el contrato de la S7 a Hardhat: aquí el laboratorio usa Recaudo (un contrato nuevo, sin pruebas) para que nadie copie la suite de la S7, y la migración real ocurre en el bloque C con el contrato del proyecto. Antes de la clase: probar el flujo completo en una máquina de la sala (el plan lo exige: sección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minuto. La tercera pregunta es el corazón de la sesión: al final del bloque A tienen que poder responderla con un ejemplo concreto.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Mutante y cobertura son las dos palabras que más se confunden: la cobertura mide qué se ejecutó; el mutante mide si alguien lo comprobó.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Recordar la S6: 'hoy desplegaron un programa que ya no pueden cambiar'. Las pruebas son la única red de seguridad antes del despliegue.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Preguntar: en la S7, ¿cuántas veces tuvieron que desplegar en Remix para probar la subasta? ¿Cuánto tardaría probar a mano las 23 situaciones de la suite? El plan menciona Foundry como alternativa: mismo flujo, pruebas en Solidity; en el curso se usa Hardhat para no duplicar entornos.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Error típico de quien viene de Remix: desplegar en Sepolia para 'probar'. Cada despliegue cuesta ETH de prueba y minutos de espera; en la red local cuesta milisegundos.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Abrir el hardhat.config.js real del repositorio en el proyector. Señalar la versión del compilador y el optimizador: son los mismos que hay que declarar al verificar. Hardhat 3 usa módulos ES (import/export): por eso package.json dice "type":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Las 20 cuentas y los 10 000 ETH se comprobaron en el repositorio del curso (ethers.getSigners() devuelve 20). Cada ejecución de npx hardhat test arranca una cadena nueva en memoria; nada persiste entre corridas. Error típico: importar una de estas cuentas en MetaMask y usarla en Sepolia: cualquiera la puede vaciar.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Salida verificada con un contrato de prueba en el repositorio (la dirección es la segunda cuenta de la red local). %s para texto y direcciones, %d para números. Demostración en vivo opcional: agregar un console.log a Recaudo.aportar() y correr una prueba; después quitarlo.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En el repositorio del curso OpenZeppelin ya está instalado; el comando es el que usarán en el repositorio del proyecto. versiones.md documenta la decisión de congelar versiones (plan, sección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Leer la prueba en voz alta como una frase: 'Recaudo, al aportar, rechaza un aporte de cero'. Si el nombre no se lee como una especificación, está mal nombrado. En Hardhat 3 la red se obtiene con network.create() y loadFixture exige una función con nombre (no una flecha anónima): son los dos errores más comunes al copiar tutoriales de Hardhat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Ejemplo: una prueba adelanta el reloj una semana; si la siguiente no restaura, encuentra el plazo vencido y falla sin razón aparente. Con loadFixture, el reloj vuelve al momento de la instantánea.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Todos los ejemplos están en test/s07/Subasta.test.js: los conocen de la semana pasada. Preguntar por cada familia: ¿cuál de las pruebas de la S7 es de esta familia?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Una prueba que solo dice 'revirtió' pasa aunque revierta por la razón equivocada (por ejemplo, falta de fondos en lugar de la regla que se quería probar). revertedWithCustomError con withArgs es la forma de exigir la razón correcta. En Hardhat 3 los matchers de saldo reciben ethers como primer argumento.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Error típico: olvidar connect y hacer todo con la primera cuenta (el dueño). Así, las pruebas de permisos pasan por accidente.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Ejemplo con la Subasta de la S7, no con Recaudo. Dibujar en el tablero la línea de tiempo fin-1, fin, fin+1 y marcar qué debe pasar en cada punto según el &gt;= del contrato. fin es un BigInt en ethers v6: por eso fin - 1n.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Preguntar: ¿una prueba que llama aportar() sin ningún expect cuenta para la cobertura? Sí. ¿Prueba algo? Solo que no revierte.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Cifras medidas con las 23 pruebas de la S7. La línea 118 no se cubre porque ninguna prueba usa un receptor que rechace el retiro: alcanzarla exige un contrato auxiliar. No todo el 100 % vale la pena; lo que importa es saber POR QUÉ cada línea queda sin cubrir.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Los dos mutantes se corrieron de verdad contra test/s07/Subasta.test.js al preparar la sesión: el primero hace fallar 'exige superar la puja anterior al menos en 1 %' y 'se usa desde la subasta: 1 % de 2 ETH'; el segundo sobrevive con 23 en verde. Ejercicio relámpago: ¿qué prueba agregarían? Aquí los ejemplos son de la S7 a propósito: los mutantes del laboratorio no se muestran.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Cifras exactas medidas: 88,46 % de líneas con 13 pruebas; 92,31 % con 16. El 92 % no llega a 100 porque las dos líneas 'revert EnvioFallido' solo se alcanzan con un receptor que rechace el pago. NO decir cuáles son las tres pruebas ni qué cambia cada mutante: el solucionario está en el repositorio privado.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Esta tabla es la herramienta del laboratorio. No asociar ninguna fila a un mutante concreto: si preguntan '¿cuál es el de tiempo?', devolver la pregunta: '¿qué comparaciones con el tiempo tiene Recaudo, y qué prueba haría falta en cada límite?'.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Salida real y recortada de la suite de la S7 (23 pruebas). Es la misma herramienta con la que llenaron la tabla push/pull la semana pasada. En el proyecto, la rúbrica pide 'gas optimizado': esta tabla es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Diferencia con un script suelto: si un script se cae después de desplegar y antes de guardar la dirección, al repetirlo despliega otra vez. Ignition guarda un diario (journal) y no repite lo que ya se hizo. Los valores grandes van como texto en el JSON porque 5·10¹⁵ no cabe exacto en un número de JavaScript.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Fuente: ConsenSys, 'How to Avoid Uploading Your Private Key to GitHub' (consensys.io/blog). Documentación de Hardhat 3: keystore y configuration variables; también existe keystore set --dev para valores no sensibles sin contraseña. Nada de archivos .env con la clave: el curso usa solo el keystore. La frase semilla no va en ningún lado: ni en el keystore.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La marca de verificación es lo que la S6 hizo a mano en el explorador; aquí es una bandera del mismo comando de despliegue. Verificar es el 'verificar en vez de creer' del curso aplicado al propio contrato.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Respuestas: (1) el emit Retiro borrado de A.15, o cualquier valor que se ejecuta pero no se compara; (2) increaseTo mina un bloque en fin y la siguiente cae en fin + 1; setNextBlockTimestamp hace que la siguiente caiga exactamente en fin; (3) npx hardhat test &lt;archivo&gt; --coverage, la fila del contrato, columna Line % y Uncovered Lines; (4) en el keystore cifrado de la carpeta de usuario; hardhat.config.js solo la NOMBRA con configVariable. Pausa de 10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Repartir el PDF de la guía (laboratorios-evm/guias/s08-pruebas-y-mutantes.pdf). Regla que se dice en voz alta ahora: no se abren los archivos de los mutantes hasta que los tres estén muertos.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minutos. El plan advierte que la red de la sala es el riesgo operativo principal: tener la copia en USB lista. No avanzar con parejas cuyo entorno falla: se pierden todo 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Pedir que subrayen en Recaudo.sol cada comparación (&lt;, &gt;=, ==) y cada cambio de estado: ese subrayado es su lista de pruebas de borde. No decir cuáles importan.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minutos. Circular. La ficha es el consejo más importante del laboratorio y es general: aplica a cualquier prueba de reversión. Si una pareja tiene dudas de sintaxis, remitir a las láminas A.10–A.12 y a la sección de herramientas de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minutos. 11,54 % es la cobertura medida con las dos pruebas de la plantilla. Llegar al 80 % es fácil; la parte 3 muestra que no basta.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minutos. Salida real con la plantilla de 2 pruebas. Mutante muerto = al menos una prueba falla contra él. Si una pareja pide pistas, solo preguntas de la tabla A.17 aplicadas a una función: '¿qué pasa en el límite exacto de esa comparación?', nunca 'el mutante 2 es…'. Con la suite de referencia del docente, cada mutante muere con exactamente una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La dirección 0x5FbDB… es siempre la misma en la red local: primera cuenta, nonce 0. Si falla aquí, fallará en Sepolia: se corrige aquí.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minutos. Si --verify falla por tiempo, repetir EL MISMO comando: Ignition sabe que ya desplegó y solo reintenta la verificación. La cuenta que desplegó es el owner(): solo ella puede reclamar. Si no alcanza el tiempo para esperar los 30 minutos, reclamar en casa y adjuntar el hash.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Evidencia de la sesión según el plan: repositorio con suite de pruebas verde y contrato verificado. La rúbrica completa está en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Respuestas esperadas: (1) el 80 % es necesario, no suficiente; (2) depende de la pareja: lo que importa es que puedan explicar por qué SOLO la regla podía hacerla fallar; (3) típicamente las dos líneas revert EnvioFallido: exigen un receptor que rechace el pago; (4) ignition/parametros/recaudo-sepolia.json y el mismo ignition deploy (un despliegue nuevo con otros parámetros usa otro --deployment-id o --reset en la red local). No revelar aquí las pruebas del solucionario.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minutos: cada equipo crea su repositorio en clase, con el docente circulando. Los equipos reorientados en la S7 que aún no tengan alcance aprobado usan este tiempo con el docente: sin alcance aprobado no hay repositorio que montar.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npx hardhat --init existe en Hardhat 3 (opción global --init; se verificó en la ayuda de la versión 3.16.0). Si la red de la sala impide instalar, alternativa: copiar la estructura de laboratorios-evm sin sus contratos. docs/ guarda el anteproyecto y el informe de decisiones: la rúbrica pide documentación.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El .gitignore es el real del repositorio del curso. ignition/deployments/chain-31337 (red local) se ignora; el de Sepolia (chain-11155111) SÍ se sube como evidencia. Recordar que con el keystore no hay .env con secretos; el .env está en la lista por si alguien trae la costumbre de otro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Avance 1 (S13): contratos desplegados y verificados en Sepolia, cobertura ≥ 80 % y repositorio documentado. Desde hoy se espera que maten a sus propios mutantes: en la S9 la auditoría cruzada lo va a intentar por ellos.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prepara la conversación de auditorías de la Sesión 9: cobertura, mutación, fuzzing, análisis estático, verificación formal y auditoría externa son evidencias distintas y complementarias.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(1 minuto). Recordar el parcial práctico de la S9: en máquina, libro abierto, con este mismo entorno. Quien no tenga el entorno funcionando hoy, lo resuelve esta semana.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PROBAR</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08 · UNIDAD II · ETHEREUM Y CONTRATOS</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PROBAR ANTES</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DE QUE SEA</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PARA SIEMPRE</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Hardhat, pruebas automatizadas y despliegue reproducible: el flujo real de un equipo que no puede publicar parches.</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Hoy se sale del navegador. Y se aprende la diferencia entre tener pruebas y tener pruebas que atrapan errores. Pausa de 10 minutos entre A y B.</a:t>
            </a:r>
            <a:endParaRPr lang="en-US" sz="1450" dirty="0"/>
          </a:p>
        </p:txBody>
      </p:sp>
      <p:sp>
        <p:nvSpPr>
          <p:cNvPr id="9" name="Shape 6"/>
          <p:cNvSpPr/>
          <p:nvPr/>
        </p:nvSpPr>
        <p:spPr>
          <a:xfrm>
            <a:off x="566928" y="2468880"/>
            <a:ext cx="11057839" cy="1024128"/>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468880"/>
            <a:ext cx="777240" cy="1024128"/>
          </a:xfrm>
          <a:prstGeom prst="rect">
            <a:avLst/>
          </a:prstGeom>
          <a:solidFill>
            <a:srgbClr val="F07F06"/>
          </a:solidFill>
          <a:ln w="12700">
            <a:solidFill>
              <a:srgbClr val="333333"/>
            </a:solidFill>
            <a:prstDash val="solid"/>
          </a:ln>
        </p:spPr>
      </p:sp>
      <p:sp>
        <p:nvSpPr>
          <p:cNvPr id="11" name="Text 8"/>
          <p:cNvSpPr/>
          <p:nvPr/>
        </p:nvSpPr>
        <p:spPr>
          <a:xfrm>
            <a:off x="566928" y="2468880"/>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2" name="Text 9"/>
          <p:cNvSpPr/>
          <p:nvPr/>
        </p:nvSpPr>
        <p:spPr>
          <a:xfrm>
            <a:off x="1572768" y="259689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EL FLUJO PROFESIONAL</a:t>
            </a:r>
            <a:endParaRPr lang="en-US" sz="1100" dirty="0"/>
          </a:p>
        </p:txBody>
      </p:sp>
      <p:sp>
        <p:nvSpPr>
          <p:cNvPr id="13" name="Text 10"/>
          <p:cNvSpPr/>
          <p:nvPr/>
        </p:nvSpPr>
        <p:spPr>
          <a:xfrm>
            <a:off x="1572768" y="2926080"/>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Proyecto, red local, console.log, pruebas, cobertura, mutación, despliegue y secretos.</a:t>
            </a:r>
            <a:endParaRPr lang="en-US" sz="1250" dirty="0"/>
          </a:p>
        </p:txBody>
      </p:sp>
      <p:sp>
        <p:nvSpPr>
          <p:cNvPr id="14" name="Text 11"/>
          <p:cNvSpPr/>
          <p:nvPr/>
        </p:nvSpPr>
        <p:spPr>
          <a:xfrm>
            <a:off x="9704527" y="2468880"/>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~65 min</a:t>
            </a:r>
            <a:endParaRPr lang="en-US" sz="1200" dirty="0"/>
          </a:p>
        </p:txBody>
      </p:sp>
      <p:sp>
        <p:nvSpPr>
          <p:cNvPr id="15" name="Shape 12"/>
          <p:cNvSpPr/>
          <p:nvPr/>
        </p:nvSpPr>
        <p:spPr>
          <a:xfrm>
            <a:off x="566928" y="3675888"/>
            <a:ext cx="11057839" cy="1024128"/>
          </a:xfrm>
          <a:prstGeom prst="rect">
            <a:avLst/>
          </a:prstGeom>
          <a:solidFill>
            <a:srgbClr val="FAF9FB"/>
          </a:solidFill>
          <a:ln w="22225">
            <a:solidFill>
              <a:srgbClr val="0F0F11"/>
            </a:solidFill>
            <a:prstDash val="solid"/>
          </a:ln>
        </p:spPr>
      </p:sp>
      <p:sp>
        <p:nvSpPr>
          <p:cNvPr id="16" name="Shape 13"/>
          <p:cNvSpPr/>
          <p:nvPr/>
        </p:nvSpPr>
        <p:spPr>
          <a:xfrm>
            <a:off x="566928" y="3675888"/>
            <a:ext cx="777240" cy="1024128"/>
          </a:xfrm>
          <a:prstGeom prst="rect">
            <a:avLst/>
          </a:prstGeom>
          <a:solidFill>
            <a:srgbClr val="D9D6E0"/>
          </a:solidFill>
          <a:ln w="12700">
            <a:solidFill>
              <a:srgbClr val="333333"/>
            </a:solidFill>
            <a:prstDash val="solid"/>
          </a:ln>
        </p:spPr>
      </p:sp>
      <p:sp>
        <p:nvSpPr>
          <p:cNvPr id="17" name="Text 14"/>
          <p:cNvSpPr/>
          <p:nvPr/>
        </p:nvSpPr>
        <p:spPr>
          <a:xfrm>
            <a:off x="566928" y="3675888"/>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18" name="Text 15"/>
          <p:cNvSpPr/>
          <p:nvPr/>
        </p:nvSpPr>
        <p:spPr>
          <a:xfrm>
            <a:off x="1572768" y="380390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LABORATORIO 08 · CAZAR MUTANTES</a:t>
            </a:r>
            <a:endParaRPr lang="en-US" sz="1100" dirty="0"/>
          </a:p>
        </p:txBody>
      </p:sp>
      <p:sp>
        <p:nvSpPr>
          <p:cNvPr id="19" name="Text 16"/>
          <p:cNvSpPr/>
          <p:nvPr/>
        </p:nvSpPr>
        <p:spPr>
          <a:xfrm>
            <a:off x="1572768" y="4133088"/>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Suite de ≥ 10 pruebas, ≥ 80 % de cobertura, tres mutantes muertos, Ignition en Sepolia.</a:t>
            </a:r>
            <a:endParaRPr lang="en-US" sz="1250" dirty="0"/>
          </a:p>
        </p:txBody>
      </p:sp>
      <p:sp>
        <p:nvSpPr>
          <p:cNvPr id="20" name="Text 17"/>
          <p:cNvSpPr/>
          <p:nvPr/>
        </p:nvSpPr>
        <p:spPr>
          <a:xfrm>
            <a:off x="9704527" y="3675888"/>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~80 min</a:t>
            </a:r>
            <a:endParaRPr lang="en-US" sz="1200" dirty="0"/>
          </a:p>
        </p:txBody>
      </p:sp>
      <p:sp>
        <p:nvSpPr>
          <p:cNvPr id="21" name="Shape 18"/>
          <p:cNvSpPr/>
          <p:nvPr/>
        </p:nvSpPr>
        <p:spPr>
          <a:xfrm>
            <a:off x="566928" y="4882896"/>
            <a:ext cx="11057839" cy="1024128"/>
          </a:xfrm>
          <a:prstGeom prst="rect">
            <a:avLst/>
          </a:prstGeom>
          <a:solidFill>
            <a:srgbClr val="FAF9FB"/>
          </a:solidFill>
          <a:ln w="22225">
            <a:solidFill>
              <a:srgbClr val="0F0F11"/>
            </a:solidFill>
            <a:prstDash val="solid"/>
          </a:ln>
        </p:spPr>
      </p:sp>
      <p:sp>
        <p:nvSpPr>
          <p:cNvPr id="22" name="Shape 19"/>
          <p:cNvSpPr/>
          <p:nvPr/>
        </p:nvSpPr>
        <p:spPr>
          <a:xfrm>
            <a:off x="566928" y="4882896"/>
            <a:ext cx="777240" cy="1024128"/>
          </a:xfrm>
          <a:prstGeom prst="rect">
            <a:avLst/>
          </a:prstGeom>
          <a:solidFill>
            <a:srgbClr val="D9D6E0"/>
          </a:solidFill>
          <a:ln w="12700">
            <a:solidFill>
              <a:srgbClr val="333333"/>
            </a:solidFill>
            <a:prstDash val="solid"/>
          </a:ln>
        </p:spPr>
      </p:sp>
      <p:sp>
        <p:nvSpPr>
          <p:cNvPr id="23" name="Text 20"/>
          <p:cNvSpPr/>
          <p:nvPr/>
        </p:nvSpPr>
        <p:spPr>
          <a:xfrm>
            <a:off x="566928" y="4882896"/>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24" name="Text 21"/>
          <p:cNvSpPr/>
          <p:nvPr/>
        </p:nvSpPr>
        <p:spPr>
          <a:xfrm>
            <a:off x="1572768" y="5010912"/>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EL PROYECTO, EN HARDHAT</a:t>
            </a:r>
            <a:endParaRPr lang="en-US" sz="1100" dirty="0"/>
          </a:p>
        </p:txBody>
      </p:sp>
      <p:sp>
        <p:nvSpPr>
          <p:cNvPr id="25" name="Text 22"/>
          <p:cNvSpPr/>
          <p:nvPr/>
        </p:nvSpPr>
        <p:spPr>
          <a:xfrm>
            <a:off x="1572768" y="5340096"/>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Estructura del repositorio del equipo, .gitignore y lo que nunca se sube.</a:t>
            </a:r>
            <a:endParaRPr lang="en-US" sz="1250" dirty="0"/>
          </a:p>
        </p:txBody>
      </p:sp>
      <p:sp>
        <p:nvSpPr>
          <p:cNvPr id="26" name="Text 23"/>
          <p:cNvSpPr/>
          <p:nvPr/>
        </p:nvSpPr>
        <p:spPr>
          <a:xfrm>
            <a:off x="9704527" y="4882896"/>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~25 min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Trabajar con el flujo real de un equipo: pruebas, cobertura, mutación, despliegue reproducible y código verificado.</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no se puede hacer bien desde Remix?</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hace que una prueba sea buena, y no solo verde?</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qué el 80 % de cobertura puede dejar pasar un error grave?</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¿Cómo se despliega sin que la clave privada toque el repositorio?</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RA4 · Construir una suite de pruebas automatizadas y desplegar contratos verificados con un entorno profesional (Hardhat).</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VOCABULARIO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SIGLAS Y TÉRMINOS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5419192" cy="1014984"/>
          </a:xfrm>
          <a:prstGeom prst="rect">
            <a:avLst/>
          </a:prstGeom>
          <a:solidFill>
            <a:srgbClr val="FFFFFF"/>
          </a:solidFill>
          <a:ln w="15875">
            <a:solidFill>
              <a:srgbClr val="7152E9"/>
            </a:solidFill>
            <a:prstDash val="solid"/>
          </a:ln>
        </p:spPr>
      </p:sp>
      <p:sp>
        <p:nvSpPr>
          <p:cNvPr id="9" name="Shape 6"/>
          <p:cNvSpPr/>
          <p:nvPr/>
        </p:nvSpPr>
        <p:spPr>
          <a:xfrm>
            <a:off x="566928" y="1737360"/>
            <a:ext cx="82296" cy="1014984"/>
          </a:xfrm>
          <a:prstGeom prst="rect">
            <a:avLst/>
          </a:prstGeom>
          <a:solidFill>
            <a:srgbClr val="7152E9"/>
          </a:solidFill>
          <a:ln w="12700">
            <a:solidFill>
              <a:srgbClr val="333333"/>
            </a:solidFill>
            <a:prstDash val="solid"/>
          </a:ln>
        </p:spPr>
      </p:sp>
      <p:sp>
        <p:nvSpPr>
          <p:cNvPr id="10" name="Text 7"/>
          <p:cNvSpPr/>
          <p:nvPr/>
        </p:nvSpPr>
        <p:spPr>
          <a:xfrm>
            <a:off x="822960"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HARDHAT</a:t>
            </a:r>
            <a:endParaRPr lang="en-US" sz="1100" dirty="0"/>
          </a:p>
        </p:txBody>
      </p:sp>
      <p:sp>
        <p:nvSpPr>
          <p:cNvPr id="11" name="Text 8"/>
          <p:cNvSpPr/>
          <p:nvPr/>
        </p:nvSpPr>
        <p:spPr>
          <a:xfrm>
            <a:off x="2898648"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entorno de desarrollo</a:t>
            </a:r>
            <a:endParaRPr lang="en-US" sz="1050" dirty="0"/>
          </a:p>
        </p:txBody>
      </p:sp>
      <p:sp>
        <p:nvSpPr>
          <p:cNvPr id="12" name="Text 9"/>
          <p:cNvSpPr/>
          <p:nvPr/>
        </p:nvSpPr>
        <p:spPr>
          <a:xfrm>
            <a:off x="822960"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Compila, prueba, despliega y verifica desde la terminal. Trae su propia red local.</a:t>
            </a:r>
            <a:endParaRPr lang="en-US" sz="1100" dirty="0"/>
          </a:p>
        </p:txBody>
      </p:sp>
      <p:sp>
        <p:nvSpPr>
          <p:cNvPr id="13" name="Shape 10"/>
          <p:cNvSpPr/>
          <p:nvPr/>
        </p:nvSpPr>
        <p:spPr>
          <a:xfrm>
            <a:off x="6205576" y="1737360"/>
            <a:ext cx="5419192" cy="1014984"/>
          </a:xfrm>
          <a:prstGeom prst="rect">
            <a:avLst/>
          </a:prstGeom>
          <a:solidFill>
            <a:srgbClr val="FFFFFF"/>
          </a:solidFill>
          <a:ln w="15875">
            <a:solidFill>
              <a:srgbClr val="7152E9"/>
            </a:solidFill>
            <a:prstDash val="solid"/>
          </a:ln>
        </p:spPr>
      </p:sp>
      <p:sp>
        <p:nvSpPr>
          <p:cNvPr id="14" name="Shape 11"/>
          <p:cNvSpPr/>
          <p:nvPr/>
        </p:nvSpPr>
        <p:spPr>
          <a:xfrm>
            <a:off x="6205576" y="1737360"/>
            <a:ext cx="82296" cy="1014984"/>
          </a:xfrm>
          <a:prstGeom prst="rect">
            <a:avLst/>
          </a:prstGeom>
          <a:solidFill>
            <a:srgbClr val="7152E9"/>
          </a:solidFill>
          <a:ln w="12700">
            <a:solidFill>
              <a:srgbClr val="333333"/>
            </a:solidFill>
            <a:prstDash val="solid"/>
          </a:ln>
        </p:spPr>
      </p:sp>
      <p:sp>
        <p:nvSpPr>
          <p:cNvPr id="15" name="Text 12"/>
          <p:cNvSpPr/>
          <p:nvPr/>
        </p:nvSpPr>
        <p:spPr>
          <a:xfrm>
            <a:off x="6461608"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MOCHA · CHAI</a:t>
            </a:r>
            <a:endParaRPr lang="en-US" sz="1100" dirty="0"/>
          </a:p>
        </p:txBody>
      </p:sp>
      <p:sp>
        <p:nvSpPr>
          <p:cNvPr id="16" name="Text 13"/>
          <p:cNvSpPr/>
          <p:nvPr/>
        </p:nvSpPr>
        <p:spPr>
          <a:xfrm>
            <a:off x="8537296"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bibliotecas de pruebas</a:t>
            </a:r>
            <a:endParaRPr lang="en-US" sz="1050" dirty="0"/>
          </a:p>
        </p:txBody>
      </p:sp>
      <p:sp>
        <p:nvSpPr>
          <p:cNvPr id="17" name="Text 14"/>
          <p:cNvSpPr/>
          <p:nvPr/>
        </p:nvSpPr>
        <p:spPr>
          <a:xfrm>
            <a:off x="6461608"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Mocha organiza (describe, it); Chai comprueba (expect). Estándar en JavaScript.</a:t>
            </a:r>
            <a:endParaRPr lang="en-US" sz="1100" dirty="0"/>
          </a:p>
        </p:txBody>
      </p:sp>
      <p:sp>
        <p:nvSpPr>
          <p:cNvPr id="18" name="Shape 15"/>
          <p:cNvSpPr/>
          <p:nvPr/>
        </p:nvSpPr>
        <p:spPr>
          <a:xfrm>
            <a:off x="566928" y="2880360"/>
            <a:ext cx="5419192" cy="1014984"/>
          </a:xfrm>
          <a:prstGeom prst="rect">
            <a:avLst/>
          </a:prstGeom>
          <a:solidFill>
            <a:srgbClr val="FFFFFF"/>
          </a:solidFill>
          <a:ln w="15875">
            <a:solidFill>
              <a:srgbClr val="7152E9"/>
            </a:solidFill>
            <a:prstDash val="solid"/>
          </a:ln>
        </p:spPr>
      </p:sp>
      <p:sp>
        <p:nvSpPr>
          <p:cNvPr id="19" name="Shape 16"/>
          <p:cNvSpPr/>
          <p:nvPr/>
        </p:nvSpPr>
        <p:spPr>
          <a:xfrm>
            <a:off x="566928" y="2880360"/>
            <a:ext cx="82296" cy="1014984"/>
          </a:xfrm>
          <a:prstGeom prst="rect">
            <a:avLst/>
          </a:prstGeom>
          <a:solidFill>
            <a:srgbClr val="7152E9"/>
          </a:solidFill>
          <a:ln w="12700">
            <a:solidFill>
              <a:srgbClr val="333333"/>
            </a:solidFill>
            <a:prstDash val="solid"/>
          </a:ln>
        </p:spPr>
      </p:sp>
      <p:sp>
        <p:nvSpPr>
          <p:cNvPr id="20" name="Text 17"/>
          <p:cNvSpPr/>
          <p:nvPr/>
        </p:nvSpPr>
        <p:spPr>
          <a:xfrm>
            <a:off x="822960"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FIXTURE</a:t>
            </a:r>
            <a:endParaRPr lang="en-US" sz="1100" dirty="0"/>
          </a:p>
        </p:txBody>
      </p:sp>
      <p:sp>
        <p:nvSpPr>
          <p:cNvPr id="21" name="Text 18"/>
          <p:cNvSpPr/>
          <p:nvPr/>
        </p:nvSpPr>
        <p:spPr>
          <a:xfrm>
            <a:off x="2898648"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estado de partida</a:t>
            </a:r>
            <a:endParaRPr lang="en-US" sz="1050" dirty="0"/>
          </a:p>
        </p:txBody>
      </p:sp>
      <p:sp>
        <p:nvSpPr>
          <p:cNvPr id="22" name="Text 19"/>
          <p:cNvSpPr/>
          <p:nvPr/>
        </p:nvSpPr>
        <p:spPr>
          <a:xfrm>
            <a:off x="822960"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Despliegue que se ejecuta una vez y se restaura como instantánea antes de cada prueba.</a:t>
            </a:r>
            <a:endParaRPr lang="en-US" sz="1100" dirty="0"/>
          </a:p>
        </p:txBody>
      </p:sp>
      <p:sp>
        <p:nvSpPr>
          <p:cNvPr id="23" name="Shape 20"/>
          <p:cNvSpPr/>
          <p:nvPr/>
        </p:nvSpPr>
        <p:spPr>
          <a:xfrm>
            <a:off x="6205576" y="2880360"/>
            <a:ext cx="5419192" cy="1014984"/>
          </a:xfrm>
          <a:prstGeom prst="rect">
            <a:avLst/>
          </a:prstGeom>
          <a:solidFill>
            <a:srgbClr val="FFFFFF"/>
          </a:solidFill>
          <a:ln w="15875">
            <a:solidFill>
              <a:srgbClr val="7152E9"/>
            </a:solidFill>
            <a:prstDash val="solid"/>
          </a:ln>
        </p:spPr>
      </p:sp>
      <p:sp>
        <p:nvSpPr>
          <p:cNvPr id="24" name="Shape 21"/>
          <p:cNvSpPr/>
          <p:nvPr/>
        </p:nvSpPr>
        <p:spPr>
          <a:xfrm>
            <a:off x="6205576" y="2880360"/>
            <a:ext cx="82296" cy="1014984"/>
          </a:xfrm>
          <a:prstGeom prst="rect">
            <a:avLst/>
          </a:prstGeom>
          <a:solidFill>
            <a:srgbClr val="7152E9"/>
          </a:solidFill>
          <a:ln w="12700">
            <a:solidFill>
              <a:srgbClr val="333333"/>
            </a:solidFill>
            <a:prstDash val="solid"/>
          </a:ln>
        </p:spPr>
      </p:sp>
      <p:sp>
        <p:nvSpPr>
          <p:cNvPr id="25" name="Text 22"/>
          <p:cNvSpPr/>
          <p:nvPr/>
        </p:nvSpPr>
        <p:spPr>
          <a:xfrm>
            <a:off x="6461608"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COBERTURA</a:t>
            </a:r>
            <a:endParaRPr lang="en-US" sz="1100" dirty="0"/>
          </a:p>
        </p:txBody>
      </p:sp>
      <p:sp>
        <p:nvSpPr>
          <p:cNvPr id="26" name="Text 23"/>
          <p:cNvSpPr/>
          <p:nvPr/>
        </p:nvSpPr>
        <p:spPr>
          <a:xfrm>
            <a:off x="8537296"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code coverage</a:t>
            </a:r>
            <a:endParaRPr lang="en-US" sz="1050" dirty="0"/>
          </a:p>
        </p:txBody>
      </p:sp>
      <p:sp>
        <p:nvSpPr>
          <p:cNvPr id="27" name="Text 24"/>
          <p:cNvSpPr/>
          <p:nvPr/>
        </p:nvSpPr>
        <p:spPr>
          <a:xfrm>
            <a:off x="6461608"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Porcentaje de líneas del contrato que alguna prueba ejecutó. No dice si se comprobaron.</a:t>
            </a:r>
            <a:endParaRPr lang="en-US" sz="1100" dirty="0"/>
          </a:p>
        </p:txBody>
      </p:sp>
      <p:sp>
        <p:nvSpPr>
          <p:cNvPr id="28" name="Shape 25"/>
          <p:cNvSpPr/>
          <p:nvPr/>
        </p:nvSpPr>
        <p:spPr>
          <a:xfrm>
            <a:off x="566928" y="4023360"/>
            <a:ext cx="5419192" cy="1014984"/>
          </a:xfrm>
          <a:prstGeom prst="rect">
            <a:avLst/>
          </a:prstGeom>
          <a:solidFill>
            <a:srgbClr val="FFFFFF"/>
          </a:solidFill>
          <a:ln w="15875">
            <a:solidFill>
              <a:srgbClr val="7152E9"/>
            </a:solidFill>
            <a:prstDash val="solid"/>
          </a:ln>
        </p:spPr>
      </p:sp>
      <p:sp>
        <p:nvSpPr>
          <p:cNvPr id="29" name="Shape 26"/>
          <p:cNvSpPr/>
          <p:nvPr/>
        </p:nvSpPr>
        <p:spPr>
          <a:xfrm>
            <a:off x="566928" y="4023360"/>
            <a:ext cx="82296" cy="1014984"/>
          </a:xfrm>
          <a:prstGeom prst="rect">
            <a:avLst/>
          </a:prstGeom>
          <a:solidFill>
            <a:srgbClr val="7152E9"/>
          </a:solidFill>
          <a:ln w="12700">
            <a:solidFill>
              <a:srgbClr val="333333"/>
            </a:solidFill>
            <a:prstDash val="solid"/>
          </a:ln>
        </p:spPr>
      </p:sp>
      <p:sp>
        <p:nvSpPr>
          <p:cNvPr id="30" name="Text 27"/>
          <p:cNvSpPr/>
          <p:nvPr/>
        </p:nvSpPr>
        <p:spPr>
          <a:xfrm>
            <a:off x="822960"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MUTANTE</a:t>
            </a:r>
            <a:endParaRPr lang="en-US" sz="1100" dirty="0"/>
          </a:p>
        </p:txBody>
      </p:sp>
      <p:sp>
        <p:nvSpPr>
          <p:cNvPr id="31" name="Text 28"/>
          <p:cNvSpPr/>
          <p:nvPr/>
        </p:nvSpPr>
        <p:spPr>
          <a:xfrm>
            <a:off x="2898648"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mutation testing</a:t>
            </a:r>
            <a:endParaRPr lang="en-US" sz="1050" dirty="0"/>
          </a:p>
        </p:txBody>
      </p:sp>
      <p:sp>
        <p:nvSpPr>
          <p:cNvPr id="32" name="Text 29"/>
          <p:cNvSpPr/>
          <p:nvPr/>
        </p:nvSpPr>
        <p:spPr>
          <a:xfrm>
            <a:off x="822960"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Copia del contrato con un error introducido a propósito. Una buena suite debe fallar contra él.</a:t>
            </a:r>
            <a:endParaRPr lang="en-US" sz="1100" dirty="0"/>
          </a:p>
        </p:txBody>
      </p:sp>
      <p:sp>
        <p:nvSpPr>
          <p:cNvPr id="33" name="Shape 30"/>
          <p:cNvSpPr/>
          <p:nvPr/>
        </p:nvSpPr>
        <p:spPr>
          <a:xfrm>
            <a:off x="6205576" y="4023360"/>
            <a:ext cx="5419192" cy="1014984"/>
          </a:xfrm>
          <a:prstGeom prst="rect">
            <a:avLst/>
          </a:prstGeom>
          <a:solidFill>
            <a:srgbClr val="FFFFFF"/>
          </a:solidFill>
          <a:ln w="15875">
            <a:solidFill>
              <a:srgbClr val="7152E9"/>
            </a:solidFill>
            <a:prstDash val="solid"/>
          </a:ln>
        </p:spPr>
      </p:sp>
      <p:sp>
        <p:nvSpPr>
          <p:cNvPr id="34" name="Shape 31"/>
          <p:cNvSpPr/>
          <p:nvPr/>
        </p:nvSpPr>
        <p:spPr>
          <a:xfrm>
            <a:off x="6205576" y="4023360"/>
            <a:ext cx="82296" cy="1014984"/>
          </a:xfrm>
          <a:prstGeom prst="rect">
            <a:avLst/>
          </a:prstGeom>
          <a:solidFill>
            <a:srgbClr val="7152E9"/>
          </a:solidFill>
          <a:ln w="12700">
            <a:solidFill>
              <a:srgbClr val="333333"/>
            </a:solidFill>
            <a:prstDash val="solid"/>
          </a:ln>
        </p:spPr>
      </p:sp>
      <p:sp>
        <p:nvSpPr>
          <p:cNvPr id="35" name="Text 32"/>
          <p:cNvSpPr/>
          <p:nvPr/>
        </p:nvSpPr>
        <p:spPr>
          <a:xfrm>
            <a:off x="6461608"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IGNITION</a:t>
            </a:r>
            <a:endParaRPr lang="en-US" sz="1100" dirty="0"/>
          </a:p>
        </p:txBody>
      </p:sp>
      <p:sp>
        <p:nvSpPr>
          <p:cNvPr id="36" name="Text 33"/>
          <p:cNvSpPr/>
          <p:nvPr/>
        </p:nvSpPr>
        <p:spPr>
          <a:xfrm>
            <a:off x="8537296"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Hardhat Ignition</a:t>
            </a:r>
            <a:endParaRPr lang="en-US" sz="1050" dirty="0"/>
          </a:p>
        </p:txBody>
      </p:sp>
      <p:sp>
        <p:nvSpPr>
          <p:cNvPr id="37" name="Text 34"/>
          <p:cNvSpPr/>
          <p:nvPr/>
        </p:nvSpPr>
        <p:spPr>
          <a:xfrm>
            <a:off x="6461608"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Despliegue declarativo: registra lo hecho y retoma si se interrumpe.</a:t>
            </a:r>
            <a:endParaRPr lang="en-US" sz="1100" dirty="0"/>
          </a:p>
        </p:txBody>
      </p:sp>
      <p:sp>
        <p:nvSpPr>
          <p:cNvPr id="38" name="Shape 35"/>
          <p:cNvSpPr/>
          <p:nvPr/>
        </p:nvSpPr>
        <p:spPr>
          <a:xfrm>
            <a:off x="566928" y="5166360"/>
            <a:ext cx="5419192" cy="1014984"/>
          </a:xfrm>
          <a:prstGeom prst="rect">
            <a:avLst/>
          </a:prstGeom>
          <a:solidFill>
            <a:srgbClr val="FFFFFF"/>
          </a:solidFill>
          <a:ln w="15875">
            <a:solidFill>
              <a:srgbClr val="7152E9"/>
            </a:solidFill>
            <a:prstDash val="solid"/>
          </a:ln>
        </p:spPr>
      </p:sp>
      <p:sp>
        <p:nvSpPr>
          <p:cNvPr id="39" name="Shape 36"/>
          <p:cNvSpPr/>
          <p:nvPr/>
        </p:nvSpPr>
        <p:spPr>
          <a:xfrm>
            <a:off x="566928" y="5166360"/>
            <a:ext cx="82296" cy="1014984"/>
          </a:xfrm>
          <a:prstGeom prst="rect">
            <a:avLst/>
          </a:prstGeom>
          <a:solidFill>
            <a:srgbClr val="7152E9"/>
          </a:solidFill>
          <a:ln w="12700">
            <a:solidFill>
              <a:srgbClr val="333333"/>
            </a:solidFill>
            <a:prstDash val="solid"/>
          </a:ln>
        </p:spPr>
      </p:sp>
      <p:sp>
        <p:nvSpPr>
          <p:cNvPr id="40" name="Text 37"/>
          <p:cNvSpPr/>
          <p:nvPr/>
        </p:nvSpPr>
        <p:spPr>
          <a:xfrm>
            <a:off x="822960"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RPC</a:t>
            </a:r>
            <a:endParaRPr lang="en-US" sz="1100" dirty="0"/>
          </a:p>
        </p:txBody>
      </p:sp>
      <p:sp>
        <p:nvSpPr>
          <p:cNvPr id="41" name="Text 38"/>
          <p:cNvSpPr/>
          <p:nvPr/>
        </p:nvSpPr>
        <p:spPr>
          <a:xfrm>
            <a:off x="2898648"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Remote Procedure Call</a:t>
            </a:r>
            <a:endParaRPr lang="en-US" sz="1050" dirty="0"/>
          </a:p>
        </p:txBody>
      </p:sp>
      <p:sp>
        <p:nvSpPr>
          <p:cNvPr id="42" name="Text 39"/>
          <p:cNvSpPr/>
          <p:nvPr/>
        </p:nvSpPr>
        <p:spPr>
          <a:xfrm>
            <a:off x="822960"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La URL del nodo con el que se habla. Suele llevar una clave de API: es un secreto.</a:t>
            </a:r>
            <a:endParaRPr lang="en-US" sz="1100" dirty="0"/>
          </a:p>
        </p:txBody>
      </p:sp>
      <p:sp>
        <p:nvSpPr>
          <p:cNvPr id="43" name="Shape 40"/>
          <p:cNvSpPr/>
          <p:nvPr/>
        </p:nvSpPr>
        <p:spPr>
          <a:xfrm>
            <a:off x="6205576" y="5166360"/>
            <a:ext cx="5419192" cy="1014984"/>
          </a:xfrm>
          <a:prstGeom prst="rect">
            <a:avLst/>
          </a:prstGeom>
          <a:solidFill>
            <a:srgbClr val="FFFFFF"/>
          </a:solidFill>
          <a:ln w="15875">
            <a:solidFill>
              <a:srgbClr val="7152E9"/>
            </a:solidFill>
            <a:prstDash val="solid"/>
          </a:ln>
        </p:spPr>
      </p:sp>
      <p:sp>
        <p:nvSpPr>
          <p:cNvPr id="44" name="Shape 41"/>
          <p:cNvSpPr/>
          <p:nvPr/>
        </p:nvSpPr>
        <p:spPr>
          <a:xfrm>
            <a:off x="6205576" y="5166360"/>
            <a:ext cx="82296" cy="1014984"/>
          </a:xfrm>
          <a:prstGeom prst="rect">
            <a:avLst/>
          </a:prstGeom>
          <a:solidFill>
            <a:srgbClr val="7152E9"/>
          </a:solidFill>
          <a:ln w="12700">
            <a:solidFill>
              <a:srgbClr val="333333"/>
            </a:solidFill>
            <a:prstDash val="solid"/>
          </a:ln>
        </p:spPr>
      </p:sp>
      <p:sp>
        <p:nvSpPr>
          <p:cNvPr id="45" name="Text 42"/>
          <p:cNvSpPr/>
          <p:nvPr/>
        </p:nvSpPr>
        <p:spPr>
          <a:xfrm>
            <a:off x="6461608"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KEYSTORE</a:t>
            </a:r>
            <a:endParaRPr lang="en-US" sz="1100" dirty="0"/>
          </a:p>
        </p:txBody>
      </p:sp>
      <p:sp>
        <p:nvSpPr>
          <p:cNvPr id="46" name="Text 43"/>
          <p:cNvSpPr/>
          <p:nvPr/>
        </p:nvSpPr>
        <p:spPr>
          <a:xfrm>
            <a:off x="8537296"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almacén cifrado</a:t>
            </a:r>
            <a:endParaRPr lang="en-US" sz="1050" dirty="0"/>
          </a:p>
        </p:txBody>
      </p:sp>
      <p:sp>
        <p:nvSpPr>
          <p:cNvPr id="47" name="Text 44"/>
          <p:cNvSpPr/>
          <p:nvPr/>
        </p:nvSpPr>
        <p:spPr>
          <a:xfrm>
            <a:off x="6461608"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Donde Hardhat 3 guarda claves y URLs, protegido con contraseña, fuera del repositorio.</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65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EL FLUJO PROFESIONAL</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En software tradicional una prueba ahorra tiempo. Aquí es la última oportunidad de encontrar un error antes de que custodie dinero para siempre.</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POR QUÉ SALIR DEL NAVEGADOR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LO QUE REMIX NO PUEDE HACER BIEN</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931920"/>
                <a:gridCol w="3474720"/>
                <a:gridCol w="36511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NECESIDAD</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EN REMIX</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EN HARDHAT</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111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Repetir 50 pruebas tras cada cambio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A mano, clic por clic.</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 comando, en segundos.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Probar qué pasa dentro de una semana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Imposible: el tiempo es real.</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adelanta el reloj de la red local.</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11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Saber qué líneas nunca se ejecutaron</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 existe.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Informe de cobertura.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Trabajar en equipo con Git</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Archivos en el navegador.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Repositorio normal, revisión de código.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11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Desplegar igual en local, prueba y producción</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Cada vez a mano.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Módulo de despliegue con parámetros.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Guardar claves con seguridad</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Depende de la billetera del navegador.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Almacén cifrado fuera del proyecto.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4014216"/>
          </a:xfrm>
          <a:prstGeom prst="rect">
            <a:avLst/>
          </a:prstGeom>
          <a:ln w="22225">
            <a:solidFill>
              <a:srgbClr val="0F0F11"/>
            </a:solidFill>
            <a:prstDash val="solid"/>
          </a:ln>
        </p:spPr>
      </p:sp>
      <p:sp>
        <p:nvSpPr>
          <p:cNvPr id="10" name="Text 6"/>
          <p:cNvSpPr/>
          <p:nvPr/>
        </p:nvSpPr>
        <p:spPr>
          <a:xfrm>
            <a:off x="566928" y="5806440"/>
            <a:ext cx="11057839" cy="41148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Remix sigue siendo excelente para explorar y enseñar. Pero ningún equipo serio despliega desde el navegador.</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EL CICLO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DEL CÓDIGO AL CONTRATO VERIFICADO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sp>
        <p:nvSpPr>
          <p:cNvPr id="8" name="Shape 5"/>
          <p:cNvSpPr/>
          <p:nvPr/>
        </p:nvSpPr>
        <p:spPr>
          <a:xfrm>
            <a:off x="566928" y="1920240"/>
            <a:ext cx="1645920" cy="960120"/>
          </a:xfrm>
          <a:prstGeom prst="rect">
            <a:avLst/>
          </a:prstGeom>
          <a:solidFill>
            <a:srgbClr val="FAF9FB"/>
          </a:solidFill>
          <a:ln w="22225">
            <a:solidFill>
              <a:srgbClr val="0F0F11"/>
            </a:solidFill>
            <a:prstDash val="solid"/>
          </a:ln>
        </p:spPr>
      </p:sp>
      <p:sp>
        <p:nvSpPr>
          <p:cNvPr id="9" name="Text 6"/>
          <p:cNvSpPr/>
          <p:nvPr/>
        </p:nvSpPr>
        <p:spPr>
          <a:xfrm>
            <a:off x="658368" y="2011680"/>
            <a:ext cx="1463040" cy="292608"/>
          </a:xfrm>
          <a:prstGeom prst="rect">
            <a:avLst/>
          </a:prstGeom>
          <a:noFill/>
          <a:ln/>
        </p:spPr>
        <p:txBody>
          <a:bodyPr wrap="square" lIns="0" tIns="0" rIns="0" bIns="0" rtlCol="0" anchor="ctr"/>
          <a:lstStyle/>
          <a:p>
            <a:pPr algn="ctr" indent="0" marL="0">
              <a:buNone/>
            </a:pPr>
            <a:r>
              <a:rPr lang="en-US" sz="1050" b="1" spc="80" kern="0" dirty="0">
                <a:solidFill>
                  <a:srgbClr val="0F0F11"/>
                </a:solidFill>
                <a:latin typeface="Courier New" pitchFamily="34" charset="0"/>
                <a:ea typeface="Courier New" pitchFamily="34" charset="-122"/>
                <a:cs typeface="Courier New" pitchFamily="34" charset="-120"/>
              </a:rPr>
              <a:t>ESCRIBIR</a:t>
            </a:r>
            <a:endParaRPr lang="en-US" sz="1050" dirty="0"/>
          </a:p>
        </p:txBody>
      </p:sp>
      <p:sp>
        <p:nvSpPr>
          <p:cNvPr id="10" name="Text 7"/>
          <p:cNvSpPr/>
          <p:nvPr/>
        </p:nvSpPr>
        <p:spPr>
          <a:xfrm>
            <a:off x="658368" y="2322576"/>
            <a:ext cx="1463040" cy="484632"/>
          </a:xfrm>
          <a:prstGeom prst="rect">
            <a:avLst/>
          </a:prstGeom>
          <a:noFill/>
          <a:ln/>
        </p:spPr>
        <p:txBody>
          <a:bodyPr wrap="square" lIns="0" tIns="0" rIns="0" bIns="0" rtlCol="0" anchor="t"/>
          <a:lstStyle/>
          <a:p>
            <a:pPr algn="ctr" indent="0" marL="0">
              <a:lnSpc>
                <a:spcPct val="110000"/>
              </a:lnSpc>
              <a:buNone/>
            </a:pPr>
            <a:r>
              <a:rPr lang="en-US" sz="1000" dirty="0">
                <a:solidFill>
                  <a:srgbClr val="6F6B80"/>
                </a:solidFill>
                <a:latin typeface="Arial" pitchFamily="34" charset="0"/>
                <a:ea typeface="Arial" pitchFamily="34" charset="-122"/>
                <a:cs typeface="Arial" pitchFamily="34" charset="-120"/>
              </a:rPr>
              <a:t>contracts/</a:t>
            </a:r>
            <a:endParaRPr lang="en-US" sz="1000" dirty="0"/>
          </a:p>
        </p:txBody>
      </p:sp>
      <p:sp>
        <p:nvSpPr>
          <p:cNvPr id="11" name="Shape 8"/>
          <p:cNvSpPr/>
          <p:nvPr/>
        </p:nvSpPr>
        <p:spPr>
          <a:xfrm>
            <a:off x="2212848" y="2395728"/>
            <a:ext cx="201168" cy="914"/>
          </a:xfrm>
          <a:prstGeom prst="line">
            <a:avLst/>
          </a:prstGeom>
          <a:noFill/>
          <a:ln w="19050">
            <a:solidFill>
              <a:srgbClr val="0F0F11"/>
            </a:solidFill>
            <a:prstDash val="solid"/>
            <a:tailEnd type="triangle"/>
          </a:ln>
        </p:spPr>
      </p:sp>
      <p:sp>
        <p:nvSpPr>
          <p:cNvPr id="12" name="Shape 9"/>
          <p:cNvSpPr/>
          <p:nvPr/>
        </p:nvSpPr>
        <p:spPr>
          <a:xfrm>
            <a:off x="2414016" y="1920240"/>
            <a:ext cx="1645920" cy="960120"/>
          </a:xfrm>
          <a:prstGeom prst="rect">
            <a:avLst/>
          </a:prstGeom>
          <a:solidFill>
            <a:srgbClr val="FAF9FB"/>
          </a:solidFill>
          <a:ln w="22225">
            <a:solidFill>
              <a:srgbClr val="0F0F11"/>
            </a:solidFill>
            <a:prstDash val="solid"/>
          </a:ln>
        </p:spPr>
      </p:sp>
      <p:sp>
        <p:nvSpPr>
          <p:cNvPr id="13" name="Text 10"/>
          <p:cNvSpPr/>
          <p:nvPr/>
        </p:nvSpPr>
        <p:spPr>
          <a:xfrm>
            <a:off x="2505456" y="2011680"/>
            <a:ext cx="1463040" cy="292608"/>
          </a:xfrm>
          <a:prstGeom prst="rect">
            <a:avLst/>
          </a:prstGeom>
          <a:noFill/>
          <a:ln/>
        </p:spPr>
        <p:txBody>
          <a:bodyPr wrap="square" lIns="0" tIns="0" rIns="0" bIns="0" rtlCol="0" anchor="ctr"/>
          <a:lstStyle/>
          <a:p>
            <a:pPr algn="ctr" indent="0" marL="0">
              <a:buNone/>
            </a:pPr>
            <a:r>
              <a:rPr lang="en-US" sz="1050" b="1" spc="80" kern="0" dirty="0">
                <a:solidFill>
                  <a:srgbClr val="0F0F11"/>
                </a:solidFill>
                <a:latin typeface="Courier New" pitchFamily="34" charset="0"/>
                <a:ea typeface="Courier New" pitchFamily="34" charset="-122"/>
                <a:cs typeface="Courier New" pitchFamily="34" charset="-120"/>
              </a:rPr>
              <a:t>COMPILAR</a:t>
            </a:r>
            <a:endParaRPr lang="en-US" sz="1050" dirty="0"/>
          </a:p>
        </p:txBody>
      </p:sp>
      <p:sp>
        <p:nvSpPr>
          <p:cNvPr id="14" name="Text 11"/>
          <p:cNvSpPr/>
          <p:nvPr/>
        </p:nvSpPr>
        <p:spPr>
          <a:xfrm>
            <a:off x="2505456" y="2322576"/>
            <a:ext cx="1463040" cy="484632"/>
          </a:xfrm>
          <a:prstGeom prst="rect">
            <a:avLst/>
          </a:prstGeom>
          <a:noFill/>
          <a:ln/>
        </p:spPr>
        <p:txBody>
          <a:bodyPr wrap="square" lIns="0" tIns="0" rIns="0" bIns="0" rtlCol="0" anchor="t"/>
          <a:lstStyle/>
          <a:p>
            <a:pPr algn="ctr" indent="0" marL="0">
              <a:lnSpc>
                <a:spcPct val="110000"/>
              </a:lnSpc>
              <a:buNone/>
            </a:pPr>
            <a:r>
              <a:rPr lang="en-US" sz="1000" dirty="0">
                <a:solidFill>
                  <a:srgbClr val="6F6B80"/>
                </a:solidFill>
                <a:latin typeface="Arial" pitchFamily="34" charset="0"/>
                <a:ea typeface="Arial" pitchFamily="34" charset="-122"/>
                <a:cs typeface="Arial" pitchFamily="34" charset="-120"/>
              </a:rPr>
              <a:t>hardhat compile</a:t>
            </a:r>
            <a:endParaRPr lang="en-US" sz="1000" dirty="0"/>
          </a:p>
        </p:txBody>
      </p:sp>
      <p:sp>
        <p:nvSpPr>
          <p:cNvPr id="15" name="Shape 12"/>
          <p:cNvSpPr/>
          <p:nvPr/>
        </p:nvSpPr>
        <p:spPr>
          <a:xfrm>
            <a:off x="4059936" y="2395728"/>
            <a:ext cx="201168" cy="914"/>
          </a:xfrm>
          <a:prstGeom prst="line">
            <a:avLst/>
          </a:prstGeom>
          <a:noFill/>
          <a:ln w="19050">
            <a:solidFill>
              <a:srgbClr val="0F0F11"/>
            </a:solidFill>
            <a:prstDash val="solid"/>
            <a:tailEnd type="triangle"/>
          </a:ln>
        </p:spPr>
      </p:sp>
      <p:sp>
        <p:nvSpPr>
          <p:cNvPr id="16" name="Shape 13"/>
          <p:cNvSpPr/>
          <p:nvPr/>
        </p:nvSpPr>
        <p:spPr>
          <a:xfrm>
            <a:off x="4261104" y="1920240"/>
            <a:ext cx="1645920" cy="960120"/>
          </a:xfrm>
          <a:prstGeom prst="rect">
            <a:avLst/>
          </a:prstGeom>
          <a:solidFill>
            <a:srgbClr val="FFFFFF"/>
          </a:solidFill>
          <a:ln w="22225">
            <a:solidFill>
              <a:srgbClr val="F07F06"/>
            </a:solidFill>
            <a:prstDash val="solid"/>
          </a:ln>
        </p:spPr>
      </p:sp>
      <p:sp>
        <p:nvSpPr>
          <p:cNvPr id="17" name="Text 14"/>
          <p:cNvSpPr/>
          <p:nvPr/>
        </p:nvSpPr>
        <p:spPr>
          <a:xfrm>
            <a:off x="4352544" y="2011680"/>
            <a:ext cx="1463040" cy="292608"/>
          </a:xfrm>
          <a:prstGeom prst="rect">
            <a:avLst/>
          </a:prstGeom>
          <a:noFill/>
          <a:ln/>
        </p:spPr>
        <p:txBody>
          <a:bodyPr wrap="square" lIns="0" tIns="0" rIns="0" bIns="0" rtlCol="0" anchor="ctr"/>
          <a:lstStyle/>
          <a:p>
            <a:pPr algn="ctr" indent="0" marL="0">
              <a:buNone/>
            </a:pPr>
            <a:r>
              <a:rPr lang="en-US" sz="1050" b="1" spc="80" kern="0" dirty="0">
                <a:solidFill>
                  <a:srgbClr val="0F0F11"/>
                </a:solidFill>
                <a:latin typeface="Courier New" pitchFamily="34" charset="0"/>
                <a:ea typeface="Courier New" pitchFamily="34" charset="-122"/>
                <a:cs typeface="Courier New" pitchFamily="34" charset="-120"/>
              </a:rPr>
              <a:t>PROBAR</a:t>
            </a:r>
            <a:endParaRPr lang="en-US" sz="1050" dirty="0"/>
          </a:p>
        </p:txBody>
      </p:sp>
      <p:sp>
        <p:nvSpPr>
          <p:cNvPr id="18" name="Text 15"/>
          <p:cNvSpPr/>
          <p:nvPr/>
        </p:nvSpPr>
        <p:spPr>
          <a:xfrm>
            <a:off x="4352544" y="2322576"/>
            <a:ext cx="1463040" cy="484632"/>
          </a:xfrm>
          <a:prstGeom prst="rect">
            <a:avLst/>
          </a:prstGeom>
          <a:noFill/>
          <a:ln/>
        </p:spPr>
        <p:txBody>
          <a:bodyPr wrap="square" lIns="0" tIns="0" rIns="0" bIns="0" rtlCol="0" anchor="t"/>
          <a:lstStyle/>
          <a:p>
            <a:pPr algn="ctr" indent="0" marL="0">
              <a:lnSpc>
                <a:spcPct val="110000"/>
              </a:lnSpc>
              <a:buNone/>
            </a:pPr>
            <a:r>
              <a:rPr lang="en-US" sz="1000" dirty="0">
                <a:solidFill>
                  <a:srgbClr val="6F6B80"/>
                </a:solidFill>
                <a:latin typeface="Arial" pitchFamily="34" charset="0"/>
                <a:ea typeface="Arial" pitchFamily="34" charset="-122"/>
                <a:cs typeface="Arial" pitchFamily="34" charset="-120"/>
              </a:rPr>
              <a:t>hardhat test</a:t>
            </a:r>
            <a:endParaRPr lang="en-US" sz="1000" dirty="0"/>
          </a:p>
        </p:txBody>
      </p:sp>
      <p:sp>
        <p:nvSpPr>
          <p:cNvPr id="19" name="Shape 16"/>
          <p:cNvSpPr/>
          <p:nvPr/>
        </p:nvSpPr>
        <p:spPr>
          <a:xfrm>
            <a:off x="5907024" y="2395728"/>
            <a:ext cx="201168" cy="914"/>
          </a:xfrm>
          <a:prstGeom prst="line">
            <a:avLst/>
          </a:prstGeom>
          <a:noFill/>
          <a:ln w="19050">
            <a:solidFill>
              <a:srgbClr val="0F0F11"/>
            </a:solidFill>
            <a:prstDash val="solid"/>
            <a:tailEnd type="triangle"/>
          </a:ln>
        </p:spPr>
      </p:sp>
      <p:sp>
        <p:nvSpPr>
          <p:cNvPr id="20" name="Shape 17"/>
          <p:cNvSpPr/>
          <p:nvPr/>
        </p:nvSpPr>
        <p:spPr>
          <a:xfrm>
            <a:off x="6108192" y="1920240"/>
            <a:ext cx="1645920" cy="960120"/>
          </a:xfrm>
          <a:prstGeom prst="rect">
            <a:avLst/>
          </a:prstGeom>
          <a:solidFill>
            <a:srgbClr val="FAF9FB"/>
          </a:solidFill>
          <a:ln w="22225">
            <a:solidFill>
              <a:srgbClr val="0F0F11"/>
            </a:solidFill>
            <a:prstDash val="solid"/>
          </a:ln>
        </p:spPr>
      </p:sp>
      <p:sp>
        <p:nvSpPr>
          <p:cNvPr id="21" name="Text 18"/>
          <p:cNvSpPr/>
          <p:nvPr/>
        </p:nvSpPr>
        <p:spPr>
          <a:xfrm>
            <a:off x="6199632" y="2011680"/>
            <a:ext cx="1463040" cy="292608"/>
          </a:xfrm>
          <a:prstGeom prst="rect">
            <a:avLst/>
          </a:prstGeom>
          <a:noFill/>
          <a:ln/>
        </p:spPr>
        <p:txBody>
          <a:bodyPr wrap="square" lIns="0" tIns="0" rIns="0" bIns="0" rtlCol="0" anchor="ctr"/>
          <a:lstStyle/>
          <a:p>
            <a:pPr algn="ctr" indent="0" marL="0">
              <a:buNone/>
            </a:pPr>
            <a:r>
              <a:rPr lang="en-US" sz="1050" b="1" spc="80" kern="0" dirty="0">
                <a:solidFill>
                  <a:srgbClr val="0F0F11"/>
                </a:solidFill>
                <a:latin typeface="Courier New" pitchFamily="34" charset="0"/>
                <a:ea typeface="Courier New" pitchFamily="34" charset="-122"/>
                <a:cs typeface="Courier New" pitchFamily="34" charset="-120"/>
              </a:rPr>
              <a:t>COBERTURA</a:t>
            </a:r>
            <a:endParaRPr lang="en-US" sz="1050" dirty="0"/>
          </a:p>
        </p:txBody>
      </p:sp>
      <p:sp>
        <p:nvSpPr>
          <p:cNvPr id="22" name="Text 19"/>
          <p:cNvSpPr/>
          <p:nvPr/>
        </p:nvSpPr>
        <p:spPr>
          <a:xfrm>
            <a:off x="6199632" y="2322576"/>
            <a:ext cx="1463040" cy="484632"/>
          </a:xfrm>
          <a:prstGeom prst="rect">
            <a:avLst/>
          </a:prstGeom>
          <a:noFill/>
          <a:ln/>
        </p:spPr>
        <p:txBody>
          <a:bodyPr wrap="square" lIns="0" tIns="0" rIns="0" bIns="0" rtlCol="0" anchor="t"/>
          <a:lstStyle/>
          <a:p>
            <a:pPr algn="ctr" indent="0" marL="0">
              <a:lnSpc>
                <a:spcPct val="110000"/>
              </a:lnSpc>
              <a:buNone/>
            </a:pPr>
            <a:r>
              <a:rPr lang="en-US" sz="1000" dirty="0">
                <a:solidFill>
                  <a:srgbClr val="6F6B80"/>
                </a:solidFill>
                <a:latin typeface="Arial" pitchFamily="34" charset="0"/>
                <a:ea typeface="Arial" pitchFamily="34" charset="-122"/>
                <a:cs typeface="Arial" pitchFamily="34" charset="-120"/>
              </a:rPr>
              <a:t>--coverage</a:t>
            </a:r>
            <a:endParaRPr lang="en-US" sz="1000" dirty="0"/>
          </a:p>
        </p:txBody>
      </p:sp>
      <p:sp>
        <p:nvSpPr>
          <p:cNvPr id="23" name="Shape 20"/>
          <p:cNvSpPr/>
          <p:nvPr/>
        </p:nvSpPr>
        <p:spPr>
          <a:xfrm>
            <a:off x="7754112" y="2395728"/>
            <a:ext cx="201168" cy="914"/>
          </a:xfrm>
          <a:prstGeom prst="line">
            <a:avLst/>
          </a:prstGeom>
          <a:noFill/>
          <a:ln w="19050">
            <a:solidFill>
              <a:srgbClr val="0F0F11"/>
            </a:solidFill>
            <a:prstDash val="solid"/>
            <a:tailEnd type="triangle"/>
          </a:ln>
        </p:spPr>
      </p:sp>
      <p:sp>
        <p:nvSpPr>
          <p:cNvPr id="24" name="Shape 21"/>
          <p:cNvSpPr/>
          <p:nvPr/>
        </p:nvSpPr>
        <p:spPr>
          <a:xfrm>
            <a:off x="7955280" y="1920240"/>
            <a:ext cx="1645920" cy="960120"/>
          </a:xfrm>
          <a:prstGeom prst="rect">
            <a:avLst/>
          </a:prstGeom>
          <a:solidFill>
            <a:srgbClr val="FAF9FB"/>
          </a:solidFill>
          <a:ln w="22225">
            <a:solidFill>
              <a:srgbClr val="0F0F11"/>
            </a:solidFill>
            <a:prstDash val="solid"/>
          </a:ln>
        </p:spPr>
      </p:sp>
      <p:sp>
        <p:nvSpPr>
          <p:cNvPr id="25" name="Text 22"/>
          <p:cNvSpPr/>
          <p:nvPr/>
        </p:nvSpPr>
        <p:spPr>
          <a:xfrm>
            <a:off x="8046720" y="2011680"/>
            <a:ext cx="1463040" cy="292608"/>
          </a:xfrm>
          <a:prstGeom prst="rect">
            <a:avLst/>
          </a:prstGeom>
          <a:noFill/>
          <a:ln/>
        </p:spPr>
        <p:txBody>
          <a:bodyPr wrap="square" lIns="0" tIns="0" rIns="0" bIns="0" rtlCol="0" anchor="ctr"/>
          <a:lstStyle/>
          <a:p>
            <a:pPr algn="ctr" indent="0" marL="0">
              <a:buNone/>
            </a:pPr>
            <a:r>
              <a:rPr lang="en-US" sz="1050" b="1" spc="80" kern="0" dirty="0">
                <a:solidFill>
                  <a:srgbClr val="0F0F11"/>
                </a:solidFill>
                <a:latin typeface="Courier New" pitchFamily="34" charset="0"/>
                <a:ea typeface="Courier New" pitchFamily="34" charset="-122"/>
                <a:cs typeface="Courier New" pitchFamily="34" charset="-120"/>
              </a:rPr>
              <a:t>DESPLEGAR</a:t>
            </a:r>
            <a:endParaRPr lang="en-US" sz="1050" dirty="0"/>
          </a:p>
        </p:txBody>
      </p:sp>
      <p:sp>
        <p:nvSpPr>
          <p:cNvPr id="26" name="Text 23"/>
          <p:cNvSpPr/>
          <p:nvPr/>
        </p:nvSpPr>
        <p:spPr>
          <a:xfrm>
            <a:off x="8046720" y="2322576"/>
            <a:ext cx="1463040" cy="484632"/>
          </a:xfrm>
          <a:prstGeom prst="rect">
            <a:avLst/>
          </a:prstGeom>
          <a:noFill/>
          <a:ln/>
        </p:spPr>
        <p:txBody>
          <a:bodyPr wrap="square" lIns="0" tIns="0" rIns="0" bIns="0" rtlCol="0" anchor="t"/>
          <a:lstStyle/>
          <a:p>
            <a:pPr algn="ctr" indent="0" marL="0">
              <a:lnSpc>
                <a:spcPct val="110000"/>
              </a:lnSpc>
              <a:buNone/>
            </a:pPr>
            <a:r>
              <a:rPr lang="en-US" sz="1000" dirty="0">
                <a:solidFill>
                  <a:srgbClr val="6F6B80"/>
                </a:solidFill>
                <a:latin typeface="Arial" pitchFamily="34" charset="0"/>
                <a:ea typeface="Arial" pitchFamily="34" charset="-122"/>
                <a:cs typeface="Arial" pitchFamily="34" charset="-120"/>
              </a:rPr>
              <a:t>ignition deploy</a:t>
            </a:r>
            <a:endParaRPr lang="en-US" sz="1000" dirty="0"/>
          </a:p>
        </p:txBody>
      </p:sp>
      <p:sp>
        <p:nvSpPr>
          <p:cNvPr id="27" name="Shape 24"/>
          <p:cNvSpPr/>
          <p:nvPr/>
        </p:nvSpPr>
        <p:spPr>
          <a:xfrm>
            <a:off x="9601200" y="2395728"/>
            <a:ext cx="201168" cy="914"/>
          </a:xfrm>
          <a:prstGeom prst="line">
            <a:avLst/>
          </a:prstGeom>
          <a:noFill/>
          <a:ln w="19050">
            <a:solidFill>
              <a:srgbClr val="0F0F11"/>
            </a:solidFill>
            <a:prstDash val="solid"/>
            <a:tailEnd type="triangle"/>
          </a:ln>
        </p:spPr>
      </p:sp>
      <p:sp>
        <p:nvSpPr>
          <p:cNvPr id="28" name="Shape 25"/>
          <p:cNvSpPr/>
          <p:nvPr/>
        </p:nvSpPr>
        <p:spPr>
          <a:xfrm>
            <a:off x="9802368" y="1920240"/>
            <a:ext cx="1645920" cy="960120"/>
          </a:xfrm>
          <a:prstGeom prst="rect">
            <a:avLst/>
          </a:prstGeom>
          <a:solidFill>
            <a:srgbClr val="FAF9FB"/>
          </a:solidFill>
          <a:ln w="22225">
            <a:solidFill>
              <a:srgbClr val="0F0F11"/>
            </a:solidFill>
            <a:prstDash val="solid"/>
          </a:ln>
        </p:spPr>
      </p:sp>
      <p:sp>
        <p:nvSpPr>
          <p:cNvPr id="29" name="Text 26"/>
          <p:cNvSpPr/>
          <p:nvPr/>
        </p:nvSpPr>
        <p:spPr>
          <a:xfrm>
            <a:off x="9893808" y="2011680"/>
            <a:ext cx="1463040" cy="292608"/>
          </a:xfrm>
          <a:prstGeom prst="rect">
            <a:avLst/>
          </a:prstGeom>
          <a:noFill/>
          <a:ln/>
        </p:spPr>
        <p:txBody>
          <a:bodyPr wrap="square" lIns="0" tIns="0" rIns="0" bIns="0" rtlCol="0" anchor="ctr"/>
          <a:lstStyle/>
          <a:p>
            <a:pPr algn="ctr" indent="0" marL="0">
              <a:buNone/>
            </a:pPr>
            <a:r>
              <a:rPr lang="en-US" sz="1050" b="1" spc="80" kern="0" dirty="0">
                <a:solidFill>
                  <a:srgbClr val="0F0F11"/>
                </a:solidFill>
                <a:latin typeface="Courier New" pitchFamily="34" charset="0"/>
                <a:ea typeface="Courier New" pitchFamily="34" charset="-122"/>
                <a:cs typeface="Courier New" pitchFamily="34" charset="-120"/>
              </a:rPr>
              <a:t>VERIFICAR</a:t>
            </a:r>
            <a:endParaRPr lang="en-US" sz="1050" dirty="0"/>
          </a:p>
        </p:txBody>
      </p:sp>
      <p:sp>
        <p:nvSpPr>
          <p:cNvPr id="30" name="Text 27"/>
          <p:cNvSpPr/>
          <p:nvPr/>
        </p:nvSpPr>
        <p:spPr>
          <a:xfrm>
            <a:off x="9893808" y="2322576"/>
            <a:ext cx="1463040" cy="484632"/>
          </a:xfrm>
          <a:prstGeom prst="rect">
            <a:avLst/>
          </a:prstGeom>
          <a:noFill/>
          <a:ln/>
        </p:spPr>
        <p:txBody>
          <a:bodyPr wrap="square" lIns="0" tIns="0" rIns="0" bIns="0" rtlCol="0" anchor="t"/>
          <a:lstStyle/>
          <a:p>
            <a:pPr algn="ctr" indent="0" marL="0">
              <a:lnSpc>
                <a:spcPct val="110000"/>
              </a:lnSpc>
              <a:buNone/>
            </a:pPr>
            <a:r>
              <a:rPr lang="en-US" sz="1000" dirty="0">
                <a:solidFill>
                  <a:srgbClr val="6F6B80"/>
                </a:solidFill>
                <a:latin typeface="Arial" pitchFamily="34" charset="0"/>
                <a:ea typeface="Arial" pitchFamily="34" charset="-122"/>
                <a:cs typeface="Arial" pitchFamily="34" charset="-120"/>
              </a:rPr>
              <a:t>--verify</a:t>
            </a:r>
            <a:endParaRPr lang="en-US" sz="1000" dirty="0"/>
          </a:p>
        </p:txBody>
      </p:sp>
      <p:sp>
        <p:nvSpPr>
          <p:cNvPr id="31" name="Shape 28"/>
          <p:cNvSpPr/>
          <p:nvPr/>
        </p:nvSpPr>
        <p:spPr>
          <a:xfrm>
            <a:off x="5084064" y="2971800"/>
            <a:ext cx="914" cy="457200"/>
          </a:xfrm>
          <a:prstGeom prst="line">
            <a:avLst/>
          </a:prstGeom>
          <a:noFill/>
          <a:ln w="25400">
            <a:solidFill>
              <a:srgbClr val="F07F06"/>
            </a:solidFill>
            <a:prstDash val="solid"/>
            <a:tailEnd type="triangle"/>
          </a:ln>
        </p:spPr>
      </p:sp>
      <p:sp>
        <p:nvSpPr>
          <p:cNvPr id="32" name="Shape 29"/>
          <p:cNvSpPr/>
          <p:nvPr/>
        </p:nvSpPr>
        <p:spPr>
          <a:xfrm>
            <a:off x="3712464" y="3429000"/>
            <a:ext cx="2743200" cy="566928"/>
          </a:xfrm>
          <a:prstGeom prst="rect">
            <a:avLst/>
          </a:prstGeom>
          <a:solidFill>
            <a:srgbClr val="FFFFFF"/>
          </a:solidFill>
          <a:ln w="22225">
            <a:solidFill>
              <a:srgbClr val="F07F06"/>
            </a:solidFill>
            <a:prstDash val="solid"/>
          </a:ln>
        </p:spPr>
      </p:sp>
      <p:sp>
        <p:nvSpPr>
          <p:cNvPr id="33" name="Text 30"/>
          <p:cNvSpPr/>
          <p:nvPr/>
        </p:nvSpPr>
        <p:spPr>
          <a:xfrm>
            <a:off x="3803904" y="3429000"/>
            <a:ext cx="2560320" cy="566928"/>
          </a:xfrm>
          <a:prstGeom prst="rect">
            <a:avLst/>
          </a:prstGeom>
          <a:noFill/>
          <a:ln/>
        </p:spPr>
        <p:txBody>
          <a:bodyPr wrap="square" lIns="0" tIns="0" rIns="0" bIns="0" rtlCol="0" anchor="ctr"/>
          <a:lstStyle/>
          <a:p>
            <a:pPr algn="ctr" indent="0" marL="0">
              <a:buNone/>
            </a:pPr>
            <a:r>
              <a:rPr lang="en-US" sz="1000" b="1" spc="80" kern="0" dirty="0">
                <a:solidFill>
                  <a:srgbClr val="0F0F11"/>
                </a:solidFill>
                <a:latin typeface="Courier New" pitchFamily="34" charset="0"/>
                <a:ea typeface="Courier New" pitchFamily="34" charset="-122"/>
                <a:cs typeface="Courier New" pitchFamily="34" charset="-120"/>
              </a:rPr>
              <a:t>¿FALLA? VOLVER A ESCRIBIR</a:t>
            </a:r>
            <a:endParaRPr lang="en-US" sz="1000" dirty="0"/>
          </a:p>
        </p:txBody>
      </p:sp>
      <p:sp>
        <p:nvSpPr>
          <p:cNvPr id="34" name="Shape 31"/>
          <p:cNvSpPr/>
          <p:nvPr/>
        </p:nvSpPr>
        <p:spPr>
          <a:xfrm>
            <a:off x="566928" y="4251960"/>
            <a:ext cx="5391760" cy="18745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35" name="Text 32"/>
          <p:cNvSpPr/>
          <p:nvPr/>
        </p:nvSpPr>
        <p:spPr>
          <a:xfrm>
            <a:off x="841248" y="44348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TODO EN LA RED LOCAL</a:t>
            </a:r>
            <a:endParaRPr lang="en-US" sz="1050" dirty="0"/>
          </a:p>
        </p:txBody>
      </p:sp>
      <p:sp>
        <p:nvSpPr>
          <p:cNvPr id="36" name="Text 33"/>
          <p:cNvSpPr/>
          <p:nvPr/>
        </p:nvSpPr>
        <p:spPr>
          <a:xfrm>
            <a:off x="841248" y="4818888"/>
            <a:ext cx="4843120" cy="11430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Escribir, compilar, probar y medir cobertura no gasta ETH ni necesita internet. Se repite cien veces al día.</a:t>
            </a:r>
            <a:endParaRPr lang="en-US" sz="1300" dirty="0"/>
          </a:p>
        </p:txBody>
      </p:sp>
      <p:sp>
        <p:nvSpPr>
          <p:cNvPr id="37" name="Shape 34"/>
          <p:cNvSpPr/>
          <p:nvPr/>
        </p:nvSpPr>
        <p:spPr>
          <a:xfrm>
            <a:off x="6233008" y="4251960"/>
            <a:ext cx="5391760" cy="18745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38" name="Text 35"/>
          <p:cNvSpPr/>
          <p:nvPr/>
        </p:nvSpPr>
        <p:spPr>
          <a:xfrm>
            <a:off x="6507328" y="44348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SOLO AL FINAL, LA RED PÚBLICA</a:t>
            </a:r>
            <a:endParaRPr lang="en-US" sz="1050" dirty="0"/>
          </a:p>
        </p:txBody>
      </p:sp>
      <p:sp>
        <p:nvSpPr>
          <p:cNvPr id="39" name="Text 36"/>
          <p:cNvSpPr/>
          <p:nvPr/>
        </p:nvSpPr>
        <p:spPr>
          <a:xfrm>
            <a:off x="6507328" y="4818888"/>
            <a:ext cx="4843120" cy="11430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Desplegar y verificar se hace una vez, cuando la suite está verde y la cobertura es suficiente.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LA FORMA DE UN PROYECTO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ESTRUCTURA Y CONFIGURACIÓN</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Shape 5"/>
          <p:cNvSpPr/>
          <p:nvPr/>
        </p:nvSpPr>
        <p:spPr>
          <a:xfrm>
            <a:off x="566928" y="1737360"/>
            <a:ext cx="5212080" cy="3657600"/>
          </a:xfrm>
          <a:prstGeom prst="rect">
            <a:avLst/>
          </a:prstGeom>
          <a:solidFill>
            <a:srgbClr val="16151B"/>
          </a:solidFill>
          <a:ln w="22225">
            <a:solidFill>
              <a:srgbClr val="16151B"/>
            </a:solidFill>
            <a:prstDash val="solid"/>
          </a:ln>
        </p:spPr>
      </p:sp>
      <p:sp>
        <p:nvSpPr>
          <p:cNvPr id="9" name="Text 6"/>
          <p:cNvSpPr/>
          <p:nvPr/>
        </p:nvSpPr>
        <p:spPr>
          <a:xfrm>
            <a:off x="768096" y="1883664"/>
            <a:ext cx="4809744" cy="3401568"/>
          </a:xfrm>
          <a:prstGeom prst="rect">
            <a:avLst/>
          </a:prstGeom>
          <a:noFill/>
          <a:ln/>
        </p:spPr>
        <p:txBody>
          <a:bodyPr wrap="square" lIns="0" tIns="0" rIns="0" bIns="0" rtlCol="0" anchor="t"/>
          <a:lstStyle/>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laboratorios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evm</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contratos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sol</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pruebas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js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modules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despliega</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parametros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qu</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é</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valores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red</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utilidades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config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js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package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json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versiones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EXACTAS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gitignore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lo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que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NUNCA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sube</a:t>
            </a:r>
            <a:endParaRPr lang="en-US" sz="1200" dirty="0"/>
          </a:p>
        </p:txBody>
      </p:sp>
      <p:sp>
        <p:nvSpPr>
          <p:cNvPr id="10" name="Shape 7"/>
          <p:cNvSpPr/>
          <p:nvPr/>
        </p:nvSpPr>
        <p:spPr>
          <a:xfrm>
            <a:off x="6053328" y="1737360"/>
            <a:ext cx="5571439" cy="3657600"/>
          </a:xfrm>
          <a:prstGeom prst="rect">
            <a:avLst/>
          </a:prstGeom>
          <a:solidFill>
            <a:srgbClr val="16151B"/>
          </a:solidFill>
          <a:ln w="22225">
            <a:solidFill>
              <a:srgbClr val="16151B"/>
            </a:solidFill>
            <a:prstDash val="solid"/>
          </a:ln>
        </p:spPr>
      </p:sp>
      <p:sp>
        <p:nvSpPr>
          <p:cNvPr id="11" name="Text 8"/>
          <p:cNvSpPr/>
          <p:nvPr/>
        </p:nvSpPr>
        <p:spPr>
          <a:xfrm>
            <a:off x="6254496" y="1810512"/>
            <a:ext cx="51691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HARDHAT.CONFIG.JS (EXTRACTO)</a:t>
            </a:r>
            <a:endParaRPr lang="en-US" sz="850" dirty="0"/>
          </a:p>
        </p:txBody>
      </p:sp>
      <p:sp>
        <p:nvSpPr>
          <p:cNvPr id="12" name="Text 9"/>
          <p:cNvSpPr/>
          <p:nvPr/>
        </p:nvSpPr>
        <p:spPr>
          <a:xfrm>
            <a:off x="6254496" y="2121408"/>
            <a:ext cx="5169103" cy="3163824"/>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export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default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plugins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toolbox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solidity</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version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"0.8.28"</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settings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optimizer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enabled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true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runs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200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networks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sepolia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type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"http"</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url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configVariable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"SEPOLIA_RPC_URL"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accounts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configVariable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"SEPOLIA_PRIVATE_KEY"</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3" name="Text 10"/>
          <p:cNvSpPr/>
          <p:nvPr/>
        </p:nvSpPr>
        <p:spPr>
          <a:xfrm>
            <a:off x="566928" y="5577840"/>
            <a:ext cx="11057839" cy="59436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configVariable no contiene el secreto: le dice a Hardhat que lo busque en el almacén cifrado solo cuando se use esa red. Las pruebas locales nunca lo piden.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LA RED LOCAL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UNA CADENA COMPLETA EN SU COMPUTADOR</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657600"/>
                <a:gridCol w="7400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CARACTERÍSTICA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PERMITE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5016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20 cuentas con 10 000 ETH de prueba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Simular a Ana, Beto, el dueño y un atacante sin pedir fondos a nadie.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016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Minado instantáneo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Cada transacción queda en un bloque al momento: las pruebas corren en milisegundos.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016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Control del reloj</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time.increase(7 días) prueba plazos sin esperar una semana.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016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Instantáneas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Guardar el estado y volver a él: la base de los fixtures.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016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Mensajes de error completos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Muestra qué error personalizado revirtió y con qué argumentos.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016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npx hardhat node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La misma red, como servidor en localhost:8545, para conectar una billetera o una interfaz (S12).</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648456"/>
          </a:xfrm>
          <a:prstGeom prst="rect">
            <a:avLst/>
          </a:prstGeom>
          <a:ln w="22225">
            <a:solidFill>
              <a:srgbClr val="0F0F11"/>
            </a:solidFill>
            <a:prstDash val="solid"/>
          </a:ln>
        </p:spPr>
      </p:sp>
      <p:sp>
        <p:nvSpPr>
          <p:cNvPr id="10" name="Shape 6"/>
          <p:cNvSpPr/>
          <p:nvPr/>
        </p:nvSpPr>
        <p:spPr>
          <a:xfrm>
            <a:off x="566928" y="5422392"/>
            <a:ext cx="11057839" cy="841248"/>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5641848"/>
            <a:ext cx="237744" cy="237744"/>
          </a:xfrm>
          <a:prstGeom prst="rect">
            <a:avLst/>
          </a:prstGeom>
        </p:spPr>
      </p:pic>
      <p:sp>
        <p:nvSpPr>
          <p:cNvPr id="12" name="Text 7"/>
          <p:cNvSpPr/>
          <p:nvPr/>
        </p:nvSpPr>
        <p:spPr>
          <a:xfrm>
            <a:off x="1133856" y="5614416"/>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LAS CUENTAS DE LA RED LOCAL SON PÚBLICAS</a:t>
            </a:r>
            <a:endParaRPr lang="en-US" sz="950" dirty="0"/>
          </a:p>
        </p:txBody>
      </p:sp>
      <p:sp>
        <p:nvSpPr>
          <p:cNvPr id="13" name="Text 8"/>
          <p:cNvSpPr/>
          <p:nvPr/>
        </p:nvSpPr>
        <p:spPr>
          <a:xfrm>
            <a:off x="804672" y="5934456"/>
            <a:ext cx="10582351" cy="23774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Sus claves privadas están impresas en la documentación. Nunca se usan en una red real.</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DEPURAR SIN ADIVINAR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CONSOLE.LOG DENTRO DE SOLIDITY</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sp>
        <p:nvSpPr>
          <p:cNvPr id="8" name="Shape 5"/>
          <p:cNvSpPr/>
          <p:nvPr/>
        </p:nvSpPr>
        <p:spPr>
          <a:xfrm>
            <a:off x="566928" y="1737360"/>
            <a:ext cx="6583680" cy="2514600"/>
          </a:xfrm>
          <a:prstGeom prst="rect">
            <a:avLst/>
          </a:prstGeom>
          <a:solidFill>
            <a:srgbClr val="16151B"/>
          </a:solidFill>
          <a:ln w="22225">
            <a:solidFill>
              <a:srgbClr val="16151B"/>
            </a:solidFill>
            <a:prstDash val="solid"/>
          </a:ln>
        </p:spPr>
      </p:sp>
      <p:sp>
        <p:nvSpPr>
          <p:cNvPr id="9" name="Text 6"/>
          <p:cNvSpPr/>
          <p:nvPr/>
        </p:nvSpPr>
        <p:spPr>
          <a:xfrm>
            <a:off x="768096" y="1883664"/>
            <a:ext cx="6181344" cy="225856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import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"hardhat/console.sol"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aportar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console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log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"aporte de %s por %d wei"</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total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console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log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"total ahora: %d"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total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Shape 7"/>
          <p:cNvSpPr/>
          <p:nvPr/>
        </p:nvSpPr>
        <p:spPr>
          <a:xfrm>
            <a:off x="566928" y="4434840"/>
            <a:ext cx="6583680" cy="1143000"/>
          </a:xfrm>
          <a:prstGeom prst="rect">
            <a:avLst/>
          </a:prstGeom>
          <a:solidFill>
            <a:srgbClr val="16151B"/>
          </a:solidFill>
          <a:ln w="22225">
            <a:solidFill>
              <a:srgbClr val="16151B"/>
            </a:solidFill>
            <a:prstDash val="solid"/>
          </a:ln>
        </p:spPr>
      </p:sp>
      <p:sp>
        <p:nvSpPr>
          <p:cNvPr id="11" name="Text 8"/>
          <p:cNvSpPr/>
          <p:nvPr/>
        </p:nvSpPr>
        <p:spPr>
          <a:xfrm>
            <a:off x="768096" y="4507992"/>
            <a:ext cx="618134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SALIDA REAL DE NPX HARDHAT TEST</a:t>
            </a:r>
            <a:endParaRPr lang="en-US" sz="850" dirty="0"/>
          </a:p>
        </p:txBody>
      </p:sp>
      <p:sp>
        <p:nvSpPr>
          <p:cNvPr id="12" name="Text 9"/>
          <p:cNvSpPr/>
          <p:nvPr/>
        </p:nvSpPr>
        <p:spPr>
          <a:xfrm>
            <a:off x="768096" y="4818888"/>
            <a:ext cx="6181344" cy="649224"/>
          </a:xfrm>
          <a:prstGeom prst="rect">
            <a:avLst/>
          </a:prstGeom>
          <a:noFill/>
          <a:ln/>
        </p:spPr>
        <p:txBody>
          <a:bodyPr wrap="square" lIns="0" tIns="0" rIns="0" bIns="0" rtlCol="0" anchor="t"/>
          <a:lstStyle/>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aporte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x70997970c51812dc3a010c7d01b50e0d17dc79c8</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1000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wei</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total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ahora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1000</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imprime</a:t>
            </a:r>
            <a:endParaRPr lang="en-US" sz="1050" dirty="0"/>
          </a:p>
        </p:txBody>
      </p:sp>
      <p:sp>
        <p:nvSpPr>
          <p:cNvPr id="13" name="Text 10"/>
          <p:cNvSpPr/>
          <p:nvPr/>
        </p:nvSpPr>
        <p:spPr>
          <a:xfrm>
            <a:off x="7424928" y="1737360"/>
            <a:ext cx="4199839" cy="3108960"/>
          </a:xfrm>
          <a:prstGeom prst="rect">
            <a:avLst/>
          </a:prstGeom>
          <a:noFill/>
          <a:ln/>
        </p:spPr>
        <p:txBody>
          <a:bodyPr wrap="square" lIns="0" tIns="0" rIns="0" bIns="0" rtlCol="0" anchor="t"/>
          <a:lstStyle/>
          <a:p>
            <a:pPr marL="203200" indent="-203200">
              <a:lnSpc>
                <a:spcPct val="118000"/>
              </a:lnSpc>
              <a:spcAft>
                <a:spcPts val="800"/>
              </a:spcAft>
              <a:buSzPct val="100000"/>
              <a:buChar char="■"/>
            </a:pPr>
            <a:r>
              <a:rPr lang="en-US" sz="1250" dirty="0">
                <a:solidFill>
                  <a:srgbClr val="3A3844"/>
                </a:solidFill>
                <a:latin typeface="Arial" pitchFamily="34" charset="0"/>
                <a:ea typeface="Arial" pitchFamily="34" charset="-122"/>
                <a:cs typeface="Arial" pitchFamily="34" charset="-120"/>
              </a:rPr>
              <a:t>Solo funciona en la red local de Hardhat: en Sepolia no imprime nada.</a:t>
            </a:r>
            <a:endParaRPr lang="en-US" sz="1250" dirty="0"/>
          </a:p>
          <a:p>
            <a:pPr marL="203200" indent="-203200">
              <a:lnSpc>
                <a:spcPct val="118000"/>
              </a:lnSpc>
              <a:spcAft>
                <a:spcPts val="800"/>
              </a:spcAft>
              <a:buSzPct val="100000"/>
              <a:buChar char="■"/>
            </a:pPr>
            <a:r>
              <a:rPr lang="en-US" sz="1250" dirty="0">
                <a:solidFill>
                  <a:srgbClr val="3A3844"/>
                </a:solidFill>
                <a:latin typeface="Arial" pitchFamily="34" charset="0"/>
                <a:ea typeface="Arial" pitchFamily="34" charset="-122"/>
                <a:cs typeface="Arial" pitchFamily="34" charset="-120"/>
              </a:rPr>
              <a:t>Sirve para ver valores intermedios mientras se escribe una prueba que no entienden por qué falla.</a:t>
            </a:r>
            <a:endParaRPr lang="en-US" sz="1250" dirty="0"/>
          </a:p>
          <a:p>
            <a:pPr marL="203200" indent="-203200">
              <a:lnSpc>
                <a:spcPct val="118000"/>
              </a:lnSpc>
              <a:spcAft>
                <a:spcPts val="800"/>
              </a:spcAft>
              <a:buSzPct val="100000"/>
              <a:buChar char="■"/>
            </a:pPr>
            <a:r>
              <a:rPr lang="en-US" sz="1250" dirty="0">
                <a:solidFill>
                  <a:srgbClr val="3A3844"/>
                </a:solidFill>
                <a:latin typeface="Arial" pitchFamily="34" charset="0"/>
                <a:ea typeface="Arial" pitchFamily="34" charset="-122"/>
                <a:cs typeface="Arial" pitchFamily="34" charset="-120"/>
              </a:rPr>
              <a:t>Cuesta gas y ensucia el contrato: se borra antes de desplegar.</a:t>
            </a:r>
            <a:endParaRPr lang="en-US" sz="1250" dirty="0"/>
          </a:p>
        </p:txBody>
      </p:sp>
      <p:sp>
        <p:nvSpPr>
          <p:cNvPr id="14" name="Text 11"/>
          <p:cNvSpPr/>
          <p:nvPr/>
        </p:nvSpPr>
        <p:spPr>
          <a:xfrm>
            <a:off x="7424928" y="4937760"/>
            <a:ext cx="4199839" cy="822960"/>
          </a:xfrm>
          <a:prstGeom prst="rect">
            <a:avLst/>
          </a:prstGeom>
          <a:noFill/>
          <a:ln/>
        </p:spPr>
        <p:txBody>
          <a:bodyPr wrap="square" lIns="0" tIns="0" rIns="0" bIns="0" rtlCol="0" anchor="t"/>
          <a:lstStyle/>
          <a:p>
            <a:pPr indent="0" marL="0">
              <a:lnSpc>
                <a:spcPct val="124000"/>
              </a:lnSpc>
              <a:buNone/>
            </a:pPr>
            <a:r>
              <a:rPr lang="en-US" sz="1200" dirty="0">
                <a:solidFill>
                  <a:srgbClr val="A35604"/>
                </a:solidFill>
                <a:latin typeface="Arial" pitchFamily="34" charset="0"/>
                <a:ea typeface="Arial" pitchFamily="34" charset="-122"/>
                <a:cs typeface="Arial" pitchFamily="34" charset="-120"/>
              </a:rPr>
              <a:t>Error típico: dejar el import y los console.log en el contrato que se verifica en el explorador.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DEPENDENCIAS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VERSIONES EXACTAS, O SORPRESAS A MITAD DE SEMESTRE</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sp>
        <p:nvSpPr>
          <p:cNvPr id="8" name="Shape 5"/>
          <p:cNvSpPr/>
          <p:nvPr/>
        </p:nvSpPr>
        <p:spPr>
          <a:xfrm>
            <a:off x="566928" y="1737360"/>
            <a:ext cx="6400800" cy="2514600"/>
          </a:xfrm>
          <a:prstGeom prst="rect">
            <a:avLst/>
          </a:prstGeom>
          <a:solidFill>
            <a:srgbClr val="16151B"/>
          </a:solidFill>
          <a:ln w="22225">
            <a:solidFill>
              <a:srgbClr val="16151B"/>
            </a:solidFill>
            <a:prstDash val="solid"/>
          </a:ln>
        </p:spPr>
      </p:sp>
      <p:sp>
        <p:nvSpPr>
          <p:cNvPr id="9" name="Text 6"/>
          <p:cNvSpPr/>
          <p:nvPr/>
        </p:nvSpPr>
        <p:spPr>
          <a:xfrm>
            <a:off x="768096" y="1810512"/>
            <a:ext cx="599846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PACKAGE.JSON</a:t>
            </a:r>
            <a:endParaRPr lang="en-US" sz="850" dirty="0"/>
          </a:p>
        </p:txBody>
      </p:sp>
      <p:sp>
        <p:nvSpPr>
          <p:cNvPr id="10" name="Text 7"/>
          <p:cNvSpPr/>
          <p:nvPr/>
        </p:nvSpPr>
        <p:spPr>
          <a:xfrm>
            <a:off x="768096" y="2121408"/>
            <a:ext cx="5998464" cy="2020824"/>
          </a:xfrm>
          <a:prstGeom prst="rect">
            <a:avLst/>
          </a:prstGeom>
          <a:noFill/>
          <a:ln/>
        </p:spPr>
        <p:txBody>
          <a:bodyPr wrap="square" lIns="0" tIns="0" rIns="0" bIns="0" rtlCol="0" anchor="t"/>
          <a:lstStyle/>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npm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install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save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exact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openzeppelin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"devDependencies"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"3.16.0"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"@nomicfoundation/hardhat-toolbox-mocha-ethers"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"3.0.7"</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"dependencies"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"@openzeppelin/contracts"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"5.6.1"</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242048" y="1737360"/>
          <a:ext cx="4382719" cy="914400"/>
        </p:xfrm>
        <a:graphic>
          <a:graphicData uri="http://schemas.openxmlformats.org/drawingml/2006/table">
            <a:tbl>
              <a:tblPr/>
              <a:tblGrid>
                <a:gridCol w="1737360"/>
                <a:gridCol w="26453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ESCRITURA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INSTALA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297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"5.6.1"</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Exactamente esa.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297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"^5.6.1"</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Cualquier 5.x posterior.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297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"~5.6.1"</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Cualquier 5.6.x posterior.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2" name="Shape 8"/>
          <p:cNvSpPr/>
          <p:nvPr/>
        </p:nvSpPr>
        <p:spPr>
          <a:xfrm>
            <a:off x="7223760" y="1719072"/>
            <a:ext cx="4419295" cy="1636776"/>
          </a:xfrm>
          <a:prstGeom prst="rect">
            <a:avLst/>
          </a:prstGeom>
          <a:ln w="22225">
            <a:solidFill>
              <a:srgbClr val="0F0F11"/>
            </a:solidFill>
            <a:prstDash val="solid"/>
          </a:ln>
        </p:spPr>
      </p:sp>
      <p:sp>
        <p:nvSpPr>
          <p:cNvPr id="13" name="Text 9"/>
          <p:cNvSpPr/>
          <p:nvPr/>
        </p:nvSpPr>
        <p:spPr>
          <a:xfrm>
            <a:off x="7242048" y="3474720"/>
            <a:ext cx="4382719" cy="8686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Sin --save-exact, npm escribe con ^: dos personas del mismo equipo pueden compilar con bibliotecas distintas.</a:t>
            </a:r>
            <a:endParaRPr lang="en-US" sz="1250" dirty="0"/>
          </a:p>
        </p:txBody>
      </p:sp>
      <p:sp>
        <p:nvSpPr>
          <p:cNvPr id="14" name="Shape 10"/>
          <p:cNvSpPr/>
          <p:nvPr/>
        </p:nvSpPr>
        <p:spPr>
          <a:xfrm>
            <a:off x="566928" y="4526280"/>
            <a:ext cx="11057839" cy="16002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5" name="Image 1" descr="preencoded.png">    </p:cNvPr>
          <p:cNvPicPr>
            <a:picLocks noChangeAspect="1"/>
          </p:cNvPicPr>
          <p:nvPr/>
        </p:nvPicPr>
        <p:blipFill>
          <a:blip r:embed="rId2"/>
          <a:stretch>
            <a:fillRect/>
          </a:stretch>
        </p:blipFill>
        <p:spPr>
          <a:xfrm>
            <a:off x="804672" y="4745736"/>
            <a:ext cx="237744" cy="237744"/>
          </a:xfrm>
          <a:prstGeom prst="rect">
            <a:avLst/>
          </a:prstGeom>
        </p:spPr>
      </p:pic>
      <p:sp>
        <p:nvSpPr>
          <p:cNvPr id="16" name="Text 11"/>
          <p:cNvSpPr/>
          <p:nvPr/>
        </p:nvSpPr>
        <p:spPr>
          <a:xfrm>
            <a:off x="1133856" y="471830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POR QUÉ IMPORTA MÁS AQUÍ QUE EN UNA APLICACIÓN WEB</a:t>
            </a:r>
            <a:endParaRPr lang="en-US" sz="950" dirty="0"/>
          </a:p>
        </p:txBody>
      </p:sp>
      <p:sp>
        <p:nvSpPr>
          <p:cNvPr id="17" name="Text 12"/>
          <p:cNvSpPr/>
          <p:nvPr/>
        </p:nvSpPr>
        <p:spPr>
          <a:xfrm>
            <a:off x="804672" y="5038344"/>
            <a:ext cx="10582351" cy="9966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código de OpenZeppelin que se compila queda dentro del contrato desplegado, para siempre. Si una versión nueva cambia un comportamiento, no hay actualización posible. Por eso package-lock.json también se sube al repositorio: fija incluso las dependencias de las dependencias.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ANATOMÍA DE UNA PRUEBA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DESCRIBE, IT, EXPECT</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sp>
        <p:nvSpPr>
          <p:cNvPr id="8" name="Shape 5"/>
          <p:cNvSpPr/>
          <p:nvPr/>
        </p:nvSpPr>
        <p:spPr>
          <a:xfrm>
            <a:off x="566928" y="1737360"/>
            <a:ext cx="11057839" cy="4434840"/>
          </a:xfrm>
          <a:prstGeom prst="rect">
            <a:avLst/>
          </a:prstGeom>
          <a:solidFill>
            <a:srgbClr val="16151B"/>
          </a:solidFill>
          <a:ln w="22225">
            <a:solidFill>
              <a:srgbClr val="16151B"/>
            </a:solidFill>
            <a:prstDash val="solid"/>
          </a:ln>
        </p:spPr>
      </p:sp>
      <p:sp>
        <p:nvSpPr>
          <p:cNvPr id="9" name="Text 6"/>
          <p:cNvSpPr/>
          <p:nvPr/>
        </p:nvSpPr>
        <p:spPr>
          <a:xfrm>
            <a:off x="768096" y="1883664"/>
            <a:ext cx="10655503" cy="4178808"/>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import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"chai"</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import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network</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ethers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networkHelpers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network</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create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async</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desplegar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fixture: con NOMBRE</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dueno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ethers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getSigners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ethers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deployContract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"Recaudo"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META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PLAZO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dueno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describe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"Recaudo · aportar"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grupo</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"rechaza un aporte de cero"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async</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caso</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networkHelpers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loadFixture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desplegar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connect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aportar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revertedWithCustomError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"AporteCero"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comprobación</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 · FIXTURES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CADA PRUEBA EMPIEZA DE CERO, SIN PAGARLO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sp>
        <p:nvSpPr>
          <p:cNvPr id="8" name="Shape 5"/>
          <p:cNvSpPr/>
          <p:nvPr/>
        </p:nvSpPr>
        <p:spPr>
          <a:xfrm>
            <a:off x="566928" y="1737360"/>
            <a:ext cx="11057839" cy="841248"/>
          </a:xfrm>
          <a:prstGeom prst="rect">
            <a:avLst/>
          </a:prstGeom>
          <a:solidFill>
            <a:srgbClr val="FFFFFF"/>
          </a:solidFill>
          <a:ln w="15875">
            <a:solidFill>
              <a:srgbClr val="D9D6E0"/>
            </a:solidFill>
            <a:prstDash val="solid"/>
          </a:ln>
        </p:spPr>
      </p:sp>
      <p:sp>
        <p:nvSpPr>
          <p:cNvPr id="9" name="Text 6"/>
          <p:cNvSpPr/>
          <p:nvPr/>
        </p:nvSpPr>
        <p:spPr>
          <a:xfrm>
            <a:off x="694944" y="1737360"/>
            <a:ext cx="548640" cy="84124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2011680"/>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PRIMERA LLAMADA</a:t>
            </a:r>
            <a:endParaRPr lang="en-US" sz="1000" dirty="0"/>
          </a:p>
        </p:txBody>
      </p:sp>
      <p:sp>
        <p:nvSpPr>
          <p:cNvPr id="11" name="Text 8"/>
          <p:cNvSpPr/>
          <p:nvPr/>
        </p:nvSpPr>
        <p:spPr>
          <a:xfrm>
            <a:off x="4206240" y="1828800"/>
            <a:ext cx="7308799" cy="694944"/>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loadFixture ejecuta desplegar(): despliega el contrato y guarda una instantánea de toda la cadena.</a:t>
            </a:r>
            <a:endParaRPr lang="en-US" sz="1300" dirty="0"/>
          </a:p>
        </p:txBody>
      </p:sp>
      <p:sp>
        <p:nvSpPr>
          <p:cNvPr id="12" name="Shape 9"/>
          <p:cNvSpPr/>
          <p:nvPr/>
        </p:nvSpPr>
        <p:spPr>
          <a:xfrm>
            <a:off x="566928" y="2706624"/>
            <a:ext cx="11057839" cy="841248"/>
          </a:xfrm>
          <a:prstGeom prst="rect">
            <a:avLst/>
          </a:prstGeom>
          <a:solidFill>
            <a:srgbClr val="FAF9FB"/>
          </a:solidFill>
          <a:ln w="15875">
            <a:solidFill>
              <a:srgbClr val="D9D6E0"/>
            </a:solidFill>
            <a:prstDash val="solid"/>
          </a:ln>
        </p:spPr>
      </p:sp>
      <p:sp>
        <p:nvSpPr>
          <p:cNvPr id="13" name="Text 10"/>
          <p:cNvSpPr/>
          <p:nvPr/>
        </p:nvSpPr>
        <p:spPr>
          <a:xfrm>
            <a:off x="694944" y="2706624"/>
            <a:ext cx="548640" cy="84124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980944"/>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LLAMADAS SIGUIENTES</a:t>
            </a:r>
            <a:endParaRPr lang="en-US" sz="1000" dirty="0"/>
          </a:p>
        </p:txBody>
      </p:sp>
      <p:sp>
        <p:nvSpPr>
          <p:cNvPr id="15" name="Text 12"/>
          <p:cNvSpPr/>
          <p:nvPr/>
        </p:nvSpPr>
        <p:spPr>
          <a:xfrm>
            <a:off x="4206240" y="2798064"/>
            <a:ext cx="7308799" cy="694944"/>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No vuelve a desplegar: restaura la instantánea. Milisegundos en lugar de segundos.</a:t>
            </a:r>
            <a:endParaRPr lang="en-US" sz="1300" dirty="0"/>
          </a:p>
        </p:txBody>
      </p:sp>
      <p:sp>
        <p:nvSpPr>
          <p:cNvPr id="16" name="Shape 13"/>
          <p:cNvSpPr/>
          <p:nvPr/>
        </p:nvSpPr>
        <p:spPr>
          <a:xfrm>
            <a:off x="566928" y="3675888"/>
            <a:ext cx="11057839" cy="841248"/>
          </a:xfrm>
          <a:prstGeom prst="rect">
            <a:avLst/>
          </a:prstGeom>
          <a:solidFill>
            <a:srgbClr val="FFFFFF"/>
          </a:solidFill>
          <a:ln w="15875">
            <a:solidFill>
              <a:srgbClr val="D9D6E0"/>
            </a:solidFill>
            <a:prstDash val="solid"/>
          </a:ln>
        </p:spPr>
      </p:sp>
      <p:sp>
        <p:nvSpPr>
          <p:cNvPr id="17" name="Text 14"/>
          <p:cNvSpPr/>
          <p:nvPr/>
        </p:nvSpPr>
        <p:spPr>
          <a:xfrm>
            <a:off x="694944" y="3675888"/>
            <a:ext cx="548640" cy="84124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950208"/>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AISLAMIENTO</a:t>
            </a:r>
            <a:endParaRPr lang="en-US" sz="1000" dirty="0"/>
          </a:p>
        </p:txBody>
      </p:sp>
      <p:sp>
        <p:nvSpPr>
          <p:cNvPr id="19" name="Text 16"/>
          <p:cNvSpPr/>
          <p:nvPr/>
        </p:nvSpPr>
        <p:spPr>
          <a:xfrm>
            <a:off x="4206240" y="3767328"/>
            <a:ext cx="7308799" cy="694944"/>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Lo que una prueba cambió —aportes, tiempo adelantado— no existe para la siguiente.</a:t>
            </a:r>
            <a:endParaRPr lang="en-US" sz="1300" dirty="0"/>
          </a:p>
        </p:txBody>
      </p:sp>
      <p:sp>
        <p:nvSpPr>
          <p:cNvPr id="20" name="Shape 17"/>
          <p:cNvSpPr/>
          <p:nvPr/>
        </p:nvSpPr>
        <p:spPr>
          <a:xfrm>
            <a:off x="566928" y="4754880"/>
            <a:ext cx="11057839" cy="13716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21" name="Image 1" descr="preencoded.png">    </p:cNvPr>
          <p:cNvPicPr>
            <a:picLocks noChangeAspect="1"/>
          </p:cNvPicPr>
          <p:nvPr/>
        </p:nvPicPr>
        <p:blipFill>
          <a:blip r:embed="rId2"/>
          <a:stretch>
            <a:fillRect/>
          </a:stretch>
        </p:blipFill>
        <p:spPr>
          <a:xfrm>
            <a:off x="804672" y="4974336"/>
            <a:ext cx="237744" cy="237744"/>
          </a:xfrm>
          <a:prstGeom prst="rect">
            <a:avLst/>
          </a:prstGeom>
        </p:spPr>
      </p:pic>
      <p:sp>
        <p:nvSpPr>
          <p:cNvPr id="22" name="Text 18"/>
          <p:cNvSpPr/>
          <p:nvPr/>
        </p:nvSpPr>
        <p:spPr>
          <a:xfrm>
            <a:off x="1133856" y="49469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EL ERROR CLÁSICO</a:t>
            </a:r>
            <a:endParaRPr lang="en-US" sz="950" dirty="0"/>
          </a:p>
        </p:txBody>
      </p:sp>
      <p:sp>
        <p:nvSpPr>
          <p:cNvPr id="23" name="Text 19"/>
          <p:cNvSpPr/>
          <p:nvPr/>
        </p:nvSpPr>
        <p:spPr>
          <a:xfrm>
            <a:off x="804672" y="5266944"/>
            <a:ext cx="10582351" cy="768096"/>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Desplegar en un before() compartido y dejar que las pruebas se afecten entre sí. La suite pasa en un orden y falla en otro, y nadie entiende por qué. Con fixtures ese problema no puede ocurrir.</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A.9 · QUÉ PROBAR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LAS CINCO FAMILIAS DE PRUEBAS</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011680"/>
                <a:gridCol w="4389120"/>
                <a:gridCol w="46570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FAMILIA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PREGUNTA QUE RESPONDE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EJEMPLO CON LA SUBASTA DE LA S7</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14477">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Caso feliz</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¿Hace lo que promete cuando todo va bien?</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Una puja válida cambia mejorPostor y emite NuevaPuja.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4477">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Reversión</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niega a lo que no debe hacer?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Pujar por debajo del mínimo revierte con PujaInsuficiente.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4477">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Permisos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¿Solo quien debe puede hacerlo?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Solo el dueño pausa.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4477">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Eventos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¿Le cuenta al mundo lo que pasó, con los datos correctos?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SubastaFinalizada con ganador y monto.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4477">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Bordes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¿Qué pasa exactamente en el límite?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La puja que supera en exactamente el 1 %, ni un wei menos.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419856"/>
          </a:xfrm>
          <a:prstGeom prst="rect">
            <a:avLst/>
          </a:prstGeom>
          <a:ln w="22225">
            <a:solidFill>
              <a:srgbClr val="0F0F11"/>
            </a:solidFill>
            <a:prstDash val="solid"/>
          </a:ln>
        </p:spPr>
      </p:sp>
      <p:sp>
        <p:nvSpPr>
          <p:cNvPr id="10" name="Shape 6"/>
          <p:cNvSpPr/>
          <p:nvPr/>
        </p:nvSpPr>
        <p:spPr>
          <a:xfrm>
            <a:off x="566928" y="5257800"/>
            <a:ext cx="11057839" cy="9144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7"/>
          <p:cNvSpPr/>
          <p:nvPr/>
        </p:nvSpPr>
        <p:spPr>
          <a:xfrm>
            <a:off x="950976" y="5440680"/>
            <a:ext cx="10289743" cy="548640"/>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Las cuatro primeras dan cobertura. La quinta es la que atrapa los errores.</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A.10 · LAS COMPROBACIONES QUE MÁS SE USAN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MATCHERS DE HARDHAT PARA CHAI</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Shape 5"/>
          <p:cNvSpPr/>
          <p:nvPr/>
        </p:nvSpPr>
        <p:spPr>
          <a:xfrm>
            <a:off x="566928" y="1737360"/>
            <a:ext cx="11057839" cy="320040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944368"/>
          </a:xfrm>
          <a:prstGeom prst="rect">
            <a:avLst/>
          </a:prstGeom>
          <a:noFill/>
          <a:ln/>
        </p:spPr>
        <p:txBody>
          <a:bodyPr wrap="square" lIns="0" tIns="0" rIns="0" bIns="0" rtlCol="0" anchor="t"/>
          <a:lstStyle/>
          <a:p>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revierte con un error personalizado, y con qué argumentos</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revertedWithCustomError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"PujaInsuficiente"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withArgs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minimo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enviado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emite un evento con argumentos exactos</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"Aporte"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withArgs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total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cambia el saldo de ETH de una o varias cuentas (ethers va primero)</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changeEtherBalance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ethers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changeEtherBalances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ethers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sin permiso, con el error de OpenZeppelin</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revertedWithCustomError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"OwnableUnauthorizedAccount"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0" name="Shape 7"/>
          <p:cNvSpPr/>
          <p:nvPr/>
        </p:nvSpPr>
        <p:spPr>
          <a:xfrm>
            <a:off x="566928" y="5074920"/>
            <a:ext cx="11057839" cy="1078992"/>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12" name="Text 8"/>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DOS TRAMPAS</a:t>
            </a:r>
            <a:endParaRPr lang="en-US" sz="950" dirty="0"/>
          </a:p>
        </p:txBody>
      </p:sp>
      <p:sp>
        <p:nvSpPr>
          <p:cNvPr id="13" name="Text 9"/>
          <p:cNvSpPr/>
          <p:nvPr/>
        </p:nvSpPr>
        <p:spPr>
          <a:xfrm>
            <a:off x="804672" y="5586984"/>
            <a:ext cx="10582351" cy="47548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changeEtherBalance ya descuenta el gas: comparen el monto exacto. Y no usen .to.be.reverted a secas: está desaconsejado y no dice POR QUÉ revirtió.</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A.11 · SIMULAR EL MUNDO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OTRAS CUENTAS Y OTRO MOMENTO</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sp>
        <p:nvSpPr>
          <p:cNvPr id="8" name="Shape 5"/>
          <p:cNvSpPr/>
          <p:nvPr/>
        </p:nvSpPr>
        <p:spPr>
          <a:xfrm>
            <a:off x="566928" y="1737360"/>
            <a:ext cx="11057839" cy="301752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76148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const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dueno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atacante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ethers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getSigners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connect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aportar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eth</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3</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Ana firma</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time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increase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7</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60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60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pasa una semana</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time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increaseTo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fin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mina un bloque en fin</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time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setNextBlockTimestamp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fin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el PRÓXIMO bloque cae en fin</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connect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atacante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reclamarFondos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alguien sin permiso</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be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revertedWithCustomError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"OwnableUnauthorizedAccount"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0" name="Text 7"/>
          <p:cNvSpPr/>
          <p:nvPr/>
        </p:nvSpPr>
        <p:spPr>
          <a:xfrm>
            <a:off x="566928" y="4937760"/>
            <a:ext cx="11057839" cy="11887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connect(cuenta) cambia quién firma. time viene de networkHelpers y mueve el reloj de la red local, nunca el de una red real. La diferencia entre increaseTo y setNextBlockTimestamp es sutil y es la lámina siguiente.</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A.12 · EL RELOJ EN EL LÍMITE · EJEMPLO TRABAJADO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¿EN QUÉ SEGUNDO CAE MI TRANSACCIÓN?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Text 5"/>
          <p:cNvSpPr/>
          <p:nvPr/>
        </p:nvSpPr>
        <p:spPr>
          <a:xfrm>
            <a:off x="566928" y="1691640"/>
            <a:ext cx="11057839" cy="8686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La Subasta de la S7 dice: if (block.timestamp &gt;= fin) revert SubastaCerrada(). ¿Qué pasa si alguien puja en el segundo exacto de fin? Hay que poder llevar una transacción a ese segundo.</a:t>
            </a:r>
            <a:endParaRPr lang="en-US" sz="13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2697480"/>
          <a:ext cx="11057839" cy="914400"/>
        </p:xfrm>
        <a:graphic>
          <a:graphicData uri="http://schemas.openxmlformats.org/drawingml/2006/table">
            <a:tbl>
              <a:tblPr/>
              <a:tblGrid>
                <a:gridCol w="3200400"/>
                <a:gridCol w="3383280"/>
                <a:gridCol w="2194560"/>
                <a:gridCol w="22795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HERRAMIENTA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HACE EL RELOJ</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 PUJA SIGUIENTE CAE EN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SIRVE PARA PROBAR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669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time.increaseTo(fin)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Mina un bloque vacío con marca fin.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fin + 1</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«después del cierre»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time.setNextBlockTimestamp(fin)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mina nada: fija la marca del PRÓXIMO bloque.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fin, exacto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«en el segundo exacto»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669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setNextBlockTimestamp(fin − 1n)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Igual, un segundo antes.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fin − 1</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segundo antes»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679192"/>
            <a:ext cx="11094415" cy="2048256"/>
          </a:xfrm>
          <a:prstGeom prst="rect">
            <a:avLst/>
          </a:prstGeom>
          <a:ln w="22225">
            <a:solidFill>
              <a:srgbClr val="0F0F11"/>
            </a:solidFill>
            <a:prstDash val="solid"/>
          </a:ln>
        </p:spPr>
      </p:sp>
      <p:sp>
        <p:nvSpPr>
          <p:cNvPr id="11" name="Shape 7"/>
          <p:cNvSpPr/>
          <p:nvPr/>
        </p:nvSpPr>
        <p:spPr>
          <a:xfrm>
            <a:off x="566928" y="4892040"/>
            <a:ext cx="11057839" cy="1252728"/>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2" name="Image 1" descr="preencoded.png">    </p:cNvPr>
          <p:cNvPicPr>
            <a:picLocks noChangeAspect="1"/>
          </p:cNvPicPr>
          <p:nvPr/>
        </p:nvPicPr>
        <p:blipFill>
          <a:blip r:embed="rId2"/>
          <a:stretch>
            <a:fillRect/>
          </a:stretch>
        </p:blipFill>
        <p:spPr>
          <a:xfrm>
            <a:off x="804672" y="5111496"/>
            <a:ext cx="237744" cy="237744"/>
          </a:xfrm>
          <a:prstGeom prst="rect">
            <a:avLst/>
          </a:prstGeom>
        </p:spPr>
      </p:pic>
      <p:sp>
        <p:nvSpPr>
          <p:cNvPr id="13" name="Text 8"/>
          <p:cNvSpPr/>
          <p:nvPr/>
        </p:nvSpPr>
        <p:spPr>
          <a:xfrm>
            <a:off x="1133856" y="508406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LA REGLA PARA CUALQUIER PLAZO</a:t>
            </a:r>
            <a:endParaRPr lang="en-US" sz="950" dirty="0"/>
          </a:p>
        </p:txBody>
      </p:sp>
      <p:sp>
        <p:nvSpPr>
          <p:cNvPr id="14" name="Text 9"/>
          <p:cNvSpPr/>
          <p:nvPr/>
        </p:nvSpPr>
        <p:spPr>
          <a:xfrm>
            <a:off x="804672" y="5404104"/>
            <a:ext cx="10582351" cy="64922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Para cada comparación con el tiempo, tres pruebas: un segundo antes, el segundo exacto y un segundo después. Una prueba con «una semana después» nunca llega al límite: por eso casi nadie lo prueba, y por eso ahí viven los errores.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A.13 · COBERTURA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QUÉ MIDE, Y QUÉ NO MIDE</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Shape 5"/>
          <p:cNvSpPr/>
          <p:nvPr/>
        </p:nvSpPr>
        <p:spPr>
          <a:xfrm>
            <a:off x="566928" y="1737360"/>
            <a:ext cx="7315200" cy="566928"/>
          </a:xfrm>
          <a:prstGeom prst="rect">
            <a:avLst/>
          </a:prstGeom>
          <a:solidFill>
            <a:srgbClr val="16151B"/>
          </a:solidFill>
          <a:ln w="22225">
            <a:solidFill>
              <a:srgbClr val="16151B"/>
            </a:solidFill>
            <a:prstDash val="solid"/>
          </a:ln>
        </p:spPr>
      </p:sp>
      <p:sp>
        <p:nvSpPr>
          <p:cNvPr id="9" name="Text 6"/>
          <p:cNvSpPr/>
          <p:nvPr/>
        </p:nvSpPr>
        <p:spPr>
          <a:xfrm>
            <a:off x="768096" y="1883664"/>
            <a:ext cx="6912864" cy="310896"/>
          </a:xfrm>
          <a:prstGeom prst="rect">
            <a:avLst/>
          </a:prstGeom>
          <a:noFill/>
          <a:ln/>
        </p:spPr>
        <p:txBody>
          <a:bodyPr wrap="square" lIns="0" tIns="0" rIns="0" bIns="0" rtlCol="0" anchor="t"/>
          <a:lstStyle/>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coverage</a:t>
            </a:r>
            <a:endParaRPr lang="en-US" sz="1250" dirty="0"/>
          </a:p>
        </p:txBody>
      </p:sp>
      <p:sp>
        <p:nvSpPr>
          <p:cNvPr id="10" name="Shape 7"/>
          <p:cNvSpPr/>
          <p:nvPr/>
        </p:nvSpPr>
        <p:spPr>
          <a:xfrm>
            <a:off x="566928" y="2514600"/>
            <a:ext cx="5391760" cy="24231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269748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QUÉ MIDE</a:t>
            </a:r>
            <a:endParaRPr lang="en-US" sz="1050" dirty="0"/>
          </a:p>
        </p:txBody>
      </p:sp>
      <p:sp>
        <p:nvSpPr>
          <p:cNvPr id="12" name="Text 9"/>
          <p:cNvSpPr/>
          <p:nvPr/>
        </p:nvSpPr>
        <p:spPr>
          <a:xfrm>
            <a:off x="841248" y="3081528"/>
            <a:ext cx="4843120" cy="169164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Qué líneas del contrato ejecutó alguna prueba.</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Qué líneas nunca se ejecutaron: el informe las lista por número.</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Útil para encontrar funciones o reversiones que nadie probó.</a:t>
            </a:r>
            <a:endParaRPr lang="en-US" sz="1300" dirty="0"/>
          </a:p>
        </p:txBody>
      </p:sp>
      <p:sp>
        <p:nvSpPr>
          <p:cNvPr id="13" name="Shape 10"/>
          <p:cNvSpPr/>
          <p:nvPr/>
        </p:nvSpPr>
        <p:spPr>
          <a:xfrm>
            <a:off x="6233008" y="2514600"/>
            <a:ext cx="5391760" cy="242316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4" name="Text 11"/>
          <p:cNvSpPr/>
          <p:nvPr/>
        </p:nvSpPr>
        <p:spPr>
          <a:xfrm>
            <a:off x="6507328" y="269748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QUÉ NO MIDE</a:t>
            </a:r>
            <a:endParaRPr lang="en-US" sz="1050" dirty="0"/>
          </a:p>
        </p:txBody>
      </p:sp>
      <p:sp>
        <p:nvSpPr>
          <p:cNvPr id="15" name="Text 12"/>
          <p:cNvSpPr/>
          <p:nvPr/>
        </p:nvSpPr>
        <p:spPr>
          <a:xfrm>
            <a:off x="6507328" y="3081528"/>
            <a:ext cx="4843120" cy="169164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Si la prueba comprobó el resultado. Una prueba sin expect da cobertura.</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Si se probó el valor exacto del borde.</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Si el contrato hace lo que el negocio necesita.</a:t>
            </a:r>
            <a:endParaRPr lang="en-US" sz="1300" dirty="0"/>
          </a:p>
        </p:txBody>
      </p:sp>
      <p:sp>
        <p:nvSpPr>
          <p:cNvPr id="16" name="Shape 13"/>
          <p:cNvSpPr/>
          <p:nvPr/>
        </p:nvSpPr>
        <p:spPr>
          <a:xfrm>
            <a:off x="566928" y="5166360"/>
            <a:ext cx="11057839" cy="9601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7" name="Text 14"/>
          <p:cNvSpPr/>
          <p:nvPr/>
        </p:nvSpPr>
        <p:spPr>
          <a:xfrm>
            <a:off x="950976" y="5349240"/>
            <a:ext cx="10289743" cy="594360"/>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La cobertura dice dónde NO hay pruebas. No dice que las que hay sirvan.</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A.14 · LEER EL INFORME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UNA FILA, TRES COLUMNAS, UNA LISTA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sp>
        <p:nvSpPr>
          <p:cNvPr id="8" name="Shape 5"/>
          <p:cNvSpPr/>
          <p:nvPr/>
        </p:nvSpPr>
        <p:spPr>
          <a:xfrm>
            <a:off x="566928" y="1737360"/>
            <a:ext cx="11057839" cy="1691640"/>
          </a:xfrm>
          <a:prstGeom prst="rect">
            <a:avLst/>
          </a:prstGeom>
          <a:solidFill>
            <a:srgbClr val="16151B"/>
          </a:solidFill>
          <a:ln w="22225">
            <a:solidFill>
              <a:srgbClr val="16151B"/>
            </a:solidFill>
            <a:prstDash val="solid"/>
          </a:ln>
        </p:spPr>
      </p:sp>
      <p:sp>
        <p:nvSpPr>
          <p:cNvPr id="9" name="Text 6"/>
          <p:cNvSpPr/>
          <p:nvPr/>
        </p:nvSpPr>
        <p:spPr>
          <a:xfrm>
            <a:off x="768096" y="1810512"/>
            <a:ext cx="106555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SALIDA REAL, RECORTADA</a:t>
            </a:r>
            <a:endParaRPr lang="en-US" sz="850" dirty="0"/>
          </a:p>
        </p:txBody>
      </p:sp>
      <p:sp>
        <p:nvSpPr>
          <p:cNvPr id="10" name="Text 7"/>
          <p:cNvSpPr/>
          <p:nvPr/>
        </p:nvSpPr>
        <p:spPr>
          <a:xfrm>
            <a:off x="768096" y="2121408"/>
            <a:ext cx="10655503" cy="1197864"/>
          </a:xfrm>
          <a:prstGeom prst="rect">
            <a:avLst/>
          </a:prstGeom>
          <a:noFill/>
          <a:ln/>
        </p:spPr>
        <p:txBody>
          <a:bodyPr wrap="square" lIns="0" tIns="0" rIns="0" bIns="0" rtlCol="0" anchor="t"/>
          <a:lstStyle/>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File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Path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Line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Statement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Uncovered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Lines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Empaquetado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sol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100.00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100.00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sol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97.06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97.87</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118</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s08</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sol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0.00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0.00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49</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51</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55</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Total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21.38</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21.64</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1" name="Shape 8"/>
          <p:cNvSpPr/>
          <p:nvPr/>
        </p:nvSpPr>
        <p:spPr>
          <a:xfrm>
            <a:off x="566928" y="3520440"/>
            <a:ext cx="11057839" cy="694944"/>
          </a:xfrm>
          <a:prstGeom prst="rect">
            <a:avLst/>
          </a:prstGeom>
          <a:solidFill>
            <a:srgbClr val="FFFFFF"/>
          </a:solidFill>
          <a:ln w="15875">
            <a:solidFill>
              <a:srgbClr val="D9D6E0"/>
            </a:solidFill>
            <a:prstDash val="solid"/>
          </a:ln>
        </p:spPr>
      </p:sp>
      <p:sp>
        <p:nvSpPr>
          <p:cNvPr id="12" name="Text 9"/>
          <p:cNvSpPr/>
          <p:nvPr/>
        </p:nvSpPr>
        <p:spPr>
          <a:xfrm>
            <a:off x="694944" y="3520440"/>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3" name="Text 10"/>
          <p:cNvSpPr/>
          <p:nvPr/>
        </p:nvSpPr>
        <p:spPr>
          <a:xfrm>
            <a:off x="1280160" y="3721608"/>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BUSCAR SU FILA</a:t>
            </a:r>
            <a:endParaRPr lang="en-US" sz="1000" dirty="0"/>
          </a:p>
        </p:txBody>
      </p:sp>
      <p:sp>
        <p:nvSpPr>
          <p:cNvPr id="14" name="Text 11"/>
          <p:cNvSpPr/>
          <p:nvPr/>
        </p:nvSpPr>
        <p:spPr>
          <a:xfrm>
            <a:off x="3931920" y="3611880"/>
            <a:ext cx="7583119" cy="548640"/>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informe lista TODOS los contratos del repositorio. La fila que importa es la del contrato que prueban.</a:t>
            </a:r>
            <a:endParaRPr lang="en-US" sz="1200" dirty="0"/>
          </a:p>
        </p:txBody>
      </p:sp>
      <p:sp>
        <p:nvSpPr>
          <p:cNvPr id="15" name="Shape 12"/>
          <p:cNvSpPr/>
          <p:nvPr/>
        </p:nvSpPr>
        <p:spPr>
          <a:xfrm>
            <a:off x="566928" y="4288536"/>
            <a:ext cx="11057839" cy="694944"/>
          </a:xfrm>
          <a:prstGeom prst="rect">
            <a:avLst/>
          </a:prstGeom>
          <a:solidFill>
            <a:srgbClr val="FAF9FB"/>
          </a:solidFill>
          <a:ln w="15875">
            <a:solidFill>
              <a:srgbClr val="D9D6E0"/>
            </a:solidFill>
            <a:prstDash val="solid"/>
          </a:ln>
        </p:spPr>
      </p:sp>
      <p:sp>
        <p:nvSpPr>
          <p:cNvPr id="16" name="Text 13"/>
          <p:cNvSpPr/>
          <p:nvPr/>
        </p:nvSpPr>
        <p:spPr>
          <a:xfrm>
            <a:off x="694944" y="4288536"/>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7" name="Text 14"/>
          <p:cNvSpPr/>
          <p:nvPr/>
        </p:nvSpPr>
        <p:spPr>
          <a:xfrm>
            <a:off x="1280160" y="4489704"/>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IGNORAR EL TOTAL</a:t>
            </a:r>
            <a:endParaRPr lang="en-US" sz="1000" dirty="0"/>
          </a:p>
        </p:txBody>
      </p:sp>
      <p:sp>
        <p:nvSpPr>
          <p:cNvPr id="18" name="Text 15"/>
          <p:cNvSpPr/>
          <p:nvPr/>
        </p:nvSpPr>
        <p:spPr>
          <a:xfrm>
            <a:off x="3931920" y="4379976"/>
            <a:ext cx="7583119" cy="548640"/>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21 % de Total no significa nada: incluye contratos de otras sesiones que esta suite ni toca.</a:t>
            </a:r>
            <a:endParaRPr lang="en-US" sz="1200" dirty="0"/>
          </a:p>
        </p:txBody>
      </p:sp>
      <p:sp>
        <p:nvSpPr>
          <p:cNvPr id="19" name="Shape 16"/>
          <p:cNvSpPr/>
          <p:nvPr/>
        </p:nvSpPr>
        <p:spPr>
          <a:xfrm>
            <a:off x="566928" y="5056632"/>
            <a:ext cx="11057839" cy="694944"/>
          </a:xfrm>
          <a:prstGeom prst="rect">
            <a:avLst/>
          </a:prstGeom>
          <a:solidFill>
            <a:srgbClr val="FFFFFF"/>
          </a:solidFill>
          <a:ln w="15875">
            <a:solidFill>
              <a:srgbClr val="D9D6E0"/>
            </a:solidFill>
            <a:prstDash val="solid"/>
          </a:ln>
        </p:spPr>
      </p:sp>
      <p:sp>
        <p:nvSpPr>
          <p:cNvPr id="20" name="Text 17"/>
          <p:cNvSpPr/>
          <p:nvPr/>
        </p:nvSpPr>
        <p:spPr>
          <a:xfrm>
            <a:off x="694944" y="5056632"/>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1" name="Text 18"/>
          <p:cNvSpPr/>
          <p:nvPr/>
        </p:nvSpPr>
        <p:spPr>
          <a:xfrm>
            <a:off x="1280160" y="5257800"/>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LEER LAS LÍNEAS</a:t>
            </a:r>
            <a:endParaRPr lang="en-US" sz="1000" dirty="0"/>
          </a:p>
        </p:txBody>
      </p:sp>
      <p:sp>
        <p:nvSpPr>
          <p:cNvPr id="22" name="Text 19"/>
          <p:cNvSpPr/>
          <p:nvPr/>
        </p:nvSpPr>
        <p:spPr>
          <a:xfrm>
            <a:off x="3931920" y="5148072"/>
            <a:ext cx="7583119" cy="548640"/>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118 es el revert EnvioFallido de retirar(): solo se ejecuta si el receptor rechaza el pago. Cada número es una pregunta.</a:t>
            </a:r>
            <a:endParaRPr lang="en-US" sz="1200" dirty="0"/>
          </a:p>
        </p:txBody>
      </p:sp>
      <p:sp>
        <p:nvSpPr>
          <p:cNvPr id="23" name="Text 20"/>
          <p:cNvSpPr/>
          <p:nvPr/>
        </p:nvSpPr>
        <p:spPr>
          <a:xfrm>
            <a:off x="566928" y="5916168"/>
            <a:ext cx="11057839" cy="320040"/>
          </a:xfrm>
          <a:prstGeom prst="rect">
            <a:avLst/>
          </a:prstGeom>
          <a:noFill/>
          <a:ln/>
        </p:spPr>
        <p:txBody>
          <a:bodyPr wrap="square" lIns="0" tIns="0" rIns="0" bIns="0" rtlCol="0" anchor="t"/>
          <a:lstStyle/>
          <a:p>
            <a:pPr indent="0" marL="0">
              <a:lnSpc>
                <a:spcPct val="124000"/>
              </a:lnSpc>
              <a:buNone/>
            </a:pPr>
            <a:r>
              <a:rPr lang="en-US" sz="1200" dirty="0">
                <a:solidFill>
                  <a:srgbClr val="6F6B80"/>
                </a:solidFill>
                <a:latin typeface="Arial" pitchFamily="34" charset="0"/>
                <a:ea typeface="Arial" pitchFamily="34" charset="-122"/>
                <a:cs typeface="Arial" pitchFamily="34" charset="-120"/>
              </a:rPr>
              <a:t>También queda un informe navegable en coverage/html/index.html, con cada línea pintada de verde o rojo.</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A.15 · PRUEBAS DE MUTACIÓN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¿MIS PRUEBAS NOTARÍAN UN ERROR?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sp>
        <p:nvSpPr>
          <p:cNvPr id="8" name="Text 5"/>
          <p:cNvSpPr/>
          <p:nvPr/>
        </p:nvSpPr>
        <p:spPr>
          <a:xfrm>
            <a:off x="566928" y="1691640"/>
            <a:ext cx="11057839" cy="8686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La idea: introducir un error pequeño a propósito —un mutante— y correr la suite. Si alguna prueba falla, el mutante está MUERTO: la suite lo vio. Si todas pasan, está VIVO: ese error llegaría a producción.</a:t>
            </a:r>
            <a:endParaRPr lang="en-US" sz="13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2697480"/>
          <a:ext cx="11057839" cy="914400"/>
        </p:xfrm>
        <a:graphic>
          <a:graphicData uri="http://schemas.openxmlformats.org/drawingml/2006/table">
            <a:tbl>
              <a:tblPr/>
              <a:tblGrid>
                <a:gridCol w="4023360"/>
                <a:gridCol w="2926080"/>
                <a:gridCol w="41083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MUTANTE SOBRE LA SUBASTA DE LA S7</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RESULTADO CON LAS 23 PRUEBAS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2179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INCREMENTO_MINIMO_BPS = 10 en lugar de 100</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MUERTO · 2 pruebas fallan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Dos pruebas comprueban el valor exacto: 2,02 ETH.</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2179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Borrar emit Retiro(...) en retirar()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VIVO · 23 pasan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Ninguna prueba comprueba el evento Retiro.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679192"/>
            <a:ext cx="11094415" cy="1591056"/>
          </a:xfrm>
          <a:prstGeom prst="rect">
            <a:avLst/>
          </a:prstGeom>
          <a:ln w="22225">
            <a:solidFill>
              <a:srgbClr val="0F0F11"/>
            </a:solidFill>
            <a:prstDash val="solid"/>
          </a:ln>
        </p:spPr>
      </p:sp>
      <p:sp>
        <p:nvSpPr>
          <p:cNvPr id="11" name="Shape 7"/>
          <p:cNvSpPr/>
          <p:nvPr/>
        </p:nvSpPr>
        <p:spPr>
          <a:xfrm>
            <a:off x="566928" y="4434840"/>
            <a:ext cx="11057839" cy="1709928"/>
          </a:xfrm>
          <a:prstGeom prst="rect">
            <a:avLst/>
          </a:prstGeom>
          <a:solidFill>
            <a:srgbClr val="F2F0F5"/>
          </a:solidFill>
          <a:ln w="22225">
            <a:solidFill>
              <a:srgbClr val="0F0F11"/>
            </a:solidFill>
            <a:prstDash val="solid"/>
          </a:ln>
        </p:spPr>
      </p:sp>
      <p:pic>
        <p:nvPicPr>
          <p:cNvPr id="12" name="Image 1" descr="preencoded.png">    </p:cNvPr>
          <p:cNvPicPr>
            <a:picLocks noChangeAspect="1"/>
          </p:cNvPicPr>
          <p:nvPr/>
        </p:nvPicPr>
        <p:blipFill>
          <a:blip r:embed="rId2"/>
          <a:stretch>
            <a:fillRect/>
          </a:stretch>
        </p:blipFill>
        <p:spPr>
          <a:xfrm>
            <a:off x="804672" y="4654296"/>
            <a:ext cx="237744" cy="237744"/>
          </a:xfrm>
          <a:prstGeom prst="rect">
            <a:avLst/>
          </a:prstGeom>
        </p:spPr>
      </p:pic>
      <p:sp>
        <p:nvSpPr>
          <p:cNvPr id="13" name="Text 8"/>
          <p:cNvSpPr/>
          <p:nvPr/>
        </p:nvSpPr>
        <p:spPr>
          <a:xfrm>
            <a:off x="1133856" y="462686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LO QUE ENSEÑA EL MUTANTE VIVO</a:t>
            </a:r>
            <a:endParaRPr lang="en-US" sz="950" dirty="0"/>
          </a:p>
        </p:txBody>
      </p:sp>
      <p:sp>
        <p:nvSpPr>
          <p:cNvPr id="14" name="Text 9"/>
          <p:cNvSpPr/>
          <p:nvPr/>
        </p:nvSpPr>
        <p:spPr>
          <a:xfrm>
            <a:off x="804672" y="4946904"/>
            <a:ext cx="10582351" cy="110642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Subasta.sol tiene 97 % de cobertura y aun así una interfaz que escuche el evento Retiro dejaría de enterarse de los retiros, sin que ninguna prueba lo note. La línea del evento estaba cubierta; nadie comprobaba lo que emitía. Arreglarlo es una línea: to.emit(s, "Retiro").withArgs(ana.address, eth(1)).</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A.16 · EL EXPERIMENTO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88 % DE COBERTURA Y TRES ERRORES VIVOS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Preparando el laboratorio escribimos una suite de referencia para el contrato Recaudo y tres copias del contrato con un error cada una. Después quitamos solo las pruebas de borde.</a:t>
            </a:r>
            <a:endParaRPr lang="en-US" sz="1400" dirty="0"/>
          </a:p>
        </p:txBody>
      </p:sp>
      <p:sp>
        <p:nvSpPr>
          <p:cNvPr id="9" name="Shape 6"/>
          <p:cNvSpPr/>
          <p:nvPr/>
        </p:nvSpPr>
        <p:spPr>
          <a:xfrm>
            <a:off x="566928" y="2743200"/>
            <a:ext cx="2560320" cy="150876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Text 7"/>
          <p:cNvSpPr/>
          <p:nvPr/>
        </p:nvSpPr>
        <p:spPr>
          <a:xfrm>
            <a:off x="749808" y="2907792"/>
            <a:ext cx="2194560" cy="694030"/>
          </a:xfrm>
          <a:prstGeom prst="rect">
            <a:avLst/>
          </a:prstGeom>
          <a:noFill/>
          <a:ln/>
        </p:spPr>
        <p:txBody>
          <a:bodyPr wrap="square" lIns="0" tIns="0" rIns="0" bIns="0" rtlCol="0" anchor="ctr"/>
          <a:lstStyle/>
          <a:p>
            <a:pPr indent="0" marL="0">
              <a:buNone/>
            </a:pPr>
            <a:r>
              <a:rPr lang="en-US" sz="3400" dirty="0">
                <a:solidFill>
                  <a:srgbClr val="F07F06"/>
                </a:solidFill>
                <a:latin typeface="Arial Black" pitchFamily="34" charset="0"/>
                <a:ea typeface="Arial Black" pitchFamily="34" charset="-122"/>
                <a:cs typeface="Arial Black" pitchFamily="34" charset="-120"/>
              </a:rPr>
              <a:t>13</a:t>
            </a:r>
            <a:endParaRPr lang="en-US" sz="3400" dirty="0"/>
          </a:p>
        </p:txBody>
      </p:sp>
      <p:sp>
        <p:nvSpPr>
          <p:cNvPr id="11" name="Text 8"/>
          <p:cNvSpPr/>
          <p:nvPr/>
        </p:nvSpPr>
        <p:spPr>
          <a:xfrm>
            <a:off x="749808" y="3618281"/>
            <a:ext cx="2194560" cy="573329"/>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pruebas en verde contra el contrato correcto</a:t>
            </a:r>
            <a:endParaRPr lang="en-US" sz="1200" dirty="0"/>
          </a:p>
        </p:txBody>
      </p:sp>
      <p:sp>
        <p:nvSpPr>
          <p:cNvPr id="12" name="Shape 9"/>
          <p:cNvSpPr/>
          <p:nvPr/>
        </p:nvSpPr>
        <p:spPr>
          <a:xfrm>
            <a:off x="3310128" y="2743200"/>
            <a:ext cx="2743200" cy="150876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3" name="Text 10"/>
          <p:cNvSpPr/>
          <p:nvPr/>
        </p:nvSpPr>
        <p:spPr>
          <a:xfrm>
            <a:off x="3493008" y="2907792"/>
            <a:ext cx="2377440" cy="694030"/>
          </a:xfrm>
          <a:prstGeom prst="rect">
            <a:avLst/>
          </a:prstGeom>
          <a:noFill/>
          <a:ln/>
        </p:spPr>
        <p:txBody>
          <a:bodyPr wrap="square" lIns="0" tIns="0" rIns="0" bIns="0" rtlCol="0" anchor="ctr"/>
          <a:lstStyle/>
          <a:p>
            <a:pPr indent="0" marL="0">
              <a:buNone/>
            </a:pPr>
            <a:r>
              <a:rPr lang="en-US" sz="3400" dirty="0">
                <a:solidFill>
                  <a:srgbClr val="7152E9"/>
                </a:solidFill>
                <a:latin typeface="Arial Black" pitchFamily="34" charset="0"/>
                <a:ea typeface="Arial Black" pitchFamily="34" charset="-122"/>
                <a:cs typeface="Arial Black" pitchFamily="34" charset="-120"/>
              </a:rPr>
              <a:t>88 %</a:t>
            </a:r>
            <a:endParaRPr lang="en-US" sz="3400" dirty="0"/>
          </a:p>
        </p:txBody>
      </p:sp>
      <p:sp>
        <p:nvSpPr>
          <p:cNvPr id="14" name="Text 11"/>
          <p:cNvSpPr/>
          <p:nvPr/>
        </p:nvSpPr>
        <p:spPr>
          <a:xfrm>
            <a:off x="3493008" y="3618281"/>
            <a:ext cx="2377440" cy="573329"/>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 cobertura de líneas: cumple la meta del curso</a:t>
            </a:r>
            <a:endParaRPr lang="en-US" sz="1200" dirty="0"/>
          </a:p>
        </p:txBody>
      </p:sp>
      <p:sp>
        <p:nvSpPr>
          <p:cNvPr id="15" name="Shape 12"/>
          <p:cNvSpPr/>
          <p:nvPr/>
        </p:nvSpPr>
        <p:spPr>
          <a:xfrm>
            <a:off x="6236208" y="2743200"/>
            <a:ext cx="2651760" cy="150876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6" name="Text 13"/>
          <p:cNvSpPr/>
          <p:nvPr/>
        </p:nvSpPr>
        <p:spPr>
          <a:xfrm>
            <a:off x="6419088" y="2907792"/>
            <a:ext cx="2286000" cy="694030"/>
          </a:xfrm>
          <a:prstGeom prst="rect">
            <a:avLst/>
          </a:prstGeom>
          <a:noFill/>
          <a:ln/>
        </p:spPr>
        <p:txBody>
          <a:bodyPr wrap="square" lIns="0" tIns="0" rIns="0" bIns="0" rtlCol="0" anchor="ctr"/>
          <a:lstStyle/>
          <a:p>
            <a:pPr indent="0" marL="0">
              <a:buNone/>
            </a:pPr>
            <a:r>
              <a:rPr lang="en-US" sz="3000" dirty="0">
                <a:solidFill>
                  <a:srgbClr val="B3261E"/>
                </a:solidFill>
                <a:latin typeface="Arial Black" pitchFamily="34" charset="0"/>
                <a:ea typeface="Arial Black" pitchFamily="34" charset="-122"/>
                <a:cs typeface="Arial Black" pitchFamily="34" charset="-120"/>
              </a:rPr>
              <a:t>13 / 13</a:t>
            </a:r>
            <a:endParaRPr lang="en-US" sz="3000" dirty="0"/>
          </a:p>
        </p:txBody>
      </p:sp>
      <p:sp>
        <p:nvSpPr>
          <p:cNvPr id="17" name="Text 14"/>
          <p:cNvSpPr/>
          <p:nvPr/>
        </p:nvSpPr>
        <p:spPr>
          <a:xfrm>
            <a:off x="6419088" y="3618281"/>
            <a:ext cx="2286000" cy="573329"/>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siguen en verde contra CADA mutante</a:t>
            </a:r>
            <a:endParaRPr lang="en-US" sz="1200" dirty="0"/>
          </a:p>
        </p:txBody>
      </p:sp>
      <p:sp>
        <p:nvSpPr>
          <p:cNvPr id="18" name="Shape 15"/>
          <p:cNvSpPr/>
          <p:nvPr/>
        </p:nvSpPr>
        <p:spPr>
          <a:xfrm>
            <a:off x="9070848" y="2743200"/>
            <a:ext cx="2553919" cy="150876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9" name="Text 16"/>
          <p:cNvSpPr/>
          <p:nvPr/>
        </p:nvSpPr>
        <p:spPr>
          <a:xfrm>
            <a:off x="9253728" y="2907792"/>
            <a:ext cx="2188159" cy="694030"/>
          </a:xfrm>
          <a:prstGeom prst="rect">
            <a:avLst/>
          </a:prstGeom>
          <a:noFill/>
          <a:ln/>
        </p:spPr>
        <p:txBody>
          <a:bodyPr wrap="square" lIns="0" tIns="0" rIns="0" bIns="0" rtlCol="0" anchor="ctr"/>
          <a:lstStyle/>
          <a:p>
            <a:pPr indent="0" marL="0">
              <a:buNone/>
            </a:pPr>
            <a:r>
              <a:rPr lang="en-US" sz="3400" dirty="0">
                <a:solidFill>
                  <a:srgbClr val="B3261E"/>
                </a:solidFill>
                <a:latin typeface="Arial Black" pitchFamily="34" charset="0"/>
                <a:ea typeface="Arial Black" pitchFamily="34" charset="-122"/>
                <a:cs typeface="Arial Black" pitchFamily="34" charset="-120"/>
              </a:rPr>
              <a:t>3</a:t>
            </a:r>
            <a:endParaRPr lang="en-US" sz="3400" dirty="0"/>
          </a:p>
        </p:txBody>
      </p:sp>
      <p:sp>
        <p:nvSpPr>
          <p:cNvPr id="20" name="Text 17"/>
          <p:cNvSpPr/>
          <p:nvPr/>
        </p:nvSpPr>
        <p:spPr>
          <a:xfrm>
            <a:off x="9253728" y="3618281"/>
            <a:ext cx="2188159" cy="573329"/>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errores reales que la suite no ve</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4526280"/>
          <a:ext cx="11057839" cy="914400"/>
        </p:xfrm>
        <a:graphic>
          <a:graphicData uri="http://schemas.openxmlformats.org/drawingml/2006/table">
            <a:tbl>
              <a:tblPr/>
              <a:tblGrid>
                <a:gridCol w="3474720"/>
                <a:gridCol w="3566160"/>
                <a:gridCol w="401695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SUITE SIN BORDES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SUITE CON 3 PRUEBAS DE BORDE MÁS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38912">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Contra el contrato correcto</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13 pasan · 88 %</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16 pasan · 92 %</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38912">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Contra cada mutante</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13 pasan · VIVO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15 pasan, 1 falla · MUERTO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22" name="Shape 18"/>
          <p:cNvSpPr/>
          <p:nvPr/>
        </p:nvSpPr>
        <p:spPr>
          <a:xfrm>
            <a:off x="548640" y="4507992"/>
            <a:ext cx="11094415" cy="1225296"/>
          </a:xfrm>
          <a:prstGeom prst="rect">
            <a:avLst/>
          </a:prstGeom>
          <a:ln w="22225">
            <a:solidFill>
              <a:srgbClr val="0F0F11"/>
            </a:solidFill>
            <a:prstDash val="solid"/>
          </a:ln>
        </p:spPr>
      </p:sp>
      <p:sp>
        <p:nvSpPr>
          <p:cNvPr id="23" name="Text 19"/>
          <p:cNvSpPr/>
          <p:nvPr/>
        </p:nvSpPr>
        <p:spPr>
          <a:xfrm>
            <a:off x="566928" y="5833872"/>
            <a:ext cx="11057839" cy="365760"/>
          </a:xfrm>
          <a:prstGeom prst="rect">
            <a:avLst/>
          </a:prstGeom>
          <a:noFill/>
          <a:ln/>
        </p:spPr>
        <p:txBody>
          <a:bodyPr wrap="square" lIns="0" tIns="0" rIns="0" bIns="0" rtlCol="0" anchor="t"/>
          <a:lstStyle/>
          <a:p>
            <a:pPr indent="0" marL="0">
              <a:lnSpc>
                <a:spcPct val="124000"/>
              </a:lnSpc>
              <a:buNone/>
            </a:pPr>
            <a:r>
              <a:rPr lang="en-US" sz="1150" dirty="0">
                <a:solidFill>
                  <a:srgbClr val="6F6B80"/>
                </a:solidFill>
                <a:latin typeface="Arial" pitchFamily="34" charset="0"/>
                <a:ea typeface="Arial" pitchFamily="34" charset="-122"/>
                <a:cs typeface="Arial" pitchFamily="34" charset="-120"/>
              </a:rPr>
              <a:t>Medido con npx hardhat test --coverage y scripts/s08/cazar-mutantes.js. Cuáles son los bordes: eso lo descubren ustedes.</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A.17 · PRUEBAS DE BORDE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100" dirty="0">
                <a:solidFill>
                  <a:srgbClr val="0F0F11"/>
                </a:solidFill>
                <a:latin typeface="Arial Black" pitchFamily="34" charset="0"/>
                <a:ea typeface="Arial Black" pitchFamily="34" charset="-122"/>
                <a:cs typeface="Arial Black" pitchFamily="34" charset="-120"/>
              </a:rPr>
              <a:t>DÓNDE VIVEN LOS ERRORES</a:t>
            </a:r>
            <a:endParaRPr lang="en-US" sz="31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1828800"/>
                <a:gridCol w="4480560"/>
                <a:gridCol w="47484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BORDE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 PREGUNTA QUE HAY QUE HACERLE AL CONTRATO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 AHÍ</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72420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Tiempo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¿Qué pasa un segundo antes, en el segundo exacto y un segundo después de cada plazo?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Una comparación mal escrita deja entrar o salir justo en el límite, y ninguna prueba «normal» llega a ese instante.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2420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Umbral</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¿Qué pasa con el valor exacto de cada límite: ni un wei más, ni uno menos?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Los casos cómodos siempre quedan lejos del límite: por eso nadie los prueba.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2420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Repetición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¿Qué pasa si la misma cuenta llama dos veces seguidas?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efecto que debería ocurrir una vez puede repetirse si el estado no cambió.</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2420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Cero y vacío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¿Qué pasa con 0, con la dirección cero, con un texto vacío?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Son valores válidos para la EVM y absurdos para el negocio.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2420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Quién llama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¿Qué pasa si llama otra cuenta, o un contrato?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Basta una función sin su modificador.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968496"/>
          </a:xfrm>
          <a:prstGeom prst="rect">
            <a:avLst/>
          </a:prstGeom>
          <a:ln w="22225">
            <a:solidFill>
              <a:srgbClr val="0F0F11"/>
            </a:solidFill>
            <a:prstDash val="solid"/>
          </a:ln>
        </p:spPr>
      </p:sp>
      <p:sp>
        <p:nvSpPr>
          <p:cNvPr id="10" name="Text 6"/>
          <p:cNvSpPr/>
          <p:nvPr/>
        </p:nvSpPr>
        <p:spPr>
          <a:xfrm>
            <a:off x="566928" y="5806440"/>
            <a:ext cx="11057839" cy="384048"/>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Para cada función del contrato, recorrer las cinco filas. Así se encuentran los errores que la cobertura no ve.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A.18 · GAS EN LAS PRUEBAS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CUÁNTO CUESTA CADA FUNCIÓN, DE UN VISTAZO</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sp>
        <p:nvSpPr>
          <p:cNvPr id="8" name="Shape 5"/>
          <p:cNvSpPr/>
          <p:nvPr/>
        </p:nvSpPr>
        <p:spPr>
          <a:xfrm>
            <a:off x="566928" y="1737360"/>
            <a:ext cx="11057839" cy="301752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761488"/>
          </a:xfrm>
          <a:prstGeom prst="rect">
            <a:avLst/>
          </a:prstGeom>
          <a:noFill/>
          <a:ln/>
        </p:spPr>
        <p:txBody>
          <a:bodyPr wrap="square" lIns="0" tIns="0" rIns="0" bIns="0" rtlCol="0" anchor="t"/>
          <a:lstStyle/>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stats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Subasta</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Function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name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Min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Average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Median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Max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calls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finalizar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49379</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67786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73922</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73922</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4</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pujar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45421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115482</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124090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138289</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24</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retirar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30000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30000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30000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30000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5</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estado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23494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23509</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23516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23516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3</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Deployment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712669</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a:t>
            </a:r>
            <a:endParaRPr lang="en-US" sz="1200" dirty="0"/>
          </a:p>
        </p:txBody>
      </p:sp>
      <p:sp>
        <p:nvSpPr>
          <p:cNvPr id="10" name="Text 7"/>
          <p:cNvSpPr/>
          <p:nvPr/>
        </p:nvSpPr>
        <p:spPr>
          <a:xfrm>
            <a:off x="566928" y="4937760"/>
            <a:ext cx="11057839" cy="123444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pujar varía de 45 421 a 138 289: estrenar ranuras (primer postor, nuevo participante) es lo caro (S5 y S7).</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estado aparece con gas porque la prueba la llama; desde una aplicación, leer es gratis.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Si un cambio de código hace subir mucho una cifra, es una señal para revisar antes de desplegar.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A.19 · DESPLEGAR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IGNITION: DESPLIEGUES QUE SE PUEDEN REPETIR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sp>
        <p:nvSpPr>
          <p:cNvPr id="8" name="Shape 5"/>
          <p:cNvSpPr/>
          <p:nvPr/>
        </p:nvSpPr>
        <p:spPr>
          <a:xfrm>
            <a:off x="566928" y="1737360"/>
            <a:ext cx="6675120" cy="2743200"/>
          </a:xfrm>
          <a:prstGeom prst="rect">
            <a:avLst/>
          </a:prstGeom>
          <a:solidFill>
            <a:srgbClr val="16151B"/>
          </a:solidFill>
          <a:ln w="22225">
            <a:solidFill>
              <a:srgbClr val="16151B"/>
            </a:solidFill>
            <a:prstDash val="solid"/>
          </a:ln>
        </p:spPr>
      </p:sp>
      <p:sp>
        <p:nvSpPr>
          <p:cNvPr id="9" name="Text 6"/>
          <p:cNvSpPr/>
          <p:nvPr/>
        </p:nvSpPr>
        <p:spPr>
          <a:xfrm>
            <a:off x="768096" y="1810512"/>
            <a:ext cx="627278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IGNITION/MODULES/RECAUDO.JS</a:t>
            </a:r>
            <a:endParaRPr lang="en-US" sz="850" dirty="0"/>
          </a:p>
        </p:txBody>
      </p:sp>
      <p:sp>
        <p:nvSpPr>
          <p:cNvPr id="10" name="Text 7"/>
          <p:cNvSpPr/>
          <p:nvPr/>
        </p:nvSpPr>
        <p:spPr>
          <a:xfrm>
            <a:off x="768096" y="2121408"/>
            <a:ext cx="6272784" cy="2249424"/>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import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buildModule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"@nomicfoundation/hardhat-ignition/modules"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export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default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buildModule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"RecaudoModulo"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meta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getParameter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"meta"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18</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duracion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getParameter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"duracionSegundos"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604800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contract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"Recaudo"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meta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duracion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1" name="Shape 8"/>
          <p:cNvSpPr/>
          <p:nvPr/>
        </p:nvSpPr>
        <p:spPr>
          <a:xfrm>
            <a:off x="7516368" y="1737360"/>
            <a:ext cx="4108399" cy="2743200"/>
          </a:xfrm>
          <a:prstGeom prst="rect">
            <a:avLst/>
          </a:prstGeom>
          <a:solidFill>
            <a:srgbClr val="16151B"/>
          </a:solidFill>
          <a:ln w="22225">
            <a:solidFill>
              <a:srgbClr val="16151B"/>
            </a:solidFill>
            <a:prstDash val="solid"/>
          </a:ln>
        </p:spPr>
      </p:sp>
      <p:sp>
        <p:nvSpPr>
          <p:cNvPr id="12" name="Text 9"/>
          <p:cNvSpPr/>
          <p:nvPr/>
        </p:nvSpPr>
        <p:spPr>
          <a:xfrm>
            <a:off x="7717536" y="1810512"/>
            <a:ext cx="370606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PARAMETROS/RECAUDO-SEPOLIA.JSON</a:t>
            </a:r>
            <a:endParaRPr lang="en-US" sz="850" dirty="0"/>
          </a:p>
        </p:txBody>
      </p:sp>
      <p:sp>
        <p:nvSpPr>
          <p:cNvPr id="13" name="Text 10"/>
          <p:cNvSpPr/>
          <p:nvPr/>
        </p:nvSpPr>
        <p:spPr>
          <a:xfrm>
            <a:off x="7717536" y="2121408"/>
            <a:ext cx="3706063" cy="2249424"/>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"RecaudoModulo"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"meta"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"5000000000000000"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"duracionSegundos"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1800</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4" name="Text 11"/>
          <p:cNvSpPr/>
          <p:nvPr/>
        </p:nvSpPr>
        <p:spPr>
          <a:xfrm>
            <a:off x="566928" y="4663440"/>
            <a:ext cx="11057839" cy="150876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250" dirty="0">
                <a:solidFill>
                  <a:srgbClr val="3A3844"/>
                </a:solidFill>
                <a:latin typeface="Arial" pitchFamily="34" charset="0"/>
                <a:ea typeface="Arial" pitchFamily="34" charset="-122"/>
                <a:cs typeface="Arial" pitchFamily="34" charset="-120"/>
              </a:rPr>
              <a:t>Describe QUÉ se despliega, no los pasos: Ignition decide el orden.</a:t>
            </a:r>
            <a:endParaRPr lang="en-US" sz="1250" dirty="0"/>
          </a:p>
          <a:p>
            <a:pPr marL="203200" indent="-203200">
              <a:lnSpc>
                <a:spcPct val="118000"/>
              </a:lnSpc>
              <a:spcAft>
                <a:spcPts val="600"/>
              </a:spcAft>
              <a:buSzPct val="100000"/>
              <a:buChar char="■"/>
            </a:pPr>
            <a:r>
              <a:rPr lang="en-US" sz="1250" dirty="0">
                <a:solidFill>
                  <a:srgbClr val="3A3844"/>
                </a:solidFill>
                <a:latin typeface="Arial" pitchFamily="34" charset="0"/>
                <a:ea typeface="Arial" pitchFamily="34" charset="-122"/>
                <a:cs typeface="Arial" pitchFamily="34" charset="-120"/>
              </a:rPr>
              <a:t>Anota cada despliegue en ignition/deployments/: si se cae la red a mitad, retoma sin desplegar dos veces.</a:t>
            </a:r>
            <a:endParaRPr lang="en-US" sz="1250" dirty="0"/>
          </a:p>
          <a:p>
            <a:pPr marL="203200" indent="-203200">
              <a:lnSpc>
                <a:spcPct val="118000"/>
              </a:lnSpc>
              <a:spcAft>
                <a:spcPts val="600"/>
              </a:spcAft>
              <a:buSzPct val="100000"/>
              <a:buChar char="■"/>
            </a:pPr>
            <a:r>
              <a:rPr lang="en-US" sz="1250" dirty="0">
                <a:solidFill>
                  <a:srgbClr val="3A3844"/>
                </a:solidFill>
                <a:latin typeface="Arial" pitchFamily="34" charset="0"/>
                <a:ea typeface="Arial" pitchFamily="34" charset="-122"/>
                <a:cs typeface="Arial" pitchFamily="34" charset="-120"/>
              </a:rPr>
              <a:t>El mismo módulo sirve para la red local y para Sepolia; cambian solo los parámetros (0,005 ETH y 30 minutos en Sepolia).</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A.20 · SECRETOS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LA CLAVE PRIVADA NUNCA TOCA EL REPOSITORIO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sp>
        <p:nvSpPr>
          <p:cNvPr id="8" name="Shape 5"/>
          <p:cNvSpPr/>
          <p:nvPr/>
        </p:nvSpPr>
        <p:spPr>
          <a:xfrm>
            <a:off x="566928" y="1737360"/>
            <a:ext cx="11057839" cy="1371600"/>
          </a:xfrm>
          <a:prstGeom prst="rect">
            <a:avLst/>
          </a:prstGeom>
          <a:solidFill>
            <a:srgbClr val="16151B"/>
          </a:solidFill>
          <a:ln w="22225">
            <a:solidFill>
              <a:srgbClr val="16151B"/>
            </a:solidFill>
            <a:prstDash val="solid"/>
          </a:ln>
        </p:spPr>
      </p:sp>
      <p:sp>
        <p:nvSpPr>
          <p:cNvPr id="9" name="Text 6"/>
          <p:cNvSpPr/>
          <p:nvPr/>
        </p:nvSpPr>
        <p:spPr>
          <a:xfrm>
            <a:off x="768096" y="1883664"/>
            <a:ext cx="10655503" cy="1115568"/>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keystore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SEPOLIA_RPC_URL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primera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vez</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pide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crear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una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contrase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ñ</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keystore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SEPOLIA_PRIVATE_KEY</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billetera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CURSO</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keystore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ETHERSCAN_API_KEY</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keystore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list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muestra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NOMBRES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nunca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valores</a:t>
            </a:r>
            <a:endParaRPr lang="en-US" sz="1150" dirty="0"/>
          </a:p>
        </p:txBody>
      </p:sp>
      <p:sp>
        <p:nvSpPr>
          <p:cNvPr id="10" name="Shape 7"/>
          <p:cNvSpPr/>
          <p:nvPr/>
        </p:nvSpPr>
        <p:spPr>
          <a:xfrm>
            <a:off x="566928" y="3246120"/>
            <a:ext cx="5391760" cy="22402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4290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QUÉ HACE EL ALMACÉN</a:t>
            </a:r>
            <a:endParaRPr lang="en-US" sz="1050" dirty="0"/>
          </a:p>
        </p:txBody>
      </p:sp>
      <p:sp>
        <p:nvSpPr>
          <p:cNvPr id="12" name="Text 9"/>
          <p:cNvSpPr/>
          <p:nvPr/>
        </p:nvSpPr>
        <p:spPr>
          <a:xfrm>
            <a:off x="841248" y="3813048"/>
            <a:ext cx="4843120" cy="150876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150" dirty="0">
                <a:solidFill>
                  <a:srgbClr val="3A3844"/>
                </a:solidFill>
                <a:latin typeface="Arial" pitchFamily="34" charset="0"/>
                <a:ea typeface="Arial" pitchFamily="34" charset="-122"/>
                <a:cs typeface="Arial" pitchFamily="34" charset="-120"/>
              </a:rPr>
              <a:t>Guarda los valores cifrados con una contraseña que se pide al usarlos.</a:t>
            </a:r>
            <a:endParaRPr lang="en-US" sz="1150" dirty="0"/>
          </a:p>
          <a:p>
            <a:pPr marL="203200" indent="-203200">
              <a:lnSpc>
                <a:spcPct val="118000"/>
              </a:lnSpc>
              <a:spcAft>
                <a:spcPts val="500"/>
              </a:spcAft>
              <a:buSzPct val="100000"/>
              <a:buChar char="■"/>
            </a:pPr>
            <a:r>
              <a:rPr lang="en-US" sz="1150" dirty="0">
                <a:solidFill>
                  <a:srgbClr val="3A3844"/>
                </a:solidFill>
                <a:latin typeface="Arial" pitchFamily="34" charset="0"/>
                <a:ea typeface="Arial" pitchFamily="34" charset="-122"/>
                <a:cs typeface="Arial" pitchFamily="34" charset="-120"/>
              </a:rPr>
              <a:t>Vive en un archivo de su carpeta de usuario, fuera del proyecto.</a:t>
            </a:r>
            <a:endParaRPr lang="en-US" sz="1150" dirty="0"/>
          </a:p>
          <a:p>
            <a:pPr marL="203200" indent="-203200">
              <a:lnSpc>
                <a:spcPct val="118000"/>
              </a:lnSpc>
              <a:spcAft>
                <a:spcPts val="500"/>
              </a:spcAft>
              <a:buSzPct val="100000"/>
              <a:buChar char="■"/>
            </a:pPr>
            <a:r>
              <a:rPr lang="en-US" sz="1150" dirty="0">
                <a:solidFill>
                  <a:srgbClr val="3A3844"/>
                </a:solidFill>
                <a:latin typeface="Arial" pitchFamily="34" charset="0"/>
                <a:ea typeface="Arial" pitchFamily="34" charset="-122"/>
                <a:cs typeface="Arial" pitchFamily="34" charset="-120"/>
              </a:rPr>
              <a:t>configVariable los busca solo cuando una tarea los necesita.</a:t>
            </a:r>
            <a:endParaRPr lang="en-US" sz="1150" dirty="0"/>
          </a:p>
        </p:txBody>
      </p:sp>
      <p:sp>
        <p:nvSpPr>
          <p:cNvPr id="13" name="Shape 10"/>
          <p:cNvSpPr/>
          <p:nvPr/>
        </p:nvSpPr>
        <p:spPr>
          <a:xfrm>
            <a:off x="6233008" y="3246120"/>
            <a:ext cx="5391760" cy="22402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4" name="Text 11"/>
          <p:cNvSpPr/>
          <p:nvPr/>
        </p:nvSpPr>
        <p:spPr>
          <a:xfrm>
            <a:off x="6507328" y="342900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SI UNA CLAVE SE SUBE A GITHUB</a:t>
            </a:r>
            <a:endParaRPr lang="en-US" sz="1050" dirty="0"/>
          </a:p>
        </p:txBody>
      </p:sp>
      <p:sp>
        <p:nvSpPr>
          <p:cNvPr id="15" name="Text 12"/>
          <p:cNvSpPr/>
          <p:nvPr/>
        </p:nvSpPr>
        <p:spPr>
          <a:xfrm>
            <a:off x="6507328" y="3813048"/>
            <a:ext cx="4843120" cy="150876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150" dirty="0">
                <a:solidFill>
                  <a:srgbClr val="3A3844"/>
                </a:solidFill>
                <a:latin typeface="Arial" pitchFamily="34" charset="0"/>
                <a:ea typeface="Arial" pitchFamily="34" charset="-122"/>
                <a:cs typeface="Arial" pitchFamily="34" charset="-120"/>
              </a:rPr>
              <a:t>Hay programas que recorren los repositorios públicos buscando claves.</a:t>
            </a:r>
            <a:endParaRPr lang="en-US" sz="1150" dirty="0"/>
          </a:p>
          <a:p>
            <a:pPr marL="203200" indent="-203200">
              <a:lnSpc>
                <a:spcPct val="118000"/>
              </a:lnSpc>
              <a:spcAft>
                <a:spcPts val="500"/>
              </a:spcAft>
              <a:buSzPct val="100000"/>
              <a:buChar char="■"/>
            </a:pPr>
            <a:r>
              <a:rPr lang="en-US" sz="1150" dirty="0">
                <a:solidFill>
                  <a:srgbClr val="3A3844"/>
                </a:solidFill>
                <a:latin typeface="Arial" pitchFamily="34" charset="0"/>
                <a:ea typeface="Arial" pitchFamily="34" charset="-122"/>
                <a:cs typeface="Arial" pitchFamily="34" charset="-120"/>
              </a:rPr>
              <a:t>ConsenSys documenta billeteras vaciadas «en segundos».</a:t>
            </a:r>
            <a:endParaRPr lang="en-US" sz="1150" dirty="0"/>
          </a:p>
          <a:p>
            <a:pPr marL="203200" indent="-203200">
              <a:lnSpc>
                <a:spcPct val="118000"/>
              </a:lnSpc>
              <a:spcAft>
                <a:spcPts val="500"/>
              </a:spcAft>
              <a:buSzPct val="100000"/>
              <a:buChar char="■"/>
            </a:pPr>
            <a:r>
              <a:rPr lang="en-US" sz="1150" dirty="0">
                <a:solidFill>
                  <a:srgbClr val="3A3844"/>
                </a:solidFill>
                <a:latin typeface="Arial" pitchFamily="34" charset="0"/>
                <a:ea typeface="Arial" pitchFamily="34" charset="-122"/>
                <a:cs typeface="Arial" pitchFamily="34" charset="-120"/>
              </a:rPr>
              <a:t>Borrar el archivo no basta: queda en el historial de Git.</a:t>
            </a:r>
            <a:endParaRPr lang="en-US" sz="1150" dirty="0"/>
          </a:p>
        </p:txBody>
      </p:sp>
      <p:sp>
        <p:nvSpPr>
          <p:cNvPr id="16" name="Text 13"/>
          <p:cNvSpPr/>
          <p:nvPr/>
        </p:nvSpPr>
        <p:spPr>
          <a:xfrm>
            <a:off x="566928" y="5623560"/>
            <a:ext cx="11057839" cy="502920"/>
          </a:xfrm>
          <a:prstGeom prst="rect">
            <a:avLst/>
          </a:prstGeom>
          <a:noFill/>
          <a:ln/>
        </p:spPr>
        <p:txBody>
          <a:bodyPr wrap="square" lIns="0" tIns="0" rIns="0" bIns="0" rtlCol="0" anchor="t"/>
          <a:lstStyle/>
          <a:p>
            <a:pPr indent="0" marL="0">
              <a:lnSpc>
                <a:spcPct val="124000"/>
              </a:lnSpc>
              <a:buNone/>
            </a:pPr>
            <a:r>
              <a:rPr lang="en-US" sz="1300" b="1" dirty="0">
                <a:solidFill>
                  <a:srgbClr val="B3261E"/>
                </a:solidFill>
                <a:latin typeface="Arial" pitchFamily="34" charset="0"/>
                <a:ea typeface="Arial" pitchFamily="34" charset="-122"/>
                <a:cs typeface="Arial" pitchFamily="34" charset="-120"/>
              </a:rPr>
              <a:t>Si ocurre: la clave se da por perdida. Se mueven los fondos a una billetera nueva y no se vuelve a usar.</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A.21 · VERIFICAR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PUBLICAR EL CÓDIGO FUENTE DEL CONTRATO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sp>
        <p:nvSpPr>
          <p:cNvPr id="8" name="Shape 5"/>
          <p:cNvSpPr/>
          <p:nvPr/>
        </p:nvSpPr>
        <p:spPr>
          <a:xfrm>
            <a:off x="566928" y="1737360"/>
            <a:ext cx="11057839" cy="1371600"/>
          </a:xfrm>
          <a:prstGeom prst="rect">
            <a:avLst/>
          </a:prstGeom>
          <a:solidFill>
            <a:srgbClr val="16151B"/>
          </a:solidFill>
          <a:ln w="22225">
            <a:solidFill>
              <a:srgbClr val="16151B"/>
            </a:solidFill>
            <a:prstDash val="solid"/>
          </a:ln>
        </p:spPr>
      </p:sp>
      <p:sp>
        <p:nvSpPr>
          <p:cNvPr id="9" name="Text 6"/>
          <p:cNvSpPr/>
          <p:nvPr/>
        </p:nvSpPr>
        <p:spPr>
          <a:xfrm>
            <a:off x="768096" y="1883664"/>
            <a:ext cx="10655503" cy="1115568"/>
          </a:xfrm>
          <a:prstGeom prst="rect">
            <a:avLst/>
          </a:prstGeom>
          <a:noFill/>
          <a:ln/>
        </p:spPr>
        <p:txBody>
          <a:bodyPr wrap="square" lIns="0" tIns="0" rIns="0" bIns="0" rtlCol="0" anchor="t"/>
          <a:lstStyle/>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deploy</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modules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network</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sepolia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parameters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parametros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sepolia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json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verify</a:t>
            </a:r>
            <a:endParaRPr lang="en-US" sz="1250" dirty="0"/>
          </a:p>
        </p:txBody>
      </p:sp>
      <p:sp>
        <p:nvSpPr>
          <p:cNvPr id="10" name="Shape 7"/>
          <p:cNvSpPr/>
          <p:nvPr/>
        </p:nvSpPr>
        <p:spPr>
          <a:xfrm>
            <a:off x="566928" y="3291840"/>
            <a:ext cx="11057839" cy="822960"/>
          </a:xfrm>
          <a:prstGeom prst="rect">
            <a:avLst/>
          </a:prstGeom>
          <a:solidFill>
            <a:srgbClr val="FFFFFF"/>
          </a:solidFill>
          <a:ln w="15875">
            <a:solidFill>
              <a:srgbClr val="D9D6E0"/>
            </a:solidFill>
            <a:prstDash val="solid"/>
          </a:ln>
        </p:spPr>
      </p:sp>
      <p:sp>
        <p:nvSpPr>
          <p:cNvPr id="11" name="Text 8"/>
          <p:cNvSpPr/>
          <p:nvPr/>
        </p:nvSpPr>
        <p:spPr>
          <a:xfrm>
            <a:off x="694944" y="3291840"/>
            <a:ext cx="548640" cy="82296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80160" y="3557016"/>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QUÉ HACE</a:t>
            </a:r>
            <a:endParaRPr lang="en-US" sz="1000" dirty="0"/>
          </a:p>
        </p:txBody>
      </p:sp>
      <p:sp>
        <p:nvSpPr>
          <p:cNvPr id="13" name="Text 10"/>
          <p:cNvSpPr/>
          <p:nvPr/>
        </p:nvSpPr>
        <p:spPr>
          <a:xfrm>
            <a:off x="3566160" y="3383280"/>
            <a:ext cx="7948879" cy="67665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Envía al explorador el código, la versión del compilador y la configuración. El explorador recompila y compara con el bytecode desplegado.</a:t>
            </a:r>
            <a:endParaRPr lang="en-US" sz="1250" dirty="0"/>
          </a:p>
        </p:txBody>
      </p:sp>
      <p:sp>
        <p:nvSpPr>
          <p:cNvPr id="14" name="Shape 11"/>
          <p:cNvSpPr/>
          <p:nvPr/>
        </p:nvSpPr>
        <p:spPr>
          <a:xfrm>
            <a:off x="566928" y="4224528"/>
            <a:ext cx="11057839" cy="822960"/>
          </a:xfrm>
          <a:prstGeom prst="rect">
            <a:avLst/>
          </a:prstGeom>
          <a:solidFill>
            <a:srgbClr val="FAF9FB"/>
          </a:solidFill>
          <a:ln w="15875">
            <a:solidFill>
              <a:srgbClr val="D9D6E0"/>
            </a:solidFill>
            <a:prstDash val="solid"/>
          </a:ln>
        </p:spPr>
      </p:sp>
      <p:sp>
        <p:nvSpPr>
          <p:cNvPr id="15" name="Text 12"/>
          <p:cNvSpPr/>
          <p:nvPr/>
        </p:nvSpPr>
        <p:spPr>
          <a:xfrm>
            <a:off x="694944" y="4224528"/>
            <a:ext cx="548640" cy="82296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6" name="Text 13"/>
          <p:cNvSpPr/>
          <p:nvPr/>
        </p:nvSpPr>
        <p:spPr>
          <a:xfrm>
            <a:off x="1280160" y="4489704"/>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SI COINCIDE</a:t>
            </a:r>
            <a:endParaRPr lang="en-US" sz="1000" dirty="0"/>
          </a:p>
        </p:txBody>
      </p:sp>
      <p:sp>
        <p:nvSpPr>
          <p:cNvPr id="17" name="Text 14"/>
          <p:cNvSpPr/>
          <p:nvPr/>
        </p:nvSpPr>
        <p:spPr>
          <a:xfrm>
            <a:off x="3566160" y="4315968"/>
            <a:ext cx="7948879" cy="67665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Aparece la marca de verificación, el código legible y las pestañas para leer y escribir el contrato.</a:t>
            </a:r>
            <a:endParaRPr lang="en-US" sz="1250" dirty="0"/>
          </a:p>
        </p:txBody>
      </p:sp>
      <p:sp>
        <p:nvSpPr>
          <p:cNvPr id="18" name="Shape 15"/>
          <p:cNvSpPr/>
          <p:nvPr/>
        </p:nvSpPr>
        <p:spPr>
          <a:xfrm>
            <a:off x="566928" y="5157216"/>
            <a:ext cx="11057839" cy="822960"/>
          </a:xfrm>
          <a:prstGeom prst="rect">
            <a:avLst/>
          </a:prstGeom>
          <a:solidFill>
            <a:srgbClr val="FFFFFF"/>
          </a:solidFill>
          <a:ln w="15875">
            <a:solidFill>
              <a:srgbClr val="D9D6E0"/>
            </a:solidFill>
            <a:prstDash val="solid"/>
          </a:ln>
        </p:spPr>
      </p:sp>
      <p:sp>
        <p:nvSpPr>
          <p:cNvPr id="19" name="Text 16"/>
          <p:cNvSpPr/>
          <p:nvPr/>
        </p:nvSpPr>
        <p:spPr>
          <a:xfrm>
            <a:off x="694944" y="5157216"/>
            <a:ext cx="548640" cy="82296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0" name="Text 17"/>
          <p:cNvSpPr/>
          <p:nvPr/>
        </p:nvSpPr>
        <p:spPr>
          <a:xfrm>
            <a:off x="1280160" y="5422392"/>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POR QUÉ IMPORTA</a:t>
            </a:r>
            <a:endParaRPr lang="en-US" sz="1000" dirty="0"/>
          </a:p>
        </p:txBody>
      </p:sp>
      <p:sp>
        <p:nvSpPr>
          <p:cNvPr id="21" name="Text 18"/>
          <p:cNvSpPr/>
          <p:nvPr/>
        </p:nvSpPr>
        <p:spPr>
          <a:xfrm>
            <a:off x="3566160" y="5248656"/>
            <a:ext cx="7948879" cy="67665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Un contrato sin verificar pide confianza ciega: nadie puede saber qué hace sin descompilarlo.</a:t>
            </a:r>
            <a:endParaRPr lang="en-US" sz="1250" dirty="0"/>
          </a:p>
        </p:txBody>
      </p:sp>
      <p:sp>
        <p:nvSpPr>
          <p:cNvPr id="22" name="Text 19"/>
          <p:cNvSpPr/>
          <p:nvPr/>
        </p:nvSpPr>
        <p:spPr>
          <a:xfrm>
            <a:off x="566928" y="5833872"/>
            <a:ext cx="11057839" cy="384048"/>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En la rúbrica del proyecto: sin contrato verificado, «pruebas y despliegue» cae a insuficiente.</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VERIFICACIÓN ·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ANTES DE LA PAUSA: CUATRO PREGUNTAS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27</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Respondan en parejas, sin mirar las láminas. Si alguna no sale en un minuto, esa es la lámina que hay que volver a ver.</a:t>
            </a:r>
            <a:endParaRPr lang="en-US" sz="1350" dirty="0"/>
          </a:p>
        </p:txBody>
      </p:sp>
      <p:sp>
        <p:nvSpPr>
          <p:cNvPr id="9" name="Shape 6"/>
          <p:cNvSpPr/>
          <p:nvPr/>
        </p:nvSpPr>
        <p:spPr>
          <a:xfrm>
            <a:off x="566928" y="2377440"/>
            <a:ext cx="11057839" cy="804672"/>
          </a:xfrm>
          <a:prstGeom prst="rect">
            <a:avLst/>
          </a:prstGeom>
          <a:solidFill>
            <a:srgbClr val="FFFFFF"/>
          </a:solidFill>
          <a:ln w="15875">
            <a:solidFill>
              <a:srgbClr val="D9D6E0"/>
            </a:solidFill>
            <a:prstDash val="solid"/>
          </a:ln>
        </p:spPr>
      </p:sp>
      <p:sp>
        <p:nvSpPr>
          <p:cNvPr id="10" name="Text 7"/>
          <p:cNvSpPr/>
          <p:nvPr/>
        </p:nvSpPr>
        <p:spPr>
          <a:xfrm>
            <a:off x="704088" y="2377440"/>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01</a:t>
            </a:r>
            <a:endParaRPr lang="en-US" sz="1800" dirty="0"/>
          </a:p>
        </p:txBody>
      </p:sp>
      <p:sp>
        <p:nvSpPr>
          <p:cNvPr id="11" name="Text 8"/>
          <p:cNvSpPr/>
          <p:nvPr/>
        </p:nvSpPr>
        <p:spPr>
          <a:xfrm>
            <a:off x="1435608" y="2450592"/>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Una suite tiene 95 % de cobertura. Den un ejemplo concreto de error que podría no detectar.</a:t>
            </a:r>
            <a:endParaRPr lang="en-US" sz="1300" dirty="0"/>
          </a:p>
        </p:txBody>
      </p:sp>
      <p:sp>
        <p:nvSpPr>
          <p:cNvPr id="12" name="Shape 9"/>
          <p:cNvSpPr/>
          <p:nvPr/>
        </p:nvSpPr>
        <p:spPr>
          <a:xfrm>
            <a:off x="566928" y="3310128"/>
            <a:ext cx="11057839" cy="804672"/>
          </a:xfrm>
          <a:prstGeom prst="rect">
            <a:avLst/>
          </a:prstGeom>
          <a:solidFill>
            <a:srgbClr val="FAF9FB"/>
          </a:solidFill>
          <a:ln w="15875">
            <a:solidFill>
              <a:srgbClr val="D9D6E0"/>
            </a:solidFill>
            <a:prstDash val="solid"/>
          </a:ln>
        </p:spPr>
      </p:sp>
      <p:sp>
        <p:nvSpPr>
          <p:cNvPr id="13" name="Text 10"/>
          <p:cNvSpPr/>
          <p:nvPr/>
        </p:nvSpPr>
        <p:spPr>
          <a:xfrm>
            <a:off x="704088" y="3310128"/>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02</a:t>
            </a:r>
            <a:endParaRPr lang="en-US" sz="1800" dirty="0"/>
          </a:p>
        </p:txBody>
      </p:sp>
      <p:sp>
        <p:nvSpPr>
          <p:cNvPr id="14" name="Text 11"/>
          <p:cNvSpPr/>
          <p:nvPr/>
        </p:nvSpPr>
        <p:spPr>
          <a:xfrm>
            <a:off x="1435608" y="3383280"/>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¿Qué diferencia hay entre time.increaseTo(fin) y time.setNextBlockTimestamp(fin) para la transacción siguiente?</a:t>
            </a:r>
            <a:endParaRPr lang="en-US" sz="1300" dirty="0"/>
          </a:p>
        </p:txBody>
      </p:sp>
      <p:sp>
        <p:nvSpPr>
          <p:cNvPr id="15" name="Shape 12"/>
          <p:cNvSpPr/>
          <p:nvPr/>
        </p:nvSpPr>
        <p:spPr>
          <a:xfrm>
            <a:off x="566928" y="4242816"/>
            <a:ext cx="11057839" cy="804672"/>
          </a:xfrm>
          <a:prstGeom prst="rect">
            <a:avLst/>
          </a:prstGeom>
          <a:solidFill>
            <a:srgbClr val="FFFFFF"/>
          </a:solidFill>
          <a:ln w="15875">
            <a:solidFill>
              <a:srgbClr val="D9D6E0"/>
            </a:solidFill>
            <a:prstDash val="solid"/>
          </a:ln>
        </p:spPr>
      </p:sp>
      <p:sp>
        <p:nvSpPr>
          <p:cNvPr id="16" name="Text 13"/>
          <p:cNvSpPr/>
          <p:nvPr/>
        </p:nvSpPr>
        <p:spPr>
          <a:xfrm>
            <a:off x="704088" y="4242816"/>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03</a:t>
            </a:r>
            <a:endParaRPr lang="en-US" sz="1800" dirty="0"/>
          </a:p>
        </p:txBody>
      </p:sp>
      <p:sp>
        <p:nvSpPr>
          <p:cNvPr id="17" name="Text 14"/>
          <p:cNvSpPr/>
          <p:nvPr/>
        </p:nvSpPr>
        <p:spPr>
          <a:xfrm>
            <a:off x="1435608" y="4315968"/>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¿Qué comando usan para ver qué líneas de su contrato nunca se ejecutaron, y qué fila del informe miran?</a:t>
            </a:r>
            <a:endParaRPr lang="en-US" sz="1300" dirty="0"/>
          </a:p>
        </p:txBody>
      </p:sp>
      <p:sp>
        <p:nvSpPr>
          <p:cNvPr id="18" name="Shape 15"/>
          <p:cNvSpPr/>
          <p:nvPr/>
        </p:nvSpPr>
        <p:spPr>
          <a:xfrm>
            <a:off x="566928" y="5175504"/>
            <a:ext cx="11057839" cy="804672"/>
          </a:xfrm>
          <a:prstGeom prst="rect">
            <a:avLst/>
          </a:prstGeom>
          <a:solidFill>
            <a:srgbClr val="FAF9FB"/>
          </a:solidFill>
          <a:ln w="15875">
            <a:solidFill>
              <a:srgbClr val="D9D6E0"/>
            </a:solidFill>
            <a:prstDash val="solid"/>
          </a:ln>
        </p:spPr>
      </p:sp>
      <p:sp>
        <p:nvSpPr>
          <p:cNvPr id="19" name="Text 16"/>
          <p:cNvSpPr/>
          <p:nvPr/>
        </p:nvSpPr>
        <p:spPr>
          <a:xfrm>
            <a:off x="704088" y="5175504"/>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04</a:t>
            </a:r>
            <a:endParaRPr lang="en-US" sz="1800" dirty="0"/>
          </a:p>
        </p:txBody>
      </p:sp>
      <p:sp>
        <p:nvSpPr>
          <p:cNvPr id="20" name="Text 17"/>
          <p:cNvSpPr/>
          <p:nvPr/>
        </p:nvSpPr>
        <p:spPr>
          <a:xfrm>
            <a:off x="1435608" y="5248656"/>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¿Dónde vive la clave privada de Sepolia en este flujo, y qué archivo del repositorio la menciona?</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80 MINUTOS · EN PAREJAS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LABORATORIO 08 · CAZAR MUTANTES</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Escribir la suite de un contrato que no trae pruebas, alcanzar la cobertura, matar tres mutantes y desplegar con Ignition.</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PREPARAR · 10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EL ENTORNO DE LA SALA, COMPROBADO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sp>
        <p:nvSpPr>
          <p:cNvPr id="8" name="Shape 5"/>
          <p:cNvSpPr/>
          <p:nvPr/>
        </p:nvSpPr>
        <p:spPr>
          <a:xfrm>
            <a:off x="566928" y="1737360"/>
            <a:ext cx="11057839" cy="1417320"/>
          </a:xfrm>
          <a:prstGeom prst="rect">
            <a:avLst/>
          </a:prstGeom>
          <a:solidFill>
            <a:srgbClr val="16151B"/>
          </a:solidFill>
          <a:ln w="22225">
            <a:solidFill>
              <a:srgbClr val="16151B"/>
            </a:solidFill>
            <a:prstDash val="solid"/>
          </a:ln>
        </p:spPr>
      </p:sp>
      <p:sp>
        <p:nvSpPr>
          <p:cNvPr id="9" name="Text 6"/>
          <p:cNvSpPr/>
          <p:nvPr/>
        </p:nvSpPr>
        <p:spPr>
          <a:xfrm>
            <a:off x="768096" y="1883664"/>
            <a:ext cx="10655503" cy="1161288"/>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version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v22</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x</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npm</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install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solo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si</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hizo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S5</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version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3.16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23</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passing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entorno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funciona</a:t>
            </a:r>
            <a:endParaRPr lang="en-US" sz="11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66928" y="3337560"/>
          <a:ext cx="11057839" cy="914400"/>
        </p:xfrm>
        <a:graphic>
          <a:graphicData uri="http://schemas.openxmlformats.org/drawingml/2006/table">
            <a:tbl>
              <a:tblPr/>
              <a:tblGrid>
                <a:gridCol w="4206240"/>
                <a:gridCol w="68515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SI PASA ESTO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HACER ESTO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669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npm install tarda o falla por la red de la sala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Reintentar una vez; si persiste, avisar: el docente tiene el repositorio con node_modules en memoria USB.</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npx hardhat --version no da 3.16.0</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actualizar nada. Revisar que la terminal esté en laboratorios-evm.</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669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 suite de la S7 falla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Dejaron su versión incompleta de Subasta.sol: git checkout contracts/s07/Subasta.sol.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1" name="Shape 7"/>
          <p:cNvSpPr/>
          <p:nvPr/>
        </p:nvSpPr>
        <p:spPr>
          <a:xfrm>
            <a:off x="548640" y="3319272"/>
            <a:ext cx="11094415" cy="2048256"/>
          </a:xfrm>
          <a:prstGeom prst="rect">
            <a:avLst/>
          </a:prstGeom>
          <a:ln w="22225">
            <a:solidFill>
              <a:srgbClr val="0F0F11"/>
            </a:solidFill>
            <a:prstDash val="solid"/>
          </a:ln>
        </p:spPr>
      </p:sp>
      <p:sp>
        <p:nvSpPr>
          <p:cNvPr id="12" name="Text 8"/>
          <p:cNvSpPr/>
          <p:nvPr/>
        </p:nvSpPr>
        <p:spPr>
          <a:xfrm>
            <a:off x="566928" y="553212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Cómo saber que terminó: 23 passing en la S7. Nada de lo que sigue funciona si esto no funciona.</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EL CONTRATO Y LA PLANTILLA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LEER RECAUDO, COPIAR LA PLANTILLA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sp>
        <p:nvSpPr>
          <p:cNvPr id="8" name="Shape 5"/>
          <p:cNvSpPr/>
          <p:nvPr/>
        </p:nvSpPr>
        <p:spPr>
          <a:xfrm>
            <a:off x="566928" y="1737360"/>
            <a:ext cx="11057839" cy="1097280"/>
          </a:xfrm>
          <a:prstGeom prst="rect">
            <a:avLst/>
          </a:prstGeom>
          <a:solidFill>
            <a:srgbClr val="16151B"/>
          </a:solidFill>
          <a:ln w="22225">
            <a:solidFill>
              <a:srgbClr val="16151B"/>
            </a:solidFill>
            <a:prstDash val="solid"/>
          </a:ln>
        </p:spPr>
      </p:sp>
      <p:sp>
        <p:nvSpPr>
          <p:cNvPr id="9" name="Text 6"/>
          <p:cNvSpPr/>
          <p:nvPr/>
        </p:nvSpPr>
        <p:spPr>
          <a:xfrm>
            <a:off x="768096" y="1883664"/>
            <a:ext cx="10655503" cy="841248"/>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mkdir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s08</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cmd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mkdir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s08</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andamiaje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s08</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s08</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s08</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passing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ejemplos</a:t>
            </a:r>
            <a:endParaRPr lang="en-US" sz="11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3017520"/>
          <a:ext cx="11057839" cy="914400"/>
        </p:xfrm>
        <a:graphic>
          <a:graphicData uri="http://schemas.openxmlformats.org/drawingml/2006/table">
            <a:tbl>
              <a:tblPr/>
              <a:tblGrid>
                <a:gridCol w="1645920"/>
                <a:gridCol w="4114800"/>
                <a:gridCol w="52971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FINAL</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CONDICIÓN, TRAS EL PLAZO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SE PUEDE HACER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16052">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Exitoso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totalRecaudado &gt;= meta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El dueño reclama los fondos, una vez.</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16052">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Fallido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totalRecaudado &lt; meta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Cada aportante recupera exactamente lo suyo.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7"/>
          <p:cNvSpPr/>
          <p:nvPr/>
        </p:nvSpPr>
        <p:spPr>
          <a:xfrm>
            <a:off x="548640" y="2999232"/>
            <a:ext cx="11094415" cy="1179576"/>
          </a:xfrm>
          <a:prstGeom prst="rect">
            <a:avLst/>
          </a:prstGeom>
          <a:ln w="22225">
            <a:solidFill>
              <a:srgbClr val="0F0F11"/>
            </a:solidFill>
            <a:prstDash val="solid"/>
          </a:ln>
        </p:spPr>
      </p:sp>
      <p:sp>
        <p:nvSpPr>
          <p:cNvPr id="12" name="Shape 8"/>
          <p:cNvSpPr/>
          <p:nvPr/>
        </p:nvSpPr>
        <p:spPr>
          <a:xfrm>
            <a:off x="566928" y="4343400"/>
            <a:ext cx="11057839" cy="768096"/>
          </a:xfrm>
          <a:prstGeom prst="rect">
            <a:avLst/>
          </a:prstGeom>
          <a:solidFill>
            <a:srgbClr val="FFFFFF"/>
          </a:solidFill>
          <a:ln w="15875">
            <a:solidFill>
              <a:srgbClr val="D9D6E0"/>
            </a:solidFill>
            <a:prstDash val="solid"/>
          </a:ln>
        </p:spPr>
      </p:sp>
      <p:sp>
        <p:nvSpPr>
          <p:cNvPr id="13" name="Text 9"/>
          <p:cNvSpPr/>
          <p:nvPr/>
        </p:nvSpPr>
        <p:spPr>
          <a:xfrm>
            <a:off x="694944" y="4343400"/>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4" name="Text 10"/>
          <p:cNvSpPr/>
          <p:nvPr/>
        </p:nvSpPr>
        <p:spPr>
          <a:xfrm>
            <a:off x="1280160" y="4581144"/>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LEER EL CONTRATO</a:t>
            </a:r>
            <a:endParaRPr lang="en-US" sz="1000" dirty="0"/>
          </a:p>
        </p:txBody>
      </p:sp>
      <p:sp>
        <p:nvSpPr>
          <p:cNvPr id="15" name="Text 11"/>
          <p:cNvSpPr/>
          <p:nvPr/>
        </p:nvSpPr>
        <p:spPr>
          <a:xfrm>
            <a:off x="4023360" y="4434840"/>
            <a:ext cx="7491679" cy="62179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contracts/s08/Recaudo.sol: tres funciones, dos finales. Marquen cada if con un límite: son candidatos a borde.</a:t>
            </a:r>
            <a:endParaRPr lang="en-US" sz="1250" dirty="0"/>
          </a:p>
        </p:txBody>
      </p:sp>
      <p:sp>
        <p:nvSpPr>
          <p:cNvPr id="16" name="Shape 12"/>
          <p:cNvSpPr/>
          <p:nvPr/>
        </p:nvSpPr>
        <p:spPr>
          <a:xfrm>
            <a:off x="566928" y="5221224"/>
            <a:ext cx="11057839" cy="768096"/>
          </a:xfrm>
          <a:prstGeom prst="rect">
            <a:avLst/>
          </a:prstGeom>
          <a:solidFill>
            <a:srgbClr val="FAF9FB"/>
          </a:solidFill>
          <a:ln w="15875">
            <a:solidFill>
              <a:srgbClr val="D9D6E0"/>
            </a:solidFill>
            <a:prstDash val="solid"/>
          </a:ln>
        </p:spPr>
      </p:sp>
      <p:sp>
        <p:nvSpPr>
          <p:cNvPr id="17" name="Text 13"/>
          <p:cNvSpPr/>
          <p:nvPr/>
        </p:nvSpPr>
        <p:spPr>
          <a:xfrm>
            <a:off x="694944" y="5221224"/>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8" name="Text 14"/>
          <p:cNvSpPr/>
          <p:nvPr/>
        </p:nvSpPr>
        <p:spPr>
          <a:xfrm>
            <a:off x="1280160" y="5458968"/>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NO LEER LOS MUTANTES</a:t>
            </a:r>
            <a:endParaRPr lang="en-US" sz="1000" dirty="0"/>
          </a:p>
        </p:txBody>
      </p:sp>
      <p:sp>
        <p:nvSpPr>
          <p:cNvPr id="19" name="Text 15"/>
          <p:cNvSpPr/>
          <p:nvPr/>
        </p:nvSpPr>
        <p:spPr>
          <a:xfrm>
            <a:off x="4023360" y="5312664"/>
            <a:ext cx="7491679" cy="62179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ejercicio es pensar en los bordes. Abrirlos antes lo convierte en copiar, y no se aprende nada.</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PARTE 1 · 30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ESCRIBIR LA SUITE: DIEZ PRUEBAS O MÁS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31</a:t>
            </a:r>
            <a:endParaRPr lang="en-US" sz="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377440"/>
                <a:gridCol w="1188720"/>
                <a:gridCol w="74916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GRUPO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MÍNIMO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NO OLVIDAR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9377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despliegue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Parámetros inválidos en el constructor.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377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aportar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Evento con argumentos exactos. Los límites del plazo.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9377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recaudo exitoso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Permisos. Doble reclamo. Saldo exacto que recibe el dueño. Los límites de la meta.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377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recaudo fallido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Cada quien lo suyo. Quien no aportó. El dueño no se lleva nada. Repeticiones.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322576"/>
          </a:xfrm>
          <a:prstGeom prst="rect">
            <a:avLst/>
          </a:prstGeom>
          <a:ln w="22225">
            <a:solidFill>
              <a:srgbClr val="0F0F11"/>
            </a:solidFill>
            <a:prstDash val="solid"/>
          </a:ln>
        </p:spPr>
      </p:sp>
      <p:sp>
        <p:nvSpPr>
          <p:cNvPr id="10" name="Shape 6"/>
          <p:cNvSpPr/>
          <p:nvPr/>
        </p:nvSpPr>
        <p:spPr>
          <a:xfrm>
            <a:off x="566928" y="4206240"/>
            <a:ext cx="11057839" cy="19202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4425696"/>
            <a:ext cx="237744" cy="237744"/>
          </a:xfrm>
          <a:prstGeom prst="rect">
            <a:avLst/>
          </a:prstGeom>
        </p:spPr>
      </p:pic>
      <p:sp>
        <p:nvSpPr>
          <p:cNvPr id="12" name="Text 7"/>
          <p:cNvSpPr/>
          <p:nvPr/>
        </p:nvSpPr>
        <p:spPr>
          <a:xfrm>
            <a:off x="1133856" y="439826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UNA PRUEBA FALLA POR LA RAZÓN CORRECTA, O NO PRUEBA NADA</a:t>
            </a:r>
            <a:endParaRPr lang="en-US" sz="950" dirty="0"/>
          </a:p>
        </p:txBody>
      </p:sp>
      <p:sp>
        <p:nvSpPr>
          <p:cNvPr id="13" name="Text 8"/>
          <p:cNvSpPr/>
          <p:nvPr/>
        </p:nvSpPr>
        <p:spPr>
          <a:xfrm>
            <a:off x="804672" y="4718304"/>
            <a:ext cx="10582351" cy="131673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Antes de dar por buena una prueba de reversión, pregúntense: ¿qué otra cosa podría hacerla revertir? Si una segunda llamada revierte porque el contrato se quedó sin dinero y no por la regla, la prueba pasa por accidente. Diseñen el escenario para que SOLO la regla pueda detenerla, y exijan el error exacto con revertedWithCustomError.</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B.4 · PARTE 2 · 10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MEDIR LA COBERTURA Y LEER LO QUE FALTA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sp>
        <p:nvSpPr>
          <p:cNvPr id="8" name="Shape 5"/>
          <p:cNvSpPr/>
          <p:nvPr/>
        </p:nvSpPr>
        <p:spPr>
          <a:xfrm>
            <a:off x="566928" y="1737360"/>
            <a:ext cx="11057839" cy="1234440"/>
          </a:xfrm>
          <a:prstGeom prst="rect">
            <a:avLst/>
          </a:prstGeom>
          <a:solidFill>
            <a:srgbClr val="16151B"/>
          </a:solidFill>
          <a:ln w="22225">
            <a:solidFill>
              <a:srgbClr val="16151B"/>
            </a:solidFill>
            <a:prstDash val="solid"/>
          </a:ln>
        </p:spPr>
      </p:sp>
      <p:sp>
        <p:nvSpPr>
          <p:cNvPr id="9" name="Text 6"/>
          <p:cNvSpPr/>
          <p:nvPr/>
        </p:nvSpPr>
        <p:spPr>
          <a:xfrm>
            <a:off x="768096" y="1883664"/>
            <a:ext cx="10655503" cy="978408"/>
          </a:xfrm>
          <a:prstGeom prst="rect">
            <a:avLst/>
          </a:prstGeom>
          <a:noFill/>
          <a:ln/>
        </p:spPr>
        <p:txBody>
          <a:bodyPr wrap="square" lIns="0" tIns="0" rIns="0" bIns="0" rtlCol="0" anchor="t"/>
          <a:lstStyle/>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s08</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coverage</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s08</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sol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11.54</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15.79</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49</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55</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60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63</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64</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plantilla</a:t>
            </a:r>
            <a:endParaRPr lang="en-US" sz="1100" dirty="0"/>
          </a:p>
        </p:txBody>
      </p:sp>
      <p:sp>
        <p:nvSpPr>
          <p:cNvPr id="10" name="Shape 7"/>
          <p:cNvSpPr/>
          <p:nvPr/>
        </p:nvSpPr>
        <p:spPr>
          <a:xfrm>
            <a:off x="566928" y="3154680"/>
            <a:ext cx="11057839" cy="768096"/>
          </a:xfrm>
          <a:prstGeom prst="rect">
            <a:avLst/>
          </a:prstGeom>
          <a:solidFill>
            <a:srgbClr val="FFFFFF"/>
          </a:solidFill>
          <a:ln w="15875">
            <a:solidFill>
              <a:srgbClr val="D9D6E0"/>
            </a:solidFill>
            <a:prstDash val="solid"/>
          </a:ln>
        </p:spPr>
      </p:sp>
      <p:sp>
        <p:nvSpPr>
          <p:cNvPr id="11" name="Text 8"/>
          <p:cNvSpPr/>
          <p:nvPr/>
        </p:nvSpPr>
        <p:spPr>
          <a:xfrm>
            <a:off x="694944" y="3154680"/>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80160" y="3392424"/>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SU FILA</a:t>
            </a:r>
            <a:endParaRPr lang="en-US" sz="1000" dirty="0"/>
          </a:p>
        </p:txBody>
      </p:sp>
      <p:sp>
        <p:nvSpPr>
          <p:cNvPr id="13" name="Text 10"/>
          <p:cNvSpPr/>
          <p:nvPr/>
        </p:nvSpPr>
        <p:spPr>
          <a:xfrm>
            <a:off x="3566160" y="3246120"/>
            <a:ext cx="7948879" cy="62179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contracts\s08\Recaudo.sol. Meta del curso: Line % ≥ 80.</a:t>
            </a:r>
            <a:endParaRPr lang="en-US" sz="1250" dirty="0"/>
          </a:p>
        </p:txBody>
      </p:sp>
      <p:sp>
        <p:nvSpPr>
          <p:cNvPr id="14" name="Shape 11"/>
          <p:cNvSpPr/>
          <p:nvPr/>
        </p:nvSpPr>
        <p:spPr>
          <a:xfrm>
            <a:off x="566928" y="4032504"/>
            <a:ext cx="11057839" cy="768096"/>
          </a:xfrm>
          <a:prstGeom prst="rect">
            <a:avLst/>
          </a:prstGeom>
          <a:solidFill>
            <a:srgbClr val="FAF9FB"/>
          </a:solidFill>
          <a:ln w="15875">
            <a:solidFill>
              <a:srgbClr val="D9D6E0"/>
            </a:solidFill>
            <a:prstDash val="solid"/>
          </a:ln>
        </p:spPr>
      </p:sp>
      <p:sp>
        <p:nvSpPr>
          <p:cNvPr id="15" name="Text 12"/>
          <p:cNvSpPr/>
          <p:nvPr/>
        </p:nvSpPr>
        <p:spPr>
          <a:xfrm>
            <a:off x="694944" y="4032504"/>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6" name="Text 13"/>
          <p:cNvSpPr/>
          <p:nvPr/>
        </p:nvSpPr>
        <p:spPr>
          <a:xfrm>
            <a:off x="1280160" y="4270248"/>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CADA NÚMERO</a:t>
            </a:r>
            <a:endParaRPr lang="en-US" sz="1000" dirty="0"/>
          </a:p>
        </p:txBody>
      </p:sp>
      <p:sp>
        <p:nvSpPr>
          <p:cNvPr id="17" name="Text 14"/>
          <p:cNvSpPr/>
          <p:nvPr/>
        </p:nvSpPr>
        <p:spPr>
          <a:xfrm>
            <a:off x="3566160" y="4123944"/>
            <a:ext cx="7948879" cy="62179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Abran Recaudo.sol en esa línea. ¿Qué prueba la ejecutaría? Escríbanla.</a:t>
            </a:r>
            <a:endParaRPr lang="en-US" sz="1250" dirty="0"/>
          </a:p>
        </p:txBody>
      </p:sp>
      <p:sp>
        <p:nvSpPr>
          <p:cNvPr id="18" name="Shape 15"/>
          <p:cNvSpPr/>
          <p:nvPr/>
        </p:nvSpPr>
        <p:spPr>
          <a:xfrm>
            <a:off x="566928" y="4910328"/>
            <a:ext cx="11057839" cy="768096"/>
          </a:xfrm>
          <a:prstGeom prst="rect">
            <a:avLst/>
          </a:prstGeom>
          <a:solidFill>
            <a:srgbClr val="FFFFFF"/>
          </a:solidFill>
          <a:ln w="15875">
            <a:solidFill>
              <a:srgbClr val="D9D6E0"/>
            </a:solidFill>
            <a:prstDash val="solid"/>
          </a:ln>
        </p:spPr>
      </p:sp>
      <p:sp>
        <p:nvSpPr>
          <p:cNvPr id="19" name="Text 16"/>
          <p:cNvSpPr/>
          <p:nvPr/>
        </p:nvSpPr>
        <p:spPr>
          <a:xfrm>
            <a:off x="694944" y="4910328"/>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0" name="Text 17"/>
          <p:cNvSpPr/>
          <p:nvPr/>
        </p:nvSpPr>
        <p:spPr>
          <a:xfrm>
            <a:off x="1280160" y="5148072"/>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LO QUE QUEDA</a:t>
            </a:r>
            <a:endParaRPr lang="en-US" sz="1000" dirty="0"/>
          </a:p>
        </p:txBody>
      </p:sp>
      <p:sp>
        <p:nvSpPr>
          <p:cNvPr id="21" name="Text 18"/>
          <p:cNvSpPr/>
          <p:nvPr/>
        </p:nvSpPr>
        <p:spPr>
          <a:xfrm>
            <a:off x="3566160" y="5001768"/>
            <a:ext cx="7948879" cy="62179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Si solo quedan líneas de revert EnvioFallido, está bien: exigen un receptor que rechace el pago. Anótenlo en el informe.</a:t>
            </a:r>
            <a:endParaRPr lang="en-US" sz="1250" dirty="0"/>
          </a:p>
        </p:txBody>
      </p:sp>
      <p:sp>
        <p:nvSpPr>
          <p:cNvPr id="22" name="Text 19"/>
          <p:cNvSpPr/>
          <p:nvPr/>
        </p:nvSpPr>
        <p:spPr>
          <a:xfrm>
            <a:off x="566928" y="5806440"/>
            <a:ext cx="11057839" cy="41148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Cómo saber que terminó esta parte: ≥ 10 pruebas en verde y Line % ≥ 80 en la fila de Recaudo.sol. Captura de pantalla.</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B.5 · PARTE 3 · 20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CAZAR LOS TRES MUTANTES</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33</a:t>
            </a:r>
            <a:endParaRPr lang="en-US" sz="900" dirty="0"/>
          </a:p>
        </p:txBody>
      </p:sp>
      <p:sp>
        <p:nvSpPr>
          <p:cNvPr id="8" name="Shape 5"/>
          <p:cNvSpPr/>
          <p:nvPr/>
        </p:nvSpPr>
        <p:spPr>
          <a:xfrm>
            <a:off x="566928" y="1737360"/>
            <a:ext cx="11057839" cy="265176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395728"/>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s08</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cazar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mutantes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correcto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pruebas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verde</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VIVO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RecaudoMutante1</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pasan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fallan</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VIVO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RecaudoMutante2</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pasan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fallan</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VIVO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RecaudoMutante3</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pasan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fallan</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3</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mutante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sobrevive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Hay</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un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error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que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su</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suite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piensen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bordes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Shape 7"/>
          <p:cNvSpPr/>
          <p:nvPr/>
        </p:nvSpPr>
        <p:spPr>
          <a:xfrm>
            <a:off x="566928" y="4572000"/>
            <a:ext cx="11057839" cy="731520"/>
          </a:xfrm>
          <a:prstGeom prst="rect">
            <a:avLst/>
          </a:prstGeom>
          <a:solidFill>
            <a:srgbClr val="FFFFFF"/>
          </a:solidFill>
          <a:ln w="15875">
            <a:solidFill>
              <a:srgbClr val="D9D6E0"/>
            </a:solidFill>
            <a:prstDash val="solid"/>
          </a:ln>
        </p:spPr>
      </p:sp>
      <p:sp>
        <p:nvSpPr>
          <p:cNvPr id="11" name="Text 8"/>
          <p:cNvSpPr/>
          <p:nvPr/>
        </p:nvSpPr>
        <p:spPr>
          <a:xfrm>
            <a:off x="694944" y="457200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80160" y="4791456"/>
            <a:ext cx="27432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MIENTRAS HAYA VIVOS</a:t>
            </a:r>
            <a:endParaRPr lang="en-US" sz="1000" dirty="0"/>
          </a:p>
        </p:txBody>
      </p:sp>
      <p:sp>
        <p:nvSpPr>
          <p:cNvPr id="13" name="Text 10"/>
          <p:cNvSpPr/>
          <p:nvPr/>
        </p:nvSpPr>
        <p:spPr>
          <a:xfrm>
            <a:off x="4297680" y="4663440"/>
            <a:ext cx="721735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Volver a la tabla de bordes (A.17) y al subrayado de Recaudo.sol. Escribir la prueba que falta. No abrir el mutante.</a:t>
            </a:r>
            <a:endParaRPr lang="en-US" sz="1250" dirty="0"/>
          </a:p>
        </p:txBody>
      </p:sp>
      <p:sp>
        <p:nvSpPr>
          <p:cNvPr id="14" name="Shape 11"/>
          <p:cNvSpPr/>
          <p:nvPr/>
        </p:nvSpPr>
        <p:spPr>
          <a:xfrm>
            <a:off x="566928" y="5413248"/>
            <a:ext cx="11057839" cy="731520"/>
          </a:xfrm>
          <a:prstGeom prst="rect">
            <a:avLst/>
          </a:prstGeom>
          <a:solidFill>
            <a:srgbClr val="FAF9FB"/>
          </a:solidFill>
          <a:ln w="15875">
            <a:solidFill>
              <a:srgbClr val="D9D6E0"/>
            </a:solidFill>
            <a:prstDash val="solid"/>
          </a:ln>
        </p:spPr>
      </p:sp>
      <p:sp>
        <p:nvSpPr>
          <p:cNvPr id="15" name="Text 12"/>
          <p:cNvSpPr/>
          <p:nvPr/>
        </p:nvSpPr>
        <p:spPr>
          <a:xfrm>
            <a:off x="694944" y="5413248"/>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6" name="Text 13"/>
          <p:cNvSpPr/>
          <p:nvPr/>
        </p:nvSpPr>
        <p:spPr>
          <a:xfrm>
            <a:off x="1280160" y="5632704"/>
            <a:ext cx="27432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CUANDO MUERAN LOS TRES</a:t>
            </a:r>
            <a:endParaRPr lang="en-US" sz="1000" dirty="0"/>
          </a:p>
        </p:txBody>
      </p:sp>
      <p:sp>
        <p:nvSpPr>
          <p:cNvPr id="17" name="Text 14"/>
          <p:cNvSpPr/>
          <p:nvPr/>
        </p:nvSpPr>
        <p:spPr>
          <a:xfrm>
            <a:off x="4297680" y="5504688"/>
            <a:ext cx="721735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Ahora sí: abrir cada mutante, encontrar la diferencia y anotar qué prueba lo mató y por qué.</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B.6 · PARTE 4 · PRIMERO EN LOCAL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DESPLEGAR CON IGNITION EN LA RED LOCAL</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34</a:t>
            </a:r>
            <a:endParaRPr lang="en-US" sz="900" dirty="0"/>
          </a:p>
        </p:txBody>
      </p:sp>
      <p:sp>
        <p:nvSpPr>
          <p:cNvPr id="8" name="Shape 5"/>
          <p:cNvSpPr/>
          <p:nvPr/>
        </p:nvSpPr>
        <p:spPr>
          <a:xfrm>
            <a:off x="566928" y="1737360"/>
            <a:ext cx="11057839" cy="3200400"/>
          </a:xfrm>
          <a:prstGeom prst="rect">
            <a:avLst/>
          </a:prstGeom>
          <a:solidFill>
            <a:srgbClr val="16151B"/>
          </a:solidFill>
          <a:ln w="22225">
            <a:solidFill>
              <a:srgbClr val="16151B"/>
            </a:solidFill>
            <a:prstDash val="solid"/>
          </a:ln>
        </p:spPr>
      </p:sp>
      <p:sp>
        <p:nvSpPr>
          <p:cNvPr id="9" name="Text 6"/>
          <p:cNvSpPr/>
          <p:nvPr/>
        </p:nvSpPr>
        <p:spPr>
          <a:xfrm>
            <a:off x="768096" y="1810512"/>
            <a:ext cx="106555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SALIDA REAL, RECORTADA</a:t>
            </a:r>
            <a:endParaRPr lang="en-US" sz="850" dirty="0"/>
          </a:p>
        </p:txBody>
      </p:sp>
      <p:sp>
        <p:nvSpPr>
          <p:cNvPr id="10" name="Text 7"/>
          <p:cNvSpPr/>
          <p:nvPr/>
        </p:nvSpPr>
        <p:spPr>
          <a:xfrm>
            <a:off x="768096" y="2121408"/>
            <a:ext cx="10655503" cy="2706624"/>
          </a:xfrm>
          <a:prstGeom prst="rect">
            <a:avLst/>
          </a:prstGeom>
          <a:noFill/>
          <a:ln/>
        </p:spPr>
        <p:txBody>
          <a:bodyPr wrap="square" lIns="0" tIns="0" rIns="0" bIns="0" rtlCol="0" anchor="t"/>
          <a:lstStyle/>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deploy</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modules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js</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You</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are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running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against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process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instance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of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Network</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This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will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execute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the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deployment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but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the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results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will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lost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Deploying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RecaudoModulo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Batch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Executed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RecaudoModulo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RecaudoModulo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successfully</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deployed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Deployed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Addresses</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RecaudoModulo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x5FbDB2315678afecb367f032d93F642f64180aa3</a:t>
            </a:r>
            <a:endParaRPr lang="en-US" sz="1100" dirty="0"/>
          </a:p>
        </p:txBody>
      </p:sp>
      <p:sp>
        <p:nvSpPr>
          <p:cNvPr id="11" name="Text 8"/>
          <p:cNvSpPr/>
          <p:nvPr/>
        </p:nvSpPr>
        <p:spPr>
          <a:xfrm>
            <a:off x="566928" y="5120640"/>
            <a:ext cx="11057839" cy="10058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Cómo saber que funcionó: «successfully deployed» y una dirección. En la red en memoria el resultado se pierde al terminar: es solo para comprobar que el módulo y los parámetros por defecto están bien, antes de gastar ETH de prueba.</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B.7 · PARTE 4 · SEPOLIA · 15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KEYSTORE, DESPLIEGUE, VERIFICACIÓN Y USO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35</a:t>
            </a:r>
            <a:endParaRPr lang="en-US" sz="900" dirty="0"/>
          </a:p>
        </p:txBody>
      </p:sp>
      <p:sp>
        <p:nvSpPr>
          <p:cNvPr id="8" name="Shape 5"/>
          <p:cNvSpPr/>
          <p:nvPr/>
        </p:nvSpPr>
        <p:spPr>
          <a:xfrm>
            <a:off x="566928" y="1737360"/>
            <a:ext cx="11057839" cy="749808"/>
          </a:xfrm>
          <a:prstGeom prst="rect">
            <a:avLst/>
          </a:prstGeom>
          <a:solidFill>
            <a:srgbClr val="FFFFFF"/>
          </a:solidFill>
          <a:ln w="15875">
            <a:solidFill>
              <a:srgbClr val="D9D6E0"/>
            </a:solidFill>
            <a:prstDash val="solid"/>
          </a:ln>
        </p:spPr>
      </p:sp>
      <p:sp>
        <p:nvSpPr>
          <p:cNvPr id="9" name="Text 6"/>
          <p:cNvSpPr/>
          <p:nvPr/>
        </p:nvSpPr>
        <p:spPr>
          <a:xfrm>
            <a:off x="694944" y="173736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6596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SECRETOS</a:t>
            </a:r>
            <a:endParaRPr lang="en-US" sz="1000" dirty="0"/>
          </a:p>
        </p:txBody>
      </p:sp>
      <p:sp>
        <p:nvSpPr>
          <p:cNvPr id="11" name="Text 8"/>
          <p:cNvSpPr/>
          <p:nvPr/>
        </p:nvSpPr>
        <p:spPr>
          <a:xfrm>
            <a:off x="3383280" y="1828800"/>
            <a:ext cx="813175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keystore set de SEPOLIA_RPC_URL (de Alchemy o Infura), SEPOLIA_PRIVATE_KEY (billetera del curso) y ETHERSCAN_API_KEY.</a:t>
            </a:r>
            <a:endParaRPr lang="en-US" sz="1200" dirty="0"/>
          </a:p>
        </p:txBody>
      </p:sp>
      <p:sp>
        <p:nvSpPr>
          <p:cNvPr id="12" name="Shape 9"/>
          <p:cNvSpPr/>
          <p:nvPr/>
        </p:nvSpPr>
        <p:spPr>
          <a:xfrm>
            <a:off x="566928" y="2560320"/>
            <a:ext cx="11057839" cy="749808"/>
          </a:xfrm>
          <a:prstGeom prst="rect">
            <a:avLst/>
          </a:prstGeom>
          <a:solidFill>
            <a:srgbClr val="FAF9FB"/>
          </a:solidFill>
          <a:ln w="15875">
            <a:solidFill>
              <a:srgbClr val="D9D6E0"/>
            </a:solidFill>
            <a:prstDash val="solid"/>
          </a:ln>
        </p:spPr>
      </p:sp>
      <p:sp>
        <p:nvSpPr>
          <p:cNvPr id="13" name="Text 10"/>
          <p:cNvSpPr/>
          <p:nvPr/>
        </p:nvSpPr>
        <p:spPr>
          <a:xfrm>
            <a:off x="694944" y="256032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8892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DESPLEGAR</a:t>
            </a:r>
            <a:endParaRPr lang="en-US" sz="1000" dirty="0"/>
          </a:p>
        </p:txBody>
      </p:sp>
      <p:sp>
        <p:nvSpPr>
          <p:cNvPr id="15" name="Text 12"/>
          <p:cNvSpPr/>
          <p:nvPr/>
        </p:nvSpPr>
        <p:spPr>
          <a:xfrm>
            <a:off x="3383280" y="2651760"/>
            <a:ext cx="813175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comando de A.21: --network sepolia, --parameters y --verify. Pide la contraseña del keystore.</a:t>
            </a:r>
            <a:endParaRPr lang="en-US" sz="1200" dirty="0"/>
          </a:p>
        </p:txBody>
      </p:sp>
      <p:sp>
        <p:nvSpPr>
          <p:cNvPr id="16" name="Shape 13"/>
          <p:cNvSpPr/>
          <p:nvPr/>
        </p:nvSpPr>
        <p:spPr>
          <a:xfrm>
            <a:off x="566928" y="3383280"/>
            <a:ext cx="11057839" cy="749808"/>
          </a:xfrm>
          <a:prstGeom prst="rect">
            <a:avLst/>
          </a:prstGeom>
          <a:solidFill>
            <a:srgbClr val="FFFFFF"/>
          </a:solidFill>
          <a:ln w="15875">
            <a:solidFill>
              <a:srgbClr val="D9D6E0"/>
            </a:solidFill>
            <a:prstDash val="solid"/>
          </a:ln>
        </p:spPr>
      </p:sp>
      <p:sp>
        <p:nvSpPr>
          <p:cNvPr id="17" name="Text 14"/>
          <p:cNvSpPr/>
          <p:nvPr/>
        </p:nvSpPr>
        <p:spPr>
          <a:xfrm>
            <a:off x="694944" y="338328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61188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COMPROBAR</a:t>
            </a:r>
            <a:endParaRPr lang="en-US" sz="1000" dirty="0"/>
          </a:p>
        </p:txBody>
      </p:sp>
      <p:sp>
        <p:nvSpPr>
          <p:cNvPr id="19" name="Text 16"/>
          <p:cNvSpPr/>
          <p:nvPr/>
        </p:nvSpPr>
        <p:spPr>
          <a:xfrm>
            <a:off x="3383280" y="3474720"/>
            <a:ext cx="813175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La dirección en sepolia.etherscan.io muestra la marca de código verificado.</a:t>
            </a:r>
            <a:endParaRPr lang="en-US" sz="1200" dirty="0"/>
          </a:p>
        </p:txBody>
      </p:sp>
      <p:sp>
        <p:nvSpPr>
          <p:cNvPr id="20" name="Shape 17"/>
          <p:cNvSpPr/>
          <p:nvPr/>
        </p:nvSpPr>
        <p:spPr>
          <a:xfrm>
            <a:off x="566928" y="4206240"/>
            <a:ext cx="11057839" cy="749808"/>
          </a:xfrm>
          <a:prstGeom prst="rect">
            <a:avLst/>
          </a:prstGeom>
          <a:solidFill>
            <a:srgbClr val="FAF9FB"/>
          </a:solidFill>
          <a:ln w="15875">
            <a:solidFill>
              <a:srgbClr val="D9D6E0"/>
            </a:solidFill>
            <a:prstDash val="solid"/>
          </a:ln>
        </p:spPr>
      </p:sp>
      <p:sp>
        <p:nvSpPr>
          <p:cNvPr id="21" name="Text 18"/>
          <p:cNvSpPr/>
          <p:nvPr/>
        </p:nvSpPr>
        <p:spPr>
          <a:xfrm>
            <a:off x="694944" y="420624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43484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USAR</a:t>
            </a:r>
            <a:endParaRPr lang="en-US" sz="1000" dirty="0"/>
          </a:p>
        </p:txBody>
      </p:sp>
      <p:sp>
        <p:nvSpPr>
          <p:cNvPr id="23" name="Text 20"/>
          <p:cNvSpPr/>
          <p:nvPr/>
        </p:nvSpPr>
        <p:spPr>
          <a:xfrm>
            <a:off x="3383280" y="4297680"/>
            <a:ext cx="813175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Aportar 0,005 ETH desde Write Contract. Esperar los 30 minutos. Reclamar desde la cuenta que desplegó.</a:t>
            </a:r>
            <a:endParaRPr lang="en-US" sz="1200" dirty="0"/>
          </a:p>
        </p:txBody>
      </p:sp>
      <p:sp>
        <p:nvSpPr>
          <p:cNvPr id="24" name="Shape 21"/>
          <p:cNvSpPr/>
          <p:nvPr/>
        </p:nvSpPr>
        <p:spPr>
          <a:xfrm>
            <a:off x="566928" y="5120640"/>
            <a:ext cx="11057839" cy="105156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25" name="Image 1" descr="preencoded.png">    </p:cNvPr>
          <p:cNvPicPr>
            <a:picLocks noChangeAspect="1"/>
          </p:cNvPicPr>
          <p:nvPr/>
        </p:nvPicPr>
        <p:blipFill>
          <a:blip r:embed="rId2"/>
          <a:stretch>
            <a:fillRect/>
          </a:stretch>
        </p:blipFill>
        <p:spPr>
          <a:xfrm>
            <a:off x="804672" y="5340096"/>
            <a:ext cx="237744" cy="237744"/>
          </a:xfrm>
          <a:prstGeom prst="rect">
            <a:avLst/>
          </a:prstGeom>
        </p:spPr>
      </p:pic>
      <p:sp>
        <p:nvSpPr>
          <p:cNvPr id="26" name="Text 22"/>
          <p:cNvSpPr/>
          <p:nvPr/>
        </p:nvSpPr>
        <p:spPr>
          <a:xfrm>
            <a:off x="1133856" y="531266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ANTES DEL GIT PUSH</a:t>
            </a:r>
            <a:endParaRPr lang="en-US" sz="950" dirty="0"/>
          </a:p>
        </p:txBody>
      </p:sp>
      <p:sp>
        <p:nvSpPr>
          <p:cNvPr id="27" name="Text 23"/>
          <p:cNvSpPr/>
          <p:nvPr/>
        </p:nvSpPr>
        <p:spPr>
          <a:xfrm>
            <a:off x="804672" y="5632704"/>
            <a:ext cx="10582351" cy="4480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git status: ni claves, ni .env, ni URLs con API key. Sí se sube ignition/deployments/chain-11155111: es la evidencia reproducible del despliegue.</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B.8 · ERRORES FRECUENTES Y EVIDENCIA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 QUE SUELE SALIR MAL, Y QUÉ SE ENTREGA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36</a:t>
            </a:r>
            <a:endParaRPr lang="en-US" sz="9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4572000"/>
                <a:gridCol w="64858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SÍNTOMA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CAUSA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4074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El script dice «No se encontraron pruebas»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suite no está en test/s08/Recaudo.test.js.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4074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Una prueba de plazo pasa contra todo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Nunca llega al segundo exacto: revisen A.12.</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4074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Una reversión pasa por otra razón</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Revisen el escenario (B.3) y exijan el error exacto.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4074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loadFixture falla con una función anónima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fixture necesita nombre: async function desplegar().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4074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--verify falla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Falta ETHERSCAN_API_KEY, o reintentar el mismo comando tras un minuto.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551176"/>
          </a:xfrm>
          <a:prstGeom prst="rect">
            <a:avLst/>
          </a:prstGeom>
          <a:ln w="22225">
            <a:solidFill>
              <a:srgbClr val="0F0F11"/>
            </a:solidFill>
            <a:prstDash val="solid"/>
          </a:ln>
        </p:spPr>
      </p:sp>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566928" y="4434840"/>
          <a:ext cx="11057839" cy="914400"/>
        </p:xfrm>
        <a:graphic>
          <a:graphicData uri="http://schemas.openxmlformats.org/drawingml/2006/table">
            <a:tbl>
              <a:tblPr/>
              <a:tblGrid>
                <a:gridCol w="1828800"/>
                <a:gridCol w="7765999"/>
                <a:gridCol w="1463040"/>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EVIDENCIA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PESO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35661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Suite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test/s08/Recaudo.test.js con ≥ 10 pruebas en verde.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25 %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5661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Cobertura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Captura con ≥ 80 % de líneas en Recaudo.sol.</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15 %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5661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Mutantes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Los tres muertos + qué prueba mató a cada uno y por qué.</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35 %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5661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Despliegue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Dirección en Sepolia, verificada, desplegada con Ignition.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25 %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6"/>
          <p:cNvSpPr/>
          <p:nvPr/>
        </p:nvSpPr>
        <p:spPr>
          <a:xfrm>
            <a:off x="548640" y="4416552"/>
            <a:ext cx="11094415" cy="1773936"/>
          </a:xfrm>
          <a:prstGeom prst="rect">
            <a:avLst/>
          </a:prstGeom>
          <a:ln w="22225">
            <a:solidFill>
              <a:srgbClr val="0F0F11"/>
            </a:solidFill>
            <a:prstDash val="solid"/>
          </a:ln>
        </p:spPr>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VERIFICACIÓN · BLOQUE B</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 QUE EL LABORATORIO DEBIÓ DEJAR CLARO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37</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Respondan en parejas, sin mirar las láminas. Si alguna no sale en un minuto, esa es la lámina que hay que volver a ver.</a:t>
            </a:r>
            <a:endParaRPr lang="en-US" sz="1350" dirty="0"/>
          </a:p>
        </p:txBody>
      </p:sp>
      <p:sp>
        <p:nvSpPr>
          <p:cNvPr id="9" name="Shape 6"/>
          <p:cNvSpPr/>
          <p:nvPr/>
        </p:nvSpPr>
        <p:spPr>
          <a:xfrm>
            <a:off x="566928" y="2377440"/>
            <a:ext cx="11057839" cy="804672"/>
          </a:xfrm>
          <a:prstGeom prst="rect">
            <a:avLst/>
          </a:prstGeom>
          <a:solidFill>
            <a:srgbClr val="FFFFFF"/>
          </a:solidFill>
          <a:ln w="15875">
            <a:solidFill>
              <a:srgbClr val="D9D6E0"/>
            </a:solidFill>
            <a:prstDash val="solid"/>
          </a:ln>
        </p:spPr>
      </p:sp>
      <p:sp>
        <p:nvSpPr>
          <p:cNvPr id="10" name="Text 7"/>
          <p:cNvSpPr/>
          <p:nvPr/>
        </p:nvSpPr>
        <p:spPr>
          <a:xfrm>
            <a:off x="704088" y="2377440"/>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01</a:t>
            </a:r>
            <a:endParaRPr lang="en-US" sz="1800" dirty="0"/>
          </a:p>
        </p:txBody>
      </p:sp>
      <p:sp>
        <p:nvSpPr>
          <p:cNvPr id="11" name="Text 8"/>
          <p:cNvSpPr/>
          <p:nvPr/>
        </p:nvSpPr>
        <p:spPr>
          <a:xfrm>
            <a:off x="1435608" y="2450592"/>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Su suite tenía más de 80 % de cobertura antes de matar a los tres mutantes. ¿Qué les dice eso sobre el requisito del 80 %?</a:t>
            </a:r>
            <a:endParaRPr lang="en-US" sz="1300" dirty="0"/>
          </a:p>
        </p:txBody>
      </p:sp>
      <p:sp>
        <p:nvSpPr>
          <p:cNvPr id="12" name="Shape 9"/>
          <p:cNvSpPr/>
          <p:nvPr/>
        </p:nvSpPr>
        <p:spPr>
          <a:xfrm>
            <a:off x="566928" y="3310128"/>
            <a:ext cx="11057839" cy="804672"/>
          </a:xfrm>
          <a:prstGeom prst="rect">
            <a:avLst/>
          </a:prstGeom>
          <a:solidFill>
            <a:srgbClr val="FAF9FB"/>
          </a:solidFill>
          <a:ln w="15875">
            <a:solidFill>
              <a:srgbClr val="D9D6E0"/>
            </a:solidFill>
            <a:prstDash val="solid"/>
          </a:ln>
        </p:spPr>
      </p:sp>
      <p:sp>
        <p:nvSpPr>
          <p:cNvPr id="13" name="Text 10"/>
          <p:cNvSpPr/>
          <p:nvPr/>
        </p:nvSpPr>
        <p:spPr>
          <a:xfrm>
            <a:off x="704088" y="3310128"/>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02</a:t>
            </a:r>
            <a:endParaRPr lang="en-US" sz="1800" dirty="0"/>
          </a:p>
        </p:txBody>
      </p:sp>
      <p:sp>
        <p:nvSpPr>
          <p:cNvPr id="14" name="Text 11"/>
          <p:cNvSpPr/>
          <p:nvPr/>
        </p:nvSpPr>
        <p:spPr>
          <a:xfrm>
            <a:off x="1435608" y="3383280"/>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Para una de sus pruebas de borde: ¿qué otra razón podría haberla hecho fallar, y cómo lo descartaron?</a:t>
            </a:r>
            <a:endParaRPr lang="en-US" sz="1300" dirty="0"/>
          </a:p>
        </p:txBody>
      </p:sp>
      <p:sp>
        <p:nvSpPr>
          <p:cNvPr id="15" name="Shape 12"/>
          <p:cNvSpPr/>
          <p:nvPr/>
        </p:nvSpPr>
        <p:spPr>
          <a:xfrm>
            <a:off x="566928" y="4242816"/>
            <a:ext cx="11057839" cy="804672"/>
          </a:xfrm>
          <a:prstGeom prst="rect">
            <a:avLst/>
          </a:prstGeom>
          <a:solidFill>
            <a:srgbClr val="FFFFFF"/>
          </a:solidFill>
          <a:ln w="15875">
            <a:solidFill>
              <a:srgbClr val="D9D6E0"/>
            </a:solidFill>
            <a:prstDash val="solid"/>
          </a:ln>
        </p:spPr>
      </p:sp>
      <p:sp>
        <p:nvSpPr>
          <p:cNvPr id="16" name="Text 13"/>
          <p:cNvSpPr/>
          <p:nvPr/>
        </p:nvSpPr>
        <p:spPr>
          <a:xfrm>
            <a:off x="704088" y="4242816"/>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03</a:t>
            </a:r>
            <a:endParaRPr lang="en-US" sz="1800" dirty="0"/>
          </a:p>
        </p:txBody>
      </p:sp>
      <p:sp>
        <p:nvSpPr>
          <p:cNvPr id="17" name="Text 14"/>
          <p:cNvSpPr/>
          <p:nvPr/>
        </p:nvSpPr>
        <p:spPr>
          <a:xfrm>
            <a:off x="1435608" y="4315968"/>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¿Qué líneas de Recaudo.sol quedaron sin cubrir, y por qué es aceptable (o no)?</a:t>
            </a:r>
            <a:endParaRPr lang="en-US" sz="1300" dirty="0"/>
          </a:p>
        </p:txBody>
      </p:sp>
      <p:sp>
        <p:nvSpPr>
          <p:cNvPr id="18" name="Shape 15"/>
          <p:cNvSpPr/>
          <p:nvPr/>
        </p:nvSpPr>
        <p:spPr>
          <a:xfrm>
            <a:off x="566928" y="5175504"/>
            <a:ext cx="11057839" cy="804672"/>
          </a:xfrm>
          <a:prstGeom prst="rect">
            <a:avLst/>
          </a:prstGeom>
          <a:solidFill>
            <a:srgbClr val="FAF9FB"/>
          </a:solidFill>
          <a:ln w="15875">
            <a:solidFill>
              <a:srgbClr val="D9D6E0"/>
            </a:solidFill>
            <a:prstDash val="solid"/>
          </a:ln>
        </p:spPr>
      </p:sp>
      <p:sp>
        <p:nvSpPr>
          <p:cNvPr id="19" name="Text 16"/>
          <p:cNvSpPr/>
          <p:nvPr/>
        </p:nvSpPr>
        <p:spPr>
          <a:xfrm>
            <a:off x="704088" y="5175504"/>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04</a:t>
            </a:r>
            <a:endParaRPr lang="en-US" sz="1800" dirty="0"/>
          </a:p>
        </p:txBody>
      </p:sp>
      <p:sp>
        <p:nvSpPr>
          <p:cNvPr id="20" name="Text 17"/>
          <p:cNvSpPr/>
          <p:nvPr/>
        </p:nvSpPr>
        <p:spPr>
          <a:xfrm>
            <a:off x="1435608" y="5248656"/>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Si mañana cambian un parámetro de Sepolia, ¿qué archivo tocan y qué comando repiten?</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25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EL PROYECTO, EN HARDHAT</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Desde hoy el repositorio del equipo tiene la misma forma que el del curso. El Avance 1 se entrega en la Sesión 13.</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EL REPOSITORIO DEL EQUIPO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 ESTRUCTURA RECOMENDADA, DESDE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39</a:t>
            </a:r>
            <a:endParaRPr lang="en-US" sz="900" dirty="0"/>
          </a:p>
        </p:txBody>
      </p:sp>
      <p:sp>
        <p:nvSpPr>
          <p:cNvPr id="8" name="Shape 5"/>
          <p:cNvSpPr/>
          <p:nvPr/>
        </p:nvSpPr>
        <p:spPr>
          <a:xfrm>
            <a:off x="566928" y="1737360"/>
            <a:ext cx="6949440" cy="4434840"/>
          </a:xfrm>
          <a:prstGeom prst="rect">
            <a:avLst/>
          </a:prstGeom>
          <a:solidFill>
            <a:srgbClr val="16151B"/>
          </a:solidFill>
          <a:ln w="22225">
            <a:solidFill>
              <a:srgbClr val="16151B"/>
            </a:solidFill>
            <a:prstDash val="solid"/>
          </a:ln>
        </p:spPr>
      </p:sp>
      <p:sp>
        <p:nvSpPr>
          <p:cNvPr id="9" name="Text 6"/>
          <p:cNvSpPr/>
          <p:nvPr/>
        </p:nvSpPr>
        <p:spPr>
          <a:xfrm>
            <a:off x="768096" y="1883664"/>
            <a:ext cx="6547104" cy="4178808"/>
          </a:xfrm>
          <a:prstGeom prst="rect">
            <a:avLst/>
          </a:prstGeom>
          <a:noFill/>
          <a:ln/>
        </p:spPr>
        <p:txBody>
          <a:bodyPr wrap="square" lIns="0" tIns="0" rIns="0" bIns="0" rtlCol="0" anchor="t"/>
          <a:lstStyle/>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init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plantilla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mocha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ethers</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npm</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install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save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exact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openzeppelin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5.6</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proyecto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equipo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su</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contrato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principal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borrador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S7</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una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suite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contrato</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modules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un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dulo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despliegue</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parametros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sepolia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json</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docs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anteproyecto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decisiones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dise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ñ</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o</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config</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configVariable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sin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secretos</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package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json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versiones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exactas</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package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lock</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json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Í</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sube</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gitignore</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README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qu</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é</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hace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instalar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probar</a:t>
            </a:r>
            <a:endParaRPr lang="en-US" sz="1050" dirty="0"/>
          </a:p>
        </p:txBody>
      </p:sp>
      <p:sp>
        <p:nvSpPr>
          <p:cNvPr id="10" name="Text 7"/>
          <p:cNvSpPr/>
          <p:nvPr/>
        </p:nvSpPr>
        <p:spPr>
          <a:xfrm>
            <a:off x="7790688" y="1737360"/>
            <a:ext cx="3834079" cy="4434840"/>
          </a:xfrm>
          <a:prstGeom prst="rect">
            <a:avLst/>
          </a:prstGeom>
          <a:noFill/>
          <a:ln/>
        </p:spPr>
        <p:txBody>
          <a:bodyPr wrap="square" lIns="0" tIns="0" rIns="0" bIns="0" rtlCol="0" anchor="t"/>
          <a:lstStyle/>
          <a:p>
            <a:pPr marL="203200" indent="-203200">
              <a:lnSpc>
                <a:spcPct val="118000"/>
              </a:lnSpc>
              <a:spcAft>
                <a:spcPts val="1000"/>
              </a:spcAft>
              <a:buSzPct val="100000"/>
              <a:buChar char="■"/>
            </a:pPr>
            <a:r>
              <a:rPr lang="en-US" sz="1250" dirty="0">
                <a:solidFill>
                  <a:srgbClr val="3A3844"/>
                </a:solidFill>
                <a:latin typeface="Arial" pitchFamily="34" charset="0"/>
                <a:ea typeface="Arial" pitchFamily="34" charset="-122"/>
                <a:cs typeface="Arial" pitchFamily="34" charset="-120"/>
              </a:rPr>
              <a:t>Usen las mismas versiones del curso (versiones.md): Hardhat 3.16.0, Solidity 0.8.28, OpenZeppelin 5.6.1.</a:t>
            </a:r>
            <a:endParaRPr lang="en-US" sz="1250" dirty="0"/>
          </a:p>
          <a:p>
            <a:pPr marL="203200" indent="-203200">
              <a:lnSpc>
                <a:spcPct val="118000"/>
              </a:lnSpc>
              <a:spcAft>
                <a:spcPts val="1000"/>
              </a:spcAft>
              <a:buSzPct val="100000"/>
              <a:buChar char="■"/>
            </a:pPr>
            <a:r>
              <a:rPr lang="en-US" sz="1250" dirty="0">
                <a:solidFill>
                  <a:srgbClr val="3A3844"/>
                </a:solidFill>
                <a:latin typeface="Arial" pitchFamily="34" charset="0"/>
                <a:ea typeface="Arial" pitchFamily="34" charset="-122"/>
                <a:cs typeface="Arial" pitchFamily="34" charset="-120"/>
              </a:rPr>
              <a:t>Repositorio en GitHub, los tres integrantes con permisos y el docente como colaborador.</a:t>
            </a:r>
            <a:endParaRPr lang="en-US" sz="1250" dirty="0"/>
          </a:p>
          <a:p>
            <a:pPr marL="203200" indent="-203200">
              <a:lnSpc>
                <a:spcPct val="118000"/>
              </a:lnSpc>
              <a:spcAft>
                <a:spcPts val="1000"/>
              </a:spcAft>
              <a:buSzPct val="100000"/>
              <a:buChar char="■"/>
            </a:pPr>
            <a:r>
              <a:rPr lang="en-US" sz="1250" dirty="0">
                <a:solidFill>
                  <a:srgbClr val="3A3844"/>
                </a:solidFill>
                <a:latin typeface="Arial" pitchFamily="34" charset="0"/>
                <a:ea typeface="Arial" pitchFamily="34" charset="-122"/>
                <a:cs typeface="Arial" pitchFamily="34" charset="-120"/>
              </a:rPr>
              <a:t>El borrador de la S7 se mueve a contracts/ y se le escriben pruebas con el método de hoy.</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C.2 · LO QUE NUNCA SE SUBE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.GITIGNORE, Y LA REVISIÓN ANTES DE CADA PUSH</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40</a:t>
            </a:r>
            <a:endParaRPr lang="en-US" sz="900" dirty="0"/>
          </a:p>
        </p:txBody>
      </p:sp>
      <p:sp>
        <p:nvSpPr>
          <p:cNvPr id="8" name="Shape 5"/>
          <p:cNvSpPr/>
          <p:nvPr/>
        </p:nvSpPr>
        <p:spPr>
          <a:xfrm>
            <a:off x="566928" y="1737360"/>
            <a:ext cx="4023360" cy="2926080"/>
          </a:xfrm>
          <a:prstGeom prst="rect">
            <a:avLst/>
          </a:prstGeom>
          <a:solidFill>
            <a:srgbClr val="16151B"/>
          </a:solidFill>
          <a:ln w="22225">
            <a:solidFill>
              <a:srgbClr val="16151B"/>
            </a:solidFill>
            <a:prstDash val="solid"/>
          </a:ln>
        </p:spPr>
      </p:sp>
      <p:sp>
        <p:nvSpPr>
          <p:cNvPr id="9" name="Text 6"/>
          <p:cNvSpPr/>
          <p:nvPr/>
        </p:nvSpPr>
        <p:spPr>
          <a:xfrm>
            <a:off x="768096" y="1810512"/>
            <a:ext cx="362102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.GITIGNORE DEL CURSO</a:t>
            </a:r>
            <a:endParaRPr lang="en-US" sz="850" dirty="0"/>
          </a:p>
        </p:txBody>
      </p:sp>
      <p:sp>
        <p:nvSpPr>
          <p:cNvPr id="10" name="Text 7"/>
          <p:cNvSpPr/>
          <p:nvPr/>
        </p:nvSpPr>
        <p:spPr>
          <a:xfrm>
            <a:off x="768096" y="2121408"/>
            <a:ext cx="3621024" cy="2432304"/>
          </a:xfrm>
          <a:prstGeom prst="rect">
            <a:avLst/>
          </a:prstGeom>
          <a:noFill/>
          <a:ln/>
        </p:spPr>
        <p:txBody>
          <a:bodyPr wrap="square" lIns="0" tIns="0" rIns="0" bIns="0" rtlCol="0" anchor="t"/>
          <a:lstStyle/>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node_modules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artifacts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cache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coverage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types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deployments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chain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31337</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env</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log</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864608" y="1737360"/>
          <a:ext cx="6760159" cy="914400"/>
        </p:xfrm>
        <a:graphic>
          <a:graphicData uri="http://schemas.openxmlformats.org/drawingml/2006/table">
            <a:tbl>
              <a:tblPr/>
              <a:tblGrid>
                <a:gridCol w="3017520"/>
                <a:gridCol w="3742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NUNCA SE SUBE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537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Claves privadas y frases semilla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Vaciado en segundos. Y queda en el historial.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537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URLs de RPC con clave de API</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Otro consume su cuota o la usa a su nombre.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537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node_modules, artifacts, cache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 regeneran; pesan cientos de megas.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537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Datos personales (Ley 1581 de 2012)</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Ni en la cadena ni en el repositorio: solo hashes.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2" name="Shape 8"/>
          <p:cNvSpPr/>
          <p:nvPr/>
        </p:nvSpPr>
        <p:spPr>
          <a:xfrm>
            <a:off x="4846320" y="1719072"/>
            <a:ext cx="6796735" cy="2962656"/>
          </a:xfrm>
          <a:prstGeom prst="rect">
            <a:avLst/>
          </a:prstGeom>
          <a:ln w="22225">
            <a:solidFill>
              <a:srgbClr val="0F0F11"/>
            </a:solidFill>
            <a:prstDash val="solid"/>
          </a:ln>
        </p:spPr>
      </p:sp>
      <p:sp>
        <p:nvSpPr>
          <p:cNvPr id="13" name="Shape 9"/>
          <p:cNvSpPr/>
          <p:nvPr/>
        </p:nvSpPr>
        <p:spPr>
          <a:xfrm>
            <a:off x="566928" y="4846320"/>
            <a:ext cx="11057839" cy="1298448"/>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4" name="Image 1" descr="preencoded.png">    </p:cNvPr>
          <p:cNvPicPr>
            <a:picLocks noChangeAspect="1"/>
          </p:cNvPicPr>
          <p:nvPr/>
        </p:nvPicPr>
        <p:blipFill>
          <a:blip r:embed="rId2"/>
          <a:stretch>
            <a:fillRect/>
          </a:stretch>
        </p:blipFill>
        <p:spPr>
          <a:xfrm>
            <a:off x="804672" y="5065776"/>
            <a:ext cx="237744" cy="237744"/>
          </a:xfrm>
          <a:prstGeom prst="rect">
            <a:avLst/>
          </a:prstGeom>
        </p:spPr>
      </p:pic>
      <p:sp>
        <p:nvSpPr>
          <p:cNvPr id="15" name="Text 10"/>
          <p:cNvSpPr/>
          <p:nvPr/>
        </p:nvSpPr>
        <p:spPr>
          <a:xfrm>
            <a:off x="1133856" y="503834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LA RUTINA ANTES DE CADA GIT PUSH</a:t>
            </a:r>
            <a:endParaRPr lang="en-US" sz="950" dirty="0"/>
          </a:p>
        </p:txBody>
      </p:sp>
      <p:sp>
        <p:nvSpPr>
          <p:cNvPr id="16" name="Text 11"/>
          <p:cNvSpPr/>
          <p:nvPr/>
        </p:nvSpPr>
        <p:spPr>
          <a:xfrm>
            <a:off x="804672" y="5358384"/>
            <a:ext cx="10582351" cy="69494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git status y git diff --staged. Leer cada archivo que va a subir. Si aparece un secreto: no se sube, se rota la clave y se avisa. Borrarlo en un commit posterior NO lo elimina del historial.</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C.3 · HASTA LA SESIÓN 9 · Y LA VERIFICACIÓN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ESTADO MÍNIMO DEL REPOSITORIO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41</a:t>
            </a:r>
            <a:endParaRPr lang="en-US" sz="9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560320"/>
                <a:gridCol w="84975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PIEZA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ESTADO MÍNIMO ESPERADO PARA LA S9</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0520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Contrato principal</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Compila en Hardhat. Aplica al menos dos patrones de la Sesión 7.</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520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Suite inicial</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Al menos 5 pruebas, con al menos una de cada familia de A.9 (incluido un borde).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0520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Secretos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Ninguno en el repositorio. keystore configurado por quien despliega.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520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README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Qué hace el proyecto, cómo instalarlo y cómo correr las pruebas, en cinco líneas.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368296"/>
          </a:xfrm>
          <a:prstGeom prst="rect">
            <a:avLst/>
          </a:prstGeom>
          <a:ln w="22225">
            <a:solidFill>
              <a:srgbClr val="0F0F11"/>
            </a:solidFill>
            <a:prstDash val="solid"/>
          </a:ln>
        </p:spPr>
      </p:sp>
      <p:sp>
        <p:nvSpPr>
          <p:cNvPr id="10" name="Shape 6"/>
          <p:cNvSpPr/>
          <p:nvPr/>
        </p:nvSpPr>
        <p:spPr>
          <a:xfrm>
            <a:off x="566928" y="4251960"/>
            <a:ext cx="11057839" cy="1892808"/>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4471416"/>
            <a:ext cx="237744" cy="237744"/>
          </a:xfrm>
          <a:prstGeom prst="rect">
            <a:avLst/>
          </a:prstGeom>
        </p:spPr>
      </p:pic>
      <p:sp>
        <p:nvSpPr>
          <p:cNvPr id="12" name="Text 7"/>
          <p:cNvSpPr/>
          <p:nvPr/>
        </p:nvSpPr>
        <p:spPr>
          <a:xfrm>
            <a:off x="1133856" y="444398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VERIFICACIÓN DEL BLOQUE C · CADA EQUIPO, ANTES DE SALIR</a:t>
            </a:r>
            <a:endParaRPr lang="en-US" sz="950" dirty="0"/>
          </a:p>
        </p:txBody>
      </p:sp>
      <p:sp>
        <p:nvSpPr>
          <p:cNvPr id="13" name="Text 8"/>
          <p:cNvSpPr/>
          <p:nvPr/>
        </p:nvSpPr>
        <p:spPr>
          <a:xfrm>
            <a:off x="804672" y="4764024"/>
            <a:ext cx="10582351" cy="1289304"/>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1. ¿La URL de su repositorio ya está en el canal del curso?</a:t>
            </a:r>
            <a:endParaRPr lang="en-US" sz="1300" dirty="0"/>
          </a:p>
          <a:p>
            <a:pPr indent="0" marL="0">
              <a:lnSpc>
                <a:spcPct val="124000"/>
              </a:lnSpc>
              <a:buNone/>
            </a:pPr>
            <a:r>
              <a:rPr lang="en-US" sz="1300" dirty="0">
                <a:solidFill>
                  <a:srgbClr val="3A3844"/>
                </a:solidFill>
                <a:latin typeface="Arial" pitchFamily="34" charset="0"/>
                <a:ea typeface="Arial" pitchFamily="34" charset="-122"/>
                <a:cs typeface="Arial" pitchFamily="34" charset="-120"/>
              </a:rPr>
              <a:t>2. ¿Qué archivo de su repositorio podría filtrar un secreto si se descuidan?</a:t>
            </a:r>
            <a:endParaRPr lang="en-US" sz="1300" dirty="0"/>
          </a:p>
          <a:p>
            <a:pPr indent="0" marL="0">
              <a:lnSpc>
                <a:spcPct val="124000"/>
              </a:lnSpc>
              <a:buNone/>
            </a:pPr>
            <a:r>
              <a:rPr lang="en-US" sz="1300" dirty="0">
                <a:solidFill>
                  <a:srgbClr val="3A3844"/>
                </a:solidFill>
                <a:latin typeface="Arial" pitchFamily="34" charset="0"/>
                <a:ea typeface="Arial" pitchFamily="34" charset="-122"/>
                <a:cs typeface="Arial" pitchFamily="34" charset="-120"/>
              </a:rPr>
              <a:t>3. ¿Qué borde de su contrato principal van a probar primero, y por qué ese?</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42</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Si una suite con 88 % de cobertura dejó pasar tres errores, ¿qué número o qué evidencia le pedirían a un proveedor para creerle que su contrato está bien probado?</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Evidencia del laboratorio 08: suite, cobertura, mutantes muertos con su explicación, y Recaudo verificado en Sepolia.</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Trabajo autónomo: el proyecto en la estructura de C.1, con el contrato principal compilando y 5 pruebas.</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Traer el refactor de CertificadosUSB de la S7, ahora con su suite corriendo en Hardhat.</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Crear cuenta en ethernaut.openzeppelin.com y resolver el nivel 0: la Sesión 9 empieza en el 1.</a:t>
            </a:r>
            <a:endParaRPr lang="en-US" sz="13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Una prueba verde no demuestra nada si también estaría verde con el error.</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Hoy escribieron pruebas y las pusieron a prueba. La próxima sesión cambian de lado: van a atacar contratos ajenos para aprender a defender los propios.</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SESIÓN 9 · SEGURIDAD DE CONTRATOS · ETHERNAUT · PARCIAL PRÁCTICO</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08 · Hardhat, pruebas y despliegue</dc:title>
  <dc:subject>Sesión 08 · Hardhat, pruebas y despliegue</dc:subject>
  <dc:creator>Universidad de San Buenaventura Medellín</dc:creator>
  <cp:lastModifiedBy>Universidad de San Buenaventura Medellín</cp:lastModifiedBy>
  <cp:revision>1</cp:revision>
  <dcterms:created xsi:type="dcterms:W3CDTF">2026-09-18T01:10:46Z</dcterms:created>
  <dcterms:modified xsi:type="dcterms:W3CDTF">2026-09-18T01:10:46Z</dcterms:modified>
</cp:coreProperties>
</file>