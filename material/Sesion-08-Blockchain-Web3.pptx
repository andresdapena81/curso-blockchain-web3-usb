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Sesión bisagra: desde hoy todo el trabajo del curso, incluido el proyecto, se hace con este flujo.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Leer la prueba en voz alta como una frase: 'Recaudo, al aportar, rechaza un aporte de cero'. Si el nombre no se lee como una especificación, está mal nombrada.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salida de la lámina es ilustrativa. Con el solucionario del docente, los tres mueren con exactamente una prueba cada 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pregunta prepara la conversación de auditorías de la Sesión 9: cobertura, mutantes, fuzzing, verificación formal y auditoría externa son evidencias distintas.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33172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" y="37947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PROBAR</a:t>
            </a:r>
            <a:endParaRPr lang="en-US" sz="27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115568"/>
            <a:ext cx="310896" cy="3108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809744" y="109728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UNIDAD II · ETHEREUM Y CONTRATOS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389120" y="1719072"/>
            <a:ext cx="7269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PROBAR ANTES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 QUE SEA</a:t>
            </a:r>
            <a:endParaRPr lang="en-US" sz="3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PARA SIEMPRE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389120" y="4224528"/>
            <a:ext cx="7269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Hardhat, pruebas automatizadas y despliegue reproducible: el flujo real de un equipo que no puede publicar parches.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4389120" y="5120640"/>
            <a:ext cx="7269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86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Blockchain y Web 3.0 · Ingeniería de Sistemas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86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de San Buenaventura Medellín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DE HOY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VAMOS A USAR LAS TRES HORAS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se sale del navegador. Y se aprende la diferencia entre tener pruebas y tener pruebas que atrapan errores.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66928" y="2468880"/>
            <a:ext cx="11057839" cy="1024128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928" y="2468880"/>
            <a:ext cx="777240" cy="1024128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468880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1572768" y="259689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FLUJO PROFESIONAL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572768" y="2926080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Proyecto, red local, pruebas, cobertura, mutantes, despliegue y secretos.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704527" y="2468880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~60 min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675888"/>
            <a:ext cx="11057839" cy="1024128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6928" y="3675888"/>
            <a:ext cx="777240" cy="1024128"/>
          </a:xfrm>
          <a:prstGeom prst="rect">
            <a:avLst/>
          </a:prstGeom>
          <a:solidFill>
            <a:srgbClr val="D9D6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3675888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572768" y="3803904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LABORATORIO 08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572768" y="4133088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Escribir la suite de un contrato, cazar tres mutantes y desplegar con Ignition.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9704527" y="3675888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~90 min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4882896"/>
            <a:ext cx="11057839" cy="1024128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6928" y="4882896"/>
            <a:ext cx="777240" cy="1024128"/>
          </a:xfrm>
          <a:prstGeom prst="rect">
            <a:avLst/>
          </a:prstGeom>
          <a:solidFill>
            <a:srgbClr val="D9D6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4882896"/>
            <a:ext cx="777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1572768" y="501091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PROYECTO EN HARDHAT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572768" y="5340096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del repositorio del equipo desde hoy.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9704527" y="4882896"/>
            <a:ext cx="1691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min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PROPÓSITO DE LA SESIÓN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 SALIR DE AQUÍ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18872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1920240"/>
            <a:ext cx="102897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Trabajar con el flujo real de un equipo: pruebas automáticas, cobertura, despliegue reproducible y código verificado.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3154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 PREGUNTAS QUE LA SESIÓN RESPONDE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566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25296" y="3630168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no se puede hacer bien desde Remix?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66928" y="41330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25296" y="4197096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hace que una prueba sea buena, y no solo verde?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47000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25296" y="4764024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el 80 % de cobertura puede dejar pasar un error grave?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66928" y="52669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25296" y="5330952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se despliega sin que la clave privada toque el repositorio?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solidFill>
            <a:srgbClr val="F2F0F5"/>
          </a:solidFill>
          <a:ln w="12700">
            <a:solidFill>
              <a:srgbClr val="7152E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6016752"/>
            <a:ext cx="107286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38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RA4 · Construir una suite de pruebas automatizadas y desplegar contratos verificados con un entorno profesional.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VOCABULARIO DE LA SESIÓN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SIGLAS Y TÉRMINOS DE HOY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1737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1810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898648" y="1810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 de desarrollo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22960" y="2121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Compila, prueba, despliega y verifica desde la terminal. Trae su propia red local.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05576" y="1737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05576" y="1737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61608" y="1810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MOCHA · CHAI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537296" y="1810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bibliotecas de pruebas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61608" y="2121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Mocha organiza (describe, it); Chai comprueba (expect). Estándar en JavaScript.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2880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" y="2880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2953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FIXTURE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898648" y="2953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de partida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22960" y="3264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 que se ejecuta una vez y se restaura como instantánea antes de cada prueba.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05576" y="2880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05576" y="2880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61608" y="2953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COBERTURA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537296" y="2953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coverage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461608" y="3264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Porcentaje de líneas del contrato que alguna prueba ejecutó. No dice si se comprobaron.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66928" y="4023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6928" y="4023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22960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MUTANTE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2898648" y="4096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mutation testing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2960" y="4407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del contrato con un error introducido a propósito. Una buena suite debe fallar contra él.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205576" y="4023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205576" y="4023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61608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IGNITION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8537296" y="4096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Hardhat Ignition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6461608" y="4407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despliegue declarativo: registra lo hecho y retoma si se interrumpe.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66928" y="5166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66928" y="5166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22960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RPC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2898648" y="5239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Procedure Call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822960" y="5550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URL del nodo con el que se habla. Suele llevar una clave de API: es un secreto.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205576" y="5166360"/>
            <a:ext cx="5419192" cy="1014984"/>
          </a:xfrm>
          <a:prstGeom prst="rect">
            <a:avLst/>
          </a:prstGeom>
          <a:solidFill>
            <a:srgbClr val="FFFFFF"/>
          </a:solidFill>
          <a:ln w="15875">
            <a:solidFill>
              <a:srgbClr val="7152E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205576" y="5166360"/>
            <a:ext cx="82296" cy="1014984"/>
          </a:xfrm>
          <a:prstGeom prst="rect">
            <a:avLst/>
          </a:prstGeom>
          <a:solidFill>
            <a:srgbClr val="715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61608" y="5239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KEYSTORE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537296" y="5239512"/>
            <a:ext cx="290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almacén cifrado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6461608" y="5550408"/>
            <a:ext cx="50077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Donde Hardhat 3 guarda claves y URLs, protegido con contraseña, fuera del repositorio.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60 MINUTOS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FLUJO PROFESIONAL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software tradicional una prueba ahorra tiempo. Aquí es la última oportunidad de encontrar un error antes de que custodie dinero para siempre.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 · POR QUÉ SALIR DEL NAVEGADOR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REMIX NO PUEDE HACER BIEN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474720"/>
                <a:gridCol w="365119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NECESIDAD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 REMIX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 HARDHAT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6111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Repetir 50 pruebas tras cada cambio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mano, clic por clic.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comando, en segundos.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11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Probar qué pasa dentro de una semana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Imposible: el tiempo es real.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adelanta el reloj de la red local.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111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Saber qué líneas nunca se ejecutaron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existe.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 de cobertura.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11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Trabajar en equipo con Git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Archivos en el navegador.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Repositorio normal, revisión de código.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111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Desplegar igual en local, prueba y producción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vez a mano.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de despliegue con parámetros.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11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Guardar claves con seguridad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Depende de la billetera del navegador.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Almacén cifrado fuera del 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40142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583387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Remix sigue siendo excelente para explorar y enseñar. Pero ningún equipo serio despliega desde ahí.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A.2 · EL CICLO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 CÓDIGO AL CONTRATO VERIFICADO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920240"/>
            <a:ext cx="1645920" cy="9601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20116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ESCRIBIR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58368" y="2322576"/>
            <a:ext cx="1463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contracts/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212848" y="2395728"/>
            <a:ext cx="201168" cy="914"/>
          </a:xfrm>
          <a:prstGeom prst="line">
            <a:avLst/>
          </a:prstGeom>
          <a:noFill/>
          <a:ln w="1905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414016" y="1920240"/>
            <a:ext cx="1645920" cy="9601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05456" y="20116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COMPILAR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505456" y="2322576"/>
            <a:ext cx="1463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hardhat compile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059936" y="2395728"/>
            <a:ext cx="201168" cy="914"/>
          </a:xfrm>
          <a:prstGeom prst="line">
            <a:avLst/>
          </a:prstGeom>
          <a:noFill/>
          <a:ln w="1905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4261104" y="1920240"/>
            <a:ext cx="1645920" cy="96012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52544" y="20116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PROBAR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352544" y="2322576"/>
            <a:ext cx="1463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hardhat test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907024" y="2395728"/>
            <a:ext cx="201168" cy="914"/>
          </a:xfrm>
          <a:prstGeom prst="line">
            <a:avLst/>
          </a:prstGeom>
          <a:noFill/>
          <a:ln w="1905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108192" y="1920240"/>
            <a:ext cx="1645920" cy="9601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99632" y="20116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COBERTURA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199632" y="2322576"/>
            <a:ext cx="1463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--coverage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754112" y="2395728"/>
            <a:ext cx="201168" cy="914"/>
          </a:xfrm>
          <a:prstGeom prst="line">
            <a:avLst/>
          </a:prstGeom>
          <a:noFill/>
          <a:ln w="1905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7955280" y="1920240"/>
            <a:ext cx="1645920" cy="9601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046720" y="20116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DESPLEGAR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046720" y="2322576"/>
            <a:ext cx="1463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ignition deploy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9601200" y="2395728"/>
            <a:ext cx="201168" cy="914"/>
          </a:xfrm>
          <a:prstGeom prst="line">
            <a:avLst/>
          </a:prstGeom>
          <a:noFill/>
          <a:ln w="19050">
            <a:solidFill>
              <a:srgbClr val="0F0F11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9802368" y="1920240"/>
            <a:ext cx="1645920" cy="960120"/>
          </a:xfrm>
          <a:prstGeom prst="rect">
            <a:avLst/>
          </a:prstGeom>
          <a:solidFill>
            <a:srgbClr val="FAF9FB"/>
          </a:solidFill>
          <a:ln w="22225">
            <a:solidFill>
              <a:srgbClr val="0F0F1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893808" y="20116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9893808" y="2322576"/>
            <a:ext cx="1463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--verify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084064" y="2971800"/>
            <a:ext cx="914" cy="457200"/>
          </a:xfrm>
          <a:prstGeom prst="line">
            <a:avLst/>
          </a:prstGeom>
          <a:noFill/>
          <a:ln w="25400">
            <a:solidFill>
              <a:srgbClr val="F07F06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3712464" y="3429000"/>
            <a:ext cx="274320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803904" y="34290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¿FALLA? VOLVER A ESCRIBIR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66928" y="4251960"/>
            <a:ext cx="5391760" cy="187452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841248" y="44348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TODO EN LA RED LOCAL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841248" y="4818888"/>
            <a:ext cx="484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Escribir, compilar, probar y medir cobertura no gasta ETH ni necesita internet. Se repite cien veces al día.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6233008" y="4251960"/>
            <a:ext cx="5391760" cy="1874520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6507328" y="443484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SOLO AL FINAL, LA RED PÚBLICA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6507328" y="4818888"/>
            <a:ext cx="484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Desplegar y verificar se hace una vez, cuando la suite está verde y la cobertura es suficiente.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A.3 · LA FORMA DE UN PROYECTO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ESTRUCTURA Y CONFIGURACIÓN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212080" cy="36576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4809744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laboratorios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contratos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pruebas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ignition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ó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despliega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parametros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é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utilidades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versiones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EXACTAS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gitignore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NUNCA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1737360"/>
            <a:ext cx="5571439" cy="36576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54496" y="1810512"/>
            <a:ext cx="51691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HARDHAT.CONFIG.JS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254496" y="2121408"/>
            <a:ext cx="5169103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toolbox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solidity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"0.8.28"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optimizer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enabled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configVariable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"SEPOLIA_RPC_URL"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configVariable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"SEPOLIA_PRIVATE_KEY"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66928" y="5577840"/>
            <a:ext cx="1105783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configVariable no contiene el secreto: le dice a Hardhat que lo busque en el almacén cifrado solo cuando se use esa red. Las pruebas locales nunca lo piden.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A.4 · LA RED LOCAL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UNA CADENA COMPLETA EN SU COMPUTADOR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002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CARACTERÍSTICA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QUÉ PERMITE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50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 cuentas con 10 000 ETH de prueba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Simular a Ana, Beto, el dueño y un atacante sin pedir fondos a nadie.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0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Minado instantáneo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transacción queda en un bloque al momento: las pruebas corren en milisegundos.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50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Control del reloj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time.increase(7 días) prueba plazos sin esperar una semana.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0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Instantáneas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Guardar el estado y volver a él: la base de los fixtures.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50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Mensajes de error completos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Muestra qué error personalizado revirtió y con qué argumentos.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01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 reinicia sola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ejecución de pruebas arranca de una cadena limpia.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64845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5422392"/>
            <a:ext cx="11057839" cy="841248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641848"/>
            <a:ext cx="237744" cy="23774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33856" y="5614416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 CUENTAS DE LA RED LOCAL SON PÚBLICAS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804672" y="5934456"/>
            <a:ext cx="10582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 claves privadas están impresas en la documentación. Nunca se usan en una red real.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A.5 · DEPENDENCIAS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5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VERSIONES EXACTAS, O SORPRESAS A MITAD DE SEMESTRE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669280" cy="25146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10512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68096" y="2121408"/>
            <a:ext cx="5266944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"devDependencies"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"hardhat"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"3.16.0"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"@nomicfoundation/hardhat-toolbox-mocha-ethers"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"3.0.7"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"dependencies"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"@openzeppelin/contracts"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"5.6.1"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10528" y="1737360"/>
          <a:ext cx="5114239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854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ESCRITURA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INSTALA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"5.6.1"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Exactamente esa.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"^5.6.1"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Cualquier 5.x posterior.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"~5.6.1"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Cualquier 5.6.x posterior.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492240" y="1719072"/>
            <a:ext cx="5150815" cy="163677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10528" y="3474720"/>
            <a:ext cx="51142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install escribe por defecto con ^. Para un contrato, eso significa que dos personas del mismo equipo pueden compilar con bibliotecas distintas.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66928" y="4526280"/>
            <a:ext cx="11057839" cy="1600200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745736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33856" y="471830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QUÉ IMPORTA MÁS AQUÍ QUE EN UNA APLICACIÓN WEB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804672" y="5038344"/>
            <a:ext cx="10582351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código de OpenZeppelin que se compila queda dentro del contrato desplegado, para siempre. Si una versión nueva cambia un comportamiento, no hay actualización posible. Además, el paquete package-lock.json se sube al repositorio: fija incluso las dependencias de las dependencias.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A.6 · ANATOMÍA DE UNA PRUEBA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DESCRIBE, IT, EXPECT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443484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417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"chai"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"hardhat"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networkHelpers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desplegar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fixture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dueno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getSigners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deployContract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"Recaudo"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PLAZO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dueno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"Recaudo · aportar"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grupo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"rechaza un aporte de cero"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caso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networkHelpers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loadFixture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desplegar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aportar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revertedWithCustomError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"AporteCero"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comprobación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A.7 · FIXTURES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CADA PRUEBA EMPIEZA DE CERO, SIN PAGARLO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173736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280160" y="20116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PRIMERA LLAMADA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206240" y="1828800"/>
            <a:ext cx="730879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loadFixture ejecuta desplegar(): despliega el contrato y guarda una instantánea de toda la cadena.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706624"/>
            <a:ext cx="11057839" cy="841248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" y="2706624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80160" y="298094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LLAMADAS SIGUIENTES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206240" y="2798064"/>
            <a:ext cx="730879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vuelve a desplegar: restaura la instantánea. Milisegundos en lugar de segundos.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675888"/>
            <a:ext cx="11057839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4944" y="3675888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80160" y="395020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AISLAMIENTO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206240" y="3767328"/>
            <a:ext cx="730879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una prueba cambió —aportes, tiempo adelantado— no existe para la siguiente.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66928" y="4754880"/>
            <a:ext cx="11057839" cy="137160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974336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133856" y="494690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ERROR CLÁSICO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804672" y="5266944"/>
            <a:ext cx="1058235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Desplegar en un beforeAll compartido y dejar que las pruebas se afecten entre sí. La suite pasa en un orden y falla en otro, y nadie entiende por qué. Con fixtures ese problema no puede ocurrir.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A.8 · QUÉ PROBAR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LAS CINCO FAMILIAS DE PRUEBAS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89120"/>
                <a:gridCol w="465703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FAMILIA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PREGUNTA QUE RESPONDE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EJEMPLO EN RECAUDO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6144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Caso feliz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¿Hace lo que promete cuando todo va bien?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aporte suma al aportante y al total.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44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Reversión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¿Se niega a lo que no debe hacer?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Aportar después del plazo revierte con PlazoVencido.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144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Permisos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¿Solo quien debe puede hacerlo?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el dueño reclama los fondos.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44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Eventos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¿Le cuenta al mundo lo que pasó, con los datos correctos?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Aporte con aportante, monto y total.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6144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Bordes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¿Qué pasa exactamente en el límite?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Aportar en el segundo exacto del cierre. Meta exacta.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41985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5257800"/>
            <a:ext cx="11057839" cy="914400"/>
          </a:xfrm>
          <a:prstGeom prst="rect">
            <a:avLst/>
          </a:prstGeom>
          <a:solidFill>
            <a:srgbClr val="FFFFFF"/>
          </a:solidFill>
          <a:ln w="349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950976" y="5440680"/>
            <a:ext cx="1028974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Las cuatro primeras dan cobertura. La quinta es la que atrapa los errores.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A.9 · LAS COMPROBACIONES QUE MÁS SE USAN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MATCHERS DE HARDHAT PARA CHAI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34290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3172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revierte con un error personalizado, y con qué argumentos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tx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revertedWithCustomError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"PujaInsuficiente"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withArgs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enviado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emite un evento con argumentos exactos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tx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"Aporte"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withArgs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cambia el saldo de ETH de una o varias cuentas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tx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changeEtherBalance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tx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changeEtherBalances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sin permiso, con el error de OpenZeppelin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tx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revertedWithCustomError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"OwnableUnauthorizedAccount"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11057839" cy="841248"/>
          </a:xfrm>
          <a:prstGeom prst="rect">
            <a:avLst/>
          </a:prstGeom>
          <a:solidFill>
            <a:srgbClr val="FFFFFF"/>
          </a:solidFill>
          <a:ln w="22225">
            <a:solidFill>
              <a:srgbClr val="7152E9"/>
            </a:solidFill>
            <a:prstDash val="solid"/>
          </a:ln>
          <a:effectLst>
            <a:outerShdw sx="100000" sy="100000" kx="0" ky="0" algn="bl" rotWithShape="0" blurRad="101600" dist="63500" dir="2700000">
              <a:srgbClr val="7152E9">
                <a:alpha val="10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56869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554126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63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CHANGEETHERBALANCE YA DESCUENTA EL GAS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804672" y="5861304"/>
            <a:ext cx="10582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eso compara el monto exacto, sin tener que restar lo que costó la transacción.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A.10 · SIMULAR EL MUNDO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OTRAS CUENTAS Y OTRO MOMENTO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301752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dueno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atacante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getSigners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aportar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Ana firma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increase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pasa una semana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increaseTo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exactamente al cierre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setNextBlockTimestamp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el PRÓXIMO bloque cae en fin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atacante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reclamarFondos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alguien sin permiso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revertedWithCustomError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"OwnableUnauthorizedAccount"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937760"/>
            <a:ext cx="11057839" cy="118872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15721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512978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DIFERENCIA SUTIL QUE ATRAPA UN MUTANTE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804672" y="5449824"/>
            <a:ext cx="10582351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increaseTo(fin) mina un bloque en fin y la SIGUIENTE transacción ya cae en fin + 1. Para probar qué pasa exactamente en fin se usa setNextBlockTimestamp(fin).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A.11 · COBERTURA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MIDE, Y QUÉ NO MIDE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4572000" cy="566928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coverage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514600"/>
            <a:ext cx="5391760" cy="2423160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41248" y="269748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MIDE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41248" y="3081528"/>
            <a:ext cx="4843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líneas del contrato ejecutó alguna prueba.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ramas quedaron sin recorrer: el informe marca las líneas.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Útil para encontrar funciones o reversiones que nadie probó.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233008" y="2514600"/>
            <a:ext cx="5391760" cy="2423160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507328" y="269748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NO MIDE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507328" y="3081528"/>
            <a:ext cx="4843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la prueba comprobó el resultado. Una prueba sin expect da cobertura.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se probó el valor exacto del borde.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contrato hace lo que el negocio necesita.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166360"/>
            <a:ext cx="11057839" cy="960120"/>
          </a:xfrm>
          <a:prstGeom prst="rect">
            <a:avLst/>
          </a:prstGeom>
          <a:solidFill>
            <a:srgbClr val="FFFFFF"/>
          </a:solidFill>
          <a:ln w="349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950976" y="5349240"/>
            <a:ext cx="1028974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cobertura dice dónde NO hay pruebas. No dice que las que hay sirvan.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A.12 · EL EXPERIMENTO DE HOY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88 % DE COBERTURA Y TRES ERRORES VIVOS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Preparando este laboratorio escribimos una suite de referencia para el contrato Recaudo, y tres copias del contrato con un error cada una. Después quitamos solo las pruebas de borde.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743200"/>
            <a:ext cx="2560320" cy="150876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9808" y="2907792"/>
            <a:ext cx="2194560" cy="694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49808" y="3618281"/>
            <a:ext cx="2194560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en verde contra el contrato correcto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10128" y="2743200"/>
            <a:ext cx="2743200" cy="150876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493008" y="2907792"/>
            <a:ext cx="2377440" cy="694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7152E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88 %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3493008" y="3618281"/>
            <a:ext cx="2377440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cobertura de líneas: cumple el requisito del curso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36208" y="2743200"/>
            <a:ext cx="2651760" cy="150876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419088" y="2907792"/>
            <a:ext cx="2286000" cy="694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B326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 / 13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6419088" y="3618281"/>
            <a:ext cx="2286000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siguen en verde contra CADA mutante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070848" y="2743200"/>
            <a:ext cx="2553919" cy="1508760"/>
          </a:xfrm>
          <a:prstGeom prst="rect">
            <a:avLst/>
          </a:prstGeom>
          <a:solidFill>
            <a:srgbClr val="FFFFFF"/>
          </a:solidFill>
          <a:ln w="222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253728" y="2907792"/>
            <a:ext cx="2188159" cy="694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B326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9253728" y="3618281"/>
            <a:ext cx="2188159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errores reales que la suite no ve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526280"/>
          <a:ext cx="11057839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3566160"/>
                <a:gridCol w="401695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SUITE SIN BORDES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SUITE CON 3 PRUEBAS DE BORDE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Contra el contrato correcto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pasan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pasan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Contra cada mutante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pasan · VIVO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pasan, 1 falla · MUERTO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22" name="Shape 18"/>
          <p:cNvSpPr/>
          <p:nvPr/>
        </p:nvSpPr>
        <p:spPr>
          <a:xfrm>
            <a:off x="548640" y="4507992"/>
            <a:ext cx="11094415" cy="122529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66928" y="583387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Cifras medidas con npx hardhat test --coverage y el script scripts/s08/cazar-mutantes.js.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A.13 · PRUEBAS DE BORDE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1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DÓNDE VIVEN LOS ERRORES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480560"/>
                <a:gridCol w="474847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BORDE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PREGUNTA QUE HAY QUE HACERLE AL CONTRATO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POR QUÉ AHÍ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7242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Tiempo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¿Qué pasa un segundo antes, en el segundo exacto y un segundo después de cada plazo?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comparación mal escrita deja entrar o salir justo en el límite, y ninguna prueba «normal» llega a ese instante.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42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Umbral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¿Qué pasa con el valor exacto de cada límite: ni un wei más, ni uno menos?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casos cómodos siempre quedan lejos del límite: por eso nadie los prueba.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7242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Repetición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¿Qué pasa si la misma cuenta llama dos veces seguidas?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efecto que debería ocurrir una vez puede repetirse si el estado no cambió.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42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Cero y vacío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¿Qué pasa con 0, con la dirección cero, con un texto vacío?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 valores válidos para la EVM y absurdos para el negocio.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7242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Quién llama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¿Qué pasa si llama otra cuenta, o un contrato?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Basta una función sin su modificador.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96849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5806440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cada función del contrato, recorrer las cinco filas. Así se encuentran los errores que la cobertura no ve.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A.14 · GAS EN LAS PRUEBAS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CUÁNTO CUESTA CADA FUNCIÓN, DE UN VISTAZO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301752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s06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CertificadosUSB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s06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CertificadosUSB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CertificadosUSB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Average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calls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emitir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795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795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795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revocar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208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288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448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075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227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379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cambiarEmisor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636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636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636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Deployment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554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715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Bytecode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206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66928" y="4937760"/>
            <a:ext cx="1105783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emitir es la más cara: estrena varias ranuras de storage (Sesión 5).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aparece con gas porque las pruebas la llaman en transacción; desde una aplicación es gratis.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un cambio de código hace subir mucho una cifra, es una señal para revisar antes de desplegar.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A.15 · DESPLEGAR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IGNITION: DESPLIEGUES QUE SE PUEDEN REPETIR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6675120" cy="27432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10512"/>
            <a:ext cx="6272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IGNITION/MODULES/RECAUDO.JS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68096" y="2121408"/>
            <a:ext cx="6272784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buildModule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"@nomicfoundation/hardhat-ignition/modules"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buildModule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"RecaudoModulo"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getParameter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"meta"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duracion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getParameter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"duracionSegundos"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604800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recaudo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"Recaudo"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duracion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recaudo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516368" y="1737360"/>
            <a:ext cx="4108399" cy="27432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17536" y="1810512"/>
            <a:ext cx="3706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8B86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PARAMETROS/RECAUDO-SEPOLIA.JSON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717536" y="2121408"/>
            <a:ext cx="3706063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"RecaudoModulo"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"meta"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"5000000000000000"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"duracionSegundos"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1800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4663440"/>
            <a:ext cx="11057839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QUÉ se despliega, no los pasos: Ignition decide el orden.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Anota cada despliegue en ignition/deployments/: si se cae la red a mitad, retoma sin desplegar dos veces.</a:t>
            </a:r>
            <a:endParaRPr lang="en-US" sz="130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módulo sirve para la red local y para Sepolia; cambian solo los parámetros.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A.16 · SECRETOS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7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CLAVE PRIVADA NUNCA TOCA EL REPOSITORIO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09728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keystore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SEPOLIA_RPC_URL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keystore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SEPOLIA_PRIVATE_KEY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keystore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ETHERSCAN_API_KEY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017520"/>
            <a:ext cx="5391760" cy="2258568"/>
          </a:xfrm>
          <a:prstGeom prst="rect">
            <a:avLst/>
          </a:prstGeom>
          <a:solidFill>
            <a:srgbClr val="FFFFFF"/>
          </a:solidFill>
          <a:ln w="222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41248" y="320040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A356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HACE EL ALMACÉN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41248" y="3584448"/>
            <a:ext cx="484312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los valores cifrados, con una contraseña que se pide al usarlos.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Vive fuera de la carpeta del proyecto.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configVariable los busca solo cuando una tarea los necesita.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33008" y="3017520"/>
            <a:ext cx="5391760" cy="2258568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507328" y="3200400"/>
            <a:ext cx="484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PASA SI UNA CLAVE SE SUBE A GITHUB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507328" y="3584448"/>
            <a:ext cx="484312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 programas que recorren los repositorios públicos buscando claves.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clave con fondos se vacía en minutos, según múltiples reportes.</a:t>
            </a:r>
            <a:endParaRPr lang="en-US" sz="1200" dirty="0"/>
          </a:p>
          <a:p>
            <a:pPr marL="203200" indent="-203200">
              <a:lnSpc>
                <a:spcPct val="118000"/>
              </a:lnSpc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Borrar el archivo no basta: queda en el historial de Git.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358384"/>
            <a:ext cx="11057839" cy="841248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577840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133856" y="5550408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 OCURRE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804672" y="5870448"/>
            <a:ext cx="10582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clave se da por perdida: se mueven los fondos a una billetera nueva y no se vuelve a usar.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A.17 · VERIFICAR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PUBLICAR EL CÓDIGO FUENTE DEL CONTRATO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3716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ignition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ignition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Recaudo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parameters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ignition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parametros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recaudo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11057839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4944" y="32918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80160" y="355701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HACE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566160" y="3383280"/>
            <a:ext cx="79488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Envía al explorador el código, la versión del compilador y la configuración. El explorador recompila y compara con el bytecode desplegado.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24528"/>
            <a:ext cx="11057839" cy="822960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4944" y="422452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80160" y="448970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 COINCIDE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566160" y="4315968"/>
            <a:ext cx="79488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Aparece la marca de verificación, el código legible y las pestañas para leer y escribir el contrato.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" y="5157216"/>
            <a:ext cx="11057839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4944" y="5157216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80160" y="5422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3566160" y="5248656"/>
            <a:ext cx="79488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contrato sin verificar pide confianza ciega: nadie puede saber qué hace sin descompilarlo.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66928" y="583387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rúbrica del proyecto: un contrato no verificado cae a «insuficiente» en pruebas y despliegue.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A.18 · LO QUE HAY QUE LLEVARSE DEL BLOQUE 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SEIS REGLAS DEL FLUJO PROFESIONAL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17373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44168" y="181051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se prueba en local, cien veces. A la red pública se va una vez.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66928" y="241401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246888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344168" y="254203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prueba empieza de un estado limpio: fixtures, nunca estado compartido.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66928" y="314553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320040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44168" y="327355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prueba sin expect da cobertura y no prueba nada.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566928" y="387705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393192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344168" y="400507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errores viven en los bordes: segundo exacto, monto exacto, segunda llamada.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460857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466344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44168" y="473659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Versiones exactas y package-lock.json en el repositorio.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566928" y="534009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53949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344168" y="5468112"/>
            <a:ext cx="10280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secreto en el código. Ningún contrato sin verificar.</a:t>
            </a:r>
            <a:endParaRPr lang="en-US" sz="1450" dirty="0"/>
          </a:p>
        </p:txBody>
      </p:sp>
      <p:sp>
        <p:nvSpPr>
          <p:cNvPr id="25" name="Shape 22"/>
          <p:cNvSpPr/>
          <p:nvPr/>
        </p:nvSpPr>
        <p:spPr>
          <a:xfrm>
            <a:off x="566928" y="6071616"/>
            <a:ext cx="11057839" cy="914"/>
          </a:xfrm>
          <a:prstGeom prst="line">
            <a:avLst/>
          </a:prstGeom>
          <a:noFill/>
          <a:ln w="12700">
            <a:solidFill>
              <a:srgbClr val="D9D6E0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90 MINUTOS · EN PAREJAS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LABORATORIO 08 · CAZAR MUTANTES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Escribir la suite de un contrato que no trae pruebas, alcanzar la cobertura, matar tres mutantes y desplegar con Ignition.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B.1 · 10 MINUTOS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1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PREPARAR EL ENTORNO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60020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hizo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S5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s06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CertificadosUSB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debe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andamiaje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s08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Recaudo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s08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Recaudo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s08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Recaudo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ejemplos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520440"/>
            <a:ext cx="11057839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4944" y="3520440"/>
            <a:ext cx="548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80160" y="37581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LEER EL CONTRATO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023360" y="3611880"/>
            <a:ext cx="749167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contracts/s08/Recaudo.sol. Entender las tres funciones y los dos finales posibles: exitoso o fallido.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398264"/>
            <a:ext cx="11057839" cy="768096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4944" y="4398264"/>
            <a:ext cx="548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80160" y="463600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LEER LOS MUTANTES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023360" y="4489704"/>
            <a:ext cx="749167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ejercicio es pensar en los bordes. Leer la diferencia antes lo convierte en copiar.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" y="5276088"/>
            <a:ext cx="11057839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4944" y="5276088"/>
            <a:ext cx="548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80160" y="551383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LEER LA PLANTILLA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023360" y="5367528"/>
            <a:ext cx="749167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Tiene los grupos armados y un TODO por cada caso que falta.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66928" y="5870448"/>
            <a:ext cx="110578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F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PowerShell, cp funciona igual. En cmd: copy andamiaje\s08\Recaudo.test.js test\s08\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B.2 · 40 MINUTOS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ESCRIBIR LA SUITE Y MEDIR COBERTURA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194560"/>
                <a:gridCol w="630295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GRUPO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MÍNIMO DE PRUEBAS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 OLVIDAR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709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despliegue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Parámetros inválidos en el constructor.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aportar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con argumentos. Después del plazo.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709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recaudo exitoso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Permisos. Doble reclamo. Saldo que recibe el dueño.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recaudo fallido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quien lo suyo. Quien no aportó. El dueño no se lleva nada.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223113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66928" y="4114800"/>
            <a:ext cx="11057839" cy="566928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4261104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hardhat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s08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Recaudo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coverage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66928" y="4892040"/>
            <a:ext cx="11057839" cy="1234440"/>
          </a:xfrm>
          <a:prstGeom prst="rect">
            <a:avLst/>
          </a:prstGeom>
          <a:solidFill>
            <a:srgbClr val="FFFFFF"/>
          </a:solidFill>
          <a:ln w="34925">
            <a:solidFill>
              <a:srgbClr val="0F0F11"/>
            </a:solidFill>
            <a:prstDash val="solid"/>
          </a:ln>
          <a:effectLst>
            <a:outerShdw sx="100000" sy="100000" kx="0" ky="0" algn="bl" rotWithShape="0" blurRad="101600" dist="63500" dir="2700000">
              <a:srgbClr val="0F0F11">
                <a:alpha val="10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111496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508406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 DE ESTA PARTE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804672" y="5404104"/>
            <a:ext cx="10582351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menos 10 pruebas en verde y 80 % o más de cobertura de líneas en Recaudo.sol. Leer las líneas no cubiertas del informe: cada una es una prueba que falta.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B.3 · 25 MINUTOS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CAZAR LOS TRES MUTANTES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2651760"/>
          </a:xfrm>
          <a:prstGeom prst="rect">
            <a:avLst/>
          </a:prstGeom>
          <a:solidFill>
            <a:srgbClr val="16151B"/>
          </a:solidFill>
          <a:ln w="22225">
            <a:solidFill>
              <a:srgbClr val="16151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83664"/>
            <a:ext cx="10655503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s08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cazar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mutantes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✔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Recaudo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correcto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pruebas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✔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MUERTO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RecaudoMutante1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pasan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fallan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VIVO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RecaudoMutante2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pasan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fallan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VIVO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RecaudoMutante3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pasan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fallan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A4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mutante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sobrevive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Hay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suite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piensen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572000"/>
            <a:ext cx="11057839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4944" y="457200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80160" y="47914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MIENTRAS HAYA VIVOS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297680" y="4663440"/>
            <a:ext cx="72173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Volver a la tabla de bordes de A.13 y escribir la prueba que falta. No abrir el mutante.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5413248"/>
            <a:ext cx="11057839" cy="731520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4944" y="5413248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80160" y="563270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CUANDO MUERAN LOS TRES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297680" y="5504688"/>
            <a:ext cx="72173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 sí: abrir cada mutante, encontrar el error y anotar en el informe qué prueba lo mató y por qué.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B.4 · 15 MINUTOS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DESPLEGAR Y VERIFICAR CON IGNITION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173736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280160" y="20116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PROBAR EN LOCAL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657600" y="1828800"/>
            <a:ext cx="785743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npx hardhat ignition deploy ignition/modules/Recaudo.js — tiene que funcionar antes de ir a Sepolia.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2688336"/>
            <a:ext cx="11057839" cy="841248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" y="2688336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80160" y="296265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GUARDAR SECRETOS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0" y="2779776"/>
            <a:ext cx="785743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keystore set de SEPOLIA_RPC_URL, SEPOLIA_PRIVATE_KEY (billetera del curso) y ETHERSCAN_API_KEY.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639312"/>
            <a:ext cx="11057839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4944" y="3639312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80160" y="39136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DESPLEGAR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657600" y="3730752"/>
            <a:ext cx="785743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comando con --network sepolia, --parameters y --verify.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11057839" cy="841248"/>
          </a:xfrm>
          <a:prstGeom prst="rect">
            <a:avLst/>
          </a:prstGeom>
          <a:solidFill>
            <a:srgbClr val="FAF9FB"/>
          </a:solidFill>
          <a:ln w="15875">
            <a:solidFill>
              <a:srgbClr val="D9D6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4944" y="4590288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F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280160" y="486460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3657600" y="4681728"/>
            <a:ext cx="785743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Aportar desde la billetera en el explorador (Write Contract). Con meta de 0,005 ETH y 30 minutos, se puede completar en clase.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66928" y="5394960"/>
            <a:ext cx="11057839" cy="786384"/>
          </a:xfrm>
          <a:prstGeom prst="rect">
            <a:avLst/>
          </a:prstGeom>
          <a:solidFill>
            <a:srgbClr val="FFFFFF"/>
          </a:solidFill>
          <a:ln w="22225">
            <a:solidFill>
              <a:srgbClr val="B3261E"/>
            </a:solidFill>
            <a:prstDash val="solid"/>
          </a:ln>
          <a:effectLst>
            <a:outerShdw sx="100000" sy="100000" kx="0" ky="0" algn="bl" rotWithShape="0" blurRad="101600" dist="63500" dir="2700000">
              <a:srgbClr val="B3261E">
                <a:alpha val="100000"/>
              </a:srgbClr>
            </a:outerShdw>
          </a:effectLst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5614416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133856" y="5586984"/>
            <a:ext cx="102348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 DEL GIT PUSH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804672" y="5907024"/>
            <a:ext cx="105823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status: ni claves, ni .env, ni URLs con API key. Solo la carpeta de despliegue de Sepolia.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B.5 · QUÉ SE ENTREGA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EVIDENCIA DEL LABORATORIO 08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583119"/>
                <a:gridCol w="14630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EVIDENCIA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DETALLE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PESO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Suite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test/s08/Recaudo.test.js con ≥ 10 pruebas en verde.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Cobertura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Captura del informe con ≥ 80 % de líneas en Recaudo.sol.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Mutantes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Salida de cazar-mutantes.js con los tres muertos, y para cada uno: qué prueba lo mató y cuál era el error.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Despliegue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Dirección en Sepolia verificada, desplegada con Ignition.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268833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572000"/>
          <a:ext cx="11057839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3447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 PASA ESTO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REVISAR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El script dice «No se encontraron pruebas»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suite no está en test/s08/Recaudo.test.js.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Contra el correcto falla una prueba de borde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increaseTo en lugar de setNextBlockTimestamp (A.10).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--verify falla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ETHERSCAN_API_KEY sin guardar, o esperar un minuto y volver a correr: Ignition retoma.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553712"/>
            <a:ext cx="11094415" cy="163677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solidFill>
            <a:srgbClr val="F07F06"/>
          </a:solidFill>
          <a:ln w="12700">
            <a:solidFill>
              <a:srgbClr val="F07F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224028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228600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069080" y="22585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APROXIMADAMENTE 30 MINUTOS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11880" y="2724912"/>
            <a:ext cx="7955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PROYECTO, EN HARDHAT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3611880" y="4133088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 hoy el repositorio del equipo tiene la misma forma que el del curso. El Avance 1 se entrega en la Sesión 13.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E6A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C.1 · EL REPOSITORIO DEL EQUIPO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6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TIENE QUE EXISTIR ANTES DE LA SESIÓN 9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57839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31759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PIEZA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1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ESTADO MÍNIMO ESPERADO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11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Repositorio en GitHub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tres integrantes con permisos. El docente como colaborador.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Estructura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de A.3. Versiones exactas. package-lock.json incluido.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Contrato principal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Compila. Aplica al menos dos patrones de la Sesión 7.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Suite inicial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 menos 5 pruebas, con al menos una de cada familia de A.8.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.gitignore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node_modules, artifacts, cache, coverage y cualquier archivo con secretos.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0F1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README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8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hace el proyecto, cómo instalarlo y cómo correr las pruebas, en cinco líneas.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76200" marB="76200" anchor="t">
                    <a:lnL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9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1719072"/>
            <a:ext cx="11094415" cy="3785616"/>
          </a:xfrm>
          <a:prstGeom prst="rect">
            <a:avLst/>
          </a:prstGeom>
          <a:ln w="22225">
            <a:solidFill>
              <a:srgbClr val="0F0F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562356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dirty="0">
                <a:solidFill>
                  <a:srgbClr val="A356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Avance 1 (Sesión 13): contratos desplegados y verificados, cobertura ≥ 80 %, repositorio documentado. Y desde hoy, se espera que maten a sus propios mutantes.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2336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84048"/>
            <a:ext cx="106555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TRABAJO AUTÓNOMO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566928" y="777240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29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PREGUNTA DE LA SEMANA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6291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08 · HARDHAT, PRUEBAS Y DESPLIEGUE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905256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 MEDELLÍN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018520" y="6291072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0F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11057839" cy="1600200"/>
          </a:xfrm>
          <a:prstGeom prst="rect">
            <a:avLst/>
          </a:prstGeom>
          <a:solidFill>
            <a:srgbClr val="FFFFFF"/>
          </a:solidFill>
          <a:ln w="34925">
            <a:solidFill>
              <a:srgbClr val="F07F06"/>
            </a:solidFill>
            <a:prstDash val="solid"/>
          </a:ln>
          <a:effectLst>
            <a:outerShdw sx="100000" sy="100000" kx="0" ky="0" algn="bl" rotWithShape="0" blurRad="101600" dist="63500" dir="2700000">
              <a:srgbClr val="F07F06">
                <a:alpha val="10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50976" y="1920240"/>
            <a:ext cx="10289743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0F0F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 una suite con 88 % de cobertura dejó pasar tres errores, ¿qué número o qué evidencia le pedirían a un proveedor para creerle que su contrato está bien probado?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66928" y="36118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6F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LA PRÓXIMA SESIÓN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977640"/>
            <a:ext cx="1105783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Entregar la evidencia del laboratorio 08.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el repositorio del proyecto con la estructura de C.1.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cuenta en ethernaut.openzeppelin.com y resolver el nivel 0 (Hello Ethernaut): la Sesión 9 empieza desde el nivel 1.</a:t>
            </a:r>
            <a:endParaRPr lang="en-US" sz="1350" dirty="0"/>
          </a:p>
          <a:p>
            <a:pPr marL="203200" indent="-203200">
              <a:lnSpc>
                <a:spcPct val="118000"/>
              </a:lnSpc>
              <a:spcAft>
                <a:spcPts val="600"/>
              </a:spcAft>
              <a:buSzPct val="100000"/>
              <a:buChar char="■"/>
            </a:pPr>
            <a:r>
              <a:rPr lang="en-US" sz="1350" dirty="0">
                <a:solidFill>
                  <a:srgbClr val="3A38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no haya trabajado con React: el tutorial de nivelación se entrega la próxima sesión.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0F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07F0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344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1874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8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 QUE SE LLEVAN DE HOY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566928" y="2377440"/>
            <a:ext cx="11057839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Una prueba verde no demuestra nada si también estaría verde con el error.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66928" y="4343400"/>
            <a:ext cx="99605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B9B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escribieron pruebas y las pusieron a prueba. La próxima sesión cambian de lado: van a atacar contratos ajenos para aprender a defender los propios.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66928" y="5349240"/>
            <a:ext cx="11057839" cy="685800"/>
          </a:xfrm>
          <a:prstGeom prst="rect">
            <a:avLst/>
          </a:prstGeom>
          <a:solidFill>
            <a:srgbClr val="1C1B21"/>
          </a:solidFill>
          <a:ln w="12700">
            <a:solidFill>
              <a:srgbClr val="3432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5349240"/>
            <a:ext cx="1050919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F07F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SESIÓN 9 · SEGURIDAD DE CONTRATOS · ETHERNAUT · PARCIAL PRÁCTICO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08 · Hardhat, pruebas y despliegue</dc:title>
  <dc:subject>Sesión 08 · Hardhat, pruebas y despliegue</dc:subject>
  <dc:creator>Universidad de San Buenaventura Medellín</dc:creator>
  <cp:lastModifiedBy>Universidad de San Buenaventura Medellín</cp:lastModifiedBy>
  <cp:revision>1</cp:revision>
  <dcterms:created xsi:type="dcterms:W3CDTF">2026-09-13T17:35:28Z</dcterms:created>
  <dcterms:modified xsi:type="dcterms:W3CDTF">2026-09-13T17:35:28Z</dcterms:modified>
</cp:coreProperties>
</file>