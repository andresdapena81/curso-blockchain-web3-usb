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Casi cada patrón de hoy tiene un incidente real detrás. Contarlos: es lo que hace que se recuerden.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ranura keccak256(clave, posicion) es Keccak de la Sesión 2 otra vez: la ubicación de cada dato del mapping se calcula con un hash.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Mencionar que se hereda de OpenZeppelin en lugar de escribir Ownable a mano: código auditado y usado por miles de contratos. La Sesión 9 vuelve sobre 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actualización es Istanbul (EIP-1884). ConsenSys publicó en 2019 'Stop Using Solidity's transfer() Now'.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PostorHostil del laboratorio usa receive() para revertir: rechaza cualquier pago que le envíen.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pruebas marcadas con ★ en test/s07 lo demuestran contra las dos versiones. Correrlas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es la reentrada: el robo de The DAO en 2016. La Sesión 9 la explota en vivo. Hoy basta con que el orden se vuelva un hábito.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importante no vender el patrón de retiro como 'más eficiente': no lo es. Es más seguro, y eso se paga.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3172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" y="37947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PATRONES</a:t>
            </a:r>
            <a:endParaRPr lang="en-US" sz="27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115568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809744" y="109728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UNIDAD II · ETHEREUM Y CONTRATOS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389120" y="1719072"/>
            <a:ext cx="7269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SOLIDITY II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DATOS Y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PATRONES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389120" y="4224528"/>
            <a:ext cx="7269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patrones de diseño de Solidity no son elegancia: son cicatrices de dinero que se perdió.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389120" y="5120640"/>
            <a:ext cx="7269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Blockchain y Web 3.0 · Ingeniería de Sistemas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de San Buenaventura Medellín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DE HOY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VAMOS A USAR LAS TRES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el contrato maneja dinero ajeno. Todo lo que se aprende gira alrededor de una pregunta: ¿qué pasa si alguien no juega limpio?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11057839" cy="1024128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928" y="2468880"/>
            <a:ext cx="777240" cy="1024128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68880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572768" y="259689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ESTRUCTURAS Y PATRONES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572768" y="2926080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mapping, arreglos, herencia, manejo de ether, retiro, CEI, pausa y gas.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704527" y="2468880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~70 min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75888"/>
            <a:ext cx="11057839" cy="1024128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6928" y="3675888"/>
            <a:ext cx="777240" cy="1024128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675888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572768" y="380390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LABORATORIO 07 · SUBASTA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572768" y="4133088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 una subasta segura y demostrar el ataque del postor hostil.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9704527" y="3675888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~80 min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4882896"/>
            <a:ext cx="11057839" cy="1024128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6928" y="4882896"/>
            <a:ext cx="777240" cy="1024128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882896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1572768" y="501091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DEVOLUCIÓN DEL ANTEPROYECTO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572768" y="5340096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Aprobados, recortes y primeros pasos del proyecto.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9704527" y="4882896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min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PROPÓSITO DE LA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 SALIR DE AQUÍ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18872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Manejar estructuras compuestas y aplicar patrones seguros de manejo de fondos.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3154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PREGUNTAS QUE LA SESIÓN RESPONDE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566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25296" y="3630168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no se puede recorrer un mapping, y qué se hace en su lugar?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66928" y="4133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25296" y="4197096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se envía ether sin abrirle la puerta a un atacante?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47000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25296" y="4764024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un contrato no debería enviar dinero por iniciativa propia?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66928" y="52669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25296" y="5330952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 cuesta la seguridad, medido en gas?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6016752"/>
            <a:ext cx="10728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RA3 · patrones y estándares  ·  RA5 · base de la seguridad (complementario)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VOCABULARIO DE LA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SIGLAS Y TÉRMINOS DE HOY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1737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898648" y="1810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 clave → valor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22960" y="2121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clave existe y devuelve cero si nunca se escribió. No se puede recorrer.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05576" y="1737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05576" y="1737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61608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· ENUM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537296" y="1810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compuestos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61608" y="2121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 agrupa campos con nombre; enum define un conjunto cerrado de estados.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2880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" y="2880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898648" y="2953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interfaz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22960" y="3264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 funciones sin implementarlas. Permite llamar a contratos que no se conocen.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05576" y="2880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05576" y="2880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61608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537296" y="2953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biblioteca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61608" y="3264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Funciones reutilizables sin estado propio. Con using for se usan como métodos.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4023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" y="4023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22960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 · FALLBACK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898648" y="4096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funciones especiales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2960" y="4407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ejecuta un contrato al recibir ether sin datos, o una llamada que no reconoce.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205576" y="4023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05576" y="4023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616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CEI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8537296" y="4096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Checks-Effects-Interactions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6461608" y="4407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 obligatorio: validar, cambiar el estado propio, y solo al final llamar hacia fuera.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66928" y="5166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66928" y="5166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229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PULL OVER PUSH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2898648" y="5239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patrón de retiro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22960" y="5550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contrato acredita saldos y cada quien retira lo suyo, en lugar de enviar pagos.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205576" y="5166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205576" y="5166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61608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BPS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537296" y="5239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 points · puntos básicos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6461608" y="5550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bps = 100 %. La forma de expresar porcentajes sin punto flotante.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70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ESTRUCTURAS Y PATRONES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mitad de la sesión es sobre datos. La otra mitad es sobre lo que pasa cuando esos datos son dinero y del otro lado hay un adversario.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 · MAPPING A FONDO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UNA TABLA DONDE TODAS LAS CLAVES EXISTEN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6002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saldos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permisos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anidado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saldos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saldos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beto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0: nunca se escribió, pero "existe"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20440"/>
          <a:ext cx="11057839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04031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PROPIEDAD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CONSECUENCIA PRÁCTICA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Toda clave devuelve un valor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distingue «nunca escrito» de «escrito con cero». Por eso el certificado de la S6 llevaba el campo existe.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Las claves no se guardan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guarda el valor en la ranura keccak256(clave, posición). No hay lista de claves que recorrer.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 tiene longitud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sabe cuántas entradas tiene ni cuáles son.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Borrar = poner en cero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 saldos[ana] no elimina la entrada: la devuelve al valor por defecto.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48640" y="3502152"/>
            <a:ext cx="11094415" cy="268833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A.2 · EL PROBLEMA DE RECORRER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5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MAPPING MÁS ARREGLO, Y EL BUCLE QUE NUNCA TERMINA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6035040" cy="256032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5632704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participo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_participantes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participo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participo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búsqueda rápida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_participantes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para listar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76288" y="1737360"/>
            <a:ext cx="474847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patrón habitual: el mapping responde «¿está?» en un paso, y el arreglo permite listar. Pero ese arreglo esconde una trampa.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876288" y="3246120"/>
            <a:ext cx="4748479" cy="54864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40880" y="3319272"/>
            <a:ext cx="4419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_participantes.length; i++) { ... }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76288" y="3886200"/>
            <a:ext cx="47484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vuelta cuesta gas. Con suficientes participantes, el bucle no cabe en un bloque y la función queda inutilizable para siempre.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572000"/>
            <a:ext cx="11057839" cy="1572768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79145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33856" y="476402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REGLA QUE NO ADMITE EXCEPCIÓN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04672" y="5084064"/>
            <a:ext cx="10582351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función que se ejecute en una transacción recorre un arreglo que un usuario pueda hacer crecer. Leer la lista desde fuera, con una llamada view, es gratis y seguro. Recorrerla dentro de una transacción es una denegación de servicio esperando a ocurrir.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A.3 · ARREGLOS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BORRAR DE UN ARREGLO SIN DEJAR HUECOS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6583680" cy="393192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6181344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dinámico: crece con push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podio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fijo: siempre 3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quita el último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delete NO lo quita: lo pone en 0 y deja un hueco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quitar el elemento i sin hueco, en un paso (el orden cambia):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424928" y="1737360"/>
            <a:ext cx="4199839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10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en un arreglo engaña: la longitud no cambia.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10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«Intercambiar con el último y quitar» cuesta lo mismo sin importar el tamaño. Desplazar todos los elementos, no.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10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orden importa, casi siempre es mejor no borrar y marcar como inactivo.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10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Arreglos fijos: más baratos y seguros cuando el tamaño se conoce de antemano.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literatura aparece como «swap and pop».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A.4 · TIPOS COMPUESTOS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1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STRUCT Y ENUM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6949440" cy="41148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6547104" cy="3858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Abierta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PorFinalizar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Puja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postor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uint96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96 + 160 bits = 256: una sola ranura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uint64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momento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otra ranura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Puja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historial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historial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Puja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uint96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uint64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90688" y="1737360"/>
            <a:ext cx="3834079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10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enum se guarda como un entero pequeño: Abierta = 0, PorFinalizar = 1…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10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Útil para máquinas de estado: prohíbe valores inválidos.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10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struct no tiene métodos: solo agrupa datos.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10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orden de los campos decide cuántas ranuras ocupa (A.15).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A.5 · EL ERROR SILENCIOSO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5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STORAGE COPIA LA REFERENCIA, MEMORY COPIA EL DATO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1760" cy="25146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BIEN · STORAGE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304288"/>
            <a:ext cx="4843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storage c = _certificados[h];</a:t>
            </a:r>
            <a:endParaRPr lang="en-US" sz="13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c.revocado = true;</a:t>
            </a:r>
            <a:endParaRPr lang="en-US" sz="1300" dirty="0"/>
          </a:p>
          <a:p>
            <a:pPr indent="0" marL="0">
              <a:lnSpc>
                <a:spcPct val="124000"/>
              </a:lnSpc>
              <a:buNone/>
            </a:pPr>
            <a:endParaRPr lang="en-US" sz="13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apunta a la ranura real. El cambio queda guardado.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33008" y="1737360"/>
            <a:ext cx="5391760" cy="251460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732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 · MEMORY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07328" y="2304288"/>
            <a:ext cx="4843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memory c = _certificados[h];</a:t>
            </a:r>
            <a:endParaRPr lang="en-US" sz="13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c.revocado = true;</a:t>
            </a:r>
            <a:endParaRPr lang="en-US" sz="1300" dirty="0"/>
          </a:p>
          <a:p>
            <a:pPr indent="0" marL="0">
              <a:lnSpc>
                <a:spcPct val="124000"/>
              </a:lnSpc>
              <a:buNone/>
            </a:pPr>
            <a:endParaRPr lang="en-US" sz="13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es una copia en memoria. El cambio se pierde al terminar la función. Y compila sin avisar.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4480560"/>
            <a:ext cx="11057839" cy="16459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7000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33856" y="467258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QUÉ ES TAN PELIGROSO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04672" y="4992624"/>
            <a:ext cx="10582351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error ni advertencia. La transacción termina bien, emite su evento y cobra su gas. Solo una prueba que vuelva a leer el estado después descubre que no cambió nada. Es exactamente la clase de error que las pruebas de la Sesión 8 existen para atrapar.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A.6 · REUTILIZAR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1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HERENCIA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27432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Ownable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"@openzeppelin/contracts/access/Ownable.sol"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Pausable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"@openzeppelin/contracts/utils/Pausable.sol"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Subasta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ISubasta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Ownable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Pausable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duracion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Ownable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pujar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payable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override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whenNotPaused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663440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PALABRA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SIGNIFICA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Hereda estado, funciones y modificadores. Varios padres, de más general a más específico.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virtual · override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padre permite que se reemplace una función; el hijo declara que la reemplaza.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Ownable(msg.sender)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argumentos del constructor del padre se pasan en la declaración del constructor hijo.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48640" y="4645152"/>
            <a:ext cx="11094415" cy="154533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A.7 · PIEZAS PARA COMPONER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ABSTRACT, INTERFACE Y LIBRARY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17520"/>
                <a:gridCol w="3017520"/>
                <a:gridCol w="29196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ABSTRACT CONTRACT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INTERFACE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LIBRARY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41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contrato con funciones sin implementar.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firmas de funciones y eventos.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Funciones reutilizables.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1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Tiene estado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(salvo constantes).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41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 despliega sola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No: hay que heredarla.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si tiene funciones external.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1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Para qué sirve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Plantillas con partes obligatorias.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Llamar a un contrato ajeno sabiendo solo su forma.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Aritmética, validaciones, utilidades.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41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 el laboratorio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ISubasta: la usan push y pull.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Porcentajes, con using for.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05409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4983480"/>
            <a:ext cx="11057839" cy="11430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5129784"/>
            <a:ext cx="10655503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Porcentajes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mejorPuja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aplicarBps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INCREMENTO_MINIMO_BPS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en lugar de Porcentajes.aplicarBps(mejorPuja, 100)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A.8 · ENVIAR ETHER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TRANSFER, SEND Y CALL: CUÁL USAR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2651760"/>
                <a:gridCol w="37426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GAS QUE ENTREGA AL RECEPTOR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 FALLA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HOY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765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transfer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2 300 fijo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Revierte.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Desaconsejada: cualquier receptor que haga algo al recibir puede quedarse sin gas.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5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2 300 fijo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Devuelve false, y es fácil ignorarlo.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Desaconsejada por la misma razón, y más peligrosa.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765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call{value: x}("")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 el disponible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Devuelve false.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recomendada, SIEMPRE comprobando el resultado y aplicando CEI.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26426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4526280"/>
            <a:ext cx="11057839" cy="82296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4672584"/>
            <a:ext cx="106555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payable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destino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EnvioFallido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66928" y="548640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cambió la recomendación: en 2019 una actualización subió el costo de ciertas instrucciones y los 2 300 de gas dejaron de alcanzar para receptores legítimos. Entregar todo el gas es más compatible, pero abre la puerta a la reentrada: de ahí la necesidad de CEI (A.13).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A.9 · RECIBIR ETHER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1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RECEIVE Y FALLBACK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828800"/>
            <a:ext cx="3291840" cy="640080"/>
          </a:xfrm>
          <a:prstGeom prst="rect">
            <a:avLst/>
          </a:prstGeom>
          <a:solidFill>
            <a:srgbClr val="0F0F11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LLEGA UNA LLAMADA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858768" y="2148840"/>
            <a:ext cx="640080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498848" y="1828800"/>
            <a:ext cx="310896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90288" y="18288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¿data está vacío?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053328" y="2468880"/>
            <a:ext cx="914" cy="548640"/>
          </a:xfrm>
          <a:prstGeom prst="line">
            <a:avLst/>
          </a:prstGeom>
          <a:noFill/>
          <a:ln w="25400">
            <a:solidFill>
              <a:srgbClr val="F07F06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6144768" y="257860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SÍ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498848" y="3017520"/>
            <a:ext cx="310896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90288" y="30175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¿existe receive()?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53328" y="3657600"/>
            <a:ext cx="914" cy="548640"/>
          </a:xfrm>
          <a:prstGeom prst="line">
            <a:avLst/>
          </a:prstGeom>
          <a:noFill/>
          <a:ln w="25400">
            <a:solidFill>
              <a:srgbClr val="F07F06"/>
            </a:solidFill>
            <a:prstDash val="solid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6144768" y="376732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SÍ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498848" y="4206240"/>
            <a:ext cx="3108960" cy="640080"/>
          </a:xfrm>
          <a:prstGeom prst="rect">
            <a:avLst/>
          </a:prstGeom>
          <a:solidFill>
            <a:srgbClr val="FAF9FB"/>
          </a:solidFill>
          <a:ln w="22225">
            <a:solidFill>
              <a:srgbClr val="7152E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90288" y="4206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EJECUTA receive()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607808" y="2148840"/>
            <a:ext cx="822960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22" name="Text 19"/>
          <p:cNvSpPr/>
          <p:nvPr/>
        </p:nvSpPr>
        <p:spPr>
          <a:xfrm>
            <a:off x="7699248" y="181051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607808" y="3337560"/>
            <a:ext cx="822960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7699248" y="299923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430768" y="1828800"/>
            <a:ext cx="3193999" cy="182880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522208" y="1920240"/>
            <a:ext cx="30111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¿existe fallback()?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522208" y="2231136"/>
            <a:ext cx="3011119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 → ejecuta fallback()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→ la llamada revierte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074920"/>
            <a:ext cx="11057839" cy="105156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68096" y="5221224"/>
            <a:ext cx="1065550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payable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ether sin datos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payable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función que no existe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A.10 · PATRÓN · CONTROL DE ACCESO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OWNABLE, Y LO QUE PASA SI SE PIERDE LA CLAVE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dueño con permisos especiales. Es el patrón más usado y el más fácil de hacer bien si se hereda de OpenZeppelin en lugar de escribirse a mano.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468880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8574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PIEZA DE OPENZEPPELIN V5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APORTA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956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Ownable(msg.sender)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dueño se fija explícitamente en el constructor.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56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onlyOwner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Modificador que revierte con OwnableUnauthorizedAccount.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956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transferOwnership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Traspasa el control. Un error de tipeo en la dirección lo pierde para siempre.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56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Ownable2Step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nuevo dueño debe aceptar: evita traspasar a una dirección equivocada.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956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renounceOwnership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Deja el contrato sin dueño. Irreversible: las funciones onlyOwner quedan bloqueadas.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450592"/>
            <a:ext cx="11094415" cy="282549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340096"/>
            <a:ext cx="11057839" cy="859536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55955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33856" y="5532120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PREGUNTA DE LA SEMANA PASADA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804672" y="5852160"/>
            <a:ext cx="105823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dueño único es un punto único de falla. La respuesta madura es un multifirma: Sesión 15.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A.11 · PATRÓN · RETIRO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CONTRATO NUNCA ENVÍA: CADA QUIEN RETIRA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1760" cy="246888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· ENVIAR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304288"/>
            <a:ext cx="484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superar una puja, el contrato devuelve el dinero al postor anterior en la misma transacción. Parece amable. Pero la puja nueva depende de que el pago al anterior salga bien, y ese anterior puede ser un contrato que lo rechace.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33008" y="1737360"/>
            <a:ext cx="5391760" cy="246888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732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PULL · RETIRAR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07328" y="2304288"/>
            <a:ext cx="484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contrato anota: «a Ana se le deben 2 ETH». Ana llama a retirar() cuando quiera. Si su retiro falla, solo falla el suyo: nadie más queda bloqueado.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4434840"/>
            <a:ext cx="11057839" cy="1691640"/>
          </a:xfrm>
          <a:prstGeom prst="rect">
            <a:avLst/>
          </a:prstGeom>
          <a:solidFill>
            <a:srgbClr val="F2F0F5"/>
          </a:solidFill>
          <a:ln w="22225">
            <a:solidFill>
              <a:srgbClr val="0F0F1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65429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33856" y="46268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OCURRIÓ · KING OF THE ETHER THRONE, 2016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04672" y="4946904"/>
            <a:ext cx="10582351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juego pagaba automáticamente al «rey» destronado. Los pagos a billeteras que eran contratos fallaban por falta de gas, el juego no lo comprobaba y el dinero quedaba atascado. Sus propios autores publicaron un análisis del fallo que se volvió referencia obligada del patrón de retiro.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A.12 · EL ATAQUE DEL LABORATORIO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1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POSTOR HOSTIL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6035040" cy="27432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5632704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PostorHostil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pujarEn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ISubasta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payable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pujar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payable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NoAceptoPagos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rechaza la devolución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76288" y="1737360"/>
            <a:ext cx="4748479" cy="74980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004304" y="173736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589520" y="19659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PUJA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326880" y="1828800"/>
            <a:ext cx="21881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contrato hostil puja 1 ETH.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76288" y="2542032"/>
            <a:ext cx="4748479" cy="74980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04304" y="2542032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589520" y="27706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BETO OFRECE 50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26880" y="2633472"/>
            <a:ext cx="21881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subasta push intenta devolver 1 ETH al hostil.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876288" y="3346704"/>
            <a:ext cx="4748479" cy="74980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04304" y="3346704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89520" y="35753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RECHAZO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326880" y="3438144"/>
            <a:ext cx="21881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receive() revierte, la devolución falla, y con ella la puja de Beto.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876288" y="4151376"/>
            <a:ext cx="4748479" cy="74980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004304" y="4151376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7589520" y="43799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CONGELADA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326880" y="4242816"/>
            <a:ext cx="21881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puede superar al hostil. Gana la subasta con 1 ETH.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010912"/>
            <a:ext cx="11057839" cy="1170432"/>
          </a:xfrm>
          <a:prstGeom prst="rect">
            <a:avLst/>
          </a:prstGeom>
          <a:solidFill>
            <a:srgbClr val="FFFFFF"/>
          </a:solidFill>
          <a:ln w="349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950976" y="5193792"/>
            <a:ext cx="1028974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atacante no robó un centavo. Solo se negó a que le devolvieran su dinero, y eso bastó para quedarse con el lote.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A.13 · PATRÓN · EL ORDEN DE LAS OPERACIONES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CHECKS → EFFECTS → INTERACTIONS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265176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pendientes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NadaQueRetirar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 · CHECKS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pendientes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 · EFFECTS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payable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 · INTERACTIONS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EnvioFallido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4572000"/>
            <a:ext cx="5391760" cy="160020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41248" y="475488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 SE INVIERTE EL ORDEN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41248" y="5138928"/>
            <a:ext cx="484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primero y poner a cero después. El receptor, dentro de su receive(), vuelve a llamar a retirar() antes de que el saldo quede en cero, y cobra otra vez. Y otra.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33008" y="4572000"/>
            <a:ext cx="5391760" cy="160020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507328" y="475488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ESTE ORDEN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507328" y="5138928"/>
            <a:ext cx="484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receptor recibe el control, su saldo ya es cero. Si vuelve a llamar, no hay nada que cobrar. El ataque se desactiva sin ninguna herramienta extra.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A.14 · PATRÓN · INTERRUPTOR DE EMERGENCIA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PAUSAR, Y QUÉ NO SE PAUSA NUNCA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Pausable permite detener funciones cuando se descubre un problema. Es útil. Y es un poder que se puede abusar.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423160"/>
            <a:ext cx="5391760" cy="23317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26060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CONVIENE PAUSAR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41248" y="2990088"/>
            <a:ext cx="484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Recibir dinero nuevo: pujas, depósitos, compras.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Funciones que agravan el daño si hay un fallo.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que el dueño no puede reparar sin detener.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33008" y="2423160"/>
            <a:ext cx="5391760" cy="233172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507328" y="26060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NO SE PAUSA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07328" y="2990088"/>
            <a:ext cx="484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Retirar lo propio. Si el dueño pudiera bloquear los retiros, el contrato sería una custodia disfrazada.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Consultas: nunca dependen de la pausa.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983480"/>
            <a:ext cx="11057839" cy="114300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202936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133856" y="51755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PRUEBA QUE LO DEMUESTRA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804672" y="5495544"/>
            <a:ext cx="10582351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laboratorio hay una prueba que pausa la subasta, comprueba que nadie puede pujar y comprueba que Ana SÍ puede retirar. Si alguien pone whenNotPaused en retirar(), esa prueba falla.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A.15 · GAS · EMPAQUETADO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ORDEN DE LAS VARIABLES CUESTA DINERO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1760" cy="233172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10512"/>
            <a:ext cx="498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DESORDENADO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68096" y="2121408"/>
            <a:ext cx="498942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 ranuras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Desordenado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uint64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ranura 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ranura 1: no cabe con a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uint64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ranura 2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33008" y="1737360"/>
            <a:ext cx="5391760" cy="233172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34176" y="1810512"/>
            <a:ext cx="498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ORDENADO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434176" y="2121408"/>
            <a:ext cx="498942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 ranuras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Ordenado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uint64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ranura 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uint64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ranura 0: caben juntos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ranura 1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3474720" cy="146304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49808" y="4462272"/>
            <a:ext cx="3108960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B326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88 341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9808" y="5146243"/>
            <a:ext cx="3108960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 para guardar el struct desordenado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315968" y="4297680"/>
            <a:ext cx="3474720" cy="146304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498848" y="4462272"/>
            <a:ext cx="3108960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F7A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66 279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4498848" y="5146243"/>
            <a:ext cx="3108960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 para guardar los mismos datos, ordenados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065008" y="4297680"/>
            <a:ext cx="3559759" cy="146304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247888" y="4462272"/>
            <a:ext cx="3193999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−22 062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8247888" y="5146243"/>
            <a:ext cx="3193999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escritura nueva menos, medida en test/s07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587044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Regla: agrupar los tipos pequeños juntos. Y constant e immutable no ocupan ranura: se incrustan en el código.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A.16 · EL COSTO DE LA SEGURIDAD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FRENTE A PULL, MEDIDO CON HONESTIDAD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749040"/>
                <a:gridCol w="37426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PULL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509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Segunda puja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42 280 gas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55 350 gas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09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Retiro posterior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29 977 gas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509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Total para el postor superado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incluido en la puja ajena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transacción más, pagada por él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09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Postor hostil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CONGELA LA SUBASTA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se perjudica a sí mismo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255117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4434840"/>
            <a:ext cx="1105783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con dos contratos idénticos salvo en el patrón (SubastaPush y SubastaPullMinima). Comparar con Subasta.sol completa no sería justo: esa además registra participantes y tiene pausa.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5120640"/>
            <a:ext cx="11057839" cy="1024128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950976" y="5303520"/>
            <a:ext cx="1028974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patrón seguro cuesta casi el doble en total. Se paga con gusto: la alternativa es que un desconocido decida quién gana.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A.17 · LO QUE HAY QUE LLEVARSE DEL BLOQUE 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SEIS REGLAS QUE CUESTAN DINERO IGNORAR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44168" y="181051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recorrer, dentro de una transacción, un arreglo que un usuario pueda hacer crecer.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6888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344168" y="254203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para modificar lo guardado; memory para una copia que se descarta.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66928" y="314553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32004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44168" y="327355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ether con call, comprobar el resultado y aplicar CEI.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566928" y="387705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93192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344168" y="400507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contrato acredita; cada quien retira lo suyo.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460857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466344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44168" y="473659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Pausar lo que agrava el daño; nunca bloquear los retiros ajenos.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566928" y="534009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53949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344168" y="546811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seguridad cuesta gas. Se mide, se explica y se paga.</a:t>
            </a:r>
            <a:endParaRPr lang="en-US" sz="1450" dirty="0"/>
          </a:p>
        </p:txBody>
      </p:sp>
      <p:sp>
        <p:nvSpPr>
          <p:cNvPr id="25" name="Shape 22"/>
          <p:cNvSpPr/>
          <p:nvPr/>
        </p:nvSpPr>
        <p:spPr>
          <a:xfrm>
            <a:off x="566928" y="607161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80 MINUTOS · EN PAREJAS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LABORATORIO 07 · SUBASTA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 una subasta con patrón de retiro, demostrar el ataque contra la versión ingenua y medir cuánto cuesta defenderse.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B.1 · EL MAPA DEL CONTRATO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DÓNDE ESTÁ CADA PATRÓN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0839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ARCHIVO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ES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PATRÓN QUE ILUSTRA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Subasta.sol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subasta completa. El andamiaje tiene 6 TODO.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Ownable, Pausable, retiro, CEI, enum, immutable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ISubasta.sol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interfaz común.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 y eventos compartidos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Porcentajes.sol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Porcentajes en puntos básicos.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library y using for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SubastaPush.sol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versión ingenua. No se modifica.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antipatrón push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SubastaPullMinima.sol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Igual a la push salvo el patrón.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comparación justa de gas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PostorHostil.sol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atacante.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receive que revierte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Empaquetado.sol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Dos structs con los mismos datos.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empaquetado de storage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437997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B.2 · 45 MINUTOS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5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COMPLETAR LA SUBASTA GUIADOS POR LAS PRUEBAS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andamiaje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s07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Subasta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s07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Subasta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s07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Subasta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fallan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empezar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88920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0839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TODO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HACER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PRUEBAS QUE LO CONFIRMAN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04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· estado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Calcular el enum según tiempo y bandera.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«recorre los tres estados»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4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· minimoSiguiente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Mínimo o 1 % por encima de la mejor puja.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«exige superar la puja anterior»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04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y 4 · pujar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Checks; acreditar al superado; registrar participante.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 el grupo «pujar» y el ★ pull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4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· retirar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 en el orden exacto.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grupo «retirar» y la prueba de pausa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04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· finalizar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Validar tiempo, marcar, acreditar al dueño.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grupo «finalizar y estado»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48640" y="2770632"/>
            <a:ext cx="11094415" cy="28712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" y="576072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volver a empezar: copiar otra vez el andamiaje. Para ver la solución: git checkout contracts/s07/Subasta.sol.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B.3 · 20 MINUTOS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 EL ATAQUE Y MEDIR LA DEFENSA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s07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Subasta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"postor hostil"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s07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Subasta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"empaquetado"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" y="278892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b="1" dirty="0">
                <a:solidFill>
                  <a:srgbClr val="0F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que responde el informe: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66928" y="3200400"/>
            <a:ext cx="11057839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la puja de 50 ETH de Beto revierte en la subasta push? Expliquen la cadena de llamadas.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el mismo contrato hostil no bloquea la subasta pull? ¿Quién pierde en ese caso?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Según las cifras de gas, ¿cuánto más cuesta el patrón pull en total? ¿Quién paga esa diferencia?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¿Cuántas ranuras ahorra el struct ordenado, y cómo lo deducen de la diferencia de gas?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alguien pone whenNotPaused en retirar(), ¿qué prueba falla y por qué esa prueba existe?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B.4 · 15 MINUTOS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DESPLEGAR Y DEJAR EVIDENCIA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1737360"/>
            <a:ext cx="548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80160" y="197510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REMIX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200400" y="1828800"/>
            <a:ext cx="8314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los archivos de contracts/s07 en Remix. Los import de OpenZeppelin se resuelven solos.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2615184"/>
            <a:ext cx="11057839" cy="768096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" y="2615184"/>
            <a:ext cx="548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80160" y="28529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DESPLEGAR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200400" y="2706624"/>
            <a:ext cx="8314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Desplegar Subasta en Sepolia con duración de 600 segundos y puja mínima de 1 000 000 000 000 000 wei (0,001 ETH).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493008"/>
            <a:ext cx="11057839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4944" y="3493008"/>
            <a:ext cx="548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80160" y="37307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JUGAR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200400" y="3584448"/>
            <a:ext cx="8314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Pujar desde dos cuentas de prueba. Esperar a que venza. Finalizar. Retirar.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4370832"/>
            <a:ext cx="11057839" cy="768096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4944" y="4370832"/>
            <a:ext cx="548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280160" y="460857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3200400" y="4462272"/>
            <a:ext cx="8314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el código en el explorador: la Sesión 8 lo automatiza con un script.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66928" y="5303520"/>
            <a:ext cx="11057839" cy="877824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522976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133856" y="549554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EVIDENCIA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804672" y="5815584"/>
            <a:ext cx="105823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Dirección del contrato, hashes de dos pujas, la finalización y un retiro, más el informe de decisiones.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B.5 · ERRORES FRECUENTES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SUELE SALIR MAL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4297680"/>
                <a:gridCol w="67601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SÍNTOMA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CAUSA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18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prueba de retiro pasa pero el saldo no cambia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Pusieron el pendiente en cero DESPUÉS del call, o no lo pusieron.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8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«acumula si es superado varias veces» falla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Usaron = en lugar de += al acreditar al superado.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18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«EnforcedPause» al retirar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Pusieron whenNotPaused en retirar(): exactamente lo que no se debe.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8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 dueño no puede retirar tras finalizar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acreditaron mejorPuja al owner() en finalizar().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18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subasta no acepta la primera puja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minimoSiguiente() aplica el 1 % aunque no haya postor.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8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Remix no encuentra ISubasta.sol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tres archivos deben estar en la misma carpeta.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405993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30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DEVOLUCIÓN DEL ANTEPROYECTO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equipo recibe su decisión: aprobado, aprobado con recorte, o devuelto. Y empieza a construir.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C.1 · QUÉ SIGUE PARA CADA EQUIPO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PAPEL AL PRIMER CONTRATO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9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317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DECISIÓN RECIBIDA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HASTA LA SESIÓN 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Aprobado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Escribir el contrato principal con al menos dos patrones de hoy y llevarlo a la estructura del repositorio.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Aprobado con recorte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Aceptar o argumentar el recorte en 48 horas. Después, igual que aprobado.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Devuelto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Nueva versión del anteproyecto para la Sesión 8. Se revisa al inicio de la clase.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223113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4160520"/>
            <a:ext cx="11057839" cy="196596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379976"/>
            <a:ext cx="237744" cy="23774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33856" y="435254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TRES PREGUNTAS PARA EL DISEÑO DEL CONTRATO DEL PROYECTO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804672" y="4672584"/>
            <a:ext cx="10582351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¿Mi contrato envía dinero? Si sí, ¿por qué no usa el patrón de retiro?</a:t>
            </a:r>
            <a:endParaRPr lang="en-US" sz="13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¿Hay algún arreglo que un usuario pueda hacer crecer y que yo recorra en una transacción?</a:t>
            </a:r>
            <a:endParaRPr lang="en-US" sz="13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¿Qué funciones pausaría en una emergencia, y cuáles nunca?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TRABAJO AUTÓNOMO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PREGUNTA DE LA SEMANA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07 · SOLIDITY II · DATOS Y PATRONES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60020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postor hostil no robó nada y aun así ganó. ¿Dónde más —en el curso o en el mundo— alguien bloquea a todos solo con negarse a cooperar?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66928" y="36118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LA PRÓXIMA SESIÓN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977640"/>
            <a:ext cx="1105783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el informe del laboratorio 07 con las cinco respuestas y la evidencia en Sepolia.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Refactorizar el contrato de certificados de la S6 aplicando dos patrones de hoy.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Node.js 22 en el computador propio: la Sesión 8 trabaja todo en local.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aprobados: primer borrador del contrato principal del proyecto.</a:t>
            </a:r>
            <a:endParaRPr lang="en-US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34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1874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SE LLEVAN DE HOY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566928" y="2377440"/>
            <a:ext cx="11057839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contrato que envía dinero depende de que el otro quiera recibirlo.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66928" y="4343400"/>
            <a:ext cx="99605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vieron que la seguridad tiene forma de orden de operaciones y de patrones concretos, y que cuesta gas. La próxima sesión salen de Remix y aprenden a demostrar, con pruebas automáticas, que el contrato hace lo que dice.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66928" y="5349240"/>
            <a:ext cx="11057839" cy="685800"/>
          </a:xfrm>
          <a:prstGeom prst="rect">
            <a:avLst/>
          </a:prstGeom>
          <a:solidFill>
            <a:srgbClr val="1C1B21"/>
          </a:solidFill>
          <a:ln w="12700">
            <a:solidFill>
              <a:srgbClr val="3432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5349240"/>
            <a:ext cx="105091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8 · HARDHAT, PRUEBAS AUTOMATIZADAS Y DESPLIEGUE PROFESIONAL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07 · Solidity II</dc:title>
  <dc:subject>Sesión 07 · Solidity II</dc:subject>
  <dc:creator>Universidad de San Buenaventura Medellín</dc:creator>
  <cp:lastModifiedBy>Universidad de San Buenaventura Medellín</cp:lastModifiedBy>
  <cp:revision>1</cp:revision>
  <dcterms:created xsi:type="dcterms:W3CDTF">2026-09-13T17:25:06Z</dcterms:created>
  <dcterms:modified xsi:type="dcterms:W3CDTF">2026-09-13T17:25:06Z</dcterms:modified>
</cp:coreProperties>
</file>