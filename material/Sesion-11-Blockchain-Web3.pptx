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gancho: la mayoría de los NFT apuntan a una imagen que su dueño no controla. Hoy se hace bien, con IPFS.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Insistir en la nivelación de React: la S12 no enseña React, enseña a conectarlo a la cadena.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234440" y="2331720"/>
            <a:ext cx="1280160" cy="1280160"/>
          </a:xfrm>
          <a:prstGeom prst="rect">
            <a:avLst/>
          </a:prstGeom>
        </p:spPr>
      </p:pic>
      <p:sp>
        <p:nvSpPr>
          <p:cNvPr id="4" name="Text 1"/>
          <p:cNvSpPr/>
          <p:nvPr/>
        </p:nvSpPr>
        <p:spPr>
          <a:xfrm>
            <a:off x="137160" y="3794760"/>
            <a:ext cx="3474720" cy="640080"/>
          </a:xfrm>
          <a:prstGeom prst="rect">
            <a:avLst/>
          </a:prstGeom>
          <a:noFill/>
          <a:ln/>
        </p:spPr>
        <p:txBody>
          <a:bodyPr wrap="square" lIns="0" tIns="0" rIns="0" bIns="0" rtlCol="0" anchor="ctr"/>
          <a:lstStyle/>
          <a:p>
            <a:pPr algn="ctr" indent="0" marL="0">
              <a:buNone/>
            </a:pPr>
            <a:r>
              <a:rPr lang="en-US" sz="2700" dirty="0">
                <a:solidFill>
                  <a:srgbClr val="0F0F11"/>
                </a:solidFill>
                <a:latin typeface="Arial Black" pitchFamily="34" charset="0"/>
                <a:ea typeface="Arial Black" pitchFamily="34" charset="-122"/>
                <a:cs typeface="Arial Black" pitchFamily="34" charset="-120"/>
              </a:rPr>
              <a:t>ÚNICO</a:t>
            </a:r>
            <a:endParaRPr lang="en-US" sz="2700" dirty="0"/>
          </a:p>
        </p:txBody>
      </p:sp>
      <p:pic>
        <p:nvPicPr>
          <p:cNvPr id="5" name="Image 1" descr="preencoded.png">    </p:cNvPr>
          <p:cNvPicPr>
            <a:picLocks noChangeAspect="1"/>
          </p:cNvPicPr>
          <p:nvPr/>
        </p:nvPicPr>
        <p:blipFill>
          <a:blip r:embed="rId2"/>
          <a:stretch>
            <a:fillRect/>
          </a:stretch>
        </p:blipFill>
        <p:spPr>
          <a:xfrm>
            <a:off x="4389120" y="1115568"/>
            <a:ext cx="310896" cy="310896"/>
          </a:xfrm>
          <a:prstGeom prst="rect">
            <a:avLst/>
          </a:prstGeom>
        </p:spPr>
      </p:pic>
      <p:sp>
        <p:nvSpPr>
          <p:cNvPr id="6" name="Text 2"/>
          <p:cNvSpPr/>
          <p:nvPr/>
        </p:nvSpPr>
        <p:spPr>
          <a:xfrm>
            <a:off x="4809744" y="1097280"/>
            <a:ext cx="6858000" cy="347472"/>
          </a:xfrm>
          <a:prstGeom prst="rect">
            <a:avLst/>
          </a:prstGeom>
          <a:noFill/>
          <a:ln/>
        </p:spPr>
        <p:txBody>
          <a:bodyPr wrap="square" lIns="0" tIns="0" rIns="0" bIns="0" rtlCol="0" anchor="ctr"/>
          <a:lstStyle/>
          <a:p>
            <a:pPr indent="0" marL="0">
              <a:buNone/>
            </a:pPr>
            <a:r>
              <a:rPr lang="en-US" sz="1050" spc="150" kern="0" dirty="0">
                <a:solidFill>
                  <a:srgbClr val="F07F06"/>
                </a:solidFill>
                <a:latin typeface="Courier New" pitchFamily="34" charset="0"/>
                <a:ea typeface="Courier New" pitchFamily="34" charset="-122"/>
                <a:cs typeface="Courier New" pitchFamily="34" charset="-120"/>
              </a:rPr>
              <a:t>SESIÓN 11 · UNIDAD III · WEB 3.0</a:t>
            </a:r>
            <a:endParaRPr lang="en-US" sz="1050" dirty="0"/>
          </a:p>
        </p:txBody>
      </p:sp>
      <p:sp>
        <p:nvSpPr>
          <p:cNvPr id="7" name="Text 3"/>
          <p:cNvSpPr/>
          <p:nvPr/>
        </p:nvSpPr>
        <p:spPr>
          <a:xfrm>
            <a:off x="4389120" y="1719072"/>
            <a:ext cx="7269480" cy="2377440"/>
          </a:xfrm>
          <a:prstGeom prst="rect">
            <a:avLst/>
          </a:prstGeom>
          <a:noFill/>
          <a:ln/>
        </p:spPr>
        <p:txBody>
          <a:bodyPr wrap="square" lIns="0" tIns="0" rIns="0" bIns="0" rtlCol="0" anchor="t"/>
          <a:lstStyle/>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NFT: LO ÚNICO,</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Y DÓNDE VIVE</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DE VERDAD</a:t>
            </a:r>
            <a:endParaRPr lang="en-US" sz="3800" dirty="0"/>
          </a:p>
        </p:txBody>
      </p:sp>
      <p:sp>
        <p:nvSpPr>
          <p:cNvPr id="8" name="Text 4"/>
          <p:cNvSpPr/>
          <p:nvPr/>
        </p:nvSpPr>
        <p:spPr>
          <a:xfrm>
            <a:off x="4389120" y="4224528"/>
            <a:ext cx="7269480" cy="685800"/>
          </a:xfrm>
          <a:prstGeom prst="rect">
            <a:avLst/>
          </a:prstGeom>
          <a:noFill/>
          <a:ln/>
        </p:spPr>
        <p:txBody>
          <a:bodyPr wrap="square" lIns="0" tIns="0" rIns="0" bIns="0" rtlCol="0" anchor="t"/>
          <a:lstStyle/>
          <a:p>
            <a:pPr indent="0" marL="0">
              <a:lnSpc>
                <a:spcPct val="120000"/>
              </a:lnSpc>
              <a:buNone/>
            </a:pPr>
            <a:r>
              <a:rPr lang="en-US" sz="1500" dirty="0">
                <a:solidFill>
                  <a:srgbClr val="B9B4C4"/>
                </a:solidFill>
                <a:latin typeface="Arial" pitchFamily="34" charset="0"/>
                <a:ea typeface="Arial" pitchFamily="34" charset="-122"/>
                <a:cs typeface="Arial" pitchFamily="34" charset="-120"/>
              </a:rPr>
              <a:t>El contrato guarda quién es dueño de qué. La imagen casi nunca está en la cadena. Entender esa separación es la sesión.</a:t>
            </a:r>
            <a:endParaRPr lang="en-US" sz="1500" dirty="0"/>
          </a:p>
        </p:txBody>
      </p:sp>
      <p:sp>
        <p:nvSpPr>
          <p:cNvPr id="9" name="Text 5"/>
          <p:cNvSpPr/>
          <p:nvPr/>
        </p:nvSpPr>
        <p:spPr>
          <a:xfrm>
            <a:off x="4389120" y="5120640"/>
            <a:ext cx="7269480" cy="731520"/>
          </a:xfrm>
          <a:prstGeom prst="rect">
            <a:avLst/>
          </a:prstGeom>
          <a:noFill/>
          <a:ln/>
        </p:spPr>
        <p:txBody>
          <a:bodyPr wrap="square" lIns="0" tIns="0" rIns="0" bIns="0" rtlCol="0" anchor="t"/>
          <a:lstStyle/>
          <a:p>
            <a:pPr indent="0" marL="0">
              <a:lnSpc>
                <a:spcPct val="125000"/>
              </a:lnSpc>
              <a:buNone/>
            </a:pPr>
            <a:r>
              <a:rPr lang="en-US" sz="1300" dirty="0">
                <a:solidFill>
                  <a:srgbClr val="8B8697"/>
                </a:solidFill>
                <a:latin typeface="Arial" pitchFamily="34" charset="0"/>
                <a:ea typeface="Arial" pitchFamily="34" charset="-122"/>
                <a:cs typeface="Arial" pitchFamily="34" charset="-120"/>
              </a:rPr>
              <a:t>Blockchain y Web 3.0 · Ingeniería de Sistemas</a:t>
            </a:r>
            <a:endParaRPr lang="en-US" sz="1300" dirty="0"/>
          </a:p>
          <a:p>
            <a:pPr indent="0" marL="0">
              <a:lnSpc>
                <a:spcPct val="125000"/>
              </a:lnSpc>
              <a:buNone/>
            </a:pPr>
            <a:r>
              <a:rPr lang="en-US" sz="1300" dirty="0">
                <a:solidFill>
                  <a:srgbClr val="8B8697"/>
                </a:solidFill>
                <a:latin typeface="Arial" pitchFamily="34" charset="0"/>
                <a:ea typeface="Arial" pitchFamily="34" charset="-122"/>
                <a:cs typeface="Arial" pitchFamily="34" charset="-120"/>
              </a:rPr>
              <a:t>Universidad de San Buenaventura Medellín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LO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CÓMO VAMOS A USAR LAS TRES HORAS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Tokens no fungibles: cada uno distinto. Y el problema que casi todo el mercado hace mal: dónde se guarda el archivo.</a:t>
            </a:r>
            <a:endParaRPr lang="en-US" sz="1450" dirty="0"/>
          </a:p>
        </p:txBody>
      </p:sp>
      <p:sp>
        <p:nvSpPr>
          <p:cNvPr id="9" name="Shape 6"/>
          <p:cNvSpPr/>
          <p:nvPr/>
        </p:nvSpPr>
        <p:spPr>
          <a:xfrm>
            <a:off x="566928" y="2468880"/>
            <a:ext cx="11057839" cy="1024128"/>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Shape 7"/>
          <p:cNvSpPr/>
          <p:nvPr/>
        </p:nvSpPr>
        <p:spPr>
          <a:xfrm>
            <a:off x="566928" y="2468880"/>
            <a:ext cx="777240" cy="1024128"/>
          </a:xfrm>
          <a:prstGeom prst="rect">
            <a:avLst/>
          </a:prstGeom>
          <a:solidFill>
            <a:srgbClr val="F07F06"/>
          </a:solidFill>
          <a:ln w="12700">
            <a:solidFill>
              <a:srgbClr val="333333"/>
            </a:solidFill>
            <a:prstDash val="solid"/>
          </a:ln>
        </p:spPr>
      </p:sp>
      <p:sp>
        <p:nvSpPr>
          <p:cNvPr id="11" name="Text 8"/>
          <p:cNvSpPr/>
          <p:nvPr/>
        </p:nvSpPr>
        <p:spPr>
          <a:xfrm>
            <a:off x="566928" y="2468880"/>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A</a:t>
            </a:r>
            <a:endParaRPr lang="en-US" sz="2800" dirty="0"/>
          </a:p>
        </p:txBody>
      </p:sp>
      <p:sp>
        <p:nvSpPr>
          <p:cNvPr id="12" name="Text 9"/>
          <p:cNvSpPr/>
          <p:nvPr/>
        </p:nvSpPr>
        <p:spPr>
          <a:xfrm>
            <a:off x="1572768" y="2596896"/>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NO FUNGIBILIDAD E IPFS</a:t>
            </a:r>
            <a:endParaRPr lang="en-US" sz="1100" dirty="0"/>
          </a:p>
        </p:txBody>
      </p:sp>
      <p:sp>
        <p:nvSpPr>
          <p:cNvPr id="13" name="Text 10"/>
          <p:cNvSpPr/>
          <p:nvPr/>
        </p:nvSpPr>
        <p:spPr>
          <a:xfrm>
            <a:off x="1572768" y="2926080"/>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ERC-721 vs 1155, metadata, IPFS, CID, y casos de uso serios.</a:t>
            </a:r>
            <a:endParaRPr lang="en-US" sz="1250" dirty="0"/>
          </a:p>
        </p:txBody>
      </p:sp>
      <p:sp>
        <p:nvSpPr>
          <p:cNvPr id="14" name="Text 11"/>
          <p:cNvSpPr/>
          <p:nvPr/>
        </p:nvSpPr>
        <p:spPr>
          <a:xfrm>
            <a:off x="9704527" y="2468880"/>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~65 min</a:t>
            </a:r>
            <a:endParaRPr lang="en-US" sz="1200" dirty="0"/>
          </a:p>
        </p:txBody>
      </p:sp>
      <p:sp>
        <p:nvSpPr>
          <p:cNvPr id="15" name="Shape 12"/>
          <p:cNvSpPr/>
          <p:nvPr/>
        </p:nvSpPr>
        <p:spPr>
          <a:xfrm>
            <a:off x="566928" y="3675888"/>
            <a:ext cx="11057839" cy="1024128"/>
          </a:xfrm>
          <a:prstGeom prst="rect">
            <a:avLst/>
          </a:prstGeom>
          <a:solidFill>
            <a:srgbClr val="FAF9FB"/>
          </a:solidFill>
          <a:ln w="22225">
            <a:solidFill>
              <a:srgbClr val="0F0F11"/>
            </a:solidFill>
            <a:prstDash val="solid"/>
          </a:ln>
        </p:spPr>
      </p:sp>
      <p:sp>
        <p:nvSpPr>
          <p:cNvPr id="16" name="Shape 13"/>
          <p:cNvSpPr/>
          <p:nvPr/>
        </p:nvSpPr>
        <p:spPr>
          <a:xfrm>
            <a:off x="566928" y="3675888"/>
            <a:ext cx="777240" cy="1024128"/>
          </a:xfrm>
          <a:prstGeom prst="rect">
            <a:avLst/>
          </a:prstGeom>
          <a:solidFill>
            <a:srgbClr val="D9D6E0"/>
          </a:solidFill>
          <a:ln w="12700">
            <a:solidFill>
              <a:srgbClr val="333333"/>
            </a:solidFill>
            <a:prstDash val="solid"/>
          </a:ln>
        </p:spPr>
      </p:sp>
      <p:sp>
        <p:nvSpPr>
          <p:cNvPr id="17" name="Text 14"/>
          <p:cNvSpPr/>
          <p:nvPr/>
        </p:nvSpPr>
        <p:spPr>
          <a:xfrm>
            <a:off x="566928" y="3675888"/>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B</a:t>
            </a:r>
            <a:endParaRPr lang="en-US" sz="2800" dirty="0"/>
          </a:p>
        </p:txBody>
      </p:sp>
      <p:sp>
        <p:nvSpPr>
          <p:cNvPr id="18" name="Text 15"/>
          <p:cNvSpPr/>
          <p:nvPr/>
        </p:nvSpPr>
        <p:spPr>
          <a:xfrm>
            <a:off x="1572768" y="3803904"/>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LABORATORIO 11</a:t>
            </a:r>
            <a:endParaRPr lang="en-US" sz="1100" dirty="0"/>
          </a:p>
        </p:txBody>
      </p:sp>
      <p:sp>
        <p:nvSpPr>
          <p:cNvPr id="19" name="Text 16"/>
          <p:cNvSpPr/>
          <p:nvPr/>
        </p:nvSpPr>
        <p:spPr>
          <a:xfrm>
            <a:off x="1572768" y="4133088"/>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Diploma NFT con metadata en IPFS, minteado y visible en un marketplace de prueba.</a:t>
            </a:r>
            <a:endParaRPr lang="en-US" sz="1250" dirty="0"/>
          </a:p>
        </p:txBody>
      </p:sp>
      <p:sp>
        <p:nvSpPr>
          <p:cNvPr id="20" name="Text 17"/>
          <p:cNvSpPr/>
          <p:nvPr/>
        </p:nvSpPr>
        <p:spPr>
          <a:xfrm>
            <a:off x="9704527" y="3675888"/>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~85 min</a:t>
            </a:r>
            <a:endParaRPr lang="en-US" sz="1200" dirty="0"/>
          </a:p>
        </p:txBody>
      </p:sp>
      <p:sp>
        <p:nvSpPr>
          <p:cNvPr id="21" name="Shape 18"/>
          <p:cNvSpPr/>
          <p:nvPr/>
        </p:nvSpPr>
        <p:spPr>
          <a:xfrm>
            <a:off x="566928" y="4882896"/>
            <a:ext cx="11057839" cy="1024128"/>
          </a:xfrm>
          <a:prstGeom prst="rect">
            <a:avLst/>
          </a:prstGeom>
          <a:solidFill>
            <a:srgbClr val="FAF9FB"/>
          </a:solidFill>
          <a:ln w="22225">
            <a:solidFill>
              <a:srgbClr val="0F0F11"/>
            </a:solidFill>
            <a:prstDash val="solid"/>
          </a:ln>
        </p:spPr>
      </p:sp>
      <p:sp>
        <p:nvSpPr>
          <p:cNvPr id="22" name="Shape 19"/>
          <p:cNvSpPr/>
          <p:nvPr/>
        </p:nvSpPr>
        <p:spPr>
          <a:xfrm>
            <a:off x="566928" y="4882896"/>
            <a:ext cx="777240" cy="1024128"/>
          </a:xfrm>
          <a:prstGeom prst="rect">
            <a:avLst/>
          </a:prstGeom>
          <a:solidFill>
            <a:srgbClr val="D9D6E0"/>
          </a:solidFill>
          <a:ln w="12700">
            <a:solidFill>
              <a:srgbClr val="333333"/>
            </a:solidFill>
            <a:prstDash val="solid"/>
          </a:ln>
        </p:spPr>
      </p:sp>
      <p:sp>
        <p:nvSpPr>
          <p:cNvPr id="23" name="Text 20"/>
          <p:cNvSpPr/>
          <p:nvPr/>
        </p:nvSpPr>
        <p:spPr>
          <a:xfrm>
            <a:off x="566928" y="4882896"/>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C</a:t>
            </a:r>
            <a:endParaRPr lang="en-US" sz="2800" dirty="0"/>
          </a:p>
        </p:txBody>
      </p:sp>
      <p:sp>
        <p:nvSpPr>
          <p:cNvPr id="24" name="Text 21"/>
          <p:cNvSpPr/>
          <p:nvPr/>
        </p:nvSpPr>
        <p:spPr>
          <a:xfrm>
            <a:off x="1572768" y="5010912"/>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CASO USB</a:t>
            </a:r>
            <a:endParaRPr lang="en-US" sz="1100" dirty="0"/>
          </a:p>
        </p:txBody>
      </p:sp>
      <p:sp>
        <p:nvSpPr>
          <p:cNvPr id="25" name="Text 22"/>
          <p:cNvSpPr/>
          <p:nvPr/>
        </p:nvSpPr>
        <p:spPr>
          <a:xfrm>
            <a:off x="1572768" y="5340096"/>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Modelar el diploma: ¿ERC-721, 1155 o token del alma? Discusión.</a:t>
            </a:r>
            <a:endParaRPr lang="en-US" sz="1250" dirty="0"/>
          </a:p>
        </p:txBody>
      </p:sp>
      <p:sp>
        <p:nvSpPr>
          <p:cNvPr id="26" name="Text 23"/>
          <p:cNvSpPr/>
          <p:nvPr/>
        </p:nvSpPr>
        <p:spPr>
          <a:xfrm>
            <a:off x="9704527" y="4882896"/>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~30 min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EL PROPÓSITO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AL SALIR DE AQUÍ</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sp>
        <p:nvSpPr>
          <p:cNvPr id="8" name="Shape 5"/>
          <p:cNvSpPr/>
          <p:nvPr/>
        </p:nvSpPr>
        <p:spPr>
          <a:xfrm>
            <a:off x="566928" y="173736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20240"/>
            <a:ext cx="10289743" cy="82296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Implementar tokens no fungibles con metadata descentralizada y evaluar cuándo un NFT resuelve un problema real.</a:t>
            </a:r>
            <a:endParaRPr lang="en-US" sz="1900" dirty="0"/>
          </a:p>
        </p:txBody>
      </p:sp>
      <p:sp>
        <p:nvSpPr>
          <p:cNvPr id="10" name="Text 7"/>
          <p:cNvSpPr/>
          <p:nvPr/>
        </p:nvSpPr>
        <p:spPr>
          <a:xfrm>
            <a:off x="566928" y="31546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LAS PREGUNTAS QUE LA SESIÓN RESPONDE</a:t>
            </a:r>
            <a:endParaRPr lang="en-US" sz="1050" dirty="0"/>
          </a:p>
        </p:txBody>
      </p:sp>
      <p:sp>
        <p:nvSpPr>
          <p:cNvPr id="11" name="Text 8"/>
          <p:cNvSpPr/>
          <p:nvPr/>
        </p:nvSpPr>
        <p:spPr>
          <a:xfrm>
            <a:off x="566928" y="3566160"/>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25296" y="3630168"/>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distingue un ERC-721 de un ERC-1155, y cuándo usar cada uno?</a:t>
            </a:r>
            <a:endParaRPr lang="en-US" sz="1400" dirty="0"/>
          </a:p>
        </p:txBody>
      </p:sp>
      <p:sp>
        <p:nvSpPr>
          <p:cNvPr id="13" name="Text 10"/>
          <p:cNvSpPr/>
          <p:nvPr/>
        </p:nvSpPr>
        <p:spPr>
          <a:xfrm>
            <a:off x="566928" y="4133088"/>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25296" y="4197096"/>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¿Dónde está «el NFT» y dónde está «el archivo»?</a:t>
            </a:r>
            <a:endParaRPr lang="en-US" sz="1400" dirty="0"/>
          </a:p>
        </p:txBody>
      </p:sp>
      <p:sp>
        <p:nvSpPr>
          <p:cNvPr id="15" name="Text 12"/>
          <p:cNvSpPr/>
          <p:nvPr/>
        </p:nvSpPr>
        <p:spPr>
          <a:xfrm>
            <a:off x="566928" y="4700016"/>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6" name="Text 13"/>
          <p:cNvSpPr/>
          <p:nvPr/>
        </p:nvSpPr>
        <p:spPr>
          <a:xfrm>
            <a:off x="1225296" y="4764024"/>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¿Por qué una URL centralizada rompe la promesa de permanencia?</a:t>
            </a:r>
            <a:endParaRPr lang="en-US" sz="1400" dirty="0"/>
          </a:p>
        </p:txBody>
      </p:sp>
      <p:sp>
        <p:nvSpPr>
          <p:cNvPr id="17" name="Text 14"/>
          <p:cNvSpPr/>
          <p:nvPr/>
        </p:nvSpPr>
        <p:spPr>
          <a:xfrm>
            <a:off x="566928" y="5266944"/>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18" name="Text 15"/>
          <p:cNvSpPr/>
          <p:nvPr/>
        </p:nvSpPr>
        <p:spPr>
          <a:xfrm>
            <a:off x="1225296" y="5330952"/>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casos de uso serios existen más allá del arte especulativo?</a:t>
            </a:r>
            <a:endParaRPr lang="en-US" sz="1400" dirty="0"/>
          </a:p>
        </p:txBody>
      </p:sp>
      <p:sp>
        <p:nvSpPr>
          <p:cNvPr id="19" name="Shape 16"/>
          <p:cNvSpPr/>
          <p:nvPr/>
        </p:nvSpPr>
        <p:spPr>
          <a:xfrm>
            <a:off x="566928" y="5943600"/>
            <a:ext cx="11057839" cy="457200"/>
          </a:xfrm>
          <a:prstGeom prst="rect">
            <a:avLst/>
          </a:prstGeom>
          <a:solidFill>
            <a:srgbClr val="F2F0F5"/>
          </a:solidFill>
          <a:ln w="12700">
            <a:solidFill>
              <a:srgbClr val="7152E9"/>
            </a:solidFill>
            <a:prstDash val="solid"/>
          </a:ln>
        </p:spPr>
      </p:sp>
      <p:sp>
        <p:nvSpPr>
          <p:cNvPr id="20" name="Text 17"/>
          <p:cNvSpPr/>
          <p:nvPr/>
        </p:nvSpPr>
        <p:spPr>
          <a:xfrm>
            <a:off x="731520" y="6016752"/>
            <a:ext cx="10728655" cy="310896"/>
          </a:xfrm>
          <a:prstGeom prst="rect">
            <a:avLst/>
          </a:prstGeom>
          <a:noFill/>
          <a:ln/>
        </p:spPr>
        <p:txBody>
          <a:bodyPr wrap="square" lIns="0" tIns="0" rIns="0" bIns="0" rtlCol="0" anchor="ctr"/>
          <a:lstStyle/>
          <a:p>
            <a:pPr indent="0" marL="0">
              <a:lnSpc>
                <a:spcPct val="120000"/>
              </a:lnSpc>
              <a:buNone/>
            </a:pPr>
            <a:r>
              <a:rPr lang="en-US" sz="1050" dirty="0">
                <a:solidFill>
                  <a:srgbClr val="3A3844"/>
                </a:solidFill>
                <a:latin typeface="Courier New" pitchFamily="34" charset="0"/>
                <a:ea typeface="Courier New" pitchFamily="34" charset="-122"/>
                <a:cs typeface="Courier New" pitchFamily="34" charset="-120"/>
              </a:rPr>
              <a:t>RA3 · estándares (ERC-721)  ·  RA6 · almacenamiento descentralizado.</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VOCABULARIO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SIGLAS Y TÉRMINOS 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sp>
        <p:nvSpPr>
          <p:cNvPr id="8" name="Shape 5"/>
          <p:cNvSpPr/>
          <p:nvPr/>
        </p:nvSpPr>
        <p:spPr>
          <a:xfrm>
            <a:off x="566928" y="1737360"/>
            <a:ext cx="5419192" cy="1014984"/>
          </a:xfrm>
          <a:prstGeom prst="rect">
            <a:avLst/>
          </a:prstGeom>
          <a:solidFill>
            <a:srgbClr val="FFFFFF"/>
          </a:solidFill>
          <a:ln w="15875">
            <a:solidFill>
              <a:srgbClr val="7152E9"/>
            </a:solidFill>
            <a:prstDash val="solid"/>
          </a:ln>
        </p:spPr>
      </p:sp>
      <p:sp>
        <p:nvSpPr>
          <p:cNvPr id="9" name="Shape 6"/>
          <p:cNvSpPr/>
          <p:nvPr/>
        </p:nvSpPr>
        <p:spPr>
          <a:xfrm>
            <a:off x="566928" y="1737360"/>
            <a:ext cx="82296" cy="1014984"/>
          </a:xfrm>
          <a:prstGeom prst="rect">
            <a:avLst/>
          </a:prstGeom>
          <a:solidFill>
            <a:srgbClr val="7152E9"/>
          </a:solidFill>
          <a:ln w="12700">
            <a:solidFill>
              <a:srgbClr val="333333"/>
            </a:solidFill>
            <a:prstDash val="solid"/>
          </a:ln>
        </p:spPr>
      </p:sp>
      <p:sp>
        <p:nvSpPr>
          <p:cNvPr id="10" name="Text 7"/>
          <p:cNvSpPr/>
          <p:nvPr/>
        </p:nvSpPr>
        <p:spPr>
          <a:xfrm>
            <a:off x="822960"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NFT</a:t>
            </a:r>
            <a:endParaRPr lang="en-US" sz="1100" dirty="0"/>
          </a:p>
        </p:txBody>
      </p:sp>
      <p:sp>
        <p:nvSpPr>
          <p:cNvPr id="11" name="Text 8"/>
          <p:cNvSpPr/>
          <p:nvPr/>
        </p:nvSpPr>
        <p:spPr>
          <a:xfrm>
            <a:off x="2898648"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Non-Fungible Token</a:t>
            </a:r>
            <a:endParaRPr lang="en-US" sz="1050" dirty="0"/>
          </a:p>
        </p:txBody>
      </p:sp>
      <p:sp>
        <p:nvSpPr>
          <p:cNvPr id="12" name="Text 9"/>
          <p:cNvSpPr/>
          <p:nvPr/>
        </p:nvSpPr>
        <p:spPr>
          <a:xfrm>
            <a:off x="822960"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Token único: el número 7 es distinto del 8 y no se cambia uno por otro. Lo contrario de un ERC-20.</a:t>
            </a:r>
            <a:endParaRPr lang="en-US" sz="1100" dirty="0"/>
          </a:p>
        </p:txBody>
      </p:sp>
      <p:sp>
        <p:nvSpPr>
          <p:cNvPr id="13" name="Shape 10"/>
          <p:cNvSpPr/>
          <p:nvPr/>
        </p:nvSpPr>
        <p:spPr>
          <a:xfrm>
            <a:off x="6205576" y="1737360"/>
            <a:ext cx="5419192" cy="1014984"/>
          </a:xfrm>
          <a:prstGeom prst="rect">
            <a:avLst/>
          </a:prstGeom>
          <a:solidFill>
            <a:srgbClr val="FFFFFF"/>
          </a:solidFill>
          <a:ln w="15875">
            <a:solidFill>
              <a:srgbClr val="7152E9"/>
            </a:solidFill>
            <a:prstDash val="solid"/>
          </a:ln>
        </p:spPr>
      </p:sp>
      <p:sp>
        <p:nvSpPr>
          <p:cNvPr id="14" name="Shape 11"/>
          <p:cNvSpPr/>
          <p:nvPr/>
        </p:nvSpPr>
        <p:spPr>
          <a:xfrm>
            <a:off x="6205576" y="1737360"/>
            <a:ext cx="82296" cy="1014984"/>
          </a:xfrm>
          <a:prstGeom prst="rect">
            <a:avLst/>
          </a:prstGeom>
          <a:solidFill>
            <a:srgbClr val="7152E9"/>
          </a:solidFill>
          <a:ln w="12700">
            <a:solidFill>
              <a:srgbClr val="333333"/>
            </a:solidFill>
            <a:prstDash val="solid"/>
          </a:ln>
        </p:spPr>
      </p:sp>
      <p:sp>
        <p:nvSpPr>
          <p:cNvPr id="15" name="Text 12"/>
          <p:cNvSpPr/>
          <p:nvPr/>
        </p:nvSpPr>
        <p:spPr>
          <a:xfrm>
            <a:off x="6461608"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ERC-721</a:t>
            </a:r>
            <a:endParaRPr lang="en-US" sz="1100" dirty="0"/>
          </a:p>
        </p:txBody>
      </p:sp>
      <p:sp>
        <p:nvSpPr>
          <p:cNvPr id="16" name="Text 13"/>
          <p:cNvSpPr/>
          <p:nvPr/>
        </p:nvSpPr>
        <p:spPr>
          <a:xfrm>
            <a:off x="8537296"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estándar de NFT</a:t>
            </a:r>
            <a:endParaRPr lang="en-US" sz="1050" dirty="0"/>
          </a:p>
        </p:txBody>
      </p:sp>
      <p:sp>
        <p:nvSpPr>
          <p:cNvPr id="17" name="Text 14"/>
          <p:cNvSpPr/>
          <p:nvPr/>
        </p:nvSpPr>
        <p:spPr>
          <a:xfrm>
            <a:off x="6461608"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Un token único por id. Cada uno con su dueño y su metadata.</a:t>
            </a:r>
            <a:endParaRPr lang="en-US" sz="1100" dirty="0"/>
          </a:p>
        </p:txBody>
      </p:sp>
      <p:sp>
        <p:nvSpPr>
          <p:cNvPr id="18" name="Shape 15"/>
          <p:cNvSpPr/>
          <p:nvPr/>
        </p:nvSpPr>
        <p:spPr>
          <a:xfrm>
            <a:off x="566928" y="2880360"/>
            <a:ext cx="5419192" cy="1014984"/>
          </a:xfrm>
          <a:prstGeom prst="rect">
            <a:avLst/>
          </a:prstGeom>
          <a:solidFill>
            <a:srgbClr val="FFFFFF"/>
          </a:solidFill>
          <a:ln w="15875">
            <a:solidFill>
              <a:srgbClr val="7152E9"/>
            </a:solidFill>
            <a:prstDash val="solid"/>
          </a:ln>
        </p:spPr>
      </p:sp>
      <p:sp>
        <p:nvSpPr>
          <p:cNvPr id="19" name="Shape 16"/>
          <p:cNvSpPr/>
          <p:nvPr/>
        </p:nvSpPr>
        <p:spPr>
          <a:xfrm>
            <a:off x="566928" y="2880360"/>
            <a:ext cx="82296" cy="1014984"/>
          </a:xfrm>
          <a:prstGeom prst="rect">
            <a:avLst/>
          </a:prstGeom>
          <a:solidFill>
            <a:srgbClr val="7152E9"/>
          </a:solidFill>
          <a:ln w="12700">
            <a:solidFill>
              <a:srgbClr val="333333"/>
            </a:solidFill>
            <a:prstDash val="solid"/>
          </a:ln>
        </p:spPr>
      </p:sp>
      <p:sp>
        <p:nvSpPr>
          <p:cNvPr id="20" name="Text 17"/>
          <p:cNvSpPr/>
          <p:nvPr/>
        </p:nvSpPr>
        <p:spPr>
          <a:xfrm>
            <a:off x="822960"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ERC-1155</a:t>
            </a:r>
            <a:endParaRPr lang="en-US" sz="1100" dirty="0"/>
          </a:p>
        </p:txBody>
      </p:sp>
      <p:sp>
        <p:nvSpPr>
          <p:cNvPr id="21" name="Text 18"/>
          <p:cNvSpPr/>
          <p:nvPr/>
        </p:nvSpPr>
        <p:spPr>
          <a:xfrm>
            <a:off x="2898648"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estándar multi-token</a:t>
            </a:r>
            <a:endParaRPr lang="en-US" sz="1050" dirty="0"/>
          </a:p>
        </p:txBody>
      </p:sp>
      <p:sp>
        <p:nvSpPr>
          <p:cNvPr id="22" name="Text 19"/>
          <p:cNvSpPr/>
          <p:nvPr/>
        </p:nvSpPr>
        <p:spPr>
          <a:xfrm>
            <a:off x="822960"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Un solo contrato con muchos tipos, fungibles o no, y transferencias por lotes.</a:t>
            </a:r>
            <a:endParaRPr lang="en-US" sz="1100" dirty="0"/>
          </a:p>
        </p:txBody>
      </p:sp>
      <p:sp>
        <p:nvSpPr>
          <p:cNvPr id="23" name="Shape 20"/>
          <p:cNvSpPr/>
          <p:nvPr/>
        </p:nvSpPr>
        <p:spPr>
          <a:xfrm>
            <a:off x="6205576" y="2880360"/>
            <a:ext cx="5419192" cy="1014984"/>
          </a:xfrm>
          <a:prstGeom prst="rect">
            <a:avLst/>
          </a:prstGeom>
          <a:solidFill>
            <a:srgbClr val="FFFFFF"/>
          </a:solidFill>
          <a:ln w="15875">
            <a:solidFill>
              <a:srgbClr val="7152E9"/>
            </a:solidFill>
            <a:prstDash val="solid"/>
          </a:ln>
        </p:spPr>
      </p:sp>
      <p:sp>
        <p:nvSpPr>
          <p:cNvPr id="24" name="Shape 21"/>
          <p:cNvSpPr/>
          <p:nvPr/>
        </p:nvSpPr>
        <p:spPr>
          <a:xfrm>
            <a:off x="6205576" y="2880360"/>
            <a:ext cx="82296" cy="1014984"/>
          </a:xfrm>
          <a:prstGeom prst="rect">
            <a:avLst/>
          </a:prstGeom>
          <a:solidFill>
            <a:srgbClr val="7152E9"/>
          </a:solidFill>
          <a:ln w="12700">
            <a:solidFill>
              <a:srgbClr val="333333"/>
            </a:solidFill>
            <a:prstDash val="solid"/>
          </a:ln>
        </p:spPr>
      </p:sp>
      <p:sp>
        <p:nvSpPr>
          <p:cNvPr id="25" name="Text 22"/>
          <p:cNvSpPr/>
          <p:nvPr/>
        </p:nvSpPr>
        <p:spPr>
          <a:xfrm>
            <a:off x="6461608"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TOKENURI</a:t>
            </a:r>
            <a:endParaRPr lang="en-US" sz="1100" dirty="0"/>
          </a:p>
        </p:txBody>
      </p:sp>
      <p:sp>
        <p:nvSpPr>
          <p:cNvPr id="26" name="Text 23"/>
          <p:cNvSpPr/>
          <p:nvPr/>
        </p:nvSpPr>
        <p:spPr>
          <a:xfrm>
            <a:off x="8537296"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enlace a la metadata</a:t>
            </a:r>
            <a:endParaRPr lang="en-US" sz="1050" dirty="0"/>
          </a:p>
        </p:txBody>
      </p:sp>
      <p:sp>
        <p:nvSpPr>
          <p:cNvPr id="27" name="Text 24"/>
          <p:cNvSpPr/>
          <p:nvPr/>
        </p:nvSpPr>
        <p:spPr>
          <a:xfrm>
            <a:off x="6461608"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Función que devuelve dónde está el JSON que describe el token.</a:t>
            </a:r>
            <a:endParaRPr lang="en-US" sz="1100" dirty="0"/>
          </a:p>
        </p:txBody>
      </p:sp>
      <p:sp>
        <p:nvSpPr>
          <p:cNvPr id="28" name="Shape 25"/>
          <p:cNvSpPr/>
          <p:nvPr/>
        </p:nvSpPr>
        <p:spPr>
          <a:xfrm>
            <a:off x="566928" y="4023360"/>
            <a:ext cx="5419192" cy="1014984"/>
          </a:xfrm>
          <a:prstGeom prst="rect">
            <a:avLst/>
          </a:prstGeom>
          <a:solidFill>
            <a:srgbClr val="FFFFFF"/>
          </a:solidFill>
          <a:ln w="15875">
            <a:solidFill>
              <a:srgbClr val="7152E9"/>
            </a:solidFill>
            <a:prstDash val="solid"/>
          </a:ln>
        </p:spPr>
      </p:sp>
      <p:sp>
        <p:nvSpPr>
          <p:cNvPr id="29" name="Shape 26"/>
          <p:cNvSpPr/>
          <p:nvPr/>
        </p:nvSpPr>
        <p:spPr>
          <a:xfrm>
            <a:off x="566928" y="4023360"/>
            <a:ext cx="82296" cy="1014984"/>
          </a:xfrm>
          <a:prstGeom prst="rect">
            <a:avLst/>
          </a:prstGeom>
          <a:solidFill>
            <a:srgbClr val="7152E9"/>
          </a:solidFill>
          <a:ln w="12700">
            <a:solidFill>
              <a:srgbClr val="333333"/>
            </a:solidFill>
            <a:prstDash val="solid"/>
          </a:ln>
        </p:spPr>
      </p:sp>
      <p:sp>
        <p:nvSpPr>
          <p:cNvPr id="30" name="Text 27"/>
          <p:cNvSpPr/>
          <p:nvPr/>
        </p:nvSpPr>
        <p:spPr>
          <a:xfrm>
            <a:off x="822960"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METADATA</a:t>
            </a:r>
            <a:endParaRPr lang="en-US" sz="1100" dirty="0"/>
          </a:p>
        </p:txBody>
      </p:sp>
      <p:sp>
        <p:nvSpPr>
          <p:cNvPr id="31" name="Text 28"/>
          <p:cNvSpPr/>
          <p:nvPr/>
        </p:nvSpPr>
        <p:spPr>
          <a:xfrm>
            <a:off x="2898648"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metadatos</a:t>
            </a:r>
            <a:endParaRPr lang="en-US" sz="1050" dirty="0"/>
          </a:p>
        </p:txBody>
      </p:sp>
      <p:sp>
        <p:nvSpPr>
          <p:cNvPr id="32" name="Text 29"/>
          <p:cNvSpPr/>
          <p:nvPr/>
        </p:nvSpPr>
        <p:spPr>
          <a:xfrm>
            <a:off x="822960"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El JSON con nombre, descripción, imagen y atributos. NO es el token: es su ficha.</a:t>
            </a:r>
            <a:endParaRPr lang="en-US" sz="1100" dirty="0"/>
          </a:p>
        </p:txBody>
      </p:sp>
      <p:sp>
        <p:nvSpPr>
          <p:cNvPr id="33" name="Shape 30"/>
          <p:cNvSpPr/>
          <p:nvPr/>
        </p:nvSpPr>
        <p:spPr>
          <a:xfrm>
            <a:off x="6205576" y="4023360"/>
            <a:ext cx="5419192" cy="1014984"/>
          </a:xfrm>
          <a:prstGeom prst="rect">
            <a:avLst/>
          </a:prstGeom>
          <a:solidFill>
            <a:srgbClr val="FFFFFF"/>
          </a:solidFill>
          <a:ln w="15875">
            <a:solidFill>
              <a:srgbClr val="7152E9"/>
            </a:solidFill>
            <a:prstDash val="solid"/>
          </a:ln>
        </p:spPr>
      </p:sp>
      <p:sp>
        <p:nvSpPr>
          <p:cNvPr id="34" name="Shape 31"/>
          <p:cNvSpPr/>
          <p:nvPr/>
        </p:nvSpPr>
        <p:spPr>
          <a:xfrm>
            <a:off x="6205576" y="4023360"/>
            <a:ext cx="82296" cy="1014984"/>
          </a:xfrm>
          <a:prstGeom prst="rect">
            <a:avLst/>
          </a:prstGeom>
          <a:solidFill>
            <a:srgbClr val="7152E9"/>
          </a:solidFill>
          <a:ln w="12700">
            <a:solidFill>
              <a:srgbClr val="333333"/>
            </a:solidFill>
            <a:prstDash val="solid"/>
          </a:ln>
        </p:spPr>
      </p:sp>
      <p:sp>
        <p:nvSpPr>
          <p:cNvPr id="35" name="Text 32"/>
          <p:cNvSpPr/>
          <p:nvPr/>
        </p:nvSpPr>
        <p:spPr>
          <a:xfrm>
            <a:off x="6461608"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IPFS</a:t>
            </a:r>
            <a:endParaRPr lang="en-US" sz="1100" dirty="0"/>
          </a:p>
        </p:txBody>
      </p:sp>
      <p:sp>
        <p:nvSpPr>
          <p:cNvPr id="36" name="Text 33"/>
          <p:cNvSpPr/>
          <p:nvPr/>
        </p:nvSpPr>
        <p:spPr>
          <a:xfrm>
            <a:off x="8537296"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InterPlanetary File System</a:t>
            </a:r>
            <a:endParaRPr lang="en-US" sz="1050" dirty="0"/>
          </a:p>
        </p:txBody>
      </p:sp>
      <p:sp>
        <p:nvSpPr>
          <p:cNvPr id="37" name="Text 34"/>
          <p:cNvSpPr/>
          <p:nvPr/>
        </p:nvSpPr>
        <p:spPr>
          <a:xfrm>
            <a:off x="6461608"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Red de almacenamiento que direcciona por contenido: el enlace es el hash del archivo.</a:t>
            </a:r>
            <a:endParaRPr lang="en-US" sz="1100" dirty="0"/>
          </a:p>
        </p:txBody>
      </p:sp>
      <p:sp>
        <p:nvSpPr>
          <p:cNvPr id="38" name="Shape 35"/>
          <p:cNvSpPr/>
          <p:nvPr/>
        </p:nvSpPr>
        <p:spPr>
          <a:xfrm>
            <a:off x="566928" y="5166360"/>
            <a:ext cx="5419192" cy="1014984"/>
          </a:xfrm>
          <a:prstGeom prst="rect">
            <a:avLst/>
          </a:prstGeom>
          <a:solidFill>
            <a:srgbClr val="FFFFFF"/>
          </a:solidFill>
          <a:ln w="15875">
            <a:solidFill>
              <a:srgbClr val="7152E9"/>
            </a:solidFill>
            <a:prstDash val="solid"/>
          </a:ln>
        </p:spPr>
      </p:sp>
      <p:sp>
        <p:nvSpPr>
          <p:cNvPr id="39" name="Shape 36"/>
          <p:cNvSpPr/>
          <p:nvPr/>
        </p:nvSpPr>
        <p:spPr>
          <a:xfrm>
            <a:off x="566928" y="5166360"/>
            <a:ext cx="82296" cy="1014984"/>
          </a:xfrm>
          <a:prstGeom prst="rect">
            <a:avLst/>
          </a:prstGeom>
          <a:solidFill>
            <a:srgbClr val="7152E9"/>
          </a:solidFill>
          <a:ln w="12700">
            <a:solidFill>
              <a:srgbClr val="333333"/>
            </a:solidFill>
            <a:prstDash val="solid"/>
          </a:ln>
        </p:spPr>
      </p:sp>
      <p:sp>
        <p:nvSpPr>
          <p:cNvPr id="40" name="Text 37"/>
          <p:cNvSpPr/>
          <p:nvPr/>
        </p:nvSpPr>
        <p:spPr>
          <a:xfrm>
            <a:off x="822960"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CID</a:t>
            </a:r>
            <a:endParaRPr lang="en-US" sz="1100" dirty="0"/>
          </a:p>
        </p:txBody>
      </p:sp>
      <p:sp>
        <p:nvSpPr>
          <p:cNvPr id="41" name="Text 38"/>
          <p:cNvSpPr/>
          <p:nvPr/>
        </p:nvSpPr>
        <p:spPr>
          <a:xfrm>
            <a:off x="2898648"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Content Identifier</a:t>
            </a:r>
            <a:endParaRPr lang="en-US" sz="1050" dirty="0"/>
          </a:p>
        </p:txBody>
      </p:sp>
      <p:sp>
        <p:nvSpPr>
          <p:cNvPr id="42" name="Text 39"/>
          <p:cNvSpPr/>
          <p:nvPr/>
        </p:nvSpPr>
        <p:spPr>
          <a:xfrm>
            <a:off x="822960"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El identificador de IPFS: es el hash del contenido. Si el archivo cambia, el CID cambia.</a:t>
            </a:r>
            <a:endParaRPr lang="en-US" sz="1100" dirty="0"/>
          </a:p>
        </p:txBody>
      </p:sp>
      <p:sp>
        <p:nvSpPr>
          <p:cNvPr id="43" name="Shape 40"/>
          <p:cNvSpPr/>
          <p:nvPr/>
        </p:nvSpPr>
        <p:spPr>
          <a:xfrm>
            <a:off x="6205576" y="5166360"/>
            <a:ext cx="5419192" cy="1014984"/>
          </a:xfrm>
          <a:prstGeom prst="rect">
            <a:avLst/>
          </a:prstGeom>
          <a:solidFill>
            <a:srgbClr val="FFFFFF"/>
          </a:solidFill>
          <a:ln w="15875">
            <a:solidFill>
              <a:srgbClr val="7152E9"/>
            </a:solidFill>
            <a:prstDash val="solid"/>
          </a:ln>
        </p:spPr>
      </p:sp>
      <p:sp>
        <p:nvSpPr>
          <p:cNvPr id="44" name="Shape 41"/>
          <p:cNvSpPr/>
          <p:nvPr/>
        </p:nvSpPr>
        <p:spPr>
          <a:xfrm>
            <a:off x="6205576" y="5166360"/>
            <a:ext cx="82296" cy="1014984"/>
          </a:xfrm>
          <a:prstGeom prst="rect">
            <a:avLst/>
          </a:prstGeom>
          <a:solidFill>
            <a:srgbClr val="7152E9"/>
          </a:solidFill>
          <a:ln w="12700">
            <a:solidFill>
              <a:srgbClr val="333333"/>
            </a:solidFill>
            <a:prstDash val="solid"/>
          </a:ln>
        </p:spPr>
      </p:sp>
      <p:sp>
        <p:nvSpPr>
          <p:cNvPr id="45" name="Text 42"/>
          <p:cNvSpPr/>
          <p:nvPr/>
        </p:nvSpPr>
        <p:spPr>
          <a:xfrm>
            <a:off x="6461608"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PINNING</a:t>
            </a:r>
            <a:endParaRPr lang="en-US" sz="1100" dirty="0"/>
          </a:p>
        </p:txBody>
      </p:sp>
      <p:sp>
        <p:nvSpPr>
          <p:cNvPr id="46" name="Text 43"/>
          <p:cNvSpPr/>
          <p:nvPr/>
        </p:nvSpPr>
        <p:spPr>
          <a:xfrm>
            <a:off x="8537296"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fijado</a:t>
            </a:r>
            <a:endParaRPr lang="en-US" sz="1050" dirty="0"/>
          </a:p>
        </p:txBody>
      </p:sp>
      <p:sp>
        <p:nvSpPr>
          <p:cNvPr id="47" name="Text 44"/>
          <p:cNvSpPr/>
          <p:nvPr/>
        </p:nvSpPr>
        <p:spPr>
          <a:xfrm>
            <a:off x="6461608"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Pagar a un servicio para que mantenga tu archivo disponible en IPFS. Si nadie lo fija, desaparece.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65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NO FUNGIBILIDAD E IPFS</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Comprar un NFT casi nunca es comprar una imagen. Es comprar una fila en un contrato que apunta a una imagen. Dónde apunta lo cambia todo.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11 · NFT, ERC-721/1155 E IPFS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FUNGIBLE VS NO FUNGIBLE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UN BILLETE CUALQUIERA, O ESTA ENTRADA EXACTA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Shape 5"/>
          <p:cNvSpPr/>
          <p:nvPr/>
        </p:nvSpPr>
        <p:spPr>
          <a:xfrm>
            <a:off x="566928" y="1737360"/>
            <a:ext cx="5391760" cy="23317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FUNGIBLE · ERC-20 (SESIÓN 10)</a:t>
            </a:r>
            <a:endParaRPr lang="en-US" sz="1050" dirty="0"/>
          </a:p>
        </p:txBody>
      </p:sp>
      <p:sp>
        <p:nvSpPr>
          <p:cNvPr id="10" name="Text 7"/>
          <p:cNvSpPr/>
          <p:nvPr/>
        </p:nvSpPr>
        <p:spPr>
          <a:xfrm>
            <a:off x="841248" y="2304288"/>
            <a:ext cx="4843120" cy="1600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Cada unidad es idéntica e intercambiable. Mi punto vale igual que tu punto. Solo importa CUÁNTOS tienes. Como el dinero: da igual qué billete de 50.</a:t>
            </a:r>
            <a:endParaRPr lang="en-US" sz="1300" dirty="0"/>
          </a:p>
        </p:txBody>
      </p:sp>
      <p:sp>
        <p:nvSpPr>
          <p:cNvPr id="11" name="Shape 8"/>
          <p:cNvSpPr/>
          <p:nvPr/>
        </p:nvSpPr>
        <p:spPr>
          <a:xfrm>
            <a:off x="6233008" y="1737360"/>
            <a:ext cx="5391760" cy="23317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NO FUNGIBLE · ERC-721</a:t>
            </a:r>
            <a:endParaRPr lang="en-US" sz="1050" dirty="0"/>
          </a:p>
        </p:txBody>
      </p:sp>
      <p:sp>
        <p:nvSpPr>
          <p:cNvPr id="13" name="Text 10"/>
          <p:cNvSpPr/>
          <p:nvPr/>
        </p:nvSpPr>
        <p:spPr>
          <a:xfrm>
            <a:off x="6507328" y="2304288"/>
            <a:ext cx="4843120" cy="16002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Cada token es único, con identidad propia. Importa CUÁL tienes. Como una entrada con asiento asignado, un diploma, un título de propiedad: no son intercambiables uno por otro.</a:t>
            </a:r>
            <a:endParaRPr lang="en-US" sz="1300" dirty="0"/>
          </a:p>
        </p:txBody>
      </p:sp>
      <p:sp>
        <p:nvSpPr>
          <p:cNvPr id="14" name="Shape 11"/>
          <p:cNvSpPr/>
          <p:nvPr/>
        </p:nvSpPr>
        <p:spPr>
          <a:xfrm>
            <a:off x="566928" y="4297680"/>
            <a:ext cx="11057839" cy="594360"/>
          </a:xfrm>
          <a:prstGeom prst="rect">
            <a:avLst/>
          </a:prstGeom>
          <a:solidFill>
            <a:srgbClr val="F2F0F5"/>
          </a:solidFill>
          <a:ln w="12700">
            <a:solidFill>
              <a:srgbClr val="7152E9"/>
            </a:solidFill>
            <a:prstDash val="solid"/>
          </a:ln>
        </p:spPr>
      </p:sp>
      <p:sp>
        <p:nvSpPr>
          <p:cNvPr id="15" name="Text 12"/>
          <p:cNvSpPr/>
          <p:nvPr/>
        </p:nvSpPr>
        <p:spPr>
          <a:xfrm>
            <a:off x="731520" y="4370832"/>
            <a:ext cx="10728655" cy="448056"/>
          </a:xfrm>
          <a:prstGeom prst="rect">
            <a:avLst/>
          </a:prstGeom>
          <a:noFill/>
          <a:ln/>
        </p:spPr>
        <p:txBody>
          <a:bodyPr wrap="square" lIns="0" tIns="0" rIns="0" bIns="0" rtlCol="0" anchor="ctr"/>
          <a:lstStyle/>
          <a:p>
            <a:pPr indent="0" marL="0">
              <a:lnSpc>
                <a:spcPct val="120000"/>
              </a:lnSpc>
              <a:buNone/>
            </a:pPr>
            <a:r>
              <a:rPr lang="en-US" sz="1200" dirty="0">
                <a:solidFill>
                  <a:srgbClr val="3A3844"/>
                </a:solidFill>
                <a:latin typeface="Courier New" pitchFamily="34" charset="0"/>
                <a:ea typeface="Courier New" pitchFamily="34" charset="-122"/>
                <a:cs typeface="Courier New" pitchFamily="34" charset="-120"/>
              </a:rPr>
              <a:t>ERC-20:  balanceOf(ana) = 30        ·        ERC-721:  ownerOf(7) = ana</a:t>
            </a:r>
            <a:endParaRPr lang="en-US" sz="1200" dirty="0"/>
          </a:p>
        </p:txBody>
      </p:sp>
      <p:sp>
        <p:nvSpPr>
          <p:cNvPr id="16" name="Text 13"/>
          <p:cNvSpPr/>
          <p:nvPr/>
        </p:nvSpPr>
        <p:spPr>
          <a:xfrm>
            <a:off x="566928" y="5074920"/>
            <a:ext cx="11057839" cy="640080"/>
          </a:xfrm>
          <a:prstGeom prst="rect">
            <a:avLst/>
          </a:prstGeom>
          <a:noFill/>
          <a:ln/>
        </p:spPr>
        <p:txBody>
          <a:bodyPr wrap="square" lIns="0" tIns="0" rIns="0" bIns="0" rtlCol="0" anchor="t"/>
          <a:lstStyle/>
          <a:p>
            <a:pPr indent="0" marL="0">
              <a:lnSpc>
                <a:spcPct val="124000"/>
              </a:lnSpc>
              <a:buNone/>
            </a:pPr>
            <a:r>
              <a:rPr lang="en-US" sz="1350" dirty="0">
                <a:solidFill>
                  <a:srgbClr val="A35604"/>
                </a:solidFill>
                <a:latin typeface="Arial" pitchFamily="34" charset="0"/>
                <a:ea typeface="Arial" pitchFamily="34" charset="-122"/>
                <a:cs typeface="Arial" pitchFamily="34" charset="-120"/>
              </a:rPr>
              <a:t>El cambio de pregunta lo resume todo: en ERC-20 se pregunta «¿cuántos?»; en ERC-721, «¿de quién es el número 7?».</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DOS ESTÁNDARES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ERC-721 Y ERC-1155</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103120"/>
                <a:gridCol w="4206240"/>
                <a:gridCol w="4748479"/>
              </a:tblGrid>
              <a:tr h="310896">
                <a:tc>
                  <a:txBody>
                    <a:bodyPr/>
                    <a:lstStyle/>
                    <a:p>
                      <a:pPr indent="0" marL="0">
                        <a:buNone/>
                      </a:pP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ERC-721</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ERC-1155</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41325">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Idea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 token único por id.</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 contrato con muchos tipos a la vez.</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41325">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Fungibilidad</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Todos no fungibles.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Mezcla: tipos fungibles y no fungibles juntos.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41325">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Transferir varios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Uno por transacción.</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Por lotes: muchos en una sola transacción.</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41325">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Caso típico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 diploma, una obra única, un título.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Ítems de un juego: 1000 pociones y 1 espada legendaria.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41325">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Costo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 contrato por colección.</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Más barato al manejar muchos tipos e inventarios.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054096"/>
          </a:xfrm>
          <a:prstGeom prst="rect">
            <a:avLst/>
          </a:prstGeom>
          <a:ln w="22225">
            <a:solidFill>
              <a:srgbClr val="0F0F11"/>
            </a:solidFill>
            <a:prstDash val="solid"/>
          </a:ln>
        </p:spPr>
      </p:sp>
      <p:sp>
        <p:nvSpPr>
          <p:cNvPr id="10" name="Shape 6"/>
          <p:cNvSpPr/>
          <p:nvPr/>
        </p:nvSpPr>
        <p:spPr>
          <a:xfrm>
            <a:off x="566928" y="493776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5157216"/>
            <a:ext cx="237744" cy="237744"/>
          </a:xfrm>
          <a:prstGeom prst="rect">
            <a:avLst/>
          </a:prstGeom>
        </p:spPr>
      </p:pic>
      <p:sp>
        <p:nvSpPr>
          <p:cNvPr id="12" name="Text 7"/>
          <p:cNvSpPr/>
          <p:nvPr/>
        </p:nvSpPr>
        <p:spPr>
          <a:xfrm>
            <a:off x="1133856" y="512978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CÓMO ELEGIR</a:t>
            </a:r>
            <a:endParaRPr lang="en-US" sz="950" dirty="0"/>
          </a:p>
        </p:txBody>
      </p:sp>
      <p:sp>
        <p:nvSpPr>
          <p:cNvPr id="13" name="Text 8"/>
          <p:cNvSpPr/>
          <p:nvPr/>
        </p:nvSpPr>
        <p:spPr>
          <a:xfrm>
            <a:off x="804672" y="5449824"/>
            <a:ext cx="10582351" cy="585216"/>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¿Cada ítem es una pieza única con su propia historia? ERC-721. ¿Hay muchas copias de pocos tipos, o se mueven inventarios en lote? ERC-1155. El diploma es claramente 721.</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LA DISTINCIÓN CLAVE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«EL NFT» NO ES «EL ARCHIVO»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sp>
        <p:nvSpPr>
          <p:cNvPr id="8" name="Shape 5"/>
          <p:cNvSpPr/>
          <p:nvPr/>
        </p:nvSpPr>
        <p:spPr>
          <a:xfrm>
            <a:off x="566928" y="1920240"/>
            <a:ext cx="3017520" cy="1188720"/>
          </a:xfrm>
          <a:prstGeom prst="rect">
            <a:avLst/>
          </a:prstGeom>
          <a:solidFill>
            <a:srgbClr val="FFFFFF"/>
          </a:solidFill>
          <a:ln w="22225">
            <a:solidFill>
              <a:srgbClr val="F07F06"/>
            </a:solidFill>
            <a:prstDash val="solid"/>
          </a:ln>
        </p:spPr>
      </p:sp>
      <p:sp>
        <p:nvSpPr>
          <p:cNvPr id="9" name="Text 6"/>
          <p:cNvSpPr/>
          <p:nvPr/>
        </p:nvSpPr>
        <p:spPr>
          <a:xfrm>
            <a:off x="658368" y="2011680"/>
            <a:ext cx="283464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EN LA CADENA</a:t>
            </a:r>
            <a:endParaRPr lang="en-US" sz="1100" dirty="0"/>
          </a:p>
        </p:txBody>
      </p:sp>
      <p:sp>
        <p:nvSpPr>
          <p:cNvPr id="10" name="Text 7"/>
          <p:cNvSpPr/>
          <p:nvPr/>
        </p:nvSpPr>
        <p:spPr>
          <a:xfrm>
            <a:off x="658368" y="2322576"/>
            <a:ext cx="2834640" cy="713232"/>
          </a:xfrm>
          <a:prstGeom prst="rect">
            <a:avLst/>
          </a:prstGeom>
          <a:noFill/>
          <a:ln/>
        </p:spPr>
        <p:txBody>
          <a:bodyPr wrap="square" lIns="0" tIns="0" rIns="0" bIns="0" rtlCol="0" anchor="t"/>
          <a:lstStyle/>
          <a:p>
            <a:pPr algn="ctr" indent="0" marL="0">
              <a:lnSpc>
                <a:spcPct val="110000"/>
              </a:lnSpc>
              <a:buNone/>
            </a:pPr>
            <a:r>
              <a:rPr lang="en-US" sz="1100" dirty="0">
                <a:solidFill>
                  <a:srgbClr val="6F6B80"/>
                </a:solidFill>
                <a:latin typeface="Arial" pitchFamily="34" charset="0"/>
                <a:ea typeface="Arial" pitchFamily="34" charset="-122"/>
                <a:cs typeface="Arial" pitchFamily="34" charset="-120"/>
              </a:rPr>
              <a:t>ownerOf(7) = ana</a:t>
            </a:r>
            <a:endParaRPr lang="en-US" sz="1100" dirty="0"/>
          </a:p>
          <a:p>
            <a:pPr algn="ctr" indent="0" marL="0">
              <a:lnSpc>
                <a:spcPct val="110000"/>
              </a:lnSpc>
              <a:buNone/>
            </a:pPr>
            <a:r>
              <a:rPr lang="en-US" sz="1100" dirty="0">
                <a:solidFill>
                  <a:srgbClr val="6F6B80"/>
                </a:solidFill>
                <a:latin typeface="Arial" pitchFamily="34" charset="0"/>
                <a:ea typeface="Arial" pitchFamily="34" charset="-122"/>
                <a:cs typeface="Arial" pitchFamily="34" charset="-120"/>
              </a:rPr>
              <a:t>tokenURI(7) = ipfs://...</a:t>
            </a:r>
            <a:endParaRPr lang="en-US" sz="1100" dirty="0"/>
          </a:p>
        </p:txBody>
      </p:sp>
      <p:sp>
        <p:nvSpPr>
          <p:cNvPr id="11" name="Shape 8"/>
          <p:cNvSpPr/>
          <p:nvPr/>
        </p:nvSpPr>
        <p:spPr>
          <a:xfrm>
            <a:off x="3584448" y="2514600"/>
            <a:ext cx="1005840" cy="914"/>
          </a:xfrm>
          <a:prstGeom prst="line">
            <a:avLst/>
          </a:prstGeom>
          <a:noFill/>
          <a:ln w="25400">
            <a:solidFill>
              <a:srgbClr val="0F0F11"/>
            </a:solidFill>
            <a:prstDash val="solid"/>
            <a:tailEnd type="triangle"/>
          </a:ln>
        </p:spPr>
      </p:sp>
      <p:sp>
        <p:nvSpPr>
          <p:cNvPr id="12" name="Shape 9"/>
          <p:cNvSpPr/>
          <p:nvPr/>
        </p:nvSpPr>
        <p:spPr>
          <a:xfrm>
            <a:off x="4590288" y="1920240"/>
            <a:ext cx="3017520" cy="1188720"/>
          </a:xfrm>
          <a:prstGeom prst="rect">
            <a:avLst/>
          </a:prstGeom>
          <a:solidFill>
            <a:srgbClr val="FAF9FB"/>
          </a:solidFill>
          <a:ln w="22225">
            <a:solidFill>
              <a:srgbClr val="0F0F11"/>
            </a:solidFill>
            <a:prstDash val="solid"/>
          </a:ln>
        </p:spPr>
      </p:sp>
      <p:sp>
        <p:nvSpPr>
          <p:cNvPr id="13" name="Text 10"/>
          <p:cNvSpPr/>
          <p:nvPr/>
        </p:nvSpPr>
        <p:spPr>
          <a:xfrm>
            <a:off x="4681728" y="2011680"/>
            <a:ext cx="283464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EN IPFS · EL JSON</a:t>
            </a:r>
            <a:endParaRPr lang="en-US" sz="1100" dirty="0"/>
          </a:p>
        </p:txBody>
      </p:sp>
      <p:sp>
        <p:nvSpPr>
          <p:cNvPr id="14" name="Text 11"/>
          <p:cNvSpPr/>
          <p:nvPr/>
        </p:nvSpPr>
        <p:spPr>
          <a:xfrm>
            <a:off x="4681728" y="2322576"/>
            <a:ext cx="2834640" cy="713232"/>
          </a:xfrm>
          <a:prstGeom prst="rect">
            <a:avLst/>
          </a:prstGeom>
          <a:noFill/>
          <a:ln/>
        </p:spPr>
        <p:txBody>
          <a:bodyPr wrap="square" lIns="0" tIns="0" rIns="0" bIns="0" rtlCol="0" anchor="t"/>
          <a:lstStyle/>
          <a:p>
            <a:pPr algn="ctr" indent="0" marL="0">
              <a:lnSpc>
                <a:spcPct val="110000"/>
              </a:lnSpc>
              <a:buNone/>
            </a:pPr>
            <a:r>
              <a:rPr lang="en-US" sz="1100" dirty="0">
                <a:solidFill>
                  <a:srgbClr val="6F6B80"/>
                </a:solidFill>
                <a:latin typeface="Arial" pitchFamily="34" charset="0"/>
                <a:ea typeface="Arial" pitchFamily="34" charset="-122"/>
                <a:cs typeface="Arial" pitchFamily="34" charset="-120"/>
              </a:rPr>
              <a:t>nombre, descripción,</a:t>
            </a:r>
            <a:endParaRPr lang="en-US" sz="1100" dirty="0"/>
          </a:p>
          <a:p>
            <a:pPr algn="ctr" indent="0" marL="0">
              <a:lnSpc>
                <a:spcPct val="110000"/>
              </a:lnSpc>
              <a:buNone/>
            </a:pPr>
            <a:r>
              <a:rPr lang="en-US" sz="1100" dirty="0">
                <a:solidFill>
                  <a:srgbClr val="6F6B80"/>
                </a:solidFill>
                <a:latin typeface="Arial" pitchFamily="34" charset="0"/>
                <a:ea typeface="Arial" pitchFamily="34" charset="-122"/>
                <a:cs typeface="Arial" pitchFamily="34" charset="-120"/>
              </a:rPr>
              <a:t>"image": ipfs://...</a:t>
            </a:r>
            <a:endParaRPr lang="en-US" sz="1100" dirty="0"/>
          </a:p>
        </p:txBody>
      </p:sp>
      <p:sp>
        <p:nvSpPr>
          <p:cNvPr id="15" name="Shape 12"/>
          <p:cNvSpPr/>
          <p:nvPr/>
        </p:nvSpPr>
        <p:spPr>
          <a:xfrm>
            <a:off x="7607808" y="2514600"/>
            <a:ext cx="1005840" cy="914"/>
          </a:xfrm>
          <a:prstGeom prst="line">
            <a:avLst/>
          </a:prstGeom>
          <a:noFill/>
          <a:ln w="25400">
            <a:solidFill>
              <a:srgbClr val="0F0F11"/>
            </a:solidFill>
            <a:prstDash val="solid"/>
            <a:tailEnd type="triangle"/>
          </a:ln>
        </p:spPr>
      </p:sp>
      <p:sp>
        <p:nvSpPr>
          <p:cNvPr id="16" name="Shape 13"/>
          <p:cNvSpPr/>
          <p:nvPr/>
        </p:nvSpPr>
        <p:spPr>
          <a:xfrm>
            <a:off x="8613648" y="1920240"/>
            <a:ext cx="3011119" cy="1188720"/>
          </a:xfrm>
          <a:prstGeom prst="rect">
            <a:avLst/>
          </a:prstGeom>
          <a:solidFill>
            <a:srgbClr val="FAF9FB"/>
          </a:solidFill>
          <a:ln w="22225">
            <a:solidFill>
              <a:srgbClr val="0F0F11"/>
            </a:solidFill>
            <a:prstDash val="solid"/>
          </a:ln>
        </p:spPr>
      </p:sp>
      <p:sp>
        <p:nvSpPr>
          <p:cNvPr id="17" name="Text 14"/>
          <p:cNvSpPr/>
          <p:nvPr/>
        </p:nvSpPr>
        <p:spPr>
          <a:xfrm>
            <a:off x="8705088" y="2011680"/>
            <a:ext cx="2828239"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EN IPFS · LA IMAGEN</a:t>
            </a:r>
            <a:endParaRPr lang="en-US" sz="1100" dirty="0"/>
          </a:p>
        </p:txBody>
      </p:sp>
      <p:sp>
        <p:nvSpPr>
          <p:cNvPr id="18" name="Text 15"/>
          <p:cNvSpPr/>
          <p:nvPr/>
        </p:nvSpPr>
        <p:spPr>
          <a:xfrm>
            <a:off x="8705088" y="2322576"/>
            <a:ext cx="2828239" cy="713232"/>
          </a:xfrm>
          <a:prstGeom prst="rect">
            <a:avLst/>
          </a:prstGeom>
          <a:noFill/>
          <a:ln/>
        </p:spPr>
        <p:txBody>
          <a:bodyPr wrap="square" lIns="0" tIns="0" rIns="0" bIns="0" rtlCol="0" anchor="t"/>
          <a:lstStyle/>
          <a:p>
            <a:pPr algn="ctr" indent="0" marL="0">
              <a:lnSpc>
                <a:spcPct val="110000"/>
              </a:lnSpc>
              <a:buNone/>
            </a:pPr>
            <a:r>
              <a:rPr lang="en-US" sz="1100" dirty="0">
                <a:solidFill>
                  <a:srgbClr val="6F6B80"/>
                </a:solidFill>
                <a:latin typeface="Arial" pitchFamily="34" charset="0"/>
                <a:ea typeface="Arial" pitchFamily="34" charset="-122"/>
                <a:cs typeface="Arial" pitchFamily="34" charset="-120"/>
              </a:rPr>
              <a:t>el archivo .png</a:t>
            </a:r>
            <a:endParaRPr lang="en-US" sz="1100" dirty="0"/>
          </a:p>
          <a:p>
            <a:pPr algn="ctr" indent="0" marL="0">
              <a:lnSpc>
                <a:spcPct val="110000"/>
              </a:lnSpc>
              <a:buNone/>
            </a:pPr>
            <a:r>
              <a:rPr lang="en-US" sz="1100" dirty="0">
                <a:solidFill>
                  <a:srgbClr val="6F6B80"/>
                </a:solidFill>
                <a:latin typeface="Arial" pitchFamily="34" charset="0"/>
                <a:ea typeface="Arial" pitchFamily="34" charset="-122"/>
                <a:cs typeface="Arial" pitchFamily="34" charset="-120"/>
              </a:rPr>
              <a:t>o .pdf del diploma</a:t>
            </a:r>
            <a:endParaRPr lang="en-US" sz="1100" dirty="0"/>
          </a:p>
        </p:txBody>
      </p:sp>
      <p:sp>
        <p:nvSpPr>
          <p:cNvPr id="19" name="Text 16"/>
          <p:cNvSpPr/>
          <p:nvPr/>
        </p:nvSpPr>
        <p:spPr>
          <a:xfrm>
            <a:off x="566928" y="352044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El contrato guarda dos cosas: quién es el dueño, y un enlace (tokenURI) al JSON. El JSON, a su vez, enlaza la imagen. Ni el JSON ni la imagen están en la cadena: sería carísimo (Sesión 5).</a:t>
            </a:r>
            <a:endParaRPr lang="en-US" sz="1400" dirty="0"/>
          </a:p>
        </p:txBody>
      </p:sp>
      <p:sp>
        <p:nvSpPr>
          <p:cNvPr id="20" name="Shape 17"/>
          <p:cNvSpPr/>
          <p:nvPr/>
        </p:nvSpPr>
        <p:spPr>
          <a:xfrm>
            <a:off x="566928" y="4526280"/>
            <a:ext cx="11057839" cy="16002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21" name="Image 1" descr="preencoded.png">    </p:cNvPr>
          <p:cNvPicPr>
            <a:picLocks noChangeAspect="1"/>
          </p:cNvPicPr>
          <p:nvPr/>
        </p:nvPicPr>
        <p:blipFill>
          <a:blip r:embed="rId2"/>
          <a:stretch>
            <a:fillRect/>
          </a:stretch>
        </p:blipFill>
        <p:spPr>
          <a:xfrm>
            <a:off x="804672" y="4745736"/>
            <a:ext cx="237744" cy="237744"/>
          </a:xfrm>
          <a:prstGeom prst="rect">
            <a:avLst/>
          </a:prstGeom>
        </p:spPr>
      </p:pic>
      <p:sp>
        <p:nvSpPr>
          <p:cNvPr id="22" name="Text 18"/>
          <p:cNvSpPr/>
          <p:nvPr/>
        </p:nvSpPr>
        <p:spPr>
          <a:xfrm>
            <a:off x="1133856" y="471830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LO QUE DE VERDAD SE COMPRA</a:t>
            </a:r>
            <a:endParaRPr lang="en-US" sz="950" dirty="0"/>
          </a:p>
        </p:txBody>
      </p:sp>
      <p:sp>
        <p:nvSpPr>
          <p:cNvPr id="23" name="Text 19"/>
          <p:cNvSpPr/>
          <p:nvPr/>
        </p:nvSpPr>
        <p:spPr>
          <a:xfrm>
            <a:off x="804672" y="5038344"/>
            <a:ext cx="10582351" cy="99669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Comprar un NFT es hacerse dueño de la fila del contrato: ownerOf(7) pasa a ser tu dirección. La imagen es un archivo al que ese token apunta. Si ese archivo desaparece, sigues siendo dueño de un token que apunta a la nada. Por eso importa tanto DÓNDE vive el archivo.</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EL PROBLEMA DE LA PERMANENCIA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UNA URL NORMAL ROMPE LA PROMESA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sp>
        <p:nvSpPr>
          <p:cNvPr id="8" name="Shape 5"/>
          <p:cNvSpPr/>
          <p:nvPr/>
        </p:nvSpPr>
        <p:spPr>
          <a:xfrm>
            <a:off x="566928" y="1737360"/>
            <a:ext cx="5391760" cy="25146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TOKENURI CON URL NORMAL</a:t>
            </a:r>
            <a:endParaRPr lang="en-US" sz="1050" dirty="0"/>
          </a:p>
        </p:txBody>
      </p:sp>
      <p:sp>
        <p:nvSpPr>
          <p:cNvPr id="10" name="Text 7"/>
          <p:cNvSpPr/>
          <p:nvPr/>
        </p:nvSpPr>
        <p:spPr>
          <a:xfrm>
            <a:off x="841248" y="2304288"/>
            <a:ext cx="4843120" cy="17830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https://miuni.edu/diploma/7.json</a:t>
            </a:r>
            <a:endParaRPr lang="en-US" sz="1250" dirty="0"/>
          </a:p>
          <a:p>
            <a:pPr indent="0" marL="0">
              <a:lnSpc>
                <a:spcPct val="124000"/>
              </a:lnSpc>
              <a:buNone/>
            </a:pPr>
            <a:endParaRPr lang="en-US" sz="1250" dirty="0"/>
          </a:p>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día que ese servidor cambie el archivo, caiga, o la universidad deje de pagarlo, el NFT apunta a la nada — o peor, a otra cosa. Quien controla el servidor puede cambiar «tu» NFT sin tocar la cadena.</a:t>
            </a:r>
            <a:endParaRPr lang="en-US" sz="1250" dirty="0"/>
          </a:p>
        </p:txBody>
      </p:sp>
      <p:sp>
        <p:nvSpPr>
          <p:cNvPr id="11" name="Shape 8"/>
          <p:cNvSpPr/>
          <p:nvPr/>
        </p:nvSpPr>
        <p:spPr>
          <a:xfrm>
            <a:off x="6233008" y="1737360"/>
            <a:ext cx="5391760" cy="25146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TOKENURI CON IPFS</a:t>
            </a:r>
            <a:endParaRPr lang="en-US" sz="1050" dirty="0"/>
          </a:p>
        </p:txBody>
      </p:sp>
      <p:sp>
        <p:nvSpPr>
          <p:cNvPr id="13" name="Text 10"/>
          <p:cNvSpPr/>
          <p:nvPr/>
        </p:nvSpPr>
        <p:spPr>
          <a:xfrm>
            <a:off x="6507328" y="2304288"/>
            <a:ext cx="4843120" cy="17830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ipfs://bafybei.../7.json</a:t>
            </a:r>
            <a:endParaRPr lang="en-US" sz="1250" dirty="0"/>
          </a:p>
          <a:p>
            <a:pPr indent="0" marL="0">
              <a:lnSpc>
                <a:spcPct val="124000"/>
              </a:lnSpc>
              <a:buNone/>
            </a:pPr>
            <a:endParaRPr lang="en-US" sz="1250" dirty="0"/>
          </a:p>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enlace ES el hash del contenido. Si alguien cambia el archivo, cambia el CID, así que el enlace ya no coincide: es imposible sustituir el contenido a escondidas.</a:t>
            </a:r>
            <a:endParaRPr lang="en-US" sz="1250" dirty="0"/>
          </a:p>
        </p:txBody>
      </p:sp>
      <p:sp>
        <p:nvSpPr>
          <p:cNvPr id="14" name="Shape 11"/>
          <p:cNvSpPr/>
          <p:nvPr/>
        </p:nvSpPr>
        <p:spPr>
          <a:xfrm>
            <a:off x="566928" y="4434840"/>
            <a:ext cx="11057839" cy="123444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15" name="Text 12"/>
          <p:cNvSpPr/>
          <p:nvPr/>
        </p:nvSpPr>
        <p:spPr>
          <a:xfrm>
            <a:off x="950976" y="4617720"/>
            <a:ext cx="10289743" cy="868680"/>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Un NFT es tan permanente como el lugar donde vive su archivo. IPFS no lo hace eterno gratis, pero hace imposible falsificarlo.</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CÓMO FUNCIONA IPFS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DIRECCIONAR POR CONTENIDO, NO POR UBICACIÓN</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sp>
        <p:nvSpPr>
          <p:cNvPr id="8" name="Shape 5"/>
          <p:cNvSpPr/>
          <p:nvPr/>
        </p:nvSpPr>
        <p:spPr>
          <a:xfrm>
            <a:off x="566928" y="1737360"/>
            <a:ext cx="5391760" cy="21031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LA WEB NORMAL · POR UBICACIÓN</a:t>
            </a:r>
            <a:endParaRPr lang="en-US" sz="1050" dirty="0"/>
          </a:p>
        </p:txBody>
      </p:sp>
      <p:sp>
        <p:nvSpPr>
          <p:cNvPr id="10" name="Text 7"/>
          <p:cNvSpPr/>
          <p:nvPr/>
        </p:nvSpPr>
        <p:spPr>
          <a:xfrm>
            <a:off x="841248" y="2304288"/>
            <a:ext cx="4843120" cy="13716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«Tráeme lo que haya en esta dirección.» Lo que devuelve depende de quién controla el servidor, y puede cambiar en cualquier momento.</a:t>
            </a:r>
            <a:endParaRPr lang="en-US" sz="1300" dirty="0"/>
          </a:p>
        </p:txBody>
      </p:sp>
      <p:sp>
        <p:nvSpPr>
          <p:cNvPr id="11" name="Shape 8"/>
          <p:cNvSpPr/>
          <p:nvPr/>
        </p:nvSpPr>
        <p:spPr>
          <a:xfrm>
            <a:off x="6233008" y="1737360"/>
            <a:ext cx="5391760" cy="21031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IPFS · POR CONTENIDO</a:t>
            </a:r>
            <a:endParaRPr lang="en-US" sz="1050" dirty="0"/>
          </a:p>
        </p:txBody>
      </p:sp>
      <p:sp>
        <p:nvSpPr>
          <p:cNvPr id="13" name="Text 10"/>
          <p:cNvSpPr/>
          <p:nvPr/>
        </p:nvSpPr>
        <p:spPr>
          <a:xfrm>
            <a:off x="6507328" y="2304288"/>
            <a:ext cx="4843120" cy="13716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«Tráeme el archivo cuyo hash es este.» El CID es el hash del contenido. Cualquier nodo que lo tenga sirve exactamente el mismo archivo, o ninguno: no hay forma de devolver algo distinto.</a:t>
            </a:r>
            <a:endParaRPr lang="en-US" sz="1300" dirty="0"/>
          </a:p>
        </p:txBody>
      </p:sp>
      <p:sp>
        <p:nvSpPr>
          <p:cNvPr id="14" name="Shape 11"/>
          <p:cNvSpPr/>
          <p:nvPr/>
        </p:nvSpPr>
        <p:spPr>
          <a:xfrm>
            <a:off x="566928" y="4069080"/>
            <a:ext cx="11057839" cy="594360"/>
          </a:xfrm>
          <a:prstGeom prst="rect">
            <a:avLst/>
          </a:prstGeom>
          <a:solidFill>
            <a:srgbClr val="F2F0F5"/>
          </a:solidFill>
          <a:ln w="12700">
            <a:solidFill>
              <a:srgbClr val="7152E9"/>
            </a:solidFill>
            <a:prstDash val="solid"/>
          </a:ln>
        </p:spPr>
      </p:sp>
      <p:sp>
        <p:nvSpPr>
          <p:cNvPr id="15" name="Text 12"/>
          <p:cNvSpPr/>
          <p:nvPr/>
        </p:nvSpPr>
        <p:spPr>
          <a:xfrm>
            <a:off x="731520" y="4142232"/>
            <a:ext cx="10728655" cy="448056"/>
          </a:xfrm>
          <a:prstGeom prst="rect">
            <a:avLst/>
          </a:prstGeom>
          <a:noFill/>
          <a:ln/>
        </p:spPr>
        <p:txBody>
          <a:bodyPr wrap="square" lIns="0" tIns="0" rIns="0" bIns="0" rtlCol="0" anchor="ctr"/>
          <a:lstStyle/>
          <a:p>
            <a:pPr indent="0" marL="0">
              <a:lnSpc>
                <a:spcPct val="120000"/>
              </a:lnSpc>
              <a:buNone/>
            </a:pPr>
            <a:r>
              <a:rPr lang="en-US" sz="1150" dirty="0">
                <a:solidFill>
                  <a:srgbClr val="3A3844"/>
                </a:solidFill>
                <a:latin typeface="Courier New" pitchFamily="34" charset="0"/>
                <a:ea typeface="Courier New" pitchFamily="34" charset="-122"/>
                <a:cs typeface="Courier New" pitchFamily="34" charset="-120"/>
              </a:rPr>
              <a:t>CID = hash(contenido)     →     cambiar un byte del archivo cambia el CID por completo (Sesión 2)</a:t>
            </a:r>
            <a:endParaRPr lang="en-US" sz="1150" dirty="0"/>
          </a:p>
        </p:txBody>
      </p:sp>
      <p:sp>
        <p:nvSpPr>
          <p:cNvPr id="16" name="Shape 13"/>
          <p:cNvSpPr/>
          <p:nvPr/>
        </p:nvSpPr>
        <p:spPr>
          <a:xfrm>
            <a:off x="566928" y="4846320"/>
            <a:ext cx="11057839" cy="12801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7" name="Image 1" descr="preencoded.png">    </p:cNvPr>
          <p:cNvPicPr>
            <a:picLocks noChangeAspect="1"/>
          </p:cNvPicPr>
          <p:nvPr/>
        </p:nvPicPr>
        <p:blipFill>
          <a:blip r:embed="rId2"/>
          <a:stretch>
            <a:fillRect/>
          </a:stretch>
        </p:blipFill>
        <p:spPr>
          <a:xfrm>
            <a:off x="804672" y="5065776"/>
            <a:ext cx="237744" cy="237744"/>
          </a:xfrm>
          <a:prstGeom prst="rect">
            <a:avLst/>
          </a:prstGeom>
        </p:spPr>
      </p:pic>
      <p:sp>
        <p:nvSpPr>
          <p:cNvPr id="18" name="Text 14"/>
          <p:cNvSpPr/>
          <p:nvPr/>
        </p:nvSpPr>
        <p:spPr>
          <a:xfrm>
            <a:off x="1133856" y="503834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EL COSTO QUE NADIE CUENTA: PINNING</a:t>
            </a:r>
            <a:endParaRPr lang="en-US" sz="950" dirty="0"/>
          </a:p>
        </p:txBody>
      </p:sp>
      <p:sp>
        <p:nvSpPr>
          <p:cNvPr id="19" name="Text 15"/>
          <p:cNvSpPr/>
          <p:nvPr/>
        </p:nvSpPr>
        <p:spPr>
          <a:xfrm>
            <a:off x="804672" y="5358384"/>
            <a:ext cx="10582351" cy="67665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IPFS no garantiza que tu archivo siga ahí. Solo existe mientras algún nodo lo «fije» (pin). Si subes a un servicio gratuito y deja de fijarlo, el archivo desaparece y el NFT queda roto. Para algo serio, se paga un servicio de pinning o se usa Arweave, que cobra una vez por almacenamiento permanente.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EL JSON DE METADATA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LA FICHA QUE LEEN LOS MARKETPLACES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11</a:t>
            </a:r>
            <a:endParaRPr lang="en-US" sz="900" dirty="0"/>
          </a:p>
        </p:txBody>
      </p:sp>
      <p:sp>
        <p:nvSpPr>
          <p:cNvPr id="8" name="Shape 5"/>
          <p:cNvSpPr/>
          <p:nvPr/>
        </p:nvSpPr>
        <p:spPr>
          <a:xfrm>
            <a:off x="566928" y="1737360"/>
            <a:ext cx="6766560" cy="2926080"/>
          </a:xfrm>
          <a:prstGeom prst="rect">
            <a:avLst/>
          </a:prstGeom>
          <a:solidFill>
            <a:srgbClr val="16151B"/>
          </a:solidFill>
          <a:ln w="22225">
            <a:solidFill>
              <a:srgbClr val="16151B"/>
            </a:solidFill>
            <a:prstDash val="solid"/>
          </a:ln>
        </p:spPr>
      </p:sp>
      <p:sp>
        <p:nvSpPr>
          <p:cNvPr id="9" name="Text 6"/>
          <p:cNvSpPr/>
          <p:nvPr/>
        </p:nvSpPr>
        <p:spPr>
          <a:xfrm>
            <a:off x="768096" y="1810512"/>
            <a:ext cx="636422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7.JSON EN IPFS</a:t>
            </a:r>
            <a:endParaRPr lang="en-US" sz="850" dirty="0"/>
          </a:p>
        </p:txBody>
      </p:sp>
      <p:sp>
        <p:nvSpPr>
          <p:cNvPr id="10" name="Text 7"/>
          <p:cNvSpPr/>
          <p:nvPr/>
        </p:nvSpPr>
        <p:spPr>
          <a:xfrm>
            <a:off x="768096" y="2121408"/>
            <a:ext cx="6364224" cy="2432304"/>
          </a:xfrm>
          <a:prstGeom prst="rect">
            <a:avLst/>
          </a:prstGeom>
          <a:noFill/>
          <a:ln/>
        </p:spPr>
        <p:txBody>
          <a:bodyPr wrap="square" lIns="0" tIns="0" rIns="0" bIns="0" rtlCol="0" anchor="t"/>
          <a:lstStyle/>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"name"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"Diploma · Ingeniería de Sistemas · 2026"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"description"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"Credencial verificable emitida por la USB Medellín."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"image"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"ipfs://bafybei.../diploma-7.png"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"attributes"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"trait_type"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"Programa"</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"Ingeniería de Sistemas"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"trait_type"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"Año"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2026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1" name="Text 8"/>
          <p:cNvSpPr/>
          <p:nvPr/>
        </p:nvSpPr>
        <p:spPr>
          <a:xfrm>
            <a:off x="7607808" y="1737360"/>
            <a:ext cx="4016959" cy="2926080"/>
          </a:xfrm>
          <a:prstGeom prst="rect">
            <a:avLst/>
          </a:prstGeom>
          <a:noFill/>
          <a:ln/>
        </p:spPr>
        <p:txBody>
          <a:bodyPr wrap="square" lIns="0" tIns="0" rIns="0" bIns="0" rtlCol="0" anchor="t"/>
          <a:lstStyle/>
          <a:p>
            <a:pPr marL="203200" indent="-203200">
              <a:lnSpc>
                <a:spcPct val="118000"/>
              </a:lnSpc>
              <a:spcAft>
                <a:spcPts val="800"/>
              </a:spcAft>
              <a:buSzPct val="100000"/>
              <a:buChar char="■"/>
            </a:pPr>
            <a:r>
              <a:rPr lang="en-US" sz="1200" dirty="0">
                <a:solidFill>
                  <a:srgbClr val="3A3844"/>
                </a:solidFill>
                <a:latin typeface="Arial" pitchFamily="34" charset="0"/>
                <a:ea typeface="Arial" pitchFamily="34" charset="-122"/>
                <a:cs typeface="Arial" pitchFamily="34" charset="-120"/>
              </a:rPr>
              <a:t>Es una convención, no una regla del protocolo: los marketplaces esperan estos campos.</a:t>
            </a:r>
            <a:endParaRPr lang="en-US" sz="1200" dirty="0"/>
          </a:p>
          <a:p>
            <a:pPr marL="203200" indent="-203200">
              <a:lnSpc>
                <a:spcPct val="118000"/>
              </a:lnSpc>
              <a:spcAft>
                <a:spcPts val="800"/>
              </a:spcAft>
              <a:buSzPct val="100000"/>
              <a:buChar char="■"/>
            </a:pPr>
            <a:r>
              <a:rPr lang="en-US" sz="1200" dirty="0">
                <a:solidFill>
                  <a:srgbClr val="3A3844"/>
                </a:solidFill>
                <a:latin typeface="Arial" pitchFamily="34" charset="0"/>
                <a:ea typeface="Arial" pitchFamily="34" charset="-122"/>
                <a:cs typeface="Arial" pitchFamily="34" charset="-120"/>
              </a:rPr>
              <a:t>image también es un enlace IPFS: la ficha y la imagen son archivos distintos.</a:t>
            </a:r>
            <a:endParaRPr lang="en-US" sz="1200" dirty="0"/>
          </a:p>
          <a:p>
            <a:pPr marL="203200" indent="-203200">
              <a:lnSpc>
                <a:spcPct val="118000"/>
              </a:lnSpc>
              <a:spcAft>
                <a:spcPts val="800"/>
              </a:spcAft>
              <a:buSzPct val="100000"/>
              <a:buChar char="■"/>
            </a:pPr>
            <a:r>
              <a:rPr lang="en-US" sz="1200" dirty="0">
                <a:solidFill>
                  <a:srgbClr val="3A3844"/>
                </a:solidFill>
                <a:latin typeface="Arial" pitchFamily="34" charset="0"/>
                <a:ea typeface="Arial" pitchFamily="34" charset="-122"/>
                <a:cs typeface="Arial" pitchFamily="34" charset="-120"/>
              </a:rPr>
              <a:t>attributes es lo que un marketplace muestra como «rasgos».</a:t>
            </a:r>
            <a:endParaRPr lang="en-US" sz="1200" dirty="0"/>
          </a:p>
          <a:p>
            <a:pPr marL="203200" indent="-203200">
              <a:lnSpc>
                <a:spcPct val="118000"/>
              </a:lnSpc>
              <a:spcAft>
                <a:spcPts val="800"/>
              </a:spcAft>
              <a:buSzPct val="100000"/>
              <a:buChar char="■"/>
            </a:pPr>
            <a:r>
              <a:rPr lang="en-US" sz="1200" dirty="0">
                <a:solidFill>
                  <a:srgbClr val="3A3844"/>
                </a:solidFill>
                <a:latin typeface="Arial" pitchFamily="34" charset="0"/>
                <a:ea typeface="Arial" pitchFamily="34" charset="-122"/>
                <a:cs typeface="Arial" pitchFamily="34" charset="-120"/>
              </a:rPr>
              <a:t>Un diploma real NO pondría datos personales en un JSON público.</a:t>
            </a:r>
            <a:endParaRPr lang="en-US" sz="1200" dirty="0"/>
          </a:p>
        </p:txBody>
      </p:sp>
      <p:sp>
        <p:nvSpPr>
          <p:cNvPr id="12" name="Text 9"/>
          <p:cNvSpPr/>
          <p:nvPr/>
        </p:nvSpPr>
        <p:spPr>
          <a:xfrm>
            <a:off x="566928" y="4846320"/>
            <a:ext cx="11057839" cy="54864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El contrato solo guarda el enlace a este JSON. Todo lo demás —cómo se ve, qué dice— vive fuera de la cadena.</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REGALÍAS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EIP-2981: UN PORCENTAJE SUGERIDO, NO GARANTIZADO</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sp>
        <p:nvSpPr>
          <p:cNvPr id="8" name="Text 5"/>
          <p:cNvSpPr/>
          <p:nvPr/>
        </p:nvSpPr>
        <p:spPr>
          <a:xfrm>
            <a:off x="566928" y="1737360"/>
            <a:ext cx="11057839" cy="82296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Muchos creadores quieren cobrar un porcentaje cada vez que su obra se revende. EIP-2981 estandariza cómo un contrato DECLARA esa regalía. Pero declararla no es cobrarla.</a:t>
            </a:r>
            <a:endParaRPr lang="en-US" sz="1450" dirty="0"/>
          </a:p>
        </p:txBody>
      </p:sp>
      <p:sp>
        <p:nvSpPr>
          <p:cNvPr id="9" name="Shape 6"/>
          <p:cNvSpPr/>
          <p:nvPr/>
        </p:nvSpPr>
        <p:spPr>
          <a:xfrm>
            <a:off x="566928" y="2697480"/>
            <a:ext cx="5391760" cy="21945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841248" y="288036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LO QUE HACE EL ESTÁNDAR</a:t>
            </a:r>
            <a:endParaRPr lang="en-US" sz="1050" dirty="0"/>
          </a:p>
        </p:txBody>
      </p:sp>
      <p:sp>
        <p:nvSpPr>
          <p:cNvPr id="11" name="Text 8"/>
          <p:cNvSpPr/>
          <p:nvPr/>
        </p:nvSpPr>
        <p:spPr>
          <a:xfrm>
            <a:off x="841248" y="3264408"/>
            <a:ext cx="4843120" cy="14630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contrato responde a royaltyInfo(tokenId, precio) diciendo a quién y cuánto. Es información: le dice al marketplace qué regalía respetar.</a:t>
            </a:r>
            <a:endParaRPr lang="en-US" sz="1250" dirty="0"/>
          </a:p>
        </p:txBody>
      </p:sp>
      <p:sp>
        <p:nvSpPr>
          <p:cNvPr id="12" name="Shape 9"/>
          <p:cNvSpPr/>
          <p:nvPr/>
        </p:nvSpPr>
        <p:spPr>
          <a:xfrm>
            <a:off x="6233008" y="2697480"/>
            <a:ext cx="5391760" cy="219456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3" name="Text 10"/>
          <p:cNvSpPr/>
          <p:nvPr/>
        </p:nvSpPr>
        <p:spPr>
          <a:xfrm>
            <a:off x="6507328" y="288036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LO QUE NO PUEDE HACER</a:t>
            </a:r>
            <a:endParaRPr lang="en-US" sz="1050" dirty="0"/>
          </a:p>
        </p:txBody>
      </p:sp>
      <p:sp>
        <p:nvSpPr>
          <p:cNvPr id="14" name="Text 11"/>
          <p:cNvSpPr/>
          <p:nvPr/>
        </p:nvSpPr>
        <p:spPr>
          <a:xfrm>
            <a:off x="6507328" y="3264408"/>
            <a:ext cx="4843120" cy="14630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Obligar a pagarla. Si dos personas se transfieren el NFT por fuera de un marketplace que la respete, no hay regalía. El contrato del NFT no puede impedir la transferencia sin más (lo vimos en el proyecto de entradas).</a:t>
            </a:r>
            <a:endParaRPr lang="en-US" sz="1250" dirty="0"/>
          </a:p>
        </p:txBody>
      </p:sp>
      <p:sp>
        <p:nvSpPr>
          <p:cNvPr id="15" name="Text 12"/>
          <p:cNvSpPr/>
          <p:nvPr/>
        </p:nvSpPr>
        <p:spPr>
          <a:xfrm>
            <a:off x="566928" y="5029200"/>
            <a:ext cx="11057839" cy="64008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Es el mismo problema del proyecto de entradas: quien emite pierde control al entregar, salvo que bloquee la transferencia directa. Un tema de diseño, no de estándar.</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A.8 · MÁS ALLÁ DEL ARTE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CASOS DE USO DONDE LA UNICIDAD IMPORTA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743200"/>
                <a:gridCol w="4206240"/>
                <a:gridCol w="41083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POR QUÉ UN NFT</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EL MATIZ</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1447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Credenciales académicas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Cada diploma es único y verificable por cualquiera.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¿Debería poder transferirse un diploma? Ver A.9.</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447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Entradas a eventos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Cada entrada es única; la reventa se puede acotar por contrato.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Es el proyecto del docente.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447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Trazabilidad de producto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Cada lote de café con su historia única on-chain.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dato de entrada sigue dependiendo de un humano honesto (caso Estonia).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1447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Títulos de propiedad</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Un bien, un token, un dueño.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Requiere que la ley reconozca el token. Aún no, en general.</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14477">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Membresías y licencias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Acceso único y transferible o no.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Muchas veces un ERC-1155 encaja mejor.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419856"/>
          </a:xfrm>
          <a:prstGeom prst="rect">
            <a:avLst/>
          </a:prstGeom>
          <a:ln w="22225">
            <a:solidFill>
              <a:srgbClr val="0F0F11"/>
            </a:solidFill>
            <a:prstDash val="solid"/>
          </a:ln>
        </p:spPr>
      </p:sp>
      <p:sp>
        <p:nvSpPr>
          <p:cNvPr id="10" name="Text 6"/>
          <p:cNvSpPr/>
          <p:nvPr/>
        </p:nvSpPr>
        <p:spPr>
          <a:xfrm>
            <a:off x="566928" y="5257800"/>
            <a:ext cx="11057839" cy="54864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En todos, la pregunta de la Sesión 1 sigue viva: ¿de verdad hace falta una cadena, o basta una base de datos firmada?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A.9 · UN CASO INCÓMODO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¿UN DIPLOMA SE DEBERÍA PODER VENDER?</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sp>
        <p:nvSpPr>
          <p:cNvPr id="8" name="Text 5"/>
          <p:cNvSpPr/>
          <p:nvPr/>
        </p:nvSpPr>
        <p:spPr>
          <a:xfrm>
            <a:off x="566928" y="1737360"/>
            <a:ext cx="11057839" cy="82296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Un ERC-721 normal es transferible: su dueño lo puede vender. Para un diploma eso es absurdo: un título no se compra a otra persona. Aquí entra un tercer tipo de token.</a:t>
            </a:r>
            <a:endParaRPr lang="en-US" sz="1400" dirty="0"/>
          </a:p>
        </p:txBody>
      </p:sp>
      <p:sp>
        <p:nvSpPr>
          <p:cNvPr id="9" name="Shape 6"/>
          <p:cNvSpPr/>
          <p:nvPr/>
        </p:nvSpPr>
        <p:spPr>
          <a:xfrm>
            <a:off x="566928" y="2651760"/>
            <a:ext cx="5391760" cy="22860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841248" y="28346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SBT · SOULBOUND TOKEN</a:t>
            </a:r>
            <a:endParaRPr lang="en-US" sz="1050" dirty="0"/>
          </a:p>
        </p:txBody>
      </p:sp>
      <p:sp>
        <p:nvSpPr>
          <p:cNvPr id="11" name="Text 8"/>
          <p:cNvSpPr/>
          <p:nvPr/>
        </p:nvSpPr>
        <p:spPr>
          <a:xfrm>
            <a:off x="841248" y="3218688"/>
            <a:ext cx="4843120" cy="15544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 token no transferible, «atado al alma» de una cuenta. Se emite y no se puede mover. Ideal para credenciales, reputación, membresías personales. Se logra bloqueando la transferencia, como en el proyecto de entradas.</a:t>
            </a:r>
            <a:endParaRPr lang="en-US" sz="1250" dirty="0"/>
          </a:p>
        </p:txBody>
      </p:sp>
      <p:sp>
        <p:nvSpPr>
          <p:cNvPr id="12" name="Shape 9"/>
          <p:cNvSpPr/>
          <p:nvPr/>
        </p:nvSpPr>
        <p:spPr>
          <a:xfrm>
            <a:off x="6233008" y="2651760"/>
            <a:ext cx="5391760" cy="22860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3" name="Text 10"/>
          <p:cNvSpPr/>
          <p:nvPr/>
        </p:nvSpPr>
        <p:spPr>
          <a:xfrm>
            <a:off x="6507328" y="283464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LA TENSIÓN QUE TRAE</a:t>
            </a:r>
            <a:endParaRPr lang="en-US" sz="1050" dirty="0"/>
          </a:p>
        </p:txBody>
      </p:sp>
      <p:sp>
        <p:nvSpPr>
          <p:cNvPr id="14" name="Text 11"/>
          <p:cNvSpPr/>
          <p:nvPr/>
        </p:nvSpPr>
        <p:spPr>
          <a:xfrm>
            <a:off x="6507328" y="3218688"/>
            <a:ext cx="4843120" cy="15544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Si es intransferible y la persona pierde su billetera, pierde su credencial. Y una credencial permanente en una cadena pública choca con el derecho al olvido (Sesión 16). No hay respuesta fácil.</a:t>
            </a:r>
            <a:endParaRPr lang="en-US" sz="1250" dirty="0"/>
          </a:p>
        </p:txBody>
      </p:sp>
      <p:sp>
        <p:nvSpPr>
          <p:cNvPr id="15" name="Shape 12"/>
          <p:cNvSpPr/>
          <p:nvPr/>
        </p:nvSpPr>
        <p:spPr>
          <a:xfrm>
            <a:off x="566928" y="5074920"/>
            <a:ext cx="11057839" cy="105156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6"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17" name="Text 13"/>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DISCUSIÓN DEL BLOQUE C</a:t>
            </a:r>
            <a:endParaRPr lang="en-US" sz="950" dirty="0"/>
          </a:p>
        </p:txBody>
      </p:sp>
      <p:sp>
        <p:nvSpPr>
          <p:cNvPr id="18" name="Text 14"/>
          <p:cNvSpPr/>
          <p:nvPr/>
        </p:nvSpPr>
        <p:spPr>
          <a:xfrm>
            <a:off x="804672" y="5586984"/>
            <a:ext cx="10582351" cy="44805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Para el diploma de la USB: ¿ERC-721 transferible, ERC-1155, o SBT no transferible? No hay respuesta correcta única. Lo que se evalúa es el argumento.</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A.10 · LO QUE HAY QUE LLEVARSE DEL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SEIS IDEAS SOBRE NFTS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sp>
        <p:nvSpPr>
          <p:cNvPr id="8" name="Text 5"/>
          <p:cNvSpPr/>
          <p:nvPr/>
        </p:nvSpPr>
        <p:spPr>
          <a:xfrm>
            <a:off x="566928" y="17373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01</a:t>
            </a:r>
            <a:endParaRPr lang="en-US" sz="2000" dirty="0"/>
          </a:p>
        </p:txBody>
      </p:sp>
      <p:sp>
        <p:nvSpPr>
          <p:cNvPr id="9" name="Text 6"/>
          <p:cNvSpPr/>
          <p:nvPr/>
        </p:nvSpPr>
        <p:spPr>
          <a:xfrm>
            <a:off x="1344168" y="181051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No fungible = único: importa CUÁL, no cuántos.</a:t>
            </a:r>
            <a:endParaRPr lang="en-US" sz="1400" dirty="0"/>
          </a:p>
        </p:txBody>
      </p:sp>
      <p:sp>
        <p:nvSpPr>
          <p:cNvPr id="10" name="Shape 7"/>
          <p:cNvSpPr/>
          <p:nvPr/>
        </p:nvSpPr>
        <p:spPr>
          <a:xfrm>
            <a:off x="566928" y="2414016"/>
            <a:ext cx="11057839" cy="914"/>
          </a:xfrm>
          <a:prstGeom prst="line">
            <a:avLst/>
          </a:prstGeom>
          <a:noFill/>
          <a:ln w="12700">
            <a:solidFill>
              <a:srgbClr val="D9D6E0"/>
            </a:solidFill>
            <a:prstDash val="solid"/>
          </a:ln>
        </p:spPr>
      </p:sp>
      <p:sp>
        <p:nvSpPr>
          <p:cNvPr id="11" name="Text 8"/>
          <p:cNvSpPr/>
          <p:nvPr/>
        </p:nvSpPr>
        <p:spPr>
          <a:xfrm>
            <a:off x="566928" y="246888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02</a:t>
            </a:r>
            <a:endParaRPr lang="en-US" sz="2000" dirty="0"/>
          </a:p>
        </p:txBody>
      </p:sp>
      <p:sp>
        <p:nvSpPr>
          <p:cNvPr id="12" name="Text 9"/>
          <p:cNvSpPr/>
          <p:nvPr/>
        </p:nvSpPr>
        <p:spPr>
          <a:xfrm>
            <a:off x="1344168" y="254203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ERC-721 para piezas únicas; ERC-1155 para muchos tipos y lotes.</a:t>
            </a:r>
            <a:endParaRPr lang="en-US" sz="1400" dirty="0"/>
          </a:p>
        </p:txBody>
      </p:sp>
      <p:sp>
        <p:nvSpPr>
          <p:cNvPr id="13" name="Shape 10"/>
          <p:cNvSpPr/>
          <p:nvPr/>
        </p:nvSpPr>
        <p:spPr>
          <a:xfrm>
            <a:off x="566928" y="3145536"/>
            <a:ext cx="11057839" cy="914"/>
          </a:xfrm>
          <a:prstGeom prst="line">
            <a:avLst/>
          </a:prstGeom>
          <a:noFill/>
          <a:ln w="12700">
            <a:solidFill>
              <a:srgbClr val="D9D6E0"/>
            </a:solidFill>
            <a:prstDash val="solid"/>
          </a:ln>
        </p:spPr>
      </p:sp>
      <p:sp>
        <p:nvSpPr>
          <p:cNvPr id="14" name="Text 11"/>
          <p:cNvSpPr/>
          <p:nvPr/>
        </p:nvSpPr>
        <p:spPr>
          <a:xfrm>
            <a:off x="566928" y="320040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03</a:t>
            </a:r>
            <a:endParaRPr lang="en-US" sz="2000" dirty="0"/>
          </a:p>
        </p:txBody>
      </p:sp>
      <p:sp>
        <p:nvSpPr>
          <p:cNvPr id="15" name="Text 12"/>
          <p:cNvSpPr/>
          <p:nvPr/>
        </p:nvSpPr>
        <p:spPr>
          <a:xfrm>
            <a:off x="1344168" y="327355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«El NFT» es la fila del contrato; «el archivo» vive fuera, casi siempre en IPFS.</a:t>
            </a:r>
            <a:endParaRPr lang="en-US" sz="1400" dirty="0"/>
          </a:p>
        </p:txBody>
      </p:sp>
      <p:sp>
        <p:nvSpPr>
          <p:cNvPr id="16" name="Shape 13"/>
          <p:cNvSpPr/>
          <p:nvPr/>
        </p:nvSpPr>
        <p:spPr>
          <a:xfrm>
            <a:off x="566928" y="3877056"/>
            <a:ext cx="11057839" cy="914"/>
          </a:xfrm>
          <a:prstGeom prst="line">
            <a:avLst/>
          </a:prstGeom>
          <a:noFill/>
          <a:ln w="12700">
            <a:solidFill>
              <a:srgbClr val="D9D6E0"/>
            </a:solidFill>
            <a:prstDash val="solid"/>
          </a:ln>
        </p:spPr>
      </p:sp>
      <p:sp>
        <p:nvSpPr>
          <p:cNvPr id="17" name="Text 14"/>
          <p:cNvSpPr/>
          <p:nvPr/>
        </p:nvSpPr>
        <p:spPr>
          <a:xfrm>
            <a:off x="566928" y="393192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04</a:t>
            </a:r>
            <a:endParaRPr lang="en-US" sz="2000" dirty="0"/>
          </a:p>
        </p:txBody>
      </p:sp>
      <p:sp>
        <p:nvSpPr>
          <p:cNvPr id="18" name="Text 15"/>
          <p:cNvSpPr/>
          <p:nvPr/>
        </p:nvSpPr>
        <p:spPr>
          <a:xfrm>
            <a:off x="1344168" y="400507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Una URL normal rompe la permanencia; IPFS direcciona por contenido y no se puede falsificar.</a:t>
            </a:r>
            <a:endParaRPr lang="en-US" sz="1400" dirty="0"/>
          </a:p>
        </p:txBody>
      </p:sp>
      <p:sp>
        <p:nvSpPr>
          <p:cNvPr id="19" name="Shape 16"/>
          <p:cNvSpPr/>
          <p:nvPr/>
        </p:nvSpPr>
        <p:spPr>
          <a:xfrm>
            <a:off x="566928" y="4608576"/>
            <a:ext cx="11057839" cy="914"/>
          </a:xfrm>
          <a:prstGeom prst="line">
            <a:avLst/>
          </a:prstGeom>
          <a:noFill/>
          <a:ln w="12700">
            <a:solidFill>
              <a:srgbClr val="D9D6E0"/>
            </a:solidFill>
            <a:prstDash val="solid"/>
          </a:ln>
        </p:spPr>
      </p:sp>
      <p:sp>
        <p:nvSpPr>
          <p:cNvPr id="20" name="Text 17"/>
          <p:cNvSpPr/>
          <p:nvPr/>
        </p:nvSpPr>
        <p:spPr>
          <a:xfrm>
            <a:off x="566928" y="466344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05</a:t>
            </a:r>
            <a:endParaRPr lang="en-US" sz="2000" dirty="0"/>
          </a:p>
        </p:txBody>
      </p:sp>
      <p:sp>
        <p:nvSpPr>
          <p:cNvPr id="21" name="Text 18"/>
          <p:cNvSpPr/>
          <p:nvPr/>
        </p:nvSpPr>
        <p:spPr>
          <a:xfrm>
            <a:off x="1344168" y="473659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IPFS no es gratis ni eterno: sin pinning, el archivo desaparece.</a:t>
            </a:r>
            <a:endParaRPr lang="en-US" sz="1400" dirty="0"/>
          </a:p>
        </p:txBody>
      </p:sp>
      <p:sp>
        <p:nvSpPr>
          <p:cNvPr id="22" name="Shape 19"/>
          <p:cNvSpPr/>
          <p:nvPr/>
        </p:nvSpPr>
        <p:spPr>
          <a:xfrm>
            <a:off x="566928" y="5340096"/>
            <a:ext cx="11057839" cy="914"/>
          </a:xfrm>
          <a:prstGeom prst="line">
            <a:avLst/>
          </a:prstGeom>
          <a:noFill/>
          <a:ln w="12700">
            <a:solidFill>
              <a:srgbClr val="D9D6E0"/>
            </a:solidFill>
            <a:prstDash val="solid"/>
          </a:ln>
        </p:spPr>
      </p:sp>
      <p:sp>
        <p:nvSpPr>
          <p:cNvPr id="23" name="Text 20"/>
          <p:cNvSpPr/>
          <p:nvPr/>
        </p:nvSpPr>
        <p:spPr>
          <a:xfrm>
            <a:off x="566928" y="53949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06</a:t>
            </a:r>
            <a:endParaRPr lang="en-US" sz="2000" dirty="0"/>
          </a:p>
        </p:txBody>
      </p:sp>
      <p:sp>
        <p:nvSpPr>
          <p:cNvPr id="24" name="Text 21"/>
          <p:cNvSpPr/>
          <p:nvPr/>
        </p:nvSpPr>
        <p:spPr>
          <a:xfrm>
            <a:off x="1344168" y="546811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Las regalías se declaran, no se garantizan: es el problema del control tras la entrega.</a:t>
            </a:r>
            <a:endParaRPr lang="en-US" sz="1400" dirty="0"/>
          </a:p>
        </p:txBody>
      </p:sp>
      <p:sp>
        <p:nvSpPr>
          <p:cNvPr id="25" name="Shape 22"/>
          <p:cNvSpPr/>
          <p:nvPr/>
        </p:nvSpPr>
        <p:spPr>
          <a:xfrm>
            <a:off x="566928" y="6071616"/>
            <a:ext cx="11057839" cy="914"/>
          </a:xfrm>
          <a:prstGeom prst="line">
            <a:avLst/>
          </a:prstGeom>
          <a:noFill/>
          <a:ln w="12700">
            <a:solidFill>
              <a:srgbClr val="D9D6E0"/>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85 MINUTOS · EN PAREJAS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LABORATORIO 11</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Un diploma NFT con su metadata en IPFS, minteado en testnet y visible en un marketplace de prueba.</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11 · NFT, ERC-721/1155 E IPFS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SUBIR A IPFS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PRIMERO EL ARCHIVO, DESPUÉS EL TOKEN</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sp>
        <p:nvSpPr>
          <p:cNvPr id="8" name="Shape 5"/>
          <p:cNvSpPr/>
          <p:nvPr/>
        </p:nvSpPr>
        <p:spPr>
          <a:xfrm>
            <a:off x="566928" y="1737360"/>
            <a:ext cx="11057839" cy="749808"/>
          </a:xfrm>
          <a:prstGeom prst="rect">
            <a:avLst/>
          </a:prstGeom>
          <a:solidFill>
            <a:srgbClr val="FFFFFF"/>
          </a:solidFill>
          <a:ln w="15875">
            <a:solidFill>
              <a:srgbClr val="D9D6E0"/>
            </a:solidFill>
            <a:prstDash val="solid"/>
          </a:ln>
        </p:spPr>
      </p:sp>
      <p:sp>
        <p:nvSpPr>
          <p:cNvPr id="9" name="Text 6"/>
          <p:cNvSpPr/>
          <p:nvPr/>
        </p:nvSpPr>
        <p:spPr>
          <a:xfrm>
            <a:off x="694944" y="173736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65960"/>
            <a:ext cx="19202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CUENTA DE PINNING</a:t>
            </a:r>
            <a:endParaRPr lang="en-US" sz="1000" dirty="0"/>
          </a:p>
        </p:txBody>
      </p:sp>
      <p:sp>
        <p:nvSpPr>
          <p:cNvPr id="11" name="Text 8"/>
          <p:cNvSpPr/>
          <p:nvPr/>
        </p:nvSpPr>
        <p:spPr>
          <a:xfrm>
            <a:off x="3474720" y="1828800"/>
            <a:ext cx="8040319" cy="60350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Crear cuenta en Pinata (plan gratuito) u otro servicio de pinning.</a:t>
            </a:r>
            <a:endParaRPr lang="en-US" sz="1250" dirty="0"/>
          </a:p>
        </p:txBody>
      </p:sp>
      <p:sp>
        <p:nvSpPr>
          <p:cNvPr id="12" name="Shape 9"/>
          <p:cNvSpPr/>
          <p:nvPr/>
        </p:nvSpPr>
        <p:spPr>
          <a:xfrm>
            <a:off x="566928" y="2596896"/>
            <a:ext cx="11057839" cy="749808"/>
          </a:xfrm>
          <a:prstGeom prst="rect">
            <a:avLst/>
          </a:prstGeom>
          <a:solidFill>
            <a:srgbClr val="FAF9FB"/>
          </a:solidFill>
          <a:ln w="15875">
            <a:solidFill>
              <a:srgbClr val="D9D6E0"/>
            </a:solidFill>
            <a:prstDash val="solid"/>
          </a:ln>
        </p:spPr>
      </p:sp>
      <p:sp>
        <p:nvSpPr>
          <p:cNvPr id="13" name="Text 10"/>
          <p:cNvSpPr/>
          <p:nvPr/>
        </p:nvSpPr>
        <p:spPr>
          <a:xfrm>
            <a:off x="694944" y="2596896"/>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825496"/>
            <a:ext cx="19202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SUBIR LA IMAGEN</a:t>
            </a:r>
            <a:endParaRPr lang="en-US" sz="1000" dirty="0"/>
          </a:p>
        </p:txBody>
      </p:sp>
      <p:sp>
        <p:nvSpPr>
          <p:cNvPr id="15" name="Text 12"/>
          <p:cNvSpPr/>
          <p:nvPr/>
        </p:nvSpPr>
        <p:spPr>
          <a:xfrm>
            <a:off x="3474720" y="2688336"/>
            <a:ext cx="8040319" cy="60350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Un PNG de prueba del «diploma». Copiar su CID: ese es el ipfs:// de la imagen.</a:t>
            </a:r>
            <a:endParaRPr lang="en-US" sz="1250" dirty="0"/>
          </a:p>
        </p:txBody>
      </p:sp>
      <p:sp>
        <p:nvSpPr>
          <p:cNvPr id="16" name="Shape 13"/>
          <p:cNvSpPr/>
          <p:nvPr/>
        </p:nvSpPr>
        <p:spPr>
          <a:xfrm>
            <a:off x="566928" y="3456432"/>
            <a:ext cx="11057839" cy="749808"/>
          </a:xfrm>
          <a:prstGeom prst="rect">
            <a:avLst/>
          </a:prstGeom>
          <a:solidFill>
            <a:srgbClr val="FFFFFF"/>
          </a:solidFill>
          <a:ln w="15875">
            <a:solidFill>
              <a:srgbClr val="D9D6E0"/>
            </a:solidFill>
            <a:prstDash val="solid"/>
          </a:ln>
        </p:spPr>
      </p:sp>
      <p:sp>
        <p:nvSpPr>
          <p:cNvPr id="17" name="Text 14"/>
          <p:cNvSpPr/>
          <p:nvPr/>
        </p:nvSpPr>
        <p:spPr>
          <a:xfrm>
            <a:off x="694944" y="3456432"/>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685032"/>
            <a:ext cx="19202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ESCRIBIR EL JSON</a:t>
            </a:r>
            <a:endParaRPr lang="en-US" sz="1000" dirty="0"/>
          </a:p>
        </p:txBody>
      </p:sp>
      <p:sp>
        <p:nvSpPr>
          <p:cNvPr id="19" name="Text 16"/>
          <p:cNvSpPr/>
          <p:nvPr/>
        </p:nvSpPr>
        <p:spPr>
          <a:xfrm>
            <a:off x="3474720" y="3547872"/>
            <a:ext cx="8040319" cy="60350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de A.6, con el CID de la imagen dentro. Sin datos personales reales.</a:t>
            </a:r>
            <a:endParaRPr lang="en-US" sz="1250" dirty="0"/>
          </a:p>
        </p:txBody>
      </p:sp>
      <p:sp>
        <p:nvSpPr>
          <p:cNvPr id="20" name="Shape 17"/>
          <p:cNvSpPr/>
          <p:nvPr/>
        </p:nvSpPr>
        <p:spPr>
          <a:xfrm>
            <a:off x="566928" y="4315968"/>
            <a:ext cx="11057839" cy="749808"/>
          </a:xfrm>
          <a:prstGeom prst="rect">
            <a:avLst/>
          </a:prstGeom>
          <a:solidFill>
            <a:srgbClr val="FAF9FB"/>
          </a:solidFill>
          <a:ln w="15875">
            <a:solidFill>
              <a:srgbClr val="D9D6E0"/>
            </a:solidFill>
            <a:prstDash val="solid"/>
          </a:ln>
        </p:spPr>
      </p:sp>
      <p:sp>
        <p:nvSpPr>
          <p:cNvPr id="21" name="Text 18"/>
          <p:cNvSpPr/>
          <p:nvPr/>
        </p:nvSpPr>
        <p:spPr>
          <a:xfrm>
            <a:off x="694944" y="4315968"/>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544568"/>
            <a:ext cx="19202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SUBIR EL JSON</a:t>
            </a:r>
            <a:endParaRPr lang="en-US" sz="1000" dirty="0"/>
          </a:p>
        </p:txBody>
      </p:sp>
      <p:sp>
        <p:nvSpPr>
          <p:cNvPr id="23" name="Text 20"/>
          <p:cNvSpPr/>
          <p:nvPr/>
        </p:nvSpPr>
        <p:spPr>
          <a:xfrm>
            <a:off x="3474720" y="4407408"/>
            <a:ext cx="8040319" cy="60350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Copiar su CID. Ese es el tokenURI que va al contrato.</a:t>
            </a:r>
            <a:endParaRPr lang="en-US" sz="1250" dirty="0"/>
          </a:p>
        </p:txBody>
      </p:sp>
      <p:sp>
        <p:nvSpPr>
          <p:cNvPr id="24" name="Shape 21"/>
          <p:cNvSpPr/>
          <p:nvPr/>
        </p:nvSpPr>
        <p:spPr>
          <a:xfrm>
            <a:off x="566928" y="5413248"/>
            <a:ext cx="11057839" cy="786384"/>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25" name="Image 1" descr="preencoded.png">    </p:cNvPr>
          <p:cNvPicPr>
            <a:picLocks noChangeAspect="1"/>
          </p:cNvPicPr>
          <p:nvPr/>
        </p:nvPicPr>
        <p:blipFill>
          <a:blip r:embed="rId2"/>
          <a:stretch>
            <a:fillRect/>
          </a:stretch>
        </p:blipFill>
        <p:spPr>
          <a:xfrm>
            <a:off x="804672" y="5632704"/>
            <a:ext cx="237744" cy="237744"/>
          </a:xfrm>
          <a:prstGeom prst="rect">
            <a:avLst/>
          </a:prstGeom>
        </p:spPr>
      </p:pic>
      <p:sp>
        <p:nvSpPr>
          <p:cNvPr id="26" name="Text 22"/>
          <p:cNvSpPr/>
          <p:nvPr/>
        </p:nvSpPr>
        <p:spPr>
          <a:xfrm>
            <a:off x="1133856" y="5605272"/>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EL ORDEN IMPORTA</a:t>
            </a:r>
            <a:endParaRPr lang="en-US" sz="950" dirty="0"/>
          </a:p>
        </p:txBody>
      </p:sp>
      <p:sp>
        <p:nvSpPr>
          <p:cNvPr id="27" name="Text 23"/>
          <p:cNvSpPr/>
          <p:nvPr/>
        </p:nvSpPr>
        <p:spPr>
          <a:xfrm>
            <a:off x="804672" y="5925312"/>
            <a:ext cx="10582351" cy="1828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imagen primero: su CID tiene que ir DENTRO del JSON antes de subir el JSON. Si cambian la imagen, cambia todo.</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EL CONTRATO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DIPLOMAUSB: MINTEAR CON TOKENURI</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sp>
        <p:nvSpPr>
          <p:cNvPr id="8" name="Shape 5"/>
          <p:cNvSpPr/>
          <p:nvPr/>
        </p:nvSpPr>
        <p:spPr>
          <a:xfrm>
            <a:off x="566928" y="1737360"/>
            <a:ext cx="6766560" cy="2743200"/>
          </a:xfrm>
          <a:prstGeom prst="rect">
            <a:avLst/>
          </a:prstGeom>
          <a:solidFill>
            <a:srgbClr val="16151B"/>
          </a:solidFill>
          <a:ln w="22225">
            <a:solidFill>
              <a:srgbClr val="16151B"/>
            </a:solidFill>
            <a:prstDash val="solid"/>
          </a:ln>
        </p:spPr>
      </p:sp>
      <p:sp>
        <p:nvSpPr>
          <p:cNvPr id="9" name="Text 6"/>
          <p:cNvSpPr/>
          <p:nvPr/>
        </p:nvSpPr>
        <p:spPr>
          <a:xfrm>
            <a:off x="768096" y="1883664"/>
            <a:ext cx="6364224" cy="248716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emitir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string</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calldata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uri</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onlyOwner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returns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_siguienteId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_safeMint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_setTokenURI</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uri</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el enlace a IPFS</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emit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DiplomaEmitido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tokenId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uri</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p:txBody>
      </p:sp>
      <p:sp>
        <p:nvSpPr>
          <p:cNvPr id="10" name="Text 7"/>
          <p:cNvSpPr/>
          <p:nvPr/>
        </p:nvSpPr>
        <p:spPr>
          <a:xfrm>
            <a:off x="7607808" y="1737360"/>
            <a:ext cx="4016959" cy="2743200"/>
          </a:xfrm>
          <a:prstGeom prst="rect">
            <a:avLst/>
          </a:prstGeom>
          <a:noFill/>
          <a:ln/>
        </p:spPr>
        <p:txBody>
          <a:bodyPr wrap="square" lIns="0" tIns="0" rIns="0" bIns="0" rtlCol="0" anchor="t"/>
          <a:lstStyle/>
          <a:p>
            <a:pPr marL="203200" indent="-203200">
              <a:lnSpc>
                <a:spcPct val="118000"/>
              </a:lnSpc>
              <a:spcAft>
                <a:spcPts val="700"/>
              </a:spcAft>
              <a:buSzPct val="100000"/>
              <a:buChar char="■"/>
            </a:pPr>
            <a:r>
              <a:rPr lang="en-US" sz="1200" dirty="0">
                <a:solidFill>
                  <a:srgbClr val="3A3844"/>
                </a:solidFill>
                <a:latin typeface="Arial" pitchFamily="34" charset="0"/>
                <a:ea typeface="Arial" pitchFamily="34" charset="-122"/>
                <a:cs typeface="Arial" pitchFamily="34" charset="-120"/>
              </a:rPr>
              <a:t>Hereda de ERC721 y ERC721URIStorage: casi todo es de OpenZeppelin.</a:t>
            </a:r>
            <a:endParaRPr lang="en-US" sz="1200" dirty="0"/>
          </a:p>
          <a:p>
            <a:pPr marL="203200" indent="-203200">
              <a:lnSpc>
                <a:spcPct val="118000"/>
              </a:lnSpc>
              <a:spcAft>
                <a:spcPts val="700"/>
              </a:spcAft>
              <a:buSzPct val="100000"/>
              <a:buChar char="■"/>
            </a:pPr>
            <a:r>
              <a:rPr lang="en-US" sz="1200" dirty="0">
                <a:solidFill>
                  <a:srgbClr val="3A3844"/>
                </a:solidFill>
                <a:latin typeface="Arial" pitchFamily="34" charset="0"/>
                <a:ea typeface="Arial" pitchFamily="34" charset="-122"/>
                <a:cs typeface="Arial" pitchFamily="34" charset="-120"/>
              </a:rPr>
              <a:t>_setTokenURI guarda el enlace ipfs:// por token.</a:t>
            </a:r>
            <a:endParaRPr lang="en-US" sz="1200" dirty="0"/>
          </a:p>
          <a:p>
            <a:pPr marL="203200" indent="-203200">
              <a:lnSpc>
                <a:spcPct val="118000"/>
              </a:lnSpc>
              <a:spcAft>
                <a:spcPts val="700"/>
              </a:spcAft>
              <a:buSzPct val="100000"/>
              <a:buChar char="■"/>
            </a:pPr>
            <a:r>
              <a:rPr lang="en-US" sz="1200" dirty="0">
                <a:solidFill>
                  <a:srgbClr val="3A3844"/>
                </a:solidFill>
                <a:latin typeface="Arial" pitchFamily="34" charset="0"/>
                <a:ea typeface="Arial" pitchFamily="34" charset="-122"/>
                <a:cs typeface="Arial" pitchFamily="34" charset="-120"/>
              </a:rPr>
              <a:t>El override de tokenURI y supportsInterface es obligatorio en v5.</a:t>
            </a:r>
            <a:endParaRPr lang="en-US" sz="1200" dirty="0"/>
          </a:p>
          <a:p>
            <a:pPr marL="203200" indent="-203200">
              <a:lnSpc>
                <a:spcPct val="118000"/>
              </a:lnSpc>
              <a:spcAft>
                <a:spcPts val="700"/>
              </a:spcAft>
              <a:buSzPct val="100000"/>
              <a:buChar char="■"/>
            </a:pPr>
            <a:r>
              <a:rPr lang="en-US" sz="1200" dirty="0">
                <a:solidFill>
                  <a:srgbClr val="3A3844"/>
                </a:solidFill>
                <a:latin typeface="Arial" pitchFamily="34" charset="0"/>
                <a:ea typeface="Arial" pitchFamily="34" charset="-122"/>
                <a:cs typeface="Arial" pitchFamily="34" charset="-120"/>
              </a:rPr>
              <a:t>npx hardhat test test/s11: 7 pruebas verdes.</a:t>
            </a:r>
            <a:endParaRPr lang="en-US" sz="1200" dirty="0"/>
          </a:p>
        </p:txBody>
      </p:sp>
      <p:sp>
        <p:nvSpPr>
          <p:cNvPr id="11" name="Shape 8"/>
          <p:cNvSpPr/>
          <p:nvPr/>
        </p:nvSpPr>
        <p:spPr>
          <a:xfrm>
            <a:off x="566928" y="4663440"/>
            <a:ext cx="11057839" cy="640080"/>
          </a:xfrm>
          <a:prstGeom prst="rect">
            <a:avLst/>
          </a:prstGeom>
          <a:solidFill>
            <a:srgbClr val="FFFFFF"/>
          </a:solidFill>
          <a:ln w="15875">
            <a:solidFill>
              <a:srgbClr val="D9D6E0"/>
            </a:solidFill>
            <a:prstDash val="solid"/>
          </a:ln>
        </p:spPr>
      </p:sp>
      <p:sp>
        <p:nvSpPr>
          <p:cNvPr id="12" name="Text 9"/>
          <p:cNvSpPr/>
          <p:nvPr/>
        </p:nvSpPr>
        <p:spPr>
          <a:xfrm>
            <a:off x="694944" y="466344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3" name="Text 10"/>
          <p:cNvSpPr/>
          <p:nvPr/>
        </p:nvSpPr>
        <p:spPr>
          <a:xfrm>
            <a:off x="1280160" y="4837176"/>
            <a:ext cx="28346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DESPLEGAR Y VERIFICAR</a:t>
            </a:r>
            <a:endParaRPr lang="en-US" sz="1000" dirty="0"/>
          </a:p>
        </p:txBody>
      </p:sp>
      <p:sp>
        <p:nvSpPr>
          <p:cNvPr id="14" name="Text 11"/>
          <p:cNvSpPr/>
          <p:nvPr/>
        </p:nvSpPr>
        <p:spPr>
          <a:xfrm>
            <a:off x="4389120" y="4754880"/>
            <a:ext cx="7125919" cy="49377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En Sepolia. Emitir un diploma con el tokenURI del JSON de IPFS.</a:t>
            </a:r>
            <a:endParaRPr lang="en-US" sz="1200" dirty="0"/>
          </a:p>
        </p:txBody>
      </p:sp>
      <p:sp>
        <p:nvSpPr>
          <p:cNvPr id="15" name="Shape 12"/>
          <p:cNvSpPr/>
          <p:nvPr/>
        </p:nvSpPr>
        <p:spPr>
          <a:xfrm>
            <a:off x="566928" y="5394960"/>
            <a:ext cx="11057839" cy="640080"/>
          </a:xfrm>
          <a:prstGeom prst="rect">
            <a:avLst/>
          </a:prstGeom>
          <a:solidFill>
            <a:srgbClr val="FAF9FB"/>
          </a:solidFill>
          <a:ln w="15875">
            <a:solidFill>
              <a:srgbClr val="D9D6E0"/>
            </a:solidFill>
            <a:prstDash val="solid"/>
          </a:ln>
        </p:spPr>
      </p:sp>
      <p:sp>
        <p:nvSpPr>
          <p:cNvPr id="16" name="Text 13"/>
          <p:cNvSpPr/>
          <p:nvPr/>
        </p:nvSpPr>
        <p:spPr>
          <a:xfrm>
            <a:off x="694944" y="539496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7" name="Text 14"/>
          <p:cNvSpPr/>
          <p:nvPr/>
        </p:nvSpPr>
        <p:spPr>
          <a:xfrm>
            <a:off x="1280160" y="5568696"/>
            <a:ext cx="28346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VER EN EL MARKETPLACE</a:t>
            </a:r>
            <a:endParaRPr lang="en-US" sz="1000" dirty="0"/>
          </a:p>
        </p:txBody>
      </p:sp>
      <p:sp>
        <p:nvSpPr>
          <p:cNvPr id="18" name="Text 15"/>
          <p:cNvSpPr/>
          <p:nvPr/>
        </p:nvSpPr>
        <p:spPr>
          <a:xfrm>
            <a:off x="4389120" y="5486400"/>
            <a:ext cx="7125919" cy="49377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Abrir el NFT en un marketplace de testnet (por ejemplo el de OpenSea para redes de prueba). Debe mostrar la imagen y los atributos leídos del JSON.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QUÉ SE ENTREGA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EVIDENCIA DEL LABORATORIO 11</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377440"/>
                <a:gridCol w="7217359"/>
                <a:gridCol w="1463040"/>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EVIDENCIA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DETALLE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PESO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3093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CIDs en IPFS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El CID de la imagen y el del JSON, ambos accesibles por una puerta IPFS.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25 %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3093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Contrato verificado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DiplomaUSB en Sepolia con al menos un diploma emitido.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30 %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3093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Visible en marketplace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Captura del NFT mostrando imagen y atributos leídos del JSON.</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25 %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3093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Prueba de permanencia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Explicar qué pasaría con el NFT si se borrara el pin. Un párrafo.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20 %</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2871216"/>
          </a:xfrm>
          <a:prstGeom prst="rect">
            <a:avLst/>
          </a:prstGeom>
          <a:ln w="22225">
            <a:solidFill>
              <a:srgbClr val="0F0F11"/>
            </a:solidFill>
            <a:prstDash val="solid"/>
          </a:ln>
        </p:spPr>
      </p:sp>
      <p:sp>
        <p:nvSpPr>
          <p:cNvPr id="10" name="Text 6"/>
          <p:cNvSpPr/>
          <p:nvPr/>
        </p:nvSpPr>
        <p:spPr>
          <a:xfrm>
            <a:off x="566928" y="4754880"/>
            <a:ext cx="11057839" cy="50292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El proyecto necesita sus contratos completos para el Avance 1 (Sesión 13): este laboratorio suele ser una pieza directa de él.</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C</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30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CASO USB</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Modelar el diploma de la universidad como credencial verificable, con las tres opciones sobre la mesa y sus intercambios.</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11 · NFT, ERC-721/1155 E IPFS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C.1 · EL DEBATE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TRES FORMAS DE MODELAR EL MISMO DIPLOMA</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560320"/>
                <a:gridCol w="4206240"/>
                <a:gridCol w="42912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OPCIÓN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A FAVOR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EN CONTRA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78028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ERC-721 transferible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Simple, estándar, se ve en cualquier marketplace.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 diploma no debería venderse. Transferible es raro aquí.</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8028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ERC-1155</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Barato para muchos diplomas; un tipo por programa.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Menos natural para algo estrictamente único por persona.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8028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SBT no transferible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Atado a la persona: es lo que un diploma es.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Si pierde la billetera, pierde el título. Choca con el derecho al olvido.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688336"/>
          </a:xfrm>
          <a:prstGeom prst="rect">
            <a:avLst/>
          </a:prstGeom>
          <a:ln w="22225">
            <a:solidFill>
              <a:srgbClr val="0F0F11"/>
            </a:solidFill>
            <a:prstDash val="solid"/>
          </a:ln>
        </p:spPr>
      </p:sp>
      <p:sp>
        <p:nvSpPr>
          <p:cNvPr id="10" name="Shape 6"/>
          <p:cNvSpPr/>
          <p:nvPr/>
        </p:nvSpPr>
        <p:spPr>
          <a:xfrm>
            <a:off x="566928" y="4617720"/>
            <a:ext cx="11057839" cy="150876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4837176"/>
            <a:ext cx="237744" cy="237744"/>
          </a:xfrm>
          <a:prstGeom prst="rect">
            <a:avLst/>
          </a:prstGeom>
        </p:spPr>
      </p:pic>
      <p:sp>
        <p:nvSpPr>
          <p:cNvPr id="12" name="Text 7"/>
          <p:cNvSpPr/>
          <p:nvPr/>
        </p:nvSpPr>
        <p:spPr>
          <a:xfrm>
            <a:off x="1133856" y="480974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TRABAJO DE LA SESIÓN</a:t>
            </a:r>
            <a:endParaRPr lang="en-US" sz="950" dirty="0"/>
          </a:p>
        </p:txBody>
      </p:sp>
      <p:sp>
        <p:nvSpPr>
          <p:cNvPr id="13" name="Text 8"/>
          <p:cNvSpPr/>
          <p:nvPr/>
        </p:nvSpPr>
        <p:spPr>
          <a:xfrm>
            <a:off x="804672" y="5129784"/>
            <a:ext cx="10582351" cy="905256"/>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En equipos: elegir una opción y defenderla en tres minutos, nombrando explícitamente qué se sacrifica. No hay respuesta correcta única — se evalúa que el equipo reconozca el intercambio que asume, como en el alcance del proyecto del docente.</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TRABAJO AUTÓNOMO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PREGUNTA DE LA SEMANA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11 · NFT, ERC-721/1155 E IPFS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22</a:t>
            </a:r>
            <a:endParaRPr lang="en-US" sz="900" dirty="0"/>
          </a:p>
        </p:txBody>
      </p:sp>
      <p:sp>
        <p:nvSpPr>
          <p:cNvPr id="8" name="Shape 5"/>
          <p:cNvSpPr/>
          <p:nvPr/>
        </p:nvSpPr>
        <p:spPr>
          <a:xfrm>
            <a:off x="566928" y="1737360"/>
            <a:ext cx="11057839" cy="16002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234440"/>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Busquen un NFT famoso y averigüen DÓNDE vive su imagen: ¿IPFS, Arweave, o un servidor normal? ¿Qué pasaría con ese NFT si la empresa detrás cerrara mañana?</a:t>
            </a:r>
            <a:endParaRPr lang="en-US" sz="2000" dirty="0"/>
          </a:p>
        </p:txBody>
      </p:sp>
      <p:sp>
        <p:nvSpPr>
          <p:cNvPr id="10" name="Text 7"/>
          <p:cNvSpPr/>
          <p:nvPr/>
        </p:nvSpPr>
        <p:spPr>
          <a:xfrm>
            <a:off x="566928" y="36118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PARA LA PRÓXIMA SESIÓN</a:t>
            </a:r>
            <a:endParaRPr lang="en-US" sz="1050" dirty="0"/>
          </a:p>
        </p:txBody>
      </p:sp>
      <p:sp>
        <p:nvSpPr>
          <p:cNvPr id="11" name="Text 8"/>
          <p:cNvSpPr/>
          <p:nvPr/>
        </p:nvSpPr>
        <p:spPr>
          <a:xfrm>
            <a:off x="566928" y="3977640"/>
            <a:ext cx="11057839" cy="214884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Entregar la evidencia del laboratorio 11.</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Avanzar los contratos del proyecto: deben estar completos para el Avance 1 (Sesión 13).</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TERMINAR la nivelación de React: la Sesión 12 construye una interfaz y la asume por completo.</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Crear cuenta en un proveedor RPC (Alchemy o Infura) para la Sesión 12.</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566928" y="1234440"/>
            <a:ext cx="457200" cy="457200"/>
          </a:xfrm>
          <a:prstGeom prst="rect">
            <a:avLst/>
          </a:prstGeom>
        </p:spPr>
      </p:pic>
      <p:sp>
        <p:nvSpPr>
          <p:cNvPr id="4" name="Text 1"/>
          <p:cNvSpPr/>
          <p:nvPr/>
        </p:nvSpPr>
        <p:spPr>
          <a:xfrm>
            <a:off x="566928" y="1874520"/>
            <a:ext cx="11057839" cy="457200"/>
          </a:xfrm>
          <a:prstGeom prst="rect">
            <a:avLst/>
          </a:prstGeom>
          <a:noFill/>
          <a:ln/>
        </p:spPr>
        <p:txBody>
          <a:bodyPr wrap="square" lIns="0" tIns="0" rIns="0" bIns="0" rtlCol="0" anchor="ctr"/>
          <a:lstStyle/>
          <a:p>
            <a:pPr indent="0" marL="0">
              <a:buNone/>
            </a:pPr>
            <a:r>
              <a:rPr lang="en-US" sz="1150" spc="180" kern="0" dirty="0">
                <a:solidFill>
                  <a:srgbClr val="F07F06"/>
                </a:solidFill>
                <a:latin typeface="Courier New" pitchFamily="34" charset="0"/>
                <a:ea typeface="Courier New" pitchFamily="34" charset="-122"/>
                <a:cs typeface="Courier New" pitchFamily="34" charset="-120"/>
              </a:rPr>
              <a:t>LO QUE SE LLEVAN DE HOY</a:t>
            </a:r>
            <a:endParaRPr lang="en-US" sz="1150" dirty="0"/>
          </a:p>
        </p:txBody>
      </p:sp>
      <p:sp>
        <p:nvSpPr>
          <p:cNvPr id="5" name="Text 2"/>
          <p:cNvSpPr/>
          <p:nvPr/>
        </p:nvSpPr>
        <p:spPr>
          <a:xfrm>
            <a:off x="566928" y="2377440"/>
            <a:ext cx="11057839" cy="1874520"/>
          </a:xfrm>
          <a:prstGeom prst="rect">
            <a:avLst/>
          </a:prstGeom>
          <a:noFill/>
          <a:ln/>
        </p:spPr>
        <p:txBody>
          <a:bodyPr wrap="square" lIns="0" tIns="0" rIns="0" bIns="0" rtlCol="0" anchor="t"/>
          <a:lstStyle/>
          <a:p>
            <a:pPr indent="0" marL="0">
              <a:lnSpc>
                <a:spcPct val="100000"/>
              </a:lnSpc>
              <a:buNone/>
            </a:pPr>
            <a:r>
              <a:rPr lang="en-US" sz="3600" dirty="0">
                <a:solidFill>
                  <a:srgbClr val="FFFFFF"/>
                </a:solidFill>
                <a:latin typeface="Arial Black" pitchFamily="34" charset="0"/>
                <a:ea typeface="Arial Black" pitchFamily="34" charset="-122"/>
                <a:cs typeface="Arial Black" pitchFamily="34" charset="-120"/>
              </a:rPr>
              <a:t>Ser dueño de un NFT es ser dueño de una fila en un contrato. Que signifique algo depende de dónde viva el archivo.</a:t>
            </a:r>
            <a:endParaRPr lang="en-US" sz="3600" dirty="0"/>
          </a:p>
        </p:txBody>
      </p:sp>
      <p:sp>
        <p:nvSpPr>
          <p:cNvPr id="6" name="Text 3"/>
          <p:cNvSpPr/>
          <p:nvPr/>
        </p:nvSpPr>
        <p:spPr>
          <a:xfrm>
            <a:off x="566928" y="4343400"/>
            <a:ext cx="9960559" cy="822960"/>
          </a:xfrm>
          <a:prstGeom prst="rect">
            <a:avLst/>
          </a:prstGeom>
          <a:noFill/>
          <a:ln/>
        </p:spPr>
        <p:txBody>
          <a:bodyPr wrap="square" lIns="0" tIns="0" rIns="0" bIns="0" rtlCol="0" anchor="t"/>
          <a:lstStyle/>
          <a:p>
            <a:pPr indent="0" marL="0">
              <a:lnSpc>
                <a:spcPct val="125000"/>
              </a:lnSpc>
              <a:buNone/>
            </a:pPr>
            <a:r>
              <a:rPr lang="en-US" sz="1500" dirty="0">
                <a:solidFill>
                  <a:srgbClr val="B9B4C4"/>
                </a:solidFill>
                <a:latin typeface="Arial" pitchFamily="34" charset="0"/>
                <a:ea typeface="Arial" pitchFamily="34" charset="-122"/>
                <a:cs typeface="Arial" pitchFamily="34" charset="-120"/>
              </a:rPr>
              <a:t>Ya saben construir contratos, tokens y NFTs. Falta lo que la gente de verdad ve: una interfaz. La Unidad III se cierra conectando todo a una pantalla.</a:t>
            </a:r>
            <a:endParaRPr lang="en-US" sz="1500" dirty="0"/>
          </a:p>
        </p:txBody>
      </p:sp>
      <p:sp>
        <p:nvSpPr>
          <p:cNvPr id="7" name="Shape 4"/>
          <p:cNvSpPr/>
          <p:nvPr/>
        </p:nvSpPr>
        <p:spPr>
          <a:xfrm>
            <a:off x="566928" y="5349240"/>
            <a:ext cx="11057839" cy="685800"/>
          </a:xfrm>
          <a:prstGeom prst="rect">
            <a:avLst/>
          </a:prstGeom>
          <a:solidFill>
            <a:srgbClr val="1C1B21"/>
          </a:solidFill>
          <a:ln w="12700">
            <a:solidFill>
              <a:srgbClr val="343240"/>
            </a:solidFill>
            <a:prstDash val="solid"/>
          </a:ln>
        </p:spPr>
      </p:sp>
      <p:sp>
        <p:nvSpPr>
          <p:cNvPr id="8" name="Text 5"/>
          <p:cNvSpPr/>
          <p:nvPr/>
        </p:nvSpPr>
        <p:spPr>
          <a:xfrm>
            <a:off x="841248" y="5349240"/>
            <a:ext cx="10509199" cy="685800"/>
          </a:xfrm>
          <a:prstGeom prst="rect">
            <a:avLst/>
          </a:prstGeom>
          <a:noFill/>
          <a:ln/>
        </p:spPr>
        <p:txBody>
          <a:bodyPr wrap="square" lIns="0" tIns="0" rIns="0" bIns="0" rtlCol="0" anchor="ctr"/>
          <a:lstStyle/>
          <a:p>
            <a:pPr indent="0" marL="0">
              <a:buNone/>
            </a:pPr>
            <a:r>
              <a:rPr lang="en-US" sz="1100" spc="120" kern="0" dirty="0">
                <a:solidFill>
                  <a:srgbClr val="F07F06"/>
                </a:solidFill>
                <a:latin typeface="Courier New" pitchFamily="34" charset="0"/>
                <a:ea typeface="Courier New" pitchFamily="34" charset="-122"/>
                <a:cs typeface="Courier New" pitchFamily="34" charset="-120"/>
              </a:rPr>
              <a:t>SESIÓN 12 · WEB 3.0 · CONECTAR EL FRONTEND A LA CADENA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11 · NFTs e IPFS</dc:title>
  <dc:subject>Sesión 11 · NFTs e IPFS</dc:subject>
  <dc:creator>Universidad de San Buenaventura Medellín</dc:creator>
  <cp:lastModifiedBy>Universidad de San Buenaventura Medellín</cp:lastModifiedBy>
  <cp:revision>1</cp:revision>
  <dcterms:created xsi:type="dcterms:W3CDTF">2026-09-13T17:53:35Z</dcterms:created>
  <dcterms:modified xsi:type="dcterms:W3CDTF">2026-09-13T17:53:35Z</dcterms:modified>
</cp:coreProperties>
</file>