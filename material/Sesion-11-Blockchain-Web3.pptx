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Gancho (2 min): pregunten quién ha «comprado» un NFT o conoce a alguien que lo hizo, y qué creen que compró. Casi siempre la respuesta es «la imagen». Hoy vamos a ver que no: se compra una fila en un contrato que APUNTA a una imagen, y que dónde vive esa imagen decide si el NFT significa algo dentro de diez años.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 min: 70 + 75 + 25 = 170, más una pausa de 10 minutos entre A y B. Si el bloque A se alarga, recorten el comentario de A.17 (críticas), nunca el laboratorio: la evidencia de hoy cuenta para el segundo corte. Lo que no se termine del laboratorio se completa en casa con la guía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Lean las cuatro preguntas en voz alta y díganles que al final de cada bloque hay una lámina de verificación que las retoma. La cuarta pregunta NO tiene una respuesta única: se evalúa el argumento.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lean el glosario: díganles que es la lámina para repasar antes del parcial. Adviertan que «CID» y «pinning» son las dos palabras que más se confunden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A: 70 minutos, con tres verificaciones intermedias (A.6, A.14, A.19). Ritmo sugerido: estándares hasta A.6 (20 min), almacenamiento hasta A.14 (25 min), regalías, casos y críticas hasta A.20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rápida (1 min): ¿un pasaje de avión es fungible? Antes de asignar asiento, casi; después, no. La fungibilidad es una decisión de diseño, no una propiedad del objeto. Conecten con la S10: el ERC-20 pregunta «cuántos»; hoy se pregunta «de quién es el número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valores de la tabla son los del laboratorio (red local de Hardhat, cuentas #1 y #2). Hagan notar la fila 3: consultar un token que no existe no devuelve «nadie»: revierte. Lo prueba el test «consultar el dueño de un token inexistente revierte».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OpenZeppelin implementa todo esto: nuestro contrato solo añade emitir(). Insistan en setApprovalForAll: la mayoría de robos de NFT no rompen ningún contrato; el usuario firma una aprobación para todo. Es la regla de seguridad del curso aplicada.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clásico: videojuegos, entradas por categoría (100 entradas «general» = un id con 100 copias), membresías por nivel. La plantilla {id} en uri() es parte del estándar: el cliente la reemplaza por el id en hexadecimal de 64 caracteres.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den todavía la respuesta para el diploma: es el debate del bloque C. Solo planten la pregunta: ¿un diploma es una pieza con historia propia o una copia de un «tipo» (el programa)?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Verificación de bloque (3 min). Tapen la ficha de abajo o avancen con clic si la animan. Respuesta alternativa aceptable: dos contratos (un ERC-20 para las generales y un ERC-721 para las VIP) — también es defendible; lo que no es defendible es 5 020 NFT sin argumento.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JSON de la lámina es el mismo que usa la guía del laboratorio. Pregunta: ¿quién decide qué campos se muestran? El explorador o la billetera, no la cadena. Por eso «attributes» funciona: es un acuerdo del ecosistema, no del protocolo.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lámina de la sesión. Si solo recuerdan una cosa, que sea esta. El script scripts/s11/leer-diploma.js imprime los tres saltos: cadena → JSON → imagen, y dice cuál falla si alguno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medidas con Hardhat 3.16 / solc 0.8.34 (optimizador 200): contrato Almacen { bytes datos; function guardar(bytes calldata d) { datos = d; } }, contrato nuevo en cada medición y relleno de bytes 0x01 (sin ningún byte en cero, que es el caso realista de una imagen: con 1 KB de ceros serían 121 455, seis veces menos, porque un byte en cero cuesta 4 en el campo data y 0 en la ranura). Las dos de FUSB y del tokenURI salen de --gas-stats sobre test/s10/FichaUSB.test.js y test/s11/DiplomaUSB.test.js. El 100 KB es extrapolación lineal. No conviertan a pesos: el precio del gas y del ETH cambia cada hora; el orden de magnitud es lo que importa. El límite de gas de la red principal también cambia (subió varias veces en 2025): si lo citan, consúltenlo el día de la clase en un explorador.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de concepto típico: «está en IPFS, entonces es permanente». Falso: IPFS da integridad (nadie lo altera), no disponibilidad (alguien tiene que guardarlo). La disponibilidad es el pinning de A.13. Pregunten: ¿qué garantía les da un https:// de la universidad? Ninguna de las dos, técnicamente; solo la confianza en la institución.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última fila es la Sesión 2 aplicada: el hash como identificador que se autoverifica. Una puerta (gateway) como ipfs.io es un servidor HTTP normal que hace estos pasos por ustedes; cuando usan una puerta, vuelven a confiar en ese servidor, a menos que verifiquen el hash ustedes mismos.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CID de la lámina se calcularon con scripts/s11/cid-raw.js durante la preparación (verifiquen en vivo, tarda un segundo). La consulta a ipfs.io con el CID de «hello world» devolvió el texto exacto al preparar la clase. Los CID antiguos (versión 0) empiezan por «Qm»; los de versión 1 por «baf». Cambiar «1» por «2» en el texto cambia el CID entero: efecto avalancha de la Sesión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Planes consultados en las páginas de precios de Pinata y Filebase en septiembre de 2026. ⚠ VERIFICAR ANTES DE DICTAR: que el registro gratuito siga sin pedir tarjeta (no se pudo crear cuenta al preparar el material). Regla: si un servicio pide tarjeta, NO la ponen; usan la alternativa o el plan B. El 429 de ipfs.io ocurrió de verdad en una prueba de preparación y a los minutos volvió a responder.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si dejan de fijar, el token sigue existiendo y su tokenURI sigue igual, pero el JSON puede volverse inalcanzable (disponibilidad). Si alguien cambia el JSON, obtiene otro CID: el token sigue apuntando al original, así que el cambio no afecta al NFT (integridad). Arweave: no citen cifras de «200 años»; digan que su modelo es un fondo que se paga al subir y que su sostenibilidad es una apuesta económica.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texto de EIP-2981 (estado Final; interfaz 0x2a55205a), The Block 17-08-2023 sobre el fin del Operator Filter, blog de OpenSea sobre ERC-721C (2024). El debate de fondo no es técnico: es quién tiene poder sobre un bien después de venderlo.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RWA = real-world assets. Sean honestos con el último: en Colombia, un token no reemplaza la escritura pública ni el registro; un NFT de un lote no es el lote. Para credenciales, la ventaja real es verificar sin intermediario; la pregunta es si la universidad no podría firmar un PDF y 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citen cifras de volumen o de «porcentaje de colecciones que valen cero»: los informes que circulan son de metodología discutible. Si un estudiante trae una cifra, pidan la fuente y el método: es la costumbre que queremos. La fila de energía conecta con la S4 (ethereum.org cita una reducción del orden del 99,9 %).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minutos. Pidan respuestas a tres parejas distintas antes de mostrar la ficha. Matiz para la 2: nuestro contrato no tiene función para cambiar el tokenURI; si la tuviera (hay contratos así), la universidad sí podría cambiar el ENLACE. Leer el contrato antes de confiar es parte de 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va la pausa de 10 minutos. Pidan que durante la pausa abran pinata.cloud y creen la cuenta (plan gratuito, sin tarjeta): es el paso que más tiempo consume del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Repartan la guía PDF: laboratorios-evm/guias/s11-diploma-nft-ipfs.pdf. Las láminas B.1 a B.8 son el mapa; el detalle de cada comando está en la guía. Si la red de la sala falla, las partes 1 y 2 (contrato y pruebas) no necesitan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Tiempos orientativos que suman 75. Si una pareja se atrasa en IPFS, que avance el contrato y el ensayo local: el pinning se puede terminar en casa. Lo que no puede faltar para la evidencia: contrato verificado en Sepolia con un diploma emitido cuyo tokenURI resuelva.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está en contracts/s11 del repositorio del docente; al estudiante le llega el andamiaje. Si alguien pone _safeMint antes de _setTokenURI, las pruebas pasan igual: úsenlo para discutir que una prueba verde no demuestra ausencia de riesgo, y que CEI es una disciplina, no un requisito de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orden importa: el CID de la imagen va DENTRO del JSON, así que el JSON se escribe y se sube después. Si cambian la imagen, cambia su CID, cambia el JSON y cambia el CID del JSON: todo se rehace. Muéstrenlo como consecuencia directa del direccionamiento por contenido.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dirección 0x5FbDB… es la del primer contrato de la cuenta #0 en una red local nueva: les va a salir igual. El módulo despliega y además llama emitir() una vez (m.call), así que al terminar ya existe el diploma #1. --verify publica el código en el explorador.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Verificado en septiembre de 2026: testnets.opensea.io redirige a support.opensea.io «Farewell testnets» (23-07-2025). La API pública de Blockscout Sepolia devolvió metadata e imagen de un ERC-721 real. testnet.rarible.com respondió con colecciones de Sepolia. ⚠ VERIFICAR ANTES DE DICTAR: que Rarible testnet siga en línea e indexe contratos nuevos; si no, se omite esa fila. Etherscan protege el sitio con una verificación anti-bots: con navegador normal abre sin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forma de la salida es la real del script (se probó contra una red local con un tokenURI público). Los valores con puntos suspensivos varían por pareja; el tamaño y el sha256 son de ejemplo. Se corre con: $env:DIPLOMA="0x…"; $env:TOKEN_ID="1"; npx hardhat run scripts/s11/leer-diploma.js --network sepolia.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PDF trae la tabla completa. El error número uno en la preparación fue el de «privado»: la interfaz de Pinata distingue público y privado y el privado no se anuncia a la red IPFS (documentación de Pinata, «Private IPFS»).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Terminó cuando: 11 pruebas verdes, un diploma emitido en Sepolia cuyo tokenURI resuelve, y la salida del script guardada. La rúbrica completa está en la guía. Política del curso: hash de transacción o dirección de contrato obligatorios.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Formato: 5 min de exposición (C.1 a C.3), 12 min de trabajo por equipos de proyecto, 8 min de defensas de 1 minuto. Lo que se evalúa es nombrar lo que se sacrifica.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de ERC-5192 verificado en eips.ethereum.org (estado Final). Nuestro DiplomaSBT lo implementa en ~10 líneas y lo prueban 9 pruebas (test/s11/DiplomaSBT.test.js), incluida la de «billetera perdida».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Dejen la pregunta abierta: es insumo para el debate. Respuesta madura: el SBT traslada el control de la persona a la institución emisora. Para un diploma eso quizá es correcto (la universidad ya es la autoridad), pero entonces la cadena aporta verificabilidad pública, no descentralización del poder.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Ley Estatutaria 1581 de 2012, régimen general de protección de datos personales; el artículo 8 reconoce el derecho a revocar la autorización y a solicitar la supresión. Ojo con un matiz: incluso la relación «esta dirección es de Ana» es dato personal si la universidad la publica. Por eso ni siquiera se publica la lista de direcciones de graduados.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tesis del curso aplicada: saber cuándo NO usar blockchain. Respuesta defendible: verificación pública y permanente sin depender de que la universidad responda o exista; registro de revocaciones auditable. Respuesta también defendible: no aporta lo suficiente y basta una firma digital con sello de tiempo. Se califica el argumento, no la elección.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de la semana se abre en los primeros 5 minutos de la S12. Pista para quien no sepa por dónde empezar: en el explorador, pestaña «Read contract», llamar tokenURI con un id; si empieza por https, ya tienen la mitad de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en un minuto. Recuerden la frase de A.10: IPFS da integridad, el pinning da disponibilidad. Y que la S12 asume MetaMask instalado y la FichaUSB de la S10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1234440" y="2331720"/>
            <a:ext cx="1280160" cy="1280160"/>
          </a:xfrm>
          <a:prstGeom prst="rect">
            <a:avLst/>
          </a:prstGeom>
        </p:spPr>
      </p:pic>
      <p:sp>
        <p:nvSpPr>
          <p:cNvPr id="4" name="Text 1"/>
          <p:cNvSpPr/>
          <p:nvPr/>
        </p:nvSpPr>
        <p:spPr>
          <a:xfrm>
            <a:off x="137160" y="3794760"/>
            <a:ext cx="3474720" cy="640080"/>
          </a:xfrm>
          <a:prstGeom prst="rect">
            <a:avLst/>
          </a:prstGeom>
          <a:noFill/>
          <a:ln/>
        </p:spPr>
        <p:txBody>
          <a:bodyPr wrap="square" lIns="0" tIns="0" rIns="0" bIns="0" rtlCol="0" anchor="ctr"/>
          <a:lstStyle/>
          <a:p>
            <a:pPr algn="ctr" indent="0" marL="0">
              <a:buNone/>
            </a:pPr>
            <a:r>
              <a:rPr lang="en-US" sz="2700" dirty="0">
                <a:solidFill>
                  <a:srgbClr val="0F0F11"/>
                </a:solidFill>
                <a:latin typeface="Arial Black" pitchFamily="34" charset="0"/>
                <a:ea typeface="Arial Black" pitchFamily="34" charset="-122"/>
                <a:cs typeface="Arial Black" pitchFamily="34" charset="-120"/>
              </a:rPr>
              <a:t>ÚNICO</a:t>
            </a:r>
            <a:endParaRPr lang="en-US" sz="2700" dirty="0"/>
          </a:p>
        </p:txBody>
      </p:sp>
      <p:pic>
        <p:nvPicPr>
          <p:cNvPr id="5" name="Image 1" descr="preencoded.png">    </p:cNvPr>
          <p:cNvPicPr>
            <a:picLocks noChangeAspect="1"/>
          </p:cNvPicPr>
          <p:nvPr/>
        </p:nvPicPr>
        <p:blipFill>
          <a:blip r:embed="rId2"/>
          <a:stretch>
            <a:fillRect/>
          </a:stretch>
        </p:blipFill>
        <p:spPr>
          <a:xfrm>
            <a:off x="4389120" y="1115568"/>
            <a:ext cx="310896" cy="310896"/>
          </a:xfrm>
          <a:prstGeom prst="rect">
            <a:avLst/>
          </a:prstGeom>
        </p:spPr>
      </p:pic>
      <p:sp>
        <p:nvSpPr>
          <p:cNvPr id="6" name="Text 2"/>
          <p:cNvSpPr/>
          <p:nvPr/>
        </p:nvSpPr>
        <p:spPr>
          <a:xfrm>
            <a:off x="4809744" y="1097280"/>
            <a:ext cx="6858000" cy="347472"/>
          </a:xfrm>
          <a:prstGeom prst="rect">
            <a:avLst/>
          </a:prstGeom>
          <a:noFill/>
          <a:ln/>
        </p:spPr>
        <p:txBody>
          <a:bodyPr wrap="square" lIns="0" tIns="0" rIns="0" bIns="0" rtlCol="0" anchor="ctr"/>
          <a:lstStyle/>
          <a:p>
            <a:pPr indent="0" marL="0">
              <a:buNone/>
            </a:pPr>
            <a:r>
              <a:rPr lang="en-US" sz="1050" spc="150" kern="0" dirty="0">
                <a:solidFill>
                  <a:srgbClr val="F07F06"/>
                </a:solidFill>
                <a:latin typeface="Courier New" pitchFamily="34" charset="0"/>
                <a:ea typeface="Courier New" pitchFamily="34" charset="-122"/>
                <a:cs typeface="Courier New" pitchFamily="34" charset="-120"/>
              </a:rPr>
              <a:t>SESIÓN 11 · UNIDAD III · WEB 3.0</a:t>
            </a:r>
            <a:endParaRPr lang="en-US" sz="1050" dirty="0"/>
          </a:p>
        </p:txBody>
      </p:sp>
      <p:sp>
        <p:nvSpPr>
          <p:cNvPr id="7" name="Text 3"/>
          <p:cNvSpPr/>
          <p:nvPr/>
        </p:nvSpPr>
        <p:spPr>
          <a:xfrm>
            <a:off x="4389120" y="1719072"/>
            <a:ext cx="7269480" cy="2377440"/>
          </a:xfrm>
          <a:prstGeom prst="rect">
            <a:avLst/>
          </a:prstGeom>
          <a:noFill/>
          <a:ln/>
        </p:spPr>
        <p:txBody>
          <a:bodyPr wrap="square" lIns="0" tIns="0" rIns="0" bIns="0" rtlCol="0" anchor="t"/>
          <a:lstStyle/>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NFT: LO ÚNICO,</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Y DÓNDE VIVE</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DE VERDAD</a:t>
            </a:r>
            <a:endParaRPr lang="en-US" sz="3800" dirty="0"/>
          </a:p>
        </p:txBody>
      </p:sp>
      <p:sp>
        <p:nvSpPr>
          <p:cNvPr id="8" name="Text 4"/>
          <p:cNvSpPr/>
          <p:nvPr/>
        </p:nvSpPr>
        <p:spPr>
          <a:xfrm>
            <a:off x="4389120" y="4224528"/>
            <a:ext cx="7269480" cy="685800"/>
          </a:xfrm>
          <a:prstGeom prst="rect">
            <a:avLst/>
          </a:prstGeom>
          <a:noFill/>
          <a:ln/>
        </p:spPr>
        <p:txBody>
          <a:bodyPr wrap="square" lIns="0" tIns="0" rIns="0" bIns="0" rtlCol="0" anchor="t"/>
          <a:lstStyle/>
          <a:p>
            <a:pPr indent="0" marL="0">
              <a:lnSpc>
                <a:spcPct val="120000"/>
              </a:lnSpc>
              <a:buNone/>
            </a:pPr>
            <a:r>
              <a:rPr lang="en-US" sz="1500" dirty="0">
                <a:solidFill>
                  <a:srgbClr val="B9B4C4"/>
                </a:solidFill>
                <a:latin typeface="Arial" pitchFamily="34" charset="0"/>
                <a:ea typeface="Arial" pitchFamily="34" charset="-122"/>
                <a:cs typeface="Arial" pitchFamily="34" charset="-120"/>
              </a:rPr>
              <a:t>El contrato guarda quién es dueño de qué. La imagen casi nunca está en la cadena. Entender esa separación es la sesión.</a:t>
            </a:r>
            <a:endParaRPr lang="en-US" sz="1500" dirty="0"/>
          </a:p>
        </p:txBody>
      </p:sp>
      <p:sp>
        <p:nvSpPr>
          <p:cNvPr id="9" name="Text 5"/>
          <p:cNvSpPr/>
          <p:nvPr/>
        </p:nvSpPr>
        <p:spPr>
          <a:xfrm>
            <a:off x="4389120" y="5120640"/>
            <a:ext cx="7269480" cy="731520"/>
          </a:xfrm>
          <a:prstGeom prst="rect">
            <a:avLst/>
          </a:prstGeom>
          <a:noFill/>
          <a:ln/>
        </p:spPr>
        <p:txBody>
          <a:bodyPr wrap="square" lIns="0" tIns="0" rIns="0" bIns="0" rtlCol="0" anchor="t"/>
          <a:lstStyle/>
          <a:p>
            <a:pPr indent="0" marL="0">
              <a:lnSpc>
                <a:spcPct val="125000"/>
              </a:lnSpc>
              <a:buNone/>
            </a:pPr>
            <a:r>
              <a:rPr lang="en-US" sz="1300" dirty="0">
                <a:solidFill>
                  <a:srgbClr val="8B8697"/>
                </a:solidFill>
                <a:latin typeface="Arial" pitchFamily="34" charset="0"/>
                <a:ea typeface="Arial" pitchFamily="34" charset="-122"/>
                <a:cs typeface="Arial" pitchFamily="34" charset="-120"/>
              </a:rPr>
              <a:t>Blockchain y Web 3.0 · Ingeniería de Sistemas</a:t>
            </a:r>
            <a:endParaRPr lang="en-US" sz="1300" dirty="0"/>
          </a:p>
          <a:p>
            <a:pPr indent="0" marL="0">
              <a:lnSpc>
                <a:spcPct val="125000"/>
              </a:lnSpc>
              <a:buNone/>
            </a:pPr>
            <a:r>
              <a:rPr lang="en-US" sz="1300" dirty="0">
                <a:solidFill>
                  <a:srgbClr val="8B8697"/>
                </a:solidFill>
                <a:latin typeface="Arial" pitchFamily="34" charset="0"/>
                <a:ea typeface="Arial" pitchFamily="34" charset="-122"/>
                <a:cs typeface="Arial" pitchFamily="34" charset="-120"/>
              </a:rPr>
              <a:t>Universidad de San Buenaventura Medellín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LO DE HOY</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CÓMO VAMOS A USAR LAS TRES HORAS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37360"/>
            <a:ext cx="11057839" cy="566928"/>
          </a:xfrm>
          <a:prstGeom prst="rect">
            <a:avLst/>
          </a:prstGeom>
          <a:noFill/>
          <a:ln/>
        </p:spPr>
        <p:txBody>
          <a:bodyPr wrap="square" lIns="0" tIns="0" rIns="0" bIns="0" rtlCol="0" anchor="t"/>
          <a:lstStyle/>
          <a:p>
            <a:pPr indent="0" marL="0">
              <a:lnSpc>
                <a:spcPct val="124000"/>
              </a:lnSpc>
              <a:buNone/>
            </a:pPr>
            <a:r>
              <a:rPr lang="en-US" sz="1450" dirty="0">
                <a:solidFill>
                  <a:srgbClr val="3A3844"/>
                </a:solidFill>
                <a:latin typeface="Arial" pitchFamily="34" charset="0"/>
                <a:ea typeface="Arial" pitchFamily="34" charset="-122"/>
                <a:cs typeface="Arial" pitchFamily="34" charset="-120"/>
              </a:rPr>
              <a:t>Tokens no fungibles, el archivo que casi todo el mercado guarda mal, y un caso propio: el diploma de la USB.</a:t>
            </a:r>
            <a:endParaRPr lang="en-US" sz="1450" dirty="0"/>
          </a:p>
        </p:txBody>
      </p:sp>
      <p:sp>
        <p:nvSpPr>
          <p:cNvPr id="9" name="Shape 6"/>
          <p:cNvSpPr/>
          <p:nvPr/>
        </p:nvSpPr>
        <p:spPr>
          <a:xfrm>
            <a:off x="566928" y="2468880"/>
            <a:ext cx="11057839" cy="1024128"/>
          </a:xfrm>
          <a:prstGeom prst="rect">
            <a:avLst/>
          </a:prstGeom>
          <a:solidFill>
            <a:srgbClr val="FFFFFF"/>
          </a:solidFill>
          <a:ln w="22225">
            <a:solidFill>
              <a:srgbClr val="0F0F11"/>
            </a:solidFill>
            <a:prstDash val="solid"/>
          </a:ln>
          <a:effectLst>
            <a:outerShdw sx="100000" sy="100000" kx="0" ky="0" algn="bl" rotWithShape="0" blurRad="101600" dist="63500" dir="2700000">
              <a:srgbClr val="0F0F11">
                <a:alpha val="100000"/>
              </a:srgbClr>
            </a:outerShdw>
          </a:effectLst>
        </p:spPr>
      </p:sp>
      <p:sp>
        <p:nvSpPr>
          <p:cNvPr id="10" name="Shape 7"/>
          <p:cNvSpPr/>
          <p:nvPr/>
        </p:nvSpPr>
        <p:spPr>
          <a:xfrm>
            <a:off x="566928" y="2468880"/>
            <a:ext cx="777240" cy="1024128"/>
          </a:xfrm>
          <a:prstGeom prst="rect">
            <a:avLst/>
          </a:prstGeom>
          <a:solidFill>
            <a:srgbClr val="F07F06"/>
          </a:solidFill>
          <a:ln w="12700">
            <a:solidFill>
              <a:srgbClr val="333333"/>
            </a:solidFill>
            <a:prstDash val="solid"/>
          </a:ln>
        </p:spPr>
      </p:sp>
      <p:sp>
        <p:nvSpPr>
          <p:cNvPr id="11" name="Text 8"/>
          <p:cNvSpPr/>
          <p:nvPr/>
        </p:nvSpPr>
        <p:spPr>
          <a:xfrm>
            <a:off x="566928" y="2468880"/>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A</a:t>
            </a:r>
            <a:endParaRPr lang="en-US" sz="2800" dirty="0"/>
          </a:p>
        </p:txBody>
      </p:sp>
      <p:sp>
        <p:nvSpPr>
          <p:cNvPr id="12" name="Text 9"/>
          <p:cNvSpPr/>
          <p:nvPr/>
        </p:nvSpPr>
        <p:spPr>
          <a:xfrm>
            <a:off x="1572768" y="2596896"/>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NFT, METADATA Y ALMACENAMIENTO</a:t>
            </a:r>
            <a:endParaRPr lang="en-US" sz="1100" dirty="0"/>
          </a:p>
        </p:txBody>
      </p:sp>
      <p:sp>
        <p:nvSpPr>
          <p:cNvPr id="13" name="Text 10"/>
          <p:cNvSpPr/>
          <p:nvPr/>
        </p:nvSpPr>
        <p:spPr>
          <a:xfrm>
            <a:off x="1572768" y="2926080"/>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ERC-721 y 1155, tokenURI, IPFS y CID, Arweave, regalías, casos serios y críticas.</a:t>
            </a:r>
            <a:endParaRPr lang="en-US" sz="1250" dirty="0"/>
          </a:p>
        </p:txBody>
      </p:sp>
      <p:sp>
        <p:nvSpPr>
          <p:cNvPr id="14" name="Text 11"/>
          <p:cNvSpPr/>
          <p:nvPr/>
        </p:nvSpPr>
        <p:spPr>
          <a:xfrm>
            <a:off x="9704527" y="2468880"/>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~70 min</a:t>
            </a:r>
            <a:endParaRPr lang="en-US" sz="1200" dirty="0"/>
          </a:p>
        </p:txBody>
      </p:sp>
      <p:sp>
        <p:nvSpPr>
          <p:cNvPr id="15" name="Shape 12"/>
          <p:cNvSpPr/>
          <p:nvPr/>
        </p:nvSpPr>
        <p:spPr>
          <a:xfrm>
            <a:off x="566928" y="3675888"/>
            <a:ext cx="11057839" cy="1024128"/>
          </a:xfrm>
          <a:prstGeom prst="rect">
            <a:avLst/>
          </a:prstGeom>
          <a:solidFill>
            <a:srgbClr val="FAF9FB"/>
          </a:solidFill>
          <a:ln w="22225">
            <a:solidFill>
              <a:srgbClr val="0F0F11"/>
            </a:solidFill>
            <a:prstDash val="solid"/>
          </a:ln>
        </p:spPr>
      </p:sp>
      <p:sp>
        <p:nvSpPr>
          <p:cNvPr id="16" name="Shape 13"/>
          <p:cNvSpPr/>
          <p:nvPr/>
        </p:nvSpPr>
        <p:spPr>
          <a:xfrm>
            <a:off x="566928" y="3675888"/>
            <a:ext cx="777240" cy="1024128"/>
          </a:xfrm>
          <a:prstGeom prst="rect">
            <a:avLst/>
          </a:prstGeom>
          <a:solidFill>
            <a:srgbClr val="D9D6E0"/>
          </a:solidFill>
          <a:ln w="12700">
            <a:solidFill>
              <a:srgbClr val="333333"/>
            </a:solidFill>
            <a:prstDash val="solid"/>
          </a:ln>
        </p:spPr>
      </p:sp>
      <p:sp>
        <p:nvSpPr>
          <p:cNvPr id="17" name="Text 14"/>
          <p:cNvSpPr/>
          <p:nvPr/>
        </p:nvSpPr>
        <p:spPr>
          <a:xfrm>
            <a:off x="566928" y="3675888"/>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B</a:t>
            </a:r>
            <a:endParaRPr lang="en-US" sz="2800" dirty="0"/>
          </a:p>
        </p:txBody>
      </p:sp>
      <p:sp>
        <p:nvSpPr>
          <p:cNvPr id="18" name="Text 15"/>
          <p:cNvSpPr/>
          <p:nvPr/>
        </p:nvSpPr>
        <p:spPr>
          <a:xfrm>
            <a:off x="1572768" y="3803904"/>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LABORATORIO 11 · EN PAREJAS</a:t>
            </a:r>
            <a:endParaRPr lang="en-US" sz="1100" dirty="0"/>
          </a:p>
        </p:txBody>
      </p:sp>
      <p:sp>
        <p:nvSpPr>
          <p:cNvPr id="19" name="Text 16"/>
          <p:cNvSpPr/>
          <p:nvPr/>
        </p:nvSpPr>
        <p:spPr>
          <a:xfrm>
            <a:off x="1572768" y="4133088"/>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Diploma NFT: imagen y JSON en IPFS, contrato probado, despliegue y verificación.</a:t>
            </a:r>
            <a:endParaRPr lang="en-US" sz="1250" dirty="0"/>
          </a:p>
        </p:txBody>
      </p:sp>
      <p:sp>
        <p:nvSpPr>
          <p:cNvPr id="20" name="Text 17"/>
          <p:cNvSpPr/>
          <p:nvPr/>
        </p:nvSpPr>
        <p:spPr>
          <a:xfrm>
            <a:off x="9704527" y="3675888"/>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~75 min</a:t>
            </a:r>
            <a:endParaRPr lang="en-US" sz="1200" dirty="0"/>
          </a:p>
        </p:txBody>
      </p:sp>
      <p:sp>
        <p:nvSpPr>
          <p:cNvPr id="21" name="Shape 18"/>
          <p:cNvSpPr/>
          <p:nvPr/>
        </p:nvSpPr>
        <p:spPr>
          <a:xfrm>
            <a:off x="566928" y="4882896"/>
            <a:ext cx="11057839" cy="1024128"/>
          </a:xfrm>
          <a:prstGeom prst="rect">
            <a:avLst/>
          </a:prstGeom>
          <a:solidFill>
            <a:srgbClr val="FAF9FB"/>
          </a:solidFill>
          <a:ln w="22225">
            <a:solidFill>
              <a:srgbClr val="0F0F11"/>
            </a:solidFill>
            <a:prstDash val="solid"/>
          </a:ln>
        </p:spPr>
      </p:sp>
      <p:sp>
        <p:nvSpPr>
          <p:cNvPr id="22" name="Shape 19"/>
          <p:cNvSpPr/>
          <p:nvPr/>
        </p:nvSpPr>
        <p:spPr>
          <a:xfrm>
            <a:off x="566928" y="4882896"/>
            <a:ext cx="777240" cy="1024128"/>
          </a:xfrm>
          <a:prstGeom prst="rect">
            <a:avLst/>
          </a:prstGeom>
          <a:solidFill>
            <a:srgbClr val="D9D6E0"/>
          </a:solidFill>
          <a:ln w="12700">
            <a:solidFill>
              <a:srgbClr val="333333"/>
            </a:solidFill>
            <a:prstDash val="solid"/>
          </a:ln>
        </p:spPr>
      </p:sp>
      <p:sp>
        <p:nvSpPr>
          <p:cNvPr id="23" name="Text 20"/>
          <p:cNvSpPr/>
          <p:nvPr/>
        </p:nvSpPr>
        <p:spPr>
          <a:xfrm>
            <a:off x="566928" y="4882896"/>
            <a:ext cx="777240" cy="1024128"/>
          </a:xfrm>
          <a:prstGeom prst="rect">
            <a:avLst/>
          </a:prstGeom>
          <a:noFill/>
          <a:ln/>
        </p:spPr>
        <p:txBody>
          <a:bodyPr wrap="square" lIns="0" tIns="0" rIns="0" bIns="0" rtlCol="0" anchor="ctr"/>
          <a:lstStyle/>
          <a:p>
            <a:pPr algn="ctr" indent="0" marL="0">
              <a:buNone/>
            </a:pPr>
            <a:r>
              <a:rPr lang="en-US" sz="2800" dirty="0">
                <a:solidFill>
                  <a:srgbClr val="0F0F11"/>
                </a:solidFill>
                <a:latin typeface="Arial Black" pitchFamily="34" charset="0"/>
                <a:ea typeface="Arial Black" pitchFamily="34" charset="-122"/>
                <a:cs typeface="Arial Black" pitchFamily="34" charset="-120"/>
              </a:rPr>
              <a:t>C</a:t>
            </a:r>
            <a:endParaRPr lang="en-US" sz="2800" dirty="0"/>
          </a:p>
        </p:txBody>
      </p:sp>
      <p:sp>
        <p:nvSpPr>
          <p:cNvPr id="24" name="Text 21"/>
          <p:cNvSpPr/>
          <p:nvPr/>
        </p:nvSpPr>
        <p:spPr>
          <a:xfrm>
            <a:off x="1572768" y="5010912"/>
            <a:ext cx="7772400" cy="292608"/>
          </a:xfrm>
          <a:prstGeom prst="rect">
            <a:avLst/>
          </a:prstGeom>
          <a:noFill/>
          <a:ln/>
        </p:spPr>
        <p:txBody>
          <a:bodyPr wrap="square" lIns="0" tIns="0" rIns="0" bIns="0" rtlCol="0" anchor="ctr"/>
          <a:lstStyle/>
          <a:p>
            <a:pPr indent="0" marL="0">
              <a:buNone/>
            </a:pPr>
            <a:r>
              <a:rPr lang="en-US" sz="1100" b="1" spc="130" kern="0" dirty="0">
                <a:solidFill>
                  <a:srgbClr val="0F0F11"/>
                </a:solidFill>
                <a:latin typeface="Courier New" pitchFamily="34" charset="0"/>
                <a:ea typeface="Courier New" pitchFamily="34" charset="-122"/>
                <a:cs typeface="Courier New" pitchFamily="34" charset="-120"/>
              </a:rPr>
              <a:t>CASO USB · EL DIPLOMA</a:t>
            </a:r>
            <a:endParaRPr lang="en-US" sz="1100" dirty="0"/>
          </a:p>
        </p:txBody>
      </p:sp>
      <p:sp>
        <p:nvSpPr>
          <p:cNvPr id="25" name="Text 22"/>
          <p:cNvSpPr/>
          <p:nvPr/>
        </p:nvSpPr>
        <p:spPr>
          <a:xfrm>
            <a:off x="1572768" y="5340096"/>
            <a:ext cx="7863840" cy="51206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¿ERC-721, 1155 o SBT? Trade-offs y habeas data (Ley 1581 de 2012).</a:t>
            </a:r>
            <a:endParaRPr lang="en-US" sz="1250" dirty="0"/>
          </a:p>
        </p:txBody>
      </p:sp>
      <p:sp>
        <p:nvSpPr>
          <p:cNvPr id="26" name="Text 23"/>
          <p:cNvSpPr/>
          <p:nvPr/>
        </p:nvSpPr>
        <p:spPr>
          <a:xfrm>
            <a:off x="9704527" y="4882896"/>
            <a:ext cx="1691640" cy="1024128"/>
          </a:xfrm>
          <a:prstGeom prst="rect">
            <a:avLst/>
          </a:prstGeom>
          <a:noFill/>
          <a:ln/>
        </p:spPr>
        <p:txBody>
          <a:bodyPr wrap="square" lIns="0" tIns="0" rIns="0" bIns="0" rtlCol="0" anchor="ctr"/>
          <a:lstStyle/>
          <a:p>
            <a:pPr algn="r" indent="0" marL="0">
              <a:buNone/>
            </a:pPr>
            <a:r>
              <a:rPr lang="en-US" sz="1200" b="1" dirty="0">
                <a:solidFill>
                  <a:srgbClr val="A35604"/>
                </a:solidFill>
                <a:latin typeface="Courier New" pitchFamily="34" charset="0"/>
                <a:ea typeface="Courier New" pitchFamily="34" charset="-122"/>
                <a:cs typeface="Courier New" pitchFamily="34" charset="-120"/>
              </a:rPr>
              <a:t>~25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EL PROPÓSITO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AL SALIR DE AQUÍ</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sp>
        <p:nvSpPr>
          <p:cNvPr id="8" name="Shape 5"/>
          <p:cNvSpPr/>
          <p:nvPr/>
        </p:nvSpPr>
        <p:spPr>
          <a:xfrm>
            <a:off x="566928" y="1737360"/>
            <a:ext cx="11057839" cy="118872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sp>
        <p:nvSpPr>
          <p:cNvPr id="9" name="Text 6"/>
          <p:cNvSpPr/>
          <p:nvPr/>
        </p:nvSpPr>
        <p:spPr>
          <a:xfrm>
            <a:off x="950976" y="1920240"/>
            <a:ext cx="10289743" cy="82296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Implementar tokens no fungibles con metadata descentralizada y evaluar cuándo un NFT resuelve un problema real.</a:t>
            </a:r>
            <a:endParaRPr lang="en-US" sz="1900" dirty="0"/>
          </a:p>
        </p:txBody>
      </p:sp>
      <p:sp>
        <p:nvSpPr>
          <p:cNvPr id="10" name="Text 7"/>
          <p:cNvSpPr/>
          <p:nvPr/>
        </p:nvSpPr>
        <p:spPr>
          <a:xfrm>
            <a:off x="566928" y="31546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LAS PREGUNTAS QUE LA SESIÓN RESPONDE</a:t>
            </a:r>
            <a:endParaRPr lang="en-US" sz="1050" dirty="0"/>
          </a:p>
        </p:txBody>
      </p:sp>
      <p:sp>
        <p:nvSpPr>
          <p:cNvPr id="11" name="Text 8"/>
          <p:cNvSpPr/>
          <p:nvPr/>
        </p:nvSpPr>
        <p:spPr>
          <a:xfrm>
            <a:off x="566928" y="3566160"/>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2" name="Text 9"/>
          <p:cNvSpPr/>
          <p:nvPr/>
        </p:nvSpPr>
        <p:spPr>
          <a:xfrm>
            <a:off x="1225296" y="3630168"/>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¿Qué distingue un ERC-721 de un ERC-1155, y cuándo usar cada uno?</a:t>
            </a:r>
            <a:endParaRPr lang="en-US" sz="1400" dirty="0"/>
          </a:p>
        </p:txBody>
      </p:sp>
      <p:sp>
        <p:nvSpPr>
          <p:cNvPr id="13" name="Text 10"/>
          <p:cNvSpPr/>
          <p:nvPr/>
        </p:nvSpPr>
        <p:spPr>
          <a:xfrm>
            <a:off x="566928" y="4133088"/>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25296" y="4197096"/>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¿Dónde está «el NFT» y dónde está «el archivo»?</a:t>
            </a:r>
            <a:endParaRPr lang="en-US" sz="1400" dirty="0"/>
          </a:p>
        </p:txBody>
      </p:sp>
      <p:sp>
        <p:nvSpPr>
          <p:cNvPr id="15" name="Text 12"/>
          <p:cNvSpPr/>
          <p:nvPr/>
        </p:nvSpPr>
        <p:spPr>
          <a:xfrm>
            <a:off x="566928" y="4700016"/>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6" name="Text 13"/>
          <p:cNvSpPr/>
          <p:nvPr/>
        </p:nvSpPr>
        <p:spPr>
          <a:xfrm>
            <a:off x="1225296" y="4764024"/>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qué una URL centralizada rompe la promesa de permanencia, y qué la arregla?</a:t>
            </a:r>
            <a:endParaRPr lang="en-US" sz="1400" dirty="0"/>
          </a:p>
        </p:txBody>
      </p:sp>
      <p:sp>
        <p:nvSpPr>
          <p:cNvPr id="17" name="Text 14"/>
          <p:cNvSpPr/>
          <p:nvPr/>
        </p:nvSpPr>
        <p:spPr>
          <a:xfrm>
            <a:off x="566928" y="5266944"/>
            <a:ext cx="548640" cy="45720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18" name="Text 15"/>
          <p:cNvSpPr/>
          <p:nvPr/>
        </p:nvSpPr>
        <p:spPr>
          <a:xfrm>
            <a:off x="1225296" y="5330952"/>
            <a:ext cx="10399471" cy="45720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Para un diploma: ¿transferible, semi-fungible o atado a la persona?</a:t>
            </a:r>
            <a:endParaRPr lang="en-US" sz="1400" dirty="0"/>
          </a:p>
        </p:txBody>
      </p:sp>
      <p:sp>
        <p:nvSpPr>
          <p:cNvPr id="19" name="Shape 16"/>
          <p:cNvSpPr/>
          <p:nvPr/>
        </p:nvSpPr>
        <p:spPr>
          <a:xfrm>
            <a:off x="566928" y="5943600"/>
            <a:ext cx="11057839" cy="457200"/>
          </a:xfrm>
          <a:prstGeom prst="rect">
            <a:avLst/>
          </a:prstGeom>
          <a:solidFill>
            <a:srgbClr val="F2F0F5"/>
          </a:solidFill>
          <a:ln w="12700">
            <a:solidFill>
              <a:srgbClr val="7152E9"/>
            </a:solidFill>
            <a:prstDash val="solid"/>
          </a:ln>
        </p:spPr>
      </p:sp>
      <p:sp>
        <p:nvSpPr>
          <p:cNvPr id="20" name="Text 17"/>
          <p:cNvSpPr/>
          <p:nvPr/>
        </p:nvSpPr>
        <p:spPr>
          <a:xfrm>
            <a:off x="731520" y="6016752"/>
            <a:ext cx="10728655" cy="310896"/>
          </a:xfrm>
          <a:prstGeom prst="rect">
            <a:avLst/>
          </a:prstGeom>
          <a:noFill/>
          <a:ln/>
        </p:spPr>
        <p:txBody>
          <a:bodyPr wrap="square" lIns="0" tIns="0" rIns="0" bIns="0" rtlCol="0" anchor="ctr"/>
          <a:lstStyle/>
          <a:p>
            <a:pPr indent="0" marL="0">
              <a:lnSpc>
                <a:spcPct val="120000"/>
              </a:lnSpc>
              <a:buNone/>
            </a:pPr>
            <a:r>
              <a:rPr lang="en-US" sz="1050" dirty="0">
                <a:solidFill>
                  <a:srgbClr val="3A3844"/>
                </a:solidFill>
                <a:latin typeface="Courier New" pitchFamily="34" charset="0"/>
                <a:ea typeface="Courier New" pitchFamily="34" charset="-122"/>
                <a:cs typeface="Courier New" pitchFamily="34" charset="-120"/>
              </a:rPr>
              <a:t>RA3 · implementar estándares (ERC-721)  ·  RA6 · integrar almacenamiento descentralizado (IPFS).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VOCABULARIO DE LA SESIÓN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SIGLAS Y TÉRMINOS DE HOY</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04</a:t>
            </a:r>
            <a:endParaRPr lang="en-US" sz="900" dirty="0"/>
          </a:p>
        </p:txBody>
      </p:sp>
      <p:sp>
        <p:nvSpPr>
          <p:cNvPr id="8" name="Shape 5"/>
          <p:cNvSpPr/>
          <p:nvPr/>
        </p:nvSpPr>
        <p:spPr>
          <a:xfrm>
            <a:off x="566928" y="1737360"/>
            <a:ext cx="5419192" cy="1014984"/>
          </a:xfrm>
          <a:prstGeom prst="rect">
            <a:avLst/>
          </a:prstGeom>
          <a:solidFill>
            <a:srgbClr val="FFFFFF"/>
          </a:solidFill>
          <a:ln w="15875">
            <a:solidFill>
              <a:srgbClr val="7152E9"/>
            </a:solidFill>
            <a:prstDash val="solid"/>
          </a:ln>
        </p:spPr>
      </p:sp>
      <p:sp>
        <p:nvSpPr>
          <p:cNvPr id="9" name="Shape 6"/>
          <p:cNvSpPr/>
          <p:nvPr/>
        </p:nvSpPr>
        <p:spPr>
          <a:xfrm>
            <a:off x="566928" y="1737360"/>
            <a:ext cx="82296" cy="1014984"/>
          </a:xfrm>
          <a:prstGeom prst="rect">
            <a:avLst/>
          </a:prstGeom>
          <a:solidFill>
            <a:srgbClr val="7152E9"/>
          </a:solidFill>
          <a:ln w="12700">
            <a:solidFill>
              <a:srgbClr val="333333"/>
            </a:solidFill>
            <a:prstDash val="solid"/>
          </a:ln>
        </p:spPr>
      </p:sp>
      <p:sp>
        <p:nvSpPr>
          <p:cNvPr id="10" name="Text 7"/>
          <p:cNvSpPr/>
          <p:nvPr/>
        </p:nvSpPr>
        <p:spPr>
          <a:xfrm>
            <a:off x="822960"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NFT</a:t>
            </a:r>
            <a:endParaRPr lang="en-US" sz="1100" dirty="0"/>
          </a:p>
        </p:txBody>
      </p:sp>
      <p:sp>
        <p:nvSpPr>
          <p:cNvPr id="11" name="Text 8"/>
          <p:cNvSpPr/>
          <p:nvPr/>
        </p:nvSpPr>
        <p:spPr>
          <a:xfrm>
            <a:off x="2898648"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Non-Fungible Token</a:t>
            </a:r>
            <a:endParaRPr lang="en-US" sz="1050" dirty="0"/>
          </a:p>
        </p:txBody>
      </p:sp>
      <p:sp>
        <p:nvSpPr>
          <p:cNvPr id="12" name="Text 9"/>
          <p:cNvSpPr/>
          <p:nvPr/>
        </p:nvSpPr>
        <p:spPr>
          <a:xfrm>
            <a:off x="822960"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Token único: el número 7 es distinto del 8 y no se cambia uno por otro. Lo contrario de un ERC-20.</a:t>
            </a:r>
            <a:endParaRPr lang="en-US" sz="1100" dirty="0"/>
          </a:p>
        </p:txBody>
      </p:sp>
      <p:sp>
        <p:nvSpPr>
          <p:cNvPr id="13" name="Shape 10"/>
          <p:cNvSpPr/>
          <p:nvPr/>
        </p:nvSpPr>
        <p:spPr>
          <a:xfrm>
            <a:off x="6205576" y="1737360"/>
            <a:ext cx="5419192" cy="1014984"/>
          </a:xfrm>
          <a:prstGeom prst="rect">
            <a:avLst/>
          </a:prstGeom>
          <a:solidFill>
            <a:srgbClr val="FFFFFF"/>
          </a:solidFill>
          <a:ln w="15875">
            <a:solidFill>
              <a:srgbClr val="7152E9"/>
            </a:solidFill>
            <a:prstDash val="solid"/>
          </a:ln>
        </p:spPr>
      </p:sp>
      <p:sp>
        <p:nvSpPr>
          <p:cNvPr id="14" name="Shape 11"/>
          <p:cNvSpPr/>
          <p:nvPr/>
        </p:nvSpPr>
        <p:spPr>
          <a:xfrm>
            <a:off x="6205576" y="1737360"/>
            <a:ext cx="82296" cy="1014984"/>
          </a:xfrm>
          <a:prstGeom prst="rect">
            <a:avLst/>
          </a:prstGeom>
          <a:solidFill>
            <a:srgbClr val="7152E9"/>
          </a:solidFill>
          <a:ln w="12700">
            <a:solidFill>
              <a:srgbClr val="333333"/>
            </a:solidFill>
            <a:prstDash val="solid"/>
          </a:ln>
        </p:spPr>
      </p:sp>
      <p:sp>
        <p:nvSpPr>
          <p:cNvPr id="15" name="Text 12"/>
          <p:cNvSpPr/>
          <p:nvPr/>
        </p:nvSpPr>
        <p:spPr>
          <a:xfrm>
            <a:off x="6461608" y="1810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ERC-721</a:t>
            </a:r>
            <a:endParaRPr lang="en-US" sz="1100" dirty="0"/>
          </a:p>
        </p:txBody>
      </p:sp>
      <p:sp>
        <p:nvSpPr>
          <p:cNvPr id="16" name="Text 13"/>
          <p:cNvSpPr/>
          <p:nvPr/>
        </p:nvSpPr>
        <p:spPr>
          <a:xfrm>
            <a:off x="8537296" y="1810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estándar de NFT (2018)</a:t>
            </a:r>
            <a:endParaRPr lang="en-US" sz="1050" dirty="0"/>
          </a:p>
        </p:txBody>
      </p:sp>
      <p:sp>
        <p:nvSpPr>
          <p:cNvPr id="17" name="Text 14"/>
          <p:cNvSpPr/>
          <p:nvPr/>
        </p:nvSpPr>
        <p:spPr>
          <a:xfrm>
            <a:off x="6461608" y="2121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Un contrato, muchos tokens únicos, cada uno con su id, su dueño y su tokenURI.</a:t>
            </a:r>
            <a:endParaRPr lang="en-US" sz="1100" dirty="0"/>
          </a:p>
        </p:txBody>
      </p:sp>
      <p:sp>
        <p:nvSpPr>
          <p:cNvPr id="18" name="Shape 15"/>
          <p:cNvSpPr/>
          <p:nvPr/>
        </p:nvSpPr>
        <p:spPr>
          <a:xfrm>
            <a:off x="566928" y="2880360"/>
            <a:ext cx="5419192" cy="1014984"/>
          </a:xfrm>
          <a:prstGeom prst="rect">
            <a:avLst/>
          </a:prstGeom>
          <a:solidFill>
            <a:srgbClr val="FFFFFF"/>
          </a:solidFill>
          <a:ln w="15875">
            <a:solidFill>
              <a:srgbClr val="7152E9"/>
            </a:solidFill>
            <a:prstDash val="solid"/>
          </a:ln>
        </p:spPr>
      </p:sp>
      <p:sp>
        <p:nvSpPr>
          <p:cNvPr id="19" name="Shape 16"/>
          <p:cNvSpPr/>
          <p:nvPr/>
        </p:nvSpPr>
        <p:spPr>
          <a:xfrm>
            <a:off x="566928" y="2880360"/>
            <a:ext cx="82296" cy="1014984"/>
          </a:xfrm>
          <a:prstGeom prst="rect">
            <a:avLst/>
          </a:prstGeom>
          <a:solidFill>
            <a:srgbClr val="7152E9"/>
          </a:solidFill>
          <a:ln w="12700">
            <a:solidFill>
              <a:srgbClr val="333333"/>
            </a:solidFill>
            <a:prstDash val="solid"/>
          </a:ln>
        </p:spPr>
      </p:sp>
      <p:sp>
        <p:nvSpPr>
          <p:cNvPr id="20" name="Text 17"/>
          <p:cNvSpPr/>
          <p:nvPr/>
        </p:nvSpPr>
        <p:spPr>
          <a:xfrm>
            <a:off x="822960"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ERC-1155</a:t>
            </a:r>
            <a:endParaRPr lang="en-US" sz="1100" dirty="0"/>
          </a:p>
        </p:txBody>
      </p:sp>
      <p:sp>
        <p:nvSpPr>
          <p:cNvPr id="21" name="Text 18"/>
          <p:cNvSpPr/>
          <p:nvPr/>
        </p:nvSpPr>
        <p:spPr>
          <a:xfrm>
            <a:off x="2898648"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estándar multi-token</a:t>
            </a:r>
            <a:endParaRPr lang="en-US" sz="1050" dirty="0"/>
          </a:p>
        </p:txBody>
      </p:sp>
      <p:sp>
        <p:nvSpPr>
          <p:cNvPr id="22" name="Text 19"/>
          <p:cNvSpPr/>
          <p:nvPr/>
        </p:nvSpPr>
        <p:spPr>
          <a:xfrm>
            <a:off x="822960"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Un contrato con muchos ids; cada id puede tener 1 o miles de copias. Transferencias por lotes.</a:t>
            </a:r>
            <a:endParaRPr lang="en-US" sz="1100" dirty="0"/>
          </a:p>
        </p:txBody>
      </p:sp>
      <p:sp>
        <p:nvSpPr>
          <p:cNvPr id="23" name="Shape 20"/>
          <p:cNvSpPr/>
          <p:nvPr/>
        </p:nvSpPr>
        <p:spPr>
          <a:xfrm>
            <a:off x="6205576" y="2880360"/>
            <a:ext cx="5419192" cy="1014984"/>
          </a:xfrm>
          <a:prstGeom prst="rect">
            <a:avLst/>
          </a:prstGeom>
          <a:solidFill>
            <a:srgbClr val="FFFFFF"/>
          </a:solidFill>
          <a:ln w="15875">
            <a:solidFill>
              <a:srgbClr val="7152E9"/>
            </a:solidFill>
            <a:prstDash val="solid"/>
          </a:ln>
        </p:spPr>
      </p:sp>
      <p:sp>
        <p:nvSpPr>
          <p:cNvPr id="24" name="Shape 21"/>
          <p:cNvSpPr/>
          <p:nvPr/>
        </p:nvSpPr>
        <p:spPr>
          <a:xfrm>
            <a:off x="6205576" y="2880360"/>
            <a:ext cx="82296" cy="1014984"/>
          </a:xfrm>
          <a:prstGeom prst="rect">
            <a:avLst/>
          </a:prstGeom>
          <a:solidFill>
            <a:srgbClr val="7152E9"/>
          </a:solidFill>
          <a:ln w="12700">
            <a:solidFill>
              <a:srgbClr val="333333"/>
            </a:solidFill>
            <a:prstDash val="solid"/>
          </a:ln>
        </p:spPr>
      </p:sp>
      <p:sp>
        <p:nvSpPr>
          <p:cNvPr id="25" name="Text 22"/>
          <p:cNvSpPr/>
          <p:nvPr/>
        </p:nvSpPr>
        <p:spPr>
          <a:xfrm>
            <a:off x="6461608" y="2953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TOKENURI</a:t>
            </a:r>
            <a:endParaRPr lang="en-US" sz="1100" dirty="0"/>
          </a:p>
        </p:txBody>
      </p:sp>
      <p:sp>
        <p:nvSpPr>
          <p:cNvPr id="26" name="Text 23"/>
          <p:cNvSpPr/>
          <p:nvPr/>
        </p:nvSpPr>
        <p:spPr>
          <a:xfrm>
            <a:off x="8537296" y="2953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enlace a la metadata</a:t>
            </a:r>
            <a:endParaRPr lang="en-US" sz="1050" dirty="0"/>
          </a:p>
        </p:txBody>
      </p:sp>
      <p:sp>
        <p:nvSpPr>
          <p:cNvPr id="27" name="Text 24"/>
          <p:cNvSpPr/>
          <p:nvPr/>
        </p:nvSpPr>
        <p:spPr>
          <a:xfrm>
            <a:off x="6461608" y="3264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Función que devuelve DÓNDE está el JSON que describe el token. Es un texto, no el archivo.</a:t>
            </a:r>
            <a:endParaRPr lang="en-US" sz="1100" dirty="0"/>
          </a:p>
        </p:txBody>
      </p:sp>
      <p:sp>
        <p:nvSpPr>
          <p:cNvPr id="28" name="Shape 25"/>
          <p:cNvSpPr/>
          <p:nvPr/>
        </p:nvSpPr>
        <p:spPr>
          <a:xfrm>
            <a:off x="566928" y="4023360"/>
            <a:ext cx="5419192" cy="1014984"/>
          </a:xfrm>
          <a:prstGeom prst="rect">
            <a:avLst/>
          </a:prstGeom>
          <a:solidFill>
            <a:srgbClr val="FFFFFF"/>
          </a:solidFill>
          <a:ln w="15875">
            <a:solidFill>
              <a:srgbClr val="7152E9"/>
            </a:solidFill>
            <a:prstDash val="solid"/>
          </a:ln>
        </p:spPr>
      </p:sp>
      <p:sp>
        <p:nvSpPr>
          <p:cNvPr id="29" name="Shape 26"/>
          <p:cNvSpPr/>
          <p:nvPr/>
        </p:nvSpPr>
        <p:spPr>
          <a:xfrm>
            <a:off x="566928" y="4023360"/>
            <a:ext cx="82296" cy="1014984"/>
          </a:xfrm>
          <a:prstGeom prst="rect">
            <a:avLst/>
          </a:prstGeom>
          <a:solidFill>
            <a:srgbClr val="7152E9"/>
          </a:solidFill>
          <a:ln w="12700">
            <a:solidFill>
              <a:srgbClr val="333333"/>
            </a:solidFill>
            <a:prstDash val="solid"/>
          </a:ln>
        </p:spPr>
      </p:sp>
      <p:sp>
        <p:nvSpPr>
          <p:cNvPr id="30" name="Text 27"/>
          <p:cNvSpPr/>
          <p:nvPr/>
        </p:nvSpPr>
        <p:spPr>
          <a:xfrm>
            <a:off x="822960"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IPFS</a:t>
            </a:r>
            <a:endParaRPr lang="en-US" sz="1100" dirty="0"/>
          </a:p>
        </p:txBody>
      </p:sp>
      <p:sp>
        <p:nvSpPr>
          <p:cNvPr id="31" name="Text 28"/>
          <p:cNvSpPr/>
          <p:nvPr/>
        </p:nvSpPr>
        <p:spPr>
          <a:xfrm>
            <a:off x="2898648"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InterPlanetary File System</a:t>
            </a:r>
            <a:endParaRPr lang="en-US" sz="1050" dirty="0"/>
          </a:p>
        </p:txBody>
      </p:sp>
      <p:sp>
        <p:nvSpPr>
          <p:cNvPr id="32" name="Text 29"/>
          <p:cNvSpPr/>
          <p:nvPr/>
        </p:nvSpPr>
        <p:spPr>
          <a:xfrm>
            <a:off x="822960"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Red que pide archivos por su contenido: el enlace es el hash, no una ubicación.</a:t>
            </a:r>
            <a:endParaRPr lang="en-US" sz="1100" dirty="0"/>
          </a:p>
        </p:txBody>
      </p:sp>
      <p:sp>
        <p:nvSpPr>
          <p:cNvPr id="33" name="Shape 30"/>
          <p:cNvSpPr/>
          <p:nvPr/>
        </p:nvSpPr>
        <p:spPr>
          <a:xfrm>
            <a:off x="6205576" y="4023360"/>
            <a:ext cx="5419192" cy="1014984"/>
          </a:xfrm>
          <a:prstGeom prst="rect">
            <a:avLst/>
          </a:prstGeom>
          <a:solidFill>
            <a:srgbClr val="FFFFFF"/>
          </a:solidFill>
          <a:ln w="15875">
            <a:solidFill>
              <a:srgbClr val="7152E9"/>
            </a:solidFill>
            <a:prstDash val="solid"/>
          </a:ln>
        </p:spPr>
      </p:sp>
      <p:sp>
        <p:nvSpPr>
          <p:cNvPr id="34" name="Shape 31"/>
          <p:cNvSpPr/>
          <p:nvPr/>
        </p:nvSpPr>
        <p:spPr>
          <a:xfrm>
            <a:off x="6205576" y="4023360"/>
            <a:ext cx="82296" cy="1014984"/>
          </a:xfrm>
          <a:prstGeom prst="rect">
            <a:avLst/>
          </a:prstGeom>
          <a:solidFill>
            <a:srgbClr val="7152E9"/>
          </a:solidFill>
          <a:ln w="12700">
            <a:solidFill>
              <a:srgbClr val="333333"/>
            </a:solidFill>
            <a:prstDash val="solid"/>
          </a:ln>
        </p:spPr>
      </p:sp>
      <p:sp>
        <p:nvSpPr>
          <p:cNvPr id="35" name="Text 32"/>
          <p:cNvSpPr/>
          <p:nvPr/>
        </p:nvSpPr>
        <p:spPr>
          <a:xfrm>
            <a:off x="6461608" y="4096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CID</a:t>
            </a:r>
            <a:endParaRPr lang="en-US" sz="1100" dirty="0"/>
          </a:p>
        </p:txBody>
      </p:sp>
      <p:sp>
        <p:nvSpPr>
          <p:cNvPr id="36" name="Text 33"/>
          <p:cNvSpPr/>
          <p:nvPr/>
        </p:nvSpPr>
        <p:spPr>
          <a:xfrm>
            <a:off x="8537296" y="4096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Content Identifier</a:t>
            </a:r>
            <a:endParaRPr lang="en-US" sz="1050" dirty="0"/>
          </a:p>
        </p:txBody>
      </p:sp>
      <p:sp>
        <p:nvSpPr>
          <p:cNvPr id="37" name="Text 34"/>
          <p:cNvSpPr/>
          <p:nvPr/>
        </p:nvSpPr>
        <p:spPr>
          <a:xfrm>
            <a:off x="6461608" y="4407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El identificador de IPFS. Se calcula del contenido: cambia un byte y cambia el CID.</a:t>
            </a:r>
            <a:endParaRPr lang="en-US" sz="1100" dirty="0"/>
          </a:p>
        </p:txBody>
      </p:sp>
      <p:sp>
        <p:nvSpPr>
          <p:cNvPr id="38" name="Shape 35"/>
          <p:cNvSpPr/>
          <p:nvPr/>
        </p:nvSpPr>
        <p:spPr>
          <a:xfrm>
            <a:off x="566928" y="5166360"/>
            <a:ext cx="5419192" cy="1014984"/>
          </a:xfrm>
          <a:prstGeom prst="rect">
            <a:avLst/>
          </a:prstGeom>
          <a:solidFill>
            <a:srgbClr val="FFFFFF"/>
          </a:solidFill>
          <a:ln w="15875">
            <a:solidFill>
              <a:srgbClr val="7152E9"/>
            </a:solidFill>
            <a:prstDash val="solid"/>
          </a:ln>
        </p:spPr>
      </p:sp>
      <p:sp>
        <p:nvSpPr>
          <p:cNvPr id="39" name="Shape 36"/>
          <p:cNvSpPr/>
          <p:nvPr/>
        </p:nvSpPr>
        <p:spPr>
          <a:xfrm>
            <a:off x="566928" y="5166360"/>
            <a:ext cx="82296" cy="1014984"/>
          </a:xfrm>
          <a:prstGeom prst="rect">
            <a:avLst/>
          </a:prstGeom>
          <a:solidFill>
            <a:srgbClr val="7152E9"/>
          </a:solidFill>
          <a:ln w="12700">
            <a:solidFill>
              <a:srgbClr val="333333"/>
            </a:solidFill>
            <a:prstDash val="solid"/>
          </a:ln>
        </p:spPr>
      </p:sp>
      <p:sp>
        <p:nvSpPr>
          <p:cNvPr id="40" name="Text 37"/>
          <p:cNvSpPr/>
          <p:nvPr/>
        </p:nvSpPr>
        <p:spPr>
          <a:xfrm>
            <a:off x="822960"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PINNING</a:t>
            </a:r>
            <a:endParaRPr lang="en-US" sz="1100" dirty="0"/>
          </a:p>
        </p:txBody>
      </p:sp>
      <p:sp>
        <p:nvSpPr>
          <p:cNvPr id="41" name="Text 38"/>
          <p:cNvSpPr/>
          <p:nvPr/>
        </p:nvSpPr>
        <p:spPr>
          <a:xfrm>
            <a:off x="2898648"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fijar un archivo</a:t>
            </a:r>
            <a:endParaRPr lang="en-US" sz="1050" dirty="0"/>
          </a:p>
        </p:txBody>
      </p:sp>
      <p:sp>
        <p:nvSpPr>
          <p:cNvPr id="42" name="Text 39"/>
          <p:cNvSpPr/>
          <p:nvPr/>
        </p:nvSpPr>
        <p:spPr>
          <a:xfrm>
            <a:off x="822960"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Compromiso de un nodo de guardar el archivo y servirlo. Sin nadie que lo fije, desaparece.</a:t>
            </a:r>
            <a:endParaRPr lang="en-US" sz="1100" dirty="0"/>
          </a:p>
        </p:txBody>
      </p:sp>
      <p:sp>
        <p:nvSpPr>
          <p:cNvPr id="43" name="Shape 40"/>
          <p:cNvSpPr/>
          <p:nvPr/>
        </p:nvSpPr>
        <p:spPr>
          <a:xfrm>
            <a:off x="6205576" y="5166360"/>
            <a:ext cx="5419192" cy="1014984"/>
          </a:xfrm>
          <a:prstGeom prst="rect">
            <a:avLst/>
          </a:prstGeom>
          <a:solidFill>
            <a:srgbClr val="FFFFFF"/>
          </a:solidFill>
          <a:ln w="15875">
            <a:solidFill>
              <a:srgbClr val="7152E9"/>
            </a:solidFill>
            <a:prstDash val="solid"/>
          </a:ln>
        </p:spPr>
      </p:sp>
      <p:sp>
        <p:nvSpPr>
          <p:cNvPr id="44" name="Shape 41"/>
          <p:cNvSpPr/>
          <p:nvPr/>
        </p:nvSpPr>
        <p:spPr>
          <a:xfrm>
            <a:off x="6205576" y="5166360"/>
            <a:ext cx="82296" cy="1014984"/>
          </a:xfrm>
          <a:prstGeom prst="rect">
            <a:avLst/>
          </a:prstGeom>
          <a:solidFill>
            <a:srgbClr val="7152E9"/>
          </a:solidFill>
          <a:ln w="12700">
            <a:solidFill>
              <a:srgbClr val="333333"/>
            </a:solidFill>
            <a:prstDash val="solid"/>
          </a:ln>
        </p:spPr>
      </p:sp>
      <p:sp>
        <p:nvSpPr>
          <p:cNvPr id="45" name="Text 42"/>
          <p:cNvSpPr/>
          <p:nvPr/>
        </p:nvSpPr>
        <p:spPr>
          <a:xfrm>
            <a:off x="6461608" y="5239512"/>
            <a:ext cx="2103120" cy="274320"/>
          </a:xfrm>
          <a:prstGeom prst="rect">
            <a:avLst/>
          </a:prstGeom>
          <a:noFill/>
          <a:ln/>
        </p:spPr>
        <p:txBody>
          <a:bodyPr wrap="square" lIns="0" tIns="0" rIns="0" bIns="0" rtlCol="0" anchor="ctr"/>
          <a:lstStyle/>
          <a:p>
            <a:pPr indent="0" marL="0">
              <a:buNone/>
            </a:pPr>
            <a:r>
              <a:rPr lang="en-US" sz="1100" b="1" spc="60" kern="0" dirty="0">
                <a:solidFill>
                  <a:srgbClr val="5638C9"/>
                </a:solidFill>
                <a:latin typeface="Courier New" pitchFamily="34" charset="0"/>
                <a:ea typeface="Courier New" pitchFamily="34" charset="-122"/>
                <a:cs typeface="Courier New" pitchFamily="34" charset="-120"/>
              </a:rPr>
              <a:t>SBT</a:t>
            </a:r>
            <a:endParaRPr lang="en-US" sz="1100" dirty="0"/>
          </a:p>
        </p:txBody>
      </p:sp>
      <p:sp>
        <p:nvSpPr>
          <p:cNvPr id="46" name="Text 43"/>
          <p:cNvSpPr/>
          <p:nvPr/>
        </p:nvSpPr>
        <p:spPr>
          <a:xfrm>
            <a:off x="8537296" y="5239512"/>
            <a:ext cx="2904592" cy="274320"/>
          </a:xfrm>
          <a:prstGeom prst="rect">
            <a:avLst/>
          </a:prstGeom>
          <a:noFill/>
          <a:ln/>
        </p:spPr>
        <p:txBody>
          <a:bodyPr wrap="square" lIns="0" tIns="0" rIns="0" bIns="0" rtlCol="0" anchor="ctr"/>
          <a:lstStyle/>
          <a:p>
            <a:pPr indent="0" marL="0">
              <a:buNone/>
            </a:pPr>
            <a:r>
              <a:rPr lang="en-US" sz="1050" i="1" dirty="0">
                <a:solidFill>
                  <a:srgbClr val="6F6B80"/>
                </a:solidFill>
                <a:latin typeface="Arial" pitchFamily="34" charset="0"/>
                <a:ea typeface="Arial" pitchFamily="34" charset="-122"/>
                <a:cs typeface="Arial" pitchFamily="34" charset="-120"/>
              </a:rPr>
              <a:t>Soulbound Token · ERC-5192</a:t>
            </a:r>
            <a:endParaRPr lang="en-US" sz="1050" dirty="0"/>
          </a:p>
        </p:txBody>
      </p:sp>
      <p:sp>
        <p:nvSpPr>
          <p:cNvPr id="47" name="Text 44"/>
          <p:cNvSpPr/>
          <p:nvPr/>
        </p:nvSpPr>
        <p:spPr>
          <a:xfrm>
            <a:off x="6461608" y="5550408"/>
            <a:ext cx="5007712" cy="557784"/>
          </a:xfrm>
          <a:prstGeom prst="rect">
            <a:avLst/>
          </a:prstGeom>
          <a:noFill/>
          <a:ln/>
        </p:spPr>
        <p:txBody>
          <a:bodyPr wrap="square" lIns="0" tIns="0" rIns="0" bIns="0" rtlCol="0" anchor="t"/>
          <a:lstStyle/>
          <a:p>
            <a:pPr indent="0" marL="0">
              <a:lnSpc>
                <a:spcPct val="115000"/>
              </a:lnSpc>
              <a:buNone/>
            </a:pPr>
            <a:r>
              <a:rPr lang="en-US" sz="1100" dirty="0">
                <a:solidFill>
                  <a:srgbClr val="3A3844"/>
                </a:solidFill>
                <a:latin typeface="Arial" pitchFamily="34" charset="0"/>
                <a:ea typeface="Arial" pitchFamily="34" charset="-122"/>
                <a:cs typeface="Arial" pitchFamily="34" charset="-120"/>
              </a:rPr>
              <a:t>Token atado a una cuenta: no se puede transferir. Pensado para credenciales.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A</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70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NFT, METADATA Y ALMACENAMIENTO</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Comprar un NFT casi nunca es comprar una imagen. Es comprar una fila en un contrato que apunta a una imagen. Dónde apunta lo cambia todo.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11 · NFT, ERC-721/1155 E IPFS</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 · DE DÓNDE VENIMOS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UN BILLETE CUALQUIERA, O ESTA ENTRADA EXACTA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Shape 5"/>
          <p:cNvSpPr/>
          <p:nvPr/>
        </p:nvSpPr>
        <p:spPr>
          <a:xfrm>
            <a:off x="566928" y="1737360"/>
            <a:ext cx="5391760" cy="22402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FUNGIBLE · ERC-20 (SESIÓN 10)</a:t>
            </a:r>
            <a:endParaRPr lang="en-US" sz="1050" dirty="0"/>
          </a:p>
        </p:txBody>
      </p:sp>
      <p:sp>
        <p:nvSpPr>
          <p:cNvPr id="10" name="Text 7"/>
          <p:cNvSpPr/>
          <p:nvPr/>
        </p:nvSpPr>
        <p:spPr>
          <a:xfrm>
            <a:off x="841248" y="2304288"/>
            <a:ext cx="4843120" cy="150876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Cada unidad es idéntica e intercambiable. Mi FUSB vale igual que tu FUSB. Solo importa CUÁNTOS tienes. Como el dinero: da igual qué billete de 50 000 te entreguen.</a:t>
            </a:r>
            <a:endParaRPr lang="en-US" sz="1300" dirty="0"/>
          </a:p>
        </p:txBody>
      </p:sp>
      <p:sp>
        <p:nvSpPr>
          <p:cNvPr id="11" name="Shape 8"/>
          <p:cNvSpPr/>
          <p:nvPr/>
        </p:nvSpPr>
        <p:spPr>
          <a:xfrm>
            <a:off x="6233008" y="1737360"/>
            <a:ext cx="5391760" cy="22402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NO FUNGIBLE · ERC-721</a:t>
            </a:r>
            <a:endParaRPr lang="en-US" sz="1050" dirty="0"/>
          </a:p>
        </p:txBody>
      </p:sp>
      <p:sp>
        <p:nvSpPr>
          <p:cNvPr id="13" name="Text 10"/>
          <p:cNvSpPr/>
          <p:nvPr/>
        </p:nvSpPr>
        <p:spPr>
          <a:xfrm>
            <a:off x="6507328" y="2304288"/>
            <a:ext cx="4843120" cy="150876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Cada token es único, con identidad propia. Importa CUÁL tienes. Una entrada con asiento asignado, un diploma, un título de propiedad: no se cambian uno por otro.</a:t>
            </a:r>
            <a:endParaRPr lang="en-US" sz="1300" dirty="0"/>
          </a:p>
        </p:txBody>
      </p:sp>
      <p:sp>
        <p:nvSpPr>
          <p:cNvPr id="14" name="Shape 11"/>
          <p:cNvSpPr/>
          <p:nvPr/>
        </p:nvSpPr>
        <p:spPr>
          <a:xfrm>
            <a:off x="566928" y="4206240"/>
            <a:ext cx="11057839" cy="566928"/>
          </a:xfrm>
          <a:prstGeom prst="rect">
            <a:avLst/>
          </a:prstGeom>
          <a:solidFill>
            <a:srgbClr val="F2F0F5"/>
          </a:solidFill>
          <a:ln w="12700">
            <a:solidFill>
              <a:srgbClr val="7152E9"/>
            </a:solidFill>
            <a:prstDash val="solid"/>
          </a:ln>
        </p:spPr>
      </p:sp>
      <p:sp>
        <p:nvSpPr>
          <p:cNvPr id="15" name="Text 12"/>
          <p:cNvSpPr/>
          <p:nvPr/>
        </p:nvSpPr>
        <p:spPr>
          <a:xfrm>
            <a:off x="731520" y="4279392"/>
            <a:ext cx="10728655" cy="420624"/>
          </a:xfrm>
          <a:prstGeom prst="rect">
            <a:avLst/>
          </a:prstGeom>
          <a:noFill/>
          <a:ln/>
        </p:spPr>
        <p:txBody>
          <a:bodyPr wrap="square" lIns="0" tIns="0" rIns="0" bIns="0" rtlCol="0" anchor="ctr"/>
          <a:lstStyle/>
          <a:p>
            <a:pPr indent="0" marL="0">
              <a:lnSpc>
                <a:spcPct val="120000"/>
              </a:lnSpc>
              <a:buNone/>
            </a:pPr>
            <a:r>
              <a:rPr lang="en-US" sz="1200" dirty="0">
                <a:solidFill>
                  <a:srgbClr val="3A3844"/>
                </a:solidFill>
                <a:latin typeface="Courier New" pitchFamily="34" charset="0"/>
                <a:ea typeface="Courier New" pitchFamily="34" charset="-122"/>
                <a:cs typeface="Courier New" pitchFamily="34" charset="-120"/>
              </a:rPr>
              <a:t>ERC-20:  balanceOf(ana) = 30 FUSB      ·      ERC-721:  ownerOf(7) = ana</a:t>
            </a:r>
            <a:endParaRPr lang="en-US" sz="1200" dirty="0"/>
          </a:p>
        </p:txBody>
      </p:sp>
      <p:sp>
        <p:nvSpPr>
          <p:cNvPr id="16" name="Shape 13"/>
          <p:cNvSpPr/>
          <p:nvPr/>
        </p:nvSpPr>
        <p:spPr>
          <a:xfrm>
            <a:off x="566928" y="4956048"/>
            <a:ext cx="11057839" cy="1170432"/>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7" name="Image 1" descr="preencoded.png">    </p:cNvPr>
          <p:cNvPicPr>
            <a:picLocks noChangeAspect="1"/>
          </p:cNvPicPr>
          <p:nvPr/>
        </p:nvPicPr>
        <p:blipFill>
          <a:blip r:embed="rId2"/>
          <a:stretch>
            <a:fillRect/>
          </a:stretch>
        </p:blipFill>
        <p:spPr>
          <a:xfrm>
            <a:off x="804672" y="5175504"/>
            <a:ext cx="237744" cy="237744"/>
          </a:xfrm>
          <a:prstGeom prst="rect">
            <a:avLst/>
          </a:prstGeom>
        </p:spPr>
      </p:pic>
      <p:sp>
        <p:nvSpPr>
          <p:cNvPr id="18" name="Text 14"/>
          <p:cNvSpPr/>
          <p:nvPr/>
        </p:nvSpPr>
        <p:spPr>
          <a:xfrm>
            <a:off x="1133856" y="5148072"/>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EL ERROR DE CONCEPTO TÍPICO</a:t>
            </a:r>
            <a:endParaRPr lang="en-US" sz="950" dirty="0"/>
          </a:p>
        </p:txBody>
      </p:sp>
      <p:sp>
        <p:nvSpPr>
          <p:cNvPr id="19" name="Text 15"/>
          <p:cNvSpPr/>
          <p:nvPr/>
        </p:nvSpPr>
        <p:spPr>
          <a:xfrm>
            <a:off x="804672" y="5468112"/>
            <a:ext cx="10582351" cy="566928"/>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«No fungible» no significa «valioso» ni «artístico». Significa solo que cada unidad tiene identidad. Un NFT puede no valer nada y un token fungible puede valer mucho.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A.2 · IDENTIDAD ÚNICA, EN EL ESTADO DEL CONTRATO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UN NFT ES UNA FILA EN UNA TABLA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sp>
        <p:nvSpPr>
          <p:cNvPr id="8" name="Text 5"/>
          <p:cNvSpPr/>
          <p:nvPr/>
        </p:nvSpPr>
        <p:spPr>
          <a:xfrm>
            <a:off x="566928" y="1691640"/>
            <a:ext cx="11057839" cy="59436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Por dentro, un ERC-721 es poco más que dos diccionarios. Este es el estado real de nuestro DiplomaUSB después de emitir dos diplomas en el laboratorio:</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2423160"/>
          <a:ext cx="11057839" cy="914400"/>
        </p:xfrm>
        <a:graphic>
          <a:graphicData uri="http://schemas.openxmlformats.org/drawingml/2006/table">
            <a:tbl>
              <a:tblPr/>
              <a:tblGrid>
                <a:gridCol w="1463040"/>
                <a:gridCol w="4480560"/>
                <a:gridCol w="5114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TOKENID</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OWNEROF(TOKENID)</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TOKENURI(TOKENID)</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297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0x7099…79C8  (Ana)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ipfs://bafkrei…/1.json</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2</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0x3C44…93BC  (Beto)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ipfs://bafkrei…/2.json</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29768">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3</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 revierte: ERC721NonexistentToken(3)</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 revierte</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404872"/>
            <a:ext cx="11094415" cy="1636776"/>
          </a:xfrm>
          <a:prstGeom prst="rect">
            <a:avLst/>
          </a:prstGeom>
          <a:ln w="22225">
            <a:solidFill>
              <a:srgbClr val="0F0F11"/>
            </a:solidFill>
            <a:prstDash val="solid"/>
          </a:ln>
        </p:spPr>
      </p:sp>
      <p:sp>
        <p:nvSpPr>
          <p:cNvPr id="11" name="Shape 7"/>
          <p:cNvSpPr/>
          <p:nvPr/>
        </p:nvSpPr>
        <p:spPr>
          <a:xfrm>
            <a:off x="566928" y="4206240"/>
            <a:ext cx="5391760" cy="19202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2" name="Text 8"/>
          <p:cNvSpPr/>
          <p:nvPr/>
        </p:nvSpPr>
        <p:spPr>
          <a:xfrm>
            <a:off x="841248" y="43891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QUÉ ES «TENER» EL NFT</a:t>
            </a:r>
            <a:endParaRPr lang="en-US" sz="1050" dirty="0"/>
          </a:p>
        </p:txBody>
      </p:sp>
      <p:sp>
        <p:nvSpPr>
          <p:cNvPr id="13" name="Text 9"/>
          <p:cNvSpPr/>
          <p:nvPr/>
        </p:nvSpPr>
        <p:spPr>
          <a:xfrm>
            <a:off x="841248" y="4773168"/>
            <a:ext cx="4843120" cy="11887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Que tu dirección aparezca en la columna ownerOf. Nada más. Transferirlo es cambiar esa celda, con tu firma.</a:t>
            </a:r>
            <a:endParaRPr lang="en-US" sz="1300" dirty="0"/>
          </a:p>
        </p:txBody>
      </p:sp>
      <p:sp>
        <p:nvSpPr>
          <p:cNvPr id="14" name="Shape 10"/>
          <p:cNvSpPr/>
          <p:nvPr/>
        </p:nvSpPr>
        <p:spPr>
          <a:xfrm>
            <a:off x="6233008" y="4206240"/>
            <a:ext cx="5391760" cy="19202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5" name="Text 11"/>
          <p:cNvSpPr/>
          <p:nvPr/>
        </p:nvSpPr>
        <p:spPr>
          <a:xfrm>
            <a:off x="6507328" y="43891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QUÉ NO ESTÁ EN LA TABLA</a:t>
            </a:r>
            <a:endParaRPr lang="en-US" sz="1050" dirty="0"/>
          </a:p>
        </p:txBody>
      </p:sp>
      <p:sp>
        <p:nvSpPr>
          <p:cNvPr id="16" name="Text 12"/>
          <p:cNvSpPr/>
          <p:nvPr/>
        </p:nvSpPr>
        <p:spPr>
          <a:xfrm>
            <a:off x="6507328" y="4773168"/>
            <a:ext cx="4843120" cy="118872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 imagen, el nombre, la descripción. Solo hay un texto que dice dónde buscarlos: el tokenURI.</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A.3 · LA INTERFAZ ERC-721</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LAS FUNCIONES QUE TODO NFT TIENE</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sp>
        <p:nvSpPr>
          <p:cNvPr id="8" name="Shape 5"/>
          <p:cNvSpPr/>
          <p:nvPr/>
        </p:nvSpPr>
        <p:spPr>
          <a:xfrm>
            <a:off x="566928" y="1691640"/>
            <a:ext cx="7498080" cy="3246120"/>
          </a:xfrm>
          <a:prstGeom prst="rect">
            <a:avLst/>
          </a:prstGeom>
          <a:solidFill>
            <a:srgbClr val="16151B"/>
          </a:solidFill>
          <a:ln w="22225">
            <a:solidFill>
              <a:srgbClr val="16151B"/>
            </a:solidFill>
            <a:prstDash val="solid"/>
          </a:ln>
        </p:spPr>
      </p:sp>
      <p:sp>
        <p:nvSpPr>
          <p:cNvPr id="9" name="Text 6"/>
          <p:cNvSpPr/>
          <p:nvPr/>
        </p:nvSpPr>
        <p:spPr>
          <a:xfrm>
            <a:off x="768096" y="1837944"/>
            <a:ext cx="7095744" cy="2990088"/>
          </a:xfrm>
          <a:prstGeom prst="rect">
            <a:avLst/>
          </a:prstGeom>
          <a:noFill/>
          <a:ln/>
        </p:spPr>
        <p:txBody>
          <a:bodyPr wrap="square" lIns="0" tIns="0" rIns="0" bIns="0" rtlCol="0" anchor="t"/>
          <a:lstStyle/>
          <a:p>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ERC-721 (EIP-721, 2018) · lo mínimo que exige el estándar</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balanceOf</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dueno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view</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ownerOf</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view</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transferFrom</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safeTransferFrom</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approve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operador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setApprovalForAll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operador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aprobado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event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Transfer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indexed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indexed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indexed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extensión de metadata (la que usan los exploradores)</a:t>
            </a:r>
            <a:endParaRPr lang="en-US" sz="1050" dirty="0"/>
          </a:p>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tokenURI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view</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string</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p:txBody>
      </p:sp>
      <p:sp>
        <p:nvSpPr>
          <p:cNvPr id="10" name="Text 7"/>
          <p:cNvSpPr/>
          <p:nvPr/>
        </p:nvSpPr>
        <p:spPr>
          <a:xfrm>
            <a:off x="8293608" y="1691640"/>
            <a:ext cx="3331159" cy="3246120"/>
          </a:xfrm>
          <a:prstGeom prst="rect">
            <a:avLst/>
          </a:prstGeom>
          <a:noFill/>
          <a:ln/>
        </p:spPr>
        <p:txBody>
          <a:bodyPr wrap="square" lIns="0" tIns="0" rIns="0" bIns="0" rtlCol="0" anchor="t"/>
          <a:lstStyle/>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balanceOf dice CUÁNTOS NFT tienes; ownerOf dice de quién es UNO.</a:t>
            </a:r>
            <a:endParaRPr lang="en-US" sz="1200" dirty="0"/>
          </a:p>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safeTransferFrom comprueba que un contrato receptor sepa recibir NFT.</a:t>
            </a:r>
            <a:endParaRPr lang="en-US" sz="1200" dirty="0"/>
          </a:p>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Emitir (mint) es un Transfer desde la dirección cero.</a:t>
            </a:r>
            <a:endParaRPr lang="en-US" sz="1200" dirty="0"/>
          </a:p>
        </p:txBody>
      </p:sp>
      <p:sp>
        <p:nvSpPr>
          <p:cNvPr id="11" name="Shape 8"/>
          <p:cNvSpPr/>
          <p:nvPr/>
        </p:nvSpPr>
        <p:spPr>
          <a:xfrm>
            <a:off x="566928" y="5120640"/>
            <a:ext cx="11057839" cy="1024128"/>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2" name="Image 1" descr="preencoded.png">    </p:cNvPr>
          <p:cNvPicPr>
            <a:picLocks noChangeAspect="1"/>
          </p:cNvPicPr>
          <p:nvPr/>
        </p:nvPicPr>
        <p:blipFill>
          <a:blip r:embed="rId2"/>
          <a:stretch>
            <a:fillRect/>
          </a:stretch>
        </p:blipFill>
        <p:spPr>
          <a:xfrm>
            <a:off x="804672" y="5340096"/>
            <a:ext cx="237744" cy="237744"/>
          </a:xfrm>
          <a:prstGeom prst="rect">
            <a:avLst/>
          </a:prstGeom>
        </p:spPr>
      </p:pic>
      <p:sp>
        <p:nvSpPr>
          <p:cNvPr id="13" name="Text 9"/>
          <p:cNvSpPr/>
          <p:nvPr/>
        </p:nvSpPr>
        <p:spPr>
          <a:xfrm>
            <a:off x="1133856" y="531266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SETAPPROVALFORALL: LA FIRMA MÁS PELIGROSA DEL ECOSISTEMA</a:t>
            </a:r>
            <a:endParaRPr lang="en-US" sz="950" dirty="0"/>
          </a:p>
        </p:txBody>
      </p:sp>
      <p:sp>
        <p:nvSpPr>
          <p:cNvPr id="14" name="Text 10"/>
          <p:cNvSpPr/>
          <p:nvPr/>
        </p:nvSpPr>
        <p:spPr>
          <a:xfrm>
            <a:off x="804672" y="5632704"/>
            <a:ext cx="10582351" cy="420624"/>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Autoriza a un operador a mover TODOS tus NFT de ese contrato. Es lo que piden los sitios de phishing. No se firma lo que no se entiende.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A.4 · EL OTRO ESTÁNDAR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ERC-1155: MUCHOS TIPOS EN UN CONTRATO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sp>
        <p:nvSpPr>
          <p:cNvPr id="8" name="Text 5"/>
          <p:cNvSpPr/>
          <p:nvPr/>
        </p:nvSpPr>
        <p:spPr>
          <a:xfrm>
            <a:off x="566928" y="169164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En ERC-1155 el saldo depende de dos cosas: la cuenta Y el id. Cada id puede tener una sola copia (no fungible) o miles (fungible). Y se pueden mover varios ids en una sola transacción.</a:t>
            </a:r>
            <a:endParaRPr lang="en-US" sz="1400" dirty="0"/>
          </a:p>
        </p:txBody>
      </p:sp>
      <p:sp>
        <p:nvSpPr>
          <p:cNvPr id="9" name="Shape 6"/>
          <p:cNvSpPr/>
          <p:nvPr/>
        </p:nvSpPr>
        <p:spPr>
          <a:xfrm>
            <a:off x="566928" y="2697480"/>
            <a:ext cx="11057839" cy="1965960"/>
          </a:xfrm>
          <a:prstGeom prst="rect">
            <a:avLst/>
          </a:prstGeom>
          <a:solidFill>
            <a:srgbClr val="16151B"/>
          </a:solidFill>
          <a:ln w="22225">
            <a:solidFill>
              <a:srgbClr val="16151B"/>
            </a:solidFill>
            <a:prstDash val="solid"/>
          </a:ln>
        </p:spPr>
      </p:sp>
      <p:sp>
        <p:nvSpPr>
          <p:cNvPr id="10" name="Text 7"/>
          <p:cNvSpPr/>
          <p:nvPr/>
        </p:nvSpPr>
        <p:spPr>
          <a:xfrm>
            <a:off x="768096" y="2843784"/>
            <a:ext cx="10655503" cy="1709928"/>
          </a:xfrm>
          <a:prstGeom prst="rect">
            <a:avLst/>
          </a:prstGeom>
          <a:noFill/>
          <a:ln/>
        </p:spPr>
        <p:txBody>
          <a:bodyPr wrap="square" lIns="0" tIns="0" rIns="0" bIns="0" rtlCol="0" anchor="t"/>
          <a:lstStyle/>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balanceOf</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id 1: "Espada legendaria" -&gt; 1 (única)</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balanceOf</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id 2: "Poción"            -&gt; 250 (fungible)</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safeBatchTransferFrom</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ana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beto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una transacción: la espada y 10 pociones</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uri</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"ipfs://bafy.../{id}.json"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la app reemplaza {id}</a:t>
            </a:r>
            <a:endParaRPr lang="en-US" sz="1150" dirty="0"/>
          </a:p>
        </p:txBody>
      </p:sp>
      <p:sp>
        <p:nvSpPr>
          <p:cNvPr id="11" name="Shape 8"/>
          <p:cNvSpPr/>
          <p:nvPr/>
        </p:nvSpPr>
        <p:spPr>
          <a:xfrm>
            <a:off x="566928" y="4846320"/>
            <a:ext cx="11057839" cy="12801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5065776"/>
            <a:ext cx="237744" cy="237744"/>
          </a:xfrm>
          <a:prstGeom prst="rect">
            <a:avLst/>
          </a:prstGeom>
        </p:spPr>
      </p:pic>
      <p:sp>
        <p:nvSpPr>
          <p:cNvPr id="13" name="Text 9"/>
          <p:cNvSpPr/>
          <p:nvPr/>
        </p:nvSpPr>
        <p:spPr>
          <a:xfrm>
            <a:off x="1133856" y="50383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EL ERROR DE CONCEPTO TÍPICO</a:t>
            </a:r>
            <a:endParaRPr lang="en-US" sz="950" dirty="0"/>
          </a:p>
        </p:txBody>
      </p:sp>
      <p:sp>
        <p:nvSpPr>
          <p:cNvPr id="14" name="Text 10"/>
          <p:cNvSpPr/>
          <p:nvPr/>
        </p:nvSpPr>
        <p:spPr>
          <a:xfrm>
            <a:off x="804672" y="5358384"/>
            <a:ext cx="10582351" cy="6766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«1155 es un 721 mejorado.» No: es otro modelo. Al permitir copias, un id de 1155 no identifica a UNA pieza; si necesitan una pieza con historia propia, 1155 los obliga a usar un id por pieza, y ahí pierde su ventaja.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A.5 · CÓMO ELEGIR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ERC-721 FRENTE A ERC-1155</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468880"/>
                <a:gridCol w="4206240"/>
                <a:gridCol w="43827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CRITERIO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ERC-721</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ERC-1155</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32181">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Unidad</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Un token único por id.</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Un id con N copias (N puede ser 1).</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32181">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Saldo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ownerOf(id) → una dirección.</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balanceOf(cuenta, id) → una cantidad.</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32181">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Transferir varios</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Uno por llamada.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Por lotes: muchos ids en una transacción.</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32181">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Caso típico</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Diploma, obra única, título.</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Ítems de juego, entradas por categoría.</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32181">
                <a:tc>
                  <a:txBody>
                    <a:bodyPr/>
                    <a:lstStyle/>
                    <a:p>
                      <a:pPr indent="0" marL="0">
                        <a:buNone/>
                      </a:pPr>
                      <a:r>
                        <a:rPr lang="en-US" sz="1200" b="1" dirty="0">
                          <a:solidFill>
                            <a:srgbClr val="0F0F11"/>
                          </a:solidFill>
                          <a:latin typeface="Courier New" pitchFamily="34" charset="0"/>
                          <a:ea typeface="Courier New" pitchFamily="34" charset="-122"/>
                          <a:cs typeface="Courier New" pitchFamily="34" charset="-120"/>
                        </a:rPr>
                        <a:t>Soporte en exploradores</a:t>
                      </a:r>
                      <a:endParaRPr lang="en-US" sz="12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Universal.</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00" dirty="0">
                          <a:solidFill>
                            <a:srgbClr val="3A3844"/>
                          </a:solidFill>
                          <a:latin typeface="Arial" pitchFamily="34" charset="0"/>
                          <a:ea typeface="Arial" pitchFamily="34" charset="-122"/>
                          <a:cs typeface="Arial" pitchFamily="34" charset="-120"/>
                        </a:rPr>
                        <a:t>Amplio, algo menor.</a:t>
                      </a:r>
                      <a:endParaRPr lang="en-US" sz="12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673352"/>
            <a:ext cx="11094415" cy="3008376"/>
          </a:xfrm>
          <a:prstGeom prst="rect">
            <a:avLst/>
          </a:prstGeom>
          <a:ln w="22225">
            <a:solidFill>
              <a:srgbClr val="0F0F11"/>
            </a:solidFill>
            <a:prstDash val="solid"/>
          </a:ln>
        </p:spPr>
      </p:sp>
      <p:sp>
        <p:nvSpPr>
          <p:cNvPr id="10" name="Shape 6"/>
          <p:cNvSpPr/>
          <p:nvPr/>
        </p:nvSpPr>
        <p:spPr>
          <a:xfrm>
            <a:off x="566928" y="4846320"/>
            <a:ext cx="11057839" cy="12801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1" name="Image 1" descr="preencoded.png">    </p:cNvPr>
          <p:cNvPicPr>
            <a:picLocks noChangeAspect="1"/>
          </p:cNvPicPr>
          <p:nvPr/>
        </p:nvPicPr>
        <p:blipFill>
          <a:blip r:embed="rId2"/>
          <a:stretch>
            <a:fillRect/>
          </a:stretch>
        </p:blipFill>
        <p:spPr>
          <a:xfrm>
            <a:off x="804672" y="5065776"/>
            <a:ext cx="237744" cy="237744"/>
          </a:xfrm>
          <a:prstGeom prst="rect">
            <a:avLst/>
          </a:prstGeom>
        </p:spPr>
      </p:pic>
      <p:sp>
        <p:nvSpPr>
          <p:cNvPr id="12" name="Text 7"/>
          <p:cNvSpPr/>
          <p:nvPr/>
        </p:nvSpPr>
        <p:spPr>
          <a:xfrm>
            <a:off x="1133856" y="503834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LA REGLA PRÁCTICA</a:t>
            </a:r>
            <a:endParaRPr lang="en-US" sz="950" dirty="0"/>
          </a:p>
        </p:txBody>
      </p:sp>
      <p:sp>
        <p:nvSpPr>
          <p:cNvPr id="13" name="Text 8"/>
          <p:cNvSpPr/>
          <p:nvPr/>
        </p:nvSpPr>
        <p:spPr>
          <a:xfrm>
            <a:off x="804672" y="5358384"/>
            <a:ext cx="10582351" cy="6766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¿Cada ítem tiene historia propia (quién lo tuvo, cuándo)? ERC-721. ¿Hay muchas copias idénticas de pocos tipos, o se mueven inventarios en lote? ERC-1155. Si dudan, empiecen por 721: es el más simple de explicar y de auditar.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A.6 · VERIFICACIÓN · ESTÁNDARES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ANTES DE SEGUIR: ¿721 O 1155?</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11</a:t>
            </a:r>
            <a:endParaRPr lang="en-US" sz="900" dirty="0"/>
          </a:p>
        </p:txBody>
      </p:sp>
      <p:sp>
        <p:nvSpPr>
          <p:cNvPr id="8" name="Shape 5"/>
          <p:cNvSpPr/>
          <p:nvPr/>
        </p:nvSpPr>
        <p:spPr>
          <a:xfrm>
            <a:off x="566928" y="1737360"/>
            <a:ext cx="11057839" cy="16002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23444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Un festival vende 5 000 entradas generales iguales y 20 entradas VIP numeradas, cada una con su silla. ¿Qué estándar usarían, y cuántos ids habría?</a:t>
            </a:r>
            <a:endParaRPr lang="en-US" sz="1800" dirty="0"/>
          </a:p>
        </p:txBody>
      </p:sp>
      <p:sp>
        <p:nvSpPr>
          <p:cNvPr id="10" name="Text 7"/>
          <p:cNvSpPr/>
          <p:nvPr/>
        </p:nvSpPr>
        <p:spPr>
          <a:xfrm>
            <a:off x="566928" y="3566160"/>
            <a:ext cx="11057839" cy="86868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Piensen 1 minuto en pareja. Escriban su respuesta antes de verla.</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Pista: ¿las entradas generales se distinguen entre sí? ¿Y las VIP?</a:t>
            </a:r>
            <a:endParaRPr lang="en-US" sz="1350" dirty="0"/>
          </a:p>
        </p:txBody>
      </p:sp>
      <p:sp>
        <p:nvSpPr>
          <p:cNvPr id="11" name="Shape 8"/>
          <p:cNvSpPr/>
          <p:nvPr/>
        </p:nvSpPr>
        <p:spPr>
          <a:xfrm>
            <a:off x="566928" y="4572000"/>
            <a:ext cx="11057839" cy="1554480"/>
          </a:xfrm>
          <a:prstGeom prst="rect">
            <a:avLst/>
          </a:prstGeom>
          <a:solidFill>
            <a:srgbClr val="F2F0F5"/>
          </a:solidFill>
          <a:ln w="22225">
            <a:solidFill>
              <a:srgbClr val="0F0F11"/>
            </a:solidFill>
            <a:prstDash val="solid"/>
          </a:ln>
        </p:spPr>
      </p:sp>
      <p:pic>
        <p:nvPicPr>
          <p:cNvPr id="12" name="Image 1" descr="preencoded.png">    </p:cNvPr>
          <p:cNvPicPr>
            <a:picLocks noChangeAspect="1"/>
          </p:cNvPicPr>
          <p:nvPr/>
        </p:nvPicPr>
        <p:blipFill>
          <a:blip r:embed="rId2"/>
          <a:stretch>
            <a:fillRect/>
          </a:stretch>
        </p:blipFill>
        <p:spPr>
          <a:xfrm>
            <a:off x="804672" y="4791456"/>
            <a:ext cx="237744" cy="237744"/>
          </a:xfrm>
          <a:prstGeom prst="rect">
            <a:avLst/>
          </a:prstGeom>
        </p:spPr>
      </p:pic>
      <p:sp>
        <p:nvSpPr>
          <p:cNvPr id="13" name="Text 9"/>
          <p:cNvSpPr/>
          <p:nvPr/>
        </p:nvSpPr>
        <p:spPr>
          <a:xfrm>
            <a:off x="1133856" y="476402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RESPUESTA (SE REVELA DESPUÉS DE DISCUTIR)</a:t>
            </a:r>
            <a:endParaRPr lang="en-US" sz="950" dirty="0"/>
          </a:p>
        </p:txBody>
      </p:sp>
      <p:sp>
        <p:nvSpPr>
          <p:cNvPr id="14" name="Text 10"/>
          <p:cNvSpPr/>
          <p:nvPr/>
        </p:nvSpPr>
        <p:spPr>
          <a:xfrm>
            <a:off x="804672" y="5084064"/>
            <a:ext cx="10582351" cy="9509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Una opción defendible: ERC-1155 con 21 ids — id 0 = «general» con 5 000 copias, e ids 1 a 20 = cada silla VIP con 1 copia. Con ERC-721 serían 5 020 tokens distintos para cosas que no se distinguen. Lo que se evalúa es que justifiquen por la fungibilidad, no el número.</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A.7 · TOKENURI Y EL ESQUEMA JSON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LA FICHA QUE LEEN EXPLORADORES Y BILLETERAS</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sp>
        <p:nvSpPr>
          <p:cNvPr id="8" name="Shape 5"/>
          <p:cNvSpPr/>
          <p:nvPr/>
        </p:nvSpPr>
        <p:spPr>
          <a:xfrm>
            <a:off x="566928" y="1691640"/>
            <a:ext cx="6903720" cy="2971800"/>
          </a:xfrm>
          <a:prstGeom prst="rect">
            <a:avLst/>
          </a:prstGeom>
          <a:solidFill>
            <a:srgbClr val="16151B"/>
          </a:solidFill>
          <a:ln w="22225">
            <a:solidFill>
              <a:srgbClr val="16151B"/>
            </a:solidFill>
            <a:prstDash val="solid"/>
          </a:ln>
        </p:spPr>
      </p:sp>
      <p:sp>
        <p:nvSpPr>
          <p:cNvPr id="9" name="Text 6"/>
          <p:cNvSpPr/>
          <p:nvPr/>
        </p:nvSpPr>
        <p:spPr>
          <a:xfrm>
            <a:off x="768096" y="1764792"/>
            <a:ext cx="650138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DIPLOMA.JSON · SUBIDO A IPFS</a:t>
            </a:r>
            <a:endParaRPr lang="en-US" sz="850" dirty="0"/>
          </a:p>
        </p:txBody>
      </p:sp>
      <p:sp>
        <p:nvSpPr>
          <p:cNvPr id="10" name="Text 7"/>
          <p:cNvSpPr/>
          <p:nvPr/>
        </p:nvSpPr>
        <p:spPr>
          <a:xfrm>
            <a:off x="768096" y="2075688"/>
            <a:ext cx="6501384" cy="2478024"/>
          </a:xfrm>
          <a:prstGeom prst="rect">
            <a:avLst/>
          </a:prstGeom>
          <a:noFill/>
          <a:ln/>
        </p:spPr>
        <p:txBody>
          <a:bodyPr wrap="square" lIns="0" tIns="0" rIns="0" bIns="0" rtlCol="0" anchor="t"/>
          <a:lstStyle/>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"name"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"Diploma de prueba · Laboratorio 11"</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"description"</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"Credencial de PRUEBA. Sin datos personales."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"image"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"ipfs://bafybei.../diploma.png"</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"attributes"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"trait_type"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"Programa"</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"value"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"Ingeniería de Sistemas"</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"trait_type"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"Cohorte"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"value"</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FA41B"/>
                </a:solidFill>
                <a:latin typeface="Courier New" pitchFamily="34" charset="0"/>
                <a:ea typeface="Courier New" pitchFamily="34" charset="-122"/>
                <a:cs typeface="Courier New" pitchFamily="34" charset="-120"/>
              </a:rPr>
              <a:t>"2026-2"</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a:p>
            <a:pPr indent="0" marL="0">
              <a:lnSpc>
                <a:spcPct val="112000"/>
              </a:lnSpc>
              <a:buNone/>
            </a:pPr>
            <a:r>
              <a:rPr lang="en-US" sz="1100" dirty="0">
                <a:solidFill>
                  <a:srgbClr val="F4F2F7"/>
                </a:solidFill>
                <a:latin typeface="Courier New" pitchFamily="34" charset="0"/>
                <a:ea typeface="Courier New" pitchFamily="34" charset="-122"/>
                <a:cs typeface="Courier New" pitchFamily="34" charset="-120"/>
              </a:rPr>
              <a:t>}</a:t>
            </a:r>
            <a:endParaRPr lang="en-US" sz="1100" dirty="0"/>
          </a:p>
        </p:txBody>
      </p:sp>
      <p:sp>
        <p:nvSpPr>
          <p:cNvPr id="11" name="Text 8"/>
          <p:cNvSpPr/>
          <p:nvPr/>
        </p:nvSpPr>
        <p:spPr>
          <a:xfrm>
            <a:off x="7699248" y="1691640"/>
            <a:ext cx="3925519" cy="2971800"/>
          </a:xfrm>
          <a:prstGeom prst="rect">
            <a:avLst/>
          </a:prstGeom>
          <a:noFill/>
          <a:ln/>
        </p:spPr>
        <p:txBody>
          <a:bodyPr wrap="square" lIns="0" tIns="0" rIns="0" bIns="0" rtlCol="0" anchor="t"/>
          <a:lstStyle/>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name, description e image vienen del esquema de EIP-721.</a:t>
            </a:r>
            <a:endParaRPr lang="en-US" sz="1200" dirty="0"/>
          </a:p>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attributes no es del estándar: es una convención que popularizó OpenSea y hoy leen casi todos.</a:t>
            </a:r>
            <a:endParaRPr lang="en-US" sz="1200" dirty="0"/>
          </a:p>
          <a:p>
            <a:pPr marL="203200" indent="-203200">
              <a:lnSpc>
                <a:spcPct val="118000"/>
              </a:lnSpc>
              <a:spcAft>
                <a:spcPts val="800"/>
              </a:spcAft>
              <a:buSzPct val="100000"/>
              <a:buChar char="■"/>
            </a:pPr>
            <a:r>
              <a:rPr lang="en-US" sz="1200" dirty="0">
                <a:solidFill>
                  <a:srgbClr val="3A3844"/>
                </a:solidFill>
                <a:latin typeface="Arial" pitchFamily="34" charset="0"/>
                <a:ea typeface="Arial" pitchFamily="34" charset="-122"/>
                <a:cs typeface="Arial" pitchFamily="34" charset="-120"/>
              </a:rPr>
              <a:t>image es OTRO enlace IPFS: la ficha y la imagen son dos archivos.</a:t>
            </a:r>
            <a:endParaRPr lang="en-US" sz="1200" dirty="0"/>
          </a:p>
        </p:txBody>
      </p:sp>
      <p:sp>
        <p:nvSpPr>
          <p:cNvPr id="12" name="Shape 9"/>
          <p:cNvSpPr/>
          <p:nvPr/>
        </p:nvSpPr>
        <p:spPr>
          <a:xfrm>
            <a:off x="566928" y="4846320"/>
            <a:ext cx="11057839" cy="128016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3" name="Image 1" descr="preencoded.png">    </p:cNvPr>
          <p:cNvPicPr>
            <a:picLocks noChangeAspect="1"/>
          </p:cNvPicPr>
          <p:nvPr/>
        </p:nvPicPr>
        <p:blipFill>
          <a:blip r:embed="rId2"/>
          <a:stretch>
            <a:fillRect/>
          </a:stretch>
        </p:blipFill>
        <p:spPr>
          <a:xfrm>
            <a:off x="804672" y="5065776"/>
            <a:ext cx="237744" cy="237744"/>
          </a:xfrm>
          <a:prstGeom prst="rect">
            <a:avLst/>
          </a:prstGeom>
        </p:spPr>
      </p:pic>
      <p:sp>
        <p:nvSpPr>
          <p:cNvPr id="14" name="Text 10"/>
          <p:cNvSpPr/>
          <p:nvPr/>
        </p:nvSpPr>
        <p:spPr>
          <a:xfrm>
            <a:off x="1133856" y="503834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REGLA DEL CURSO · HABEAS DATA</a:t>
            </a:r>
            <a:endParaRPr lang="en-US" sz="950" dirty="0"/>
          </a:p>
        </p:txBody>
      </p:sp>
      <p:sp>
        <p:nvSpPr>
          <p:cNvPr id="15" name="Text 11"/>
          <p:cNvSpPr/>
          <p:nvPr/>
        </p:nvSpPr>
        <p:spPr>
          <a:xfrm>
            <a:off x="804672" y="5358384"/>
            <a:ext cx="10582351" cy="6766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Ni nombre, ni cédula, ni correo en el JSON: en IPFS es público y no se puede borrar. Ley 1581 de 2012. Un diploma real publicaría, a lo sumo, el hash del documento (como en la Sesión 6).</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A.8 · LA DISTINCIÓN CLAVE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«EL NFT» NO ES «EL ARCHIVO»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sp>
        <p:nvSpPr>
          <p:cNvPr id="8" name="Shape 5"/>
          <p:cNvSpPr/>
          <p:nvPr/>
        </p:nvSpPr>
        <p:spPr>
          <a:xfrm>
            <a:off x="566928" y="1828800"/>
            <a:ext cx="3017520" cy="1234440"/>
          </a:xfrm>
          <a:prstGeom prst="rect">
            <a:avLst/>
          </a:prstGeom>
          <a:solidFill>
            <a:srgbClr val="FFFFFF"/>
          </a:solidFill>
          <a:ln w="22225">
            <a:solidFill>
              <a:srgbClr val="F07F06"/>
            </a:solidFill>
            <a:prstDash val="solid"/>
          </a:ln>
        </p:spPr>
      </p:sp>
      <p:sp>
        <p:nvSpPr>
          <p:cNvPr id="9" name="Text 6"/>
          <p:cNvSpPr/>
          <p:nvPr/>
        </p:nvSpPr>
        <p:spPr>
          <a:xfrm>
            <a:off x="658368" y="1920240"/>
            <a:ext cx="283464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EN LA CADENA</a:t>
            </a:r>
            <a:endParaRPr lang="en-US" sz="1100" dirty="0"/>
          </a:p>
        </p:txBody>
      </p:sp>
      <p:sp>
        <p:nvSpPr>
          <p:cNvPr id="10" name="Text 7"/>
          <p:cNvSpPr/>
          <p:nvPr/>
        </p:nvSpPr>
        <p:spPr>
          <a:xfrm>
            <a:off x="658368" y="2231136"/>
            <a:ext cx="2834640" cy="758952"/>
          </a:xfrm>
          <a:prstGeom prst="rect">
            <a:avLst/>
          </a:prstGeom>
          <a:noFill/>
          <a:ln/>
        </p:spPr>
        <p:txBody>
          <a:bodyPr wrap="square" lIns="0" tIns="0" rIns="0" bIns="0" rtlCol="0" anchor="t"/>
          <a:lstStyle/>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ownerOf(1) = ana</a:t>
            </a:r>
            <a:endParaRPr lang="en-US" sz="1100" dirty="0"/>
          </a:p>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tokenURI(1) = ipfs://…json</a:t>
            </a:r>
            <a:endParaRPr lang="en-US" sz="1100" dirty="0"/>
          </a:p>
        </p:txBody>
      </p:sp>
      <p:sp>
        <p:nvSpPr>
          <p:cNvPr id="11" name="Shape 8"/>
          <p:cNvSpPr/>
          <p:nvPr/>
        </p:nvSpPr>
        <p:spPr>
          <a:xfrm>
            <a:off x="3584448" y="2441448"/>
            <a:ext cx="1005840" cy="914"/>
          </a:xfrm>
          <a:prstGeom prst="line">
            <a:avLst/>
          </a:prstGeom>
          <a:noFill/>
          <a:ln w="25400">
            <a:solidFill>
              <a:srgbClr val="0F0F11"/>
            </a:solidFill>
            <a:prstDash val="solid"/>
            <a:tailEnd type="triangle"/>
          </a:ln>
        </p:spPr>
      </p:sp>
      <p:sp>
        <p:nvSpPr>
          <p:cNvPr id="12" name="Shape 9"/>
          <p:cNvSpPr/>
          <p:nvPr/>
        </p:nvSpPr>
        <p:spPr>
          <a:xfrm>
            <a:off x="4590288" y="1828800"/>
            <a:ext cx="3017520" cy="1234440"/>
          </a:xfrm>
          <a:prstGeom prst="rect">
            <a:avLst/>
          </a:prstGeom>
          <a:solidFill>
            <a:srgbClr val="FAF9FB"/>
          </a:solidFill>
          <a:ln w="22225">
            <a:solidFill>
              <a:srgbClr val="0F0F11"/>
            </a:solidFill>
            <a:prstDash val="solid"/>
          </a:ln>
        </p:spPr>
      </p:sp>
      <p:sp>
        <p:nvSpPr>
          <p:cNvPr id="13" name="Text 10"/>
          <p:cNvSpPr/>
          <p:nvPr/>
        </p:nvSpPr>
        <p:spPr>
          <a:xfrm>
            <a:off x="4681728" y="1920240"/>
            <a:ext cx="2834640"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EN IPFS · EL JSON</a:t>
            </a:r>
            <a:endParaRPr lang="en-US" sz="1100" dirty="0"/>
          </a:p>
        </p:txBody>
      </p:sp>
      <p:sp>
        <p:nvSpPr>
          <p:cNvPr id="14" name="Text 11"/>
          <p:cNvSpPr/>
          <p:nvPr/>
        </p:nvSpPr>
        <p:spPr>
          <a:xfrm>
            <a:off x="4681728" y="2231136"/>
            <a:ext cx="2834640" cy="758952"/>
          </a:xfrm>
          <a:prstGeom prst="rect">
            <a:avLst/>
          </a:prstGeom>
          <a:noFill/>
          <a:ln/>
        </p:spPr>
        <p:txBody>
          <a:bodyPr wrap="square" lIns="0" tIns="0" rIns="0" bIns="0" rtlCol="0" anchor="t"/>
          <a:lstStyle/>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name, description,</a:t>
            </a:r>
            <a:endParaRPr lang="en-US" sz="1100" dirty="0"/>
          </a:p>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"image": ipfs://…png</a:t>
            </a:r>
            <a:endParaRPr lang="en-US" sz="1100" dirty="0"/>
          </a:p>
        </p:txBody>
      </p:sp>
      <p:sp>
        <p:nvSpPr>
          <p:cNvPr id="15" name="Shape 12"/>
          <p:cNvSpPr/>
          <p:nvPr/>
        </p:nvSpPr>
        <p:spPr>
          <a:xfrm>
            <a:off x="7607808" y="2441448"/>
            <a:ext cx="1005840" cy="914"/>
          </a:xfrm>
          <a:prstGeom prst="line">
            <a:avLst/>
          </a:prstGeom>
          <a:noFill/>
          <a:ln w="25400">
            <a:solidFill>
              <a:srgbClr val="0F0F11"/>
            </a:solidFill>
            <a:prstDash val="solid"/>
            <a:tailEnd type="triangle"/>
          </a:ln>
        </p:spPr>
      </p:sp>
      <p:sp>
        <p:nvSpPr>
          <p:cNvPr id="16" name="Shape 13"/>
          <p:cNvSpPr/>
          <p:nvPr/>
        </p:nvSpPr>
        <p:spPr>
          <a:xfrm>
            <a:off x="8613648" y="1828800"/>
            <a:ext cx="3011119" cy="1234440"/>
          </a:xfrm>
          <a:prstGeom prst="rect">
            <a:avLst/>
          </a:prstGeom>
          <a:solidFill>
            <a:srgbClr val="FAF9FB"/>
          </a:solidFill>
          <a:ln w="22225">
            <a:solidFill>
              <a:srgbClr val="0F0F11"/>
            </a:solidFill>
            <a:prstDash val="solid"/>
          </a:ln>
        </p:spPr>
      </p:sp>
      <p:sp>
        <p:nvSpPr>
          <p:cNvPr id="17" name="Text 14"/>
          <p:cNvSpPr/>
          <p:nvPr/>
        </p:nvSpPr>
        <p:spPr>
          <a:xfrm>
            <a:off x="8705088" y="1920240"/>
            <a:ext cx="2828239" cy="292608"/>
          </a:xfrm>
          <a:prstGeom prst="rect">
            <a:avLst/>
          </a:prstGeom>
          <a:noFill/>
          <a:ln/>
        </p:spPr>
        <p:txBody>
          <a:bodyPr wrap="square" lIns="0" tIns="0" rIns="0" bIns="0" rtlCol="0" anchor="ctr"/>
          <a:lstStyle/>
          <a:p>
            <a:pPr algn="ctr" indent="0" marL="0">
              <a:buNone/>
            </a:pPr>
            <a:r>
              <a:rPr lang="en-US" sz="1100" b="1" spc="80" kern="0" dirty="0">
                <a:solidFill>
                  <a:srgbClr val="0F0F11"/>
                </a:solidFill>
                <a:latin typeface="Courier New" pitchFamily="34" charset="0"/>
                <a:ea typeface="Courier New" pitchFamily="34" charset="-122"/>
                <a:cs typeface="Courier New" pitchFamily="34" charset="-120"/>
              </a:rPr>
              <a:t>EN IPFS · LA IMAGEN</a:t>
            </a:r>
            <a:endParaRPr lang="en-US" sz="1100" dirty="0"/>
          </a:p>
        </p:txBody>
      </p:sp>
      <p:sp>
        <p:nvSpPr>
          <p:cNvPr id="18" name="Text 15"/>
          <p:cNvSpPr/>
          <p:nvPr/>
        </p:nvSpPr>
        <p:spPr>
          <a:xfrm>
            <a:off x="8705088" y="2231136"/>
            <a:ext cx="2828239" cy="758952"/>
          </a:xfrm>
          <a:prstGeom prst="rect">
            <a:avLst/>
          </a:prstGeom>
          <a:noFill/>
          <a:ln/>
        </p:spPr>
        <p:txBody>
          <a:bodyPr wrap="square" lIns="0" tIns="0" rIns="0" bIns="0" rtlCol="0" anchor="t"/>
          <a:lstStyle/>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el archivo .png</a:t>
            </a:r>
            <a:endParaRPr lang="en-US" sz="1100" dirty="0"/>
          </a:p>
          <a:p>
            <a:pPr algn="ctr" indent="0" marL="0">
              <a:lnSpc>
                <a:spcPct val="110000"/>
              </a:lnSpc>
              <a:buNone/>
            </a:pPr>
            <a:r>
              <a:rPr lang="en-US" sz="1100" dirty="0">
                <a:solidFill>
                  <a:srgbClr val="6F6B80"/>
                </a:solidFill>
                <a:latin typeface="Arial" pitchFamily="34" charset="0"/>
                <a:ea typeface="Arial" pitchFamily="34" charset="-122"/>
                <a:cs typeface="Arial" pitchFamily="34" charset="-120"/>
              </a:rPr>
              <a:t>del diploma</a:t>
            </a:r>
            <a:endParaRPr lang="en-US" sz="1100" dirty="0"/>
          </a:p>
        </p:txBody>
      </p:sp>
      <p:sp>
        <p:nvSpPr>
          <p:cNvPr id="19" name="Text 16"/>
          <p:cNvSpPr/>
          <p:nvPr/>
        </p:nvSpPr>
        <p:spPr>
          <a:xfrm>
            <a:off x="566928" y="333756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Tres saltos, dos redes. El contrato guarda al dueño y UN texto. Ese texto lleva al JSON; el JSON lleva a la imagen. Un explorador que «muestra el NFT» está haciendo estos tres saltos por ustedes.</a:t>
            </a:r>
            <a:endParaRPr lang="en-US" sz="1400" dirty="0"/>
          </a:p>
        </p:txBody>
      </p:sp>
      <p:sp>
        <p:nvSpPr>
          <p:cNvPr id="20" name="Shape 17"/>
          <p:cNvSpPr/>
          <p:nvPr/>
        </p:nvSpPr>
        <p:spPr>
          <a:xfrm>
            <a:off x="566928" y="4389120"/>
            <a:ext cx="11057839" cy="17373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21" name="Image 1" descr="preencoded.png">    </p:cNvPr>
          <p:cNvPicPr>
            <a:picLocks noChangeAspect="1"/>
          </p:cNvPicPr>
          <p:nvPr/>
        </p:nvPicPr>
        <p:blipFill>
          <a:blip r:embed="rId2"/>
          <a:stretch>
            <a:fillRect/>
          </a:stretch>
        </p:blipFill>
        <p:spPr>
          <a:xfrm>
            <a:off x="804672" y="4608576"/>
            <a:ext cx="237744" cy="237744"/>
          </a:xfrm>
          <a:prstGeom prst="rect">
            <a:avLst/>
          </a:prstGeom>
        </p:spPr>
      </p:pic>
      <p:sp>
        <p:nvSpPr>
          <p:cNvPr id="22" name="Text 18"/>
          <p:cNvSpPr/>
          <p:nvPr/>
        </p:nvSpPr>
        <p:spPr>
          <a:xfrm>
            <a:off x="1133856" y="45811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LO QUE DE VERDAD SE COMPRA</a:t>
            </a:r>
            <a:endParaRPr lang="en-US" sz="950" dirty="0"/>
          </a:p>
        </p:txBody>
      </p:sp>
      <p:sp>
        <p:nvSpPr>
          <p:cNvPr id="23" name="Text 19"/>
          <p:cNvSpPr/>
          <p:nvPr/>
        </p:nvSpPr>
        <p:spPr>
          <a:xfrm>
            <a:off x="804672" y="4901184"/>
            <a:ext cx="10582351" cy="11338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Comprar un NFT es quedar en la celda ownerOf. Si la imagen desaparece, siguen siendo dueños de un token que apunta a la nada. Y tener el NFT no da derechos de autor sobre la imagen: eso lo decide una licencia, no el contrato. En el laboratorio van a recorrer los tres saltos a mano con el script leer-diploma.js.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A.9 · ¿Y SI LA IMAGEN VA EN LA CADENA?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MEDIDO: GUARDAR BYTES CUESTA UNA FORTUNA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sp>
        <p:nvSpPr>
          <p:cNvPr id="8" name="Text 5"/>
          <p:cNvSpPr/>
          <p:nvPr/>
        </p:nvSpPr>
        <p:spPr>
          <a:xfrm>
            <a:off x="566928" y="1691640"/>
            <a:ext cx="11057839" cy="54864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Lo medimos en Hardhat con un contrato que solo hace datos = d (almacenamiento permanente en la cadena):</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2331720"/>
          <a:ext cx="11057839" cy="914400"/>
        </p:xfrm>
        <a:graphic>
          <a:graphicData uri="http://schemas.openxmlformats.org/drawingml/2006/table">
            <a:tbl>
              <a:tblPr/>
              <a:tblGrid>
                <a:gridCol w="2743200"/>
                <a:gridCol w="2834640"/>
                <a:gridCol w="547999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SE GUARDA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GAS MEDIDO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COMENTARIO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2806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1 KB de bytes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770 543</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Ya es 15 veces una transferencia de FUSB (51 692).</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806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20 KB de bytes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14 570 319</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Unos 730 000 de gas por KB.</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2806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Imagen de 100 KB</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 73 millones (extrapolado)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 cabe en un bloque de la red local de Hardhat (60 millones).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28066">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El tokenURI (67 caracteres)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173 850 · emitir completo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Incluye crear el token, el dueño y el enlace.</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313432"/>
            <a:ext cx="11094415" cy="2459736"/>
          </a:xfrm>
          <a:prstGeom prst="rect">
            <a:avLst/>
          </a:prstGeom>
          <a:ln w="22225">
            <a:solidFill>
              <a:srgbClr val="0F0F11"/>
            </a:solidFill>
            <a:prstDash val="solid"/>
          </a:ln>
        </p:spPr>
      </p:sp>
      <p:sp>
        <p:nvSpPr>
          <p:cNvPr id="11" name="Shape 7"/>
          <p:cNvSpPr/>
          <p:nvPr/>
        </p:nvSpPr>
        <p:spPr>
          <a:xfrm>
            <a:off x="566928" y="4937760"/>
            <a:ext cx="11057839" cy="11887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2" name="Image 1" descr="preencoded.png">    </p:cNvPr>
          <p:cNvPicPr>
            <a:picLocks noChangeAspect="1"/>
          </p:cNvPicPr>
          <p:nvPr/>
        </p:nvPicPr>
        <p:blipFill>
          <a:blip r:embed="rId2"/>
          <a:stretch>
            <a:fillRect/>
          </a:stretch>
        </p:blipFill>
        <p:spPr>
          <a:xfrm>
            <a:off x="804672" y="5157216"/>
            <a:ext cx="237744" cy="237744"/>
          </a:xfrm>
          <a:prstGeom prst="rect">
            <a:avLst/>
          </a:prstGeom>
        </p:spPr>
      </p:pic>
      <p:sp>
        <p:nvSpPr>
          <p:cNvPr id="13" name="Text 8"/>
          <p:cNvSpPr/>
          <p:nvPr/>
        </p:nvSpPr>
        <p:spPr>
          <a:xfrm>
            <a:off x="1133856" y="512978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LA CONCLUSIÓN DE INGENIERÍA</a:t>
            </a:r>
            <a:endParaRPr lang="en-US" sz="950" dirty="0"/>
          </a:p>
        </p:txBody>
      </p:sp>
      <p:sp>
        <p:nvSpPr>
          <p:cNvPr id="14" name="Text 9"/>
          <p:cNvSpPr/>
          <p:nvPr/>
        </p:nvSpPr>
        <p:spPr>
          <a:xfrm>
            <a:off x="804672" y="5449824"/>
            <a:ext cx="10582351" cy="58521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En la cadena va lo que necesita consenso: quién es el dueño y un compromiso con el contenido (el CID). El contenido pesado va afuera. Hay NFT «100 % on-chain» (SVG pequeños generados por código), pero son la excepción.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A.10 · EL PROBLEMA DE LA PERMANENCIA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UNA URL NORMAL ROMPE LA PROMESA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sp>
        <p:nvSpPr>
          <p:cNvPr id="8" name="Shape 5"/>
          <p:cNvSpPr/>
          <p:nvPr/>
        </p:nvSpPr>
        <p:spPr>
          <a:xfrm>
            <a:off x="566928" y="1737360"/>
            <a:ext cx="5391760" cy="256032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9" name="Text 6"/>
          <p:cNvSpPr/>
          <p:nvPr/>
        </p:nvSpPr>
        <p:spPr>
          <a:xfrm>
            <a:off x="841248" y="192024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TOKENURI = HTTPS://…</a:t>
            </a:r>
            <a:endParaRPr lang="en-US" sz="1050" dirty="0"/>
          </a:p>
        </p:txBody>
      </p:sp>
      <p:sp>
        <p:nvSpPr>
          <p:cNvPr id="10" name="Text 7"/>
          <p:cNvSpPr/>
          <p:nvPr/>
        </p:nvSpPr>
        <p:spPr>
          <a:xfrm>
            <a:off x="841248" y="2304288"/>
            <a:ext cx="4843120" cy="18288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https://miuni.edu/diplomas/1.json</a:t>
            </a:r>
            <a:endParaRPr lang="en-US" sz="1250" dirty="0"/>
          </a:p>
          <a:p>
            <a:pPr indent="0" marL="0">
              <a:lnSpc>
                <a:spcPct val="124000"/>
              </a:lnSpc>
              <a:buNone/>
            </a:pPr>
            <a:endParaRPr lang="en-US" sz="1250" dirty="0"/>
          </a:p>
          <a:p>
            <a:pPr indent="0" marL="0">
              <a:lnSpc>
                <a:spcPct val="124000"/>
              </a:lnSpc>
              <a:buNone/>
            </a:pPr>
            <a:r>
              <a:rPr lang="en-US" sz="1250" dirty="0">
                <a:solidFill>
                  <a:srgbClr val="3A3844"/>
                </a:solidFill>
                <a:latin typeface="Arial" pitchFamily="34" charset="0"/>
                <a:ea typeface="Arial" pitchFamily="34" charset="-122"/>
                <a:cs typeface="Arial" pitchFamily="34" charset="-120"/>
              </a:rPr>
              <a:t>Quien controla ese servidor puede cambiar el archivo mañana sin tocar la cadena. Si el dominio vence o el servidor cae, el NFT apunta a la nada. La cadena es inmutable; el servidor, no.</a:t>
            </a:r>
            <a:endParaRPr lang="en-US" sz="1250" dirty="0"/>
          </a:p>
        </p:txBody>
      </p:sp>
      <p:sp>
        <p:nvSpPr>
          <p:cNvPr id="11" name="Shape 8"/>
          <p:cNvSpPr/>
          <p:nvPr/>
        </p:nvSpPr>
        <p:spPr>
          <a:xfrm>
            <a:off x="6233008" y="1737360"/>
            <a:ext cx="5391760" cy="256032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9202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TOKENURI = IPFS://CID</a:t>
            </a:r>
            <a:endParaRPr lang="en-US" sz="1050" dirty="0"/>
          </a:p>
        </p:txBody>
      </p:sp>
      <p:sp>
        <p:nvSpPr>
          <p:cNvPr id="13" name="Text 10"/>
          <p:cNvSpPr/>
          <p:nvPr/>
        </p:nvSpPr>
        <p:spPr>
          <a:xfrm>
            <a:off x="6507328" y="2304288"/>
            <a:ext cx="4843120" cy="182880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ipfs://bafkrei…</a:t>
            </a:r>
            <a:endParaRPr lang="en-US" sz="1250" dirty="0"/>
          </a:p>
          <a:p>
            <a:pPr indent="0" marL="0">
              <a:lnSpc>
                <a:spcPct val="124000"/>
              </a:lnSpc>
              <a:buNone/>
            </a:pPr>
            <a:endParaRPr lang="en-US" sz="1250" dirty="0"/>
          </a:p>
          <a:p>
            <a:pPr indent="0" marL="0">
              <a:lnSpc>
                <a:spcPct val="124000"/>
              </a:lnSpc>
              <a:buNone/>
            </a:pPr>
            <a:r>
              <a:rPr lang="en-US" sz="1250" dirty="0">
                <a:solidFill>
                  <a:srgbClr val="3A3844"/>
                </a:solidFill>
                <a:latin typeface="Arial" pitchFamily="34" charset="0"/>
                <a:ea typeface="Arial" pitchFamily="34" charset="-122"/>
                <a:cs typeface="Arial" pitchFamily="34" charset="-120"/>
              </a:rPr>
              <a:t>El enlace ES el hash del contenido. Si alguien cambia un byte, el CID ya no coincide: cualquiera lo detecta. Nadie puede sustituir el contenido a escondidas, ni siquiera quien lo subió.</a:t>
            </a:r>
            <a:endParaRPr lang="en-US" sz="1250" dirty="0"/>
          </a:p>
        </p:txBody>
      </p:sp>
      <p:sp>
        <p:nvSpPr>
          <p:cNvPr id="14" name="Shape 11"/>
          <p:cNvSpPr/>
          <p:nvPr/>
        </p:nvSpPr>
        <p:spPr>
          <a:xfrm>
            <a:off x="566928" y="4526280"/>
            <a:ext cx="11057839" cy="11887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15" name="Text 12"/>
          <p:cNvSpPr/>
          <p:nvPr/>
        </p:nvSpPr>
        <p:spPr>
          <a:xfrm>
            <a:off x="950976" y="4709160"/>
            <a:ext cx="10289743" cy="822960"/>
          </a:xfrm>
          <a:prstGeom prst="rect">
            <a:avLst/>
          </a:prstGeom>
          <a:noFill/>
          <a:ln/>
        </p:spPr>
        <p:txBody>
          <a:bodyPr wrap="square" lIns="0" tIns="0" rIns="0" bIns="0" rtlCol="0" anchor="ctr"/>
          <a:lstStyle/>
          <a:p>
            <a:pPr indent="0" marL="0">
              <a:lnSpc>
                <a:spcPct val="106000"/>
              </a:lnSpc>
              <a:buNone/>
            </a:pPr>
            <a:r>
              <a:rPr lang="en-US" sz="1700" dirty="0">
                <a:solidFill>
                  <a:srgbClr val="0F0F11"/>
                </a:solidFill>
                <a:latin typeface="Arial Black" pitchFamily="34" charset="0"/>
                <a:ea typeface="Arial Black" pitchFamily="34" charset="-122"/>
                <a:cs typeface="Arial Black" pitchFamily="34" charset="-120"/>
              </a:rPr>
              <a:t>IPFS no hace eterno un archivo. Hace imposible cambiarlo sin que se note. Son dos garantías distintas.</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A.11 · CÓMO FUNCIONA IPFS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PEDIR POR CONTENIDO, NO POR UBICACIÓN</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16</a:t>
            </a:r>
            <a:endParaRPr lang="en-US" sz="900" dirty="0"/>
          </a:p>
        </p:txBody>
      </p:sp>
      <p:sp>
        <p:nvSpPr>
          <p:cNvPr id="8" name="Shape 5"/>
          <p:cNvSpPr/>
          <p:nvPr/>
        </p:nvSpPr>
        <p:spPr>
          <a:xfrm>
            <a:off x="566928" y="1691640"/>
            <a:ext cx="5391760" cy="17830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18745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LA WEB · POR UBICACIÓN</a:t>
            </a:r>
            <a:endParaRPr lang="en-US" sz="1050" dirty="0"/>
          </a:p>
        </p:txBody>
      </p:sp>
      <p:sp>
        <p:nvSpPr>
          <p:cNvPr id="10" name="Text 7"/>
          <p:cNvSpPr/>
          <p:nvPr/>
        </p:nvSpPr>
        <p:spPr>
          <a:xfrm>
            <a:off x="841248" y="2258568"/>
            <a:ext cx="4843120" cy="105156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«Tráeme lo que haya en ese servidor, en esa ruta.» Lo que llega depende de quién controla el servidor hoy.</a:t>
            </a:r>
            <a:endParaRPr lang="en-US" sz="1300" dirty="0"/>
          </a:p>
        </p:txBody>
      </p:sp>
      <p:sp>
        <p:nvSpPr>
          <p:cNvPr id="11" name="Shape 8"/>
          <p:cNvSpPr/>
          <p:nvPr/>
        </p:nvSpPr>
        <p:spPr>
          <a:xfrm>
            <a:off x="6233008" y="1691640"/>
            <a:ext cx="5391760" cy="17830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18745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IPFS · POR CONTENIDO</a:t>
            </a:r>
            <a:endParaRPr lang="en-US" sz="1050" dirty="0"/>
          </a:p>
        </p:txBody>
      </p:sp>
      <p:sp>
        <p:nvSpPr>
          <p:cNvPr id="13" name="Text 10"/>
          <p:cNvSpPr/>
          <p:nvPr/>
        </p:nvSpPr>
        <p:spPr>
          <a:xfrm>
            <a:off x="6507328" y="2258568"/>
            <a:ext cx="4843120" cy="105156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«Tráeme el archivo cuyo hash es este.» Cualquier nodo que lo tenga lo sirve, y el que lo recibe recalcula el hash para comprobarlo.</a:t>
            </a:r>
            <a:endParaRPr lang="en-US" sz="1300" dirty="0"/>
          </a:p>
        </p:txBody>
      </p:sp>
      <p:sp>
        <p:nvSpPr>
          <p:cNvPr id="14" name="Shape 11"/>
          <p:cNvSpPr/>
          <p:nvPr/>
        </p:nvSpPr>
        <p:spPr>
          <a:xfrm>
            <a:off x="566928" y="3657600"/>
            <a:ext cx="11057839" cy="566928"/>
          </a:xfrm>
          <a:prstGeom prst="rect">
            <a:avLst/>
          </a:prstGeom>
          <a:solidFill>
            <a:srgbClr val="FFFFFF"/>
          </a:solidFill>
          <a:ln w="15875">
            <a:solidFill>
              <a:srgbClr val="D9D6E0"/>
            </a:solidFill>
            <a:prstDash val="solid"/>
          </a:ln>
        </p:spPr>
      </p:sp>
      <p:sp>
        <p:nvSpPr>
          <p:cNvPr id="15" name="Text 12"/>
          <p:cNvSpPr/>
          <p:nvPr/>
        </p:nvSpPr>
        <p:spPr>
          <a:xfrm>
            <a:off x="694944" y="3657600"/>
            <a:ext cx="548640" cy="56692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6" name="Text 13"/>
          <p:cNvSpPr/>
          <p:nvPr/>
        </p:nvSpPr>
        <p:spPr>
          <a:xfrm>
            <a:off x="1280160" y="3794760"/>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PEDIR</a:t>
            </a:r>
            <a:endParaRPr lang="en-US" sz="1000" dirty="0"/>
          </a:p>
        </p:txBody>
      </p:sp>
      <p:sp>
        <p:nvSpPr>
          <p:cNvPr id="17" name="Text 14"/>
          <p:cNvSpPr/>
          <p:nvPr/>
        </p:nvSpPr>
        <p:spPr>
          <a:xfrm>
            <a:off x="3383280" y="3749040"/>
            <a:ext cx="8131759" cy="42062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El navegador o la puerta (gateway) pregunta a la red: ¿quién tiene el CID bafkrei…?</a:t>
            </a:r>
            <a:endParaRPr lang="en-US" sz="1200" dirty="0"/>
          </a:p>
        </p:txBody>
      </p:sp>
      <p:sp>
        <p:nvSpPr>
          <p:cNvPr id="18" name="Shape 15"/>
          <p:cNvSpPr/>
          <p:nvPr/>
        </p:nvSpPr>
        <p:spPr>
          <a:xfrm>
            <a:off x="566928" y="4297680"/>
            <a:ext cx="11057839" cy="566928"/>
          </a:xfrm>
          <a:prstGeom prst="rect">
            <a:avLst/>
          </a:prstGeom>
          <a:solidFill>
            <a:srgbClr val="FAF9FB"/>
          </a:solidFill>
          <a:ln w="15875">
            <a:solidFill>
              <a:srgbClr val="D9D6E0"/>
            </a:solidFill>
            <a:prstDash val="solid"/>
          </a:ln>
        </p:spPr>
      </p:sp>
      <p:sp>
        <p:nvSpPr>
          <p:cNvPr id="19" name="Text 16"/>
          <p:cNvSpPr/>
          <p:nvPr/>
        </p:nvSpPr>
        <p:spPr>
          <a:xfrm>
            <a:off x="694944" y="4297680"/>
            <a:ext cx="548640" cy="56692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20" name="Text 17"/>
          <p:cNvSpPr/>
          <p:nvPr/>
        </p:nvSpPr>
        <p:spPr>
          <a:xfrm>
            <a:off x="1280160" y="4434840"/>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ENCONTRAR</a:t>
            </a:r>
            <a:endParaRPr lang="en-US" sz="1000" dirty="0"/>
          </a:p>
        </p:txBody>
      </p:sp>
      <p:sp>
        <p:nvSpPr>
          <p:cNvPr id="21" name="Text 18"/>
          <p:cNvSpPr/>
          <p:nvPr/>
        </p:nvSpPr>
        <p:spPr>
          <a:xfrm>
            <a:off x="3383280" y="4389120"/>
            <a:ext cx="8131759" cy="42062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Una tabla distribuida (DHT) responde qué nodos anunciaron tener ese contenido.</a:t>
            </a:r>
            <a:endParaRPr lang="en-US" sz="1200" dirty="0"/>
          </a:p>
        </p:txBody>
      </p:sp>
      <p:sp>
        <p:nvSpPr>
          <p:cNvPr id="22" name="Shape 19"/>
          <p:cNvSpPr/>
          <p:nvPr/>
        </p:nvSpPr>
        <p:spPr>
          <a:xfrm>
            <a:off x="566928" y="4937760"/>
            <a:ext cx="11057839" cy="566928"/>
          </a:xfrm>
          <a:prstGeom prst="rect">
            <a:avLst/>
          </a:prstGeom>
          <a:solidFill>
            <a:srgbClr val="FFFFFF"/>
          </a:solidFill>
          <a:ln w="15875">
            <a:solidFill>
              <a:srgbClr val="D9D6E0"/>
            </a:solidFill>
            <a:prstDash val="solid"/>
          </a:ln>
        </p:spPr>
      </p:sp>
      <p:sp>
        <p:nvSpPr>
          <p:cNvPr id="23" name="Text 20"/>
          <p:cNvSpPr/>
          <p:nvPr/>
        </p:nvSpPr>
        <p:spPr>
          <a:xfrm>
            <a:off x="694944" y="4937760"/>
            <a:ext cx="548640" cy="56692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24" name="Text 21"/>
          <p:cNvSpPr/>
          <p:nvPr/>
        </p:nvSpPr>
        <p:spPr>
          <a:xfrm>
            <a:off x="1280160" y="5074920"/>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DESCARGAR</a:t>
            </a:r>
            <a:endParaRPr lang="en-US" sz="1000" dirty="0"/>
          </a:p>
        </p:txBody>
      </p:sp>
      <p:sp>
        <p:nvSpPr>
          <p:cNvPr id="25" name="Text 22"/>
          <p:cNvSpPr/>
          <p:nvPr/>
        </p:nvSpPr>
        <p:spPr>
          <a:xfrm>
            <a:off x="3383280" y="5029200"/>
            <a:ext cx="8131759" cy="42062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Se baja de cualquiera de ellos: no importa de cuál, porque…</a:t>
            </a:r>
            <a:endParaRPr lang="en-US" sz="1200" dirty="0"/>
          </a:p>
        </p:txBody>
      </p:sp>
      <p:sp>
        <p:nvSpPr>
          <p:cNvPr id="26" name="Shape 23"/>
          <p:cNvSpPr/>
          <p:nvPr/>
        </p:nvSpPr>
        <p:spPr>
          <a:xfrm>
            <a:off x="566928" y="5577840"/>
            <a:ext cx="11057839" cy="566928"/>
          </a:xfrm>
          <a:prstGeom prst="rect">
            <a:avLst/>
          </a:prstGeom>
          <a:solidFill>
            <a:srgbClr val="FAF9FB"/>
          </a:solidFill>
          <a:ln w="15875">
            <a:solidFill>
              <a:srgbClr val="D9D6E0"/>
            </a:solidFill>
            <a:prstDash val="solid"/>
          </a:ln>
        </p:spPr>
      </p:sp>
      <p:sp>
        <p:nvSpPr>
          <p:cNvPr id="27" name="Text 24"/>
          <p:cNvSpPr/>
          <p:nvPr/>
        </p:nvSpPr>
        <p:spPr>
          <a:xfrm>
            <a:off x="694944" y="5577840"/>
            <a:ext cx="548640" cy="56692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8" name="Text 25"/>
          <p:cNvSpPr/>
          <p:nvPr/>
        </p:nvSpPr>
        <p:spPr>
          <a:xfrm>
            <a:off x="1280160" y="5715000"/>
            <a:ext cx="18288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VERIFICAR</a:t>
            </a:r>
            <a:endParaRPr lang="en-US" sz="1000" dirty="0"/>
          </a:p>
        </p:txBody>
      </p:sp>
      <p:sp>
        <p:nvSpPr>
          <p:cNvPr id="29" name="Text 26"/>
          <p:cNvSpPr/>
          <p:nvPr/>
        </p:nvSpPr>
        <p:spPr>
          <a:xfrm>
            <a:off x="3383280" y="5669280"/>
            <a:ext cx="8131759" cy="420624"/>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…se recalcula el hash. Si no coincide con el CID, se descarta. Confianza cero en el nodo.</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A.12 · UN CID, CALCULADO DE VERDAD</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500" dirty="0">
                <a:solidFill>
                  <a:srgbClr val="0F0F11"/>
                </a:solidFill>
                <a:latin typeface="Arial Black" pitchFamily="34" charset="0"/>
                <a:ea typeface="Arial Black" pitchFamily="34" charset="-122"/>
                <a:cs typeface="Arial Black" pitchFamily="34" charset="-120"/>
              </a:rPr>
              <a:t>EL CID ES EL HASH, CON UNA ETIQUETA DELANTE</a:t>
            </a:r>
            <a:endParaRPr lang="en-US" sz="25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sp>
        <p:nvSpPr>
          <p:cNvPr id="8" name="Shape 5"/>
          <p:cNvSpPr/>
          <p:nvPr/>
        </p:nvSpPr>
        <p:spPr>
          <a:xfrm>
            <a:off x="566928" y="1691640"/>
            <a:ext cx="11057839" cy="2011680"/>
          </a:xfrm>
          <a:prstGeom prst="rect">
            <a:avLst/>
          </a:prstGeom>
          <a:solidFill>
            <a:srgbClr val="16151B"/>
          </a:solidFill>
          <a:ln w="22225">
            <a:solidFill>
              <a:srgbClr val="16151B"/>
            </a:solidFill>
            <a:prstDash val="solid"/>
          </a:ln>
        </p:spPr>
      </p:sp>
      <p:sp>
        <p:nvSpPr>
          <p:cNvPr id="9" name="Text 6"/>
          <p:cNvSpPr/>
          <p:nvPr/>
        </p:nvSpPr>
        <p:spPr>
          <a:xfrm>
            <a:off x="768096" y="176479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SALIDA REAL DEL SCRIPT DEL LABORATORIO</a:t>
            </a:r>
            <a:endParaRPr lang="en-US" sz="850" dirty="0"/>
          </a:p>
        </p:txBody>
      </p:sp>
      <p:sp>
        <p:nvSpPr>
          <p:cNvPr id="10" name="Text 7"/>
          <p:cNvSpPr/>
          <p:nvPr/>
        </p:nvSpPr>
        <p:spPr>
          <a:xfrm>
            <a:off x="768096" y="2075688"/>
            <a:ext cx="10655503" cy="1517904"/>
          </a:xfrm>
          <a:prstGeom prst="rect">
            <a:avLst/>
          </a:prstGeom>
          <a:noFill/>
          <a:ln/>
        </p:spPr>
        <p:txBody>
          <a:bodyPr wrap="square" lIns="0" tIns="0" rIns="0" bIns="0" rtlCol="0" anchor="t"/>
          <a:lstStyle/>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node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scripts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s11</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raw</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texto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"hello world"</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sha256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b94d27b9934d3e08a52e52d7da7dabfac484efe3</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raw</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bafkreifzjut3te2nhyekklss27nh3k72ysco7y32koao5eei66wof36n5e</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texto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"Diploma USB - prueba 1"</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bafkreiez36qzdmqn6bh6gefu6wpky4dezu</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texto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"Diploma USB - prueba 2"</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bafkreicmjjso6teuztsxwcuwv4stofvsen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p:txBody>
      </p:sp>
      <p:sp>
        <p:nvSpPr>
          <p:cNvPr id="11" name="Shape 8"/>
          <p:cNvSpPr/>
          <p:nvPr/>
        </p:nvSpPr>
        <p:spPr>
          <a:xfrm>
            <a:off x="566928" y="3840480"/>
            <a:ext cx="11057839" cy="566928"/>
          </a:xfrm>
          <a:prstGeom prst="rect">
            <a:avLst/>
          </a:prstGeom>
          <a:solidFill>
            <a:srgbClr val="F2F0F5"/>
          </a:solidFill>
          <a:ln w="12700">
            <a:solidFill>
              <a:srgbClr val="7152E9"/>
            </a:solidFill>
            <a:prstDash val="solid"/>
          </a:ln>
        </p:spPr>
      </p:sp>
      <p:sp>
        <p:nvSpPr>
          <p:cNvPr id="12" name="Text 9"/>
          <p:cNvSpPr/>
          <p:nvPr/>
        </p:nvSpPr>
        <p:spPr>
          <a:xfrm>
            <a:off x="731520" y="3913632"/>
            <a:ext cx="10728655" cy="420624"/>
          </a:xfrm>
          <a:prstGeom prst="rect">
            <a:avLst/>
          </a:prstGeom>
          <a:noFill/>
          <a:ln/>
        </p:spPr>
        <p:txBody>
          <a:bodyPr wrap="square" lIns="0" tIns="0" rIns="0" bIns="0" rtlCol="0" anchor="ctr"/>
          <a:lstStyle/>
          <a:p>
            <a:pPr indent="0" marL="0">
              <a:lnSpc>
                <a:spcPct val="120000"/>
              </a:lnSpc>
              <a:buNone/>
            </a:pPr>
            <a:r>
              <a:rPr lang="en-US" sz="1050" dirty="0">
                <a:solidFill>
                  <a:srgbClr val="3A3844"/>
                </a:solidFill>
                <a:latin typeface="Courier New" pitchFamily="34" charset="0"/>
                <a:ea typeface="Courier New" pitchFamily="34" charset="-122"/>
                <a:cs typeface="Courier New" pitchFamily="34" charset="-120"/>
              </a:rPr>
              <a:t>CID v1 raw  =  "b" + base32( 01 · 55 · 12 · 20 · sha256(bytes) )     versión · raw · sha2-256 · 32 bytes</a:t>
            </a:r>
            <a:endParaRPr lang="en-US" sz="1050" dirty="0"/>
          </a:p>
        </p:txBody>
      </p:sp>
      <p:sp>
        <p:nvSpPr>
          <p:cNvPr id="13" name="Shape 10"/>
          <p:cNvSpPr/>
          <p:nvPr/>
        </p:nvSpPr>
        <p:spPr>
          <a:xfrm>
            <a:off x="566928" y="4572000"/>
            <a:ext cx="5391760" cy="1572768"/>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4" name="Text 11"/>
          <p:cNvSpPr/>
          <p:nvPr/>
        </p:nvSpPr>
        <p:spPr>
          <a:xfrm>
            <a:off x="841248" y="475488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COMPRUÉBENLO EN VIVO</a:t>
            </a:r>
            <a:endParaRPr lang="en-US" sz="1050" dirty="0"/>
          </a:p>
        </p:txBody>
      </p:sp>
      <p:sp>
        <p:nvSpPr>
          <p:cNvPr id="15" name="Text 12"/>
          <p:cNvSpPr/>
          <p:nvPr/>
        </p:nvSpPr>
        <p:spPr>
          <a:xfrm>
            <a:off x="841248" y="5138928"/>
            <a:ext cx="4843120" cy="841248"/>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https://ipfs.io/ipfs/bafkreifz…n5e devuelve «hello world». Nadie lo subió para esta clase: alguien en el mundo fijó esos mismos bytes y el CID coincide.</a:t>
            </a:r>
            <a:endParaRPr lang="en-US" sz="1150" dirty="0"/>
          </a:p>
        </p:txBody>
      </p:sp>
      <p:sp>
        <p:nvSpPr>
          <p:cNvPr id="16" name="Shape 13"/>
          <p:cNvSpPr/>
          <p:nvPr/>
        </p:nvSpPr>
        <p:spPr>
          <a:xfrm>
            <a:off x="6233008" y="4572000"/>
            <a:ext cx="5391760" cy="1572768"/>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7" name="Text 14"/>
          <p:cNvSpPr/>
          <p:nvPr/>
        </p:nvSpPr>
        <p:spPr>
          <a:xfrm>
            <a:off x="6507328" y="475488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EL ERROR DE CONCEPTO TÍPICO</a:t>
            </a:r>
            <a:endParaRPr lang="en-US" sz="1050" dirty="0"/>
          </a:p>
        </p:txBody>
      </p:sp>
      <p:sp>
        <p:nvSpPr>
          <p:cNvPr id="18" name="Text 15"/>
          <p:cNvSpPr/>
          <p:nvPr/>
        </p:nvSpPr>
        <p:spPr>
          <a:xfrm>
            <a:off x="6507328" y="5138928"/>
            <a:ext cx="4843120" cy="841248"/>
          </a:xfrm>
          <a:prstGeom prst="rect">
            <a:avLst/>
          </a:prstGeom>
          <a:noFill/>
          <a:ln/>
        </p:spPr>
        <p:txBody>
          <a:bodyPr wrap="square" lIns="0" tIns="0" rIns="0" bIns="0" rtlCol="0" anchor="t"/>
          <a:lstStyle/>
          <a:p>
            <a:pPr indent="0" marL="0">
              <a:lnSpc>
                <a:spcPct val="124000"/>
              </a:lnSpc>
              <a:buNone/>
            </a:pPr>
            <a:r>
              <a:rPr lang="en-US" sz="1150" dirty="0">
                <a:solidFill>
                  <a:srgbClr val="3A3844"/>
                </a:solidFill>
                <a:latin typeface="Arial" pitchFamily="34" charset="0"/>
                <a:ea typeface="Arial" pitchFamily="34" charset="-122"/>
                <a:cs typeface="Arial" pitchFamily="34" charset="-120"/>
              </a:rPr>
              <a:t>«Mismo archivo, mismo CID siempre.» No: Pinata puede dar un CID «bafybei…» para esos bytes porque los envuelve en otra estructura. Ambos son hash; cambia la receta.</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A.13 · DISPONIBILIDAD</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PINNING: ALGUIEN TIENE QUE GUARDARLO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sp>
        <p:nvSpPr>
          <p:cNvPr id="8" name="Text 5"/>
          <p:cNvSpPr/>
          <p:nvPr/>
        </p:nvSpPr>
        <p:spPr>
          <a:xfrm>
            <a:off x="566928" y="1691640"/>
            <a:ext cx="11057839" cy="868680"/>
          </a:xfrm>
          <a:prstGeom prst="rect">
            <a:avLst/>
          </a:prstGeom>
          <a:noFill/>
          <a:ln/>
        </p:spPr>
        <p:txBody>
          <a:bodyPr wrap="square" lIns="0" tIns="0" rIns="0" bIns="0" rtlCol="0" anchor="t"/>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Un nodo IPFS guarda lo que visita solo como caché y lo borra cuando necesita espacio. Un archivo sobrevive si algún nodo lo FIJA. Los servicios de pinning son empresas que fijan por ustedes.</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2697480"/>
          <a:ext cx="11057839" cy="914400"/>
        </p:xfrm>
        <a:graphic>
          <a:graphicData uri="http://schemas.openxmlformats.org/drawingml/2006/table">
            <a:tbl>
              <a:tblPr/>
              <a:tblGrid>
                <a:gridCol w="2011680"/>
                <a:gridCol w="4846320"/>
                <a:gridCol w="41998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SERVICIO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PLAN GRATUITO ANUNCIADO (SEP. 2026)</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PARA EL LABORATORIO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754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Pinata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 GB, 500 archivos, una puerta propia.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Opción principal. Subir como PÚBLICO.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754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Filebase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5 GB, compartidos con su almacenamiento S3.</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Alternativa si Pinata falla.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7548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IPFS Desktop</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Su propio nodo, gratis.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Plan B: el archivo existe solo mientras su PC esté encendido.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2679192"/>
            <a:ext cx="11094415" cy="1773936"/>
          </a:xfrm>
          <a:prstGeom prst="rect">
            <a:avLst/>
          </a:prstGeom>
          <a:ln w="22225">
            <a:solidFill>
              <a:srgbClr val="0F0F11"/>
            </a:solidFill>
            <a:prstDash val="solid"/>
          </a:ln>
        </p:spPr>
      </p:sp>
      <p:sp>
        <p:nvSpPr>
          <p:cNvPr id="11" name="Shape 7"/>
          <p:cNvSpPr/>
          <p:nvPr/>
        </p:nvSpPr>
        <p:spPr>
          <a:xfrm>
            <a:off x="566928" y="4617720"/>
            <a:ext cx="11057839" cy="15087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2" name="Image 1" descr="preencoded.png">    </p:cNvPr>
          <p:cNvPicPr>
            <a:picLocks noChangeAspect="1"/>
          </p:cNvPicPr>
          <p:nvPr/>
        </p:nvPicPr>
        <p:blipFill>
          <a:blip r:embed="rId2"/>
          <a:stretch>
            <a:fillRect/>
          </a:stretch>
        </p:blipFill>
        <p:spPr>
          <a:xfrm>
            <a:off x="804672" y="4837176"/>
            <a:ext cx="237744" cy="237744"/>
          </a:xfrm>
          <a:prstGeom prst="rect">
            <a:avLst/>
          </a:prstGeom>
        </p:spPr>
      </p:pic>
      <p:sp>
        <p:nvSpPr>
          <p:cNvPr id="13" name="Text 8"/>
          <p:cNvSpPr/>
          <p:nvPr/>
        </p:nvSpPr>
        <p:spPr>
          <a:xfrm>
            <a:off x="1133856" y="48097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DOS TRAMPAS QUE VIMOS AL PREPARAR LA CLASE</a:t>
            </a:r>
            <a:endParaRPr lang="en-US" sz="950" dirty="0"/>
          </a:p>
        </p:txBody>
      </p:sp>
      <p:sp>
        <p:nvSpPr>
          <p:cNvPr id="14" name="Text 9"/>
          <p:cNvSpPr/>
          <p:nvPr/>
        </p:nvSpPr>
        <p:spPr>
          <a:xfrm>
            <a:off x="804672" y="5129784"/>
            <a:ext cx="10582351" cy="905256"/>
          </a:xfrm>
          <a:prstGeom prst="rect">
            <a:avLst/>
          </a:prstGeom>
          <a:noFill/>
          <a:ln/>
        </p:spPr>
        <p:txBody>
          <a:bodyPr wrap="square" lIns="0" tIns="0" rIns="0" bIns="0" rtlCol="0" anchor="t"/>
          <a:lstStyle/>
          <a:p>
            <a:pPr indent="0" marL="0">
              <a:lnSpc>
                <a:spcPct val="124000"/>
              </a:lnSpc>
              <a:buNone/>
            </a:pPr>
            <a:r>
              <a:rPr lang="en-US" sz="1200" dirty="0">
                <a:solidFill>
                  <a:srgbClr val="3A3844"/>
                </a:solidFill>
                <a:latin typeface="Arial" pitchFamily="34" charset="0"/>
                <a:ea typeface="Arial" pitchFamily="34" charset="-122"/>
                <a:cs typeface="Arial" pitchFamily="34" charset="-120"/>
              </a:rPr>
              <a:t>1) Pinata permite subir como «privado»: esos archivos NO se anuncian a la red y ninguna puerta pública los encuentra. 2) Las puertas públicas (ipfs.io, dweb.link) limitan consultas y a veces responden 429: prueben con la puerta de su propio servicio.</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A.14 · OTRA FORMA DE PAGAR LA PERMANENCIA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SERVIDOR, IPFS O ARWEAVE</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103120"/>
                <a:gridCol w="2926080"/>
                <a:gridCol w="3017520"/>
                <a:gridCol w="3011119"/>
              </a:tblGrid>
              <a:tr h="310896">
                <a:tc>
                  <a:txBody>
                    <a:bodyPr/>
                    <a:lstStyle/>
                    <a:p>
                      <a:pPr indent="0" marL="0">
                        <a:buNone/>
                      </a:pP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SERVIDOR HTTPS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IPFS + PINNING</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ARWEAVE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4236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Integridad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Ninguna: el dueño cambia el archivo.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 el CID es el hash.</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Sí: identificador ligado al contenido.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4236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Disponibilidad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Mientras paguen el servidor.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Mientras alguien fije (y pague).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Pago único, diseñado para ser permanente.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4236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Costo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Mensual.</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Mensual (gratis en poco volumen).</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Una vez, al subir.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4236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Riesgo principal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Cambio o caída silenciosa.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Que nadie siga fijando.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Depende de que su economía se sostenga.</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673352"/>
            <a:ext cx="11094415" cy="2916936"/>
          </a:xfrm>
          <a:prstGeom prst="rect">
            <a:avLst/>
          </a:prstGeom>
          <a:ln w="22225">
            <a:solidFill>
              <a:srgbClr val="0F0F11"/>
            </a:solidFill>
            <a:prstDash val="solid"/>
          </a:ln>
        </p:spPr>
      </p:sp>
      <p:sp>
        <p:nvSpPr>
          <p:cNvPr id="10" name="Shape 6"/>
          <p:cNvSpPr/>
          <p:nvPr/>
        </p:nvSpPr>
        <p:spPr>
          <a:xfrm>
            <a:off x="566928" y="4754880"/>
            <a:ext cx="11057839" cy="13716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1" name="Image 1" descr="preencoded.png">    </p:cNvPr>
          <p:cNvPicPr>
            <a:picLocks noChangeAspect="1"/>
          </p:cNvPicPr>
          <p:nvPr/>
        </p:nvPicPr>
        <p:blipFill>
          <a:blip r:embed="rId2"/>
          <a:stretch>
            <a:fillRect/>
          </a:stretch>
        </p:blipFill>
        <p:spPr>
          <a:xfrm>
            <a:off x="804672" y="4974336"/>
            <a:ext cx="237744" cy="237744"/>
          </a:xfrm>
          <a:prstGeom prst="rect">
            <a:avLst/>
          </a:prstGeom>
        </p:spPr>
      </p:pic>
      <p:sp>
        <p:nvSpPr>
          <p:cNvPr id="12" name="Text 7"/>
          <p:cNvSpPr/>
          <p:nvPr/>
        </p:nvSpPr>
        <p:spPr>
          <a:xfrm>
            <a:off x="1133856" y="49469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VERIFICACIÓN · ALMACENAMIENTO</a:t>
            </a:r>
            <a:endParaRPr lang="en-US" sz="950" dirty="0"/>
          </a:p>
        </p:txBody>
      </p:sp>
      <p:sp>
        <p:nvSpPr>
          <p:cNvPr id="13" name="Text 8"/>
          <p:cNvSpPr/>
          <p:nvPr/>
        </p:nvSpPr>
        <p:spPr>
          <a:xfrm>
            <a:off x="804672" y="5266944"/>
            <a:ext cx="10582351" cy="76809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La universidad sube el JSON a IPFS y deja de pagar Pinata en 2030. ¿Qué pasa con el diploma en la cadena? ¿Y qué pasa si en vez de eso alguien intenta cambiar el JSON? Respondan las dos por separado.</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A.15 · REGALÍAS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EIP-2981: SE DECLARA, NO SE GARANTIZA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sp>
        <p:nvSpPr>
          <p:cNvPr id="8" name="Shape 5"/>
          <p:cNvSpPr/>
          <p:nvPr/>
        </p:nvSpPr>
        <p:spPr>
          <a:xfrm>
            <a:off x="566928" y="1691640"/>
            <a:ext cx="11057839" cy="1234440"/>
          </a:xfrm>
          <a:prstGeom prst="rect">
            <a:avLst/>
          </a:prstGeom>
          <a:solidFill>
            <a:srgbClr val="16151B"/>
          </a:solidFill>
          <a:ln w="22225">
            <a:solidFill>
              <a:srgbClr val="16151B"/>
            </a:solidFill>
            <a:prstDash val="solid"/>
          </a:ln>
        </p:spPr>
      </p:sp>
      <p:sp>
        <p:nvSpPr>
          <p:cNvPr id="9" name="Text 6"/>
          <p:cNvSpPr/>
          <p:nvPr/>
        </p:nvSpPr>
        <p:spPr>
          <a:xfrm>
            <a:off x="768096" y="1837944"/>
            <a:ext cx="10655503" cy="978408"/>
          </a:xfrm>
          <a:prstGeom prst="rect">
            <a:avLst/>
          </a:prstGeom>
          <a:noFill/>
          <a:ln/>
        </p:spPr>
        <p:txBody>
          <a:bodyPr wrap="square" lIns="0" tIns="0" rIns="0" bIns="0" rtlCol="0" anchor="t"/>
          <a:lstStyle/>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royaltyInfo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precioVenta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view</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receptor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regalia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ej.: 5 % -&gt; royaltyInfo(1, 1 ether) = (creador, 0.05 ether)</a:t>
            </a:r>
            <a:endParaRPr lang="en-US" sz="1150" dirty="0"/>
          </a:p>
        </p:txBody>
      </p:sp>
      <p:sp>
        <p:nvSpPr>
          <p:cNvPr id="10" name="Text 7"/>
          <p:cNvSpPr/>
          <p:nvPr/>
        </p:nvSpPr>
        <p:spPr>
          <a:xfrm>
            <a:off x="566928" y="3063240"/>
            <a:ext cx="11057839" cy="64008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propio estándar lo dice: el pago es voluntario, porque transferFrom no sabe si hubo una venta. El contrato informa; el marketplace decide si paga.</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3840480"/>
          <a:ext cx="11057839" cy="914400"/>
        </p:xfrm>
        <a:graphic>
          <a:graphicData uri="http://schemas.openxmlformats.org/drawingml/2006/table">
            <a:tbl>
              <a:tblPr/>
              <a:tblGrid>
                <a:gridCol w="1645920"/>
                <a:gridCol w="94119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FECHA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PASÓ</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297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Nov. 2022</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OpenSea lanza su «Operator Filter» para bloquear mercados que no pagan regalías.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297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Ago. 2023</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OpenSea lo apaga: regalías opcionales para colecciones nuevas desde el 31 de agosto.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297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2024</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OpenSea soporta ERC-721C: el contrato restringe quién puede transferir para forzar el pago.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12" name="Shape 8"/>
          <p:cNvSpPr/>
          <p:nvPr/>
        </p:nvSpPr>
        <p:spPr>
          <a:xfrm>
            <a:off x="548640" y="3822192"/>
            <a:ext cx="11094415" cy="1636776"/>
          </a:xfrm>
          <a:prstGeom prst="rect">
            <a:avLst/>
          </a:prstGeom>
          <a:ln w="22225">
            <a:solidFill>
              <a:srgbClr val="0F0F11"/>
            </a:solidFill>
            <a:prstDash val="solid"/>
          </a:ln>
        </p:spPr>
      </p:sp>
      <p:sp>
        <p:nvSpPr>
          <p:cNvPr id="13" name="Text 9"/>
          <p:cNvSpPr/>
          <p:nvPr/>
        </p:nvSpPr>
        <p:spPr>
          <a:xfrm>
            <a:off x="566928" y="5577840"/>
            <a:ext cx="11057839" cy="566928"/>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Forzar regalías exige restringir transferencias. Es el mismo dilema del proyecto de entradas: control del emisor frente a libertad del dueño.</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A.16 · MÁS ALLÁ DEL ARTE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CASOS DONDE LA UNICIDAD SÍ IMPORTA</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651760"/>
                <a:gridCol w="4206240"/>
                <a:gridCol w="41998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APORTA EL NFT</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EL MATIZ HONESTO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5105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Credenciales académicas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Cualquiera verifica quién emitió qué, sin llamar a la universidad.</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¿Debería poder transferirse? Bloque C.</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5105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Trazabilidad (café, cacao)</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Cada lote con su historia pública e inalterable.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dato de entrada sigue dependiendo de un humano honesto.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5105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Entradas a eventos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Cada entrada es única; la reventa se acota por contrato.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Es el proyecto del docente.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5105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Licencias y membresías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Acceso verificable y, si se quiere, transferible.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A menudo ERC-1155 encaja mejor.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51053">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Activos reales (RWA)</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Un bien, un token, un dueño visible.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Sin reconocimiento legal, el token no es el título.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673352"/>
            <a:ext cx="11094415" cy="3602736"/>
          </a:xfrm>
          <a:prstGeom prst="rect">
            <a:avLst/>
          </a:prstGeom>
          <a:ln w="22225">
            <a:solidFill>
              <a:srgbClr val="0F0F11"/>
            </a:solidFill>
            <a:prstDash val="solid"/>
          </a:ln>
        </p:spPr>
      </p:sp>
      <p:sp>
        <p:nvSpPr>
          <p:cNvPr id="10" name="Text 6"/>
          <p:cNvSpPr/>
          <p:nvPr/>
        </p:nvSpPr>
        <p:spPr>
          <a:xfrm>
            <a:off x="566928" y="5440680"/>
            <a:ext cx="11057839" cy="685800"/>
          </a:xfrm>
          <a:prstGeom prst="rect">
            <a:avLst/>
          </a:prstGeom>
          <a:noFill/>
          <a:ln/>
        </p:spPr>
        <p:txBody>
          <a:bodyPr wrap="square" lIns="0" tIns="0" rIns="0" bIns="0" rtlCol="0" anchor="t"/>
          <a:lstStyle/>
          <a:p>
            <a:pPr indent="0" marL="0">
              <a:lnSpc>
                <a:spcPct val="124000"/>
              </a:lnSpc>
              <a:buNone/>
            </a:pPr>
            <a:r>
              <a:rPr lang="en-US" sz="1300" dirty="0">
                <a:solidFill>
                  <a:srgbClr val="A35604"/>
                </a:solidFill>
                <a:latin typeface="Arial" pitchFamily="34" charset="0"/>
                <a:ea typeface="Arial" pitchFamily="34" charset="-122"/>
                <a:cs typeface="Arial" pitchFamily="34" charset="-120"/>
              </a:rPr>
              <a:t>En todos sigue viva la pregunta de la Sesión 1: ¿hace falta una cadena, o basta una base de datos firmada por quien ya es la autoridad?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A.17 · CRÍTICAS HONESTAS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LO QUE EL MERCADO NFT HIZO MAL</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3017520"/>
                <a:gridCol w="80403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CRÍTICA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EN QUÉ CONSISTE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4190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Enlaces rotos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Colecciones con tokenURI en servidores propios que cerraron: el token queda apuntando a nada.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4190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Tokenizar no da derechos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Cualquiera puede emitir un NFT de una obra ajena. El contrato no verifica autoría.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4190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Especulación y lavado de volumen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Ventas de una cuenta a sí misma para inflar precios (wash trading), documentadas en informes de análisis de cadena.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4190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Phishing de aprobaciones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Sitios falsos que piden setApprovalForAll y vacían la billetera.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41909">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Consumo energético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Crítica válida en 2021; en Ethereum bajó drásticamente con la prueba de participación (Sesión 4).</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673352"/>
            <a:ext cx="11094415" cy="3557016"/>
          </a:xfrm>
          <a:prstGeom prst="rect">
            <a:avLst/>
          </a:prstGeom>
          <a:ln w="22225">
            <a:solidFill>
              <a:srgbClr val="0F0F11"/>
            </a:solidFill>
            <a:prstDash val="solid"/>
          </a:ln>
        </p:spPr>
      </p:sp>
      <p:sp>
        <p:nvSpPr>
          <p:cNvPr id="10" name="Text 6"/>
          <p:cNvSpPr/>
          <p:nvPr/>
        </p:nvSpPr>
        <p:spPr>
          <a:xfrm>
            <a:off x="566928" y="5394960"/>
            <a:ext cx="11057839" cy="73152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Nada de esto invalida la técnica. Invalida usarla sin preguntarse qué problema resuelve. Esa es la tesis del curso.</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A.18 · VERIFICACIÓN · TODO 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TRES PREGUNTAS ANTES DEL LABORATORIO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23</a:t>
            </a:r>
            <a:endParaRPr lang="en-US" sz="900" dirty="0"/>
          </a:p>
        </p:txBody>
      </p:sp>
      <p:sp>
        <p:nvSpPr>
          <p:cNvPr id="8" name="Shape 5"/>
          <p:cNvSpPr/>
          <p:nvPr/>
        </p:nvSpPr>
        <p:spPr>
          <a:xfrm>
            <a:off x="566928" y="1737360"/>
            <a:ext cx="11057839" cy="868680"/>
          </a:xfrm>
          <a:prstGeom prst="rect">
            <a:avLst/>
          </a:prstGeom>
          <a:solidFill>
            <a:srgbClr val="FFFFFF"/>
          </a:solidFill>
          <a:ln w="15875">
            <a:solidFill>
              <a:srgbClr val="D9D6E0"/>
            </a:solidFill>
            <a:prstDash val="solid"/>
          </a:ln>
        </p:spPr>
      </p:sp>
      <p:sp>
        <p:nvSpPr>
          <p:cNvPr id="9" name="Text 6"/>
          <p:cNvSpPr/>
          <p:nvPr/>
        </p:nvSpPr>
        <p:spPr>
          <a:xfrm>
            <a:off x="694944" y="1737360"/>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2025396"/>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¿QUÉ SE TRANSFIERE?</a:t>
            </a:r>
            <a:endParaRPr lang="en-US" sz="1000" dirty="0"/>
          </a:p>
        </p:txBody>
      </p:sp>
      <p:sp>
        <p:nvSpPr>
          <p:cNvPr id="11" name="Text 8"/>
          <p:cNvSpPr/>
          <p:nvPr/>
        </p:nvSpPr>
        <p:spPr>
          <a:xfrm>
            <a:off x="4114800" y="1828800"/>
            <a:ext cx="7400239" cy="7223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Cuando Ana transfiere su diploma a Beto, ¿qué cambia en la cadena y qué NO cambia en IPFS?</a:t>
            </a:r>
            <a:endParaRPr lang="en-US" sz="1250" dirty="0"/>
          </a:p>
        </p:txBody>
      </p:sp>
      <p:sp>
        <p:nvSpPr>
          <p:cNvPr id="12" name="Shape 9"/>
          <p:cNvSpPr/>
          <p:nvPr/>
        </p:nvSpPr>
        <p:spPr>
          <a:xfrm>
            <a:off x="566928" y="2734056"/>
            <a:ext cx="11057839" cy="868680"/>
          </a:xfrm>
          <a:prstGeom prst="rect">
            <a:avLst/>
          </a:prstGeom>
          <a:solidFill>
            <a:srgbClr val="FAF9FB"/>
          </a:solidFill>
          <a:ln w="15875">
            <a:solidFill>
              <a:srgbClr val="D9D6E0"/>
            </a:solidFill>
            <a:prstDash val="solid"/>
          </a:ln>
        </p:spPr>
      </p:sp>
      <p:sp>
        <p:nvSpPr>
          <p:cNvPr id="13" name="Text 10"/>
          <p:cNvSpPr/>
          <p:nvPr/>
        </p:nvSpPr>
        <p:spPr>
          <a:xfrm>
            <a:off x="694944" y="2734056"/>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3022092"/>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¿QUIÉN PUEDE ALTERAR?</a:t>
            </a:r>
            <a:endParaRPr lang="en-US" sz="1000" dirty="0"/>
          </a:p>
        </p:txBody>
      </p:sp>
      <p:sp>
        <p:nvSpPr>
          <p:cNvPr id="15" name="Text 12"/>
          <p:cNvSpPr/>
          <p:nvPr/>
        </p:nvSpPr>
        <p:spPr>
          <a:xfrm>
            <a:off x="4114800" y="2825496"/>
            <a:ext cx="7400239" cy="7223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Si el tokenURI es ipfs://CID, ¿puede la universidad cambiar el JSON del diploma 1 después de emitirlo?</a:t>
            </a:r>
            <a:endParaRPr lang="en-US" sz="1250" dirty="0"/>
          </a:p>
        </p:txBody>
      </p:sp>
      <p:sp>
        <p:nvSpPr>
          <p:cNvPr id="16" name="Shape 13"/>
          <p:cNvSpPr/>
          <p:nvPr/>
        </p:nvSpPr>
        <p:spPr>
          <a:xfrm>
            <a:off x="566928" y="3730752"/>
            <a:ext cx="11057839" cy="868680"/>
          </a:xfrm>
          <a:prstGeom prst="rect">
            <a:avLst/>
          </a:prstGeom>
          <a:solidFill>
            <a:srgbClr val="FFFFFF"/>
          </a:solidFill>
          <a:ln w="15875">
            <a:solidFill>
              <a:srgbClr val="D9D6E0"/>
            </a:solidFill>
            <a:prstDash val="solid"/>
          </a:ln>
        </p:spPr>
      </p:sp>
      <p:sp>
        <p:nvSpPr>
          <p:cNvPr id="17" name="Text 14"/>
          <p:cNvSpPr/>
          <p:nvPr/>
        </p:nvSpPr>
        <p:spPr>
          <a:xfrm>
            <a:off x="694944" y="3730752"/>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4018788"/>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¿QUÉ HACE FALTA PAGAR?</a:t>
            </a:r>
            <a:endParaRPr lang="en-US" sz="1000" dirty="0"/>
          </a:p>
        </p:txBody>
      </p:sp>
      <p:sp>
        <p:nvSpPr>
          <p:cNvPr id="19" name="Text 16"/>
          <p:cNvSpPr/>
          <p:nvPr/>
        </p:nvSpPr>
        <p:spPr>
          <a:xfrm>
            <a:off x="4114800" y="3822192"/>
            <a:ext cx="7400239" cy="7223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¿Qué pasa con la imagen si nadie la fija, y qué NO pasa con el token?</a:t>
            </a:r>
            <a:endParaRPr lang="en-US" sz="1250" dirty="0"/>
          </a:p>
        </p:txBody>
      </p:sp>
      <p:sp>
        <p:nvSpPr>
          <p:cNvPr id="20" name="Shape 17"/>
          <p:cNvSpPr/>
          <p:nvPr/>
        </p:nvSpPr>
        <p:spPr>
          <a:xfrm>
            <a:off x="566928" y="4663440"/>
            <a:ext cx="11057839" cy="1463040"/>
          </a:xfrm>
          <a:prstGeom prst="rect">
            <a:avLst/>
          </a:prstGeom>
          <a:solidFill>
            <a:srgbClr val="F2F0F5"/>
          </a:solidFill>
          <a:ln w="22225">
            <a:solidFill>
              <a:srgbClr val="0F0F11"/>
            </a:solidFill>
            <a:prstDash val="solid"/>
          </a:ln>
        </p:spPr>
      </p:sp>
      <p:pic>
        <p:nvPicPr>
          <p:cNvPr id="21" name="Image 1" descr="preencoded.png">    </p:cNvPr>
          <p:cNvPicPr>
            <a:picLocks noChangeAspect="1"/>
          </p:cNvPicPr>
          <p:nvPr/>
        </p:nvPicPr>
        <p:blipFill>
          <a:blip r:embed="rId2"/>
          <a:stretch>
            <a:fillRect/>
          </a:stretch>
        </p:blipFill>
        <p:spPr>
          <a:xfrm>
            <a:off x="804672" y="4882896"/>
            <a:ext cx="237744" cy="237744"/>
          </a:xfrm>
          <a:prstGeom prst="rect">
            <a:avLst/>
          </a:prstGeom>
        </p:spPr>
      </p:pic>
      <p:sp>
        <p:nvSpPr>
          <p:cNvPr id="22" name="Text 18"/>
          <p:cNvSpPr/>
          <p:nvPr/>
        </p:nvSpPr>
        <p:spPr>
          <a:xfrm>
            <a:off x="1133856" y="485546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RESPUESTAS CORTAS</a:t>
            </a:r>
            <a:endParaRPr lang="en-US" sz="950" dirty="0"/>
          </a:p>
        </p:txBody>
      </p:sp>
      <p:sp>
        <p:nvSpPr>
          <p:cNvPr id="23" name="Text 19"/>
          <p:cNvSpPr/>
          <p:nvPr/>
        </p:nvSpPr>
        <p:spPr>
          <a:xfrm>
            <a:off x="804672" y="5175504"/>
            <a:ext cx="10582351" cy="85953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1) Cambia ownerOf; el tokenURI y el JSON quedan iguales (lo prueba un test del laboratorio). 2) No puede cambiar ESE archivo; podría subir otro con otro CID, pero el token seguiría apuntando al original. 3) La imagen puede volverse inalcanzable; el token y su dueño siguen intactos en la cadena.</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A.19 · LO QUE HAY QUE LLEVARSE DEL BLOQUE 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SEIS IDEAS SOBRE NFTS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24</a:t>
            </a:r>
            <a:endParaRPr lang="en-US" sz="900" dirty="0"/>
          </a:p>
        </p:txBody>
      </p:sp>
      <p:sp>
        <p:nvSpPr>
          <p:cNvPr id="8" name="Text 5"/>
          <p:cNvSpPr/>
          <p:nvPr/>
        </p:nvSpPr>
        <p:spPr>
          <a:xfrm>
            <a:off x="566928" y="17373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01</a:t>
            </a:r>
            <a:endParaRPr lang="en-US" sz="2000" dirty="0"/>
          </a:p>
        </p:txBody>
      </p:sp>
      <p:sp>
        <p:nvSpPr>
          <p:cNvPr id="9" name="Text 6"/>
          <p:cNvSpPr/>
          <p:nvPr/>
        </p:nvSpPr>
        <p:spPr>
          <a:xfrm>
            <a:off x="1344168" y="181051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No fungible = con identidad: importa CUÁL, no cuántos. No significa «valioso».</a:t>
            </a:r>
            <a:endParaRPr lang="en-US" sz="1400" dirty="0"/>
          </a:p>
        </p:txBody>
      </p:sp>
      <p:sp>
        <p:nvSpPr>
          <p:cNvPr id="10" name="Shape 7"/>
          <p:cNvSpPr/>
          <p:nvPr/>
        </p:nvSpPr>
        <p:spPr>
          <a:xfrm>
            <a:off x="566928" y="2414016"/>
            <a:ext cx="11057839" cy="914"/>
          </a:xfrm>
          <a:prstGeom prst="line">
            <a:avLst/>
          </a:prstGeom>
          <a:noFill/>
          <a:ln w="12700">
            <a:solidFill>
              <a:srgbClr val="D9D6E0"/>
            </a:solidFill>
            <a:prstDash val="solid"/>
          </a:ln>
        </p:spPr>
      </p:sp>
      <p:sp>
        <p:nvSpPr>
          <p:cNvPr id="11" name="Text 8"/>
          <p:cNvSpPr/>
          <p:nvPr/>
        </p:nvSpPr>
        <p:spPr>
          <a:xfrm>
            <a:off x="566928" y="246888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02</a:t>
            </a:r>
            <a:endParaRPr lang="en-US" sz="2000" dirty="0"/>
          </a:p>
        </p:txBody>
      </p:sp>
      <p:sp>
        <p:nvSpPr>
          <p:cNvPr id="12" name="Text 9"/>
          <p:cNvSpPr/>
          <p:nvPr/>
        </p:nvSpPr>
        <p:spPr>
          <a:xfrm>
            <a:off x="1344168" y="254203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ERC-721 para piezas con historia propia; ERC-1155 para muchas copias de pocos tipos.</a:t>
            </a:r>
            <a:endParaRPr lang="en-US" sz="1400" dirty="0"/>
          </a:p>
        </p:txBody>
      </p:sp>
      <p:sp>
        <p:nvSpPr>
          <p:cNvPr id="13" name="Shape 10"/>
          <p:cNvSpPr/>
          <p:nvPr/>
        </p:nvSpPr>
        <p:spPr>
          <a:xfrm>
            <a:off x="566928" y="3145536"/>
            <a:ext cx="11057839" cy="914"/>
          </a:xfrm>
          <a:prstGeom prst="line">
            <a:avLst/>
          </a:prstGeom>
          <a:noFill/>
          <a:ln w="12700">
            <a:solidFill>
              <a:srgbClr val="D9D6E0"/>
            </a:solidFill>
            <a:prstDash val="solid"/>
          </a:ln>
        </p:spPr>
      </p:sp>
      <p:sp>
        <p:nvSpPr>
          <p:cNvPr id="14" name="Text 11"/>
          <p:cNvSpPr/>
          <p:nvPr/>
        </p:nvSpPr>
        <p:spPr>
          <a:xfrm>
            <a:off x="566928" y="320040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03</a:t>
            </a:r>
            <a:endParaRPr lang="en-US" sz="2000" dirty="0"/>
          </a:p>
        </p:txBody>
      </p:sp>
      <p:sp>
        <p:nvSpPr>
          <p:cNvPr id="15" name="Text 12"/>
          <p:cNvSpPr/>
          <p:nvPr/>
        </p:nvSpPr>
        <p:spPr>
          <a:xfrm>
            <a:off x="1344168" y="327355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«El NFT» es la celda ownerOf; el JSON y la imagen viven afuera, casi siempre en IPFS.</a:t>
            </a:r>
            <a:endParaRPr lang="en-US" sz="1400" dirty="0"/>
          </a:p>
        </p:txBody>
      </p:sp>
      <p:sp>
        <p:nvSpPr>
          <p:cNvPr id="16" name="Shape 13"/>
          <p:cNvSpPr/>
          <p:nvPr/>
        </p:nvSpPr>
        <p:spPr>
          <a:xfrm>
            <a:off x="566928" y="3877056"/>
            <a:ext cx="11057839" cy="914"/>
          </a:xfrm>
          <a:prstGeom prst="line">
            <a:avLst/>
          </a:prstGeom>
          <a:noFill/>
          <a:ln w="12700">
            <a:solidFill>
              <a:srgbClr val="D9D6E0"/>
            </a:solidFill>
            <a:prstDash val="solid"/>
          </a:ln>
        </p:spPr>
      </p:sp>
      <p:sp>
        <p:nvSpPr>
          <p:cNvPr id="17" name="Text 14"/>
          <p:cNvSpPr/>
          <p:nvPr/>
        </p:nvSpPr>
        <p:spPr>
          <a:xfrm>
            <a:off x="566928" y="393192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04</a:t>
            </a:r>
            <a:endParaRPr lang="en-US" sz="2000" dirty="0"/>
          </a:p>
        </p:txBody>
      </p:sp>
      <p:sp>
        <p:nvSpPr>
          <p:cNvPr id="18" name="Text 15"/>
          <p:cNvSpPr/>
          <p:nvPr/>
        </p:nvSpPr>
        <p:spPr>
          <a:xfrm>
            <a:off x="1344168" y="400507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IPFS garantiza integridad (el CID es el hash), no disponibilidad: eso es el pinning.</a:t>
            </a:r>
            <a:endParaRPr lang="en-US" sz="1400" dirty="0"/>
          </a:p>
        </p:txBody>
      </p:sp>
      <p:sp>
        <p:nvSpPr>
          <p:cNvPr id="19" name="Shape 16"/>
          <p:cNvSpPr/>
          <p:nvPr/>
        </p:nvSpPr>
        <p:spPr>
          <a:xfrm>
            <a:off x="566928" y="4608576"/>
            <a:ext cx="11057839" cy="914"/>
          </a:xfrm>
          <a:prstGeom prst="line">
            <a:avLst/>
          </a:prstGeom>
          <a:noFill/>
          <a:ln w="12700">
            <a:solidFill>
              <a:srgbClr val="D9D6E0"/>
            </a:solidFill>
            <a:prstDash val="solid"/>
          </a:ln>
        </p:spPr>
      </p:sp>
      <p:sp>
        <p:nvSpPr>
          <p:cNvPr id="20" name="Text 17"/>
          <p:cNvSpPr/>
          <p:nvPr/>
        </p:nvSpPr>
        <p:spPr>
          <a:xfrm>
            <a:off x="566928" y="466344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05</a:t>
            </a:r>
            <a:endParaRPr lang="en-US" sz="2000" dirty="0"/>
          </a:p>
        </p:txBody>
      </p:sp>
      <p:sp>
        <p:nvSpPr>
          <p:cNvPr id="21" name="Text 18"/>
          <p:cNvSpPr/>
          <p:nvPr/>
        </p:nvSpPr>
        <p:spPr>
          <a:xfrm>
            <a:off x="1344168" y="473659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Las regalías (EIP-2981) se declaran; forzarlas exige restringir transferencias.</a:t>
            </a:r>
            <a:endParaRPr lang="en-US" sz="1400" dirty="0"/>
          </a:p>
        </p:txBody>
      </p:sp>
      <p:sp>
        <p:nvSpPr>
          <p:cNvPr id="22" name="Shape 19"/>
          <p:cNvSpPr/>
          <p:nvPr/>
        </p:nvSpPr>
        <p:spPr>
          <a:xfrm>
            <a:off x="566928" y="5340096"/>
            <a:ext cx="11057839" cy="914"/>
          </a:xfrm>
          <a:prstGeom prst="line">
            <a:avLst/>
          </a:prstGeom>
          <a:noFill/>
          <a:ln w="12700">
            <a:solidFill>
              <a:srgbClr val="D9D6E0"/>
            </a:solidFill>
            <a:prstDash val="solid"/>
          </a:ln>
        </p:spPr>
      </p:sp>
      <p:sp>
        <p:nvSpPr>
          <p:cNvPr id="23" name="Text 20"/>
          <p:cNvSpPr/>
          <p:nvPr/>
        </p:nvSpPr>
        <p:spPr>
          <a:xfrm>
            <a:off x="566928" y="5394960"/>
            <a:ext cx="640080" cy="594360"/>
          </a:xfrm>
          <a:prstGeom prst="rect">
            <a:avLst/>
          </a:prstGeom>
          <a:noFill/>
          <a:ln/>
        </p:spPr>
        <p:txBody>
          <a:bodyPr wrap="square" lIns="0" tIns="0" rIns="0" bIns="0" rtlCol="0" anchor="ctr"/>
          <a:lstStyle/>
          <a:p>
            <a:pPr indent="0" marL="0">
              <a:buNone/>
            </a:pPr>
            <a:r>
              <a:rPr lang="en-US" sz="2000" dirty="0">
                <a:solidFill>
                  <a:srgbClr val="F07F06"/>
                </a:solidFill>
                <a:latin typeface="Arial Black" pitchFamily="34" charset="0"/>
                <a:ea typeface="Arial Black" pitchFamily="34" charset="-122"/>
                <a:cs typeface="Arial Black" pitchFamily="34" charset="-120"/>
              </a:rPr>
              <a:t>06</a:t>
            </a:r>
            <a:endParaRPr lang="en-US" sz="2000" dirty="0"/>
          </a:p>
        </p:txBody>
      </p:sp>
      <p:sp>
        <p:nvSpPr>
          <p:cNvPr id="24" name="Text 21"/>
          <p:cNvSpPr/>
          <p:nvPr/>
        </p:nvSpPr>
        <p:spPr>
          <a:xfrm>
            <a:off x="1344168" y="5468112"/>
            <a:ext cx="10280599" cy="548640"/>
          </a:xfrm>
          <a:prstGeom prst="rect">
            <a:avLst/>
          </a:prstGeom>
          <a:noFill/>
          <a:ln/>
        </p:spPr>
        <p:txBody>
          <a:bodyPr wrap="square" lIns="0" tIns="0" rIns="0" bIns="0" rtlCol="0" anchor="ctr"/>
          <a:lstStyle/>
          <a:p>
            <a:pPr indent="0" marL="0">
              <a:lnSpc>
                <a:spcPct val="124000"/>
              </a:lnSpc>
              <a:buNone/>
            </a:pPr>
            <a:r>
              <a:rPr lang="en-US" sz="1400" dirty="0">
                <a:solidFill>
                  <a:srgbClr val="3A3844"/>
                </a:solidFill>
                <a:latin typeface="Arial" pitchFamily="34" charset="0"/>
                <a:ea typeface="Arial" pitchFamily="34" charset="-122"/>
                <a:cs typeface="Arial" pitchFamily="34" charset="-120"/>
              </a:rPr>
              <a:t>Firmar setApprovalForAll es entregar todos tus NFT de ese contrato. Leer antes de firmar.</a:t>
            </a:r>
            <a:endParaRPr lang="en-US" sz="1400" dirty="0"/>
          </a:p>
        </p:txBody>
      </p:sp>
      <p:sp>
        <p:nvSpPr>
          <p:cNvPr id="25" name="Shape 22"/>
          <p:cNvSpPr/>
          <p:nvPr/>
        </p:nvSpPr>
        <p:spPr>
          <a:xfrm>
            <a:off x="566928" y="6071616"/>
            <a:ext cx="11057839" cy="914"/>
          </a:xfrm>
          <a:prstGeom prst="line">
            <a:avLst/>
          </a:prstGeom>
          <a:noFill/>
          <a:ln w="12700">
            <a:solidFill>
              <a:srgbClr val="D9D6E0"/>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B</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75 MINUTOS · EN PAREJAS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LABORATORIO 11</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Un diploma NFT de prueba: imagen y JSON en IPFS, contrato con pruebas, despliegue en Sepolia y los tres saltos verificados.</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11 · NFT, ERC-721/1155 E IPFS</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B.1 · EL MAPA DEL LABORATORIO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SEIS PASOS, EN ESTE ORDEN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26</a:t>
            </a:r>
            <a:endParaRPr lang="en-US" sz="900" dirty="0"/>
          </a:p>
        </p:txBody>
      </p:sp>
      <p:sp>
        <p:nvSpPr>
          <p:cNvPr id="8" name="Shape 5"/>
          <p:cNvSpPr/>
          <p:nvPr/>
        </p:nvSpPr>
        <p:spPr>
          <a:xfrm>
            <a:off x="566928" y="1691640"/>
            <a:ext cx="11057839" cy="640080"/>
          </a:xfrm>
          <a:prstGeom prst="rect">
            <a:avLst/>
          </a:prstGeom>
          <a:solidFill>
            <a:srgbClr val="FFFFFF"/>
          </a:solidFill>
          <a:ln w="15875">
            <a:solidFill>
              <a:srgbClr val="D9D6E0"/>
            </a:solidFill>
            <a:prstDash val="solid"/>
          </a:ln>
        </p:spPr>
      </p:sp>
      <p:sp>
        <p:nvSpPr>
          <p:cNvPr id="9" name="Text 6"/>
          <p:cNvSpPr/>
          <p:nvPr/>
        </p:nvSpPr>
        <p:spPr>
          <a:xfrm>
            <a:off x="694944" y="169164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865376"/>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CONTRATO (15 MIN)</a:t>
            </a:r>
            <a:endParaRPr lang="en-US" sz="1000" dirty="0"/>
          </a:p>
        </p:txBody>
      </p:sp>
      <p:sp>
        <p:nvSpPr>
          <p:cNvPr id="11" name="Text 8"/>
          <p:cNvSpPr/>
          <p:nvPr/>
        </p:nvSpPr>
        <p:spPr>
          <a:xfrm>
            <a:off x="4114800" y="1783080"/>
            <a:ext cx="740023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Completar los TODO de emitir() en DiplomaUSB y ver 11 pruebas en verde.</a:t>
            </a:r>
            <a:endParaRPr lang="en-US" sz="1200" dirty="0"/>
          </a:p>
        </p:txBody>
      </p:sp>
      <p:sp>
        <p:nvSpPr>
          <p:cNvPr id="12" name="Shape 9"/>
          <p:cNvSpPr/>
          <p:nvPr/>
        </p:nvSpPr>
        <p:spPr>
          <a:xfrm>
            <a:off x="566928" y="2423160"/>
            <a:ext cx="11057839" cy="640080"/>
          </a:xfrm>
          <a:prstGeom prst="rect">
            <a:avLst/>
          </a:prstGeom>
          <a:solidFill>
            <a:srgbClr val="FAF9FB"/>
          </a:solidFill>
          <a:ln w="15875">
            <a:solidFill>
              <a:srgbClr val="D9D6E0"/>
            </a:solidFill>
            <a:prstDash val="solid"/>
          </a:ln>
        </p:spPr>
      </p:sp>
      <p:sp>
        <p:nvSpPr>
          <p:cNvPr id="13" name="Text 10"/>
          <p:cNvSpPr/>
          <p:nvPr/>
        </p:nvSpPr>
        <p:spPr>
          <a:xfrm>
            <a:off x="694944" y="242316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596896"/>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IMAGEN A IPFS (10)</a:t>
            </a:r>
            <a:endParaRPr lang="en-US" sz="1000" dirty="0"/>
          </a:p>
        </p:txBody>
      </p:sp>
      <p:sp>
        <p:nvSpPr>
          <p:cNvPr id="15" name="Text 12"/>
          <p:cNvSpPr/>
          <p:nvPr/>
        </p:nvSpPr>
        <p:spPr>
          <a:xfrm>
            <a:off x="4114800" y="2514600"/>
            <a:ext cx="740023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Subir un PNG de prueba a Pinata, como público. Anotar su CID.</a:t>
            </a:r>
            <a:endParaRPr lang="en-US" sz="1200" dirty="0"/>
          </a:p>
        </p:txBody>
      </p:sp>
      <p:sp>
        <p:nvSpPr>
          <p:cNvPr id="16" name="Shape 13"/>
          <p:cNvSpPr/>
          <p:nvPr/>
        </p:nvSpPr>
        <p:spPr>
          <a:xfrm>
            <a:off x="566928" y="3154680"/>
            <a:ext cx="11057839" cy="640080"/>
          </a:xfrm>
          <a:prstGeom prst="rect">
            <a:avLst/>
          </a:prstGeom>
          <a:solidFill>
            <a:srgbClr val="FFFFFF"/>
          </a:solidFill>
          <a:ln w="15875">
            <a:solidFill>
              <a:srgbClr val="D9D6E0"/>
            </a:solidFill>
            <a:prstDash val="solid"/>
          </a:ln>
        </p:spPr>
      </p:sp>
      <p:sp>
        <p:nvSpPr>
          <p:cNvPr id="17" name="Text 14"/>
          <p:cNvSpPr/>
          <p:nvPr/>
        </p:nvSpPr>
        <p:spPr>
          <a:xfrm>
            <a:off x="694944" y="315468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328416"/>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JSON A IPFS (10)</a:t>
            </a:r>
            <a:endParaRPr lang="en-US" sz="1000" dirty="0"/>
          </a:p>
        </p:txBody>
      </p:sp>
      <p:sp>
        <p:nvSpPr>
          <p:cNvPr id="19" name="Text 16"/>
          <p:cNvSpPr/>
          <p:nvPr/>
        </p:nvSpPr>
        <p:spPr>
          <a:xfrm>
            <a:off x="4114800" y="3246120"/>
            <a:ext cx="740023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Escribir el JSON con el CID de la imagen adentro. Subirlo. Anotar su CID.</a:t>
            </a:r>
            <a:endParaRPr lang="en-US" sz="1200" dirty="0"/>
          </a:p>
        </p:txBody>
      </p:sp>
      <p:sp>
        <p:nvSpPr>
          <p:cNvPr id="20" name="Shape 17"/>
          <p:cNvSpPr/>
          <p:nvPr/>
        </p:nvSpPr>
        <p:spPr>
          <a:xfrm>
            <a:off x="566928" y="3886200"/>
            <a:ext cx="11057839" cy="640080"/>
          </a:xfrm>
          <a:prstGeom prst="rect">
            <a:avLst/>
          </a:prstGeom>
          <a:solidFill>
            <a:srgbClr val="FAF9FB"/>
          </a:solidFill>
          <a:ln w="15875">
            <a:solidFill>
              <a:srgbClr val="D9D6E0"/>
            </a:solidFill>
            <a:prstDash val="solid"/>
          </a:ln>
        </p:spPr>
      </p:sp>
      <p:sp>
        <p:nvSpPr>
          <p:cNvPr id="21" name="Text 18"/>
          <p:cNvSpPr/>
          <p:nvPr/>
        </p:nvSpPr>
        <p:spPr>
          <a:xfrm>
            <a:off x="694944" y="388620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059936"/>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ENSAYO LOCAL (10)</a:t>
            </a:r>
            <a:endParaRPr lang="en-US" sz="1000" dirty="0"/>
          </a:p>
        </p:txBody>
      </p:sp>
      <p:sp>
        <p:nvSpPr>
          <p:cNvPr id="23" name="Text 20"/>
          <p:cNvSpPr/>
          <p:nvPr/>
        </p:nvSpPr>
        <p:spPr>
          <a:xfrm>
            <a:off x="4114800" y="3977640"/>
            <a:ext cx="740023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Desplegar y emitir en la red local con Ignition, sin gastar nada.</a:t>
            </a:r>
            <a:endParaRPr lang="en-US" sz="1200" dirty="0"/>
          </a:p>
        </p:txBody>
      </p:sp>
      <p:sp>
        <p:nvSpPr>
          <p:cNvPr id="24" name="Shape 21"/>
          <p:cNvSpPr/>
          <p:nvPr/>
        </p:nvSpPr>
        <p:spPr>
          <a:xfrm>
            <a:off x="566928" y="4617720"/>
            <a:ext cx="11057839" cy="640080"/>
          </a:xfrm>
          <a:prstGeom prst="rect">
            <a:avLst/>
          </a:prstGeom>
          <a:solidFill>
            <a:srgbClr val="FFFFFF"/>
          </a:solidFill>
          <a:ln w="15875">
            <a:solidFill>
              <a:srgbClr val="D9D6E0"/>
            </a:solidFill>
            <a:prstDash val="solid"/>
          </a:ln>
        </p:spPr>
      </p:sp>
      <p:sp>
        <p:nvSpPr>
          <p:cNvPr id="25" name="Text 22"/>
          <p:cNvSpPr/>
          <p:nvPr/>
        </p:nvSpPr>
        <p:spPr>
          <a:xfrm>
            <a:off x="694944" y="461772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4791456"/>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SEPOLIA (15)</a:t>
            </a:r>
            <a:endParaRPr lang="en-US" sz="1000" dirty="0"/>
          </a:p>
        </p:txBody>
      </p:sp>
      <p:sp>
        <p:nvSpPr>
          <p:cNvPr id="27" name="Text 24"/>
          <p:cNvSpPr/>
          <p:nvPr/>
        </p:nvSpPr>
        <p:spPr>
          <a:xfrm>
            <a:off x="4114800" y="4709160"/>
            <a:ext cx="740023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Desplegar, verificar y emitir el diploma con SU tokenURI real.</a:t>
            </a:r>
            <a:endParaRPr lang="en-US" sz="1200" dirty="0"/>
          </a:p>
        </p:txBody>
      </p:sp>
      <p:sp>
        <p:nvSpPr>
          <p:cNvPr id="28" name="Shape 25"/>
          <p:cNvSpPr/>
          <p:nvPr/>
        </p:nvSpPr>
        <p:spPr>
          <a:xfrm>
            <a:off x="566928" y="5349240"/>
            <a:ext cx="11057839" cy="640080"/>
          </a:xfrm>
          <a:prstGeom prst="rect">
            <a:avLst/>
          </a:prstGeom>
          <a:solidFill>
            <a:srgbClr val="FAF9FB"/>
          </a:solidFill>
          <a:ln w="15875">
            <a:solidFill>
              <a:srgbClr val="D9D6E0"/>
            </a:solidFill>
            <a:prstDash val="solid"/>
          </a:ln>
        </p:spPr>
      </p:sp>
      <p:sp>
        <p:nvSpPr>
          <p:cNvPr id="29" name="Text 26"/>
          <p:cNvSpPr/>
          <p:nvPr/>
        </p:nvSpPr>
        <p:spPr>
          <a:xfrm>
            <a:off x="694944" y="5349240"/>
            <a:ext cx="548640" cy="6400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06</a:t>
            </a:r>
            <a:endParaRPr lang="en-US" sz="1600" dirty="0"/>
          </a:p>
        </p:txBody>
      </p:sp>
      <p:sp>
        <p:nvSpPr>
          <p:cNvPr id="30" name="Text 27"/>
          <p:cNvSpPr/>
          <p:nvPr/>
        </p:nvSpPr>
        <p:spPr>
          <a:xfrm>
            <a:off x="1280160" y="5522976"/>
            <a:ext cx="256032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VERIFICAR (15)</a:t>
            </a:r>
            <a:endParaRPr lang="en-US" sz="1000" dirty="0"/>
          </a:p>
        </p:txBody>
      </p:sp>
      <p:sp>
        <p:nvSpPr>
          <p:cNvPr id="31" name="Text 28"/>
          <p:cNvSpPr/>
          <p:nvPr/>
        </p:nvSpPr>
        <p:spPr>
          <a:xfrm>
            <a:off x="4114800" y="5440680"/>
            <a:ext cx="7400239" cy="493776"/>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Ver el token en el explorador y correr leer-diploma.js: los tres saltos.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B.2 · PASO 1 · EL CONTRATO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EMITIR(): CHECKS, EFFECTS, INTERACTION</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27</a:t>
            </a:r>
            <a:endParaRPr lang="en-US" sz="900" dirty="0"/>
          </a:p>
        </p:txBody>
      </p:sp>
      <p:sp>
        <p:nvSpPr>
          <p:cNvPr id="8" name="Shape 5"/>
          <p:cNvSpPr/>
          <p:nvPr/>
        </p:nvSpPr>
        <p:spPr>
          <a:xfrm>
            <a:off x="566928" y="1691640"/>
            <a:ext cx="7406640" cy="3108960"/>
          </a:xfrm>
          <a:prstGeom prst="rect">
            <a:avLst/>
          </a:prstGeom>
          <a:solidFill>
            <a:srgbClr val="16151B"/>
          </a:solidFill>
          <a:ln w="22225">
            <a:solidFill>
              <a:srgbClr val="16151B"/>
            </a:solidFill>
            <a:prstDash val="solid"/>
          </a:ln>
        </p:spPr>
      </p:sp>
      <p:sp>
        <p:nvSpPr>
          <p:cNvPr id="9" name="Text 6"/>
          <p:cNvSpPr/>
          <p:nvPr/>
        </p:nvSpPr>
        <p:spPr>
          <a:xfrm>
            <a:off x="768096" y="1764792"/>
            <a:ext cx="700430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CONTRACTS/S11/DIPLOMAUSB.SOL · LA SOLUCIÓN</a:t>
            </a:r>
            <a:endParaRPr lang="en-US" sz="850" dirty="0"/>
          </a:p>
        </p:txBody>
      </p:sp>
      <p:sp>
        <p:nvSpPr>
          <p:cNvPr id="10" name="Text 7"/>
          <p:cNvSpPr/>
          <p:nvPr/>
        </p:nvSpPr>
        <p:spPr>
          <a:xfrm>
            <a:off x="768096" y="2075688"/>
            <a:ext cx="7004304" cy="2615184"/>
          </a:xfrm>
          <a:prstGeom prst="rect">
            <a:avLst/>
          </a:prstGeom>
          <a:noFill/>
          <a:ln/>
        </p:spPr>
        <p:txBody>
          <a:bodyPr wrap="square" lIns="0" tIns="0" rIns="0" bIns="0" rtlCol="0" anchor="t"/>
          <a:lstStyle/>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emitir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string</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calldata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uri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external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onlyOwner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bytes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uri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length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URIVacio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checks</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_siguienteId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tope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TopeAlcanzado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tope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_siguienteId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effects</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_setTokenURI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uri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_safeMint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interaction: puede llamar al receptor</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emit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DiplomaEmitido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uri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p:txBody>
      </p:sp>
      <p:sp>
        <p:nvSpPr>
          <p:cNvPr id="11" name="Text 8"/>
          <p:cNvSpPr/>
          <p:nvPr/>
        </p:nvSpPr>
        <p:spPr>
          <a:xfrm>
            <a:off x="8202168" y="1691640"/>
            <a:ext cx="3422599" cy="3108960"/>
          </a:xfrm>
          <a:prstGeom prst="rect">
            <a:avLst/>
          </a:prstGeom>
          <a:noFill/>
          <a:ln/>
        </p:spPr>
        <p:txBody>
          <a:bodyPr wrap="square" lIns="0" tIns="0" rIns="0" bIns="0" rtlCol="0" anchor="t"/>
          <a:lstStyle/>
          <a:p>
            <a:pPr marL="203200" indent="-203200">
              <a:lnSpc>
                <a:spcPct val="118000"/>
              </a:lnSpc>
              <a:spcAft>
                <a:spcPts val="900"/>
              </a:spcAft>
              <a:buSzPct val="100000"/>
              <a:buChar char="■"/>
            </a:pPr>
            <a:r>
              <a:rPr lang="en-US" sz="1200" dirty="0">
                <a:solidFill>
                  <a:srgbClr val="3A3844"/>
                </a:solidFill>
                <a:latin typeface="Arial" pitchFamily="34" charset="0"/>
                <a:ea typeface="Arial" pitchFamily="34" charset="-122"/>
                <a:cs typeface="Arial" pitchFamily="34" charset="-120"/>
              </a:rPr>
              <a:t>Copien andamiaje/s11/DiplomaUSB.sol sobre contracts/s11/.</a:t>
            </a:r>
            <a:endParaRPr lang="en-US" sz="1200" dirty="0"/>
          </a:p>
          <a:p>
            <a:pPr marL="203200" indent="-203200">
              <a:lnSpc>
                <a:spcPct val="118000"/>
              </a:lnSpc>
              <a:spcAft>
                <a:spcPts val="900"/>
              </a:spcAft>
              <a:buSzPct val="100000"/>
              <a:buChar char="■"/>
            </a:pPr>
            <a:r>
              <a:rPr lang="en-US" sz="1200" dirty="0">
                <a:solidFill>
                  <a:srgbClr val="3A3844"/>
                </a:solidFill>
                <a:latin typeface="Arial" pitchFamily="34" charset="0"/>
                <a:ea typeface="Arial" pitchFamily="34" charset="-122"/>
                <a:cs typeface="Arial" pitchFamily="34" charset="-120"/>
              </a:rPr>
              <a:t>Al empezar: 4 pruebas pasan y 7 (las ★) fallan.</a:t>
            </a:r>
            <a:endParaRPr lang="en-US" sz="1200" dirty="0"/>
          </a:p>
          <a:p>
            <a:pPr marL="203200" indent="-203200">
              <a:lnSpc>
                <a:spcPct val="118000"/>
              </a:lnSpc>
              <a:spcAft>
                <a:spcPts val="900"/>
              </a:spcAft>
              <a:buSzPct val="100000"/>
              <a:buChar char="■"/>
            </a:pPr>
            <a:r>
              <a:rPr lang="en-US" sz="1200" dirty="0">
                <a:solidFill>
                  <a:srgbClr val="3A3844"/>
                </a:solidFill>
                <a:latin typeface="Arial" pitchFamily="34" charset="0"/>
                <a:ea typeface="Arial" pitchFamily="34" charset="-122"/>
                <a:cs typeface="Arial" pitchFamily="34" charset="-120"/>
              </a:rPr>
              <a:t>Terminado: 11 passing.</a:t>
            </a:r>
            <a:endParaRPr lang="en-US" sz="1200" dirty="0"/>
          </a:p>
        </p:txBody>
      </p:sp>
      <p:sp>
        <p:nvSpPr>
          <p:cNvPr id="12" name="Shape 9"/>
          <p:cNvSpPr/>
          <p:nvPr/>
        </p:nvSpPr>
        <p:spPr>
          <a:xfrm>
            <a:off x="566928" y="4983480"/>
            <a:ext cx="11057839" cy="502920"/>
          </a:xfrm>
          <a:prstGeom prst="rect">
            <a:avLst/>
          </a:prstGeom>
          <a:solidFill>
            <a:srgbClr val="16151B"/>
          </a:solidFill>
          <a:ln w="22225">
            <a:solidFill>
              <a:srgbClr val="16151B"/>
            </a:solidFill>
            <a:prstDash val="solid"/>
          </a:ln>
        </p:spPr>
      </p:sp>
      <p:sp>
        <p:nvSpPr>
          <p:cNvPr id="13" name="Text 10"/>
          <p:cNvSpPr/>
          <p:nvPr/>
        </p:nvSpPr>
        <p:spPr>
          <a:xfrm>
            <a:off x="768096" y="5129784"/>
            <a:ext cx="10655503" cy="246888"/>
          </a:xfrm>
          <a:prstGeom prst="rect">
            <a:avLst/>
          </a:prstGeom>
          <a:noFill/>
          <a:ln/>
        </p:spPr>
        <p:txBody>
          <a:bodyPr wrap="square" lIns="0" tIns="0" rIns="0" bIns="0" rtlCol="0" anchor="t"/>
          <a:lstStyle/>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s11</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DiplomaUSB</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test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js</a:t>
            </a:r>
            <a:endParaRPr lang="en-US" sz="1200" dirty="0"/>
          </a:p>
        </p:txBody>
      </p:sp>
      <p:sp>
        <p:nvSpPr>
          <p:cNvPr id="14" name="Text 11"/>
          <p:cNvSpPr/>
          <p:nvPr/>
        </p:nvSpPr>
        <p:spPr>
          <a:xfrm>
            <a:off x="566928" y="5623560"/>
            <a:ext cx="11057839" cy="50292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¿Por qué _safeMint va al final? Si el receptor es un contrato, se le llama; el estado ya debe estar escrito (Sesión 9).</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B.3 · PASOS 2 Y 3 · IPFS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PRIMERO LA IMAGEN, DESPUÉS EL JSON</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28</a:t>
            </a:r>
            <a:endParaRPr lang="en-US" sz="900" dirty="0"/>
          </a:p>
        </p:txBody>
      </p:sp>
      <p:sp>
        <p:nvSpPr>
          <p:cNvPr id="8" name="Shape 5"/>
          <p:cNvSpPr/>
          <p:nvPr/>
        </p:nvSpPr>
        <p:spPr>
          <a:xfrm>
            <a:off x="566928" y="1691640"/>
            <a:ext cx="11057839" cy="713232"/>
          </a:xfrm>
          <a:prstGeom prst="rect">
            <a:avLst/>
          </a:prstGeom>
          <a:solidFill>
            <a:srgbClr val="FFFFFF"/>
          </a:solidFill>
          <a:ln w="15875">
            <a:solidFill>
              <a:srgbClr val="D9D6E0"/>
            </a:solidFill>
            <a:prstDash val="solid"/>
          </a:ln>
        </p:spPr>
      </p:sp>
      <p:sp>
        <p:nvSpPr>
          <p:cNvPr id="9" name="Text 6"/>
          <p:cNvSpPr/>
          <p:nvPr/>
        </p:nvSpPr>
        <p:spPr>
          <a:xfrm>
            <a:off x="694944" y="1691640"/>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01952"/>
            <a:ext cx="21945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SUBIR LA IMAGEN</a:t>
            </a:r>
            <a:endParaRPr lang="en-US" sz="1000" dirty="0"/>
          </a:p>
        </p:txBody>
      </p:sp>
      <p:sp>
        <p:nvSpPr>
          <p:cNvPr id="11" name="Text 8"/>
          <p:cNvSpPr/>
          <p:nvPr/>
        </p:nvSpPr>
        <p:spPr>
          <a:xfrm>
            <a:off x="3749040" y="1783080"/>
            <a:ext cx="776599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Pinata → Upload → File, red PÚBLICA. Un PNG de prueba, sin fotos ni datos de nadie.</a:t>
            </a:r>
            <a:endParaRPr lang="en-US" sz="1200" dirty="0"/>
          </a:p>
        </p:txBody>
      </p:sp>
      <p:sp>
        <p:nvSpPr>
          <p:cNvPr id="12" name="Shape 9"/>
          <p:cNvSpPr/>
          <p:nvPr/>
        </p:nvSpPr>
        <p:spPr>
          <a:xfrm>
            <a:off x="566928" y="2514600"/>
            <a:ext cx="11057839" cy="713232"/>
          </a:xfrm>
          <a:prstGeom prst="rect">
            <a:avLst/>
          </a:prstGeom>
          <a:solidFill>
            <a:srgbClr val="FAF9FB"/>
          </a:solidFill>
          <a:ln w="15875">
            <a:solidFill>
              <a:srgbClr val="D9D6E0"/>
            </a:solidFill>
            <a:prstDash val="solid"/>
          </a:ln>
        </p:spPr>
      </p:sp>
      <p:sp>
        <p:nvSpPr>
          <p:cNvPr id="13" name="Text 10"/>
          <p:cNvSpPr/>
          <p:nvPr/>
        </p:nvSpPr>
        <p:spPr>
          <a:xfrm>
            <a:off x="694944" y="2514600"/>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724912"/>
            <a:ext cx="21945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COPIAR SU CID</a:t>
            </a:r>
            <a:endParaRPr lang="en-US" sz="1000" dirty="0"/>
          </a:p>
        </p:txBody>
      </p:sp>
      <p:sp>
        <p:nvSpPr>
          <p:cNvPr id="15" name="Text 12"/>
          <p:cNvSpPr/>
          <p:nvPr/>
        </p:nvSpPr>
        <p:spPr>
          <a:xfrm>
            <a:off x="3749040" y="2606040"/>
            <a:ext cx="776599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Algo como bafybei… o bafkrei…. Ábranlo en https://gateway.pinata.cloud/ipfs/&lt;CID&gt;.</a:t>
            </a:r>
            <a:endParaRPr lang="en-US" sz="1200" dirty="0"/>
          </a:p>
        </p:txBody>
      </p:sp>
      <p:sp>
        <p:nvSpPr>
          <p:cNvPr id="16" name="Shape 13"/>
          <p:cNvSpPr/>
          <p:nvPr/>
        </p:nvSpPr>
        <p:spPr>
          <a:xfrm>
            <a:off x="566928" y="3337560"/>
            <a:ext cx="11057839" cy="713232"/>
          </a:xfrm>
          <a:prstGeom prst="rect">
            <a:avLst/>
          </a:prstGeom>
          <a:solidFill>
            <a:srgbClr val="FFFFFF"/>
          </a:solidFill>
          <a:ln w="15875">
            <a:solidFill>
              <a:srgbClr val="D9D6E0"/>
            </a:solidFill>
            <a:prstDash val="solid"/>
          </a:ln>
        </p:spPr>
      </p:sp>
      <p:sp>
        <p:nvSpPr>
          <p:cNvPr id="17" name="Text 14"/>
          <p:cNvSpPr/>
          <p:nvPr/>
        </p:nvSpPr>
        <p:spPr>
          <a:xfrm>
            <a:off x="694944" y="3337560"/>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547872"/>
            <a:ext cx="21945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ESCRIBIR EL JSON</a:t>
            </a:r>
            <a:endParaRPr lang="en-US" sz="1000" dirty="0"/>
          </a:p>
        </p:txBody>
      </p:sp>
      <p:sp>
        <p:nvSpPr>
          <p:cNvPr id="19" name="Text 16"/>
          <p:cNvSpPr/>
          <p:nvPr/>
        </p:nvSpPr>
        <p:spPr>
          <a:xfrm>
            <a:off x="3749040" y="3429000"/>
            <a:ext cx="776599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El de A.7, con "image": "ipfs://&lt;CID de la imagen&gt;". Guardarlo como diploma.json.</a:t>
            </a:r>
            <a:endParaRPr lang="en-US" sz="1200" dirty="0"/>
          </a:p>
        </p:txBody>
      </p:sp>
      <p:sp>
        <p:nvSpPr>
          <p:cNvPr id="20" name="Shape 17"/>
          <p:cNvSpPr/>
          <p:nvPr/>
        </p:nvSpPr>
        <p:spPr>
          <a:xfrm>
            <a:off x="566928" y="4160520"/>
            <a:ext cx="11057839" cy="713232"/>
          </a:xfrm>
          <a:prstGeom prst="rect">
            <a:avLst/>
          </a:prstGeom>
          <a:solidFill>
            <a:srgbClr val="FAF9FB"/>
          </a:solidFill>
          <a:ln w="15875">
            <a:solidFill>
              <a:srgbClr val="D9D6E0"/>
            </a:solidFill>
            <a:prstDash val="solid"/>
          </a:ln>
        </p:spPr>
      </p:sp>
      <p:sp>
        <p:nvSpPr>
          <p:cNvPr id="21" name="Text 18"/>
          <p:cNvSpPr/>
          <p:nvPr/>
        </p:nvSpPr>
        <p:spPr>
          <a:xfrm>
            <a:off x="694944" y="4160520"/>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370832"/>
            <a:ext cx="219456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SUBIR EL JSON</a:t>
            </a:r>
            <a:endParaRPr lang="en-US" sz="1000" dirty="0"/>
          </a:p>
        </p:txBody>
      </p:sp>
      <p:sp>
        <p:nvSpPr>
          <p:cNvPr id="23" name="Text 20"/>
          <p:cNvSpPr/>
          <p:nvPr/>
        </p:nvSpPr>
        <p:spPr>
          <a:xfrm>
            <a:off x="3749040" y="4251960"/>
            <a:ext cx="7765999" cy="566928"/>
          </a:xfrm>
          <a:prstGeom prst="rect">
            <a:avLst/>
          </a:prstGeom>
          <a:noFill/>
          <a:ln/>
        </p:spPr>
        <p:txBody>
          <a:bodyPr wrap="square" lIns="0" tIns="0" rIns="0" bIns="0" rtlCol="0" anchor="ctr"/>
          <a:lstStyle/>
          <a:p>
            <a:pPr indent="0" marL="0">
              <a:lnSpc>
                <a:spcPct val="115000"/>
              </a:lnSpc>
              <a:buNone/>
            </a:pPr>
            <a:r>
              <a:rPr lang="en-US" sz="1200" dirty="0">
                <a:solidFill>
                  <a:srgbClr val="3A3844"/>
                </a:solidFill>
                <a:latin typeface="Arial" pitchFamily="34" charset="0"/>
                <a:ea typeface="Arial" pitchFamily="34" charset="-122"/>
                <a:cs typeface="Arial" pitchFamily="34" charset="-120"/>
              </a:rPr>
              <a:t>Mismo procedimiento. Su CID es el tokenURI: ipfs://&lt;CID del JSON&gt;.</a:t>
            </a:r>
            <a:endParaRPr lang="en-US" sz="1200" dirty="0"/>
          </a:p>
        </p:txBody>
      </p:sp>
      <p:sp>
        <p:nvSpPr>
          <p:cNvPr id="24" name="Shape 21"/>
          <p:cNvSpPr/>
          <p:nvPr/>
        </p:nvSpPr>
        <p:spPr>
          <a:xfrm>
            <a:off x="566928" y="4983480"/>
            <a:ext cx="11057839" cy="11430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25" name="Image 1" descr="preencoded.png">    </p:cNvPr>
          <p:cNvPicPr>
            <a:picLocks noChangeAspect="1"/>
          </p:cNvPicPr>
          <p:nvPr/>
        </p:nvPicPr>
        <p:blipFill>
          <a:blip r:embed="rId2"/>
          <a:stretch>
            <a:fillRect/>
          </a:stretch>
        </p:blipFill>
        <p:spPr>
          <a:xfrm>
            <a:off x="804672" y="5202936"/>
            <a:ext cx="237744" cy="237744"/>
          </a:xfrm>
          <a:prstGeom prst="rect">
            <a:avLst/>
          </a:prstGeom>
        </p:spPr>
      </p:pic>
      <p:sp>
        <p:nvSpPr>
          <p:cNvPr id="26" name="Text 22"/>
          <p:cNvSpPr/>
          <p:nvPr/>
        </p:nvSpPr>
        <p:spPr>
          <a:xfrm>
            <a:off x="1133856" y="517550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CÓMO SABER QUE TERMINÓ ESTE PASO</a:t>
            </a:r>
            <a:endParaRPr lang="en-US" sz="950" dirty="0"/>
          </a:p>
        </p:txBody>
      </p:sp>
      <p:sp>
        <p:nvSpPr>
          <p:cNvPr id="27" name="Text 23"/>
          <p:cNvSpPr/>
          <p:nvPr/>
        </p:nvSpPr>
        <p:spPr>
          <a:xfrm>
            <a:off x="804672" y="5495544"/>
            <a:ext cx="10582351" cy="5394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URL de la puerta con el CID del JSON muestra el JSON, y dentro, el enlace de la imagen abre la imagen. Si una puerta da 429 o tarda, prueben otra. Si NINGUNA lo encuentra, casi siempre lo subieron como privado.</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B.4 · PASOS 4 Y 5 · DESPLEGAR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ENSAYO LOCAL, Y DESPUÉS SEPOLIA</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sp>
        <p:nvSpPr>
          <p:cNvPr id="8" name="Shape 5"/>
          <p:cNvSpPr/>
          <p:nvPr/>
        </p:nvSpPr>
        <p:spPr>
          <a:xfrm>
            <a:off x="566928" y="1691640"/>
            <a:ext cx="11057839" cy="2103120"/>
          </a:xfrm>
          <a:prstGeom prst="rect">
            <a:avLst/>
          </a:prstGeom>
          <a:solidFill>
            <a:srgbClr val="16151B"/>
          </a:solidFill>
          <a:ln w="22225">
            <a:solidFill>
              <a:srgbClr val="16151B"/>
            </a:solidFill>
            <a:prstDash val="solid"/>
          </a:ln>
        </p:spPr>
      </p:sp>
      <p:sp>
        <p:nvSpPr>
          <p:cNvPr id="9" name="Text 6"/>
          <p:cNvSpPr/>
          <p:nvPr/>
        </p:nvSpPr>
        <p:spPr>
          <a:xfrm>
            <a:off x="768096" y="1837944"/>
            <a:ext cx="10655503" cy="1847088"/>
          </a:xfrm>
          <a:prstGeom prst="rect">
            <a:avLst/>
          </a:prstGeom>
          <a:noFill/>
          <a:ln/>
        </p:spPr>
        <p:txBody>
          <a:bodyPr wrap="square" lIns="0" tIns="0" rIns="0" bIns="0" rtlCol="0" anchor="t"/>
          <a:lstStyle/>
          <a:p>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ensayo en la red local: no gasta nada</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deploy</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modules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s11</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DiplomaUSB</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js</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Sepolia, con SU archivo de parámetros (tope, destinatario, tokenURI)</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npx</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hardhat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deploy</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modules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s11</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DiplomaUSB</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js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network</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sepolia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parameters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ignition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parametros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diploma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sepolia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json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verify</a:t>
            </a:r>
            <a:endParaRPr lang="en-US" sz="1050" dirty="0"/>
          </a:p>
        </p:txBody>
      </p:sp>
      <p:sp>
        <p:nvSpPr>
          <p:cNvPr id="10" name="Shape 7"/>
          <p:cNvSpPr/>
          <p:nvPr/>
        </p:nvSpPr>
        <p:spPr>
          <a:xfrm>
            <a:off x="566928" y="3931920"/>
            <a:ext cx="11057839" cy="868680"/>
          </a:xfrm>
          <a:prstGeom prst="rect">
            <a:avLst/>
          </a:prstGeom>
          <a:solidFill>
            <a:srgbClr val="16151B"/>
          </a:solidFill>
          <a:ln w="22225">
            <a:solidFill>
              <a:srgbClr val="16151B"/>
            </a:solidFill>
            <a:prstDash val="solid"/>
          </a:ln>
        </p:spPr>
      </p:sp>
      <p:sp>
        <p:nvSpPr>
          <p:cNvPr id="11" name="Text 8"/>
          <p:cNvSpPr/>
          <p:nvPr/>
        </p:nvSpPr>
        <p:spPr>
          <a:xfrm>
            <a:off x="768096" y="4005072"/>
            <a:ext cx="10655503"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SALIDA ESPERADA DEL ENSAYO LOCAL (DIRECCIÓN REAL)</a:t>
            </a:r>
            <a:endParaRPr lang="en-US" sz="850" dirty="0"/>
          </a:p>
        </p:txBody>
      </p:sp>
      <p:sp>
        <p:nvSpPr>
          <p:cNvPr id="12" name="Text 9"/>
          <p:cNvSpPr/>
          <p:nvPr/>
        </p:nvSpPr>
        <p:spPr>
          <a:xfrm>
            <a:off x="768096" y="4315968"/>
            <a:ext cx="10655503" cy="374904"/>
          </a:xfrm>
          <a:prstGeom prst="rect">
            <a:avLst/>
          </a:prstGeom>
          <a:noFill/>
          <a:ln/>
        </p:spPr>
        <p:txBody>
          <a:bodyPr wrap="square" lIns="0" tIns="0" rIns="0" bIns="0" rtlCol="0" anchor="t"/>
          <a:lstStyle/>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DiplomaModulo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successfully</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deployed</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DiplomaModulo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DiplomaUSB</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x5FbDB2315678afecb367f032d93F642f64180aa3</a:t>
            </a:r>
            <a:endParaRPr lang="en-US" sz="1050" dirty="0"/>
          </a:p>
        </p:txBody>
      </p:sp>
      <p:sp>
        <p:nvSpPr>
          <p:cNvPr id="13" name="Shape 10"/>
          <p:cNvSpPr/>
          <p:nvPr/>
        </p:nvSpPr>
        <p:spPr>
          <a:xfrm>
            <a:off x="566928" y="4983480"/>
            <a:ext cx="11057839" cy="114300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pic>
        <p:nvPicPr>
          <p:cNvPr id="14" name="Image 1" descr="preencoded.png">    </p:cNvPr>
          <p:cNvPicPr>
            <a:picLocks noChangeAspect="1"/>
          </p:cNvPicPr>
          <p:nvPr/>
        </p:nvPicPr>
        <p:blipFill>
          <a:blip r:embed="rId2"/>
          <a:stretch>
            <a:fillRect/>
          </a:stretch>
        </p:blipFill>
        <p:spPr>
          <a:xfrm>
            <a:off x="804672" y="5202936"/>
            <a:ext cx="237744" cy="237744"/>
          </a:xfrm>
          <a:prstGeom prst="rect">
            <a:avLst/>
          </a:prstGeom>
        </p:spPr>
      </p:pic>
      <p:sp>
        <p:nvSpPr>
          <p:cNvPr id="15" name="Text 11"/>
          <p:cNvSpPr/>
          <p:nvPr/>
        </p:nvSpPr>
        <p:spPr>
          <a:xfrm>
            <a:off x="1133856" y="5175504"/>
            <a:ext cx="10234879" cy="292608"/>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CLAVES SOLO EN EL KEYSTORE</a:t>
            </a:r>
            <a:endParaRPr lang="en-US" sz="950" dirty="0"/>
          </a:p>
        </p:txBody>
      </p:sp>
      <p:sp>
        <p:nvSpPr>
          <p:cNvPr id="16" name="Text 12"/>
          <p:cNvSpPr/>
          <p:nvPr/>
        </p:nvSpPr>
        <p:spPr>
          <a:xfrm>
            <a:off x="804672" y="5495544"/>
            <a:ext cx="10582351" cy="5394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SEPOLIA_RPC_URL, SEPOLIA_PRIVATE_KEY y ETHERSCAN_API_KEY van con npx hardhat keystore set. Nunca en el JSON de parámetros ni en Git: ese archivo solo lleva el tope, SU dirección pública y el tokenURI.</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B.5 · PASO 6 · ¿DÓNDE SE VE?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NO HAY MARKETPLACE OFICIAL DE TESTNET</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30</a:t>
            </a:r>
            <a:endParaRPr lang="en-US" sz="900" dirty="0"/>
          </a:p>
        </p:txBody>
      </p:sp>
      <p:sp>
        <p:nvSpPr>
          <p:cNvPr id="8" name="Text 5"/>
          <p:cNvSpPr/>
          <p:nvPr/>
        </p:nvSpPr>
        <p:spPr>
          <a:xfrm>
            <a:off x="566928" y="1691640"/>
            <a:ext cx="11057839" cy="91440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El plan original decía «verlo en el marketplace de prueba». Lo verificamos antes de clase: OpenSea cerró su sitio de redes de prueba en julio de 2025 (testnets.opensea.io hoy redirige a un aviso de despedida). La evidencia será otra, y mejor:</a:t>
            </a:r>
            <a:endParaRPr lang="en-US" sz="13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2743200"/>
          <a:ext cx="11057839" cy="914400"/>
        </p:xfrm>
        <a:graphic>
          <a:graphicData uri="http://schemas.openxmlformats.org/drawingml/2006/table">
            <a:tbl>
              <a:tblPr/>
              <a:tblGrid>
                <a:gridCol w="4754880"/>
                <a:gridCol w="63029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DÓNDE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MUESTRA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7378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sepolia.etherscan.io/nft/&lt;contrato&gt;/&lt;id&gt;</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token ERC-721, su dueño, su historial y la metadata que logre resolver.</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378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eth-sepolia.blockscout.com/token/&lt;contrato&gt;/instance/&lt;id&gt;</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Explorador abierto: resuelve el JSON y muestra imagen y atributos.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378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npx hardhat run scripts/s11/leer-diploma.js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Los tres saltos, uno por uno: cadena → JSON → imagen, con el sha256.</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3786">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testnet.rarible.com (opcional)</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Sigue en línea y lista colecciones de Sepolia; indexar la suya no depende de ustedes.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724912"/>
            <a:ext cx="11094415" cy="2642616"/>
          </a:xfrm>
          <a:prstGeom prst="rect">
            <a:avLst/>
          </a:prstGeom>
          <a:ln w="22225">
            <a:solidFill>
              <a:srgbClr val="0F0F11"/>
            </a:solidFill>
            <a:prstDash val="solid"/>
          </a:ln>
        </p:spPr>
      </p:sp>
      <p:sp>
        <p:nvSpPr>
          <p:cNvPr id="11" name="Text 7"/>
          <p:cNvSpPr/>
          <p:nvPr/>
        </p:nvSpPr>
        <p:spPr>
          <a:xfrm>
            <a:off x="566928" y="5486400"/>
            <a:ext cx="11057839" cy="640080"/>
          </a:xfrm>
          <a:prstGeom prst="rect">
            <a:avLst/>
          </a:prstGeom>
          <a:noFill/>
          <a:ln/>
        </p:spPr>
        <p:txBody>
          <a:bodyPr wrap="square" lIns="0" tIns="0" rIns="0" bIns="0" rtlCol="0" anchor="t"/>
          <a:lstStyle/>
          <a:p>
            <a:pPr indent="0" marL="0">
              <a:lnSpc>
                <a:spcPct val="124000"/>
              </a:lnSpc>
              <a:buNone/>
            </a:pPr>
            <a:r>
              <a:rPr lang="en-US" sz="1250" dirty="0">
                <a:solidFill>
                  <a:srgbClr val="A35604"/>
                </a:solidFill>
                <a:latin typeface="Arial" pitchFamily="34" charset="0"/>
                <a:ea typeface="Arial" pitchFamily="34" charset="-122"/>
                <a:cs typeface="Arial" pitchFamily="34" charset="-120"/>
              </a:rPr>
              <a:t>Un marketplace solo hace los tres saltos por ustedes. El script los hace a la vista: eso vale más como evidencia.</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B.6 · SALIDA ESPERADA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ASÍ SE VEN LOS TRES SALTOS RESUELTOS</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31</a:t>
            </a:r>
            <a:endParaRPr lang="en-US" sz="900" dirty="0"/>
          </a:p>
        </p:txBody>
      </p:sp>
      <p:sp>
        <p:nvSpPr>
          <p:cNvPr id="8" name="Shape 5"/>
          <p:cNvSpPr/>
          <p:nvPr/>
        </p:nvSpPr>
        <p:spPr>
          <a:xfrm>
            <a:off x="566928" y="1691640"/>
            <a:ext cx="6949440" cy="4434840"/>
          </a:xfrm>
          <a:prstGeom prst="rect">
            <a:avLst/>
          </a:prstGeom>
          <a:solidFill>
            <a:srgbClr val="16151B"/>
          </a:solidFill>
          <a:ln w="22225">
            <a:solidFill>
              <a:srgbClr val="16151B"/>
            </a:solidFill>
            <a:prstDash val="solid"/>
          </a:ln>
        </p:spPr>
      </p:sp>
      <p:sp>
        <p:nvSpPr>
          <p:cNvPr id="9" name="Text 6"/>
          <p:cNvSpPr/>
          <p:nvPr/>
        </p:nvSpPr>
        <p:spPr>
          <a:xfrm>
            <a:off x="768096" y="1764792"/>
            <a:ext cx="654710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SCRIPTS/S11/LEER-DIPLOMA.JS</a:t>
            </a:r>
            <a:endParaRPr lang="en-US" sz="850" dirty="0"/>
          </a:p>
        </p:txBody>
      </p:sp>
      <p:sp>
        <p:nvSpPr>
          <p:cNvPr id="10" name="Text 7"/>
          <p:cNvSpPr/>
          <p:nvPr/>
        </p:nvSpPr>
        <p:spPr>
          <a:xfrm>
            <a:off x="768096" y="2075688"/>
            <a:ext cx="6547104" cy="3941064"/>
          </a:xfrm>
          <a:prstGeom prst="rect">
            <a:avLst/>
          </a:prstGeom>
          <a:noFill/>
          <a:ln/>
        </p:spPr>
        <p:txBody>
          <a:bodyPr wrap="square" lIns="0" tIns="0" rIns="0" bIns="0" rtlCol="0" anchor="t"/>
          <a:lstStyle/>
          <a:p>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CADENA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sepolia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contrato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x</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Diploma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USB</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due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ñ</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x</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su</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direcci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ó</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tokenURI</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ipfs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//bafkrei…</a:t>
            </a:r>
            <a:endParaRPr lang="en-US" sz="1050" dirty="0"/>
          </a:p>
          <a:p>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2</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METADATA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JSON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resuelto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https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//gateway.pinata.cloud/ipfs/bafkrei…</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name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Diploma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prueba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Laboratorio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11</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rasgo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Programa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Ingenier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í</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Sistemas</a:t>
            </a:r>
            <a:endParaRPr lang="en-US" sz="1050" dirty="0"/>
          </a:p>
          <a:p>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3</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ARCHIVO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imagen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tama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ñ</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48.213</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bytes</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sha256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x9d1b</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Los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tres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saltos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resolvieron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Guarden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esta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salida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como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evidencia</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p:txBody>
      </p:sp>
      <p:sp>
        <p:nvSpPr>
          <p:cNvPr id="11" name="Text 8"/>
          <p:cNvSpPr/>
          <p:nvPr/>
        </p:nvSpPr>
        <p:spPr>
          <a:xfrm>
            <a:off x="7744968" y="1691640"/>
            <a:ext cx="3879799" cy="4434840"/>
          </a:xfrm>
          <a:prstGeom prst="rect">
            <a:avLst/>
          </a:prstGeom>
          <a:noFill/>
          <a:ln/>
        </p:spPr>
        <p:txBody>
          <a:bodyPr wrap="square" lIns="0" tIns="0" rIns="0" bIns="0" rtlCol="0" anchor="t"/>
          <a:lstStyle/>
          <a:p>
            <a:pPr marL="203200" indent="-203200">
              <a:lnSpc>
                <a:spcPct val="118000"/>
              </a:lnSpc>
              <a:spcAft>
                <a:spcPts val="900"/>
              </a:spcAft>
              <a:buSzPct val="100000"/>
              <a:buChar char="■"/>
            </a:pPr>
            <a:r>
              <a:rPr lang="en-US" sz="1200" dirty="0">
                <a:solidFill>
                  <a:srgbClr val="3A3844"/>
                </a:solidFill>
                <a:latin typeface="Arial" pitchFamily="34" charset="0"/>
                <a:ea typeface="Arial" pitchFamily="34" charset="-122"/>
                <a:cs typeface="Arial" pitchFamily="34" charset="-120"/>
              </a:rPr>
              <a:t>Si falla el salto 1: dirección o red equivocada.</a:t>
            </a:r>
            <a:endParaRPr lang="en-US" sz="1200" dirty="0"/>
          </a:p>
          <a:p>
            <a:pPr marL="203200" indent="-203200">
              <a:lnSpc>
                <a:spcPct val="118000"/>
              </a:lnSpc>
              <a:spcAft>
                <a:spcPts val="900"/>
              </a:spcAft>
              <a:buSzPct val="100000"/>
              <a:buChar char="■"/>
            </a:pPr>
            <a:r>
              <a:rPr lang="en-US" sz="1200" dirty="0">
                <a:solidFill>
                  <a:srgbClr val="3A3844"/>
                </a:solidFill>
                <a:latin typeface="Arial" pitchFamily="34" charset="0"/>
                <a:ea typeface="Arial" pitchFamily="34" charset="-122"/>
                <a:cs typeface="Arial" pitchFamily="34" charset="-120"/>
              </a:rPr>
              <a:t>Si falla el 2: CID mal copiado, o subido como privado.</a:t>
            </a:r>
            <a:endParaRPr lang="en-US" sz="1200" dirty="0"/>
          </a:p>
          <a:p>
            <a:pPr marL="203200" indent="-203200">
              <a:lnSpc>
                <a:spcPct val="118000"/>
              </a:lnSpc>
              <a:spcAft>
                <a:spcPts val="900"/>
              </a:spcAft>
              <a:buSzPct val="100000"/>
              <a:buChar char="■"/>
            </a:pPr>
            <a:r>
              <a:rPr lang="en-US" sz="1200" dirty="0">
                <a:solidFill>
                  <a:srgbClr val="3A3844"/>
                </a:solidFill>
                <a:latin typeface="Arial" pitchFamily="34" charset="0"/>
                <a:ea typeface="Arial" pitchFamily="34" charset="-122"/>
                <a:cs typeface="Arial" pitchFamily="34" charset="-120"/>
              </a:rPr>
              <a:t>Si falla el 3: el "image" del JSON no empieza por ipfs:// o el CID está mal.</a:t>
            </a:r>
            <a:endParaRPr lang="en-US" sz="1200" dirty="0"/>
          </a:p>
          <a:p>
            <a:pPr marL="203200" indent="-203200">
              <a:lnSpc>
                <a:spcPct val="118000"/>
              </a:lnSpc>
              <a:spcAft>
                <a:spcPts val="900"/>
              </a:spcAft>
              <a:buSzPct val="100000"/>
              <a:buChar char="■"/>
            </a:pPr>
            <a:r>
              <a:rPr lang="en-US" sz="1200" dirty="0">
                <a:solidFill>
                  <a:srgbClr val="3A3844"/>
                </a:solidFill>
                <a:latin typeface="Arial" pitchFamily="34" charset="0"/>
                <a:ea typeface="Arial" pitchFamily="34" charset="-122"/>
                <a:cs typeface="Arial" pitchFamily="34" charset="-120"/>
              </a:rPr>
              <a:t>Si una puerta da 429, el script prueba la siguiente.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B.7 · LO QUE MÁS FALLA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ERRORES COMUNES DEL LABORATORIO 11</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3657600"/>
                <a:gridCol w="74002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SÍNTOMA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CAUSA Y ARREGLO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873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Las puertas IPFS no encuentran el CID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Subieron como PRIVADO en Pinata. Vuelvan a subir como público.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873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El explorador muestra el token sin imagen</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"image" apunta a https o a un CID mal copiado; o el explorador aún no lo indexa: esperen y usen el script.</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873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TopeAlcanzado al emitir</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El tope del JSON de parámetros es menor que los diplomas emitidos.</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873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OwnableUnauthorizedAccount</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Emiten desde una cuenta que no desplegó el contrato.</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873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HHE… «config variable not found»</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Falta cargar una clave con npx hardhat keystore set.</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87324">
                <a:tc>
                  <a:txBody>
                    <a:bodyPr/>
                    <a:lstStyle/>
                    <a:p>
                      <a:pPr indent="0" marL="0">
                        <a:buNone/>
                      </a:pPr>
                      <a:r>
                        <a:rPr lang="en-US" sz="1100" b="1" dirty="0">
                          <a:solidFill>
                            <a:srgbClr val="0F0F11"/>
                          </a:solidFill>
                          <a:latin typeface="Courier New" pitchFamily="34" charset="0"/>
                          <a:ea typeface="Courier New" pitchFamily="34" charset="-122"/>
                          <a:cs typeface="Courier New" pitchFamily="34" charset="-120"/>
                        </a:rPr>
                        <a:t>insufficient funds for gas</a:t>
                      </a:r>
                      <a:endParaRPr lang="en-US" sz="11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00" dirty="0">
                          <a:solidFill>
                            <a:srgbClr val="3A3844"/>
                          </a:solidFill>
                          <a:latin typeface="Arial" pitchFamily="34" charset="0"/>
                          <a:ea typeface="Arial" pitchFamily="34" charset="-122"/>
                          <a:cs typeface="Arial" pitchFamily="34" charset="-120"/>
                        </a:rPr>
                        <a:t>Sin ETH de Sepolia: pidan a la reserva del docente.</a:t>
                      </a:r>
                      <a:endParaRPr lang="en-US" sz="11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673352"/>
            <a:ext cx="11094415" cy="4471416"/>
          </a:xfrm>
          <a:prstGeom prst="rect">
            <a:avLst/>
          </a:prstGeom>
          <a:ln w="22225">
            <a:solidFill>
              <a:srgbClr val="0F0F11"/>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B.8 · CÓMO SABER QUE TERMINÓ · QUÉ SE ENTREGA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EVIDENCIA DEL LABORATORIO 11</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33</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377440"/>
                <a:gridCol w="7217359"/>
                <a:gridCol w="1463040"/>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EVIDENCIA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DETALLE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PESO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57790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Pruebas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Captura de 11 passing en test/s11/DiplomaUSB.test.js con SU contrato.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20 %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790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CIDs en IPFS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CID de la imagen y del JSON; ambos abren en una puerta pública.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20 %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790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Contrato en Sepolia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Dirección verificada y hash de la transacción de emitir.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25 %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57790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Los tres saltos</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Salida de leer-diploma.js y captura del token en un explorador.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20 %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577901">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Reflexión</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Respuestas de la guía (permanencia, CID raw vs CID de Pinata, SBT).</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15 %</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673352"/>
            <a:ext cx="11094415" cy="3236976"/>
          </a:xfrm>
          <a:prstGeom prst="rect">
            <a:avLst/>
          </a:prstGeom>
          <a:ln w="22225">
            <a:solidFill>
              <a:srgbClr val="0F0F11"/>
            </a:solidFill>
            <a:prstDash val="solid"/>
          </a:ln>
        </p:spPr>
      </p:sp>
      <p:sp>
        <p:nvSpPr>
          <p:cNvPr id="10" name="Shape 6"/>
          <p:cNvSpPr/>
          <p:nvPr/>
        </p:nvSpPr>
        <p:spPr>
          <a:xfrm>
            <a:off x="566928" y="5074920"/>
            <a:ext cx="11057839" cy="105156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2" name="Text 7"/>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DÓNDE ESTÁ TODO</a:t>
            </a:r>
            <a:endParaRPr lang="en-US" sz="950" dirty="0"/>
          </a:p>
        </p:txBody>
      </p:sp>
      <p:sp>
        <p:nvSpPr>
          <p:cNvPr id="13" name="Text 8"/>
          <p:cNvSpPr/>
          <p:nvPr/>
        </p:nvSpPr>
        <p:spPr>
          <a:xfrm>
            <a:off x="804672" y="5586984"/>
            <a:ext cx="10582351" cy="4480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Guía paso a paso: laboratorios-evm/guias/s11-diploma-nft-ipfs.pdf. Reto opcional: DiplomaSBT (bloque C). Sin evidencia en cadena, el laboratorio no se califica.</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C</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APROXIMADAMENTE 25 MINUTOS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CASO USB · EL DIPLOMA</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La universidad quiere emitir diplomas verificables en cadena. Tres modelos técnicos, una ley de datos personales, y ninguna respuesta gratis.</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SESIÓN 11 · NFT, ERC-721/1155 E IPFS</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C.1 · EL DEBATE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TRES FORMAS DE MODELAR EL MISMO DIPLOMA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35</a:t>
            </a:r>
            <a:endParaRPr lang="en-US"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651760"/>
                <a:gridCol w="4023360"/>
                <a:gridCol w="43827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MODELO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A FAVOR</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EN CONTRA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8869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ERC-721 transferible</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Estándar, simple; cualquier explorador lo muestra.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Un título se podría vender o regalar: el dueño del token no es el graduado.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8869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ERC-1155 (un id por programa)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Barato para cohortes grandes; un id = «Sistemas 2026».</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Las copias son idénticas: no distingue a una persona de otra del mismo programa.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88696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SBT · ERC-5192</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 se transfiere: el token queda atado a la cuenta del graduado.</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Pierde la billetera, pierde el diploma; la universidad conserva poder de revocar.</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673352"/>
            <a:ext cx="11094415" cy="3008376"/>
          </a:xfrm>
          <a:prstGeom prst="rect">
            <a:avLst/>
          </a:prstGeom>
          <a:ln w="22225">
            <a:solidFill>
              <a:srgbClr val="0F0F11"/>
            </a:solidFill>
            <a:prstDash val="solid"/>
          </a:ln>
        </p:spPr>
      </p:sp>
      <p:sp>
        <p:nvSpPr>
          <p:cNvPr id="10" name="Shape 6"/>
          <p:cNvSpPr/>
          <p:nvPr/>
        </p:nvSpPr>
        <p:spPr>
          <a:xfrm>
            <a:off x="566928" y="4846320"/>
            <a:ext cx="11057839" cy="128016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pic>
        <p:nvPicPr>
          <p:cNvPr id="11" name="Image 1" descr="preencoded.png">    </p:cNvPr>
          <p:cNvPicPr>
            <a:picLocks noChangeAspect="1"/>
          </p:cNvPicPr>
          <p:nvPr/>
        </p:nvPicPr>
        <p:blipFill>
          <a:blip r:embed="rId2"/>
          <a:stretch>
            <a:fillRect/>
          </a:stretch>
        </p:blipFill>
        <p:spPr>
          <a:xfrm>
            <a:off x="804672" y="5065776"/>
            <a:ext cx="237744" cy="237744"/>
          </a:xfrm>
          <a:prstGeom prst="rect">
            <a:avLst/>
          </a:prstGeom>
        </p:spPr>
      </p:pic>
      <p:sp>
        <p:nvSpPr>
          <p:cNvPr id="12" name="Text 7"/>
          <p:cNvSpPr/>
          <p:nvPr/>
        </p:nvSpPr>
        <p:spPr>
          <a:xfrm>
            <a:off x="1133856" y="5038344"/>
            <a:ext cx="10234879" cy="292608"/>
          </a:xfrm>
          <a:prstGeom prst="rect">
            <a:avLst/>
          </a:prstGeom>
          <a:noFill/>
          <a:ln/>
        </p:spPr>
        <p:txBody>
          <a:bodyPr wrap="square" lIns="0" tIns="0" rIns="0" bIns="0" rtlCol="0" anchor="ctr"/>
          <a:lstStyle/>
          <a:p>
            <a:pPr indent="0" marL="0">
              <a:buNone/>
            </a:pPr>
            <a:r>
              <a:rPr lang="en-US" sz="950" b="1" spc="150" kern="0" dirty="0">
                <a:solidFill>
                  <a:srgbClr val="5638C9"/>
                </a:solidFill>
                <a:latin typeface="Courier New" pitchFamily="34" charset="0"/>
                <a:ea typeface="Courier New" pitchFamily="34" charset="-122"/>
                <a:cs typeface="Courier New" pitchFamily="34" charset="-120"/>
              </a:rPr>
              <a:t>ERC-5192 EN UNA LÍNEA</a:t>
            </a:r>
            <a:endParaRPr lang="en-US" sz="950" dirty="0"/>
          </a:p>
        </p:txBody>
      </p:sp>
      <p:sp>
        <p:nvSpPr>
          <p:cNvPr id="13" name="Text 8"/>
          <p:cNvSpPr/>
          <p:nvPr/>
        </p:nvSpPr>
        <p:spPr>
          <a:xfrm>
            <a:off x="804672" y="5358384"/>
            <a:ext cx="10582351" cy="67665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Estándar Final: añade locked(tokenId) y los eventos Locked/Unlocked a un ERC-721. Si locked devuelve true, TODA función que mueva el token entre cuentas debe revertir. Interfaz ERC-165: 0xb45a3c0e.</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C.2 · EL SBT, EN CÓDIGO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UN IF EN _UPDATE BLOQUEA LA TRANSFERENCIA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36</a:t>
            </a:r>
            <a:endParaRPr lang="en-US" sz="900" dirty="0"/>
          </a:p>
        </p:txBody>
      </p:sp>
      <p:sp>
        <p:nvSpPr>
          <p:cNvPr id="8" name="Shape 5"/>
          <p:cNvSpPr/>
          <p:nvPr/>
        </p:nvSpPr>
        <p:spPr>
          <a:xfrm>
            <a:off x="566928" y="1691640"/>
            <a:ext cx="7589520" cy="3154680"/>
          </a:xfrm>
          <a:prstGeom prst="rect">
            <a:avLst/>
          </a:prstGeom>
          <a:solidFill>
            <a:srgbClr val="16151B"/>
          </a:solidFill>
          <a:ln w="22225">
            <a:solidFill>
              <a:srgbClr val="16151B"/>
            </a:solidFill>
            <a:prstDash val="solid"/>
          </a:ln>
        </p:spPr>
      </p:sp>
      <p:sp>
        <p:nvSpPr>
          <p:cNvPr id="9" name="Text 6"/>
          <p:cNvSpPr/>
          <p:nvPr/>
        </p:nvSpPr>
        <p:spPr>
          <a:xfrm>
            <a:off x="768096" y="1764792"/>
            <a:ext cx="7187184" cy="274320"/>
          </a:xfrm>
          <a:prstGeom prst="rect">
            <a:avLst/>
          </a:prstGeom>
          <a:noFill/>
          <a:ln/>
        </p:spPr>
        <p:txBody>
          <a:bodyPr wrap="square" lIns="0" tIns="0" rIns="0" bIns="0" rtlCol="0" anchor="ctr"/>
          <a:lstStyle/>
          <a:p>
            <a:pPr indent="0" marL="0">
              <a:buNone/>
            </a:pPr>
            <a:r>
              <a:rPr lang="en-US" sz="850" b="1" spc="140" kern="0" dirty="0">
                <a:solidFill>
                  <a:srgbClr val="8B8697"/>
                </a:solidFill>
                <a:latin typeface="Courier New" pitchFamily="34" charset="0"/>
                <a:ea typeface="Courier New" pitchFamily="34" charset="-122"/>
                <a:cs typeface="Courier New" pitchFamily="34" charset="-120"/>
              </a:rPr>
              <a:t>CONTRACTS/S11/DIPLOMASBT.SOL</a:t>
            </a:r>
            <a:endParaRPr lang="en-US" sz="850" dirty="0"/>
          </a:p>
        </p:txBody>
      </p:sp>
      <p:sp>
        <p:nvSpPr>
          <p:cNvPr id="10" name="Text 7"/>
          <p:cNvSpPr/>
          <p:nvPr/>
        </p:nvSpPr>
        <p:spPr>
          <a:xfrm>
            <a:off x="768096" y="2075688"/>
            <a:ext cx="7187184" cy="2660904"/>
          </a:xfrm>
          <a:prstGeom prst="rect">
            <a:avLst/>
          </a:prstGeom>
          <a:noFill/>
          <a:ln/>
        </p:spPr>
        <p:txBody>
          <a:bodyPr wrap="square" lIns="0" tIns="0" rIns="0" bIns="0" rtlCol="0" anchor="t"/>
          <a:lstStyle/>
          <a:p>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_update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auth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internal</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override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_ownerOf</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&amp;</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&amp;</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ni mint ni quema</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DiplomaIntransferible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 transferencia</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anterior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super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_update</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auth</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from</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emit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Locked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tokenId</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8B8697"/>
                </a:solidFill>
                <a:latin typeface="Courier New" pitchFamily="34" charset="0"/>
                <a:ea typeface="Courier New" pitchFamily="34" charset="-122"/>
                <a:cs typeface="Courier New" pitchFamily="34" charset="-120"/>
              </a:rPr>
              <a:t>// ERC-5192</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07F06"/>
                </a:solidFill>
                <a:latin typeface="Courier New" pitchFamily="34" charset="0"/>
                <a:ea typeface="Courier New" pitchFamily="34" charset="-122"/>
                <a:cs typeface="Courier New" pitchFamily="34" charset="-120"/>
              </a:rPr>
              <a:t>return</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anterior</a:t>
            </a:r>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a:p>
            <a:pPr indent="0" marL="0">
              <a:lnSpc>
                <a:spcPct val="112000"/>
              </a:lnSpc>
              <a:buNone/>
            </a:pPr>
            <a:r>
              <a:rPr lang="en-US" sz="1050" dirty="0">
                <a:solidFill>
                  <a:srgbClr val="F4F2F7"/>
                </a:solidFill>
                <a:latin typeface="Courier New" pitchFamily="34" charset="0"/>
                <a:ea typeface="Courier New" pitchFamily="34" charset="-122"/>
                <a:cs typeface="Courier New" pitchFamily="34" charset="-120"/>
              </a:rPr>
              <a:t>}</a:t>
            </a:r>
            <a:endParaRPr lang="en-US" sz="1050" dirty="0"/>
          </a:p>
        </p:txBody>
      </p:sp>
      <p:sp>
        <p:nvSpPr>
          <p:cNvPr id="11" name="Text 8"/>
          <p:cNvSpPr/>
          <p:nvPr/>
        </p:nvSpPr>
        <p:spPr>
          <a:xfrm>
            <a:off x="8385048" y="1691640"/>
            <a:ext cx="3239719" cy="3154680"/>
          </a:xfrm>
          <a:prstGeom prst="rect">
            <a:avLst/>
          </a:prstGeom>
          <a:noFill/>
          <a:ln/>
        </p:spPr>
        <p:txBody>
          <a:bodyPr wrap="square" lIns="0" tIns="0" rIns="0" bIns="0" rtlCol="0" anchor="t"/>
          <a:lstStyle/>
          <a:p>
            <a:pPr marL="203200" indent="-203200">
              <a:lnSpc>
                <a:spcPct val="118000"/>
              </a:lnSpc>
              <a:spcAft>
                <a:spcPts val="900"/>
              </a:spcAft>
              <a:buSzPct val="100000"/>
              <a:buChar char="■"/>
            </a:pPr>
            <a:r>
              <a:rPr lang="en-US" sz="1200" dirty="0">
                <a:solidFill>
                  <a:srgbClr val="3A3844"/>
                </a:solidFill>
                <a:latin typeface="Arial" pitchFamily="34" charset="0"/>
                <a:ea typeface="Arial" pitchFamily="34" charset="-122"/>
                <a:cs typeface="Arial" pitchFamily="34" charset="-120"/>
              </a:rPr>
              <a:t>En OpenZeppelin v5 todo movimiento pasa por _update.</a:t>
            </a:r>
            <a:endParaRPr lang="en-US" sz="1200" dirty="0"/>
          </a:p>
          <a:p>
            <a:pPr marL="203200" indent="-203200">
              <a:lnSpc>
                <a:spcPct val="118000"/>
              </a:lnSpc>
              <a:spcAft>
                <a:spcPts val="900"/>
              </a:spcAft>
              <a:buSzPct val="100000"/>
              <a:buChar char="■"/>
            </a:pPr>
            <a:r>
              <a:rPr lang="en-US" sz="1200" dirty="0">
                <a:solidFill>
                  <a:srgbClr val="3A3844"/>
                </a:solidFill>
                <a:latin typeface="Arial" pitchFamily="34" charset="0"/>
                <a:ea typeface="Arial" pitchFamily="34" charset="-122"/>
                <a:cs typeface="Arial" pitchFamily="34" charset="-120"/>
              </a:rPr>
              <a:t>Emitir (de 0) y revocar (a 0) siguen permitidos.</a:t>
            </a:r>
            <a:endParaRPr lang="en-US" sz="1200" dirty="0"/>
          </a:p>
          <a:p>
            <a:pPr marL="203200" indent="-203200">
              <a:lnSpc>
                <a:spcPct val="118000"/>
              </a:lnSpc>
              <a:spcAft>
                <a:spcPts val="900"/>
              </a:spcAft>
              <a:buSzPct val="100000"/>
              <a:buChar char="■"/>
            </a:pPr>
            <a:r>
              <a:rPr lang="en-US" sz="1200" dirty="0">
                <a:solidFill>
                  <a:srgbClr val="3A3844"/>
                </a:solidFill>
                <a:latin typeface="Arial" pitchFamily="34" charset="0"/>
                <a:ea typeface="Arial" pitchFamily="34" charset="-122"/>
                <a:cs typeface="Arial" pitchFamily="34" charset="-120"/>
              </a:rPr>
              <a:t>Reto opcional: andamiaje/s11/DiplomaSBT.sol.</a:t>
            </a:r>
            <a:endParaRPr lang="en-US" sz="1200" dirty="0"/>
          </a:p>
        </p:txBody>
      </p:sp>
      <p:sp>
        <p:nvSpPr>
          <p:cNvPr id="12" name="Shape 9"/>
          <p:cNvSpPr/>
          <p:nvPr/>
        </p:nvSpPr>
        <p:spPr>
          <a:xfrm>
            <a:off x="566928" y="5029200"/>
            <a:ext cx="11057839" cy="109728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13" name="Image 1" descr="preencoded.png">    </p:cNvPr>
          <p:cNvPicPr>
            <a:picLocks noChangeAspect="1"/>
          </p:cNvPicPr>
          <p:nvPr/>
        </p:nvPicPr>
        <p:blipFill>
          <a:blip r:embed="rId2"/>
          <a:stretch>
            <a:fillRect/>
          </a:stretch>
        </p:blipFill>
        <p:spPr>
          <a:xfrm>
            <a:off x="804672" y="5248656"/>
            <a:ext cx="237744" cy="237744"/>
          </a:xfrm>
          <a:prstGeom prst="rect">
            <a:avLst/>
          </a:prstGeom>
        </p:spPr>
      </p:pic>
      <p:sp>
        <p:nvSpPr>
          <p:cNvPr id="14" name="Text 10"/>
          <p:cNvSpPr/>
          <p:nvPr/>
        </p:nvSpPr>
        <p:spPr>
          <a:xfrm>
            <a:off x="1133856" y="522122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LO QUE MUESTRA LA PRUEBA «BILLETERA PERDIDA»</a:t>
            </a:r>
            <a:endParaRPr lang="en-US" sz="950" dirty="0"/>
          </a:p>
        </p:txBody>
      </p:sp>
      <p:sp>
        <p:nvSpPr>
          <p:cNvPr id="15" name="Text 11"/>
          <p:cNvSpPr/>
          <p:nvPr/>
        </p:nvSpPr>
        <p:spPr>
          <a:xfrm>
            <a:off x="804672" y="5541264"/>
            <a:ext cx="10582351" cy="49377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universidad revoca el token 1 y emite el 2 a la cuenta nueva. El 1 queda quemado para siempre. ¿Es eso un diploma «inmutable»? ¿Quién tiene el poder real?</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C.3 · HABEAS DATA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600" dirty="0">
                <a:solidFill>
                  <a:srgbClr val="0F0F11"/>
                </a:solidFill>
                <a:latin typeface="Arial Black" pitchFamily="34" charset="0"/>
                <a:ea typeface="Arial Black" pitchFamily="34" charset="-122"/>
                <a:cs typeface="Arial Black" pitchFamily="34" charset="-120"/>
              </a:rPr>
              <a:t>LEY 1581 DE 2012: NADA PERSONAL EN CADENA</a:t>
            </a:r>
            <a:endParaRPr lang="en-US" sz="26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37</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7839" cy="914400"/>
        </p:xfrm>
        <a:graphic>
          <a:graphicData uri="http://schemas.openxmlformats.org/drawingml/2006/table">
            <a:tbl>
              <a:tblPr/>
              <a:tblGrid>
                <a:gridCol w="2194560"/>
                <a:gridCol w="4389120"/>
                <a:gridCol w="44741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DÓNDE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SÍ</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NO, NUNCA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64312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En la cadena</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Dirección, tokenId, tokenURI, fecha de emisión.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Nombre, cédula, correo, fotografía.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64312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En IPFS (público)</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Programa, cohorte, imagen genérica del diploma.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Cualquier dato que identifique a la persona.</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643128">
                <a:tc>
                  <a:txBody>
                    <a:bodyPr/>
                    <a:lstStyle/>
                    <a:p>
                      <a:pPr indent="0" marL="0">
                        <a:buNone/>
                      </a:pPr>
                      <a:r>
                        <a:rPr lang="en-US" sz="1150" b="1" dirty="0">
                          <a:solidFill>
                            <a:srgbClr val="0F0F11"/>
                          </a:solidFill>
                          <a:latin typeface="Courier New" pitchFamily="34" charset="0"/>
                          <a:ea typeface="Courier New" pitchFamily="34" charset="-122"/>
                          <a:cs typeface="Courier New" pitchFamily="34" charset="-120"/>
                        </a:rPr>
                        <a:t>En la universidad</a:t>
                      </a:r>
                      <a:endParaRPr lang="en-US" sz="11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El PDF firmado y la relación persona ↔ dirección.</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150" dirty="0">
                          <a:solidFill>
                            <a:srgbClr val="3A3844"/>
                          </a:solidFill>
                          <a:latin typeface="Arial" pitchFamily="34" charset="0"/>
                          <a:ea typeface="Arial" pitchFamily="34" charset="-122"/>
                          <a:cs typeface="Arial" pitchFamily="34" charset="-120"/>
                        </a:rPr>
                        <a:t>—  (es donde la ley sí permite custodiarlos)</a:t>
                      </a:r>
                      <a:endParaRPr lang="en-US" sz="11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1673352"/>
            <a:ext cx="11094415" cy="2276856"/>
          </a:xfrm>
          <a:prstGeom prst="rect">
            <a:avLst/>
          </a:prstGeom>
          <a:ln w="22225">
            <a:solidFill>
              <a:srgbClr val="0F0F11"/>
            </a:solidFill>
            <a:prstDash val="solid"/>
          </a:ln>
        </p:spPr>
      </p:sp>
      <p:sp>
        <p:nvSpPr>
          <p:cNvPr id="10" name="Shape 6"/>
          <p:cNvSpPr/>
          <p:nvPr/>
        </p:nvSpPr>
        <p:spPr>
          <a:xfrm>
            <a:off x="566928" y="4114800"/>
            <a:ext cx="5391760" cy="2011680"/>
          </a:xfrm>
          <a:prstGeom prst="rect">
            <a:avLst/>
          </a:prstGeom>
          <a:solidFill>
            <a:srgbClr val="FFFFFF"/>
          </a:solidFill>
          <a:ln w="22225">
            <a:solidFill>
              <a:srgbClr val="B3261E"/>
            </a:solidFill>
            <a:prstDash val="solid"/>
          </a:ln>
          <a:effectLst>
            <a:outerShdw sx="100000" sy="100000" kx="0" ky="0" algn="bl" rotWithShape="0" blurRad="101600" dist="63500" dir="2700000">
              <a:srgbClr val="B3261E">
                <a:alpha val="100000"/>
              </a:srgbClr>
            </a:outerShdw>
          </a:effectLst>
        </p:spPr>
      </p:sp>
      <p:sp>
        <p:nvSpPr>
          <p:cNvPr id="11" name="Text 7"/>
          <p:cNvSpPr/>
          <p:nvPr/>
        </p:nvSpPr>
        <p:spPr>
          <a:xfrm>
            <a:off x="841248" y="4297680"/>
            <a:ext cx="4843120" cy="292608"/>
          </a:xfrm>
          <a:prstGeom prst="rect">
            <a:avLst/>
          </a:prstGeom>
          <a:noFill/>
          <a:ln/>
        </p:spPr>
        <p:txBody>
          <a:bodyPr wrap="square" lIns="0" tIns="0" rIns="0" bIns="0" rtlCol="0" anchor="ctr"/>
          <a:lstStyle/>
          <a:p>
            <a:pPr indent="0" marL="0">
              <a:buNone/>
            </a:pPr>
            <a:r>
              <a:rPr lang="en-US" sz="1050" b="1" spc="130" kern="0" dirty="0">
                <a:solidFill>
                  <a:srgbClr val="B3261E"/>
                </a:solidFill>
                <a:latin typeface="Courier New" pitchFamily="34" charset="0"/>
                <a:ea typeface="Courier New" pitchFamily="34" charset="-122"/>
                <a:cs typeface="Courier New" pitchFamily="34" charset="-120"/>
              </a:rPr>
              <a:t>EL CHOQUE</a:t>
            </a:r>
            <a:endParaRPr lang="en-US" sz="1050" dirty="0"/>
          </a:p>
        </p:txBody>
      </p:sp>
      <p:sp>
        <p:nvSpPr>
          <p:cNvPr id="12" name="Text 8"/>
          <p:cNvSpPr/>
          <p:nvPr/>
        </p:nvSpPr>
        <p:spPr>
          <a:xfrm>
            <a:off x="841248" y="4681728"/>
            <a:ext cx="4843120" cy="12801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La ley reconoce al titular el derecho a pedir la supresión de sus datos. Una cadena pública y un CID fijado por terceros no se pueden borrar.</a:t>
            </a:r>
            <a:endParaRPr lang="en-US" sz="1250" dirty="0"/>
          </a:p>
        </p:txBody>
      </p:sp>
      <p:sp>
        <p:nvSpPr>
          <p:cNvPr id="13" name="Shape 9"/>
          <p:cNvSpPr/>
          <p:nvPr/>
        </p:nvSpPr>
        <p:spPr>
          <a:xfrm>
            <a:off x="6233008" y="4114800"/>
            <a:ext cx="5391760" cy="201168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0"/>
          <p:cNvSpPr/>
          <p:nvPr/>
        </p:nvSpPr>
        <p:spPr>
          <a:xfrm>
            <a:off x="6507328" y="429768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LA SALIDA DE DISEÑO</a:t>
            </a:r>
            <a:endParaRPr lang="en-US" sz="1050" dirty="0"/>
          </a:p>
        </p:txBody>
      </p:sp>
      <p:sp>
        <p:nvSpPr>
          <p:cNvPr id="15" name="Text 11"/>
          <p:cNvSpPr/>
          <p:nvPr/>
        </p:nvSpPr>
        <p:spPr>
          <a:xfrm>
            <a:off x="6507328" y="4681728"/>
            <a:ext cx="4843120" cy="128016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Lo personal nunca sale de la universidad. En cadena, a lo sumo, el hash del PDF (Sesión 6): prueba integridad sin revelar nada.</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C.4 · TRABAJO EN EQUIPOS · VERIFICACIÓN DEL BLOQUE C</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ELIJAN UN MODELO Y DEFIÉNDANLO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38</a:t>
            </a:r>
            <a:endParaRPr lang="en-US" sz="900" dirty="0"/>
          </a:p>
        </p:txBody>
      </p:sp>
      <p:sp>
        <p:nvSpPr>
          <p:cNvPr id="8" name="Shape 5"/>
          <p:cNvSpPr/>
          <p:nvPr/>
        </p:nvSpPr>
        <p:spPr>
          <a:xfrm>
            <a:off x="566928" y="1691640"/>
            <a:ext cx="11057839" cy="713232"/>
          </a:xfrm>
          <a:prstGeom prst="rect">
            <a:avLst/>
          </a:prstGeom>
          <a:solidFill>
            <a:srgbClr val="FFFFFF"/>
          </a:solidFill>
          <a:ln w="15875">
            <a:solidFill>
              <a:srgbClr val="D9D6E0"/>
            </a:solidFill>
            <a:prstDash val="solid"/>
          </a:ln>
        </p:spPr>
      </p:sp>
      <p:sp>
        <p:nvSpPr>
          <p:cNvPr id="9" name="Text 6"/>
          <p:cNvSpPr/>
          <p:nvPr/>
        </p:nvSpPr>
        <p:spPr>
          <a:xfrm>
            <a:off x="694944" y="1691640"/>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01952"/>
            <a:ext cx="27432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ELEGIR (3 MIN)</a:t>
            </a:r>
            <a:endParaRPr lang="en-US" sz="1000" dirty="0"/>
          </a:p>
        </p:txBody>
      </p:sp>
      <p:sp>
        <p:nvSpPr>
          <p:cNvPr id="11" name="Text 8"/>
          <p:cNvSpPr/>
          <p:nvPr/>
        </p:nvSpPr>
        <p:spPr>
          <a:xfrm>
            <a:off x="4297680" y="1783080"/>
            <a:ext cx="7217359" cy="56692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721, 1155 o SBT. Una sola opción por equipo.</a:t>
            </a:r>
            <a:endParaRPr lang="en-US" sz="1250" dirty="0"/>
          </a:p>
        </p:txBody>
      </p:sp>
      <p:sp>
        <p:nvSpPr>
          <p:cNvPr id="12" name="Shape 9"/>
          <p:cNvSpPr/>
          <p:nvPr/>
        </p:nvSpPr>
        <p:spPr>
          <a:xfrm>
            <a:off x="566928" y="2514600"/>
            <a:ext cx="11057839" cy="713232"/>
          </a:xfrm>
          <a:prstGeom prst="rect">
            <a:avLst/>
          </a:prstGeom>
          <a:solidFill>
            <a:srgbClr val="FAF9FB"/>
          </a:solidFill>
          <a:ln w="15875">
            <a:solidFill>
              <a:srgbClr val="D9D6E0"/>
            </a:solidFill>
            <a:prstDash val="solid"/>
          </a:ln>
        </p:spPr>
      </p:sp>
      <p:sp>
        <p:nvSpPr>
          <p:cNvPr id="13" name="Text 10"/>
          <p:cNvSpPr/>
          <p:nvPr/>
        </p:nvSpPr>
        <p:spPr>
          <a:xfrm>
            <a:off x="694944" y="2514600"/>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724912"/>
            <a:ext cx="27432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NOMBRAR EL COSTO (4)</a:t>
            </a:r>
            <a:endParaRPr lang="en-US" sz="1000" dirty="0"/>
          </a:p>
        </p:txBody>
      </p:sp>
      <p:sp>
        <p:nvSpPr>
          <p:cNvPr id="15" name="Text 12"/>
          <p:cNvSpPr/>
          <p:nvPr/>
        </p:nvSpPr>
        <p:spPr>
          <a:xfrm>
            <a:off x="4297680" y="2606040"/>
            <a:ext cx="7217359" cy="56692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Qué se sacrifica, en una frase. «Nada» no es respuesta válida.</a:t>
            </a:r>
            <a:endParaRPr lang="en-US" sz="1250" dirty="0"/>
          </a:p>
        </p:txBody>
      </p:sp>
      <p:sp>
        <p:nvSpPr>
          <p:cNvPr id="16" name="Shape 13"/>
          <p:cNvSpPr/>
          <p:nvPr/>
        </p:nvSpPr>
        <p:spPr>
          <a:xfrm>
            <a:off x="566928" y="3337560"/>
            <a:ext cx="11057839" cy="713232"/>
          </a:xfrm>
          <a:prstGeom prst="rect">
            <a:avLst/>
          </a:prstGeom>
          <a:solidFill>
            <a:srgbClr val="FFFFFF"/>
          </a:solidFill>
          <a:ln w="15875">
            <a:solidFill>
              <a:srgbClr val="D9D6E0"/>
            </a:solidFill>
            <a:prstDash val="solid"/>
          </a:ln>
        </p:spPr>
      </p:sp>
      <p:sp>
        <p:nvSpPr>
          <p:cNvPr id="17" name="Text 14"/>
          <p:cNvSpPr/>
          <p:nvPr/>
        </p:nvSpPr>
        <p:spPr>
          <a:xfrm>
            <a:off x="694944" y="3337560"/>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547872"/>
            <a:ext cx="27432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PASAR LA LEY (3)</a:t>
            </a:r>
            <a:endParaRPr lang="en-US" sz="1000" dirty="0"/>
          </a:p>
        </p:txBody>
      </p:sp>
      <p:sp>
        <p:nvSpPr>
          <p:cNvPr id="19" name="Text 16"/>
          <p:cNvSpPr/>
          <p:nvPr/>
        </p:nvSpPr>
        <p:spPr>
          <a:xfrm>
            <a:off x="4297680" y="3429000"/>
            <a:ext cx="7217359" cy="56692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Qué va en cadena, qué en IPFS, qué en la universidad (tabla C.3).</a:t>
            </a:r>
            <a:endParaRPr lang="en-US" sz="1250" dirty="0"/>
          </a:p>
        </p:txBody>
      </p:sp>
      <p:sp>
        <p:nvSpPr>
          <p:cNvPr id="20" name="Shape 17"/>
          <p:cNvSpPr/>
          <p:nvPr/>
        </p:nvSpPr>
        <p:spPr>
          <a:xfrm>
            <a:off x="566928" y="4160520"/>
            <a:ext cx="11057839" cy="713232"/>
          </a:xfrm>
          <a:prstGeom prst="rect">
            <a:avLst/>
          </a:prstGeom>
          <a:solidFill>
            <a:srgbClr val="FAF9FB"/>
          </a:solidFill>
          <a:ln w="15875">
            <a:solidFill>
              <a:srgbClr val="D9D6E0"/>
            </a:solidFill>
            <a:prstDash val="solid"/>
          </a:ln>
        </p:spPr>
      </p:sp>
      <p:sp>
        <p:nvSpPr>
          <p:cNvPr id="21" name="Text 18"/>
          <p:cNvSpPr/>
          <p:nvPr/>
        </p:nvSpPr>
        <p:spPr>
          <a:xfrm>
            <a:off x="694944" y="4160520"/>
            <a:ext cx="548640" cy="71323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370832"/>
            <a:ext cx="274320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DEFENDER (1 CADA UNO)</a:t>
            </a:r>
            <a:endParaRPr lang="en-US" sz="1000" dirty="0"/>
          </a:p>
        </p:txBody>
      </p:sp>
      <p:sp>
        <p:nvSpPr>
          <p:cNvPr id="23" name="Text 20"/>
          <p:cNvSpPr/>
          <p:nvPr/>
        </p:nvSpPr>
        <p:spPr>
          <a:xfrm>
            <a:off x="4297680" y="4251960"/>
            <a:ext cx="7217359" cy="56692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Un minuto por equipo. Los demás preguntan una sola cosa.</a:t>
            </a:r>
            <a:endParaRPr lang="en-US" sz="1250" dirty="0"/>
          </a:p>
        </p:txBody>
      </p:sp>
      <p:sp>
        <p:nvSpPr>
          <p:cNvPr id="24" name="Shape 21"/>
          <p:cNvSpPr/>
          <p:nvPr/>
        </p:nvSpPr>
        <p:spPr>
          <a:xfrm>
            <a:off x="566928" y="4983480"/>
            <a:ext cx="11057839" cy="1143000"/>
          </a:xfrm>
          <a:prstGeom prst="rect">
            <a:avLst/>
          </a:prstGeom>
          <a:solidFill>
            <a:srgbClr val="FFFFFF"/>
          </a:solidFill>
          <a:ln w="34925">
            <a:solidFill>
              <a:srgbClr val="0F0F11"/>
            </a:solidFill>
            <a:prstDash val="solid"/>
          </a:ln>
          <a:effectLst>
            <a:outerShdw sx="100000" sy="100000" kx="0" ky="0" algn="bl" rotWithShape="0" blurRad="101600" dist="63500" dir="2700000">
              <a:srgbClr val="0F0F11">
                <a:alpha val="100000"/>
              </a:srgbClr>
            </a:outerShdw>
          </a:effectLst>
        </p:spPr>
      </p:sp>
      <p:pic>
        <p:nvPicPr>
          <p:cNvPr id="25" name="Image 1" descr="preencoded.png">    </p:cNvPr>
          <p:cNvPicPr>
            <a:picLocks noChangeAspect="1"/>
          </p:cNvPicPr>
          <p:nvPr/>
        </p:nvPicPr>
        <p:blipFill>
          <a:blip r:embed="rId2"/>
          <a:stretch>
            <a:fillRect/>
          </a:stretch>
        </p:blipFill>
        <p:spPr>
          <a:xfrm>
            <a:off x="804672" y="5202936"/>
            <a:ext cx="237744" cy="237744"/>
          </a:xfrm>
          <a:prstGeom prst="rect">
            <a:avLst/>
          </a:prstGeom>
        </p:spPr>
      </p:pic>
      <p:sp>
        <p:nvSpPr>
          <p:cNvPr id="26" name="Text 22"/>
          <p:cNvSpPr/>
          <p:nvPr/>
        </p:nvSpPr>
        <p:spPr>
          <a:xfrm>
            <a:off x="1133856" y="5175504"/>
            <a:ext cx="10234879" cy="292608"/>
          </a:xfrm>
          <a:prstGeom prst="rect">
            <a:avLst/>
          </a:prstGeom>
          <a:noFill/>
          <a:ln/>
        </p:spPr>
        <p:txBody>
          <a:bodyPr wrap="square" lIns="0" tIns="0" rIns="0" bIns="0" rtlCol="0" anchor="ctr"/>
          <a:lstStyle/>
          <a:p>
            <a:pPr indent="0" marL="0">
              <a:buNone/>
            </a:pPr>
            <a:r>
              <a:rPr lang="en-US" sz="950" b="1" spc="150" kern="0" dirty="0">
                <a:solidFill>
                  <a:srgbClr val="0F0F11"/>
                </a:solidFill>
                <a:latin typeface="Courier New" pitchFamily="34" charset="0"/>
                <a:ea typeface="Courier New" pitchFamily="34" charset="-122"/>
                <a:cs typeface="Courier New" pitchFamily="34" charset="-120"/>
              </a:rPr>
              <a:t>LA PREGUNTA QUE CIERRA EL CASO</a:t>
            </a:r>
            <a:endParaRPr lang="en-US" sz="950" dirty="0"/>
          </a:p>
        </p:txBody>
      </p:sp>
      <p:sp>
        <p:nvSpPr>
          <p:cNvPr id="27" name="Text 23"/>
          <p:cNvSpPr/>
          <p:nvPr/>
        </p:nvSpPr>
        <p:spPr>
          <a:xfrm>
            <a:off x="804672" y="5495544"/>
            <a:ext cx="10582351" cy="539496"/>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Si al final la universidad controla emisión y revocación, ¿qué aporta la cadena que no aporte un PDF firmado digitalmente? Si no pueden responderla, su diseño no necesita blockchain.</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TRABAJO AUTÓNOMO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PREGUNTA DE LA SEMANA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SESIÓN 11 · NFT, ERC-721/1155 E IPFS</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39</a:t>
            </a:r>
            <a:endParaRPr lang="en-US" sz="900" dirty="0"/>
          </a:p>
        </p:txBody>
      </p:sp>
      <p:sp>
        <p:nvSpPr>
          <p:cNvPr id="8" name="Shape 5"/>
          <p:cNvSpPr/>
          <p:nvPr/>
        </p:nvSpPr>
        <p:spPr>
          <a:xfrm>
            <a:off x="566928" y="1737360"/>
            <a:ext cx="11057839" cy="16002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23444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Elijan un NFT famoso y sigan sus tres saltos: ¿su tokenURI es ipfs://, Arweave o https? ¿Qué le pasaría si la empresa detrás cerrara mañana?</a:t>
            </a:r>
            <a:endParaRPr lang="en-US" sz="2000" dirty="0"/>
          </a:p>
        </p:txBody>
      </p:sp>
      <p:sp>
        <p:nvSpPr>
          <p:cNvPr id="10" name="Text 7"/>
          <p:cNvSpPr/>
          <p:nvPr/>
        </p:nvSpPr>
        <p:spPr>
          <a:xfrm>
            <a:off x="566928" y="36118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PARA LA PRÓXIMA SESIÓN</a:t>
            </a:r>
            <a:endParaRPr lang="en-US" sz="1050" dirty="0"/>
          </a:p>
        </p:txBody>
      </p:sp>
      <p:sp>
        <p:nvSpPr>
          <p:cNvPr id="11" name="Text 8"/>
          <p:cNvSpPr/>
          <p:nvPr/>
        </p:nvSpPr>
        <p:spPr>
          <a:xfrm>
            <a:off x="566928" y="3977640"/>
            <a:ext cx="11057839" cy="214884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Terminar y entregar la evidencia del laboratorio 11 (guía PDF, lista de chequeo al final).</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Contratos del proyecto completos: son la base del Avance 1 (Sesión 13).</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Sesión 12: traer MetaMask funcionando y Node.js; se conecta una interfaz a la FichaUSB de la S10.</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Opcional: completar el reto DiplomaSBT y sus 9 pruebas.</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566928" y="1234440"/>
            <a:ext cx="457200" cy="457200"/>
          </a:xfrm>
          <a:prstGeom prst="rect">
            <a:avLst/>
          </a:prstGeom>
        </p:spPr>
      </p:pic>
      <p:sp>
        <p:nvSpPr>
          <p:cNvPr id="4" name="Text 1"/>
          <p:cNvSpPr/>
          <p:nvPr/>
        </p:nvSpPr>
        <p:spPr>
          <a:xfrm>
            <a:off x="566928" y="1874520"/>
            <a:ext cx="11057839" cy="457200"/>
          </a:xfrm>
          <a:prstGeom prst="rect">
            <a:avLst/>
          </a:prstGeom>
          <a:noFill/>
          <a:ln/>
        </p:spPr>
        <p:txBody>
          <a:bodyPr wrap="square" lIns="0" tIns="0" rIns="0" bIns="0" rtlCol="0" anchor="ctr"/>
          <a:lstStyle/>
          <a:p>
            <a:pPr indent="0" marL="0">
              <a:buNone/>
            </a:pPr>
            <a:r>
              <a:rPr lang="en-US" sz="1150" spc="180" kern="0" dirty="0">
                <a:solidFill>
                  <a:srgbClr val="F07F06"/>
                </a:solidFill>
                <a:latin typeface="Courier New" pitchFamily="34" charset="0"/>
                <a:ea typeface="Courier New" pitchFamily="34" charset="-122"/>
                <a:cs typeface="Courier New" pitchFamily="34" charset="-120"/>
              </a:rPr>
              <a:t>LO QUE SE LLEVAN DE HOY</a:t>
            </a:r>
            <a:endParaRPr lang="en-US" sz="1150" dirty="0"/>
          </a:p>
        </p:txBody>
      </p:sp>
      <p:sp>
        <p:nvSpPr>
          <p:cNvPr id="5" name="Text 2"/>
          <p:cNvSpPr/>
          <p:nvPr/>
        </p:nvSpPr>
        <p:spPr>
          <a:xfrm>
            <a:off x="566928" y="2377440"/>
            <a:ext cx="11057839" cy="1874520"/>
          </a:xfrm>
          <a:prstGeom prst="rect">
            <a:avLst/>
          </a:prstGeom>
          <a:noFill/>
          <a:ln/>
        </p:spPr>
        <p:txBody>
          <a:bodyPr wrap="square" lIns="0" tIns="0" rIns="0" bIns="0" rtlCol="0" anchor="t"/>
          <a:lstStyle/>
          <a:p>
            <a:pPr indent="0" marL="0">
              <a:lnSpc>
                <a:spcPct val="100000"/>
              </a:lnSpc>
              <a:buNone/>
            </a:pPr>
            <a:r>
              <a:rPr lang="en-US" sz="3600" dirty="0">
                <a:solidFill>
                  <a:srgbClr val="FFFFFF"/>
                </a:solidFill>
                <a:latin typeface="Arial Black" pitchFamily="34" charset="0"/>
                <a:ea typeface="Arial Black" pitchFamily="34" charset="-122"/>
                <a:cs typeface="Arial Black" pitchFamily="34" charset="-120"/>
              </a:rPr>
              <a:t>Tener un NFT es estar en una celda. Que signifique algo depende de dónde viva el archivo.</a:t>
            </a:r>
            <a:endParaRPr lang="en-US" sz="3600" dirty="0"/>
          </a:p>
        </p:txBody>
      </p:sp>
      <p:sp>
        <p:nvSpPr>
          <p:cNvPr id="6" name="Text 3"/>
          <p:cNvSpPr/>
          <p:nvPr/>
        </p:nvSpPr>
        <p:spPr>
          <a:xfrm>
            <a:off x="566928" y="4343400"/>
            <a:ext cx="9960559" cy="822960"/>
          </a:xfrm>
          <a:prstGeom prst="rect">
            <a:avLst/>
          </a:prstGeom>
          <a:noFill/>
          <a:ln/>
        </p:spPr>
        <p:txBody>
          <a:bodyPr wrap="square" lIns="0" tIns="0" rIns="0" bIns="0" rtlCol="0" anchor="t"/>
          <a:lstStyle/>
          <a:p>
            <a:pPr indent="0" marL="0">
              <a:lnSpc>
                <a:spcPct val="125000"/>
              </a:lnSpc>
              <a:buNone/>
            </a:pPr>
            <a:r>
              <a:rPr lang="en-US" sz="1500" dirty="0">
                <a:solidFill>
                  <a:srgbClr val="B9B4C4"/>
                </a:solidFill>
                <a:latin typeface="Arial" pitchFamily="34" charset="0"/>
                <a:ea typeface="Arial" pitchFamily="34" charset="-122"/>
                <a:cs typeface="Arial" pitchFamily="34" charset="-120"/>
              </a:rPr>
              <a:t>Ya saben emitir tokens fungibles y no fungibles, y guardar su contenido sin depender de un servidor. Falta lo que una persona de verdad ve: una interfaz.</a:t>
            </a:r>
            <a:endParaRPr lang="en-US" sz="1500" dirty="0"/>
          </a:p>
        </p:txBody>
      </p:sp>
      <p:sp>
        <p:nvSpPr>
          <p:cNvPr id="7" name="Shape 4"/>
          <p:cNvSpPr/>
          <p:nvPr/>
        </p:nvSpPr>
        <p:spPr>
          <a:xfrm>
            <a:off x="566928" y="5349240"/>
            <a:ext cx="11057839" cy="685800"/>
          </a:xfrm>
          <a:prstGeom prst="rect">
            <a:avLst/>
          </a:prstGeom>
          <a:solidFill>
            <a:srgbClr val="1C1B21"/>
          </a:solidFill>
          <a:ln w="12700">
            <a:solidFill>
              <a:srgbClr val="343240"/>
            </a:solidFill>
            <a:prstDash val="solid"/>
          </a:ln>
        </p:spPr>
      </p:sp>
      <p:sp>
        <p:nvSpPr>
          <p:cNvPr id="8" name="Text 5"/>
          <p:cNvSpPr/>
          <p:nvPr/>
        </p:nvSpPr>
        <p:spPr>
          <a:xfrm>
            <a:off x="841248" y="5349240"/>
            <a:ext cx="10509199" cy="685800"/>
          </a:xfrm>
          <a:prstGeom prst="rect">
            <a:avLst/>
          </a:prstGeom>
          <a:noFill/>
          <a:ln/>
        </p:spPr>
        <p:txBody>
          <a:bodyPr wrap="square" lIns="0" tIns="0" rIns="0" bIns="0" rtlCol="0" anchor="ctr"/>
          <a:lstStyle/>
          <a:p>
            <a:pPr indent="0" marL="0">
              <a:buNone/>
            </a:pPr>
            <a:r>
              <a:rPr lang="en-US" sz="1100" spc="120" kern="0" dirty="0">
                <a:solidFill>
                  <a:srgbClr val="F07F06"/>
                </a:solidFill>
                <a:latin typeface="Courier New" pitchFamily="34" charset="0"/>
                <a:ea typeface="Courier New" pitchFamily="34" charset="-122"/>
                <a:cs typeface="Courier New" pitchFamily="34" charset="-120"/>
              </a:rPr>
              <a:t>SESIÓN 12 · WEB 3.0 · CONECTAR EL FRONTEND A LA CADENA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11 · NFTs e IPFS</dc:title>
  <dc:subject>Sesión 11 · NFTs e IPFS</dc:subject>
  <dc:creator>Universidad de San Buenaventura Medellín</dc:creator>
  <cp:lastModifiedBy>Universidad de San Buenaventura Medellín</cp:lastModifiedBy>
  <cp:revision>1</cp:revision>
  <dcterms:created xsi:type="dcterms:W3CDTF">2026-10-01T19:33:05Z</dcterms:created>
  <dcterms:modified xsi:type="dcterms:W3CDTF">2026-10-01T19:33:05Z</dcterms:modified>
</cp:coreProperties>
</file>