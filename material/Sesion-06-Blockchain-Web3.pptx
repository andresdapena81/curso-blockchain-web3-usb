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sesión de programación. Ritmo lento en el bloque A: casi todo lo que sigue en el curso depende de esta base. Abrir con la pregunta de la semana de la S5 (qué NO guardarían en un contrato): la respuesta correcta es exactamente el diseño del laboratorio de hoy, que guarda un hash y no el diploma.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+ 80 + 30 = 180. Recibir los anteproyectos AL INICIO (impresos o en la plataforma) para leerlos mientras los equipos trabajan en el laboratorio: así el bloque C puede dar retroalimentación en vivo sobre dos o tres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cuarta pregunta es la que más pesa en el anteproyecto: un proyecto que guarde datos personales en cadena no se aprueba.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proyectado mientras se reparte la guía PDF del laboratorio. Remix se escribe con mayúscula: es el nombre del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de 70 minutos y 20 láminas. Las láminas A.17 y A.18 son el contrato del laboratorio: si el tiempo aprieta, se leen rápido porque en el bloque B se vuelve sobre ellas línea por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Szabo, N. (1994/1996), Smart Contracts. La confusión con 'contrato jurídico' aparece en casi todos los anteproyectos: desactivarla hoy. 'Con dirección propia' conecta con la S5: es una cuenta de contrato, con código y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¿cuánto gas cuesta la primera llamada a incrementar()? Con lo de la S5: 21 000 + datos + SSTORE de 0 a 1 (22 100) + LOG1 + resto. La segunda, unos 17 000 menos. Error típico: pensar que 'contract' es una instancia; es la plantilla, y cada despliegue crea una instancia con dirección distinta.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archivos del curso fijan 0.8.34 exacta (versiones.md): ninguna otra versión los compila. En el laboratorio hay que dejar ese mismo número en el desplegable de Remix, porque es el que se declara al verificar; el compilador queda grabado en los metadatos del bytecode desplegado. Contar aquí el caso real: el curso estaba fijado en 0.8.28, Remix empezó a abrir con 0.8.34 y cada archivo fallaba con 'ParserError: Source file requires different compiler version'. Se pasó el curso a 0.8.34 y hubo que volver a medir todas las cifras de gas del material: casi ninguna se movió, pero el despliegue de este mismo contrato subió 3 248 (A.7). Cambiar de compilador obliga a volver a medir; es el mismo argumento de la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laboratorio el hash del diploma es bytes32 y el programa es string. Pregunta: ¿por qué el hash no se guarda como string? Porque bytes32 ocupa exactamente una ranura y se compara con ==; un string de 66 caracteres ocuparía tres ranuras y no se puede comparar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líneas del bloque son válidas en Solidity 0.8.34 (dentro de una función). Error típico en Remix: escribir p == 'x' y no entender el error del compilador 'Operator == not compatible with types string'. bytes(programa).length es exactamente lo que usa emitir() para rechazar un programa vacío.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Observen el orden de la multiplicación: precio * 119 / 100. Al revés, precio / 100 * 119 pierde los decimales antes de multiplicar (con precio = 150: 150/100 = 1, 1*119 = 119 en vez de 178). Sin punto flotante, el orden de las operaciones es parte de la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Medido con Hardhat 3.16 / Solidity 0.8.34 / optimizador 200 en la red local. La diferencia 94 806 − 77 706 = 17 100 = 22 100 − 5 000 es exactamente la tabla de la S5; sale limpia porque los dos hashes de la medición no tienen ningún byte en cero y cuestan igual en el campo data. El 'revocar' depende del motivo: 32 460 es con 'Error en la fecha de grado'. Al pasar el curso de 0.8.28 a 0.8.34 el despliegue subió 3 248 (el código pasó de 2 206 a 2 221 bytes) y los dos emitir bajaron 1: cambiar de compilador cambia el bytecode, y por eso se vuelve a medir. ⚠ VERIFICAR ANTES DE DICTAR: si Sepolia ya activó Glamsterdam (prevista para el 6-oct-2026), crear estado cuesta más (EIP-8037) y estas cifras cambian en Sepolia, no en la red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opcional: ethers.provider.getStorage(direccion, 0) lee la ranura 0 de cualquier contrato, private o no. En CertificadosUSB el mapping es private y aun así cualquiera puede leer cada certificado calculando su ranura. Regla del laboratorio: las funciones que se llaman desde fuera son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Remix el color del botón lo dice: azul = view/pure (llamada gratuita, respuesta inmediata), naranja = transacción, rojo = payable. Error típico: declarar view una función que escribe; el compilador lo impide. El contrario (no declarar view una función que solo lee) compila, pero Remix la trata como transacción y la cobra.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usa las dos más importantes: msg.sender en el modificador y block.timestamp para la fecha de emisión (guardada como uint64: alcanza hasta el año 584 mil millones). Recordar A.6 de la S5: msg.sender cambia en cada salto entre contratos.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laboratorio se usan solo errores personalizados: es la práctica actual de OpenZeppelin v5. Desde Solidity 0.8.26 require también acepta un error personalizado, pero en clase se usa la forma if + revert porque se lee igual en cualquier versión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selector 0x63898998 = primeros 4 bytes de keccak256('NoEsEmisor(address)'), calculado con ethers. Si el contrato está verificado, el explorador lo traduce: 'Fail With Custom Error NoEsEmisor'. Lo vieron en la S5 con FHERC20IncompatibleFunction.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fila de la derecha es la de la S5: en los logs, siempre revisar la dirección del contrato que emitió. Un contrato falso puede emitir un evento 'CertificadoEmitido'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calculado con ethers sobre el contrato de referencia: 0x774ca613bc69539f740c09dc7a428006e870e9cb3dff99a89fbd49088e2c3fd6. En el laboratorio lo van a ver en la pestaña Logs de su transacción de emisión, y es parte de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típico del TODO 1: olvidar el _; o ponerlo antes del if (entonces la función corre y DESPUÉS se revisa el permiso: el revert deshace todo, así que es correcto pero gasta más). Error típico del TODO 2: desplegar con la cuenta equivocada de MetaMask; el emisor queda siendo 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A.5 (valores por defecto). Un mapping no se puede recorrer ni sabe cuántas claves tiene: por eso existe el contador emitidos. Error típico del TODO 5: escribir Certificado memory c; se modifica una copia y la revocación no se guarda.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Matiz para quien pregunte: incluso un hash puede ser dato personal si es fácil de asociar (por ejemplo, el hash de una cédula, que se puede adivinar por fuerza bruta: hay pocos millones de cédulas). Por eso se hashea el archivo completo del diploma, no un identificador corto. La prueba 'privacidad' del laboratorio revisa que el ABI no tenga campos como nombre o cedula.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solución de los TODO 3 y 4. Se proyecta ANTES del laboratorio a propósito: el ejercicio no es adivinar la sintaxis sino escribirla, probarla y desplegarla. Quien quiera el reto completo, que no mire esta lámina durante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Soluciones de los TODO 5 y 6. El motivo de revocación es texto libre: advertir que tampoco puede contener datos personales ('revocado porque Juan Pérez plagió' queda para siempre). ¿Por qué revocar en lugar de borrar? Es la pregunta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B. Las dos razones: private no es secreto (A.8) y lo escrito en cadena no se puede suprimir (A.17). Si alguien eligió A, repasar A.8 antes de abrir Remix: es el error que más anteproyectos comete.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completa: laboratorios-evm/guias/s06-certificados-remix.pdf. Tiempos: 10 preparar + 35 TODO + 5 hash + 15 Sepolia + 15 explorador. Quien no tenga saldo de Sepolia trabaja en la Remix VM y despliega al final con fondos de la billetera institucional.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Remix abre con 0.8.34 por omisión, que es justo la del curso: la mayoría no tendrá que tocar el desplegable, pero hay que mirarlo igual. Si Remix abre con otra versión, el archivo falla con 'ParserError: Source file requires different compiler version' porque el pragma está fijo: se corrige eligiendo 0.8.34 en el desplegable, nunca bajándole el pin al archivo. Los avisos amarillos del andamiaje (parámetros sin usar) son normales: desaparecen al completar los TODO. ⚠ VERIFICAR ANTES DE DICTAR: la interfaz de Remix cambia seguido; revisar la semana anterior que los nombres de pestañas y opciones coincidan con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 por la sala mirando los TODO 1 y 5: son los que más se equivocan (el _; y storage vs memory). Quien termine antes: correr las 18 pruebas con Hardhat (B.7).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Remix VM todo es instantáneo y gratis: es el lugar para equivocarse. Recordar que cada 'Deploy' crea un contrato NUEVO con estado vacío: si redesplegaron, los certificados emitidos antes están en el contrato viejo.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reales, calculados con los dos scripts sobre el archivo del repositorio. Cualquier PDF propio SIN datos personales sirve igual; nunca un diploma real. Sin Node en la máquina: la guía explica cómo calcularlo en la consola del navegador de Remix.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VERIFICAR ANTES DE DICTAR el nombre exacto de la opción de billetera en Remix: la documentación actual la llama 'Browser Extension'; versiones anteriores, 'Injected Provider – MetaMask'. El intento fallido desde otra cuenta: Remix avisará 'Gas estimation failed' y ofrecerá enviarla igual; se envía a propósito para tener la evidencia (cuesta muy 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Alternativa sin salir de Remix: el complemento 'Contract Verification' (Sourcify sin clave; Etherscan exige una clave de API). Si la verificación falla, en 9 de 10 casos es la versión del compilador o la optimización (deben ser idénticas a las del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verificado con el andamiaje real: 4 pruebas pasan sin tocar nada (las tres de verificar que devuelven ceros y la de privacidad) y 14 fallan. En Windows sin Git Bash, copy en vez de cp (la guía trae ambas).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PDF trae la tabla completa. Esta lámina queda proyectada durante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entrega antes de la Sesión 7 con la plantilla de la guía. Sin dirección de contrato verificable no se califica (política de laboratorios).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B (prueba 'un certificado revocado no se puede volver a emitir con el mismo hash'). Es una decisión de diseño discutible y buena para la Sesión 7: ¿debería existir 'reactivar'? ¿Qué se pierde y qué se gana?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Plantilla y rúbrica públicas en material/proyecto/01-anteproyecto.pdf. Deck de referencia: 'Proyecto del docente · acotar el alcance'. Usar dos anteproyectos recibidos hoy como casos en vivo (con permiso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VERIFICAR ANTES DE DICTAR: el plan dice 5 % en la tabla de entregas (sección 8) pero 20 % del primer corte = 6 % en la sección 9; se usa 5 %, igual que el enunciado del proyecto del docente. El deck 'Proyecto del docente · acotar el alcance' es el ejemplo completo de cómo se ve un alcance bien hecho. La plantilla trae un ejemplo breve bien hecho y uno mal hecho: leerlos juntos en voz alta toma 5 minutos y vale la pena.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árbol de A.7 de la S1, aplicado en orden estricto. La mayoría de las propuestas mueren en el paso 1 o en el 3, y eso está bien: un anteproyecto que llega a 'una base de datos basta' con buen argumento no se reprueba, se reorienta. Lo que se devuelve es el que no hizo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Coherente con el plan (sección 12, 'proyectos sobredimensionados': filtro de alcance en el anteproyecto) y con el deck del docente ('cabe en una lámina; si no cupiera, todavía no estaría decidido').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rúbrica completa con los niveles 5,0 · 3,5 · menos de 3,0 está en material/proyecto/01-anteproyecto.pdf. Pesa más la justificación que la arquitectura: a estas alturas del semestre, decidir bien importa más que dibujar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la sala que diga en qué paso del árbol muere el ejemplo de la izquierda (paso 1: un solo escritor por historia; y el 4, por los datos). El de la derecha sobrevive, pero la plantilla muestra su límite honesto: la cadena no sabe si la factura es real (paso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prepara el patrón multifirma (Sesión 15) y el control de acceso por roles. Respuesta mínima: puede emitir diplomas falsos y revocar legítimos, y hasta quedarse con el rol llamando a cambiarEmisor; no puede alterar la historia registrada ni borrar eventos. La revocación de los falsos deja rastro.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el plazo de respuesta a los anteproyectos (antes de la Sesión 7) y recordar que el trabajo autónomo de la S7 es refactorizar este mismo contrato con dos patrones.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DESPLEGAR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06 · UNIDAD II · ETHEREUM Y CONTRATOS</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SOLIDITY I</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EL PRIMER</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CONTRATO</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Hoy escriben un programa que, una vez desplegado, nadie puede cambiar. Ni siquiera ustedes.</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sesión más práctica hasta ahora: al salir, cada pareja tiene un contrato propio desplegado y verificado en una red pública.</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EL LENGUAJE</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Estructura, tipos, funciones, visibilidad, errores, eventos, modificadores y el costo del storage.</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~70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06 · REMIX</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Registro de certificados: completar, probar, desplegar y verificar en Sepolia.</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~80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ENTREGA DEL ANTEPROYECTO</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se entrega hoy, la prueba de la base de datos y cómo se filtra el alcance.</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~30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Escribir, desplegar y verificar un primer contrato funcional en una red de prueba.</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partes tiene un archivo de Solidity y para qué sirve cada una?</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¿Quién puede llamar cada función, y cuáles cuestan gas?</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falla bien un contrato, y cómo le cuenta al mundo lo que hizo?</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datos nunca deben ir a una cadena pública?</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RA3 · Programar contratos inteligentes en Solidity aplicando patrones y estándares de la industria.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SPDX</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Software Package Data Exchange</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Identificador estándar de licencia en la primera línea. El compilador advierte si falta.</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PRAGMA</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directiva del compilador</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Qué versiones de Solidity pueden compilar el archivo.</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REMIX</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Remix IDE</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Entorno de desarrollo en el navegador: editar, compilar, desplegar y llamar sin instalar nada.</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BYTECODE</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código de bytes</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Lo que produce el compilador y se despliega: las instrucciones de la EVM de la Sesión 5.</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MSG.SENDER</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remitente del mensaje</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dirección que llamó directamente a la función. La base de todo control de acceso.</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VIEW · PURE</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mutabilidad</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view lee el estado sin cambiarlo; pure ni lo lee. Llamadas desde fuera: sin costo.</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REVERT</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reversión</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Deshace todos los cambios de la llamada y devuelve un error. El gas consumido se paga igual.</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EVENT</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evento</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Registro que el contrato deja en el recibo. Barato, legible desde fuera, invisible para otros contratos.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70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LENGUAJE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Solidity se parece a JavaScript en la sintaxis y a nada conocido en las consecuencias: cada línea se paga y ninguna se puede corregir después.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06 · SOLIDITY I · FUNDAMENTOS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ANTES DE ESCRIBIR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NI INTELIGENTE, NI CONTRATO</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45720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término lo acuñó Nick Szabo en los años noventa. Hoy describe algo más modesto y más preciso:</a:t>
            </a:r>
            <a:endParaRPr lang="en-US" sz="1450" dirty="0"/>
          </a:p>
        </p:txBody>
      </p:sp>
      <p:sp>
        <p:nvSpPr>
          <p:cNvPr id="9" name="Shape 6"/>
          <p:cNvSpPr/>
          <p:nvPr/>
        </p:nvSpPr>
        <p:spPr>
          <a:xfrm>
            <a:off x="566928" y="233172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950976" y="2514600"/>
            <a:ext cx="10289743" cy="96012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Un contrato inteligente es un programa desplegado en la cadena, con dirección propia, que se ejecuta exactamente como fue escrito cuando alguien lo llama.</a:t>
            </a:r>
            <a:endParaRPr lang="en-US" sz="1900" dirty="0"/>
          </a:p>
        </p:txBody>
      </p:sp>
      <p:sp>
        <p:nvSpPr>
          <p:cNvPr id="11" name="Shape 8"/>
          <p:cNvSpPr/>
          <p:nvPr/>
        </p:nvSpPr>
        <p:spPr>
          <a:xfrm>
            <a:off x="566928" y="3840480"/>
            <a:ext cx="5391760"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40233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NO ES INTELIGENTE</a:t>
            </a:r>
            <a:endParaRPr lang="en-US" sz="1050" dirty="0"/>
          </a:p>
        </p:txBody>
      </p:sp>
      <p:sp>
        <p:nvSpPr>
          <p:cNvPr id="13" name="Text 10"/>
          <p:cNvSpPr/>
          <p:nvPr/>
        </p:nvSpPr>
        <p:spPr>
          <a:xfrm>
            <a:off x="841248" y="4407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interpreta intenciones ni corrige errores. Si el código dice algo que el autor no quería, se ejecuta lo que dice el código. Varios de los robos más grandes de la historia fueron código funcionando exactamente como estaba escrito.</a:t>
            </a:r>
            <a:endParaRPr lang="en-US" sz="1250" dirty="0"/>
          </a:p>
        </p:txBody>
      </p:sp>
      <p:sp>
        <p:nvSpPr>
          <p:cNvPr id="14" name="Shape 11"/>
          <p:cNvSpPr/>
          <p:nvPr/>
        </p:nvSpPr>
        <p:spPr>
          <a:xfrm>
            <a:off x="6233008" y="384048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2"/>
          <p:cNvSpPr/>
          <p:nvPr/>
        </p:nvSpPr>
        <p:spPr>
          <a:xfrm>
            <a:off x="6507328" y="40233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NO ES UN CONTRATO JURÍDICO</a:t>
            </a:r>
            <a:endParaRPr lang="en-US" sz="1050" dirty="0"/>
          </a:p>
        </p:txBody>
      </p:sp>
      <p:sp>
        <p:nvSpPr>
          <p:cNvPr id="16" name="Text 13"/>
          <p:cNvSpPr/>
          <p:nvPr/>
        </p:nvSpPr>
        <p:spPr>
          <a:xfrm>
            <a:off x="6507328" y="4407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Puede automatizar el cumplimiento de un acuerdo, pero no es por sí mismo un contrato ante la ley. Su validez jurídica en Colombia se discute en la Sesión 16.</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LA FORMA DE UN ARCHIVO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ANATOMÍA DE UN CONTRATO</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Shape 5"/>
          <p:cNvSpPr/>
          <p:nvPr/>
        </p:nvSpPr>
        <p:spPr>
          <a:xfrm>
            <a:off x="566928" y="1737360"/>
            <a:ext cx="6035040" cy="4389120"/>
          </a:xfrm>
          <a:prstGeom prst="rect">
            <a:avLst/>
          </a:prstGeom>
          <a:solidFill>
            <a:srgbClr val="16151B"/>
          </a:solidFill>
          <a:ln w="22225">
            <a:solidFill>
              <a:srgbClr val="16151B"/>
            </a:solidFill>
            <a:prstDash val="solid"/>
          </a:ln>
        </p:spPr>
      </p:sp>
      <p:sp>
        <p:nvSpPr>
          <p:cNvPr id="9" name="Text 6"/>
          <p:cNvSpPr/>
          <p:nvPr/>
        </p:nvSpPr>
        <p:spPr>
          <a:xfrm>
            <a:off x="768096" y="1810512"/>
            <a:ext cx="563270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CONTADOR.SOL</a:t>
            </a:r>
            <a:endParaRPr lang="en-US" sz="850" dirty="0"/>
          </a:p>
        </p:txBody>
      </p:sp>
      <p:sp>
        <p:nvSpPr>
          <p:cNvPr id="10" name="Text 7"/>
          <p:cNvSpPr/>
          <p:nvPr/>
        </p:nvSpPr>
        <p:spPr>
          <a:xfrm>
            <a:off x="768096" y="2121408"/>
            <a:ext cx="5632704" cy="3895344"/>
          </a:xfrm>
          <a:prstGeom prst="rect">
            <a:avLst/>
          </a:prstGeom>
          <a:noFill/>
          <a:ln/>
        </p:spPr>
        <p:txBody>
          <a:bodyPr wrap="square" lIns="0" tIns="0" rIns="0" bIns="0" rtlCol="0" anchor="t"/>
          <a:lstStyle/>
          <a:p>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SPDX-License-Identifier: MIT</a:t>
            </a:r>
            <a:endParaRPr lang="en-US" sz="1250" dirty="0"/>
          </a:p>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pragma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solidity</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0.8</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34</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Contador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estado</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event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Incrementado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nueva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evento</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incrementar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función</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Incrementado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p:txBody>
      </p:sp>
      <p:sp>
        <p:nvSpPr>
          <p:cNvPr id="11" name="Text 8"/>
          <p:cNvSpPr/>
          <p:nvPr/>
        </p:nvSpPr>
        <p:spPr>
          <a:xfrm>
            <a:off x="6876288" y="1737360"/>
            <a:ext cx="474847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LICENCIA</a:t>
            </a:r>
            <a:endParaRPr lang="en-US" sz="1050" dirty="0"/>
          </a:p>
        </p:txBody>
      </p:sp>
      <p:sp>
        <p:nvSpPr>
          <p:cNvPr id="12" name="Text 9"/>
          <p:cNvSpPr/>
          <p:nvPr/>
        </p:nvSpPr>
        <p:spPr>
          <a:xfrm>
            <a:off x="6876288" y="2048256"/>
            <a:ext cx="4748479" cy="530352"/>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Primera línea. Los contratos verificados son públicos: la licencia dice qué se puede hacer con ese código.</a:t>
            </a:r>
            <a:endParaRPr lang="en-US" sz="1200" dirty="0"/>
          </a:p>
        </p:txBody>
      </p:sp>
      <p:sp>
        <p:nvSpPr>
          <p:cNvPr id="13" name="Text 10"/>
          <p:cNvSpPr/>
          <p:nvPr/>
        </p:nvSpPr>
        <p:spPr>
          <a:xfrm>
            <a:off x="6876288" y="2624328"/>
            <a:ext cx="474847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PRAGMA</a:t>
            </a:r>
            <a:endParaRPr lang="en-US" sz="1050" dirty="0"/>
          </a:p>
        </p:txBody>
      </p:sp>
      <p:sp>
        <p:nvSpPr>
          <p:cNvPr id="14" name="Text 11"/>
          <p:cNvSpPr/>
          <p:nvPr/>
        </p:nvSpPr>
        <p:spPr>
          <a:xfrm>
            <a:off x="6876288" y="2935224"/>
            <a:ext cx="4748479" cy="530352"/>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Qué versión del compilador puede compilar el archivo. Protege de compilar con una versión con otras reglas.</a:t>
            </a:r>
            <a:endParaRPr lang="en-US" sz="1200" dirty="0"/>
          </a:p>
        </p:txBody>
      </p:sp>
      <p:sp>
        <p:nvSpPr>
          <p:cNvPr id="15" name="Text 12"/>
          <p:cNvSpPr/>
          <p:nvPr/>
        </p:nvSpPr>
        <p:spPr>
          <a:xfrm>
            <a:off x="6876288" y="3511296"/>
            <a:ext cx="474847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CONTRACT</a:t>
            </a:r>
            <a:endParaRPr lang="en-US" sz="1050" dirty="0"/>
          </a:p>
        </p:txBody>
      </p:sp>
      <p:sp>
        <p:nvSpPr>
          <p:cNvPr id="16" name="Text 13"/>
          <p:cNvSpPr/>
          <p:nvPr/>
        </p:nvSpPr>
        <p:spPr>
          <a:xfrm>
            <a:off x="6876288" y="3822192"/>
            <a:ext cx="4748479" cy="530352"/>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Como una clase: agrupa estado y funciones. Se despliega en su propia dirección.</a:t>
            </a:r>
            <a:endParaRPr lang="en-US" sz="1200" dirty="0"/>
          </a:p>
        </p:txBody>
      </p:sp>
      <p:sp>
        <p:nvSpPr>
          <p:cNvPr id="17" name="Text 14"/>
          <p:cNvSpPr/>
          <p:nvPr/>
        </p:nvSpPr>
        <p:spPr>
          <a:xfrm>
            <a:off x="6876288" y="4398264"/>
            <a:ext cx="474847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ESTADO</a:t>
            </a:r>
            <a:endParaRPr lang="en-US" sz="1050" dirty="0"/>
          </a:p>
        </p:txBody>
      </p:sp>
      <p:sp>
        <p:nvSpPr>
          <p:cNvPr id="18" name="Text 15"/>
          <p:cNvSpPr/>
          <p:nvPr/>
        </p:nvSpPr>
        <p:spPr>
          <a:xfrm>
            <a:off x="6876288" y="4709160"/>
            <a:ext cx="4748479" cy="530352"/>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Variables que viven en storage. Persisten y cuestan (Sesión 5).</a:t>
            </a:r>
            <a:endParaRPr lang="en-US" sz="1200" dirty="0"/>
          </a:p>
        </p:txBody>
      </p:sp>
      <p:sp>
        <p:nvSpPr>
          <p:cNvPr id="19" name="Text 16"/>
          <p:cNvSpPr/>
          <p:nvPr/>
        </p:nvSpPr>
        <p:spPr>
          <a:xfrm>
            <a:off x="6876288" y="5285232"/>
            <a:ext cx="474847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EVENTOS Y FUNCIONES</a:t>
            </a:r>
            <a:endParaRPr lang="en-US" sz="1050" dirty="0"/>
          </a:p>
        </p:txBody>
      </p:sp>
      <p:sp>
        <p:nvSpPr>
          <p:cNvPr id="20" name="Text 17"/>
          <p:cNvSpPr/>
          <p:nvPr/>
        </p:nvSpPr>
        <p:spPr>
          <a:xfrm>
            <a:off x="6876288" y="5596128"/>
            <a:ext cx="4748479" cy="530352"/>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Lo que el contrato expone y lo que cuenta al exterior.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LA VERSIÓN DEL COMPILADOR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PRAGMA: FIJAR CON QUIÉN SE COMPILA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566160"/>
                <a:gridCol w="301752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ESCRITURA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ACEPTA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CUÁNDO USARLA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pragma solidity 0.8.34;</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Solo 0.8.34.</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Contratos que se despliegan: el bytecode verificado debe ser reproducible. Es la que usamos en clase.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pragma solidity ^0.8.34;</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0.8.34 o superior, dentro de 0.8.x.</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Bibliotecas y material que otros reutilizan con otra versión.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pragma solidity &gt;=0.8.0 &lt;0.9.0;</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Todo el rango indicado.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Código que otros compilarán con versiones distintas.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322576"/>
          </a:xfrm>
          <a:prstGeom prst="rect">
            <a:avLst/>
          </a:prstGeom>
          <a:ln w="22225">
            <a:solidFill>
              <a:srgbClr val="0F0F11"/>
            </a:solidFill>
            <a:prstDash val="solid"/>
          </a:ln>
        </p:spPr>
      </p:sp>
      <p:sp>
        <p:nvSpPr>
          <p:cNvPr id="10" name="Shape 6"/>
          <p:cNvSpPr/>
          <p:nvPr/>
        </p:nvSpPr>
        <p:spPr>
          <a:xfrm>
            <a:off x="566928" y="4251960"/>
            <a:ext cx="11057839" cy="12344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471416"/>
            <a:ext cx="237744" cy="237744"/>
          </a:xfrm>
          <a:prstGeom prst="rect">
            <a:avLst/>
          </a:prstGeom>
        </p:spPr>
      </p:pic>
      <p:sp>
        <p:nvSpPr>
          <p:cNvPr id="12" name="Text 7"/>
          <p:cNvSpPr/>
          <p:nvPr/>
        </p:nvSpPr>
        <p:spPr>
          <a:xfrm>
            <a:off x="1133856" y="44439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POR QUÉ IMPORTA LA 0.8</a:t>
            </a:r>
            <a:endParaRPr lang="en-US" sz="950" dirty="0"/>
          </a:p>
        </p:txBody>
      </p:sp>
      <p:sp>
        <p:nvSpPr>
          <p:cNvPr id="13" name="Text 8"/>
          <p:cNvSpPr/>
          <p:nvPr/>
        </p:nvSpPr>
        <p:spPr>
          <a:xfrm>
            <a:off x="804672" y="4764024"/>
            <a:ext cx="10582351" cy="6309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Desde la versión 0.8.0, una suma que se desborda revierte automáticamente. Antes daba la vuelta en silencio: 255 + 1 en un uint8 daba 0. Ese cambio eliminó una familia entera de robos, como veremos en la Sesión 9.</a:t>
            </a:r>
            <a:endParaRPr lang="en-US" sz="1300" dirty="0"/>
          </a:p>
        </p:txBody>
      </p:sp>
      <p:sp>
        <p:nvSpPr>
          <p:cNvPr id="14" name="Text 9"/>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Error típico al verificar en el explorador: elegir otra versión del compilador. El bytecode no coincide y la verificación falla.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TIPOS DE VALOR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LOS TIPOS QUE VAN A USAR TODO EL SEMESTRE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393192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TIPO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GUARDA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 QUE IMPORTA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uint256</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Entero sin signo de 256 bits. Existen de uint8 a uint256.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natural de la EVM. Usar tamaños menores solo ahorra al empaquetar en storage (Sesión 7).</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int256</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Entero con signo.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Poco usado: saldos y montos nunca son negativos.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bool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true o false.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Ocupa un byte en storage, no un bit.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address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Dirección de 20 bytes.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address payable, además, puede recibir ETH con transfer y send.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bytes32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Exactamente 32 bytes.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tipo natural de un hash. Barato y de tamaño fijo.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bytes · string</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Secuencias de tamaño variable.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Caros. string no tiene longitud ni comparación nativa: se convierte a bytes.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014216"/>
          </a:xfrm>
          <a:prstGeom prst="rect">
            <a:avLst/>
          </a:prstGeom>
          <a:ln w="22225">
            <a:solidFill>
              <a:srgbClr val="0F0F11"/>
            </a:solidFill>
            <a:prstDash val="solid"/>
          </a:ln>
        </p:spPr>
      </p:sp>
      <p:sp>
        <p:nvSpPr>
          <p:cNvPr id="10" name="Text 6"/>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No existe float ni double. Los montos se guardan en la unidad más pequeña, como el wei (Sesión 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LO QUE SORPRENDE DE LOS TIPOS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VALORES POR DEFECTO, LÍMITES Y COMPARACIONES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11057839" cy="292608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670048"/>
          </a:xfrm>
          <a:prstGeom prst="rect">
            <a:avLst/>
          </a:prstGeom>
          <a:noFill/>
          <a:ln/>
        </p:spPr>
        <p:txBody>
          <a:bodyPr wrap="square" lIns="0" tIns="0" rIns="0" bIns="0" rtlCol="0" anchor="t"/>
          <a:lstStyle/>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vale 0: toda variable nace en cero</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vale false</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vale address(0)</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uint8</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255</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REVIERTE: desbordamiento (desde 0.8.0)</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memory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"Sistemas"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if (p == "Sistemas")                        NO COMPILA</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keccak256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keccak256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"Sistemas"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así sí</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length</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¿vacío?</a:t>
            </a:r>
            <a:endParaRPr lang="en-US" sz="1200" dirty="0"/>
          </a:p>
        </p:txBody>
      </p:sp>
      <p:sp>
        <p:nvSpPr>
          <p:cNvPr id="10" name="Shape 7"/>
          <p:cNvSpPr/>
          <p:nvPr/>
        </p:nvSpPr>
        <p:spPr>
          <a:xfrm>
            <a:off x="566928" y="4800600"/>
            <a:ext cx="5391760" cy="144475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49834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LA CONSECUENCIA DE LOS CEROS</a:t>
            </a:r>
            <a:endParaRPr lang="en-US" sz="1050" dirty="0"/>
          </a:p>
        </p:txBody>
      </p:sp>
      <p:sp>
        <p:nvSpPr>
          <p:cNvPr id="12" name="Text 9"/>
          <p:cNvSpPr/>
          <p:nvPr/>
        </p:nvSpPr>
        <p:spPr>
          <a:xfrm>
            <a:off x="841248" y="5367528"/>
            <a:ext cx="4843120" cy="71323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No hay «null». Un certificado que nunca se emitió no da error: devuelve ceros. Por eso el laboratorio guarda un campo existe.</a:t>
            </a:r>
            <a:endParaRPr lang="en-US" sz="1150" dirty="0"/>
          </a:p>
        </p:txBody>
      </p:sp>
      <p:sp>
        <p:nvSpPr>
          <p:cNvPr id="13" name="Shape 10"/>
          <p:cNvSpPr/>
          <p:nvPr/>
        </p:nvSpPr>
        <p:spPr>
          <a:xfrm>
            <a:off x="6233008" y="4800600"/>
            <a:ext cx="5391760" cy="1444752"/>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49834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DE LOS STRINGS</a:t>
            </a:r>
            <a:endParaRPr lang="en-US" sz="1050" dirty="0"/>
          </a:p>
        </p:txBody>
      </p:sp>
      <p:sp>
        <p:nvSpPr>
          <p:cNvPr id="15" name="Text 12"/>
          <p:cNvSpPr/>
          <p:nvPr/>
        </p:nvSpPr>
        <p:spPr>
          <a:xfrm>
            <a:off x="6507328" y="5367528"/>
            <a:ext cx="4843120" cy="71323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Comparar textos exige hashearlos. Por eso en cadena se prefieren bytes32 e identificadores numéricos.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DÓNDE VIVE CADA VARIABLE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VARIABLES DE ESTADO Y VARIABLES LOCALES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737360"/>
            <a:ext cx="11057839" cy="237744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121408"/>
          </a:xfrm>
          <a:prstGeom prst="rect">
            <a:avLst/>
          </a:prstGeom>
          <a:noFill/>
          <a:ln/>
        </p:spPr>
        <p:txBody>
          <a:bodyPr wrap="square" lIns="0" tIns="0" rIns="0" bIns="0" rtlCol="0" anchor="t"/>
          <a:lstStyle/>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Tienda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ventas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ESTADO · storage · persiste</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vender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conIva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119</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100</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LOCAL · desaparece</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ventas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conIva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escritura en storage</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566928" y="429768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44805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ESTADO</a:t>
            </a:r>
            <a:endParaRPr lang="en-US" sz="1050" dirty="0"/>
          </a:p>
        </p:txBody>
      </p:sp>
      <p:sp>
        <p:nvSpPr>
          <p:cNvPr id="12" name="Text 9"/>
          <p:cNvSpPr/>
          <p:nvPr/>
        </p:nvSpPr>
        <p:spPr>
          <a:xfrm>
            <a:off x="841248" y="4864608"/>
            <a:ext cx="4843120" cy="10972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Declarada fuera de las funciones.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Vive en storage: la cadena la recuerda para siempre.</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Estrenar una ranura: 22 100 de gas (Sesión 5).</a:t>
            </a:r>
            <a:endParaRPr lang="en-US" sz="1250" dirty="0"/>
          </a:p>
        </p:txBody>
      </p:sp>
      <p:sp>
        <p:nvSpPr>
          <p:cNvPr id="13" name="Shape 10"/>
          <p:cNvSpPr/>
          <p:nvPr/>
        </p:nvSpPr>
        <p:spPr>
          <a:xfrm>
            <a:off x="6233008" y="429768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44805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LOCAL</a:t>
            </a:r>
            <a:endParaRPr lang="en-US" sz="1050" dirty="0"/>
          </a:p>
        </p:txBody>
      </p:sp>
      <p:sp>
        <p:nvSpPr>
          <p:cNvPr id="15" name="Text 12"/>
          <p:cNvSpPr/>
          <p:nvPr/>
        </p:nvSpPr>
        <p:spPr>
          <a:xfrm>
            <a:off x="6507328" y="4864608"/>
            <a:ext cx="4843120" cy="10972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Declarada dentro de una función.</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Vive en la pila o en memory: se borra al terminar.</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Casi gratis.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EL COSTO DEL STORAGE, MEDIDO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CUÁNTO CUESTA EL CONTRATO DE HOY</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474720"/>
                <a:gridCol w="2194560"/>
                <a:gridCol w="53885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OPERACIÓN EN CERTIFICADOSUSB</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 MEDIDO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Desplegar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557 963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Guardar 2 221 bytes de código en la cadena, más el constructor.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Emitir el primer certificado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94 806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Estrena 2 ranuras del certificado y la del contador emitidos (0 →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Emitir los siguientes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77 706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contador ya existe: 1 → 2 cuesta 5 000 y no 22 100. Diferencia: 17 100.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Revocar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32 460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Cambia un bool en una ranura que ya existe, y emite un evento.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Cambiar el emisor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28 636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Sobrescribe una dirección.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Verificar (view)</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 para quien consulta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 una lectura al nodo, no una transacción.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465576"/>
          </a:xfrm>
          <a:prstGeom prst="rect">
            <a:avLst/>
          </a:prstGeom>
          <a:ln w="22225">
            <a:solidFill>
              <a:srgbClr val="0F0F11"/>
            </a:solidFill>
            <a:prstDash val="solid"/>
          </a:ln>
        </p:spPr>
      </p:sp>
      <p:sp>
        <p:nvSpPr>
          <p:cNvPr id="10" name="Text 6"/>
          <p:cNvSpPr/>
          <p:nvPr/>
        </p:nvSpPr>
        <p:spPr>
          <a:xfrm>
            <a:off x="566928" y="530352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Con una tarifa base cercana a 1 gwei, como la de Sepolia en septiembre de 2026, desplegar cuesta del orden de 0,0006 ETH de prueba y emitir, 0,0001.</a:t>
            </a:r>
            <a:endParaRPr lang="en-US" sz="1250" dirty="0"/>
          </a:p>
        </p:txBody>
      </p:sp>
      <p:sp>
        <p:nvSpPr>
          <p:cNvPr id="11" name="Text 7"/>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Error típico: «guardemos el PDF del diploma en el contrato». Un PDF de 100 KB son más de 3 000 ranuras: decenas de millones de gas.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QUIÉN PUEDE LLAMAR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VISIBILIDAD: CUATRO PALABRAS, CUATRO FRONTERAS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2377440"/>
                <a:gridCol w="3566160"/>
                <a:gridCol w="27367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VISIBILIDAD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DESDE FUERA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DESDE ESTE CONTRATO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DESDE UN HIJO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7091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public</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external</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Solo con this.funcion()</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No directamente</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7091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internal</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private</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Sí</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Shape 6"/>
          <p:cNvSpPr/>
          <p:nvPr/>
        </p:nvSpPr>
        <p:spPr>
          <a:xfrm>
            <a:off x="566928" y="4160520"/>
            <a:ext cx="11057839" cy="13258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1" name="Image 1" descr="preencoded.png">    </p:cNvPr>
          <p:cNvPicPr>
            <a:picLocks noChangeAspect="1"/>
          </p:cNvPicPr>
          <p:nvPr/>
        </p:nvPicPr>
        <p:blipFill>
          <a:blip r:embed="rId2"/>
          <a:stretch>
            <a:fillRect/>
          </a:stretch>
        </p:blipFill>
        <p:spPr>
          <a:xfrm>
            <a:off x="804672" y="4379976"/>
            <a:ext cx="237744" cy="237744"/>
          </a:xfrm>
          <a:prstGeom prst="rect">
            <a:avLst/>
          </a:prstGeom>
        </p:spPr>
      </p:pic>
      <p:sp>
        <p:nvSpPr>
          <p:cNvPr id="12" name="Text 7"/>
          <p:cNvSpPr/>
          <p:nvPr/>
        </p:nvSpPr>
        <p:spPr>
          <a:xfrm>
            <a:off x="1133856" y="43525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PRIVATE NO SIGNIFICA SECRETO</a:t>
            </a:r>
            <a:endParaRPr lang="en-US" sz="950" dirty="0"/>
          </a:p>
        </p:txBody>
      </p:sp>
      <p:sp>
        <p:nvSpPr>
          <p:cNvPr id="13" name="Text 8"/>
          <p:cNvSpPr/>
          <p:nvPr/>
        </p:nvSpPr>
        <p:spPr>
          <a:xfrm>
            <a:off x="804672" y="4672584"/>
            <a:ext cx="10582351" cy="722376"/>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private solo impide que OTROS CONTRATOS la lean. Cualquier persona puede leer el storage completo de cualquier contrato con una llamada al nodo. Guardar una contraseña en una variable private es publicarla.</a:t>
            </a:r>
            <a:endParaRPr lang="en-US" sz="1350" dirty="0"/>
          </a:p>
        </p:txBody>
      </p:sp>
      <p:sp>
        <p:nvSpPr>
          <p:cNvPr id="14" name="Text 9"/>
          <p:cNvSpPr/>
          <p:nvPr/>
        </p:nvSpPr>
        <p:spPr>
          <a:xfrm>
            <a:off x="566928" y="5669280"/>
            <a:ext cx="11057839" cy="530352"/>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variable de estado public genera automáticamente una función de lectura con su nombre. Por eso se puede consultar emisor() en el laboratorio sin haberla escrito.</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QUÉ HACE LA FUNCIÓN CON EL ESTADO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VIEW, PURE Y PAYABLE</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1645920"/>
                <a:gridCol w="1920240"/>
                <a:gridCol w="173736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MODIFICADOR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LEE 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CAMBIA 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RECIBE ETH</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COSTO SI SE LLAMA DESDE FUERA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(ninguno)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Transacción: cuesta gas.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view</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Llamada gratuita al nodo.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pure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Llamada gratuita al nodo.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payable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Transacción: cuesta gas.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Text 6"/>
          <p:cNvSpPr/>
          <p:nvPr/>
        </p:nvSpPr>
        <p:spPr>
          <a:xfrm>
            <a:off x="566928" y="4114800"/>
            <a:ext cx="11057839" cy="365760"/>
          </a:xfrm>
          <a:prstGeom prst="rect">
            <a:avLst/>
          </a:prstGeom>
          <a:noFill/>
          <a:ln/>
        </p:spPr>
        <p:txBody>
          <a:bodyPr wrap="square" lIns="0" tIns="0" rIns="0" bIns="0" rtlCol="0" anchor="t"/>
          <a:lstStyle/>
          <a:p>
            <a:pPr indent="0" marL="0">
              <a:lnSpc>
                <a:spcPct val="124000"/>
              </a:lnSpc>
              <a:buNone/>
            </a:pPr>
            <a:r>
              <a:rPr lang="en-US" sz="1400" b="1" dirty="0">
                <a:solidFill>
                  <a:srgbClr val="0F0F11"/>
                </a:solidFill>
                <a:latin typeface="Arial" pitchFamily="34" charset="0"/>
                <a:ea typeface="Arial" pitchFamily="34" charset="-122"/>
                <a:cs typeface="Arial" pitchFamily="34" charset="-120"/>
              </a:rPr>
              <a:t>«Gratuita» tiene letra pequeña:</a:t>
            </a:r>
            <a:endParaRPr lang="en-US" sz="1400" dirty="0"/>
          </a:p>
        </p:txBody>
      </p:sp>
      <p:sp>
        <p:nvSpPr>
          <p:cNvPr id="11" name="Text 7"/>
          <p:cNvSpPr/>
          <p:nvPr/>
        </p:nvSpPr>
        <p:spPr>
          <a:xfrm>
            <a:off x="566928" y="4526280"/>
            <a:ext cx="11057839" cy="164592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00" dirty="0">
                <a:solidFill>
                  <a:srgbClr val="3A3844"/>
                </a:solidFill>
                <a:latin typeface="Arial" pitchFamily="34" charset="0"/>
                <a:ea typeface="Arial" pitchFamily="34" charset="-122"/>
                <a:cs typeface="Arial" pitchFamily="34" charset="-120"/>
              </a:rPr>
              <a:t>Es gratis cuando una aplicación la consulta directamente a un nodo: no se crea transacción.</a:t>
            </a:r>
            <a:endParaRPr lang="en-US" sz="1300" dirty="0"/>
          </a:p>
          <a:p>
            <a:pPr marL="203200" indent="-203200">
              <a:lnSpc>
                <a:spcPct val="118000"/>
              </a:lnSpc>
              <a:spcAft>
                <a:spcPts val="600"/>
              </a:spcAft>
              <a:buSzPct val="100000"/>
              <a:buChar char="■"/>
            </a:pPr>
            <a:r>
              <a:rPr lang="en-US" sz="1300" dirty="0">
                <a:solidFill>
                  <a:srgbClr val="3A3844"/>
                </a:solidFill>
                <a:latin typeface="Arial" pitchFamily="34" charset="0"/>
                <a:ea typeface="Arial" pitchFamily="34" charset="-122"/>
                <a:cs typeface="Arial" pitchFamily="34" charset="-120"/>
              </a:rPr>
              <a:t>Si otro contrato la llama dentro de una transacción, el gas se paga igual: verificar() costaría unos 27 000.</a:t>
            </a:r>
            <a:endParaRPr lang="en-US" sz="1300" dirty="0"/>
          </a:p>
          <a:p>
            <a:pPr marL="203200" indent="-203200">
              <a:lnSpc>
                <a:spcPct val="118000"/>
              </a:lnSpc>
              <a:spcAft>
                <a:spcPts val="600"/>
              </a:spcAft>
              <a:buSzPct val="100000"/>
              <a:buChar char="■"/>
            </a:pPr>
            <a:r>
              <a:rPr lang="en-US" sz="1300" dirty="0">
                <a:solidFill>
                  <a:srgbClr val="3A3844"/>
                </a:solidFill>
                <a:latin typeface="Arial" pitchFamily="34" charset="0"/>
                <a:ea typeface="Arial" pitchFamily="34" charset="-122"/>
                <a:cs typeface="Arial" pitchFamily="34" charset="-120"/>
              </a:rPr>
              <a:t>Una función sin payable que recibe ETH revierte: es una protección, no un descuido.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LO QUE EL CONTRATO SABE DEL MUNDO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VARIABLES GLOBALES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94560"/>
                <a:gridCol w="3931920"/>
                <a:gridCol w="49313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VARIABLE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CONTIENE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CUIDADO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762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msg.sender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Quién llamó directamente a esta función.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 un contrato llama a otro, es el contrato intermediario, no la persona.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62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msg.value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Cuántos wei vinieron con la llamada.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tiene sentido en funciones payable.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62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block.timestamp</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Marca de tiempo del bloque, en segundos.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elige el proponente del bloque dentro de un margen pequeño: no sirve para decisiones al segundo.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62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block.number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Altura del bloque.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es una medida exacta de tiempo.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62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tx.origin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cuenta externa que firmó la transacción original.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NUNCA para control de acceso. Es una vulnerabilidad clásica (Sesión 9).</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785616"/>
          </a:xfrm>
          <a:prstGeom prst="rect">
            <a:avLst/>
          </a:prstGeom>
          <a:ln w="22225">
            <a:solidFill>
              <a:srgbClr val="0F0F11"/>
            </a:solidFill>
            <a:prstDash val="solid"/>
          </a:ln>
        </p:spPr>
      </p:sp>
      <p:sp>
        <p:nvSpPr>
          <p:cNvPr id="10" name="Text 6"/>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Lo que NO hay: la hora real, archivos, internet, números aleatorios. Todo lo que el contrato sabe está en la cadena o viene en la llamada.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FALLAR BIEN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REQUIRE, REVERT, ERRORES PERSONALIZADOS Y ASSERT</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737360"/>
            <a:ext cx="11057839" cy="269748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441448"/>
          </a:xfrm>
          <a:prstGeom prst="rect">
            <a:avLst/>
          </a:prstGeom>
          <a:noFill/>
          <a:ln/>
        </p:spPr>
        <p:txBody>
          <a:bodyPr wrap="square" lIns="0" tIns="0" rIns="0" bIns="0" rtlCol="0" anchor="t"/>
          <a:lstStyle/>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1 · require con mensaje: simple, pero guarda el texto en el bytecode</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emisor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"no autorizado"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2 · error personalizado: más barato y lleva datos</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NoEsEmisor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quien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emisor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NoEsEmisor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3 · assert: para lo que NUNCA debería pasar</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assert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totalEmitidos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totalRevocados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4590288"/>
          <a:ext cx="11057839" cy="914400"/>
        </p:xfrm>
        <a:graphic>
          <a:graphicData uri="http://schemas.openxmlformats.org/drawingml/2006/table">
            <a:tbl>
              <a:tblPr/>
              <a:tblGrid>
                <a:gridCol w="2377440"/>
                <a:gridCol w="4937760"/>
                <a:gridCol w="374263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QUÉ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328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require / revert</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Validar entradas, permisos y condiciones de uso.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Consumido hasta el error; el resto se devuelve.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328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error personalizado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Lo mismo, con datos estructurados que la interfaz puede mostrar.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Menor: no almacena cadenas de texto.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328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assert</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Invariantes internas. Si falla, hay un error de programación.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Produce un Panic: señal de defecto, no de uso.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572000"/>
            <a:ext cx="11094415" cy="1645920"/>
          </a:xfrm>
          <a:prstGeom prst="rect">
            <a:avLst/>
          </a:prstGeom>
          <a:ln w="22225">
            <a:solidFill>
              <a:srgbClr val="0F0F1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UN REVERT, VISTO DESDE FUERA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VE QUIEN LLAMA CUANDO ALGO FALLA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737360"/>
            <a:ext cx="11057839" cy="914400"/>
          </a:xfrm>
          <a:prstGeom prst="rect">
            <a:avLst/>
          </a:prstGeom>
          <a:solidFill>
            <a:srgbClr val="FFFFFF"/>
          </a:solidFill>
          <a:ln w="15875">
            <a:solidFill>
              <a:srgbClr val="D9D6E0"/>
            </a:solidFill>
            <a:prstDash val="solid"/>
          </a:ln>
        </p:spPr>
      </p:sp>
      <p:sp>
        <p:nvSpPr>
          <p:cNvPr id="9" name="Text 6"/>
          <p:cNvSpPr/>
          <p:nvPr/>
        </p:nvSpPr>
        <p:spPr>
          <a:xfrm>
            <a:off x="694944" y="1737360"/>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48256"/>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BILLETERA SIMULA</a:t>
            </a:r>
            <a:endParaRPr lang="en-US" sz="1000" dirty="0"/>
          </a:p>
        </p:txBody>
      </p:sp>
      <p:sp>
        <p:nvSpPr>
          <p:cNvPr id="11" name="Text 8"/>
          <p:cNvSpPr/>
          <p:nvPr/>
        </p:nvSpPr>
        <p:spPr>
          <a:xfrm>
            <a:off x="4297680" y="1828800"/>
            <a:ext cx="72173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Antes de firmar, estima el gas ejecutando la llamada. Si revierte, avisa: en Remix aparece «Gas estimation failed».</a:t>
            </a:r>
            <a:endParaRPr lang="en-US" sz="1250" dirty="0"/>
          </a:p>
        </p:txBody>
      </p:sp>
      <p:sp>
        <p:nvSpPr>
          <p:cNvPr id="12" name="Shape 9"/>
          <p:cNvSpPr/>
          <p:nvPr/>
        </p:nvSpPr>
        <p:spPr>
          <a:xfrm>
            <a:off x="566928" y="2779776"/>
            <a:ext cx="11057839" cy="914400"/>
          </a:xfrm>
          <a:prstGeom prst="rect">
            <a:avLst/>
          </a:prstGeom>
          <a:solidFill>
            <a:srgbClr val="FAF9FB"/>
          </a:solidFill>
          <a:ln w="15875">
            <a:solidFill>
              <a:srgbClr val="D9D6E0"/>
            </a:solidFill>
            <a:prstDash val="solid"/>
          </a:ln>
        </p:spPr>
      </p:sp>
      <p:sp>
        <p:nvSpPr>
          <p:cNvPr id="13" name="Text 10"/>
          <p:cNvSpPr/>
          <p:nvPr/>
        </p:nvSpPr>
        <p:spPr>
          <a:xfrm>
            <a:off x="694944" y="2779776"/>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090672"/>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ERROR VIAJA CODIFICADO</a:t>
            </a:r>
            <a:endParaRPr lang="en-US" sz="1000" dirty="0"/>
          </a:p>
        </p:txBody>
      </p:sp>
      <p:sp>
        <p:nvSpPr>
          <p:cNvPr id="15" name="Text 12"/>
          <p:cNvSpPr/>
          <p:nvPr/>
        </p:nvSpPr>
        <p:spPr>
          <a:xfrm>
            <a:off x="4297680" y="2871216"/>
            <a:ext cx="72173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NoEsEmisor(0xf39F…2266) viaja como 0x63898998 + la dirección: el selector del error y su argumento, igual que una función.</a:t>
            </a:r>
            <a:endParaRPr lang="en-US" sz="1250" dirty="0"/>
          </a:p>
        </p:txBody>
      </p:sp>
      <p:sp>
        <p:nvSpPr>
          <p:cNvPr id="16" name="Shape 13"/>
          <p:cNvSpPr/>
          <p:nvPr/>
        </p:nvSpPr>
        <p:spPr>
          <a:xfrm>
            <a:off x="566928" y="3822192"/>
            <a:ext cx="11057839" cy="914400"/>
          </a:xfrm>
          <a:prstGeom prst="rect">
            <a:avLst/>
          </a:prstGeom>
          <a:solidFill>
            <a:srgbClr val="FFFFFF"/>
          </a:solidFill>
          <a:ln w="15875">
            <a:solidFill>
              <a:srgbClr val="D9D6E0"/>
            </a:solidFill>
            <a:prstDash val="solid"/>
          </a:ln>
        </p:spPr>
      </p:sp>
      <p:sp>
        <p:nvSpPr>
          <p:cNvPr id="17" name="Text 14"/>
          <p:cNvSpPr/>
          <p:nvPr/>
        </p:nvSpPr>
        <p:spPr>
          <a:xfrm>
            <a:off x="694944" y="3822192"/>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4133088"/>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SI SE FIRMA IGUAL</a:t>
            </a:r>
            <a:endParaRPr lang="en-US" sz="1000" dirty="0"/>
          </a:p>
        </p:txBody>
      </p:sp>
      <p:sp>
        <p:nvSpPr>
          <p:cNvPr id="19" name="Text 16"/>
          <p:cNvSpPr/>
          <p:nvPr/>
        </p:nvSpPr>
        <p:spPr>
          <a:xfrm>
            <a:off x="4297680" y="3913632"/>
            <a:ext cx="72173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transacción entra a un bloque con Status Fail, se paga el gas consumido y no cambia nada. Es la evidencia del intento fallido del laboratorio.</a:t>
            </a:r>
            <a:endParaRPr lang="en-US" sz="1250" dirty="0"/>
          </a:p>
        </p:txBody>
      </p:sp>
      <p:sp>
        <p:nvSpPr>
          <p:cNvPr id="20" name="Shape 17"/>
          <p:cNvSpPr/>
          <p:nvPr/>
        </p:nvSpPr>
        <p:spPr>
          <a:xfrm>
            <a:off x="566928" y="5029200"/>
            <a:ext cx="11057839" cy="1143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1"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22" name="Text 18"/>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a:t>
            </a:r>
            <a:endParaRPr lang="en-US" sz="950" dirty="0"/>
          </a:p>
        </p:txBody>
      </p:sp>
      <p:sp>
        <p:nvSpPr>
          <p:cNvPr id="23" name="Text 19"/>
          <p:cNvSpPr/>
          <p:nvPr/>
        </p:nvSpPr>
        <p:spPr>
          <a:xfrm>
            <a:off x="804672" y="5541264"/>
            <a:ext cx="10582351" cy="5394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revierte, no pasó nada». Para el estado es cierto. Para quien firmó, no: el gas consumido se cobra y el intento queda para siempre en la cadena.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CONTARLE AL MUNDO LO QUE PASÓ</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EVENTOS</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737360"/>
            <a:ext cx="11057839" cy="1097280"/>
          </a:xfrm>
          <a:prstGeom prst="rect">
            <a:avLst/>
          </a:prstGeom>
          <a:solidFill>
            <a:srgbClr val="16151B"/>
          </a:solidFill>
          <a:ln w="22225">
            <a:solidFill>
              <a:srgbClr val="16151B"/>
            </a:solidFill>
            <a:prstDash val="solid"/>
          </a:ln>
        </p:spPr>
      </p:sp>
      <p:sp>
        <p:nvSpPr>
          <p:cNvPr id="9" name="Text 6"/>
          <p:cNvSpPr/>
          <p:nvPr/>
        </p:nvSpPr>
        <p:spPr>
          <a:xfrm>
            <a:off x="768096" y="1883664"/>
            <a:ext cx="10655503" cy="84124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event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CertificadoEmitido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fecha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CertificadoEmitido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ahora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66928" y="3017520"/>
            <a:ext cx="5391760" cy="25146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2004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QUÉ EXISTEN</a:t>
            </a:r>
            <a:endParaRPr lang="en-US" sz="1050" dirty="0"/>
          </a:p>
        </p:txBody>
      </p:sp>
      <p:sp>
        <p:nvSpPr>
          <p:cNvPr id="12" name="Text 9"/>
          <p:cNvSpPr/>
          <p:nvPr/>
        </p:nvSpPr>
        <p:spPr>
          <a:xfrm>
            <a:off x="841248" y="3584448"/>
            <a:ext cx="4843120" cy="17830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Son la forma barata de dejar constancia: menos de la mitad que escribir en storage (medido en la Sesión 5).</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Las aplicaciones se suscriben a ellos para actualizarse sin consultar todo el tiempo.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Quedan en el recibo de la transacción, para siempre.</a:t>
            </a:r>
            <a:endParaRPr lang="en-US" sz="1250" dirty="0"/>
          </a:p>
        </p:txBody>
      </p:sp>
      <p:sp>
        <p:nvSpPr>
          <p:cNvPr id="13" name="Shape 10"/>
          <p:cNvSpPr/>
          <p:nvPr/>
        </p:nvSpPr>
        <p:spPr>
          <a:xfrm>
            <a:off x="6233008" y="3017520"/>
            <a:ext cx="5391760" cy="2514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2004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NO PUEDEN HACER</a:t>
            </a:r>
            <a:endParaRPr lang="en-US" sz="1050" dirty="0"/>
          </a:p>
        </p:txBody>
      </p:sp>
      <p:sp>
        <p:nvSpPr>
          <p:cNvPr id="15" name="Text 12"/>
          <p:cNvSpPr/>
          <p:nvPr/>
        </p:nvSpPr>
        <p:spPr>
          <a:xfrm>
            <a:off x="6507328" y="3584448"/>
            <a:ext cx="4843120" cy="17830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Otro contrato NO puede leer un evento. Si la lógica lo necesita, va en storage.</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Hasta 3 parámetros indexed: son los que se pueden filtrar rápido.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Un evento no prueba nada por sí mismo si el contrato que lo emite no es el esperado.</a:t>
            </a:r>
            <a:endParaRPr lang="en-US" sz="1250" dirty="0"/>
          </a:p>
        </p:txBody>
      </p:sp>
      <p:sp>
        <p:nvSpPr>
          <p:cNvPr id="16" name="Text 13"/>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Regla práctica: toda función que cambia el estado emite un evento. Sin evento, la interfaz de la Sesión 12 no se entera.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UN EVENTO DENTRO DEL RECIBO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CÓMO SE VE CERTIFICADOEMITIDO EN EL EXPLORADOR</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4206240"/>
                <a:gridCol w="4839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PARTE DEL LOG</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CONTENIDO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SALE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092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Address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dirección de SU contrato.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Quién emitió: lo primero que se comprueba.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92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Topics[0]</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0x774ca613…3fd6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keccak256("CertificadoEmitido(bytes32,string,uint64)")</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92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Topics[1]</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hash del diploma, completo.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parámetro indexed: por eso se puede buscar.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92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Data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«Ingenieria de Sistemas» y la fecha, codificados en ABI.</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Los no indexados: se leen, no se filtran.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551176"/>
          </a:xfrm>
          <a:prstGeom prst="rect">
            <a:avLst/>
          </a:prstGeom>
          <a:ln w="22225">
            <a:solidFill>
              <a:srgbClr val="0F0F11"/>
            </a:solidFill>
            <a:prstDash val="solid"/>
          </a:ln>
        </p:spPr>
      </p:sp>
      <p:sp>
        <p:nvSpPr>
          <p:cNvPr id="10" name="Shape 6"/>
          <p:cNvSpPr/>
          <p:nvPr/>
        </p:nvSpPr>
        <p:spPr>
          <a:xfrm>
            <a:off x="566928" y="4434840"/>
            <a:ext cx="11057839" cy="17373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12" name="Text 7"/>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POR QUÉ EL HASH VA INDEXADO</a:t>
            </a:r>
            <a:endParaRPr lang="en-US" sz="950" dirty="0"/>
          </a:p>
        </p:txBody>
      </p:sp>
      <p:sp>
        <p:nvSpPr>
          <p:cNvPr id="13" name="Text 8"/>
          <p:cNvSpPr/>
          <p:nvPr/>
        </p:nvSpPr>
        <p:spPr>
          <a:xfrm>
            <a:off x="804672" y="4946904"/>
            <a:ext cx="10582351" cy="113385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empresa que recibe un diploma calcula su hash y pregunta al nodo: «dame los eventos CertificadoEmitido cuyo Topics[1] sea este hash». Sin indexar, tendría que descargar y leer todos los eventos del contrato. Indexar el programa no aporta: nadie busca por programa.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INICIALIZAR Y PROTEGER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CONSTRUCTOR Y MODIFICADORES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737360"/>
            <a:ext cx="6492240" cy="4434840"/>
          </a:xfrm>
          <a:prstGeom prst="rect">
            <a:avLst/>
          </a:prstGeom>
          <a:solidFill>
            <a:srgbClr val="16151B"/>
          </a:solidFill>
          <a:ln w="22225">
            <a:solidFill>
              <a:srgbClr val="16151B"/>
            </a:solidFill>
            <a:prstDash val="solid"/>
          </a:ln>
        </p:spPr>
      </p:sp>
      <p:sp>
        <p:nvSpPr>
          <p:cNvPr id="9" name="Text 6"/>
          <p:cNvSpPr/>
          <p:nvPr/>
        </p:nvSpPr>
        <p:spPr>
          <a:xfrm>
            <a:off x="768096" y="1883664"/>
            <a:ext cx="6089904" cy="4178808"/>
          </a:xfrm>
          <a:prstGeom prst="rect">
            <a:avLst/>
          </a:prstGeom>
          <a:noFill/>
          <a:ln/>
        </p:spPr>
        <p:txBody>
          <a:bodyPr wrap="square" lIns="0" tIns="0" rIns="0" bIns="0" rtlCol="0" anchor="t"/>
          <a:lstStyle/>
          <a:p>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constructor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UNA vez, al desplegar</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modifier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soloEmisor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NoEsEmisor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aquí se inserta la función</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emitir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soloEmisor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solo llega aquí si pasó el modificador</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0" name="Text 7"/>
          <p:cNvSpPr/>
          <p:nvPr/>
        </p:nvSpPr>
        <p:spPr>
          <a:xfrm>
            <a:off x="7333488" y="1737360"/>
            <a:ext cx="4291279" cy="4434840"/>
          </a:xfrm>
          <a:prstGeom prst="rect">
            <a:avLst/>
          </a:prstGeom>
          <a:noFill/>
          <a:ln/>
        </p:spPr>
        <p:txBody>
          <a:bodyPr wrap="square" lIns="0" tIns="0" rIns="0" bIns="0" rtlCol="0" anchor="t"/>
          <a:lstStyle/>
          <a:p>
            <a:pPr marL="203200" indent="-203200">
              <a:lnSpc>
                <a:spcPct val="118000"/>
              </a:lnSpc>
              <a:spcAft>
                <a:spcPts val="1000"/>
              </a:spcAft>
              <a:buSzPct val="100000"/>
              <a:buChar char="■"/>
            </a:pPr>
            <a:r>
              <a:rPr lang="en-US" sz="1300" dirty="0">
                <a:solidFill>
                  <a:srgbClr val="3A3844"/>
                </a:solidFill>
                <a:latin typeface="Arial" pitchFamily="34" charset="0"/>
                <a:ea typeface="Arial" pitchFamily="34" charset="-122"/>
                <a:cs typeface="Arial" pitchFamily="34" charset="-120"/>
              </a:rPr>
              <a:t>El constructor no queda en el bytecode desplegado: corre una vez y desaparece.</a:t>
            </a:r>
            <a:endParaRPr lang="en-US" sz="1300" dirty="0"/>
          </a:p>
          <a:p>
            <a:pPr marL="203200" indent="-203200">
              <a:lnSpc>
                <a:spcPct val="118000"/>
              </a:lnSpc>
              <a:spcAft>
                <a:spcPts val="1000"/>
              </a:spcAft>
              <a:buSzPct val="100000"/>
              <a:buChar char="■"/>
            </a:pPr>
            <a:r>
              <a:rPr lang="en-US" sz="1300" dirty="0">
                <a:solidFill>
                  <a:srgbClr val="3A3844"/>
                </a:solidFill>
                <a:latin typeface="Arial" pitchFamily="34" charset="0"/>
                <a:ea typeface="Arial" pitchFamily="34" charset="-122"/>
                <a:cs typeface="Arial" pitchFamily="34" charset="-120"/>
              </a:rPr>
              <a:t>Quien despliega es msg.sender en el constructor. Por eso el emisor es la cuenta con la que se despliega.</a:t>
            </a:r>
            <a:endParaRPr lang="en-US" sz="1300" dirty="0"/>
          </a:p>
          <a:p>
            <a:pPr marL="203200" indent="-203200">
              <a:lnSpc>
                <a:spcPct val="118000"/>
              </a:lnSpc>
              <a:spcAft>
                <a:spcPts val="1000"/>
              </a:spcAft>
              <a:buSzPct val="100000"/>
              <a:buChar char="■"/>
            </a:pPr>
            <a:r>
              <a:rPr lang="en-US" sz="1300" dirty="0">
                <a:solidFill>
                  <a:srgbClr val="3A3844"/>
                </a:solidFill>
                <a:latin typeface="Arial" pitchFamily="34" charset="0"/>
                <a:ea typeface="Arial" pitchFamily="34" charset="-122"/>
                <a:cs typeface="Arial" pitchFamily="34" charset="-120"/>
              </a:rPr>
              <a:t>El guion bajo _; marca dónde se ejecuta la función protegida.</a:t>
            </a:r>
            <a:endParaRPr lang="en-US" sz="1300" dirty="0"/>
          </a:p>
          <a:p>
            <a:pPr marL="203200" indent="-203200">
              <a:lnSpc>
                <a:spcPct val="118000"/>
              </a:lnSpc>
              <a:spcAft>
                <a:spcPts val="1000"/>
              </a:spcAft>
              <a:buSzPct val="100000"/>
              <a:buChar char="■"/>
            </a:pPr>
            <a:r>
              <a:rPr lang="en-US" sz="1300" dirty="0">
                <a:solidFill>
                  <a:srgbClr val="3A3844"/>
                </a:solidFill>
                <a:latin typeface="Arial" pitchFamily="34" charset="0"/>
                <a:ea typeface="Arial" pitchFamily="34" charset="-122"/>
                <a:cs typeface="Arial" pitchFamily="34" charset="-120"/>
              </a:rPr>
              <a:t>Un modificador olvidado en UNA función abre la puerta entera. Revisar cada función que cambia estado.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VISTA PREVIA DE LA SESIÓN 7</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MAPPING QUE NECESITAMOS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laboratorio necesita buscar un certificado por su hash. Para eso existe el mapping: una tabla de pares clave → valor. Hoy basta con usarlo; la Sesión 7 lo estudia a fondo.</a:t>
            </a:r>
            <a:endParaRPr lang="en-US" sz="1450" dirty="0"/>
          </a:p>
        </p:txBody>
      </p:sp>
      <p:sp>
        <p:nvSpPr>
          <p:cNvPr id="9" name="Shape 6"/>
          <p:cNvSpPr/>
          <p:nvPr/>
        </p:nvSpPr>
        <p:spPr>
          <a:xfrm>
            <a:off x="566928" y="2743200"/>
            <a:ext cx="11057839" cy="1600200"/>
          </a:xfrm>
          <a:prstGeom prst="rect">
            <a:avLst/>
          </a:prstGeom>
          <a:solidFill>
            <a:srgbClr val="16151B"/>
          </a:solidFill>
          <a:ln w="22225">
            <a:solidFill>
              <a:srgbClr val="16151B"/>
            </a:solidFill>
            <a:prstDash val="solid"/>
          </a:ln>
        </p:spPr>
      </p:sp>
      <p:sp>
        <p:nvSpPr>
          <p:cNvPr id="10" name="Text 7"/>
          <p:cNvSpPr/>
          <p:nvPr/>
        </p:nvSpPr>
        <p:spPr>
          <a:xfrm>
            <a:off x="768096" y="2889504"/>
            <a:ext cx="10655503" cy="134416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private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hash</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fechaEmision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false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storage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hash</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referencia: los cambios se guardan</a:t>
            </a:r>
            <a:endParaRPr lang="en-US" sz="1200" dirty="0"/>
          </a:p>
        </p:txBody>
      </p:sp>
      <p:sp>
        <p:nvSpPr>
          <p:cNvPr id="11" name="Shape 8"/>
          <p:cNvSpPr/>
          <p:nvPr/>
        </p:nvSpPr>
        <p:spPr>
          <a:xfrm>
            <a:off x="566928" y="4572000"/>
            <a:ext cx="11057839" cy="15544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3" name="Text 9"/>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LO ÚNICO QUE HAY QUE SABER HOY</a:t>
            </a:r>
            <a:endParaRPr lang="en-US" sz="950" dirty="0"/>
          </a:p>
        </p:txBody>
      </p:sp>
      <p:sp>
        <p:nvSpPr>
          <p:cNvPr id="14" name="Text 10"/>
          <p:cNvSpPr/>
          <p:nvPr/>
        </p:nvSpPr>
        <p:spPr>
          <a:xfrm>
            <a:off x="804672" y="5084064"/>
            <a:ext cx="10582351" cy="9509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Toda clave existe: si nunca se escribió, devuelve el valor por defecto (ceros, falso, texto vacío). Por eso el certificado lleva el campo «existe»: sin él, no se distingue un certificado que nunca se emitió de uno emitido con datos vacíos.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LA DECISIÓN DE DISEÑO DEL LABORATORIO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NUNCA VA A UNA CADENA PÚBLICA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tentación es guardar el nombre del graduado, su cédula y su programa. Parece útil. Es un error grave, y no técnico: jurídico.</a:t>
            </a:r>
            <a:endParaRPr lang="en-US" sz="1450" dirty="0"/>
          </a:p>
        </p:txBody>
      </p:sp>
      <p:sp>
        <p:nvSpPr>
          <p:cNvPr id="9" name="Shape 6"/>
          <p:cNvSpPr/>
          <p:nvPr/>
        </p:nvSpPr>
        <p:spPr>
          <a:xfrm>
            <a:off x="566928" y="2468880"/>
            <a:ext cx="5391760" cy="23317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65176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CHOQUE</a:t>
            </a:r>
            <a:endParaRPr lang="en-US" sz="1050" dirty="0"/>
          </a:p>
        </p:txBody>
      </p:sp>
      <p:sp>
        <p:nvSpPr>
          <p:cNvPr id="11" name="Text 8"/>
          <p:cNvSpPr/>
          <p:nvPr/>
        </p:nvSpPr>
        <p:spPr>
          <a:xfrm>
            <a:off x="841248" y="3035808"/>
            <a:ext cx="4843120" cy="1600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Ley Estatutaria 1581 de 2012 de protección de datos personales da a toda persona derecho a conocer, actualizar, rectificar y pedir la supresión de sus datos. Una cadena pública es inmutable: lo escrito no se puede suprimir.</a:t>
            </a:r>
            <a:endParaRPr lang="en-US" sz="1300" dirty="0"/>
          </a:p>
        </p:txBody>
      </p:sp>
      <p:sp>
        <p:nvSpPr>
          <p:cNvPr id="12" name="Shape 9"/>
          <p:cNvSpPr/>
          <p:nvPr/>
        </p:nvSpPr>
        <p:spPr>
          <a:xfrm>
            <a:off x="6233008" y="2468880"/>
            <a:ext cx="5391760" cy="23317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6517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SALIDA</a:t>
            </a:r>
            <a:endParaRPr lang="en-US" sz="1050" dirty="0"/>
          </a:p>
        </p:txBody>
      </p:sp>
      <p:sp>
        <p:nvSpPr>
          <p:cNvPr id="14" name="Text 11"/>
          <p:cNvSpPr/>
          <p:nvPr/>
        </p:nvSpPr>
        <p:spPr>
          <a:xfrm>
            <a:off x="6507328" y="3035808"/>
            <a:ext cx="4843120" cy="1600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En la cadena va solo el HASH del archivo del diploma. Quien tiene el PDF calcula el hash y verifica. Quien no lo tiene no aprende nada: un hash no identifica a una persona por sí solo.</a:t>
            </a:r>
            <a:endParaRPr lang="en-US" sz="1300" dirty="0"/>
          </a:p>
        </p:txBody>
      </p:sp>
      <p:sp>
        <p:nvSpPr>
          <p:cNvPr id="15" name="Shape 12"/>
          <p:cNvSpPr/>
          <p:nvPr/>
        </p:nvSpPr>
        <p:spPr>
          <a:xfrm>
            <a:off x="566928" y="4983480"/>
            <a:ext cx="11057839" cy="117043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6"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7" name="Text 13"/>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REGLA PARA EL ANTEPROYECTO</a:t>
            </a:r>
            <a:endParaRPr lang="en-US" sz="950" dirty="0"/>
          </a:p>
        </p:txBody>
      </p:sp>
      <p:sp>
        <p:nvSpPr>
          <p:cNvPr id="18" name="Text 14"/>
          <p:cNvSpPr/>
          <p:nvPr/>
        </p:nvSpPr>
        <p:spPr>
          <a:xfrm>
            <a:off x="804672" y="5495544"/>
            <a:ext cx="10582351" cy="566928"/>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su proyecto maneja datos de personas, el anteproyecto tiene que decir explícitamente qué va en la cadena, qué va fuera y por qué. Un proyecto que guarde datos personales en cadena no se aprueba.</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EL CONTRATO DEL LABORATORIO · 1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EMITIR: VALIDAR, GUARDAR, AVISAR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737360"/>
            <a:ext cx="6949440" cy="4434840"/>
          </a:xfrm>
          <a:prstGeom prst="rect">
            <a:avLst/>
          </a:prstGeom>
          <a:solidFill>
            <a:srgbClr val="16151B"/>
          </a:solidFill>
          <a:ln w="22225">
            <a:solidFill>
              <a:srgbClr val="16151B"/>
            </a:solidFill>
            <a:prstDash val="solid"/>
          </a:ln>
        </p:spPr>
      </p:sp>
      <p:sp>
        <p:nvSpPr>
          <p:cNvPr id="9" name="Text 6"/>
          <p:cNvSpPr/>
          <p:nvPr/>
        </p:nvSpPr>
        <p:spPr>
          <a:xfrm>
            <a:off x="768096" y="1883664"/>
            <a:ext cx="6547104" cy="4178808"/>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emitir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soloEmisor</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HashVacio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ProgramaVacio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YaEmitido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ahora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ahora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false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emitidos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CertificadoEmitido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hashDocumento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ahora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0" name="Text 7"/>
          <p:cNvSpPr/>
          <p:nvPr/>
        </p:nvSpPr>
        <p:spPr>
          <a:xfrm>
            <a:off x="7790688" y="173736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VALIDAR PRIMERO</a:t>
            </a:r>
            <a:endParaRPr lang="en-US" sz="1000" dirty="0"/>
          </a:p>
        </p:txBody>
      </p:sp>
      <p:sp>
        <p:nvSpPr>
          <p:cNvPr id="11" name="Text 8"/>
          <p:cNvSpPr/>
          <p:nvPr/>
        </p:nvSpPr>
        <p:spPr>
          <a:xfrm>
            <a:off x="7790688" y="2048256"/>
            <a:ext cx="3834079" cy="749808"/>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Todas las comprobaciones antes de tocar el estado. Si algo falla, no se escribió nada.</a:t>
            </a:r>
            <a:endParaRPr lang="en-US" sz="1200" dirty="0"/>
          </a:p>
        </p:txBody>
      </p:sp>
      <p:sp>
        <p:nvSpPr>
          <p:cNvPr id="12" name="Text 9"/>
          <p:cNvSpPr/>
          <p:nvPr/>
        </p:nvSpPr>
        <p:spPr>
          <a:xfrm>
            <a:off x="7790688" y="283464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CALLDATA</a:t>
            </a:r>
            <a:endParaRPr lang="en-US" sz="1000" dirty="0"/>
          </a:p>
        </p:txBody>
      </p:sp>
      <p:sp>
        <p:nvSpPr>
          <p:cNvPr id="13" name="Text 10"/>
          <p:cNvSpPr/>
          <p:nvPr/>
        </p:nvSpPr>
        <p:spPr>
          <a:xfrm>
            <a:off x="7790688" y="3145536"/>
            <a:ext cx="3834079" cy="749808"/>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El texto se lee sin copiarlo a memoria: más barato (Sesión 5).</a:t>
            </a:r>
            <a:endParaRPr lang="en-US" sz="1200" dirty="0"/>
          </a:p>
        </p:txBody>
      </p:sp>
      <p:sp>
        <p:nvSpPr>
          <p:cNvPr id="14" name="Text 11"/>
          <p:cNvSpPr/>
          <p:nvPr/>
        </p:nvSpPr>
        <p:spPr>
          <a:xfrm>
            <a:off x="7790688" y="393192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UN SOLO HASH, UNA VEZ</a:t>
            </a:r>
            <a:endParaRPr lang="en-US" sz="1000" dirty="0"/>
          </a:p>
        </p:txBody>
      </p:sp>
      <p:sp>
        <p:nvSpPr>
          <p:cNvPr id="15" name="Text 12"/>
          <p:cNvSpPr/>
          <p:nvPr/>
        </p:nvSpPr>
        <p:spPr>
          <a:xfrm>
            <a:off x="7790688" y="4242816"/>
            <a:ext cx="3834079" cy="749808"/>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YaEmitido impide sobrescribir un certificado existente, incluido uno revocado.</a:t>
            </a:r>
            <a:endParaRPr lang="en-US" sz="1200" dirty="0"/>
          </a:p>
        </p:txBody>
      </p:sp>
      <p:sp>
        <p:nvSpPr>
          <p:cNvPr id="16" name="Text 13"/>
          <p:cNvSpPr/>
          <p:nvPr/>
        </p:nvSpPr>
        <p:spPr>
          <a:xfrm>
            <a:off x="7790688" y="502920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EVENTO AL FINAL</a:t>
            </a:r>
            <a:endParaRPr lang="en-US" sz="1000" dirty="0"/>
          </a:p>
        </p:txBody>
      </p:sp>
      <p:sp>
        <p:nvSpPr>
          <p:cNvPr id="17" name="Text 14"/>
          <p:cNvSpPr/>
          <p:nvPr/>
        </p:nvSpPr>
        <p:spPr>
          <a:xfrm>
            <a:off x="7790688" y="5340096"/>
            <a:ext cx="3834079" cy="749808"/>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Se emite cuando todo salió bien.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EL CONTRATO DEL LABORATORIO · 2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REVOCAR SIN BORRAR, VERIFICAR SIN PAGAR</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1737360"/>
            <a:ext cx="6949440" cy="4434840"/>
          </a:xfrm>
          <a:prstGeom prst="rect">
            <a:avLst/>
          </a:prstGeom>
          <a:solidFill>
            <a:srgbClr val="16151B"/>
          </a:solidFill>
          <a:ln w="22225">
            <a:solidFill>
              <a:srgbClr val="16151B"/>
            </a:solidFill>
            <a:prstDash val="solid"/>
          </a:ln>
        </p:spPr>
      </p:sp>
      <p:sp>
        <p:nvSpPr>
          <p:cNvPr id="9" name="Text 6"/>
          <p:cNvSpPr/>
          <p:nvPr/>
        </p:nvSpPr>
        <p:spPr>
          <a:xfrm>
            <a:off x="768096" y="1883664"/>
            <a:ext cx="6547104" cy="4178808"/>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motivo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soloEmisor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storage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NoExiste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CertificadoRevocado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motivo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verificar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bytes32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view</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valido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memory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fecha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Certificado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storage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_certificados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fechaEmision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revocado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0" name="Text 7"/>
          <p:cNvSpPr/>
          <p:nvPr/>
        </p:nvSpPr>
        <p:spPr>
          <a:xfrm>
            <a:off x="7790688" y="173736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STORAGE, NO MEMORY</a:t>
            </a:r>
            <a:endParaRPr lang="en-US" sz="1000" dirty="0"/>
          </a:p>
        </p:txBody>
      </p:sp>
      <p:sp>
        <p:nvSpPr>
          <p:cNvPr id="11" name="Text 8"/>
          <p:cNvSpPr/>
          <p:nvPr/>
        </p:nvSpPr>
        <p:spPr>
          <a:xfrm>
            <a:off x="7790688" y="2048256"/>
            <a:ext cx="3834079" cy="1051560"/>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c apunta al dato guardado. Con memory se modificaría una copia y el cambio se perdería.</a:t>
            </a:r>
            <a:endParaRPr lang="en-US" sz="1200" dirty="0"/>
          </a:p>
        </p:txBody>
      </p:sp>
      <p:sp>
        <p:nvSpPr>
          <p:cNvPr id="12" name="Text 9"/>
          <p:cNvSpPr/>
          <p:nvPr/>
        </p:nvSpPr>
        <p:spPr>
          <a:xfrm>
            <a:off x="7790688" y="320040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REVOCAR NO ES BORRAR</a:t>
            </a:r>
            <a:endParaRPr lang="en-US" sz="1000" dirty="0"/>
          </a:p>
        </p:txBody>
      </p:sp>
      <p:sp>
        <p:nvSpPr>
          <p:cNvPr id="13" name="Text 10"/>
          <p:cNvSpPr/>
          <p:nvPr/>
        </p:nvSpPr>
        <p:spPr>
          <a:xfrm>
            <a:off x="7790688" y="3511296"/>
            <a:ext cx="3834079" cy="1051560"/>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Queda la historia: existió, se emitió en tal fecha, se revocó por tal motivo. Eso es lo que da confianza.</a:t>
            </a:r>
            <a:endParaRPr lang="en-US" sz="1200" dirty="0"/>
          </a:p>
        </p:txBody>
      </p:sp>
      <p:sp>
        <p:nvSpPr>
          <p:cNvPr id="14" name="Text 11"/>
          <p:cNvSpPr/>
          <p:nvPr/>
        </p:nvSpPr>
        <p:spPr>
          <a:xfrm>
            <a:off x="7790688" y="4663440"/>
            <a:ext cx="38340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VIEW</a:t>
            </a:r>
            <a:endParaRPr lang="en-US" sz="1000" dirty="0"/>
          </a:p>
        </p:txBody>
      </p:sp>
      <p:sp>
        <p:nvSpPr>
          <p:cNvPr id="15" name="Text 12"/>
          <p:cNvSpPr/>
          <p:nvPr/>
        </p:nvSpPr>
        <p:spPr>
          <a:xfrm>
            <a:off x="7790688" y="4974336"/>
            <a:ext cx="3834079" cy="1051560"/>
          </a:xfrm>
          <a:prstGeom prst="rect">
            <a:avLst/>
          </a:prstGeom>
          <a:noFill/>
          <a:ln/>
        </p:spPr>
        <p:txBody>
          <a:bodyPr wrap="square" lIns="0" tIns="0" rIns="0" bIns="0" rtlCol="0" anchor="t"/>
          <a:lstStyle/>
          <a:p>
            <a:pPr indent="0" marL="0">
              <a:lnSpc>
                <a:spcPct val="112000"/>
              </a:lnSpc>
              <a:buNone/>
            </a:pPr>
            <a:r>
              <a:rPr lang="en-US" sz="1200" dirty="0">
                <a:solidFill>
                  <a:srgbClr val="3A3844"/>
                </a:solidFill>
                <a:latin typeface="Arial" pitchFamily="34" charset="0"/>
                <a:ea typeface="Arial" pitchFamily="34" charset="-122"/>
                <a:cs typeface="Arial" pitchFamily="34" charset="-120"/>
              </a:rPr>
              <a:t>Quien verifica un diploma no paga nada ni necesita billetera.</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A.20 · CIERRE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VERIFICACIÓN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Shape 5"/>
          <p:cNvSpPr/>
          <p:nvPr/>
        </p:nvSpPr>
        <p:spPr>
          <a:xfrm>
            <a:off x="566928" y="173736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96012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Un compañero propone: «guardemos el nombre del graduado en una variable private; así nadie lo ve y cumplimos la Ley 1581». ¿Qué le responden?</a:t>
            </a:r>
            <a:endParaRPr lang="en-US" sz="1700" dirty="0"/>
          </a:p>
        </p:txBody>
      </p:sp>
      <p:sp>
        <p:nvSpPr>
          <p:cNvPr id="10" name="Shape 7"/>
          <p:cNvSpPr/>
          <p:nvPr/>
        </p:nvSpPr>
        <p:spPr>
          <a:xfrm>
            <a:off x="566928" y="3291840"/>
            <a:ext cx="11057839" cy="512064"/>
          </a:xfrm>
          <a:prstGeom prst="rect">
            <a:avLst/>
          </a:prstGeom>
          <a:solidFill>
            <a:srgbClr val="FFFFFF"/>
          </a:solidFill>
          <a:ln w="15875">
            <a:solidFill>
              <a:srgbClr val="D9D6E0"/>
            </a:solidFill>
            <a:prstDash val="solid"/>
          </a:ln>
        </p:spPr>
      </p:sp>
      <p:sp>
        <p:nvSpPr>
          <p:cNvPr id="11" name="Text 8"/>
          <p:cNvSpPr/>
          <p:nvPr/>
        </p:nvSpPr>
        <p:spPr>
          <a:xfrm>
            <a:off x="704088" y="3291840"/>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A</a:t>
            </a:r>
            <a:endParaRPr lang="en-US" sz="1600" dirty="0"/>
          </a:p>
        </p:txBody>
      </p:sp>
      <p:sp>
        <p:nvSpPr>
          <p:cNvPr id="12" name="Text 9"/>
          <p:cNvSpPr/>
          <p:nvPr/>
        </p:nvSpPr>
        <p:spPr>
          <a:xfrm>
            <a:off x="1252728" y="3346704"/>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Bien: private oculta el dato a todos menos al contrato.</a:t>
            </a:r>
            <a:endParaRPr lang="en-US" sz="1250" dirty="0"/>
          </a:p>
        </p:txBody>
      </p:sp>
      <p:sp>
        <p:nvSpPr>
          <p:cNvPr id="13" name="Shape 10"/>
          <p:cNvSpPr/>
          <p:nvPr/>
        </p:nvSpPr>
        <p:spPr>
          <a:xfrm>
            <a:off x="566928" y="3895344"/>
            <a:ext cx="11057839" cy="512064"/>
          </a:xfrm>
          <a:prstGeom prst="rect">
            <a:avLst/>
          </a:prstGeom>
          <a:solidFill>
            <a:srgbClr val="FAF9FB"/>
          </a:solidFill>
          <a:ln w="15875">
            <a:solidFill>
              <a:srgbClr val="D9D6E0"/>
            </a:solidFill>
            <a:prstDash val="solid"/>
          </a:ln>
        </p:spPr>
      </p:sp>
      <p:sp>
        <p:nvSpPr>
          <p:cNvPr id="14" name="Text 11"/>
          <p:cNvSpPr/>
          <p:nvPr/>
        </p:nvSpPr>
        <p:spPr>
          <a:xfrm>
            <a:off x="704088" y="3895344"/>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B</a:t>
            </a:r>
            <a:endParaRPr lang="en-US" sz="1600" dirty="0"/>
          </a:p>
        </p:txBody>
      </p:sp>
      <p:sp>
        <p:nvSpPr>
          <p:cNvPr id="15" name="Text 12"/>
          <p:cNvSpPr/>
          <p:nvPr/>
        </p:nvSpPr>
        <p:spPr>
          <a:xfrm>
            <a:off x="1252728" y="3950208"/>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Mal: private solo impide que otros contratos lo lean; cualquiera lee el storage, y además no se podría suprimir.</a:t>
            </a:r>
            <a:endParaRPr lang="en-US" sz="1250" dirty="0"/>
          </a:p>
        </p:txBody>
      </p:sp>
      <p:sp>
        <p:nvSpPr>
          <p:cNvPr id="16" name="Shape 13"/>
          <p:cNvSpPr/>
          <p:nvPr/>
        </p:nvSpPr>
        <p:spPr>
          <a:xfrm>
            <a:off x="566928" y="4498848"/>
            <a:ext cx="11057839" cy="512064"/>
          </a:xfrm>
          <a:prstGeom prst="rect">
            <a:avLst/>
          </a:prstGeom>
          <a:solidFill>
            <a:srgbClr val="FFFFFF"/>
          </a:solidFill>
          <a:ln w="15875">
            <a:solidFill>
              <a:srgbClr val="D9D6E0"/>
            </a:solidFill>
            <a:prstDash val="solid"/>
          </a:ln>
        </p:spPr>
      </p:sp>
      <p:sp>
        <p:nvSpPr>
          <p:cNvPr id="17" name="Text 14"/>
          <p:cNvSpPr/>
          <p:nvPr/>
        </p:nvSpPr>
        <p:spPr>
          <a:xfrm>
            <a:off x="704088" y="4498848"/>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C</a:t>
            </a:r>
            <a:endParaRPr lang="en-US" sz="1600" dirty="0"/>
          </a:p>
        </p:txBody>
      </p:sp>
      <p:sp>
        <p:nvSpPr>
          <p:cNvPr id="18" name="Text 15"/>
          <p:cNvSpPr/>
          <p:nvPr/>
        </p:nvSpPr>
        <p:spPr>
          <a:xfrm>
            <a:off x="1252728" y="4553712"/>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Bien, siempre que el nombre se guarde en mayúsculas.</a:t>
            </a:r>
            <a:endParaRPr lang="en-US" sz="1250" dirty="0"/>
          </a:p>
        </p:txBody>
      </p:sp>
      <p:sp>
        <p:nvSpPr>
          <p:cNvPr id="19" name="Text 16"/>
          <p:cNvSpPr/>
          <p:nvPr/>
        </p:nvSpPr>
        <p:spPr>
          <a:xfrm>
            <a:off x="566928" y="5175504"/>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Un minuto en parejas. La respuesta correcta tiene dos razones: encuéntrenlas las dos.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80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06 · REMIX</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Completar el registro de certificados, probarlo en la máquina virtual del navegador, desplegarlo en Sepolia y verificarlo.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06 · SOLIDITY I · FUNDAMENTOS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10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PREPARAR Y COMPILAR EN REMIX</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Shape 5"/>
          <p:cNvSpPr/>
          <p:nvPr/>
        </p:nvSpPr>
        <p:spPr>
          <a:xfrm>
            <a:off x="566928" y="1737360"/>
            <a:ext cx="11057839" cy="768096"/>
          </a:xfrm>
          <a:prstGeom prst="rect">
            <a:avLst/>
          </a:prstGeom>
          <a:solidFill>
            <a:srgbClr val="FFFFFF"/>
          </a:solidFill>
          <a:ln w="15875">
            <a:solidFill>
              <a:srgbClr val="D9D6E0"/>
            </a:solidFill>
            <a:prstDash val="solid"/>
          </a:ln>
        </p:spPr>
      </p:sp>
      <p:sp>
        <p:nvSpPr>
          <p:cNvPr id="9" name="Text 6"/>
          <p:cNvSpPr/>
          <p:nvPr/>
        </p:nvSpPr>
        <p:spPr>
          <a:xfrm>
            <a:off x="694944" y="1737360"/>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7510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ABRIR</a:t>
            </a:r>
            <a:endParaRPr lang="en-US" sz="1000" dirty="0"/>
          </a:p>
        </p:txBody>
      </p:sp>
      <p:sp>
        <p:nvSpPr>
          <p:cNvPr id="11" name="Text 8"/>
          <p:cNvSpPr/>
          <p:nvPr/>
        </p:nvSpPr>
        <p:spPr>
          <a:xfrm>
            <a:off x="3566160" y="1828800"/>
            <a:ext cx="79488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app.remix.live, en el navegador donde está la billetera del curso.</a:t>
            </a:r>
            <a:endParaRPr lang="en-US" sz="1250" dirty="0"/>
          </a:p>
        </p:txBody>
      </p:sp>
      <p:sp>
        <p:nvSpPr>
          <p:cNvPr id="12" name="Shape 9"/>
          <p:cNvSpPr/>
          <p:nvPr/>
        </p:nvSpPr>
        <p:spPr>
          <a:xfrm>
            <a:off x="566928" y="2615184"/>
            <a:ext cx="11057839" cy="768096"/>
          </a:xfrm>
          <a:prstGeom prst="rect">
            <a:avLst/>
          </a:prstGeom>
          <a:solidFill>
            <a:srgbClr val="FAF9FB"/>
          </a:solidFill>
          <a:ln w="15875">
            <a:solidFill>
              <a:srgbClr val="D9D6E0"/>
            </a:solidFill>
            <a:prstDash val="solid"/>
          </a:ln>
        </p:spPr>
      </p:sp>
      <p:sp>
        <p:nvSpPr>
          <p:cNvPr id="13" name="Text 10"/>
          <p:cNvSpPr/>
          <p:nvPr/>
        </p:nvSpPr>
        <p:spPr>
          <a:xfrm>
            <a:off x="694944" y="2615184"/>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5292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CREAR ARCHIVO</a:t>
            </a:r>
            <a:endParaRPr lang="en-US" sz="1000" dirty="0"/>
          </a:p>
        </p:txBody>
      </p:sp>
      <p:sp>
        <p:nvSpPr>
          <p:cNvPr id="15" name="Text 12"/>
          <p:cNvSpPr/>
          <p:nvPr/>
        </p:nvSpPr>
        <p:spPr>
          <a:xfrm>
            <a:off x="3566160" y="2706624"/>
            <a:ext cx="79488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File Explorer → carpeta contracts → nuevo archivo CertificadosUSB.sol. Pegar el andamiaje: andamiaje/s06/CertificadosUSB.sol.</a:t>
            </a:r>
            <a:endParaRPr lang="en-US" sz="1250" dirty="0"/>
          </a:p>
        </p:txBody>
      </p:sp>
      <p:sp>
        <p:nvSpPr>
          <p:cNvPr id="16" name="Shape 13"/>
          <p:cNvSpPr/>
          <p:nvPr/>
        </p:nvSpPr>
        <p:spPr>
          <a:xfrm>
            <a:off x="566928" y="3493008"/>
            <a:ext cx="11057839" cy="768096"/>
          </a:xfrm>
          <a:prstGeom prst="rect">
            <a:avLst/>
          </a:prstGeom>
          <a:solidFill>
            <a:srgbClr val="FFFFFF"/>
          </a:solidFill>
          <a:ln w="15875">
            <a:solidFill>
              <a:srgbClr val="D9D6E0"/>
            </a:solidFill>
            <a:prstDash val="solid"/>
          </a:ln>
        </p:spPr>
      </p:sp>
      <p:sp>
        <p:nvSpPr>
          <p:cNvPr id="17" name="Text 14"/>
          <p:cNvSpPr/>
          <p:nvPr/>
        </p:nvSpPr>
        <p:spPr>
          <a:xfrm>
            <a:off x="694944" y="3493008"/>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3075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COMPILADOR</a:t>
            </a:r>
            <a:endParaRPr lang="en-US" sz="1000" dirty="0"/>
          </a:p>
        </p:txBody>
      </p:sp>
      <p:sp>
        <p:nvSpPr>
          <p:cNvPr id="19" name="Text 16"/>
          <p:cNvSpPr/>
          <p:nvPr/>
        </p:nvSpPr>
        <p:spPr>
          <a:xfrm>
            <a:off x="3566160" y="3584448"/>
            <a:ext cx="79488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Pestaña Solidity Compiler → desplegable Compiler: 0.8.34+commit.80d5c536. En Advanced Configurations, activar optimización con 200 ejecuciones.</a:t>
            </a:r>
            <a:endParaRPr lang="en-US" sz="1250" dirty="0"/>
          </a:p>
        </p:txBody>
      </p:sp>
      <p:sp>
        <p:nvSpPr>
          <p:cNvPr id="20" name="Shape 17"/>
          <p:cNvSpPr/>
          <p:nvPr/>
        </p:nvSpPr>
        <p:spPr>
          <a:xfrm>
            <a:off x="566928" y="4370832"/>
            <a:ext cx="11057839" cy="768096"/>
          </a:xfrm>
          <a:prstGeom prst="rect">
            <a:avLst/>
          </a:prstGeom>
          <a:solidFill>
            <a:srgbClr val="FAF9FB"/>
          </a:solidFill>
          <a:ln w="15875">
            <a:solidFill>
              <a:srgbClr val="D9D6E0"/>
            </a:solidFill>
            <a:prstDash val="solid"/>
          </a:ln>
        </p:spPr>
      </p:sp>
      <p:sp>
        <p:nvSpPr>
          <p:cNvPr id="21" name="Text 18"/>
          <p:cNvSpPr/>
          <p:nvPr/>
        </p:nvSpPr>
        <p:spPr>
          <a:xfrm>
            <a:off x="694944" y="4370832"/>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085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COMPILAR</a:t>
            </a:r>
            <a:endParaRPr lang="en-US" sz="1000" dirty="0"/>
          </a:p>
        </p:txBody>
      </p:sp>
      <p:sp>
        <p:nvSpPr>
          <p:cNvPr id="23" name="Text 20"/>
          <p:cNvSpPr/>
          <p:nvPr/>
        </p:nvSpPr>
        <p:spPr>
          <a:xfrm>
            <a:off x="3566160" y="4462272"/>
            <a:ext cx="79488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Compile CertificadosUSB.sol. Salida esperada: marca verde en el ícono del compilador y ningún error en rojo.</a:t>
            </a:r>
            <a:endParaRPr lang="en-US" sz="1250" dirty="0"/>
          </a:p>
        </p:txBody>
      </p:sp>
      <p:sp>
        <p:nvSpPr>
          <p:cNvPr id="24" name="Shape 21"/>
          <p:cNvSpPr/>
          <p:nvPr/>
        </p:nvSpPr>
        <p:spPr>
          <a:xfrm>
            <a:off x="566928" y="5303520"/>
            <a:ext cx="11057839" cy="89611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5"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26" name="Text 22"/>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POR QUÉ COMPILAR ANTES DE ESCRIBIR</a:t>
            </a:r>
            <a:endParaRPr lang="en-US" sz="950" dirty="0"/>
          </a:p>
        </p:txBody>
      </p:sp>
      <p:sp>
        <p:nvSpPr>
          <p:cNvPr id="27" name="Text 23"/>
          <p:cNvSpPr/>
          <p:nvPr/>
        </p:nvSpPr>
        <p:spPr>
          <a:xfrm>
            <a:off x="804672" y="5815584"/>
            <a:ext cx="10582351" cy="29260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andamiaje compila tal como viene. Si no compila antes de tocarlo, el problema es de configuración, no de su código.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35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COMPLETAR LOS SIETE TODO</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03120"/>
                <a:gridCol w="384048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PROBARLO EN LA REMIX VM</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modificador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Revertir si quien llama no es el emisor.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Cambiar de cuenta en Remix e intentar emitir: debe fallar con NoEsEmisor.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constructor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Guardar al emisor y emitir EmisorCambiado.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Botón emisor: debe ser la cuenta que desplegó.</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y 4 · emitir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Validar, guardar, contar y emitir el evento.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Emitir un hash de prueba y consultar emitidos: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5 · revocar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Validar existencia y estado, revocar.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Revocar dos veces: la segunda falla con YaRevocado.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6 · verificar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Devolver válido = existe y no revocado.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Verificar antes y después de revocar.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7 · cambiar emisor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Rechazar la dirección cero y traspasar.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Traspasar y comprobar que la anterior ya no puede emitir.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877056"/>
          </a:xfrm>
          <a:prstGeom prst="rect">
            <a:avLst/>
          </a:prstGeom>
          <a:ln w="22225">
            <a:solidFill>
              <a:srgbClr val="0F0F11"/>
            </a:solidFill>
            <a:prstDash val="solid"/>
          </a:ln>
        </p:spPr>
      </p:sp>
      <p:sp>
        <p:nvSpPr>
          <p:cNvPr id="10" name="Text 6"/>
          <p:cNvSpPr/>
          <p:nvPr/>
        </p:nvSpPr>
        <p:spPr>
          <a:xfrm>
            <a:off x="566928" y="571500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Después de cada TODO: compilar, desplegar de nuevo en la Remix VM y probar a mano. Avanzar de uno en uno ahorra la mitad del tiempo de depuración.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PROBAR A MANO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LA REMIX VM, PASO A PASO</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737360"/>
            <a:ext cx="11057839" cy="676656"/>
          </a:xfrm>
          <a:prstGeom prst="rect">
            <a:avLst/>
          </a:prstGeom>
          <a:solidFill>
            <a:srgbClr val="FFFFFF"/>
          </a:solidFill>
          <a:ln w="15875">
            <a:solidFill>
              <a:srgbClr val="D9D6E0"/>
            </a:solidFill>
            <a:prstDash val="solid"/>
          </a:ln>
        </p:spPr>
      </p:sp>
      <p:sp>
        <p:nvSpPr>
          <p:cNvPr id="9" name="Text 6"/>
          <p:cNvSpPr/>
          <p:nvPr/>
        </p:nvSpPr>
        <p:spPr>
          <a:xfrm>
            <a:off x="694944" y="1737360"/>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9384"/>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ENTORNO</a:t>
            </a:r>
            <a:endParaRPr lang="en-US" sz="1000" dirty="0"/>
          </a:p>
        </p:txBody>
      </p:sp>
      <p:sp>
        <p:nvSpPr>
          <p:cNvPr id="11" name="Text 8"/>
          <p:cNvSpPr/>
          <p:nvPr/>
        </p:nvSpPr>
        <p:spPr>
          <a:xfrm>
            <a:off x="3383280" y="1828800"/>
            <a:ext cx="8131759" cy="53035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Deploy &amp; Run → Environment: Remix VM. Aparecen cuentas de prueba con 100 ETH ficticios cada una.</a:t>
            </a:r>
            <a:endParaRPr lang="en-US" sz="1250" dirty="0"/>
          </a:p>
        </p:txBody>
      </p:sp>
      <p:sp>
        <p:nvSpPr>
          <p:cNvPr id="12" name="Shape 9"/>
          <p:cNvSpPr/>
          <p:nvPr/>
        </p:nvSpPr>
        <p:spPr>
          <a:xfrm>
            <a:off x="566928" y="2505456"/>
            <a:ext cx="11057839" cy="676656"/>
          </a:xfrm>
          <a:prstGeom prst="rect">
            <a:avLst/>
          </a:prstGeom>
          <a:solidFill>
            <a:srgbClr val="FAF9FB"/>
          </a:solidFill>
          <a:ln w="15875">
            <a:solidFill>
              <a:srgbClr val="D9D6E0"/>
            </a:solidFill>
            <a:prstDash val="solid"/>
          </a:ln>
        </p:spPr>
      </p:sp>
      <p:sp>
        <p:nvSpPr>
          <p:cNvPr id="13" name="Text 10"/>
          <p:cNvSpPr/>
          <p:nvPr/>
        </p:nvSpPr>
        <p:spPr>
          <a:xfrm>
            <a:off x="694944" y="2505456"/>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9748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a:t>
            </a:r>
            <a:endParaRPr lang="en-US" sz="1000" dirty="0"/>
          </a:p>
        </p:txBody>
      </p:sp>
      <p:sp>
        <p:nvSpPr>
          <p:cNvPr id="15" name="Text 12"/>
          <p:cNvSpPr/>
          <p:nvPr/>
        </p:nvSpPr>
        <p:spPr>
          <a:xfrm>
            <a:off x="3383280" y="2596896"/>
            <a:ext cx="8131759" cy="53035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Deploy. En Deployed Contracts aparece CertificadosUSB con un botón por función.</a:t>
            </a:r>
            <a:endParaRPr lang="en-US" sz="1250" dirty="0"/>
          </a:p>
        </p:txBody>
      </p:sp>
      <p:sp>
        <p:nvSpPr>
          <p:cNvPr id="16" name="Shape 13"/>
          <p:cNvSpPr/>
          <p:nvPr/>
        </p:nvSpPr>
        <p:spPr>
          <a:xfrm>
            <a:off x="566928" y="3273552"/>
            <a:ext cx="11057839" cy="676656"/>
          </a:xfrm>
          <a:prstGeom prst="rect">
            <a:avLst/>
          </a:prstGeom>
          <a:solidFill>
            <a:srgbClr val="FFFFFF"/>
          </a:solidFill>
          <a:ln w="15875">
            <a:solidFill>
              <a:srgbClr val="D9D6E0"/>
            </a:solidFill>
            <a:prstDash val="solid"/>
          </a:ln>
        </p:spPr>
      </p:sp>
      <p:sp>
        <p:nvSpPr>
          <p:cNvPr id="17" name="Text 14"/>
          <p:cNvSpPr/>
          <p:nvPr/>
        </p:nvSpPr>
        <p:spPr>
          <a:xfrm>
            <a:off x="694944" y="3273552"/>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65576"/>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LEER</a:t>
            </a:r>
            <a:endParaRPr lang="en-US" sz="1000" dirty="0"/>
          </a:p>
        </p:txBody>
      </p:sp>
      <p:sp>
        <p:nvSpPr>
          <p:cNvPr id="19" name="Text 16"/>
          <p:cNvSpPr/>
          <p:nvPr/>
        </p:nvSpPr>
        <p:spPr>
          <a:xfrm>
            <a:off x="3383280" y="3364992"/>
            <a:ext cx="8131759" cy="53035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Botones azules (view): emisor, emitidos, verificar. Responden al instante y no cuestan nada.</a:t>
            </a:r>
            <a:endParaRPr lang="en-US" sz="1250" dirty="0"/>
          </a:p>
        </p:txBody>
      </p:sp>
      <p:sp>
        <p:nvSpPr>
          <p:cNvPr id="20" name="Shape 17"/>
          <p:cNvSpPr/>
          <p:nvPr/>
        </p:nvSpPr>
        <p:spPr>
          <a:xfrm>
            <a:off x="566928" y="4041648"/>
            <a:ext cx="11057839" cy="676656"/>
          </a:xfrm>
          <a:prstGeom prst="rect">
            <a:avLst/>
          </a:prstGeom>
          <a:solidFill>
            <a:srgbClr val="FAF9FB"/>
          </a:solidFill>
          <a:ln w="15875">
            <a:solidFill>
              <a:srgbClr val="D9D6E0"/>
            </a:solidFill>
            <a:prstDash val="solid"/>
          </a:ln>
        </p:spPr>
      </p:sp>
      <p:sp>
        <p:nvSpPr>
          <p:cNvPr id="21" name="Text 18"/>
          <p:cNvSpPr/>
          <p:nvPr/>
        </p:nvSpPr>
        <p:spPr>
          <a:xfrm>
            <a:off x="694944" y="4041648"/>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33672"/>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ESCRIBIR</a:t>
            </a:r>
            <a:endParaRPr lang="en-US" sz="1000" dirty="0"/>
          </a:p>
        </p:txBody>
      </p:sp>
      <p:sp>
        <p:nvSpPr>
          <p:cNvPr id="23" name="Text 20"/>
          <p:cNvSpPr/>
          <p:nvPr/>
        </p:nvSpPr>
        <p:spPr>
          <a:xfrm>
            <a:off x="3383280" y="4133088"/>
            <a:ext cx="8131759" cy="53035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Botones naranja (transacción): emitir, revocar, cambiarEmisor. Cada uno deja una línea en la terminal.</a:t>
            </a:r>
            <a:endParaRPr lang="en-US" sz="1250" dirty="0"/>
          </a:p>
        </p:txBody>
      </p:sp>
      <p:sp>
        <p:nvSpPr>
          <p:cNvPr id="24" name="Shape 21"/>
          <p:cNvSpPr/>
          <p:nvPr/>
        </p:nvSpPr>
        <p:spPr>
          <a:xfrm>
            <a:off x="566928" y="4809744"/>
            <a:ext cx="11057839" cy="676656"/>
          </a:xfrm>
          <a:prstGeom prst="rect">
            <a:avLst/>
          </a:prstGeom>
          <a:solidFill>
            <a:srgbClr val="FFFFFF"/>
          </a:solidFill>
          <a:ln w="15875">
            <a:solidFill>
              <a:srgbClr val="D9D6E0"/>
            </a:solidFill>
            <a:prstDash val="solid"/>
          </a:ln>
        </p:spPr>
      </p:sp>
      <p:sp>
        <p:nvSpPr>
          <p:cNvPr id="25" name="Text 22"/>
          <p:cNvSpPr/>
          <p:nvPr/>
        </p:nvSpPr>
        <p:spPr>
          <a:xfrm>
            <a:off x="694944" y="4809744"/>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001768"/>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REVISAR</a:t>
            </a:r>
            <a:endParaRPr lang="en-US" sz="1000" dirty="0"/>
          </a:p>
        </p:txBody>
      </p:sp>
      <p:sp>
        <p:nvSpPr>
          <p:cNvPr id="27" name="Text 24"/>
          <p:cNvSpPr/>
          <p:nvPr/>
        </p:nvSpPr>
        <p:spPr>
          <a:xfrm>
            <a:off x="3383280" y="4901184"/>
            <a:ext cx="8131759" cy="53035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la terminal, desplegar la transacción: status, gas usado y logs con el evento.</a:t>
            </a:r>
            <a:endParaRPr lang="en-US" sz="1250" dirty="0"/>
          </a:p>
        </p:txBody>
      </p:sp>
      <p:sp>
        <p:nvSpPr>
          <p:cNvPr id="28" name="Text 25"/>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Cómo saber que funcionó: verificar(hash) devuelve true, el programa y una fecha distinta de cero justo después de emitir.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EL DATO QUE SE REGISTRA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CALCULAR EL HASH DEL DIPLOMA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repositorio trae un diploma ficticio, sin datos de ninguna persona. Se calcula su hash, se altera un solo bit y se vuelve a calcular:</a:t>
            </a:r>
            <a:endParaRPr lang="en-US" sz="1400" dirty="0"/>
          </a:p>
        </p:txBody>
      </p:sp>
      <p:sp>
        <p:nvSpPr>
          <p:cNvPr id="9" name="Shape 6"/>
          <p:cNvSpPr/>
          <p:nvPr/>
        </p:nvSpPr>
        <p:spPr>
          <a:xfrm>
            <a:off x="566928" y="2468880"/>
            <a:ext cx="11057839" cy="2011680"/>
          </a:xfrm>
          <a:prstGeom prst="rect">
            <a:avLst/>
          </a:prstGeom>
          <a:solidFill>
            <a:srgbClr val="16151B"/>
          </a:solidFill>
          <a:ln w="22225">
            <a:solidFill>
              <a:srgbClr val="16151B"/>
            </a:solidFill>
            <a:prstDash val="solid"/>
          </a:ln>
        </p:spPr>
      </p:sp>
      <p:sp>
        <p:nvSpPr>
          <p:cNvPr id="10" name="Text 7"/>
          <p:cNvSpPr/>
          <p:nvPr/>
        </p:nvSpPr>
        <p:spPr>
          <a:xfrm>
            <a:off x="768096" y="254203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EN LA CARPETA LABORATORIOS-EVM</a:t>
            </a:r>
            <a:endParaRPr lang="en-US" sz="850" dirty="0"/>
          </a:p>
        </p:txBody>
      </p:sp>
      <p:sp>
        <p:nvSpPr>
          <p:cNvPr id="11" name="Text 8"/>
          <p:cNvSpPr/>
          <p:nvPr/>
        </p:nvSpPr>
        <p:spPr>
          <a:xfrm>
            <a:off x="768096" y="2852928"/>
            <a:ext cx="10655503" cy="151790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hash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documento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prueba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pdf</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keccak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x87daf6ef2771bae4d21b7fb938774a35b9bd4a1a6989dd253c6694e9dcbed455</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alterar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un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byte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prueba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pdf</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hash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documento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prueba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alterado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pdf</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keccak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xc89d02a9a7f8b6660f3567945455456ed1e2b96cdd0637371b863b2c0f913951</a:t>
            </a:r>
            <a:endParaRPr lang="en-US" sz="1150" dirty="0"/>
          </a:p>
        </p:txBody>
      </p:sp>
      <p:sp>
        <p:nvSpPr>
          <p:cNvPr id="12" name="Shape 9"/>
          <p:cNvSpPr/>
          <p:nvPr/>
        </p:nvSpPr>
        <p:spPr>
          <a:xfrm>
            <a:off x="566928" y="4663440"/>
            <a:ext cx="11057839" cy="658368"/>
          </a:xfrm>
          <a:prstGeom prst="rect">
            <a:avLst/>
          </a:prstGeom>
          <a:solidFill>
            <a:srgbClr val="FFFFFF"/>
          </a:solidFill>
          <a:ln w="15875">
            <a:solidFill>
              <a:srgbClr val="D9D6E0"/>
            </a:solidFill>
            <a:prstDash val="solid"/>
          </a:ln>
        </p:spPr>
      </p:sp>
      <p:sp>
        <p:nvSpPr>
          <p:cNvPr id="13" name="Text 10"/>
          <p:cNvSpPr/>
          <p:nvPr/>
        </p:nvSpPr>
        <p:spPr>
          <a:xfrm>
            <a:off x="694944" y="466344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4" name="Text 11"/>
          <p:cNvSpPr/>
          <p:nvPr/>
        </p:nvSpPr>
        <p:spPr>
          <a:xfrm>
            <a:off x="1280160" y="4846320"/>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EMITIR</a:t>
            </a:r>
            <a:endParaRPr lang="en-US" sz="1000" dirty="0"/>
          </a:p>
        </p:txBody>
      </p:sp>
      <p:sp>
        <p:nvSpPr>
          <p:cNvPr id="15" name="Text 12"/>
          <p:cNvSpPr/>
          <p:nvPr/>
        </p:nvSpPr>
        <p:spPr>
          <a:xfrm>
            <a:off x="3017520" y="4754880"/>
            <a:ext cx="849751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Pegar el primer valor como hashDocumento en emitir().</a:t>
            </a:r>
            <a:endParaRPr lang="en-US" sz="1250" dirty="0"/>
          </a:p>
        </p:txBody>
      </p:sp>
      <p:sp>
        <p:nvSpPr>
          <p:cNvPr id="16" name="Shape 13"/>
          <p:cNvSpPr/>
          <p:nvPr/>
        </p:nvSpPr>
        <p:spPr>
          <a:xfrm>
            <a:off x="566928" y="5413248"/>
            <a:ext cx="11057839" cy="658368"/>
          </a:xfrm>
          <a:prstGeom prst="rect">
            <a:avLst/>
          </a:prstGeom>
          <a:solidFill>
            <a:srgbClr val="FAF9FB"/>
          </a:solidFill>
          <a:ln w="15875">
            <a:solidFill>
              <a:srgbClr val="D9D6E0"/>
            </a:solidFill>
            <a:prstDash val="solid"/>
          </a:ln>
        </p:spPr>
      </p:sp>
      <p:sp>
        <p:nvSpPr>
          <p:cNvPr id="17" name="Text 14"/>
          <p:cNvSpPr/>
          <p:nvPr/>
        </p:nvSpPr>
        <p:spPr>
          <a:xfrm>
            <a:off x="694944" y="541324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8" name="Text 15"/>
          <p:cNvSpPr/>
          <p:nvPr/>
        </p:nvSpPr>
        <p:spPr>
          <a:xfrm>
            <a:off x="1280160" y="5596128"/>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VERIFICAR</a:t>
            </a:r>
            <a:endParaRPr lang="en-US" sz="1000" dirty="0"/>
          </a:p>
        </p:txBody>
      </p:sp>
      <p:sp>
        <p:nvSpPr>
          <p:cNvPr id="19" name="Text 16"/>
          <p:cNvSpPr/>
          <p:nvPr/>
        </p:nvSpPr>
        <p:spPr>
          <a:xfrm>
            <a:off x="3017520" y="5504688"/>
            <a:ext cx="849751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verificar() con el segundo valor: no es válido. Un bit distinto, otro hash (Sesión 2).</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15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DESPLEGAR EN SEPOLIA</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73736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3736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024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ENTORNO</a:t>
            </a:r>
            <a:endParaRPr lang="en-US" sz="1000" dirty="0"/>
          </a:p>
        </p:txBody>
      </p:sp>
      <p:sp>
        <p:nvSpPr>
          <p:cNvPr id="11" name="Text 8"/>
          <p:cNvSpPr/>
          <p:nvPr/>
        </p:nvSpPr>
        <p:spPr>
          <a:xfrm>
            <a:off x="3291840" y="1828800"/>
            <a:ext cx="82231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Environment: la opción de billetera del navegador (Browser Extension / Injected Provider – MetaMask). Aceptar la conexión.</a:t>
            </a:r>
            <a:endParaRPr lang="en-US" sz="1250" dirty="0"/>
          </a:p>
        </p:txBody>
      </p:sp>
      <p:sp>
        <p:nvSpPr>
          <p:cNvPr id="12" name="Shape 9"/>
          <p:cNvSpPr/>
          <p:nvPr/>
        </p:nvSpPr>
        <p:spPr>
          <a:xfrm>
            <a:off x="566928" y="2468880"/>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46888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5176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RED</a:t>
            </a:r>
            <a:endParaRPr lang="en-US" sz="1000" dirty="0"/>
          </a:p>
        </p:txBody>
      </p:sp>
      <p:sp>
        <p:nvSpPr>
          <p:cNvPr id="15" name="Text 12"/>
          <p:cNvSpPr/>
          <p:nvPr/>
        </p:nvSpPr>
        <p:spPr>
          <a:xfrm>
            <a:off x="3291840" y="2560320"/>
            <a:ext cx="82231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Confirmar que Remix muestra Sepolia, identificador 11155111. Si dice otra red, cambiarla en la billetera.</a:t>
            </a:r>
            <a:endParaRPr lang="en-US" sz="1250" dirty="0"/>
          </a:p>
        </p:txBody>
      </p:sp>
      <p:sp>
        <p:nvSpPr>
          <p:cNvPr id="16" name="Shape 13"/>
          <p:cNvSpPr/>
          <p:nvPr/>
        </p:nvSpPr>
        <p:spPr>
          <a:xfrm>
            <a:off x="566928" y="3200400"/>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0040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38328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a:t>
            </a:r>
            <a:endParaRPr lang="en-US" sz="1000" dirty="0"/>
          </a:p>
        </p:txBody>
      </p:sp>
      <p:sp>
        <p:nvSpPr>
          <p:cNvPr id="19" name="Text 16"/>
          <p:cNvSpPr/>
          <p:nvPr/>
        </p:nvSpPr>
        <p:spPr>
          <a:xfrm>
            <a:off x="3291840" y="3291840"/>
            <a:ext cx="82231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Deploy. En la billetera, antes de confirmar: red Sepolia, valor 0, costo del orden de 0,001 ETH de prueba. Confirmar.</a:t>
            </a:r>
            <a:endParaRPr lang="en-US" sz="1250" dirty="0"/>
          </a:p>
        </p:txBody>
      </p:sp>
      <p:sp>
        <p:nvSpPr>
          <p:cNvPr id="20" name="Shape 17"/>
          <p:cNvSpPr/>
          <p:nvPr/>
        </p:nvSpPr>
        <p:spPr>
          <a:xfrm>
            <a:off x="566928" y="3931920"/>
            <a:ext cx="11057839" cy="658368"/>
          </a:xfrm>
          <a:prstGeom prst="rect">
            <a:avLst/>
          </a:prstGeom>
          <a:solidFill>
            <a:srgbClr val="FAF9FB"/>
          </a:solidFill>
          <a:ln w="15875">
            <a:solidFill>
              <a:srgbClr val="D9D6E0"/>
            </a:solidFill>
            <a:prstDash val="solid"/>
          </a:ln>
        </p:spPr>
      </p:sp>
      <p:sp>
        <p:nvSpPr>
          <p:cNvPr id="21" name="Text 18"/>
          <p:cNvSpPr/>
          <p:nvPr/>
        </p:nvSpPr>
        <p:spPr>
          <a:xfrm>
            <a:off x="694944" y="393192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11480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ESPERAR</a:t>
            </a:r>
            <a:endParaRPr lang="en-US" sz="1000" dirty="0"/>
          </a:p>
        </p:txBody>
      </p:sp>
      <p:sp>
        <p:nvSpPr>
          <p:cNvPr id="23" name="Text 20"/>
          <p:cNvSpPr/>
          <p:nvPr/>
        </p:nvSpPr>
        <p:spPr>
          <a:xfrm>
            <a:off x="3291840" y="4023360"/>
            <a:ext cx="82231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Unos 12 a 30 segundos. Copiar la dirección del contrato desde Deployed Contracts.</a:t>
            </a:r>
            <a:endParaRPr lang="en-US" sz="1250" dirty="0"/>
          </a:p>
        </p:txBody>
      </p:sp>
      <p:sp>
        <p:nvSpPr>
          <p:cNvPr id="24" name="Shape 21"/>
          <p:cNvSpPr/>
          <p:nvPr/>
        </p:nvSpPr>
        <p:spPr>
          <a:xfrm>
            <a:off x="566928" y="4663440"/>
            <a:ext cx="11057839" cy="658368"/>
          </a:xfrm>
          <a:prstGeom prst="rect">
            <a:avLst/>
          </a:prstGeom>
          <a:solidFill>
            <a:srgbClr val="FFFFFF"/>
          </a:solidFill>
          <a:ln w="15875">
            <a:solidFill>
              <a:srgbClr val="D9D6E0"/>
            </a:solidFill>
            <a:prstDash val="solid"/>
          </a:ln>
        </p:spPr>
      </p:sp>
      <p:sp>
        <p:nvSpPr>
          <p:cNvPr id="25" name="Text 22"/>
          <p:cNvSpPr/>
          <p:nvPr/>
        </p:nvSpPr>
        <p:spPr>
          <a:xfrm>
            <a:off x="694944" y="466344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84632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USAR</a:t>
            </a:r>
            <a:endParaRPr lang="en-US" sz="1000" dirty="0"/>
          </a:p>
        </p:txBody>
      </p:sp>
      <p:sp>
        <p:nvSpPr>
          <p:cNvPr id="27" name="Text 24"/>
          <p:cNvSpPr/>
          <p:nvPr/>
        </p:nvSpPr>
        <p:spPr>
          <a:xfrm>
            <a:off x="3291840" y="4754880"/>
            <a:ext cx="82231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Emitir el hash del diploma, verificar ambos hashes, intentar emitir desde otra cuenta, revocar.</a:t>
            </a:r>
            <a:endParaRPr lang="en-US" sz="1250" dirty="0"/>
          </a:p>
        </p:txBody>
      </p:sp>
      <p:sp>
        <p:nvSpPr>
          <p:cNvPr id="28" name="Shape 25"/>
          <p:cNvSpPr/>
          <p:nvPr/>
        </p:nvSpPr>
        <p:spPr>
          <a:xfrm>
            <a:off x="566928" y="5376672"/>
            <a:ext cx="11057839" cy="8686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9" name="Image 1" descr="preencoded.png">    </p:cNvPr>
          <p:cNvPicPr>
            <a:picLocks noChangeAspect="1"/>
          </p:cNvPicPr>
          <p:nvPr/>
        </p:nvPicPr>
        <p:blipFill>
          <a:blip r:embed="rId2"/>
          <a:stretch>
            <a:fillRect/>
          </a:stretch>
        </p:blipFill>
        <p:spPr>
          <a:xfrm>
            <a:off x="804672" y="5596128"/>
            <a:ext cx="237744" cy="237744"/>
          </a:xfrm>
          <a:prstGeom prst="rect">
            <a:avLst/>
          </a:prstGeom>
        </p:spPr>
      </p:pic>
      <p:sp>
        <p:nvSpPr>
          <p:cNvPr id="30" name="Text 26"/>
          <p:cNvSpPr/>
          <p:nvPr/>
        </p:nvSpPr>
        <p:spPr>
          <a:xfrm>
            <a:off x="1133856" y="5568696"/>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ANTES DE CONFIRMAR CUALQUIER FIRMA</a:t>
            </a:r>
            <a:endParaRPr lang="en-US" sz="950" dirty="0"/>
          </a:p>
        </p:txBody>
      </p:sp>
      <p:sp>
        <p:nvSpPr>
          <p:cNvPr id="31" name="Text 27"/>
          <p:cNvSpPr/>
          <p:nvPr/>
        </p:nvSpPr>
        <p:spPr>
          <a:xfrm>
            <a:off x="804672" y="5888736"/>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Leer qué red, a qué dirección y cuánto. No se firma nada cuyo contenido no se entienda.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15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VER EL EVENTO Y VERIFICAR EL CÓDIGO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Shape 5"/>
          <p:cNvSpPr/>
          <p:nvPr/>
        </p:nvSpPr>
        <p:spPr>
          <a:xfrm>
            <a:off x="566928" y="1737360"/>
            <a:ext cx="11057839" cy="694944"/>
          </a:xfrm>
          <a:prstGeom prst="rect">
            <a:avLst/>
          </a:prstGeom>
          <a:solidFill>
            <a:srgbClr val="FFFFFF"/>
          </a:solidFill>
          <a:ln w="15875">
            <a:solidFill>
              <a:srgbClr val="D9D6E0"/>
            </a:solidFill>
            <a:prstDash val="solid"/>
          </a:ln>
        </p:spPr>
      </p:sp>
      <p:sp>
        <p:nvSpPr>
          <p:cNvPr id="9" name="Text 6"/>
          <p:cNvSpPr/>
          <p:nvPr/>
        </p:nvSpPr>
        <p:spPr>
          <a:xfrm>
            <a:off x="694944" y="1737360"/>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38528"/>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BUSCAR</a:t>
            </a:r>
            <a:endParaRPr lang="en-US" sz="1000" dirty="0"/>
          </a:p>
        </p:txBody>
      </p:sp>
      <p:sp>
        <p:nvSpPr>
          <p:cNvPr id="11" name="Text 8"/>
          <p:cNvSpPr/>
          <p:nvPr/>
        </p:nvSpPr>
        <p:spPr>
          <a:xfrm>
            <a:off x="3017520" y="1828800"/>
            <a:ext cx="8497519" cy="54864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sepolia.etherscan.io → la dirección del contrato. Ver la transacción de creación y las de uso.</a:t>
            </a:r>
            <a:endParaRPr lang="en-US" sz="1250" dirty="0"/>
          </a:p>
        </p:txBody>
      </p:sp>
      <p:sp>
        <p:nvSpPr>
          <p:cNvPr id="12" name="Shape 9"/>
          <p:cNvSpPr/>
          <p:nvPr/>
        </p:nvSpPr>
        <p:spPr>
          <a:xfrm>
            <a:off x="566928" y="2523744"/>
            <a:ext cx="11057839" cy="694944"/>
          </a:xfrm>
          <a:prstGeom prst="rect">
            <a:avLst/>
          </a:prstGeom>
          <a:solidFill>
            <a:srgbClr val="FAF9FB"/>
          </a:solidFill>
          <a:ln w="15875">
            <a:solidFill>
              <a:srgbClr val="D9D6E0"/>
            </a:solidFill>
            <a:prstDash val="solid"/>
          </a:ln>
        </p:spPr>
      </p:sp>
      <p:sp>
        <p:nvSpPr>
          <p:cNvPr id="13" name="Text 10"/>
          <p:cNvSpPr/>
          <p:nvPr/>
        </p:nvSpPr>
        <p:spPr>
          <a:xfrm>
            <a:off x="694944" y="2523744"/>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24912"/>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LOGS</a:t>
            </a:r>
            <a:endParaRPr lang="en-US" sz="1000" dirty="0"/>
          </a:p>
        </p:txBody>
      </p:sp>
      <p:sp>
        <p:nvSpPr>
          <p:cNvPr id="15" name="Text 12"/>
          <p:cNvSpPr/>
          <p:nvPr/>
        </p:nvSpPr>
        <p:spPr>
          <a:xfrm>
            <a:off x="3017520" y="2615184"/>
            <a:ext cx="8497519" cy="54864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Abrir la emisión → pestaña Logs: CertificadoEmitido, con el hash del diploma en Topics[1] (A.14).</a:t>
            </a:r>
            <a:endParaRPr lang="en-US" sz="1250" dirty="0"/>
          </a:p>
        </p:txBody>
      </p:sp>
      <p:sp>
        <p:nvSpPr>
          <p:cNvPr id="16" name="Shape 13"/>
          <p:cNvSpPr/>
          <p:nvPr/>
        </p:nvSpPr>
        <p:spPr>
          <a:xfrm>
            <a:off x="566928" y="3310128"/>
            <a:ext cx="11057839" cy="694944"/>
          </a:xfrm>
          <a:prstGeom prst="rect">
            <a:avLst/>
          </a:prstGeom>
          <a:solidFill>
            <a:srgbClr val="FFFFFF"/>
          </a:solidFill>
          <a:ln w="15875">
            <a:solidFill>
              <a:srgbClr val="D9D6E0"/>
            </a:solidFill>
            <a:prstDash val="solid"/>
          </a:ln>
        </p:spPr>
      </p:sp>
      <p:sp>
        <p:nvSpPr>
          <p:cNvPr id="17" name="Text 14"/>
          <p:cNvSpPr/>
          <p:nvPr/>
        </p:nvSpPr>
        <p:spPr>
          <a:xfrm>
            <a:off x="694944" y="3310128"/>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11296"/>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VERIFY</a:t>
            </a:r>
            <a:endParaRPr lang="en-US" sz="1000" dirty="0"/>
          </a:p>
        </p:txBody>
      </p:sp>
      <p:sp>
        <p:nvSpPr>
          <p:cNvPr id="19" name="Text 16"/>
          <p:cNvSpPr/>
          <p:nvPr/>
        </p:nvSpPr>
        <p:spPr>
          <a:xfrm>
            <a:off x="3017520" y="3401568"/>
            <a:ext cx="8497519" cy="54864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Pestaña Contract → Verify and Publish: Solidity (Single file), v0.8.34+commit.80d5c536, licencia MIT, optimización Yes con 200.</a:t>
            </a:r>
            <a:endParaRPr lang="en-US" sz="1250" dirty="0"/>
          </a:p>
        </p:txBody>
      </p:sp>
      <p:sp>
        <p:nvSpPr>
          <p:cNvPr id="20" name="Shape 17"/>
          <p:cNvSpPr/>
          <p:nvPr/>
        </p:nvSpPr>
        <p:spPr>
          <a:xfrm>
            <a:off x="566928" y="4096512"/>
            <a:ext cx="11057839" cy="694944"/>
          </a:xfrm>
          <a:prstGeom prst="rect">
            <a:avLst/>
          </a:prstGeom>
          <a:solidFill>
            <a:srgbClr val="FAF9FB"/>
          </a:solidFill>
          <a:ln w="15875">
            <a:solidFill>
              <a:srgbClr val="D9D6E0"/>
            </a:solidFill>
            <a:prstDash val="solid"/>
          </a:ln>
        </p:spPr>
      </p:sp>
      <p:sp>
        <p:nvSpPr>
          <p:cNvPr id="21" name="Text 18"/>
          <p:cNvSpPr/>
          <p:nvPr/>
        </p:nvSpPr>
        <p:spPr>
          <a:xfrm>
            <a:off x="694944" y="4096512"/>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97680"/>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PEGAR</a:t>
            </a:r>
            <a:endParaRPr lang="en-US" sz="1000" dirty="0"/>
          </a:p>
        </p:txBody>
      </p:sp>
      <p:sp>
        <p:nvSpPr>
          <p:cNvPr id="23" name="Text 20"/>
          <p:cNvSpPr/>
          <p:nvPr/>
        </p:nvSpPr>
        <p:spPr>
          <a:xfrm>
            <a:off x="3017520" y="4187952"/>
            <a:ext cx="8497519" cy="54864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código exacto que se desplegó. Si todo coincide aparece la marca verde de verificado.</a:t>
            </a:r>
            <a:endParaRPr lang="en-US" sz="1250" dirty="0"/>
          </a:p>
        </p:txBody>
      </p:sp>
      <p:sp>
        <p:nvSpPr>
          <p:cNvPr id="24" name="Shape 21"/>
          <p:cNvSpPr/>
          <p:nvPr/>
        </p:nvSpPr>
        <p:spPr>
          <a:xfrm>
            <a:off x="566928" y="4882896"/>
            <a:ext cx="11057839" cy="694944"/>
          </a:xfrm>
          <a:prstGeom prst="rect">
            <a:avLst/>
          </a:prstGeom>
          <a:solidFill>
            <a:srgbClr val="FFFFFF"/>
          </a:solidFill>
          <a:ln w="15875">
            <a:solidFill>
              <a:srgbClr val="D9D6E0"/>
            </a:solidFill>
            <a:prstDash val="solid"/>
          </a:ln>
        </p:spPr>
      </p:sp>
      <p:sp>
        <p:nvSpPr>
          <p:cNvPr id="25" name="Text 22"/>
          <p:cNvSpPr/>
          <p:nvPr/>
        </p:nvSpPr>
        <p:spPr>
          <a:xfrm>
            <a:off x="694944" y="4882896"/>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084064"/>
            <a:ext cx="14630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LEER</a:t>
            </a:r>
            <a:endParaRPr lang="en-US" sz="1000" dirty="0"/>
          </a:p>
        </p:txBody>
      </p:sp>
      <p:sp>
        <p:nvSpPr>
          <p:cNvPr id="27" name="Text 24"/>
          <p:cNvSpPr/>
          <p:nvPr/>
        </p:nvSpPr>
        <p:spPr>
          <a:xfrm>
            <a:off x="3017520" y="4974336"/>
            <a:ext cx="8497519" cy="54864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Read Contract → verificar(hash): cualquier persona, sin billetera, comprueba el diploma.</a:t>
            </a:r>
            <a:endParaRPr lang="en-US" sz="1250" dirty="0"/>
          </a:p>
        </p:txBody>
      </p:sp>
      <p:sp>
        <p:nvSpPr>
          <p:cNvPr id="28" name="Text 25"/>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La última prueba es la que importa: cualquiera, desde cualquier computador y sin cuenta, puede comprobar el diploma. Eso es lo que se construyó hoy.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LA OTRA FORMA DE PROBAR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PRUEBAS AUTOMÁTICAS DEL ANDAMIAJE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repositorio trae 18 pruebas que definen el comportamiento correcto. Sirven como plan B si la sala bloquea Remix, y como comprobación final para todos:</a:t>
            </a:r>
            <a:endParaRPr lang="en-US" sz="1400" dirty="0"/>
          </a:p>
        </p:txBody>
      </p:sp>
      <p:sp>
        <p:nvSpPr>
          <p:cNvPr id="9" name="Shape 6"/>
          <p:cNvSpPr/>
          <p:nvPr/>
        </p:nvSpPr>
        <p:spPr>
          <a:xfrm>
            <a:off x="566928" y="2423160"/>
            <a:ext cx="11057839" cy="1463040"/>
          </a:xfrm>
          <a:prstGeom prst="rect">
            <a:avLst/>
          </a:prstGeom>
          <a:solidFill>
            <a:srgbClr val="16151B"/>
          </a:solidFill>
          <a:ln w="22225">
            <a:solidFill>
              <a:srgbClr val="16151B"/>
            </a:solidFill>
            <a:prstDash val="solid"/>
          </a:ln>
        </p:spPr>
      </p:sp>
      <p:sp>
        <p:nvSpPr>
          <p:cNvPr id="10" name="Text 7"/>
          <p:cNvSpPr/>
          <p:nvPr/>
        </p:nvSpPr>
        <p:spPr>
          <a:xfrm>
            <a:off x="768096" y="24963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EN LA CARPETA LABORATORIOS-EVM</a:t>
            </a:r>
            <a:endParaRPr lang="en-US" sz="850" dirty="0"/>
          </a:p>
        </p:txBody>
      </p:sp>
      <p:sp>
        <p:nvSpPr>
          <p:cNvPr id="11" name="Text 8"/>
          <p:cNvSpPr/>
          <p:nvPr/>
        </p:nvSpPr>
        <p:spPr>
          <a:xfrm>
            <a:off x="768096" y="2807208"/>
            <a:ext cx="10655503" cy="969264"/>
          </a:xfrm>
          <a:prstGeom prst="rect">
            <a:avLst/>
          </a:prstGeom>
          <a:noFill/>
          <a:ln/>
        </p:spPr>
        <p:txBody>
          <a:bodyPr wrap="square" lIns="0" tIns="0" rIns="0" bIns="0" rtlCol="0" anchor="t"/>
          <a:lstStyle/>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andamiaje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CertificadosUSB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sol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CertificadosUSB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sol</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s06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CertificadosUSB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js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andamiaje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sin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tocar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passing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14</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failing</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siete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bien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passing</a:t>
            </a:r>
            <a:endParaRPr lang="en-US" sz="1200" dirty="0"/>
          </a:p>
        </p:txBody>
      </p:sp>
      <p:sp>
        <p:nvSpPr>
          <p:cNvPr id="12" name="Shape 9"/>
          <p:cNvSpPr/>
          <p:nvPr/>
        </p:nvSpPr>
        <p:spPr>
          <a:xfrm>
            <a:off x="566928" y="4041648"/>
            <a:ext cx="5391760" cy="2194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3" name="Text 10"/>
          <p:cNvSpPr/>
          <p:nvPr/>
        </p:nvSpPr>
        <p:spPr>
          <a:xfrm>
            <a:off x="841248" y="4224528"/>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CÓMO LEER LO QUE FALLA</a:t>
            </a:r>
            <a:endParaRPr lang="en-US" sz="1050" dirty="0"/>
          </a:p>
        </p:txBody>
      </p:sp>
      <p:sp>
        <p:nvSpPr>
          <p:cNvPr id="14" name="Text 11"/>
          <p:cNvSpPr/>
          <p:nvPr/>
        </p:nvSpPr>
        <p:spPr>
          <a:xfrm>
            <a:off x="841248" y="4608576"/>
            <a:ext cx="4843120" cy="146304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Cada prueba en rojo dice qué comportamiento falta.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Resolver en orden: despliegue, emitir, revocar, cambiar emisor.</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Terminado = 18 passing.</a:t>
            </a:r>
            <a:endParaRPr lang="en-US" sz="1250" dirty="0"/>
          </a:p>
        </p:txBody>
      </p:sp>
      <p:sp>
        <p:nvSpPr>
          <p:cNvPr id="15" name="Shape 12"/>
          <p:cNvSpPr/>
          <p:nvPr/>
        </p:nvSpPr>
        <p:spPr>
          <a:xfrm>
            <a:off x="6233008" y="4041648"/>
            <a:ext cx="5391760" cy="21945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6" name="Text 13"/>
          <p:cNvSpPr/>
          <p:nvPr/>
        </p:nvSpPr>
        <p:spPr>
          <a:xfrm>
            <a:off x="6507328" y="4224528"/>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CUIDADO</a:t>
            </a:r>
            <a:endParaRPr lang="en-US" sz="1050" dirty="0"/>
          </a:p>
        </p:txBody>
      </p:sp>
      <p:sp>
        <p:nvSpPr>
          <p:cNvPr id="17" name="Text 14"/>
          <p:cNvSpPr/>
          <p:nvPr/>
        </p:nvSpPr>
        <p:spPr>
          <a:xfrm>
            <a:off x="6507328" y="4608576"/>
            <a:ext cx="4843120" cy="146304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El cp REEMPLAZA la solución de referencia en su copia local.</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Para recuperarla: git checkout contracts/s06/CertificadosUSB.sol.</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suban la solución a su repositorio de entrega.</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B.8 · ERRORES FRECUENTES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LO QUE SUELE SALIR MAL</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840480"/>
                <a:gridCol w="72173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«Gas estimation failed» al emitir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validación revierte: hash en cero, programa vacío, hash ya emitido o cuenta distinta del emisor.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Remix no ve la billetera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Recargar Remix, aceptar la conexión en la billetera, mismo navegador. La billetera desbloqueada.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revocar no cambia nada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Usaron Certificado memory c en lugar de storage: modificaron una copia.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verificar dice válido un hash nunca emitido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Olvidaron comprobar existe.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Los certificados «desaparecieron»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Redesplegaron: cada Deploy crea un contrato nuevo y vacío.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11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verificación en el explorador falla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Versión del compilador u optimización distinta a la del despliegue, o código distinto.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014216"/>
          </a:xfrm>
          <a:prstGeom prst="rect">
            <a:avLst/>
          </a:prstGeom>
          <a:ln w="22225">
            <a:solidFill>
              <a:srgbClr val="0F0F11"/>
            </a:solidFill>
            <a:prstDash val="solid"/>
          </a:ln>
        </p:spPr>
      </p:sp>
      <p:sp>
        <p:nvSpPr>
          <p:cNvPr id="10" name="Text 6"/>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Si algo no se resuelve en 5 minutos: anotarlo, pedir ayuda y seguir con el siguiente paso.</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B.9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EVIDENCIA DEL LABORATORIO 06</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651760"/>
                <a:gridCol w="694303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Contrato verificado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Dirección en Sepolia con el código verificado en el explorador.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Tres transacciones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Hashes de: una emisión, una revocación y un intento fallido de emitir desde otra cuenta.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Prueba de alteración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Los dos hashes (original y alterado) y la captura de verificar() con cada uno.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Una respuesta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¿Por qué el contrato revoca en lugar de borrar? Un párrafo.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871216"/>
          </a:xfrm>
          <a:prstGeom prst="rect">
            <a:avLst/>
          </a:prstGeom>
          <a:ln w="22225">
            <a:solidFill>
              <a:srgbClr val="0F0F11"/>
            </a:solidFill>
            <a:prstDash val="solid"/>
          </a:ln>
        </p:spPr>
      </p:sp>
      <p:sp>
        <p:nvSpPr>
          <p:cNvPr id="10" name="Shape 6"/>
          <p:cNvSpPr/>
          <p:nvPr/>
        </p:nvSpPr>
        <p:spPr>
          <a:xfrm>
            <a:off x="566928" y="480060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020056"/>
            <a:ext cx="237744" cy="237744"/>
          </a:xfrm>
          <a:prstGeom prst="rect">
            <a:avLst/>
          </a:prstGeom>
        </p:spPr>
      </p:pic>
      <p:sp>
        <p:nvSpPr>
          <p:cNvPr id="12" name="Text 7"/>
          <p:cNvSpPr/>
          <p:nvPr/>
        </p:nvSpPr>
        <p:spPr>
          <a:xfrm>
            <a:off x="1133856" y="49926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CÓMO SABER QUE TERMINARON</a:t>
            </a:r>
            <a:endParaRPr lang="en-US" sz="950" dirty="0"/>
          </a:p>
        </p:txBody>
      </p:sp>
      <p:sp>
        <p:nvSpPr>
          <p:cNvPr id="13" name="Text 8"/>
          <p:cNvSpPr/>
          <p:nvPr/>
        </p:nvSpPr>
        <p:spPr>
          <a:xfrm>
            <a:off x="804672" y="5312664"/>
            <a:ext cx="10582351" cy="7680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contrato tiene la marca verde en el explorador; la pestaña Logs muestra CertificadoEmitido y CertificadoRevocado; hay una transacción con Status Fail desde otra cuenta; y Read Contract responde false para el hash alterado.</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B.10 · CIERRE DEL BLOQUE B</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VERIFICACIÓN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73736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96012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Revocaron un diploma por error. ¿Pueden volver a emitirlo con el mismo hash?</a:t>
            </a:r>
            <a:endParaRPr lang="en-US" sz="1700" dirty="0"/>
          </a:p>
        </p:txBody>
      </p:sp>
      <p:sp>
        <p:nvSpPr>
          <p:cNvPr id="10" name="Shape 7"/>
          <p:cNvSpPr/>
          <p:nvPr/>
        </p:nvSpPr>
        <p:spPr>
          <a:xfrm>
            <a:off x="566928" y="3291840"/>
            <a:ext cx="11057839" cy="512064"/>
          </a:xfrm>
          <a:prstGeom prst="rect">
            <a:avLst/>
          </a:prstGeom>
          <a:solidFill>
            <a:srgbClr val="FFFFFF"/>
          </a:solidFill>
          <a:ln w="15875">
            <a:solidFill>
              <a:srgbClr val="D9D6E0"/>
            </a:solidFill>
            <a:prstDash val="solid"/>
          </a:ln>
        </p:spPr>
      </p:sp>
      <p:sp>
        <p:nvSpPr>
          <p:cNvPr id="11" name="Text 8"/>
          <p:cNvSpPr/>
          <p:nvPr/>
        </p:nvSpPr>
        <p:spPr>
          <a:xfrm>
            <a:off x="704088" y="3291840"/>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A</a:t>
            </a:r>
            <a:endParaRPr lang="en-US" sz="1600" dirty="0"/>
          </a:p>
        </p:txBody>
      </p:sp>
      <p:sp>
        <p:nvSpPr>
          <p:cNvPr id="12" name="Text 9"/>
          <p:cNvSpPr/>
          <p:nvPr/>
        </p:nvSpPr>
        <p:spPr>
          <a:xfrm>
            <a:off x="1252728" y="3346704"/>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Sí: revocar lo borra y el hash queda libre.</a:t>
            </a:r>
            <a:endParaRPr lang="en-US" sz="1250" dirty="0"/>
          </a:p>
        </p:txBody>
      </p:sp>
      <p:sp>
        <p:nvSpPr>
          <p:cNvPr id="13" name="Shape 10"/>
          <p:cNvSpPr/>
          <p:nvPr/>
        </p:nvSpPr>
        <p:spPr>
          <a:xfrm>
            <a:off x="566928" y="3895344"/>
            <a:ext cx="11057839" cy="512064"/>
          </a:xfrm>
          <a:prstGeom prst="rect">
            <a:avLst/>
          </a:prstGeom>
          <a:solidFill>
            <a:srgbClr val="FAF9FB"/>
          </a:solidFill>
          <a:ln w="15875">
            <a:solidFill>
              <a:srgbClr val="D9D6E0"/>
            </a:solidFill>
            <a:prstDash val="solid"/>
          </a:ln>
        </p:spPr>
      </p:sp>
      <p:sp>
        <p:nvSpPr>
          <p:cNvPr id="14" name="Text 11"/>
          <p:cNvSpPr/>
          <p:nvPr/>
        </p:nvSpPr>
        <p:spPr>
          <a:xfrm>
            <a:off x="704088" y="3895344"/>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B</a:t>
            </a:r>
            <a:endParaRPr lang="en-US" sz="1600" dirty="0"/>
          </a:p>
        </p:txBody>
      </p:sp>
      <p:sp>
        <p:nvSpPr>
          <p:cNvPr id="15" name="Text 12"/>
          <p:cNvSpPr/>
          <p:nvPr/>
        </p:nvSpPr>
        <p:spPr>
          <a:xfrm>
            <a:off x="1252728" y="3950208"/>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el registro sigue existiendo y emitir revierte con YaEmitido. Hay que emitir un documento nuevo, con otro hash.</a:t>
            </a:r>
            <a:endParaRPr lang="en-US" sz="1250" dirty="0"/>
          </a:p>
        </p:txBody>
      </p:sp>
      <p:sp>
        <p:nvSpPr>
          <p:cNvPr id="16" name="Shape 13"/>
          <p:cNvSpPr/>
          <p:nvPr/>
        </p:nvSpPr>
        <p:spPr>
          <a:xfrm>
            <a:off x="566928" y="4498848"/>
            <a:ext cx="11057839" cy="512064"/>
          </a:xfrm>
          <a:prstGeom prst="rect">
            <a:avLst/>
          </a:prstGeom>
          <a:solidFill>
            <a:srgbClr val="FFFFFF"/>
          </a:solidFill>
          <a:ln w="15875">
            <a:solidFill>
              <a:srgbClr val="D9D6E0"/>
            </a:solidFill>
            <a:prstDash val="solid"/>
          </a:ln>
        </p:spPr>
      </p:sp>
      <p:sp>
        <p:nvSpPr>
          <p:cNvPr id="17" name="Text 14"/>
          <p:cNvSpPr/>
          <p:nvPr/>
        </p:nvSpPr>
        <p:spPr>
          <a:xfrm>
            <a:off x="704088" y="4498848"/>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C</a:t>
            </a:r>
            <a:endParaRPr lang="en-US" sz="1600" dirty="0"/>
          </a:p>
        </p:txBody>
      </p:sp>
      <p:sp>
        <p:nvSpPr>
          <p:cNvPr id="18" name="Text 15"/>
          <p:cNvSpPr/>
          <p:nvPr/>
        </p:nvSpPr>
        <p:spPr>
          <a:xfrm>
            <a:off x="1252728" y="4553712"/>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Sí, si lo hace una cuenta distinta del emisor.</a:t>
            </a:r>
            <a:endParaRPr lang="en-US" sz="1250" dirty="0"/>
          </a:p>
        </p:txBody>
      </p:sp>
      <p:sp>
        <p:nvSpPr>
          <p:cNvPr id="19" name="Text 16"/>
          <p:cNvSpPr/>
          <p:nvPr/>
        </p:nvSpPr>
        <p:spPr>
          <a:xfrm>
            <a:off x="566928" y="5175504"/>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Pruébenlo en la Remix VM antes de responder: la respuesta está en una de las 18 pruebas.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30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ENTREGA DEL ANTEPROYECTO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Hoy se entrega la propuesta. La decisión más importante del semestre no es técnica: es qué queda dentro del alcance y qué queda fuera.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06 · SOLIDITY I · FUNDAMENTOS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ANTEPROYECTO, EN TRES PÁGINAS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017520"/>
                <a:gridCol w="80403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SECCIÓN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DEBE RESPONDER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 · Problema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Quién sufre qué, con qué frecuencia y cuánto le cuesta. Enunciado SIN nombrar la tecnología.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2 · Usuarios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Quiénes usan el sistema y qué hace cada uno.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3 · Por qué blockchain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árbol de la Sesión 1, paso por paso, y la prueba de la base de datos (C.2).</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4 · Qué va en cadena y qué no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En especial si hay datos personales (A.17 de hoy).</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5 · Alcance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Historias que entran, con criterio de aceptación. Lista explícita de lo que queda fuera.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6 · Arquitectura preliminar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Contratos, interfaces y servicios externos, en un diagrama.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82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7 · Equipo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Tres integrantes y el rol inicial de cada uno.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4014216"/>
          </a:xfrm>
          <a:prstGeom prst="rect">
            <a:avLst/>
          </a:prstGeom>
          <a:ln w="22225">
            <a:solidFill>
              <a:srgbClr val="0F0F11"/>
            </a:solidFill>
            <a:prstDash val="solid"/>
          </a:ln>
        </p:spPr>
      </p:sp>
      <p:sp>
        <p:nvSpPr>
          <p:cNvPr id="10" name="Text 6"/>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Máximo tres páginas. Peso: 5 % de la nota final. Plantilla, rúbrica y ejemplos en material/proyecto/01-anteproyecto.pdf.</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LA PRIMERA PRUEBA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¿UNA BASE DE DATOS LO RESOLVERÍA?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023360"/>
                <a:gridCol w="192024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PASO DEL ÁRBOL (SESIÓN 1)</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 LA RESPUESTA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ENTONCES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¿Más de una parte escribe?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Base de datos.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¿Intereses divergentes?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Base de datos compartida con control de acceso.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 ¿Hay un tercero aceptable para todos?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Usen ese tercero.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4 · ¿Datos personales?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 cadena solo el hash; el dato, fuera.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5 · ¿Tolera latencia y costo por operación?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Capa 2 o arquitectura convencional.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968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6 · ¿Es un problema de registro o de captura?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Captura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cadena no garantiza que el dato sea cierto: ¿quién lo introduce?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465576"/>
          </a:xfrm>
          <a:prstGeom prst="rect">
            <a:avLst/>
          </a:prstGeom>
          <a:ln w="22225">
            <a:solidFill>
              <a:srgbClr val="0F0F11"/>
            </a:solidFill>
            <a:prstDash val="solid"/>
          </a:ln>
        </p:spPr>
      </p:sp>
      <p:sp>
        <p:nvSpPr>
          <p:cNvPr id="10" name="Shape 6"/>
          <p:cNvSpPr/>
          <p:nvPr/>
        </p:nvSpPr>
        <p:spPr>
          <a:xfrm>
            <a:off x="566928" y="5349240"/>
            <a:ext cx="11057839" cy="868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568696"/>
            <a:ext cx="237744" cy="237744"/>
          </a:xfrm>
          <a:prstGeom prst="rect">
            <a:avLst/>
          </a:prstGeom>
        </p:spPr>
      </p:pic>
      <p:sp>
        <p:nvSpPr>
          <p:cNvPr id="12" name="Text 7"/>
          <p:cNvSpPr/>
          <p:nvPr/>
        </p:nvSpPr>
        <p:spPr>
          <a:xfrm>
            <a:off x="1133856" y="55412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TIENE QUE DECIR EL ANTEPROYECTO</a:t>
            </a:r>
            <a:endParaRPr lang="en-US" sz="950" dirty="0"/>
          </a:p>
        </p:txBody>
      </p:sp>
      <p:sp>
        <p:nvSpPr>
          <p:cNvPr id="13" name="Text 8"/>
          <p:cNvSpPr/>
          <p:nvPr/>
        </p:nvSpPr>
        <p:spPr>
          <a:xfrm>
            <a:off x="804672" y="5861304"/>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alternativa sin cadena de bloques consideraron, y la razón concreta por la que no basta.</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EL FILTRO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DOCENTE APRUEBA, RECORTA O DEVUELVE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448056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DECISIÓN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PASA DESPUÉS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10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Aprobado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Problema claro, justificación sólida, alcance que cabe en el semestre.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empieza a construir en la Sesión 7.</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10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Aprobado con recorte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Buena idea, demasiado grande. Es lo más frecuente.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docente marca qué historias salen. El equipo lo acepta o argumenta en 48 horas.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10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Devuelto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enuncia desde la tecnología, una base de datos lo resolvería mejor, o hay datos personales en cadena.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Nueva versión para la Sesión 7. No se pierde el proyecto, se pierde una semana.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779776"/>
          </a:xfrm>
          <a:prstGeom prst="rect">
            <a:avLst/>
          </a:prstGeom>
          <a:ln w="22225">
            <a:solidFill>
              <a:srgbClr val="0F0F11"/>
            </a:solidFill>
            <a:prstDash val="solid"/>
          </a:ln>
        </p:spPr>
      </p:sp>
      <p:sp>
        <p:nvSpPr>
          <p:cNvPr id="10" name="Shape 6"/>
          <p:cNvSpPr/>
          <p:nvPr/>
        </p:nvSpPr>
        <p:spPr>
          <a:xfrm>
            <a:off x="566928" y="4663440"/>
            <a:ext cx="11057839" cy="15087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882896"/>
            <a:ext cx="237744" cy="237744"/>
          </a:xfrm>
          <a:prstGeom prst="rect">
            <a:avLst/>
          </a:prstGeom>
        </p:spPr>
      </p:pic>
      <p:sp>
        <p:nvSpPr>
          <p:cNvPr id="12" name="Text 7"/>
          <p:cNvSpPr/>
          <p:nvPr/>
        </p:nvSpPr>
        <p:spPr>
          <a:xfrm>
            <a:off x="1133856" y="48554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LAS TRES PREGUNTAS QUE SE APLICAN PRIMERO</a:t>
            </a:r>
            <a:endParaRPr lang="en-US" sz="950" dirty="0"/>
          </a:p>
        </p:txBody>
      </p:sp>
      <p:sp>
        <p:nvSpPr>
          <p:cNvPr id="13" name="Text 8"/>
          <p:cNvSpPr/>
          <p:nvPr/>
        </p:nvSpPr>
        <p:spPr>
          <a:xfrm>
            <a:off x="804672" y="5175504"/>
            <a:ext cx="10582351" cy="905256"/>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¿Se puede enunciar el problema sin nombrar la tecnología? ¿Qué alternativa sin cadena de bloques se consideró? ¿Cabe el alcance —lo que entra y lo que no— en una página? Si alguna respuesta es no, el anteproyecto vuelve.</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C.4 · CÓMO SE CALIFICA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RÚBRICA DEL ANTEPROYECTO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1097280"/>
                <a:gridCol w="72173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DISTINGUE UN 5,0</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9618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Problema y usuarios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enuncia sin la tecnología, con un caso concreto: quién, qué, cuánto le cuesta.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Por qué blockchain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Recorre los seis pasos y descarta la alternativa centralizada con un argumento propio.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Qué va en cadena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Separa dato y hash; nada personal en cadena; dice quién introduce cada dato.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Alcance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4 a 6 historias con criterio de aceptación, lista de fuera y el supuesto más riesgoso.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Arquitectura y equipo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Diagrama coherente con las historias; tres roles con responsable.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328416"/>
          </a:xfrm>
          <a:prstGeom prst="rect">
            <a:avLst/>
          </a:prstGeom>
          <a:ln w="22225">
            <a:solidFill>
              <a:srgbClr val="0F0F11"/>
            </a:solidFill>
            <a:prstDash val="solid"/>
          </a:ln>
        </p:spPr>
      </p:sp>
      <p:sp>
        <p:nvSpPr>
          <p:cNvPr id="10" name="Text 6"/>
          <p:cNvSpPr/>
          <p:nvPr/>
        </p:nvSpPr>
        <p:spPr>
          <a:xfrm>
            <a:off x="566928" y="5212080"/>
            <a:ext cx="11057839" cy="548640"/>
          </a:xfrm>
          <a:prstGeom prst="rect">
            <a:avLst/>
          </a:prstGeom>
          <a:noFill/>
          <a:ln/>
        </p:spPr>
        <p:txBody>
          <a:bodyPr wrap="square" lIns="0" tIns="0" rIns="0" bIns="0" rtlCol="0" anchor="t"/>
          <a:lstStyle/>
          <a:p>
            <a:pPr indent="0" marL="0">
              <a:lnSpc>
                <a:spcPct val="124000"/>
              </a:lnSpc>
              <a:buNone/>
            </a:pPr>
            <a:r>
              <a:rPr lang="en-US" sz="1350" b="1" dirty="0">
                <a:solidFill>
                  <a:srgbClr val="B3261E"/>
                </a:solidFill>
                <a:latin typeface="Arial" pitchFamily="34" charset="0"/>
                <a:ea typeface="Arial" pitchFamily="34" charset="-122"/>
                <a:cs typeface="Arial" pitchFamily="34" charset="-120"/>
              </a:rPr>
              <a:t>Devolución automática, sin importar el puntaje: datos personales en cadena, más de tres páginas, o ninguna lista de lo que queda fuera.</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C.5 · DOS EJEMPLOS, EN UNA LÍNEA CADA UNO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MISMO TEMA, BIEN Y MAL PLANTEADO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sp>
        <p:nvSpPr>
          <p:cNvPr id="8" name="Shape 5"/>
          <p:cNvSpPr/>
          <p:nvPr/>
        </p:nvSpPr>
        <p:spPr>
          <a:xfrm>
            <a:off x="566928" y="1737360"/>
            <a:ext cx="5391760" cy="37490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MAL PLANTEADO</a:t>
            </a:r>
            <a:endParaRPr lang="en-US" sz="1050" dirty="0"/>
          </a:p>
        </p:txBody>
      </p:sp>
      <p:sp>
        <p:nvSpPr>
          <p:cNvPr id="10" name="Text 7"/>
          <p:cNvSpPr/>
          <p:nvPr/>
        </p:nvSpPr>
        <p:spPr>
          <a:xfrm>
            <a:off x="841248" y="2304288"/>
            <a:ext cx="4843120" cy="30175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«Plataforma blockchain para historias clínicas de todas las EPS de Colombia.»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Nombra la tecnología en el problema.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Un solo escritor por historia: una base de datos basta.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Datos de salud en cadena: choca con la Ley 1581.</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Sin lista de lo que queda fuera.</a:t>
            </a:r>
            <a:endParaRPr lang="en-US" sz="1250" dirty="0"/>
          </a:p>
        </p:txBody>
      </p:sp>
      <p:sp>
        <p:nvSpPr>
          <p:cNvPr id="11" name="Shape 8"/>
          <p:cNvSpPr/>
          <p:nvPr/>
        </p:nvSpPr>
        <p:spPr>
          <a:xfrm>
            <a:off x="6233008" y="1737360"/>
            <a:ext cx="5391760" cy="37490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BIEN PLANTEADO</a:t>
            </a:r>
            <a:endParaRPr lang="en-US" sz="1050" dirty="0"/>
          </a:p>
        </p:txBody>
      </p:sp>
      <p:sp>
        <p:nvSpPr>
          <p:cNvPr id="13" name="Text 10"/>
          <p:cNvSpPr/>
          <p:nvPr/>
        </p:nvSpPr>
        <p:spPr>
          <a:xfrm>
            <a:off x="6507328" y="2304288"/>
            <a:ext cx="4843120" cy="30175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«Tres semilleros de universidades distintas manejan un fondo común y ninguno acepta que otro lo administre solo.»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Varios escritores con intereses divergentes, sin tercero aceptable.</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En cadena: montos y aprobaciones. Fuera: facturas y nombres.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Fuera de alcance: pagos en pesos, app móvil.</a:t>
            </a:r>
            <a:endParaRPr lang="en-US" sz="1250" dirty="0"/>
          </a:p>
        </p:txBody>
      </p:sp>
      <p:sp>
        <p:nvSpPr>
          <p:cNvPr id="14" name="Text 11"/>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Los dos ejemplos completos, desarrollados sección por sección, están en la plantilla.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06 · SOLIDITY I · FUNDAMENTOS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43</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El contrato confía en una sola cuenta. Si roban esa clave, ¿qué puede hacer el ladrón, qué no, y cómo lo diseñarían para limitar el daño?</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la evidencia del laboratorio 06 antes de la Sesión 7.</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Completar las lecciones 1 y 2 de CryptoZombies.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Leer en la documentación de Solidity las secciones sobre mapping y struct: son la base de la Sesión 7.</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Esperar la respuesta del docente sobre el anteproyecto y, si hay recorte, aceptarlo o argumentar en 48 horas.</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Hoy desplegaron un programa que ya no pueden cambiar. Por eso se valida todo antes de desplegar.</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Solidity se aprende rápido. Lo difícil es acostumbrarse a que no hay parche posible: la próxima sesión empieza a construir con patrones que existen justamente por eso.</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7 · SOLIDITY II · ESTRUCTURAS DE DATOS Y PATRONES DE DISEÑO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06 · Solidity I</dc:title>
  <dc:subject>Sesión 06 · Solidity I</dc:subject>
  <dc:creator>Universidad de San Buenaventura Medellín</dc:creator>
  <cp:lastModifiedBy>Universidad de San Buenaventura Medellín</cp:lastModifiedBy>
  <cp:revision>1</cp:revision>
  <dcterms:created xsi:type="dcterms:W3CDTF">2026-10-01T19:40:54Z</dcterms:created>
  <dcterms:modified xsi:type="dcterms:W3CDTF">2026-10-01T19:40:54Z</dcterms:modified>
</cp:coreProperties>
</file>