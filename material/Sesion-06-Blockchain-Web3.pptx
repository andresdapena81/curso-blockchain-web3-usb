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sesión de programación. Ritmo lento en el bloque A: casi todo lo que sigue en el curso depende de esta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Szabo, N. (1994/1996), Smart Contracts. La confusión con 'contrato jurídico' aparece en casi todos los anteproyectos: desactivarla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Observen el orden de la multiplicación: precio * 119 / 100. Al revés, precio / 100 * 119 pierde los decimales antes de multiplicar. Sin punto flotante, el orden de las operaciones es parte de la corrección.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opcional: ethers.provider.getStorage(direccion, 0) lee la ranura 0 de cualquier contrato, private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se usan solo errores personalizados: es la práctica actual de OpenZeppelin v5.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Matiz para quien pregunte: incluso un hash puede ser dato personal si es fácil de asociar (por ejemplo, el hash de una cédula, que se puede adivinar por fuerza bruta). Por eso se hashea el archivo completo del diploma, no un identificador corto.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deck 'Proyecto del docente · acotar el alcance' es el ejemplo completo de cómo se ve un alcance bien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el patrón multifirma (Sesión 15) y el control de acceso por roles. Respuesta mínima: puede emitir diplomas falsos y revocar legítimos; no puede alterar la historia registrada.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DESPLEGAR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06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SOLIDITY I</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EL PRIMER</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CONTRATO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Hoy escriben un programa que, una vez desplegado, nadie puede cambiar. Ni siquiera ustedes.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sesión más práctica hasta ahora: al salir, cada pareja tiene un contrato propio desplegado en una red pública.</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LENGUAJE</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Estructura, tipos, funciones, visibilidad, errores, eventos y modificadores.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06 · REMIX</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Registro de certificados: completar, probar, desplegar en Sepolia.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ENTREGA DEL ANTEPROYECTO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se entrega hoy y cómo se filtra el alcance.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Escribir, desplegar y verificar un primer contrato funcional en una red de prueba.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partes tiene un archivo de Solidity y para qué sirve cada una?</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¿Quién puede llamar cada función, y cuáles cuestan gas?</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falla bien un contrato, y cómo le cuenta al mundo lo que hizo?</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datos nunca deben ir a una cadena pública?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Programar contratos inteligentes en Solidity aplicando patrones y estándares de la industria.</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SPDX</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Software Package Data Exchange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Identificador estándar de licencia en la primera línea. El compilador advierte si falta.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PRAGMA</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directiva del compilador</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Qué versiones de Solidity pueden compilar el archivo.</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REMIX</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Remix IDE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Entorno de desarrollo en el navegador: editar, compilar, desplegar y llamar sin instalar nada.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BYTECODE</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código de bytes</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produce el compilador y se despliega: las instrucciones de la EVM de la Sesión 5.</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MSG.SENDER</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remitente del mensaje</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dirección que llamó directamente a la función. La base de todo control de acceso.</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VIEW · PURE</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mutabilidad</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view lee el estado sin cambiarlo; pure ni lo lee. Llamadas desde fuera: sin costo.</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REVERT</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reversión</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Deshace todos los cambios de la llamada y devuelve un error. El gas consumido se paga igual.</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EVENT</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evento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Registro que el contrato deja en el recibo. Barato, legible desde fuera, invisible para otros contratos.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LENGUAJE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Solidity se parece a JavaScript en la sintaxis y a nada conocido en las consecuencias: cada línea se paga y ninguna se puede corregir después.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ANTES DE ESCRIBIR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NI INTELIGENTE, NI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término lo acuñó Nick Szabo en los años noventa. Hoy describe algo más modesto y más preciso:</a:t>
            </a:r>
            <a:endParaRPr lang="en-US" sz="1450" dirty="0"/>
          </a:p>
        </p:txBody>
      </p:sp>
      <p:sp>
        <p:nvSpPr>
          <p:cNvPr id="9" name="Shape 6"/>
          <p:cNvSpPr/>
          <p:nvPr/>
        </p:nvSpPr>
        <p:spPr>
          <a:xfrm>
            <a:off x="566928" y="233172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950976" y="2514600"/>
            <a:ext cx="10289743" cy="96012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Un contrato inteligente es un programa desplegado en la cadena, con dirección propia, que se ejecuta exactamente como fue escrito cuando alguien lo llama.</a:t>
            </a:r>
            <a:endParaRPr lang="en-US" sz="1900" dirty="0"/>
          </a:p>
        </p:txBody>
      </p:sp>
      <p:sp>
        <p:nvSpPr>
          <p:cNvPr id="11" name="Shape 8"/>
          <p:cNvSpPr/>
          <p:nvPr/>
        </p:nvSpPr>
        <p:spPr>
          <a:xfrm>
            <a:off x="566928" y="384048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4023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NO ES INTELIGENTE</a:t>
            </a:r>
            <a:endParaRPr lang="en-US" sz="1050" dirty="0"/>
          </a:p>
        </p:txBody>
      </p:sp>
      <p:sp>
        <p:nvSpPr>
          <p:cNvPr id="13" name="Text 10"/>
          <p:cNvSpPr/>
          <p:nvPr/>
        </p:nvSpPr>
        <p:spPr>
          <a:xfrm>
            <a:off x="84124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interpreta intenciones ni corrige errores. Si el código dice algo que el autor no quería, se ejecuta lo que dice el código. Varios de los robos más grandes de la historia fueron código funcionando exactamente como estaba escrito.</a:t>
            </a:r>
            <a:endParaRPr lang="en-US" sz="1250" dirty="0"/>
          </a:p>
        </p:txBody>
      </p:sp>
      <p:sp>
        <p:nvSpPr>
          <p:cNvPr id="14" name="Shape 11"/>
          <p:cNvSpPr/>
          <p:nvPr/>
        </p:nvSpPr>
        <p:spPr>
          <a:xfrm>
            <a:off x="6233008" y="384048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2"/>
          <p:cNvSpPr/>
          <p:nvPr/>
        </p:nvSpPr>
        <p:spPr>
          <a:xfrm>
            <a:off x="6507328" y="40233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ES UN CONTRATO JURÍDICO</a:t>
            </a:r>
            <a:endParaRPr lang="en-US" sz="1050" dirty="0"/>
          </a:p>
        </p:txBody>
      </p:sp>
      <p:sp>
        <p:nvSpPr>
          <p:cNvPr id="16" name="Text 13"/>
          <p:cNvSpPr/>
          <p:nvPr/>
        </p:nvSpPr>
        <p:spPr>
          <a:xfrm>
            <a:off x="650732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Puede automatizar el cumplimiento de un acuerdo, pero no es por sí mismo un contrato ante la ley. Su validez jurídica en Colombia se discute en la Sesión 16.</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LA FORMA DE UN ARCHIVO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ANATOMÍA DE UN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6035040" cy="4389120"/>
          </a:xfrm>
          <a:prstGeom prst="rect">
            <a:avLst/>
          </a:prstGeom>
          <a:solidFill>
            <a:srgbClr val="16151B"/>
          </a:solidFill>
          <a:ln w="22225">
            <a:solidFill>
              <a:srgbClr val="16151B"/>
            </a:solidFill>
            <a:prstDash val="solid"/>
          </a:ln>
        </p:spPr>
      </p:sp>
      <p:sp>
        <p:nvSpPr>
          <p:cNvPr id="9" name="Text 6"/>
          <p:cNvSpPr/>
          <p:nvPr/>
        </p:nvSpPr>
        <p:spPr>
          <a:xfrm>
            <a:off x="768096" y="1810512"/>
            <a:ext cx="563270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CONTADOR.SOL</a:t>
            </a:r>
            <a:endParaRPr lang="en-US" sz="850" dirty="0"/>
          </a:p>
        </p:txBody>
      </p:sp>
      <p:sp>
        <p:nvSpPr>
          <p:cNvPr id="10" name="Text 7"/>
          <p:cNvSpPr/>
          <p:nvPr/>
        </p:nvSpPr>
        <p:spPr>
          <a:xfrm>
            <a:off x="768096" y="2121408"/>
            <a:ext cx="5632704" cy="3895344"/>
          </a:xfrm>
          <a:prstGeom prst="rect">
            <a:avLst/>
          </a:prstGeom>
          <a:noFill/>
          <a:ln/>
        </p:spPr>
        <p:txBody>
          <a:bodyPr wrap="square" lIns="0" tIns="0" rIns="0" bIns="0" rtlCol="0" anchor="t"/>
          <a:lstStyle/>
          <a:p>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SPDX-License-Identifier: MIT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pragma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solidity</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28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Contador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nueva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evento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función</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1" name="Text 8"/>
          <p:cNvSpPr/>
          <p:nvPr/>
        </p:nvSpPr>
        <p:spPr>
          <a:xfrm>
            <a:off x="6876288" y="1737360"/>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LICENCIA</a:t>
            </a:r>
            <a:endParaRPr lang="en-US" sz="1050" dirty="0"/>
          </a:p>
        </p:txBody>
      </p:sp>
      <p:sp>
        <p:nvSpPr>
          <p:cNvPr id="12" name="Text 9"/>
          <p:cNvSpPr/>
          <p:nvPr/>
        </p:nvSpPr>
        <p:spPr>
          <a:xfrm>
            <a:off x="6876288" y="2048256"/>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Primera línea. Los contratos verificados son públicos: la licencia dice qué se puede hacer con ese código.</a:t>
            </a:r>
            <a:endParaRPr lang="en-US" sz="1200" dirty="0"/>
          </a:p>
        </p:txBody>
      </p:sp>
      <p:sp>
        <p:nvSpPr>
          <p:cNvPr id="13" name="Text 10"/>
          <p:cNvSpPr/>
          <p:nvPr/>
        </p:nvSpPr>
        <p:spPr>
          <a:xfrm>
            <a:off x="6876288" y="2624328"/>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PRAGMA</a:t>
            </a:r>
            <a:endParaRPr lang="en-US" sz="1050" dirty="0"/>
          </a:p>
        </p:txBody>
      </p:sp>
      <p:sp>
        <p:nvSpPr>
          <p:cNvPr id="14" name="Text 11"/>
          <p:cNvSpPr/>
          <p:nvPr/>
        </p:nvSpPr>
        <p:spPr>
          <a:xfrm>
            <a:off x="6876288" y="2935224"/>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Rango de versiones del compilador. Protege de compilar con una versión con otras reglas.</a:t>
            </a:r>
            <a:endParaRPr lang="en-US" sz="1200" dirty="0"/>
          </a:p>
        </p:txBody>
      </p:sp>
      <p:sp>
        <p:nvSpPr>
          <p:cNvPr id="15" name="Text 12"/>
          <p:cNvSpPr/>
          <p:nvPr/>
        </p:nvSpPr>
        <p:spPr>
          <a:xfrm>
            <a:off x="6876288" y="3511296"/>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CONTRACT</a:t>
            </a:r>
            <a:endParaRPr lang="en-US" sz="1050" dirty="0"/>
          </a:p>
        </p:txBody>
      </p:sp>
      <p:sp>
        <p:nvSpPr>
          <p:cNvPr id="16" name="Text 13"/>
          <p:cNvSpPr/>
          <p:nvPr/>
        </p:nvSpPr>
        <p:spPr>
          <a:xfrm>
            <a:off x="6876288" y="3822192"/>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Como una clase: agrupa estado y funciones. Se despliega en su propia dirección.</a:t>
            </a:r>
            <a:endParaRPr lang="en-US" sz="1200" dirty="0"/>
          </a:p>
        </p:txBody>
      </p:sp>
      <p:sp>
        <p:nvSpPr>
          <p:cNvPr id="17" name="Text 14"/>
          <p:cNvSpPr/>
          <p:nvPr/>
        </p:nvSpPr>
        <p:spPr>
          <a:xfrm>
            <a:off x="6876288" y="4398264"/>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8" name="Text 15"/>
          <p:cNvSpPr/>
          <p:nvPr/>
        </p:nvSpPr>
        <p:spPr>
          <a:xfrm>
            <a:off x="6876288" y="4709160"/>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Variables que viven en storage. Persisten y cuestan (Sesión 5).</a:t>
            </a:r>
            <a:endParaRPr lang="en-US" sz="1200" dirty="0"/>
          </a:p>
        </p:txBody>
      </p:sp>
      <p:sp>
        <p:nvSpPr>
          <p:cNvPr id="19" name="Text 16"/>
          <p:cNvSpPr/>
          <p:nvPr/>
        </p:nvSpPr>
        <p:spPr>
          <a:xfrm>
            <a:off x="6876288" y="5285232"/>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EVENTOS Y FUNCIONES</a:t>
            </a:r>
            <a:endParaRPr lang="en-US" sz="1050" dirty="0"/>
          </a:p>
        </p:txBody>
      </p:sp>
      <p:sp>
        <p:nvSpPr>
          <p:cNvPr id="20" name="Text 17"/>
          <p:cNvSpPr/>
          <p:nvPr/>
        </p:nvSpPr>
        <p:spPr>
          <a:xfrm>
            <a:off x="6876288" y="5596128"/>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Lo que el contrato expone y lo que cuenta al exterior.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VERSIÓN DEL COMPILADOR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PRAGMA: FIJAR CON QUIÉN SE COMPILA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566160"/>
                <a:gridCol w="301752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ESCRITURA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ACEPTA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 USARLA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0.8.28.</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que se despliegan: el bytecode verificado debe ser reproducible.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0.8.28 o superior, dentro de 0.8.x.</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Bibliotecas y material que se reutiliza. Es la que usamos en clase.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&gt;=0.8.0 &lt;0.9.0;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 el rango indicado.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Código que otros compilarán con versiones distintas.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Shape 6"/>
          <p:cNvSpPr/>
          <p:nvPr/>
        </p:nvSpPr>
        <p:spPr>
          <a:xfrm>
            <a:off x="566928" y="4251960"/>
            <a:ext cx="11057839" cy="1234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2" name="Text 7"/>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IMPORTA LA 0.8</a:t>
            </a:r>
            <a:endParaRPr lang="en-US" sz="950" dirty="0"/>
          </a:p>
        </p:txBody>
      </p:sp>
      <p:sp>
        <p:nvSpPr>
          <p:cNvPr id="13" name="Text 8"/>
          <p:cNvSpPr/>
          <p:nvPr/>
        </p:nvSpPr>
        <p:spPr>
          <a:xfrm>
            <a:off x="804672" y="4764024"/>
            <a:ext cx="10582351" cy="6309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Desde la versión 0.8.0, una suma que se desborda revierte automáticamente. Antes daba la vuelta en silencio: 255 + 1 en un uint8 daba 0. Ese cambio eliminó una familia entera de robos, como veremos en la Sesión 9.</a:t>
            </a:r>
            <a:endParaRPr lang="en-US" sz="1300" dirty="0"/>
          </a:p>
        </p:txBody>
      </p:sp>
      <p:sp>
        <p:nvSpPr>
          <p:cNvPr id="14" name="Text 9"/>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El compilador que eligen hoy queda grabado para siempre en el contrato desplegado: no hay «actualizar dependencias».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TIPOS DE VALOR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TIPOS QUE VAN A USAR TODO EL SEMESTRE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393192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 QUE IMPORTA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sin signo de 256 bits. Existen de uint8 a uint256.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natural de la EVM. Usar tamaños menores solo ahorra al empaquetar en storage (Sesión 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con signo.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Poco usado: saldos y montos nunca son negativos.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bool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true o false.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Ocupa un byte en storage, no un bit.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address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Dirección de 20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address payable, además, puede recibir ETH con transfer y send.</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bytes32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Exactamente 32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tipo natural de un hash. Barato y de tamaño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 · string</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Secuencias de tamaño variable.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Caros. string no tiene longitud ni comparación nativa: se convierte a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No existe float ni double. Los montos se guardan en la unidad más pequeña, como el wei (Sesión 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DÓNDE VIVE CADA VARIABLE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VARIABLES DE ESTADO Y VARIABLES LOCALES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23774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12140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Tienda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 · storage · persiste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119</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100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LOCAL · desaparece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escritura en storage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Shape 7"/>
          <p:cNvSpPr/>
          <p:nvPr/>
        </p:nvSpPr>
        <p:spPr>
          <a:xfrm>
            <a:off x="566928" y="429768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4805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2" name="Text 9"/>
          <p:cNvSpPr/>
          <p:nvPr/>
        </p:nvSpPr>
        <p:spPr>
          <a:xfrm>
            <a:off x="84124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fuera de las funciones.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storage: la cadena la recuerda para siempre.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Cada escritura nueva: unos 22 000 de gas.</a:t>
            </a:r>
            <a:endParaRPr lang="en-US" sz="1250" dirty="0"/>
          </a:p>
        </p:txBody>
      </p:sp>
      <p:sp>
        <p:nvSpPr>
          <p:cNvPr id="13" name="Shape 10"/>
          <p:cNvSpPr/>
          <p:nvPr/>
        </p:nvSpPr>
        <p:spPr>
          <a:xfrm>
            <a:off x="6233008" y="429768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4805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LOCAL</a:t>
            </a:r>
            <a:endParaRPr lang="en-US" sz="1050" dirty="0"/>
          </a:p>
        </p:txBody>
      </p:sp>
      <p:sp>
        <p:nvSpPr>
          <p:cNvPr id="15" name="Text 12"/>
          <p:cNvSpPr/>
          <p:nvPr/>
        </p:nvSpPr>
        <p:spPr>
          <a:xfrm>
            <a:off x="650732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dentro de una función.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la pila o en memory: se borra al terminar.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Casi gratis.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QUIÉN PUEDE LLAMAR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VISIBILIDAD: CUATRO PALABRAS, CUATRO FRONTERAS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2377440"/>
                <a:gridCol w="3566160"/>
                <a:gridCol w="2736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VISIBILIDAD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ESTE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UN HIJO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public</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external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Solo con this.funcion()</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 directamente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internal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private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60520"/>
            <a:ext cx="11057839" cy="13258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1" name="Image 1" descr="preencoded.png">    </p:cNvPr>
          <p:cNvPicPr>
            <a:picLocks noChangeAspect="1"/>
          </p:cNvPicPr>
          <p:nvPr/>
        </p:nvPicPr>
        <p:blipFill>
          <a:blip r:embed="rId2"/>
          <a:stretch>
            <a:fillRect/>
          </a:stretch>
        </p:blipFill>
        <p:spPr>
          <a:xfrm>
            <a:off x="804672" y="4379976"/>
            <a:ext cx="237744" cy="237744"/>
          </a:xfrm>
          <a:prstGeom prst="rect">
            <a:avLst/>
          </a:prstGeom>
        </p:spPr>
      </p:pic>
      <p:sp>
        <p:nvSpPr>
          <p:cNvPr id="12" name="Text 7"/>
          <p:cNvSpPr/>
          <p:nvPr/>
        </p:nvSpPr>
        <p:spPr>
          <a:xfrm>
            <a:off x="1133856" y="43525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PRIVATE NO SIGNIFICA SECRETO</a:t>
            </a:r>
            <a:endParaRPr lang="en-US" sz="950" dirty="0"/>
          </a:p>
        </p:txBody>
      </p:sp>
      <p:sp>
        <p:nvSpPr>
          <p:cNvPr id="13" name="Text 8"/>
          <p:cNvSpPr/>
          <p:nvPr/>
        </p:nvSpPr>
        <p:spPr>
          <a:xfrm>
            <a:off x="804672" y="4672584"/>
            <a:ext cx="10582351" cy="72237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private solo impide que OTROS CONTRATOS la lean. Cualquier persona puede leer el storage completo de cualquier contrato con una llamada al nodo. Guardar una contraseña en una variable private es publicarla.</a:t>
            </a:r>
            <a:endParaRPr lang="en-US" sz="1350" dirty="0"/>
          </a:p>
        </p:txBody>
      </p:sp>
      <p:sp>
        <p:nvSpPr>
          <p:cNvPr id="14" name="Text 9"/>
          <p:cNvSpPr/>
          <p:nvPr/>
        </p:nvSpPr>
        <p:spPr>
          <a:xfrm>
            <a:off x="566928" y="5669280"/>
            <a:ext cx="11057839" cy="530352"/>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variable de estado public genera automáticamente una función de lectura con su nombre. Por eso se puede consultar emisor() en el laboratorio sin haberla escrito.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QUÉ HACE LA FUNCIÓN CON EL ESTADO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VIEW, PURE Y PAYABLE</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1645920"/>
                <a:gridCol w="1920240"/>
                <a:gridCol w="17373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MODIFICADOR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LEE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CAMBIA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RECIBE ETH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 SI SE LLAMA 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(ninguno)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view</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pure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payable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Text 6"/>
          <p:cNvSpPr/>
          <p:nvPr/>
        </p:nvSpPr>
        <p:spPr>
          <a:xfrm>
            <a:off x="566928" y="4114800"/>
            <a:ext cx="11057839" cy="365760"/>
          </a:xfrm>
          <a:prstGeom prst="rect">
            <a:avLst/>
          </a:prstGeom>
          <a:noFill/>
          <a:ln/>
        </p:spPr>
        <p:txBody>
          <a:bodyPr wrap="square" lIns="0" tIns="0" rIns="0" bIns="0" rtlCol="0" anchor="t"/>
          <a:lstStyle/>
          <a:p>
            <a:pPr indent="0" marL="0">
              <a:lnSpc>
                <a:spcPct val="124000"/>
              </a:lnSpc>
              <a:buNone/>
            </a:pPr>
            <a:r>
              <a:rPr lang="en-US" sz="1400" b="1" dirty="0">
                <a:solidFill>
                  <a:srgbClr val="0F0F11"/>
                </a:solidFill>
                <a:latin typeface="Arial" pitchFamily="34" charset="0"/>
                <a:ea typeface="Arial" pitchFamily="34" charset="-122"/>
                <a:cs typeface="Arial" pitchFamily="34" charset="-120"/>
              </a:rPr>
              <a:t>«Gratuita» tiene letra pequeña:</a:t>
            </a:r>
            <a:endParaRPr lang="en-US" sz="1400" dirty="0"/>
          </a:p>
        </p:txBody>
      </p:sp>
      <p:sp>
        <p:nvSpPr>
          <p:cNvPr id="11" name="Text 7"/>
          <p:cNvSpPr/>
          <p:nvPr/>
        </p:nvSpPr>
        <p:spPr>
          <a:xfrm>
            <a:off x="566928" y="4526280"/>
            <a:ext cx="11057839" cy="164592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Es gratis cuando una aplicación la consulta directamente a un nodo: no se crea transacción.</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Si otro contrato la llama dentro de una transacción, el gas se paga igual.</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Una función sin payable que recibe ETH revierte: es una protección, no un descuido.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LO QUE EL CONTRATO SABE DEL MUNDO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VARIABLES GLOBALES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94560"/>
                <a:gridCol w="3931920"/>
                <a:gridCol w="4931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VARIABLE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CONTIENE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CUIDADO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llamó directamente a esta función.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un contrato llama a otro, es el contrato intermediario, no la persona.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msg.value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Cuántos wei vinieron con la llamada.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tiene sentido en funciones payable.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block.timestamp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Marca de tiempo del bloque, en segundos.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elige el proponente del bloque dentro de un margen pequeño: no sirve para decisiones al segundo.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block.number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Altura del bloque.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es una medida exacta de tiempo.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tx.origin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cuenta externa que firmó la transacción original.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NUNCA para control de acceso. Es una vulnerabilidad clásica (Sesión 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 que NO hay: la hora real, archivos, internet, números aleatorios. Todo lo que el contrato sabe está en la cadena o viene en la llamada.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FALLAR BIEN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REQUIRE, REVERT, ERRORES PERSONALIZADOS Y ASSERT</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1737360"/>
            <a:ext cx="11057839" cy="26974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44144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1 · require con mensaje: simple, pero guarda el texto en el bytecode</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"no autorizado"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2 · error personalizado: más barato y lleva datos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quien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 · assert: para lo que NUNCA debería pasar</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assert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totalEmitidos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totalRevocados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4590288"/>
          <a:ext cx="11057839" cy="914400"/>
        </p:xfrm>
        <a:graphic>
          <a:graphicData uri="http://schemas.openxmlformats.org/drawingml/2006/table">
            <a:tbl>
              <a:tblPr/>
              <a:tblGrid>
                <a:gridCol w="2377440"/>
                <a:gridCol w="4937760"/>
                <a:gridCol w="374263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require / revert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Validar entradas, permisos y condiciones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Consumido hasta el error; el resto se devuelve.</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error personalizado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Lo mismo, con datos estructurados que la interfaz puede mostrar.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Menor: no almacena cadenas de texto.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assert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Invariantes internas. Si falla, hay un error de programación.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Produce un Panic: señal de defecto, no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572000"/>
            <a:ext cx="11094415" cy="1645920"/>
          </a:xfrm>
          <a:prstGeom prst="rect">
            <a:avLst/>
          </a:prstGeom>
          <a:ln w="22225">
            <a:solidFill>
              <a:srgbClr val="0F0F11"/>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CONTARLE AL MUNDO LO QUE PASÓ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EVENTOS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3017520"/>
            <a:ext cx="5391760" cy="2514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EXISTEN</a:t>
            </a:r>
            <a:endParaRPr lang="en-US" sz="1050" dirty="0"/>
          </a:p>
        </p:txBody>
      </p:sp>
      <p:sp>
        <p:nvSpPr>
          <p:cNvPr id="12" name="Text 9"/>
          <p:cNvSpPr/>
          <p:nvPr/>
        </p:nvSpPr>
        <p:spPr>
          <a:xfrm>
            <a:off x="84124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Son la forma barata de dejar constancia: la mitad que escribir en storage (medido en la Sesión 5).</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Las aplicaciones se suscriben a ellos para actualizarse sin consultar todo el tiempo.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Quedan en el recibo de la transacción, para siempre.</a:t>
            </a:r>
            <a:endParaRPr lang="en-US" sz="1250" dirty="0"/>
          </a:p>
        </p:txBody>
      </p:sp>
      <p:sp>
        <p:nvSpPr>
          <p:cNvPr id="13" name="Shape 10"/>
          <p:cNvSpPr/>
          <p:nvPr/>
        </p:nvSpPr>
        <p:spPr>
          <a:xfrm>
            <a:off x="6233008" y="301752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NO PUEDEN HACER</a:t>
            </a:r>
            <a:endParaRPr lang="en-US" sz="1050" dirty="0"/>
          </a:p>
        </p:txBody>
      </p:sp>
      <p:sp>
        <p:nvSpPr>
          <p:cNvPr id="15" name="Text 12"/>
          <p:cNvSpPr/>
          <p:nvPr/>
        </p:nvSpPr>
        <p:spPr>
          <a:xfrm>
            <a:off x="650732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Otro contrato NO puede leer un evento. Si la lógica lo necesita, va en storage.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Hasta 3 parámetros indexed: son los que se pueden filtrar rápido.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evento no prueba nada por sí mismo si el contrato que lo emite no es el esperado.</a:t>
            </a:r>
            <a:endParaRPr lang="en-US" sz="1250" dirty="0"/>
          </a:p>
        </p:txBody>
      </p:sp>
      <p:sp>
        <p:nvSpPr>
          <p:cNvPr id="16" name="Text 13"/>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Regla práctica: toda función que cambia el estado emite un evento. Sin evento, la interfaz de la Sesión 12 no se entera.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INICIALIZAR Y PROTEGER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CONSTRUCTOR Y MODIFICADORES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64922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089904" cy="4178808"/>
          </a:xfrm>
          <a:prstGeom prst="rect">
            <a:avLst/>
          </a:prstGeom>
          <a:noFill/>
          <a:ln/>
        </p:spPr>
        <p:txBody>
          <a:bodyPr wrap="square" lIns="0" tIns="0" rIns="0" bIns="0" rtlCol="0" anchor="t"/>
          <a:lstStyle/>
          <a:p>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UNA vez, al desplegar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modifier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aquí se inserta la función</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solo llega aquí si pasó el modificador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7333488" y="1737360"/>
            <a:ext cx="4291279" cy="4434840"/>
          </a:xfrm>
          <a:prstGeom prst="rect">
            <a:avLst/>
          </a:prstGeom>
          <a:noFill/>
          <a:ln/>
        </p:spPr>
        <p:txBody>
          <a:bodyPr wrap="square" lIns="0" tIns="0" rIns="0" bIns="0" rtlCol="0" anchor="t"/>
          <a:lstStyle/>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constructor no queda en el bytecode desplegado: corre una vez y desaparece.</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Quien despliega es msg.sender en el constructor. Por eso el emisor es la cuenta con la que se despliega.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guion bajo _; marca dónde se ejecuta la función protegida.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Un modificador olvidado en UNA función abre la puerta entera. Revisar cada función que cambia estado.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VISTA PREVIA DE LA SESIÓN 7</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MAPPING QUE NECESITAMOS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laboratorio necesita buscar un certificado por su hash. Para eso existe el mapping: una tabla de pares clave → valor. Hoy basta con usarlo; la Sesión 7 lo estudia a fondo.</a:t>
            </a:r>
            <a:endParaRPr lang="en-US" sz="1450" dirty="0"/>
          </a:p>
        </p:txBody>
      </p:sp>
      <p:sp>
        <p:nvSpPr>
          <p:cNvPr id="9" name="Shape 6"/>
          <p:cNvSpPr/>
          <p:nvPr/>
        </p:nvSpPr>
        <p:spPr>
          <a:xfrm>
            <a:off x="566928" y="274320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889504"/>
            <a:ext cx="10655503" cy="1344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private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referencia: los cambios se guardan</a:t>
            </a:r>
            <a:endParaRPr lang="en-US" sz="1200" dirty="0"/>
          </a:p>
        </p:txBody>
      </p:sp>
      <p:sp>
        <p:nvSpPr>
          <p:cNvPr id="11" name="Shape 8"/>
          <p:cNvSpPr/>
          <p:nvPr/>
        </p:nvSpPr>
        <p:spPr>
          <a:xfrm>
            <a:off x="566928" y="4572000"/>
            <a:ext cx="11057839" cy="15544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ÚNICO QUE HAY QUE SABER HOY</a:t>
            </a:r>
            <a:endParaRPr lang="en-US" sz="950" dirty="0"/>
          </a:p>
        </p:txBody>
      </p:sp>
      <p:sp>
        <p:nvSpPr>
          <p:cNvPr id="14" name="Text 10"/>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Toda clave existe: si nunca se escribió, devuelve el valor por defecto (ceros, falso, texto vacío). Por eso el certificado lleva el campo «existe»: sin él, no se distingue un certificado que nunca se emitió de uno emitido con datos vacíos.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LA DECISIÓN DE DISEÑO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NUNCA VA A UNA CADENA PÚBLICA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tentación es guardar el nombre del graduado, su cédula y su programa. Parece útil. Es un error grave, y no técnico: jurídico.</a:t>
            </a:r>
            <a:endParaRPr lang="en-US" sz="1450" dirty="0"/>
          </a:p>
        </p:txBody>
      </p:sp>
      <p:sp>
        <p:nvSpPr>
          <p:cNvPr id="9" name="Shape 6"/>
          <p:cNvSpPr/>
          <p:nvPr/>
        </p:nvSpPr>
        <p:spPr>
          <a:xfrm>
            <a:off x="566928" y="246888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65176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CHOQUE</a:t>
            </a:r>
            <a:endParaRPr lang="en-US" sz="1050" dirty="0"/>
          </a:p>
        </p:txBody>
      </p:sp>
      <p:sp>
        <p:nvSpPr>
          <p:cNvPr id="11" name="Text 8"/>
          <p:cNvSpPr/>
          <p:nvPr/>
        </p:nvSpPr>
        <p:spPr>
          <a:xfrm>
            <a:off x="84124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Ley Estatutaria 1581 de 2012 de protección de datos personales da a toda persona derecho a conocer, actualizar, rectificar y pedir la supresión de sus datos. Una cadena pública es inmutable: lo escrito no se puede suprimir.</a:t>
            </a:r>
            <a:endParaRPr lang="en-US" sz="1300" dirty="0"/>
          </a:p>
        </p:txBody>
      </p:sp>
      <p:sp>
        <p:nvSpPr>
          <p:cNvPr id="12" name="Shape 9"/>
          <p:cNvSpPr/>
          <p:nvPr/>
        </p:nvSpPr>
        <p:spPr>
          <a:xfrm>
            <a:off x="6233008" y="246888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6517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SALIDA</a:t>
            </a:r>
            <a:endParaRPr lang="en-US" sz="1050" dirty="0"/>
          </a:p>
        </p:txBody>
      </p:sp>
      <p:sp>
        <p:nvSpPr>
          <p:cNvPr id="14" name="Text 11"/>
          <p:cNvSpPr/>
          <p:nvPr/>
        </p:nvSpPr>
        <p:spPr>
          <a:xfrm>
            <a:off x="650732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En la cadena va solo el HASH del archivo del diploma. Quien tiene el PDF calcula el hash y verifica. Quien no lo tiene no aprende nada: un hash no identifica a una persona por sí solo.</a:t>
            </a:r>
            <a:endParaRPr lang="en-US" sz="1300" dirty="0"/>
          </a:p>
        </p:txBody>
      </p:sp>
      <p:sp>
        <p:nvSpPr>
          <p:cNvPr id="15" name="Shape 12"/>
          <p:cNvSpPr/>
          <p:nvPr/>
        </p:nvSpPr>
        <p:spPr>
          <a:xfrm>
            <a:off x="566928" y="4983480"/>
            <a:ext cx="11057839" cy="117043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REGLA PARA EL ANTEPROYECTO</a:t>
            </a:r>
            <a:endParaRPr lang="en-US" sz="950" dirty="0"/>
          </a:p>
        </p:txBody>
      </p:sp>
      <p:sp>
        <p:nvSpPr>
          <p:cNvPr id="18" name="Text 14"/>
          <p:cNvSpPr/>
          <p:nvPr/>
        </p:nvSpPr>
        <p:spPr>
          <a:xfrm>
            <a:off x="804672" y="5495544"/>
            <a:ext cx="10582351"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su proyecto maneja datos de personas, el anteproyecto tiene que decir explícitamente qué va en la cadena, qué va fuera y por qué. Un proyecto que guarde datos personales en cadena no se aprueba.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EL CONTRATO DEL LABORATORIO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EMITIR: VALIDAR, GUARDAR, AVISAR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VALIDAR PRIMERO</a:t>
            </a:r>
            <a:endParaRPr lang="en-US" sz="1000" dirty="0"/>
          </a:p>
        </p:txBody>
      </p:sp>
      <p:sp>
        <p:nvSpPr>
          <p:cNvPr id="11" name="Text 8"/>
          <p:cNvSpPr/>
          <p:nvPr/>
        </p:nvSpPr>
        <p:spPr>
          <a:xfrm>
            <a:off x="7790688" y="204825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Todas las comprobaciones antes de tocar el estado. Si algo falla, no se escribió nada.</a:t>
            </a:r>
            <a:endParaRPr lang="en-US" sz="1200" dirty="0"/>
          </a:p>
        </p:txBody>
      </p:sp>
      <p:sp>
        <p:nvSpPr>
          <p:cNvPr id="12" name="Text 9"/>
          <p:cNvSpPr/>
          <p:nvPr/>
        </p:nvSpPr>
        <p:spPr>
          <a:xfrm>
            <a:off x="7790688" y="28346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CALLDATA</a:t>
            </a:r>
            <a:endParaRPr lang="en-US" sz="1000" dirty="0"/>
          </a:p>
        </p:txBody>
      </p:sp>
      <p:sp>
        <p:nvSpPr>
          <p:cNvPr id="13" name="Text 10"/>
          <p:cNvSpPr/>
          <p:nvPr/>
        </p:nvSpPr>
        <p:spPr>
          <a:xfrm>
            <a:off x="7790688" y="314553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El texto se lee sin copiarlo a memoria: más barato (Sesión 5).</a:t>
            </a:r>
            <a:endParaRPr lang="en-US" sz="1200" dirty="0"/>
          </a:p>
        </p:txBody>
      </p:sp>
      <p:sp>
        <p:nvSpPr>
          <p:cNvPr id="14" name="Text 11"/>
          <p:cNvSpPr/>
          <p:nvPr/>
        </p:nvSpPr>
        <p:spPr>
          <a:xfrm>
            <a:off x="7790688" y="393192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UN SOLO HASH, UNA VEZ</a:t>
            </a:r>
            <a:endParaRPr lang="en-US" sz="1000" dirty="0"/>
          </a:p>
        </p:txBody>
      </p:sp>
      <p:sp>
        <p:nvSpPr>
          <p:cNvPr id="15" name="Text 12"/>
          <p:cNvSpPr/>
          <p:nvPr/>
        </p:nvSpPr>
        <p:spPr>
          <a:xfrm>
            <a:off x="7790688" y="424281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YaEmitido impide sobrescribir un certificado existente, incluido uno revocado.</a:t>
            </a:r>
            <a:endParaRPr lang="en-US" sz="1200" dirty="0"/>
          </a:p>
        </p:txBody>
      </p:sp>
      <p:sp>
        <p:nvSpPr>
          <p:cNvPr id="16" name="Text 13"/>
          <p:cNvSpPr/>
          <p:nvPr/>
        </p:nvSpPr>
        <p:spPr>
          <a:xfrm>
            <a:off x="7790688" y="50292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EVENTO AL FINAL</a:t>
            </a:r>
            <a:endParaRPr lang="en-US" sz="1000" dirty="0"/>
          </a:p>
        </p:txBody>
      </p:sp>
      <p:sp>
        <p:nvSpPr>
          <p:cNvPr id="17" name="Text 14"/>
          <p:cNvSpPr/>
          <p:nvPr/>
        </p:nvSpPr>
        <p:spPr>
          <a:xfrm>
            <a:off x="7790688" y="534009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Se emite cuando todo salió bien.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EL CONTRATO DEL LABORATORIO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REVOCAR SIN BORRAR, VERIFICAR SIN PAGAR</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NoExiste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verificar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valido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STORAGE, NO MEMORY</a:t>
            </a:r>
            <a:endParaRPr lang="en-US" sz="1000" dirty="0"/>
          </a:p>
        </p:txBody>
      </p:sp>
      <p:sp>
        <p:nvSpPr>
          <p:cNvPr id="11" name="Text 8"/>
          <p:cNvSpPr/>
          <p:nvPr/>
        </p:nvSpPr>
        <p:spPr>
          <a:xfrm>
            <a:off x="7790688" y="204825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 apunta al dato guardado. Con memory se modificaría una copia y el cambio se perdería.</a:t>
            </a:r>
            <a:endParaRPr lang="en-US" sz="1200" dirty="0"/>
          </a:p>
        </p:txBody>
      </p:sp>
      <p:sp>
        <p:nvSpPr>
          <p:cNvPr id="12" name="Text 9"/>
          <p:cNvSpPr/>
          <p:nvPr/>
        </p:nvSpPr>
        <p:spPr>
          <a:xfrm>
            <a:off x="7790688" y="32004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REVOCAR NO ES BORRAR</a:t>
            </a:r>
            <a:endParaRPr lang="en-US" sz="1000" dirty="0"/>
          </a:p>
        </p:txBody>
      </p:sp>
      <p:sp>
        <p:nvSpPr>
          <p:cNvPr id="13" name="Text 10"/>
          <p:cNvSpPr/>
          <p:nvPr/>
        </p:nvSpPr>
        <p:spPr>
          <a:xfrm>
            <a:off x="7790688" y="351129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Queda la historia: existió, se emitió en tal fecha, se revocó por tal motivo. Eso es lo que da confianza.</a:t>
            </a:r>
            <a:endParaRPr lang="en-US" sz="1200" dirty="0"/>
          </a:p>
        </p:txBody>
      </p:sp>
      <p:sp>
        <p:nvSpPr>
          <p:cNvPr id="14" name="Text 11"/>
          <p:cNvSpPr/>
          <p:nvPr/>
        </p:nvSpPr>
        <p:spPr>
          <a:xfrm>
            <a:off x="7790688" y="46634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VIEW</a:t>
            </a:r>
            <a:endParaRPr lang="en-US" sz="1000" dirty="0"/>
          </a:p>
        </p:txBody>
      </p:sp>
      <p:sp>
        <p:nvSpPr>
          <p:cNvPr id="15" name="Text 12"/>
          <p:cNvSpPr/>
          <p:nvPr/>
        </p:nvSpPr>
        <p:spPr>
          <a:xfrm>
            <a:off x="7790688" y="497433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Quien verifica un diploma no paga nada ni necesita billetera.</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SEIS IDEAS ANTES DE ABRIR REMIX</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 contrato hace exactamente lo que dice su código, aunque no sea lo que quería su autor.</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private impide que otros contratos lean; no impide que las personas lean.</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Validar todo antes de cambiar el estado, y fallar con errores que digan por qué.</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Toda función que cambia el estado emite un evento.</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Un modificador olvidado en una sola función abre la puerta entera.</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 una cadena pública no van datos personales: va su hash.</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06 · REMIX</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Completar el registro de certificados, probarlo en la máquina virtual del navegador y desplegarlo en Sepolia.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PREPARAR REMIX</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a:t>
            </a:r>
            <a:endParaRPr lang="en-US" sz="1000" dirty="0"/>
          </a:p>
        </p:txBody>
      </p:sp>
      <p:sp>
        <p:nvSpPr>
          <p:cNvPr id="11" name="Text 8"/>
          <p:cNvSpPr/>
          <p:nvPr/>
        </p:nvSpPr>
        <p:spPr>
          <a:xfrm>
            <a:off x="3566160" y="1828800"/>
            <a:ext cx="7948879" cy="60350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Ir a remix.ethereum.org en el navegador donde está instalada la billetera.</a:t>
            </a:r>
            <a:endParaRPr lang="en-US" sz="1300" dirty="0"/>
          </a:p>
        </p:txBody>
      </p:sp>
      <p:sp>
        <p:nvSpPr>
          <p:cNvPr id="12" name="Shape 9"/>
          <p:cNvSpPr/>
          <p:nvPr/>
        </p:nvSpPr>
        <p:spPr>
          <a:xfrm>
            <a:off x="566928" y="2615184"/>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61518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4378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CREAR ARCHIVO</a:t>
            </a:r>
            <a:endParaRPr lang="en-US" sz="1000" dirty="0"/>
          </a:p>
        </p:txBody>
      </p:sp>
      <p:sp>
        <p:nvSpPr>
          <p:cNvPr id="15" name="Text 12"/>
          <p:cNvSpPr/>
          <p:nvPr/>
        </p:nvSpPr>
        <p:spPr>
          <a:xfrm>
            <a:off x="3566160" y="2706624"/>
            <a:ext cx="7948879" cy="60350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En el explorador de archivos, crear CertificadosUSB.sol y pegar el andamiaje: andamiaje/s06/CertificadosUSB.sol.</a:t>
            </a:r>
            <a:endParaRPr lang="en-US" sz="1300" dirty="0"/>
          </a:p>
        </p:txBody>
      </p:sp>
      <p:sp>
        <p:nvSpPr>
          <p:cNvPr id="16" name="Shape 13"/>
          <p:cNvSpPr/>
          <p:nvPr/>
        </p:nvSpPr>
        <p:spPr>
          <a:xfrm>
            <a:off x="566928" y="3493008"/>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4930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72160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COMPILADOR</a:t>
            </a:r>
            <a:endParaRPr lang="en-US" sz="1000" dirty="0"/>
          </a:p>
        </p:txBody>
      </p:sp>
      <p:sp>
        <p:nvSpPr>
          <p:cNvPr id="19" name="Text 16"/>
          <p:cNvSpPr/>
          <p:nvPr/>
        </p:nvSpPr>
        <p:spPr>
          <a:xfrm>
            <a:off x="3566160" y="3584448"/>
            <a:ext cx="7948879" cy="60350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En la pestaña Solidity Compiler, elegir la versión 0.8.28 y activar la optimización.</a:t>
            </a:r>
            <a:endParaRPr lang="en-US" sz="1300" dirty="0"/>
          </a:p>
        </p:txBody>
      </p:sp>
      <p:sp>
        <p:nvSpPr>
          <p:cNvPr id="20" name="Shape 17"/>
          <p:cNvSpPr/>
          <p:nvPr/>
        </p:nvSpPr>
        <p:spPr>
          <a:xfrm>
            <a:off x="566928" y="4370832"/>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37083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59943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COMPILAR</a:t>
            </a:r>
            <a:endParaRPr lang="en-US" sz="1000" dirty="0"/>
          </a:p>
        </p:txBody>
      </p:sp>
      <p:sp>
        <p:nvSpPr>
          <p:cNvPr id="23" name="Text 20"/>
          <p:cNvSpPr/>
          <p:nvPr/>
        </p:nvSpPr>
        <p:spPr>
          <a:xfrm>
            <a:off x="3566160" y="4462272"/>
            <a:ext cx="7948879" cy="603504"/>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Compilar. Tiene que compilar sin errores ANTES de escribir nada: el andamiaje está hecho para eso.</a:t>
            </a:r>
            <a:endParaRPr lang="en-US" sz="1300" dirty="0"/>
          </a:p>
        </p:txBody>
      </p:sp>
      <p:sp>
        <p:nvSpPr>
          <p:cNvPr id="24" name="Shape 21"/>
          <p:cNvSpPr/>
          <p:nvPr/>
        </p:nvSpPr>
        <p:spPr>
          <a:xfrm>
            <a:off x="566928" y="5303520"/>
            <a:ext cx="11057839" cy="877824"/>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522976"/>
            <a:ext cx="237744" cy="237744"/>
          </a:xfrm>
          <a:prstGeom prst="rect">
            <a:avLst/>
          </a:prstGeom>
        </p:spPr>
      </p:pic>
      <p:sp>
        <p:nvSpPr>
          <p:cNvPr id="26" name="Text 22"/>
          <p:cNvSpPr/>
          <p:nvPr/>
        </p:nvSpPr>
        <p:spPr>
          <a:xfrm>
            <a:off x="1133856" y="54955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SI LA SALA BLOQUEA REMIX</a:t>
            </a:r>
            <a:endParaRPr lang="en-US" sz="950" dirty="0"/>
          </a:p>
        </p:txBody>
      </p:sp>
      <p:sp>
        <p:nvSpPr>
          <p:cNvPr id="27" name="Text 23"/>
          <p:cNvSpPr/>
          <p:nvPr/>
        </p:nvSpPr>
        <p:spPr>
          <a:xfrm>
            <a:off x="804672" y="5815584"/>
            <a:ext cx="10582351"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Plan B: el mismo contrato en el repositorio del curso con Hardhat. Guía en laboratorios-evm/guias/s06.</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40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COMPLETAR LOS SIETE TODO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384048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PROBARLO EN LA REMIX VM</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modificador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Revertir si quien llama no es el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Cambiar de cuenta en Remix e intentar emitir: debe fallar.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constructor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Guardar al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Consultar emisor(): debe ser la cuenta que desplegó.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y 4 · emitir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guardar, contar y emitir el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Emitir un hash de prueba y consultar emitidos().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revocar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existencia y estado,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Revocar dos veces: la segunda debe fallar.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 · verificar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Devolver válido = existe y no revocado.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Verificar antes y después de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 cambiar emisor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Rechazar la dirección cero y traspasar.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Traspasar a otra cuenta y comprobar que la anterior ya no puede emitir.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877056"/>
          </a:xfrm>
          <a:prstGeom prst="rect">
            <a:avLst/>
          </a:prstGeom>
          <a:ln w="22225">
            <a:solidFill>
              <a:srgbClr val="0F0F11"/>
            </a:solidFill>
            <a:prstDash val="solid"/>
          </a:ln>
        </p:spPr>
      </p:sp>
      <p:sp>
        <p:nvSpPr>
          <p:cNvPr id="10" name="Text 6"/>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Después de cada TODO: compilar, desplegar de nuevo en la Remix VM y probar a mano. Avanzar de uno en uno ahorra la mitad del tiempo de depuración.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EL DATO QUE SE REGISTRA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CALCULAR EL HASH DEL DIPLOMA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Cada pareja usa un PDF cualquiera como «diploma» —un documento propio de prueba, nunca uno real con datos personales— y calcula su hash con el script del repositorio:</a:t>
            </a:r>
            <a:endParaRPr lang="en-US" sz="1400" dirty="0"/>
          </a:p>
        </p:txBody>
      </p:sp>
      <p:sp>
        <p:nvSpPr>
          <p:cNvPr id="9" name="Shape 6"/>
          <p:cNvSpPr/>
          <p:nvPr/>
        </p:nvSpPr>
        <p:spPr>
          <a:xfrm>
            <a:off x="566928" y="274320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889504"/>
            <a:ext cx="10655503" cy="1344168"/>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pdf</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archivo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pdf</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ñ</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48.213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bytes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keccak</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x1c3c4078e3a4d1c6f0b1fc78d1924bb9ca55d997da9fa621cc1eced16ce1b538</a:t>
            </a:r>
            <a:endParaRPr lang="en-US" sz="1200" dirty="0"/>
          </a:p>
        </p:txBody>
      </p:sp>
      <p:sp>
        <p:nvSpPr>
          <p:cNvPr id="11" name="Shape 8"/>
          <p:cNvSpPr/>
          <p:nvPr/>
        </p:nvSpPr>
        <p:spPr>
          <a:xfrm>
            <a:off x="566928" y="4526280"/>
            <a:ext cx="11057839" cy="493776"/>
          </a:xfrm>
          <a:prstGeom prst="rect">
            <a:avLst/>
          </a:prstGeom>
          <a:solidFill>
            <a:srgbClr val="FFFFFF"/>
          </a:solidFill>
          <a:ln w="15875">
            <a:solidFill>
              <a:srgbClr val="D9D6E0"/>
            </a:solidFill>
            <a:prstDash val="solid"/>
          </a:ln>
        </p:spPr>
      </p:sp>
      <p:sp>
        <p:nvSpPr>
          <p:cNvPr id="12" name="Text 9"/>
          <p:cNvSpPr/>
          <p:nvPr/>
        </p:nvSpPr>
        <p:spPr>
          <a:xfrm>
            <a:off x="694944" y="4526280"/>
            <a:ext cx="548640" cy="49377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3" name="Text 10"/>
          <p:cNvSpPr/>
          <p:nvPr/>
        </p:nvSpPr>
        <p:spPr>
          <a:xfrm>
            <a:off x="1280160" y="4626864"/>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EMITIR</a:t>
            </a:r>
            <a:endParaRPr lang="en-US" sz="1000" dirty="0"/>
          </a:p>
        </p:txBody>
      </p:sp>
      <p:sp>
        <p:nvSpPr>
          <p:cNvPr id="14" name="Text 11"/>
          <p:cNvSpPr/>
          <p:nvPr/>
        </p:nvSpPr>
        <p:spPr>
          <a:xfrm>
            <a:off x="3017520" y="4617720"/>
            <a:ext cx="8497519" cy="34747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Pegar ese valor como hashDocumento en emitir().</a:t>
            </a:r>
            <a:endParaRPr lang="en-US" sz="1250" dirty="0"/>
          </a:p>
        </p:txBody>
      </p:sp>
      <p:sp>
        <p:nvSpPr>
          <p:cNvPr id="15" name="Shape 12"/>
          <p:cNvSpPr/>
          <p:nvPr/>
        </p:nvSpPr>
        <p:spPr>
          <a:xfrm>
            <a:off x="566928" y="5093208"/>
            <a:ext cx="11057839" cy="493776"/>
          </a:xfrm>
          <a:prstGeom prst="rect">
            <a:avLst/>
          </a:prstGeom>
          <a:solidFill>
            <a:srgbClr val="FAF9FB"/>
          </a:solidFill>
          <a:ln w="15875">
            <a:solidFill>
              <a:srgbClr val="D9D6E0"/>
            </a:solidFill>
            <a:prstDash val="solid"/>
          </a:ln>
        </p:spPr>
      </p:sp>
      <p:sp>
        <p:nvSpPr>
          <p:cNvPr id="16" name="Text 13"/>
          <p:cNvSpPr/>
          <p:nvPr/>
        </p:nvSpPr>
        <p:spPr>
          <a:xfrm>
            <a:off x="694944" y="5093208"/>
            <a:ext cx="548640" cy="49377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7" name="Text 14"/>
          <p:cNvSpPr/>
          <p:nvPr/>
        </p:nvSpPr>
        <p:spPr>
          <a:xfrm>
            <a:off x="1280160" y="5193792"/>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ALTERAR</a:t>
            </a:r>
            <a:endParaRPr lang="en-US" sz="1000" dirty="0"/>
          </a:p>
        </p:txBody>
      </p:sp>
      <p:sp>
        <p:nvSpPr>
          <p:cNvPr id="18" name="Text 15"/>
          <p:cNvSpPr/>
          <p:nvPr/>
        </p:nvSpPr>
        <p:spPr>
          <a:xfrm>
            <a:off x="3017520" y="5184648"/>
            <a:ext cx="8497519" cy="34747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Editar el PDF, guardarlo y volver a calcular el hash: cambió por completo (Sesión 2).</a:t>
            </a:r>
            <a:endParaRPr lang="en-US" sz="1250" dirty="0"/>
          </a:p>
        </p:txBody>
      </p:sp>
      <p:sp>
        <p:nvSpPr>
          <p:cNvPr id="19" name="Shape 16"/>
          <p:cNvSpPr/>
          <p:nvPr/>
        </p:nvSpPr>
        <p:spPr>
          <a:xfrm>
            <a:off x="566928" y="5660136"/>
            <a:ext cx="11057839" cy="493776"/>
          </a:xfrm>
          <a:prstGeom prst="rect">
            <a:avLst/>
          </a:prstGeom>
          <a:solidFill>
            <a:srgbClr val="FFFFFF"/>
          </a:solidFill>
          <a:ln w="15875">
            <a:solidFill>
              <a:srgbClr val="D9D6E0"/>
            </a:solidFill>
            <a:prstDash val="solid"/>
          </a:ln>
        </p:spPr>
      </p:sp>
      <p:sp>
        <p:nvSpPr>
          <p:cNvPr id="20" name="Text 17"/>
          <p:cNvSpPr/>
          <p:nvPr/>
        </p:nvSpPr>
        <p:spPr>
          <a:xfrm>
            <a:off x="694944" y="5660136"/>
            <a:ext cx="548640" cy="49377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1" name="Text 18"/>
          <p:cNvSpPr/>
          <p:nvPr/>
        </p:nvSpPr>
        <p:spPr>
          <a:xfrm>
            <a:off x="1280160" y="576072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a:t>
            </a:r>
            <a:endParaRPr lang="en-US" sz="1000" dirty="0"/>
          </a:p>
        </p:txBody>
      </p:sp>
      <p:sp>
        <p:nvSpPr>
          <p:cNvPr id="22" name="Text 19"/>
          <p:cNvSpPr/>
          <p:nvPr/>
        </p:nvSpPr>
        <p:spPr>
          <a:xfrm>
            <a:off x="3017520" y="5751576"/>
            <a:ext cx="8497519" cy="34747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verificar() con el hash nuevo: no es válido. Esa es la garantía que ofrece el sistema.</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DESPLEGAR EN SEPOLIA</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737360"/>
            <a:ext cx="11057839" cy="640080"/>
          </a:xfrm>
          <a:prstGeom prst="rect">
            <a:avLst/>
          </a:prstGeom>
          <a:solidFill>
            <a:srgbClr val="FFFFFF"/>
          </a:solidFill>
          <a:ln w="15875">
            <a:solidFill>
              <a:srgbClr val="D9D6E0"/>
            </a:solidFill>
            <a:prstDash val="solid"/>
          </a:ln>
        </p:spPr>
      </p:sp>
      <p:sp>
        <p:nvSpPr>
          <p:cNvPr id="9" name="Text 6"/>
          <p:cNvSpPr/>
          <p:nvPr/>
        </p:nvSpPr>
        <p:spPr>
          <a:xfrm>
            <a:off x="694944" y="17373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ENTORNO</a:t>
            </a:r>
            <a:endParaRPr lang="en-US" sz="1000" dirty="0"/>
          </a:p>
        </p:txBody>
      </p:sp>
      <p:sp>
        <p:nvSpPr>
          <p:cNvPr id="11" name="Text 8"/>
          <p:cNvSpPr/>
          <p:nvPr/>
        </p:nvSpPr>
        <p:spPr>
          <a:xfrm>
            <a:off x="3291840" y="1828800"/>
            <a:ext cx="822319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Deploy &amp; Run, cambiar Environment de «Remix VM» a «Injected Provider – MetaMask».</a:t>
            </a:r>
            <a:endParaRPr lang="en-US" sz="1250" dirty="0"/>
          </a:p>
        </p:txBody>
      </p:sp>
      <p:sp>
        <p:nvSpPr>
          <p:cNvPr id="12" name="Shape 9"/>
          <p:cNvSpPr/>
          <p:nvPr/>
        </p:nvSpPr>
        <p:spPr>
          <a:xfrm>
            <a:off x="566928" y="2468880"/>
            <a:ext cx="11057839" cy="640080"/>
          </a:xfrm>
          <a:prstGeom prst="rect">
            <a:avLst/>
          </a:prstGeom>
          <a:solidFill>
            <a:srgbClr val="FAF9FB"/>
          </a:solidFill>
          <a:ln w="15875">
            <a:solidFill>
              <a:srgbClr val="D9D6E0"/>
            </a:solidFill>
            <a:prstDash val="solid"/>
          </a:ln>
        </p:spPr>
      </p:sp>
      <p:sp>
        <p:nvSpPr>
          <p:cNvPr id="13" name="Text 10"/>
          <p:cNvSpPr/>
          <p:nvPr/>
        </p:nvSpPr>
        <p:spPr>
          <a:xfrm>
            <a:off x="694944" y="246888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4261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RED</a:t>
            </a:r>
            <a:endParaRPr lang="en-US" sz="1000" dirty="0"/>
          </a:p>
        </p:txBody>
      </p:sp>
      <p:sp>
        <p:nvSpPr>
          <p:cNvPr id="15" name="Text 12"/>
          <p:cNvSpPr/>
          <p:nvPr/>
        </p:nvSpPr>
        <p:spPr>
          <a:xfrm>
            <a:off x="3291840" y="2560320"/>
            <a:ext cx="822319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Confirmar en la billetera que la red es Sepolia. Remix muestra el identificador 11155111.</a:t>
            </a:r>
            <a:endParaRPr lang="en-US" sz="1250" dirty="0"/>
          </a:p>
        </p:txBody>
      </p:sp>
      <p:sp>
        <p:nvSpPr>
          <p:cNvPr id="16" name="Shape 13"/>
          <p:cNvSpPr/>
          <p:nvPr/>
        </p:nvSpPr>
        <p:spPr>
          <a:xfrm>
            <a:off x="566928" y="3200400"/>
            <a:ext cx="11057839" cy="640080"/>
          </a:xfrm>
          <a:prstGeom prst="rect">
            <a:avLst/>
          </a:prstGeom>
          <a:solidFill>
            <a:srgbClr val="FFFFFF"/>
          </a:solidFill>
          <a:ln w="15875">
            <a:solidFill>
              <a:srgbClr val="D9D6E0"/>
            </a:solidFill>
            <a:prstDash val="solid"/>
          </a:ln>
        </p:spPr>
      </p:sp>
      <p:sp>
        <p:nvSpPr>
          <p:cNvPr id="17" name="Text 14"/>
          <p:cNvSpPr/>
          <p:nvPr/>
        </p:nvSpPr>
        <p:spPr>
          <a:xfrm>
            <a:off x="694944" y="320040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7413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9" name="Text 16"/>
          <p:cNvSpPr/>
          <p:nvPr/>
        </p:nvSpPr>
        <p:spPr>
          <a:xfrm>
            <a:off x="3291840" y="3291840"/>
            <a:ext cx="822319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La billetera muestra la transacción: revisar red, costo y que no hay valor enviado. Confirmar.</a:t>
            </a:r>
            <a:endParaRPr lang="en-US" sz="1250" dirty="0"/>
          </a:p>
        </p:txBody>
      </p:sp>
      <p:sp>
        <p:nvSpPr>
          <p:cNvPr id="20" name="Shape 17"/>
          <p:cNvSpPr/>
          <p:nvPr/>
        </p:nvSpPr>
        <p:spPr>
          <a:xfrm>
            <a:off x="566928" y="3931920"/>
            <a:ext cx="11057839" cy="640080"/>
          </a:xfrm>
          <a:prstGeom prst="rect">
            <a:avLst/>
          </a:prstGeom>
          <a:solidFill>
            <a:srgbClr val="FAF9FB"/>
          </a:solidFill>
          <a:ln w="15875">
            <a:solidFill>
              <a:srgbClr val="D9D6E0"/>
            </a:solidFill>
            <a:prstDash val="solid"/>
          </a:ln>
        </p:spPr>
      </p:sp>
      <p:sp>
        <p:nvSpPr>
          <p:cNvPr id="21" name="Text 18"/>
          <p:cNvSpPr/>
          <p:nvPr/>
        </p:nvSpPr>
        <p:spPr>
          <a:xfrm>
            <a:off x="694944" y="393192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0565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ESPERAR</a:t>
            </a:r>
            <a:endParaRPr lang="en-US" sz="1000" dirty="0"/>
          </a:p>
        </p:txBody>
      </p:sp>
      <p:sp>
        <p:nvSpPr>
          <p:cNvPr id="23" name="Text 20"/>
          <p:cNvSpPr/>
          <p:nvPr/>
        </p:nvSpPr>
        <p:spPr>
          <a:xfrm>
            <a:off x="3291840" y="4023360"/>
            <a:ext cx="822319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Unos segundos. Remix muestra la dirección del contrato: copiarla.</a:t>
            </a:r>
            <a:endParaRPr lang="en-US" sz="1250" dirty="0"/>
          </a:p>
        </p:txBody>
      </p:sp>
      <p:sp>
        <p:nvSpPr>
          <p:cNvPr id="24" name="Shape 21"/>
          <p:cNvSpPr/>
          <p:nvPr/>
        </p:nvSpPr>
        <p:spPr>
          <a:xfrm>
            <a:off x="566928" y="4663440"/>
            <a:ext cx="11057839" cy="640080"/>
          </a:xfrm>
          <a:prstGeom prst="rect">
            <a:avLst/>
          </a:prstGeom>
          <a:solidFill>
            <a:srgbClr val="FFFFFF"/>
          </a:solidFill>
          <a:ln w="15875">
            <a:solidFill>
              <a:srgbClr val="D9D6E0"/>
            </a:solidFill>
            <a:prstDash val="solid"/>
          </a:ln>
        </p:spPr>
      </p:sp>
      <p:sp>
        <p:nvSpPr>
          <p:cNvPr id="25" name="Text 22"/>
          <p:cNvSpPr/>
          <p:nvPr/>
        </p:nvSpPr>
        <p:spPr>
          <a:xfrm>
            <a:off x="694944" y="46634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83717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USAR</a:t>
            </a:r>
            <a:endParaRPr lang="en-US" sz="1000" dirty="0"/>
          </a:p>
        </p:txBody>
      </p:sp>
      <p:sp>
        <p:nvSpPr>
          <p:cNvPr id="27" name="Text 24"/>
          <p:cNvSpPr/>
          <p:nvPr/>
        </p:nvSpPr>
        <p:spPr>
          <a:xfrm>
            <a:off x="3291840" y="4754880"/>
            <a:ext cx="822319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Emitir el hash del diploma de prueba desde Remix. Confirmar en la billetera.</a:t>
            </a:r>
            <a:endParaRPr lang="en-US" sz="1250" dirty="0"/>
          </a:p>
        </p:txBody>
      </p:sp>
      <p:sp>
        <p:nvSpPr>
          <p:cNvPr id="28" name="Shape 25"/>
          <p:cNvSpPr/>
          <p:nvPr/>
        </p:nvSpPr>
        <p:spPr>
          <a:xfrm>
            <a:off x="566928" y="5358384"/>
            <a:ext cx="11057839" cy="84124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9" name="Image 1" descr="preencoded.png">    </p:cNvPr>
          <p:cNvPicPr>
            <a:picLocks noChangeAspect="1"/>
          </p:cNvPicPr>
          <p:nvPr/>
        </p:nvPicPr>
        <p:blipFill>
          <a:blip r:embed="rId2"/>
          <a:stretch>
            <a:fillRect/>
          </a:stretch>
        </p:blipFill>
        <p:spPr>
          <a:xfrm>
            <a:off x="804672" y="5577840"/>
            <a:ext cx="237744" cy="237744"/>
          </a:xfrm>
          <a:prstGeom prst="rect">
            <a:avLst/>
          </a:prstGeom>
        </p:spPr>
      </p:pic>
      <p:sp>
        <p:nvSpPr>
          <p:cNvPr id="30" name="Text 26"/>
          <p:cNvSpPr/>
          <p:nvPr/>
        </p:nvSpPr>
        <p:spPr>
          <a:xfrm>
            <a:off x="1133856" y="5550408"/>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 CONFIRMAR CUALQUIER FIRMA</a:t>
            </a:r>
            <a:endParaRPr lang="en-US" sz="950" dirty="0"/>
          </a:p>
        </p:txBody>
      </p:sp>
      <p:sp>
        <p:nvSpPr>
          <p:cNvPr id="31" name="Text 27"/>
          <p:cNvSpPr/>
          <p:nvPr/>
        </p:nvSpPr>
        <p:spPr>
          <a:xfrm>
            <a:off x="804672" y="5870448"/>
            <a:ext cx="10582351" cy="23774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qué red, a qué dirección y cuánto. No se firma nada cuyo contenido no se entienda.</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VER Y VERIFICAR EN EL EXPLORADOR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737360"/>
            <a:ext cx="11057839" cy="804672"/>
          </a:xfrm>
          <a:prstGeom prst="rect">
            <a:avLst/>
          </a:prstGeom>
          <a:solidFill>
            <a:srgbClr val="FFFFFF"/>
          </a:solidFill>
          <a:ln w="15875">
            <a:solidFill>
              <a:srgbClr val="D9D6E0"/>
            </a:solidFill>
            <a:prstDash val="solid"/>
          </a:ln>
        </p:spPr>
      </p:sp>
      <p:sp>
        <p:nvSpPr>
          <p:cNvPr id="9" name="Text 6"/>
          <p:cNvSpPr/>
          <p:nvPr/>
        </p:nvSpPr>
        <p:spPr>
          <a:xfrm>
            <a:off x="694944" y="1737360"/>
            <a:ext cx="548640" cy="8046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93392"/>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a:t>
            </a:r>
            <a:endParaRPr lang="en-US" sz="1000" dirty="0"/>
          </a:p>
        </p:txBody>
      </p:sp>
      <p:sp>
        <p:nvSpPr>
          <p:cNvPr id="11" name="Text 8"/>
          <p:cNvSpPr/>
          <p:nvPr/>
        </p:nvSpPr>
        <p:spPr>
          <a:xfrm>
            <a:off x="3749040" y="1828800"/>
            <a:ext cx="7765999" cy="6583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Pegar la dirección del contrato en sepolia.etherscan.io. Ver la transacción de creación y la de emisión.</a:t>
            </a:r>
            <a:endParaRPr lang="en-US" sz="1250" dirty="0"/>
          </a:p>
        </p:txBody>
      </p:sp>
      <p:sp>
        <p:nvSpPr>
          <p:cNvPr id="12" name="Shape 9"/>
          <p:cNvSpPr/>
          <p:nvPr/>
        </p:nvSpPr>
        <p:spPr>
          <a:xfrm>
            <a:off x="566928" y="2670048"/>
            <a:ext cx="11057839" cy="804672"/>
          </a:xfrm>
          <a:prstGeom prst="rect">
            <a:avLst/>
          </a:prstGeom>
          <a:solidFill>
            <a:srgbClr val="FAF9FB"/>
          </a:solidFill>
          <a:ln w="15875">
            <a:solidFill>
              <a:srgbClr val="D9D6E0"/>
            </a:solidFill>
            <a:prstDash val="solid"/>
          </a:ln>
        </p:spPr>
      </p:sp>
      <p:sp>
        <p:nvSpPr>
          <p:cNvPr id="13" name="Text 10"/>
          <p:cNvSpPr/>
          <p:nvPr/>
        </p:nvSpPr>
        <p:spPr>
          <a:xfrm>
            <a:off x="694944" y="2670048"/>
            <a:ext cx="548640" cy="8046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926080"/>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LOGS</a:t>
            </a:r>
            <a:endParaRPr lang="en-US" sz="1000" dirty="0"/>
          </a:p>
        </p:txBody>
      </p:sp>
      <p:sp>
        <p:nvSpPr>
          <p:cNvPr id="15" name="Text 12"/>
          <p:cNvSpPr/>
          <p:nvPr/>
        </p:nvSpPr>
        <p:spPr>
          <a:xfrm>
            <a:off x="3749040" y="2761488"/>
            <a:ext cx="7765999" cy="6583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Abrir la emisión, pestaña Logs: ahí está CertificadoEmitido con el hash indexado.</a:t>
            </a:r>
            <a:endParaRPr lang="en-US" sz="1250" dirty="0"/>
          </a:p>
        </p:txBody>
      </p:sp>
      <p:sp>
        <p:nvSpPr>
          <p:cNvPr id="16" name="Shape 13"/>
          <p:cNvSpPr/>
          <p:nvPr/>
        </p:nvSpPr>
        <p:spPr>
          <a:xfrm>
            <a:off x="566928" y="3602736"/>
            <a:ext cx="11057839" cy="804672"/>
          </a:xfrm>
          <a:prstGeom prst="rect">
            <a:avLst/>
          </a:prstGeom>
          <a:solidFill>
            <a:srgbClr val="FFFFFF"/>
          </a:solidFill>
          <a:ln w="15875">
            <a:solidFill>
              <a:srgbClr val="D9D6E0"/>
            </a:solidFill>
            <a:prstDash val="solid"/>
          </a:ln>
        </p:spPr>
      </p:sp>
      <p:sp>
        <p:nvSpPr>
          <p:cNvPr id="17" name="Text 14"/>
          <p:cNvSpPr/>
          <p:nvPr/>
        </p:nvSpPr>
        <p:spPr>
          <a:xfrm>
            <a:off x="694944" y="3602736"/>
            <a:ext cx="548640" cy="8046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858768"/>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 CÓDIGO</a:t>
            </a:r>
            <a:endParaRPr lang="en-US" sz="1000" dirty="0"/>
          </a:p>
        </p:txBody>
      </p:sp>
      <p:sp>
        <p:nvSpPr>
          <p:cNvPr id="19" name="Text 16"/>
          <p:cNvSpPr/>
          <p:nvPr/>
        </p:nvSpPr>
        <p:spPr>
          <a:xfrm>
            <a:off x="3749040" y="3694176"/>
            <a:ext cx="7765999" cy="6583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Pestaña Contract → Verify and Publish. Compilador 0.8.28, optimización activa, licencia MIT, pegar el código.</a:t>
            </a:r>
            <a:endParaRPr lang="en-US" sz="1250" dirty="0"/>
          </a:p>
        </p:txBody>
      </p:sp>
      <p:sp>
        <p:nvSpPr>
          <p:cNvPr id="20" name="Shape 17"/>
          <p:cNvSpPr/>
          <p:nvPr/>
        </p:nvSpPr>
        <p:spPr>
          <a:xfrm>
            <a:off x="566928" y="4535424"/>
            <a:ext cx="11057839" cy="804672"/>
          </a:xfrm>
          <a:prstGeom prst="rect">
            <a:avLst/>
          </a:prstGeom>
          <a:solidFill>
            <a:srgbClr val="FAF9FB"/>
          </a:solidFill>
          <a:ln w="15875">
            <a:solidFill>
              <a:srgbClr val="D9D6E0"/>
            </a:solidFill>
            <a:prstDash val="solid"/>
          </a:ln>
        </p:spPr>
      </p:sp>
      <p:sp>
        <p:nvSpPr>
          <p:cNvPr id="21" name="Text 18"/>
          <p:cNvSpPr/>
          <p:nvPr/>
        </p:nvSpPr>
        <p:spPr>
          <a:xfrm>
            <a:off x="694944" y="4535424"/>
            <a:ext cx="548640" cy="80467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791456"/>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a:t>
            </a:r>
            <a:endParaRPr lang="en-US" sz="1000" dirty="0"/>
          </a:p>
        </p:txBody>
      </p:sp>
      <p:sp>
        <p:nvSpPr>
          <p:cNvPr id="23" name="Text 20"/>
          <p:cNvSpPr/>
          <p:nvPr/>
        </p:nvSpPr>
        <p:spPr>
          <a:xfrm>
            <a:off x="3749040" y="4626864"/>
            <a:ext cx="7765999" cy="65836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 el código verificado aparece Read Contract: llamar verificar() desde el explorador, sin billetera.</a:t>
            </a:r>
            <a:endParaRPr lang="en-US" sz="1250" dirty="0"/>
          </a:p>
        </p:txBody>
      </p:sp>
      <p:sp>
        <p:nvSpPr>
          <p:cNvPr id="24" name="Text 21"/>
          <p:cNvSpPr/>
          <p:nvPr/>
        </p:nvSpPr>
        <p:spPr>
          <a:xfrm>
            <a:off x="566928" y="5486400"/>
            <a:ext cx="11057839" cy="6858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La última prueba es la que importa: cualquier persona, desde cualquier computador y sin cuenta, puede comprobar el diploma. Eso es lo que se construyó hoy.</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06</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694303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verificado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Dirección en Sepolia con el código verificado en el explorador.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Tres transacciones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Hashes de: una emisión, una revocación y un intento fallido de emitir desde otra cuenta.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Prueba de alteración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Los dos hashes (original y alterado) y la captura de verificar() con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Una respuesta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¿Por qué el contrato revoca en lugar de borrar? Un párrafo.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566928" y="47548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PASA 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REVISAR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6880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«Gas estimation failed» al emitir</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Una validación está revirtiendo: hash en cero, programa vacío o cuenta distinta al emisor.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80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Remix no ve la billetera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Recargar Remix y aceptar la conexión en la billetera. Revisar que el navegador sea el mismo.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880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La verificación en el explorador falla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Versión del compilador u optimización distinta a la usada al desplegar.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6"/>
          <p:cNvSpPr/>
          <p:nvPr/>
        </p:nvSpPr>
        <p:spPr>
          <a:xfrm>
            <a:off x="548640" y="4736592"/>
            <a:ext cx="11094415" cy="1453896"/>
          </a:xfrm>
          <a:prstGeom prst="rect">
            <a:avLst/>
          </a:prstGeom>
          <a:ln w="22225">
            <a:solidFill>
              <a:srgbClr val="0F0F11"/>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ENTREGA DEL ANTEPROYECTO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Hoy se entrega la propuesta. La decisión más importante del semestre no es técnica: es qué queda dentro del alcance y qué queda fuera.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ANTEPROYECTO, EN TRES PÁGINAS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DEBE RESPONDER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Problema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 sufre qué, con qué frecuencia y cuánto le cuesta. Enunciado SIN nombrar la tecnología.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Usuarios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Quiénes usan el sistema y qué hace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Por qué blockchain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Las cinco preguntas de la Sesión 4. Qué alternativa centralizada se descartó y por qué.</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Qué va en cadena y qué 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En especial si hay datos personales (A.13 de hoy).</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Alcance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Historias de usuario que entran. Lista explícita de lo que queda fuera.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Arquitectura preliminar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interfaz y servicios externos, en un diagrama.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Equipo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Tres integrantes y rol inicial de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Máximo tres páginas. Peso: 5 % de la nota final y 20 % del primer corte.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EL FILTRO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DOCENTE APRUEBA, RECORTA O DEVUELVE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48056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PASA DESPUÉS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Problema claro, justificación sólida, alcance que cabe en el semestre.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empieza a construir en la Sesión 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 con recorte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Buena idea, demasiado grande. Es lo más frecuente.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docente marca qué historias salen. El equipo lo acepta o argumenta en 48 horas.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Devuelto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enuncia desde la tecnología, o una base de datos lo resolvería mejor.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Nueva versión para la Sesión 7. No se pierde el proyecto, se pierde una semana.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688336"/>
          </a:xfrm>
          <a:prstGeom prst="rect">
            <a:avLst/>
          </a:prstGeom>
          <a:ln w="22225">
            <a:solidFill>
              <a:srgbClr val="0F0F11"/>
            </a:solidFill>
            <a:prstDash val="solid"/>
          </a:ln>
        </p:spPr>
      </p:sp>
      <p:sp>
        <p:nvSpPr>
          <p:cNvPr id="10" name="Shape 6"/>
          <p:cNvSpPr/>
          <p:nvPr/>
        </p:nvSpPr>
        <p:spPr>
          <a:xfrm>
            <a:off x="566928" y="461772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2" name="Text 7"/>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PRUEBA QUE SE APLICA PRIMERO</a:t>
            </a:r>
            <a:endParaRPr lang="en-US" sz="950" dirty="0"/>
          </a:p>
        </p:txBody>
      </p:sp>
      <p:sp>
        <p:nvSpPr>
          <p:cNvPr id="13" name="Text 8"/>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¿Se puede enunciar el problema sin nombrar la tecnología? ¿Qué alternativa sin cadena de bloques se consideró? ¿Cabe el alcance en una lámina? Si alguna respuesta es no, el anteproyecto vuelve.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contrato confía en una sola cuenta. Si roban esa clave, ¿qué puede hacer el ladrón, qué no, y cómo lo diseñarían para limitar el daño?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06.</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Completar las lecciones 1 y 2 de CryptoZombies.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en la documentación de Solidity las secciones sobre mapping y struct: son la base de la Sesión 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Esperar la respuesta del docente sobre el anteproyecto y, si hay recorte, aceptarlo o argumentar en 48 horas.</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Hoy desplegaron un programa que ya no pueden cambiar. Por eso se valida todo antes de desplegar.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Solidity se aprende rápido. Lo difícil es acostumbrarse a que no hay parche posible: la próxima sesión empieza a construir con patrones que existen justamente por eso.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7 · SOLIDITY II · ESTRUCTURAS DE DATOS Y PATRONES DE DISEÑO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06 · Solidity I</dc:title>
  <dc:subject>Sesión 06 · Solidity I</dc:subject>
  <dc:creator>Universidad de San Buenaventura Medellín</dc:creator>
  <cp:lastModifiedBy>Universidad de San Buenaventura Medellín</cp:lastModifiedBy>
  <cp:revision>1</cp:revision>
  <dcterms:created xsi:type="dcterms:W3CDTF">2026-09-13T17:16:40Z</dcterms:created>
  <dcterms:modified xsi:type="dcterms:W3CDTF">2026-09-13T17:16:40Z</dcterms:modified>
</cp:coreProperties>
</file>