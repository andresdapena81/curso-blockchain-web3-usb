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la Unidad III. La mitad de la sesión es integración asistida equipo por equipo; al final se entrega el Avance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F07F0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3172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3794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INTEGRAR</a:t>
            </a:r>
            <a:endParaRPr lang="en-US" sz="2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15568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09744" y="10972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UNIDAD III · CIERRE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389120" y="1719072"/>
            <a:ext cx="7269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CERRAR EL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CÍRCULO DE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dAPP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4389120" y="4224528"/>
            <a:ext cx="7269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Contratos, interfaz y almacenamiento, funcionando juntos. Más las piezas que hacen usable una dApp de verdad.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389120" y="5120640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8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y Web 3.0 · Ingeniería de Sistemas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86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Medellín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DE HOY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VAMOS A USAR LAS TRES HORAS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conceptos nuevos, más integración. El objetivo real de hoy: que cada equipo tenga su dApp de punta a punta para el Avance 1.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468880"/>
            <a:ext cx="11057839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2468880"/>
            <a:ext cx="777240" cy="1024128"/>
          </a:xfrm>
          <a:prstGeom prst="rect">
            <a:avLst/>
          </a:prstGeom>
          <a:solidFill>
            <a:srgbClr val="F07F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468880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572768" y="25968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INFRAESTRUCTURA DEL ECOSISTEMA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572768" y="292608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Indexación, ENS, firmas EIP-712, abstracción de cuentas y hosting.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704527" y="2468880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~55 min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3675888"/>
            <a:ext cx="11057839" cy="1024128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3675888"/>
            <a:ext cx="777240" cy="1024128"/>
          </a:xfrm>
          <a:prstGeom prst="rect">
            <a:avLst/>
          </a:prstGeom>
          <a:solidFill>
            <a:srgbClr val="D9D6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675888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1572768" y="38039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INTEGRACIÓN ASISTIDA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572768" y="41330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conecta contratos + frontend + IPFS. El docente circula.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704527" y="3675888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~65 min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4882896"/>
            <a:ext cx="11057839" cy="1024128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" y="4882896"/>
            <a:ext cx="777240" cy="1024128"/>
          </a:xfrm>
          <a:prstGeom prst="rect">
            <a:avLst/>
          </a:prstGeom>
          <a:solidFill>
            <a:srgbClr val="D9D6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4882896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1572768" y="50109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 DEL AVANCE 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572768" y="534009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técnica equipo por equipo.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704527" y="4882896"/>
            <a:ext cx="1691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~40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PROPÓSITO DE LA SESIÓN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 SALIR DE AQUÍ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118872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50976" y="1920240"/>
            <a:ext cx="102897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Cerrar el ciclo de la dApp e incorporar los servicios de infraestructura que la hacen usable a escala.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66928" y="3154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PREGUNTAS QUE LA SESIÓN RESPONDE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25296" y="3630168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consultar la cadena directamente no escala, y qué se usa en su lugar?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6928" y="41330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25296" y="4197096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reemplaza una dirección hexadecimal por un nombre legible?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" y="4700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25296" y="4764024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inicia sesión sin contraseña, con una firma?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6928" y="52669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25296" y="5330952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promete la abstracción de cuentas para la adopción?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943600"/>
            <a:ext cx="11057839" cy="457200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6016752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RA4 · despliegue e infraestructura  ·  RA6 · integración full-stack.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VOCABULARIO DE LA SESIÓN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SIGLAS Y TÉRMINOS DE HOY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1737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810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GRAPH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898648" y="1810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de indexación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2121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Indexa eventos de contratos en un «subgrafo» consultable con GraphQL. Evita recorrer la cadena.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05576" y="1737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05576" y="1737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1608" y="1810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SUBGRAFO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37296" y="1810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subgraph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61608" y="2121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definición de qué eventos indexar y cómo, que The Graph ejecuta por ti.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" y="2880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6928" y="2880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2953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898648" y="2953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Name Service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22960" y="3264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Nombres legibles (ana.eth) que apuntan a direcciones hexadecimales.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05576" y="2880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05576" y="2880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61608" y="2953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EIP-712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537296" y="2953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estructurados firmados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61608" y="3264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estándar para firmar mensajes legibles, no solo transacciones. Base de SIWE y Permit.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66928" y="4023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6928" y="4023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2960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SIWE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898648" y="4096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with Ethereum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22960" y="4407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sesión firmando un mensaje, sin contraseña ni servidor de cuentas.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205576" y="4023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205576" y="4023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61608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ERC-4337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537296" y="4096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Abstraction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61608" y="4407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Billeteras que son contratos: recuperación social, pagos patrocinados, reglas propias.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66928" y="5166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6928" y="5166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2960" y="5239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 PATROCINADO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2898648" y="5239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gas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822960" y="5550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otro pague el gas del usuario, para que no necesite ETH para empezar.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205576" y="5166360"/>
            <a:ext cx="5419192" cy="1014984"/>
          </a:xfrm>
          <a:prstGeom prst="rect">
            <a:avLst/>
          </a:prstGeom>
          <a:solidFill>
            <a:srgbClr val="FFFFFF"/>
          </a:solidFill>
          <a:ln w="15875">
            <a:solidFill>
              <a:srgbClr val="7152E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205576" y="5166360"/>
            <a:ext cx="82296" cy="1014984"/>
          </a:xfrm>
          <a:prstGeom prst="rect">
            <a:avLst/>
          </a:prstGeom>
          <a:solidFill>
            <a:srgbClr val="715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61608" y="5239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IPFS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537296" y="5239512"/>
            <a:ext cx="290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 IPFS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6461608" y="5550408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servidor que sirve contenido de IPFS por HTTP, para navegadores que no hablan IPFS nativo.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APROXIMADAMENTE 55 MINUTOS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INFRAESTRUCTURA DEL ECOSISTEMA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contrato y una interfaz bastan para una demo. Para una aplicación que use gente de verdad, faltan piezas.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 · EL PROBLEMA DE LEER LA CADENA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CONSULTAR DIRECTAMENTE NO ESCALA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interfaz de la Sesión 12 leía un saldo: una llamada, instantánea. Pero, ¿y «todas las transferencias de esta cuenta en el último año», o «los diez NFT más recientes»?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697480"/>
            <a:ext cx="5391760" cy="2286000"/>
          </a:xfrm>
          <a:prstGeom prst="rect">
            <a:avLst/>
          </a:prstGeom>
          <a:solidFill>
            <a:srgbClr val="FFFFFF"/>
          </a:solidFill>
          <a:ln w="22225">
            <a:solidFill>
              <a:srgbClr val="B3261E"/>
            </a:solidFill>
            <a:prstDash val="solid"/>
          </a:ln>
          <a:effectLst>
            <a:outerShdw sx="100000" sy="100000" kx="0" ky="0" algn="bl" rotWithShape="0" blurRad="101600" dist="63500" dir="2700000">
              <a:srgbClr val="B3261E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288036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LEER LA CADENA A MANO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1248" y="3264408"/>
            <a:ext cx="484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Habría que recorrer bloque por bloque buscando eventos. Miles de bloques, cada uno una consulta. Lento, caro en llamadas al RPC, e imposible de ordenar o filtrar bien.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33008" y="2697480"/>
            <a:ext cx="5391760" cy="228600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07328" y="288036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INDEXAR CON THE GRAPH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07328" y="3264408"/>
            <a:ext cx="484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escucha los eventos del contrato a medida que ocurren y los guarda en una base consultable. La interfaz pregunta «dame las transferencias de Ana, ordenadas por fecha» en una consulta.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6928" y="5074920"/>
            <a:ext cx="11057839" cy="105156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294376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33856" y="526694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LOS EVENTOS VUELVEN A IMPORTAR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04672" y="5586984"/>
            <a:ext cx="1058235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indexa EVENTOS (Sesión 6). Un contrato que no emite eventos bien pensados es casi imposible de indexar. Diseñar buenos eventos es diseñar para que la interfaz pueda leer.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A.2 · ALTERNATIVA LIGERA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TODO PROYECTO NECESITA THE GRAPH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5391760" cy="22860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" y="192024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GRAPH / SUBGRAFO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1248" y="2304288"/>
            <a:ext cx="484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Potente, pensado para volumen y consultas complejas. Tiene curva de aprendizaje y, en producción, costo. Vale la pena cuando hay muchos datos y muchas consultas.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33008" y="1737360"/>
            <a:ext cx="5391760" cy="228600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07328" y="192024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LEER LOGS DE EVENTOS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07328" y="2304288"/>
            <a:ext cx="484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un proyecto de curso, ethers puede consultar los eventos de un contrato con queryFilter y un rango de bloques. Simple, suficiente, sin infraestructura extra.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" y="4206240"/>
            <a:ext cx="11057839" cy="1188720"/>
          </a:xfrm>
          <a:prstGeom prst="rect">
            <a:avLst/>
          </a:prstGeom>
          <a:solidFill>
            <a:srgbClr val="16151B"/>
          </a:solidFill>
          <a:ln w="22225">
            <a:solidFill>
              <a:srgbClr val="16151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" y="4352544"/>
            <a:ext cx="1065550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B86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alternativa ligera con ethers: leer eventos pasados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contrato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eventos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contrato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queryFilter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filtro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bloqueInicio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"latest"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6928" y="55321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del curso: usar la pieza más simple que resuelva. The Graph si de verdad hace falta; queryFilter si basta.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A.3 · NOMBRES LEGIBLES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ENS: DE 0X732805… A ANA.ETH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dirección hexadecimal es imposible de verificar a ojo y fácil de confundir. ENS mapea nombres legibles a direcciones, como el DNS mapea dominios a IP.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697480"/>
            <a:ext cx="11057839" cy="594360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770632"/>
            <a:ext cx="1072865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ana.eth   →   0x732805FbE544F6117B755512f2029e3e8B6aa135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429000"/>
            <a:ext cx="5391760" cy="187452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1248" y="361188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QUÉ SIRVE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41248" y="3995928"/>
            <a:ext cx="484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a ana.eth en vez de copiar 42 caracteres.</a:t>
            </a:r>
            <a:endParaRPr lang="en-US" sz="12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nombres en la interfaz en vez de direcciones.</a:t>
            </a:r>
            <a:endParaRPr lang="en-US" sz="12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perfil: avatar, redes, todo bajo un nombre.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33008" y="3429000"/>
            <a:ext cx="5391760" cy="187452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07328" y="361188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MATIZ DE SEGURIDAD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07328" y="3995928"/>
            <a:ext cx="484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nombre parecido puede engañar (una letra distinta).</a:t>
            </a:r>
            <a:endParaRPr lang="en-US" sz="12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Resolverlo es una lectura: verificar a dónde apunta.</a:t>
            </a:r>
            <a:endParaRPr lang="en-US" sz="125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 el mundo tiene un nombre ENS.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66928" y="539496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proyecto es opcional y suma: mostrar ana.eth en vez de 0x73… hace la interfaz mucho más humana.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A.4 · FIRMAR SIN GASTAR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EIP-712: FIRMAR MENSAJES LEGIBLES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Firmar no es solo para transacciones. Se puede firmar un MENSAJE —gratis, sin gas— y que un contrato o un servidor verifique después quién lo firmó. EIP-712 lo hace legible en la billetera.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2788920"/>
            <a:ext cx="5391760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B3261E"/>
            </a:solidFill>
            <a:prstDash val="solid"/>
          </a:ln>
          <a:effectLst>
            <a:outerShdw sx="100000" sy="100000" kx="0" ky="0" algn="bl" rotWithShape="0" blurRad="101600" dist="63500" dir="2700000">
              <a:srgbClr val="B3261E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297180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FIRMA CRUDA (MALA UX)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1248" y="3355848"/>
            <a:ext cx="484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billetera muestra un montón de bytes hexadecimales. El usuario firma sin entender qué. Peligroso: podría estar firmando cualquier cosa.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33008" y="2788920"/>
            <a:ext cx="5391760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07328" y="297180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EIP-712 (BUENA UX)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07328" y="3355848"/>
            <a:ext cx="484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billetera muestra campos legibles: «Autorizas ingresar a MiApp a las 10:32, dominio miapp.com». El usuario ve qué firma. Es la base de Permit (S10) y de SIWE.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502920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firma se hace fuera de la cadena, así que no cuesta gas. Solo cuesta si después se ENVÍA a un contrato que la use.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A.5 · LOGIN SIN CONTRASEÑA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SIGN-IN WITH ETHEREUM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" y="173736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80160" y="19476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SERVIDOR PIDE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023360" y="1828800"/>
            <a:ext cx="74916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 un mensaje con un número de un solo uso (nonce): «Inicia sesión en MiApp, nonce 8821».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2560320"/>
            <a:ext cx="11057839" cy="713232"/>
          </a:xfrm>
          <a:prstGeom prst="rect">
            <a:avLst/>
          </a:prstGeom>
          <a:solidFill>
            <a:srgbClr val="FAF9FB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" y="256032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80160" y="2770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USUARIO FIRMA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023360" y="2651760"/>
            <a:ext cx="74916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su billetera, en formato EIP-712. Gratis, sin gas.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3383280"/>
            <a:ext cx="11057839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338328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80160" y="35935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SERVIDOR VERIFICA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023360" y="3474720"/>
            <a:ext cx="74916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 la dirección de la firma (la criptografía de la S3). Si coincide, hay sesión.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66928" y="4206240"/>
            <a:ext cx="11057839" cy="713232"/>
          </a:xfrm>
          <a:prstGeom prst="rect">
            <a:avLst/>
          </a:prstGeom>
          <a:solidFill>
            <a:srgbClr val="FAF9FB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" y="420624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80160" y="44165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CONTRASEÑAS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023360" y="4297680"/>
            <a:ext cx="74916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contraseña que robar ni base de datos de cuentas que filtrar. La identidad es la clave.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66928" y="5321808"/>
            <a:ext cx="11057839" cy="841248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541264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33856" y="5513832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ES ELEGANTE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804672" y="5833872"/>
            <a:ext cx="105823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firma digital de la Sesión 3 puesta a autenticar: el nonce de un solo uso impide reusarla.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A.6 · BILLETERAS QUE SON CONTRATOS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ABSTRACCIÓN DE CUENTAS (ERC-4337)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una cuenta externa es «una clave, una cuenta»: si pierdes la frase, pierdes todo, y necesitas ETH para tu primera transacción. La abstracción de cuentas convierte la billetera en un contrato programable.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43200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175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CAPACIDAD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RESUELVE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Recuperación social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Recuperar el acceso con la ayuda de contactos de confianza, sin frase semilla única.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Gas patrocinado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 la app pague el gas del usuario: se puede empezar sin tener ETH.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Transacciones por lotes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Aprobar y usar en una sola confirmación (adiós al doble paso de S10).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Reglas propias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Límites de gasto, firmas múltiples, sesiones temporales.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2724912"/>
            <a:ext cx="11094415" cy="259689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54406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importa para la adopción: elimina las dos barreras que más asustan al usuario nuevo: la frase semilla y «necesitas ETH para empezar».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A.7 · DÓNDE VIVE EL FRONTEND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HOSTING: NORMAL O DESCENTRALIZADO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5391760" cy="237744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" y="192024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HOSTING TRADICIONAL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1248" y="2304288"/>
            <a:ext cx="484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frontend en un servidor normal (Vercel, Netlify, un servidor propio). Fácil, rápido, gratis para empezar. Pero es el punto centralizado que discutimos en la Sesión 12: si cae, la dApp deja de ser accesible.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33008" y="1737360"/>
            <a:ext cx="5391760" cy="237744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07328" y="192024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IPFS + ENS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07328" y="2304288"/>
            <a:ext cx="484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el frontend a IPFS y apuntarle un nombre ENS. Entonces ni la interfaz depende de un servidor: se sirve de la red. Más fiel a la idea de Web3, más trabajo de montar.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" y="4297680"/>
            <a:ext cx="11057839" cy="182880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517136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33856" y="448970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 HONESTA PARA EL PROYECTO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04672" y="4809744"/>
            <a:ext cx="10582351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el curso, hosting normal está bien: el foco es la lógica, no la infraestructura. Pero el README del proyecto debería decir explícitamente qué partes quedan centralizadas y cómo se descentralizarían en una versión real. Reconocer el límite vale más que fingir que no existe — el criterio de honestidad de todo el curso.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A.8 · BUENAS PRÁCTICAS DE REPO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REPOSITORIO QUE OTRO PUEDA CORRER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con qué hace, cómo instalar, cómo correr las pruebas y cómo desplegar — en pasos que funcionen de verdad.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direcciones de los contratos desplegados, con enlace al explorador.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secreto: ni claves, ni .env, ni URLs con API key (Sesión 8).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package-lock.json incluido, para que las versiones sean reproducibles.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 para levantar el frontend y conectarlo a los contratos.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nota honesta de qué está descentralizado y qué no.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5074920"/>
            <a:ext cx="11057839" cy="105156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29437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526694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PRUEBA DEL README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04672" y="5586984"/>
            <a:ext cx="1058235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¿Podría otra persona clonar el repo, seguir el README y llegar a la dApp funcionando, sin preguntarles nada? Si no, el README no está listo.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A.9 · LO QUE HAY QUE LLEVARSE DEL BLOQUE 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SEIS PIEZAS DE INFRAESTRUCTURA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44168" y="1810512"/>
            <a:ext cx="10280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la cadena a mano no escala: se indexa con The Graph, o con queryFilter si basta.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414016"/>
            <a:ext cx="11057839" cy="914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468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344168" y="2542032"/>
            <a:ext cx="10280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eventos bien diseñados son lo que hace indexable un contrato.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145536"/>
            <a:ext cx="11057839" cy="914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3200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344168" y="3273552"/>
            <a:ext cx="10280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 pone nombres legibles sobre las direcciones.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3877056"/>
            <a:ext cx="11057839" cy="914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9319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344168" y="4005072"/>
            <a:ext cx="10280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EIP-712 firma mensajes legibles, gratis, y habilita el login sin contraseña.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4608576"/>
            <a:ext cx="11057839" cy="914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4663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344168" y="4736592"/>
            <a:ext cx="10280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abstracción de cuentas quita las dos barreras del usuario nuevo: la frase y el ETH inicial.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" y="5340096"/>
            <a:ext cx="11057839" cy="914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53949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344168" y="5468112"/>
            <a:ext cx="10280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repo listo es el que otro puede correr siguiendo el README, sin preguntar.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66928" y="6071616"/>
            <a:ext cx="11057839" cy="914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APROXIMADAMENTE 65 MINUTOS · EN EQUIPOS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INTEGRACIÓN ASISTIDA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bloque menos expositivo del curso: cada equipo junta sus piezas y el docente circula resolviendo los atascos reales.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B.1 · EL OBJETIVO DEL TALLER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UNA DAPP DE PUNTA A PUNTA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" y="173736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80160" y="1965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CONECTAR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74720" y="1828800"/>
            <a:ext cx="80403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frontend habla con los contratos desplegados en Sepolia.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2596896"/>
            <a:ext cx="11057839" cy="749808"/>
          </a:xfrm>
          <a:prstGeom prst="rect">
            <a:avLst/>
          </a:prstGeom>
          <a:solidFill>
            <a:srgbClr val="FAF9FB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" y="259689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80160" y="28254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74720" y="2688336"/>
            <a:ext cx="80403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interfaz muestra al menos un dato real leído de la cadena.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3456432"/>
            <a:ext cx="11057839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3456432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80160" y="3685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ESCRIBIR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474720" y="3547872"/>
            <a:ext cx="80403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interfaz ejecuta al menos una transacción, con sus estados.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66928" y="4315968"/>
            <a:ext cx="11057839" cy="749808"/>
          </a:xfrm>
          <a:prstGeom prst="rect">
            <a:avLst/>
          </a:prstGeom>
          <a:solidFill>
            <a:srgbClr val="FAF9FB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" y="431596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80160" y="45445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474720" y="4407408"/>
            <a:ext cx="80403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proyecto usa NFTs, la metadata se sirve desde IPFS.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66928" y="5175504"/>
            <a:ext cx="11057839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D9D6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517550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80160" y="54041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FIRMA (OPCIONAL)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0" y="5266944"/>
            <a:ext cx="80403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por firma EIP-712, si el proyecto lo aprovecha.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66928" y="5413248"/>
            <a:ext cx="11057839" cy="786384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632704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133856" y="5605272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CORTE VERTICAL, OTRA VEZ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804672" y="5925312"/>
            <a:ext cx="105823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UN flujo completo funcionando de punta a punta que cinco a medias. Es la lección del proyecto del docente.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B.2 · LOS ATASCOS TÍPICOS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SUELE ROMPERSE AL INTEGRAR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2591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SÍNTOMA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CAUSA FRECUENTE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5779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interfaz no ve el contrato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Dirección o ABI equivocados, o red distinta a la del despliegue.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9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Las cantidades salen enormes o minúsculas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Olvidar parseUnits / formatUnits: unidades mínimas vs. tokens (S10).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779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transacción «no hace nada»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 espera tx.wait(); se lee el estado antes de que se mine (S12).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9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imagen del NFT no aparece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tokenURI apunta a un CID mal fijado, o falta la puerta IPFS.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779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Todo funcionaba y de repente no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proveedor RPC alcanzó su límite de tasa: usar clave propia.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19072"/>
            <a:ext cx="11094415" cy="323697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5120640"/>
            <a:ext cx="11057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ningún atasco de integración es un concepto nuevo: es un detalle de una sesión anterior que se olvidó. Por eso el docente circula en vez de exponer.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APROXIMADAMENTE 40 MINUTOS · 10 % DE LA NOTA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ENTREGA DEL AVANCE 1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primera entrega grande del proyecto: contratos, pruebas, despliegue y frontend, revisados en vivo.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C.1 · QUÉ SE ENTREGA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LISTA DEL AVANCE 1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039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REQUISITO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496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Contratos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Desplegados y verificados en Sepolia, con al menos dos patrones aplicados.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Pruebas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Suite automatizada con cobertura ≥ 80 % de líneas.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96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Seguridad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Slither pasado; hallazgos críticos, atendidos o justificados.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Frontend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Conecta la billetera, lee un dato y ejecuta una transacción, con los 4 estados.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96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Metadata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IPFS, si el proyecto usa NFTs.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Repositorio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Documentado: otro puede clonarlo y correrlo con el README.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19072"/>
            <a:ext cx="11094415" cy="332841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" y="516636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Peso: 10 % de la nota final. Se revisa equipo por equipo hoy; lo que falte, se cierra por el canal del curso con fecha.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C.2 · LA REVISIÓN TÉCNICA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PREGUNTA EL DOCENTE EN CADA EQUIPO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Muéstrenme una transacción real en el explorador. ¿Qué hizo?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pasa si rechazo la firma en la billetera? (los cuatro estados)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¿Cuánta cobertura tienen, y qué línea NO está cubierta?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dijo Slither, y qué hicieron con eso?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parte de su dApp no está descentralizada?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clono su repo ahora, ¿arranca solo con el README?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66928" y="502920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A356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examen sorpresa: son exactamente los criterios de la rúbrica del proyecto. Quien construyó bien, responde sin esfuerzo.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TRABAJO AUTÓNOMO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PREGUNTA DE LA SEMANA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13 · INTEGRACIÓN FULL-STACK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1600200"/>
          </a:xfrm>
          <a:prstGeom prst="rect">
            <a:avLst/>
          </a:prstGeom>
          <a:solidFill>
            <a:srgbClr val="FFFFFF"/>
          </a:solidFill>
          <a:ln w="349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50976" y="1920240"/>
            <a:ext cx="1028974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¿Cuál de las piezas de infraestructura de hoy —indexación, ENS, firma, abstracción de cuentas— le haría MÁS bien a su proyecto? Elijan una y justifiquen.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66928" y="3611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LA PRÓXIMA SESIÓN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" y="3977640"/>
            <a:ext cx="1105783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lo que haya quedado pendiente del Avance 1.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sobre DeFi para la Sesión 14: AMM, pérdida impermanente y stablecoins.</a:t>
            </a:r>
            <a:endParaRPr lang="en-US" sz="135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Empezar a pensar el ensayo individual (RA7): se plantea formalmente en la Sesión 15.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7F0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34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8745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SE LLEVAN DE HOY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66928" y="2377440"/>
            <a:ext cx="11057839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Una demo necesita un contrato y una pantalla. Un producto necesita todo lo que hay en medio.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66928" y="4343400"/>
            <a:ext cx="99605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Avance 1 cierra la Unidad III: ya construyeron una dApp completa. La Unidad IV mira el ecosistema alrededor: DeFi, gobernanza, escalabilidad y la ley.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" y="5349240"/>
            <a:ext cx="11057839" cy="685800"/>
          </a:xfrm>
          <a:prstGeom prst="rect">
            <a:avLst/>
          </a:prstGeom>
          <a:solidFill>
            <a:srgbClr val="1C1B21"/>
          </a:solidFill>
          <a:ln w="12700">
            <a:solidFill>
              <a:srgbClr val="3432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5349240"/>
            <a:ext cx="105091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14 · DEFI · FINANZAS DESCENTRALIZADAS Y SUS RIESGOS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13 · Integración full-stack</dc:title>
  <dc:subject>Sesión 13 · Integración full-stack</dc:subject>
  <dc:creator>Universidad de San Buenaventura Medellín</dc:creator>
  <cp:lastModifiedBy>Universidad de San Buenaventura Medellín</cp:lastModifiedBy>
  <cp:revision>1</cp:revision>
  <dcterms:created xsi:type="dcterms:W3CDTF">2026-09-13T17:59:49Z</dcterms:created>
  <dcterms:modified xsi:type="dcterms:W3CDTF">2026-09-13T17:59:49Z</dcterms:modified>
</cp:coreProperties>
</file>