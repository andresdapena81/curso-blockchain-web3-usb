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Penúltima sesión. La parte regulatoria hay que ACTUALIZARLA antes de dictar: la norma colombiana cambia. Se entrega el Avance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diferencia con una cadena aparte (sidechain) es justo esa herencia de seguridad: una L2 de verdad se apoya en la L1, no solo la usa de vez en cuando.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Insistir: esta es la sesión que más fácilmente queda desactualizada. Actualizarla es responsabilidad de quien la dicta.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F07F06"/>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1234440" y="2331720"/>
            <a:ext cx="1280160" cy="1280160"/>
          </a:xfrm>
          <a:prstGeom prst="rect">
            <a:avLst/>
          </a:prstGeom>
        </p:spPr>
      </p:pic>
      <p:sp>
        <p:nvSpPr>
          <p:cNvPr id="4" name="Text 1"/>
          <p:cNvSpPr/>
          <p:nvPr/>
        </p:nvSpPr>
        <p:spPr>
          <a:xfrm>
            <a:off x="137160" y="3794760"/>
            <a:ext cx="3474720" cy="640080"/>
          </a:xfrm>
          <a:prstGeom prst="rect">
            <a:avLst/>
          </a:prstGeom>
          <a:noFill/>
          <a:ln/>
        </p:spPr>
        <p:txBody>
          <a:bodyPr wrap="square" lIns="0" tIns="0" rIns="0" bIns="0" rtlCol="0" anchor="ctr"/>
          <a:lstStyle/>
          <a:p>
            <a:pPr algn="ctr" indent="0" marL="0">
              <a:buNone/>
            </a:pPr>
            <a:r>
              <a:rPr lang="en-US" sz="2700" dirty="0">
                <a:solidFill>
                  <a:srgbClr val="0F0F11"/>
                </a:solidFill>
                <a:latin typeface="Arial Black" pitchFamily="34" charset="0"/>
                <a:ea typeface="Arial Black" pitchFamily="34" charset="-122"/>
                <a:cs typeface="Arial Black" pitchFamily="34" charset="-120"/>
              </a:rPr>
              <a:t>ESCALAR</a:t>
            </a:r>
            <a:endParaRPr lang="en-US" sz="2700" dirty="0"/>
          </a:p>
        </p:txBody>
      </p:sp>
      <p:pic>
        <p:nvPicPr>
          <p:cNvPr id="5" name="Image 1" descr="preencoded.png">    </p:cNvPr>
          <p:cNvPicPr>
            <a:picLocks noChangeAspect="1"/>
          </p:cNvPicPr>
          <p:nvPr/>
        </p:nvPicPr>
        <p:blipFill>
          <a:blip r:embed="rId2"/>
          <a:stretch>
            <a:fillRect/>
          </a:stretch>
        </p:blipFill>
        <p:spPr>
          <a:xfrm>
            <a:off x="4389120" y="1115568"/>
            <a:ext cx="310896" cy="310896"/>
          </a:xfrm>
          <a:prstGeom prst="rect">
            <a:avLst/>
          </a:prstGeom>
        </p:spPr>
      </p:pic>
      <p:sp>
        <p:nvSpPr>
          <p:cNvPr id="6" name="Text 2"/>
          <p:cNvSpPr/>
          <p:nvPr/>
        </p:nvSpPr>
        <p:spPr>
          <a:xfrm>
            <a:off x="4809744" y="1097280"/>
            <a:ext cx="6858000" cy="347472"/>
          </a:xfrm>
          <a:prstGeom prst="rect">
            <a:avLst/>
          </a:prstGeom>
          <a:noFill/>
          <a:ln/>
        </p:spPr>
        <p:txBody>
          <a:bodyPr wrap="square" lIns="0" tIns="0" rIns="0" bIns="0" rtlCol="0" anchor="ctr"/>
          <a:lstStyle/>
          <a:p>
            <a:pPr indent="0" marL="0">
              <a:buNone/>
            </a:pPr>
            <a:r>
              <a:rPr lang="en-US" sz="1050" spc="150" kern="0" dirty="0">
                <a:solidFill>
                  <a:srgbClr val="F07F06"/>
                </a:solidFill>
                <a:latin typeface="Courier New" pitchFamily="34" charset="0"/>
                <a:ea typeface="Courier New" pitchFamily="34" charset="-122"/>
                <a:cs typeface="Courier New" pitchFamily="34" charset="-120"/>
              </a:rPr>
              <a:t>SESIÓN 16 · UNIDAD IV · ECOSISTEMA</a:t>
            </a:r>
            <a:endParaRPr lang="en-US" sz="1050" dirty="0"/>
          </a:p>
        </p:txBody>
      </p:sp>
      <p:sp>
        <p:nvSpPr>
          <p:cNvPr id="7" name="Text 3"/>
          <p:cNvSpPr/>
          <p:nvPr/>
        </p:nvSpPr>
        <p:spPr>
          <a:xfrm>
            <a:off x="4389120" y="1719072"/>
            <a:ext cx="7269480" cy="2377440"/>
          </a:xfrm>
          <a:prstGeom prst="rect">
            <a:avLst/>
          </a:prstGeom>
          <a:noFill/>
          <a:ln/>
        </p:spPr>
        <p:txBody>
          <a:bodyPr wrap="square" lIns="0" tIns="0" rIns="0" bIns="0" rtlCol="0" anchor="t"/>
          <a:lstStyle/>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CÓMO ESCALA,</a:t>
            </a:r>
            <a:endParaRPr lang="en-US" sz="3800" dirty="0"/>
          </a:p>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Y QUÉ DICE</a:t>
            </a:r>
            <a:endParaRPr lang="en-US" sz="3800" dirty="0"/>
          </a:p>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LA LEY</a:t>
            </a:r>
            <a:endParaRPr lang="en-US" sz="3800" dirty="0"/>
          </a:p>
        </p:txBody>
      </p:sp>
      <p:sp>
        <p:nvSpPr>
          <p:cNvPr id="8" name="Text 4"/>
          <p:cNvSpPr/>
          <p:nvPr/>
        </p:nvSpPr>
        <p:spPr>
          <a:xfrm>
            <a:off x="4389120" y="4224528"/>
            <a:ext cx="7269480" cy="685800"/>
          </a:xfrm>
          <a:prstGeom prst="rect">
            <a:avLst/>
          </a:prstGeom>
          <a:noFill/>
          <a:ln/>
        </p:spPr>
        <p:txBody>
          <a:bodyPr wrap="square" lIns="0" tIns="0" rIns="0" bIns="0" rtlCol="0" anchor="t"/>
          <a:lstStyle/>
          <a:p>
            <a:pPr indent="0" marL="0">
              <a:lnSpc>
                <a:spcPct val="120000"/>
              </a:lnSpc>
              <a:buNone/>
            </a:pPr>
            <a:r>
              <a:rPr lang="en-US" sz="1500" dirty="0">
                <a:solidFill>
                  <a:srgbClr val="B9B4C4"/>
                </a:solidFill>
                <a:latin typeface="Arial" pitchFamily="34" charset="0"/>
                <a:ea typeface="Arial" pitchFamily="34" charset="-122"/>
                <a:cs typeface="Arial" pitchFamily="34" charset="-120"/>
              </a:rPr>
              <a:t>La capa base no alcanza para todos. Y una solución técnica impecable puede ser ilegal, cara o inaplicable. Hoy, las dos cosas.</a:t>
            </a:r>
            <a:endParaRPr lang="en-US" sz="1500" dirty="0"/>
          </a:p>
        </p:txBody>
      </p:sp>
      <p:sp>
        <p:nvSpPr>
          <p:cNvPr id="9" name="Text 5"/>
          <p:cNvSpPr/>
          <p:nvPr/>
        </p:nvSpPr>
        <p:spPr>
          <a:xfrm>
            <a:off x="4389120" y="5120640"/>
            <a:ext cx="7269480" cy="731520"/>
          </a:xfrm>
          <a:prstGeom prst="rect">
            <a:avLst/>
          </a:prstGeom>
          <a:noFill/>
          <a:ln/>
        </p:spPr>
        <p:txBody>
          <a:bodyPr wrap="square" lIns="0" tIns="0" rIns="0" bIns="0" rtlCol="0" anchor="t"/>
          <a:lstStyle/>
          <a:p>
            <a:pPr indent="0" marL="0">
              <a:lnSpc>
                <a:spcPct val="125000"/>
              </a:lnSpc>
              <a:buNone/>
            </a:pPr>
            <a:r>
              <a:rPr lang="en-US" sz="1300" dirty="0">
                <a:solidFill>
                  <a:srgbClr val="8B8697"/>
                </a:solidFill>
                <a:latin typeface="Arial" pitchFamily="34" charset="0"/>
                <a:ea typeface="Arial" pitchFamily="34" charset="-122"/>
                <a:cs typeface="Arial" pitchFamily="34" charset="-120"/>
              </a:rPr>
              <a:t>Blockchain y Web 3.0 · Ingeniería de Sistemas</a:t>
            </a:r>
            <a:endParaRPr lang="en-US" sz="1300" dirty="0"/>
          </a:p>
          <a:p>
            <a:pPr indent="0" marL="0">
              <a:lnSpc>
                <a:spcPct val="125000"/>
              </a:lnSpc>
              <a:buNone/>
            </a:pPr>
            <a:r>
              <a:rPr lang="en-US" sz="1300" dirty="0">
                <a:solidFill>
                  <a:srgbClr val="8B8697"/>
                </a:solidFill>
                <a:latin typeface="Arial" pitchFamily="34" charset="0"/>
                <a:ea typeface="Arial" pitchFamily="34" charset="-122"/>
                <a:cs typeface="Arial" pitchFamily="34" charset="-120"/>
              </a:rPr>
              <a:t>Universidad de San Buenaventura Medellín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LO DE HOY</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CÓMO VAMOS A USAR LAS TRES HORAS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16 · ESCALABILIDAD Y REGULACIÓN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02</a:t>
            </a:r>
            <a:endParaRPr lang="en-US" sz="900" dirty="0"/>
          </a:p>
        </p:txBody>
      </p:sp>
      <p:sp>
        <p:nvSpPr>
          <p:cNvPr id="8" name="Text 5"/>
          <p:cNvSpPr/>
          <p:nvPr/>
        </p:nvSpPr>
        <p:spPr>
          <a:xfrm>
            <a:off x="566928" y="1737360"/>
            <a:ext cx="11057839" cy="566928"/>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Dos temas que todo proyecto real enfrenta tarde o temprano: no escala, y no está claro si es legal. Y el laboratorio compara costos de verdad.</a:t>
            </a:r>
            <a:endParaRPr lang="en-US" sz="1450" dirty="0"/>
          </a:p>
        </p:txBody>
      </p:sp>
      <p:sp>
        <p:nvSpPr>
          <p:cNvPr id="9" name="Shape 6"/>
          <p:cNvSpPr/>
          <p:nvPr/>
        </p:nvSpPr>
        <p:spPr>
          <a:xfrm>
            <a:off x="566928" y="2468880"/>
            <a:ext cx="11057839" cy="1024128"/>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0" name="Shape 7"/>
          <p:cNvSpPr/>
          <p:nvPr/>
        </p:nvSpPr>
        <p:spPr>
          <a:xfrm>
            <a:off x="566928" y="2468880"/>
            <a:ext cx="777240" cy="1024128"/>
          </a:xfrm>
          <a:prstGeom prst="rect">
            <a:avLst/>
          </a:prstGeom>
          <a:solidFill>
            <a:srgbClr val="F07F06"/>
          </a:solidFill>
          <a:ln w="12700">
            <a:solidFill>
              <a:srgbClr val="333333"/>
            </a:solidFill>
            <a:prstDash val="solid"/>
          </a:ln>
        </p:spPr>
      </p:sp>
      <p:sp>
        <p:nvSpPr>
          <p:cNvPr id="11" name="Text 8"/>
          <p:cNvSpPr/>
          <p:nvPr/>
        </p:nvSpPr>
        <p:spPr>
          <a:xfrm>
            <a:off x="566928" y="2468880"/>
            <a:ext cx="777240" cy="1024128"/>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A</a:t>
            </a:r>
            <a:endParaRPr lang="en-US" sz="2800" dirty="0"/>
          </a:p>
        </p:txBody>
      </p:sp>
      <p:sp>
        <p:nvSpPr>
          <p:cNvPr id="12" name="Text 9"/>
          <p:cNvSpPr/>
          <p:nvPr/>
        </p:nvSpPr>
        <p:spPr>
          <a:xfrm>
            <a:off x="1572768" y="2596896"/>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ESCALABILIDAD E INTEROPERABILIDAD</a:t>
            </a:r>
            <a:endParaRPr lang="en-US" sz="1100" dirty="0"/>
          </a:p>
        </p:txBody>
      </p:sp>
      <p:sp>
        <p:nvSpPr>
          <p:cNvPr id="13" name="Text 10"/>
          <p:cNvSpPr/>
          <p:nvPr/>
        </p:nvSpPr>
        <p:spPr>
          <a:xfrm>
            <a:off x="1572768" y="2926080"/>
            <a:ext cx="7863840" cy="51206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Trilema, capa 2, rollups, otras L1, puentes y sus robos.</a:t>
            </a:r>
            <a:endParaRPr lang="en-US" sz="1250" dirty="0"/>
          </a:p>
        </p:txBody>
      </p:sp>
      <p:sp>
        <p:nvSpPr>
          <p:cNvPr id="14" name="Text 11"/>
          <p:cNvSpPr/>
          <p:nvPr/>
        </p:nvSpPr>
        <p:spPr>
          <a:xfrm>
            <a:off x="9704527" y="2468880"/>
            <a:ext cx="1691640" cy="1024128"/>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~50 min</a:t>
            </a:r>
            <a:endParaRPr lang="en-US" sz="1200" dirty="0"/>
          </a:p>
        </p:txBody>
      </p:sp>
      <p:sp>
        <p:nvSpPr>
          <p:cNvPr id="15" name="Shape 12"/>
          <p:cNvSpPr/>
          <p:nvPr/>
        </p:nvSpPr>
        <p:spPr>
          <a:xfrm>
            <a:off x="566928" y="3675888"/>
            <a:ext cx="11057839" cy="1024128"/>
          </a:xfrm>
          <a:prstGeom prst="rect">
            <a:avLst/>
          </a:prstGeom>
          <a:solidFill>
            <a:srgbClr val="FAF9FB"/>
          </a:solidFill>
          <a:ln w="22225">
            <a:solidFill>
              <a:srgbClr val="0F0F11"/>
            </a:solidFill>
            <a:prstDash val="solid"/>
          </a:ln>
        </p:spPr>
      </p:sp>
      <p:sp>
        <p:nvSpPr>
          <p:cNvPr id="16" name="Shape 13"/>
          <p:cNvSpPr/>
          <p:nvPr/>
        </p:nvSpPr>
        <p:spPr>
          <a:xfrm>
            <a:off x="566928" y="3675888"/>
            <a:ext cx="777240" cy="1024128"/>
          </a:xfrm>
          <a:prstGeom prst="rect">
            <a:avLst/>
          </a:prstGeom>
          <a:solidFill>
            <a:srgbClr val="D9D6E0"/>
          </a:solidFill>
          <a:ln w="12700">
            <a:solidFill>
              <a:srgbClr val="333333"/>
            </a:solidFill>
            <a:prstDash val="solid"/>
          </a:ln>
        </p:spPr>
      </p:sp>
      <p:sp>
        <p:nvSpPr>
          <p:cNvPr id="17" name="Text 14"/>
          <p:cNvSpPr/>
          <p:nvPr/>
        </p:nvSpPr>
        <p:spPr>
          <a:xfrm>
            <a:off x="566928" y="3675888"/>
            <a:ext cx="777240" cy="1024128"/>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B</a:t>
            </a:r>
            <a:endParaRPr lang="en-US" sz="2800" dirty="0"/>
          </a:p>
        </p:txBody>
      </p:sp>
      <p:sp>
        <p:nvSpPr>
          <p:cNvPr id="18" name="Text 15"/>
          <p:cNvSpPr/>
          <p:nvPr/>
        </p:nvSpPr>
        <p:spPr>
          <a:xfrm>
            <a:off x="1572768" y="3803904"/>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MARCO REGULATORIO COLOMBIANO</a:t>
            </a:r>
            <a:endParaRPr lang="en-US" sz="1100" dirty="0"/>
          </a:p>
        </p:txBody>
      </p:sp>
      <p:sp>
        <p:nvSpPr>
          <p:cNvPr id="19" name="Text 16"/>
          <p:cNvSpPr/>
          <p:nvPr/>
        </p:nvSpPr>
        <p:spPr>
          <a:xfrm>
            <a:off x="1572768" y="4133088"/>
            <a:ext cx="7863840" cy="51206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UIAF, DIAN, sandbox, MiCA, y si un contrato es un contrato jurídico.</a:t>
            </a:r>
            <a:endParaRPr lang="en-US" sz="1250" dirty="0"/>
          </a:p>
        </p:txBody>
      </p:sp>
      <p:sp>
        <p:nvSpPr>
          <p:cNvPr id="20" name="Text 17"/>
          <p:cNvSpPr/>
          <p:nvPr/>
        </p:nvSpPr>
        <p:spPr>
          <a:xfrm>
            <a:off x="9704527" y="3675888"/>
            <a:ext cx="1691640" cy="1024128"/>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~50 min</a:t>
            </a:r>
            <a:endParaRPr lang="en-US" sz="1200" dirty="0"/>
          </a:p>
        </p:txBody>
      </p:sp>
      <p:sp>
        <p:nvSpPr>
          <p:cNvPr id="21" name="Shape 18"/>
          <p:cNvSpPr/>
          <p:nvPr/>
        </p:nvSpPr>
        <p:spPr>
          <a:xfrm>
            <a:off x="566928" y="4882896"/>
            <a:ext cx="11057839" cy="1024128"/>
          </a:xfrm>
          <a:prstGeom prst="rect">
            <a:avLst/>
          </a:prstGeom>
          <a:solidFill>
            <a:srgbClr val="FAF9FB"/>
          </a:solidFill>
          <a:ln w="22225">
            <a:solidFill>
              <a:srgbClr val="0F0F11"/>
            </a:solidFill>
            <a:prstDash val="solid"/>
          </a:ln>
        </p:spPr>
      </p:sp>
      <p:sp>
        <p:nvSpPr>
          <p:cNvPr id="22" name="Shape 19"/>
          <p:cNvSpPr/>
          <p:nvPr/>
        </p:nvSpPr>
        <p:spPr>
          <a:xfrm>
            <a:off x="566928" y="4882896"/>
            <a:ext cx="777240" cy="1024128"/>
          </a:xfrm>
          <a:prstGeom prst="rect">
            <a:avLst/>
          </a:prstGeom>
          <a:solidFill>
            <a:srgbClr val="D9D6E0"/>
          </a:solidFill>
          <a:ln w="12700">
            <a:solidFill>
              <a:srgbClr val="333333"/>
            </a:solidFill>
            <a:prstDash val="solid"/>
          </a:ln>
        </p:spPr>
      </p:sp>
      <p:sp>
        <p:nvSpPr>
          <p:cNvPr id="23" name="Text 20"/>
          <p:cNvSpPr/>
          <p:nvPr/>
        </p:nvSpPr>
        <p:spPr>
          <a:xfrm>
            <a:off x="566928" y="4882896"/>
            <a:ext cx="777240" cy="1024128"/>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C</a:t>
            </a:r>
            <a:endParaRPr lang="en-US" sz="2800" dirty="0"/>
          </a:p>
        </p:txBody>
      </p:sp>
      <p:sp>
        <p:nvSpPr>
          <p:cNvPr id="24" name="Text 21"/>
          <p:cNvSpPr/>
          <p:nvPr/>
        </p:nvSpPr>
        <p:spPr>
          <a:xfrm>
            <a:off x="1572768" y="5010912"/>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LABORATORIO 16 + AVANCE 2</a:t>
            </a:r>
            <a:endParaRPr lang="en-US" sz="1100" dirty="0"/>
          </a:p>
        </p:txBody>
      </p:sp>
      <p:sp>
        <p:nvSpPr>
          <p:cNvPr id="25" name="Text 22"/>
          <p:cNvSpPr/>
          <p:nvPr/>
        </p:nvSpPr>
        <p:spPr>
          <a:xfrm>
            <a:off x="1572768" y="5340096"/>
            <a:ext cx="7863840" cy="51206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Desplegar en una L2 de prueba y comparar costo. Entrega del Avance 2.</a:t>
            </a:r>
            <a:endParaRPr lang="en-US" sz="1250" dirty="0"/>
          </a:p>
        </p:txBody>
      </p:sp>
      <p:sp>
        <p:nvSpPr>
          <p:cNvPr id="26" name="Text 23"/>
          <p:cNvSpPr/>
          <p:nvPr/>
        </p:nvSpPr>
        <p:spPr>
          <a:xfrm>
            <a:off x="9704527" y="4882896"/>
            <a:ext cx="1691640" cy="1024128"/>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~60 min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EL PROPÓSITO DE LA SESIÓN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AL SALIR DE AQUÍ</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16 · ESCALABILIDAD Y REGULACIÓN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03</a:t>
            </a:r>
            <a:endParaRPr lang="en-US" sz="900" dirty="0"/>
          </a:p>
        </p:txBody>
      </p:sp>
      <p:sp>
        <p:nvSpPr>
          <p:cNvPr id="8" name="Shape 5"/>
          <p:cNvSpPr/>
          <p:nvPr/>
        </p:nvSpPr>
        <p:spPr>
          <a:xfrm>
            <a:off x="566928" y="1737360"/>
            <a:ext cx="11057839" cy="118872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9" name="Text 6"/>
          <p:cNvSpPr/>
          <p:nvPr/>
        </p:nvSpPr>
        <p:spPr>
          <a:xfrm>
            <a:off x="950976" y="1920240"/>
            <a:ext cx="10289743" cy="822960"/>
          </a:xfrm>
          <a:prstGeom prst="rect">
            <a:avLst/>
          </a:prstGeom>
          <a:noFill/>
          <a:ln/>
        </p:spPr>
        <p:txBody>
          <a:bodyPr wrap="square" lIns="0" tIns="0" rIns="0" bIns="0" rtlCol="0" anchor="ctr"/>
          <a:lstStyle/>
          <a:p>
            <a:pPr indent="0" marL="0">
              <a:lnSpc>
                <a:spcPct val="106000"/>
              </a:lnSpc>
              <a:buNone/>
            </a:pPr>
            <a:r>
              <a:rPr lang="en-US" sz="1900" dirty="0">
                <a:solidFill>
                  <a:srgbClr val="0F0F11"/>
                </a:solidFill>
                <a:latin typeface="Arial Black" pitchFamily="34" charset="0"/>
                <a:ea typeface="Arial Black" pitchFamily="34" charset="-122"/>
                <a:cs typeface="Arial Black" pitchFamily="34" charset="-120"/>
              </a:rPr>
              <a:t>Evaluar soluciones de escalado y situar un proyecto blockchain en el contexto legal colombiano.</a:t>
            </a:r>
            <a:endParaRPr lang="en-US" sz="1900" dirty="0"/>
          </a:p>
        </p:txBody>
      </p:sp>
      <p:sp>
        <p:nvSpPr>
          <p:cNvPr id="10" name="Text 7"/>
          <p:cNvSpPr/>
          <p:nvPr/>
        </p:nvSpPr>
        <p:spPr>
          <a:xfrm>
            <a:off x="566928" y="3154680"/>
            <a:ext cx="7315200" cy="292608"/>
          </a:xfrm>
          <a:prstGeom prst="rect">
            <a:avLst/>
          </a:prstGeom>
          <a:noFill/>
          <a:ln/>
        </p:spPr>
        <p:txBody>
          <a:bodyPr wrap="square" lIns="0" tIns="0" rIns="0" bIns="0" rtlCol="0" anchor="ctr"/>
          <a:lstStyle/>
          <a:p>
            <a:pPr indent="0" marL="0">
              <a:buNone/>
            </a:pPr>
            <a:r>
              <a:rPr lang="en-US" sz="1050" b="1" spc="130" kern="0" dirty="0">
                <a:solidFill>
                  <a:srgbClr val="6F6B80"/>
                </a:solidFill>
                <a:latin typeface="Courier New" pitchFamily="34" charset="0"/>
                <a:ea typeface="Courier New" pitchFamily="34" charset="-122"/>
                <a:cs typeface="Courier New" pitchFamily="34" charset="-120"/>
              </a:rPr>
              <a:t>LAS PREGUNTAS QUE LA SESIÓN RESPONDE</a:t>
            </a:r>
            <a:endParaRPr lang="en-US" sz="1050" dirty="0"/>
          </a:p>
        </p:txBody>
      </p:sp>
      <p:sp>
        <p:nvSpPr>
          <p:cNvPr id="11" name="Text 8"/>
          <p:cNvSpPr/>
          <p:nvPr/>
        </p:nvSpPr>
        <p:spPr>
          <a:xfrm>
            <a:off x="566928" y="3566160"/>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2" name="Text 9"/>
          <p:cNvSpPr/>
          <p:nvPr/>
        </p:nvSpPr>
        <p:spPr>
          <a:xfrm>
            <a:off x="1225296" y="3630168"/>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¿Por qué la capa base no puede escalar sola?</a:t>
            </a:r>
            <a:endParaRPr lang="en-US" sz="1400" dirty="0"/>
          </a:p>
        </p:txBody>
      </p:sp>
      <p:sp>
        <p:nvSpPr>
          <p:cNvPr id="13" name="Text 10"/>
          <p:cNvSpPr/>
          <p:nvPr/>
        </p:nvSpPr>
        <p:spPr>
          <a:xfrm>
            <a:off x="566928" y="4133088"/>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25296" y="4197096"/>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¿Qué diferencia un rollup optimista de uno de conocimiento cero?</a:t>
            </a:r>
            <a:endParaRPr lang="en-US" sz="1400" dirty="0"/>
          </a:p>
        </p:txBody>
      </p:sp>
      <p:sp>
        <p:nvSpPr>
          <p:cNvPr id="15" name="Text 12"/>
          <p:cNvSpPr/>
          <p:nvPr/>
        </p:nvSpPr>
        <p:spPr>
          <a:xfrm>
            <a:off x="566928" y="4700016"/>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6" name="Text 13"/>
          <p:cNvSpPr/>
          <p:nvPr/>
        </p:nvSpPr>
        <p:spPr>
          <a:xfrm>
            <a:off x="1225296" y="4764024"/>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¿Por qué los puentes concentran los mayores robos del ecosistema?</a:t>
            </a:r>
            <a:endParaRPr lang="en-US" sz="1400" dirty="0"/>
          </a:p>
        </p:txBody>
      </p:sp>
      <p:sp>
        <p:nvSpPr>
          <p:cNvPr id="17" name="Text 14"/>
          <p:cNvSpPr/>
          <p:nvPr/>
        </p:nvSpPr>
        <p:spPr>
          <a:xfrm>
            <a:off x="566928" y="5266944"/>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18" name="Text 15"/>
          <p:cNvSpPr/>
          <p:nvPr/>
        </p:nvSpPr>
        <p:spPr>
          <a:xfrm>
            <a:off x="1225296" y="5330952"/>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¿Qué obligaciones legales tendría su proyecto si saliera a producción en Colombia?</a:t>
            </a:r>
            <a:endParaRPr lang="en-US" sz="1400" dirty="0"/>
          </a:p>
        </p:txBody>
      </p:sp>
      <p:sp>
        <p:nvSpPr>
          <p:cNvPr id="19" name="Shape 16"/>
          <p:cNvSpPr/>
          <p:nvPr/>
        </p:nvSpPr>
        <p:spPr>
          <a:xfrm>
            <a:off x="566928" y="5943600"/>
            <a:ext cx="11057839" cy="457200"/>
          </a:xfrm>
          <a:prstGeom prst="rect">
            <a:avLst/>
          </a:prstGeom>
          <a:solidFill>
            <a:srgbClr val="F2F0F5"/>
          </a:solidFill>
          <a:ln w="12700">
            <a:solidFill>
              <a:srgbClr val="7152E9"/>
            </a:solidFill>
            <a:prstDash val="solid"/>
          </a:ln>
        </p:spPr>
      </p:sp>
      <p:sp>
        <p:nvSpPr>
          <p:cNvPr id="20" name="Text 17"/>
          <p:cNvSpPr/>
          <p:nvPr/>
        </p:nvSpPr>
        <p:spPr>
          <a:xfrm>
            <a:off x="731520" y="6016752"/>
            <a:ext cx="10728655" cy="310896"/>
          </a:xfrm>
          <a:prstGeom prst="rect">
            <a:avLst/>
          </a:prstGeom>
          <a:noFill/>
          <a:ln/>
        </p:spPr>
        <p:txBody>
          <a:bodyPr wrap="square" lIns="0" tIns="0" rIns="0" bIns="0" rtlCol="0" anchor="ctr"/>
          <a:lstStyle/>
          <a:p>
            <a:pPr indent="0" marL="0">
              <a:lnSpc>
                <a:spcPct val="120000"/>
              </a:lnSpc>
              <a:buNone/>
            </a:pPr>
            <a:r>
              <a:rPr lang="en-US" sz="1050" dirty="0">
                <a:solidFill>
                  <a:srgbClr val="3A3844"/>
                </a:solidFill>
                <a:latin typeface="Courier New" pitchFamily="34" charset="0"/>
                <a:ea typeface="Courier New" pitchFamily="34" charset="-122"/>
                <a:cs typeface="Courier New" pitchFamily="34" charset="-120"/>
              </a:rPr>
              <a:t>RA2 · arquitecturas y escalado  ·  RA7 · marco regulatorio y ética.</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VOCABULARIO DE LA SESIÓN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SIGLAS Y TÉRMINOS DE HOY</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16 · ESCALABILIDAD Y REGULACIÓN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04</a:t>
            </a:r>
            <a:endParaRPr lang="en-US" sz="900" dirty="0"/>
          </a:p>
        </p:txBody>
      </p:sp>
      <p:sp>
        <p:nvSpPr>
          <p:cNvPr id="8" name="Shape 5"/>
          <p:cNvSpPr/>
          <p:nvPr/>
        </p:nvSpPr>
        <p:spPr>
          <a:xfrm>
            <a:off x="566928" y="1737360"/>
            <a:ext cx="5419192" cy="1014984"/>
          </a:xfrm>
          <a:prstGeom prst="rect">
            <a:avLst/>
          </a:prstGeom>
          <a:solidFill>
            <a:srgbClr val="FFFFFF"/>
          </a:solidFill>
          <a:ln w="15875">
            <a:solidFill>
              <a:srgbClr val="7152E9"/>
            </a:solidFill>
            <a:prstDash val="solid"/>
          </a:ln>
        </p:spPr>
      </p:sp>
      <p:sp>
        <p:nvSpPr>
          <p:cNvPr id="9" name="Shape 6"/>
          <p:cNvSpPr/>
          <p:nvPr/>
        </p:nvSpPr>
        <p:spPr>
          <a:xfrm>
            <a:off x="566928" y="1737360"/>
            <a:ext cx="82296" cy="1014984"/>
          </a:xfrm>
          <a:prstGeom prst="rect">
            <a:avLst/>
          </a:prstGeom>
          <a:solidFill>
            <a:srgbClr val="7152E9"/>
          </a:solidFill>
          <a:ln w="12700">
            <a:solidFill>
              <a:srgbClr val="333333"/>
            </a:solidFill>
            <a:prstDash val="solid"/>
          </a:ln>
        </p:spPr>
      </p:sp>
      <p:sp>
        <p:nvSpPr>
          <p:cNvPr id="10" name="Text 7"/>
          <p:cNvSpPr/>
          <p:nvPr/>
        </p:nvSpPr>
        <p:spPr>
          <a:xfrm>
            <a:off x="822960" y="1810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CAPA 2 · L2</a:t>
            </a:r>
            <a:endParaRPr lang="en-US" sz="1100" dirty="0"/>
          </a:p>
        </p:txBody>
      </p:sp>
      <p:sp>
        <p:nvSpPr>
          <p:cNvPr id="11" name="Text 8"/>
          <p:cNvSpPr/>
          <p:nvPr/>
        </p:nvSpPr>
        <p:spPr>
          <a:xfrm>
            <a:off x="2898648" y="1810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Layer 2</a:t>
            </a:r>
            <a:endParaRPr lang="en-US" sz="1050" dirty="0"/>
          </a:p>
        </p:txBody>
      </p:sp>
      <p:sp>
        <p:nvSpPr>
          <p:cNvPr id="12" name="Text 9"/>
          <p:cNvSpPr/>
          <p:nvPr/>
        </p:nvSpPr>
        <p:spPr>
          <a:xfrm>
            <a:off x="822960" y="2121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Una red que procesa transacciones fuera de la capa base y le entrega a esta solo el resumen, heredando su seguridad.</a:t>
            </a:r>
            <a:endParaRPr lang="en-US" sz="1100" dirty="0"/>
          </a:p>
        </p:txBody>
      </p:sp>
      <p:sp>
        <p:nvSpPr>
          <p:cNvPr id="13" name="Shape 10"/>
          <p:cNvSpPr/>
          <p:nvPr/>
        </p:nvSpPr>
        <p:spPr>
          <a:xfrm>
            <a:off x="6205576" y="1737360"/>
            <a:ext cx="5419192" cy="1014984"/>
          </a:xfrm>
          <a:prstGeom prst="rect">
            <a:avLst/>
          </a:prstGeom>
          <a:solidFill>
            <a:srgbClr val="FFFFFF"/>
          </a:solidFill>
          <a:ln w="15875">
            <a:solidFill>
              <a:srgbClr val="7152E9"/>
            </a:solidFill>
            <a:prstDash val="solid"/>
          </a:ln>
        </p:spPr>
      </p:sp>
      <p:sp>
        <p:nvSpPr>
          <p:cNvPr id="14" name="Shape 11"/>
          <p:cNvSpPr/>
          <p:nvPr/>
        </p:nvSpPr>
        <p:spPr>
          <a:xfrm>
            <a:off x="6205576" y="1737360"/>
            <a:ext cx="82296" cy="1014984"/>
          </a:xfrm>
          <a:prstGeom prst="rect">
            <a:avLst/>
          </a:prstGeom>
          <a:solidFill>
            <a:srgbClr val="7152E9"/>
          </a:solidFill>
          <a:ln w="12700">
            <a:solidFill>
              <a:srgbClr val="333333"/>
            </a:solidFill>
            <a:prstDash val="solid"/>
          </a:ln>
        </p:spPr>
      </p:sp>
      <p:sp>
        <p:nvSpPr>
          <p:cNvPr id="15" name="Text 12"/>
          <p:cNvSpPr/>
          <p:nvPr/>
        </p:nvSpPr>
        <p:spPr>
          <a:xfrm>
            <a:off x="6461608" y="1810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ROLLUP</a:t>
            </a:r>
            <a:endParaRPr lang="en-US" sz="1100" dirty="0"/>
          </a:p>
        </p:txBody>
      </p:sp>
      <p:sp>
        <p:nvSpPr>
          <p:cNvPr id="16" name="Text 13"/>
          <p:cNvSpPr/>
          <p:nvPr/>
        </p:nvSpPr>
        <p:spPr>
          <a:xfrm>
            <a:off x="8537296" y="1810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acumulador</a:t>
            </a:r>
            <a:endParaRPr lang="en-US" sz="1050" dirty="0"/>
          </a:p>
        </p:txBody>
      </p:sp>
      <p:sp>
        <p:nvSpPr>
          <p:cNvPr id="17" name="Text 14"/>
          <p:cNvSpPr/>
          <p:nvPr/>
        </p:nvSpPr>
        <p:spPr>
          <a:xfrm>
            <a:off x="6461608" y="2121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Una L2 que agrupa muchas transacciones y publica su resultado comprimido en la L1.</a:t>
            </a:r>
            <a:endParaRPr lang="en-US" sz="1100" dirty="0"/>
          </a:p>
        </p:txBody>
      </p:sp>
      <p:sp>
        <p:nvSpPr>
          <p:cNvPr id="18" name="Shape 15"/>
          <p:cNvSpPr/>
          <p:nvPr/>
        </p:nvSpPr>
        <p:spPr>
          <a:xfrm>
            <a:off x="566928" y="2880360"/>
            <a:ext cx="5419192" cy="1014984"/>
          </a:xfrm>
          <a:prstGeom prst="rect">
            <a:avLst/>
          </a:prstGeom>
          <a:solidFill>
            <a:srgbClr val="FFFFFF"/>
          </a:solidFill>
          <a:ln w="15875">
            <a:solidFill>
              <a:srgbClr val="7152E9"/>
            </a:solidFill>
            <a:prstDash val="solid"/>
          </a:ln>
        </p:spPr>
      </p:sp>
      <p:sp>
        <p:nvSpPr>
          <p:cNvPr id="19" name="Shape 16"/>
          <p:cNvSpPr/>
          <p:nvPr/>
        </p:nvSpPr>
        <p:spPr>
          <a:xfrm>
            <a:off x="566928" y="2880360"/>
            <a:ext cx="82296" cy="1014984"/>
          </a:xfrm>
          <a:prstGeom prst="rect">
            <a:avLst/>
          </a:prstGeom>
          <a:solidFill>
            <a:srgbClr val="7152E9"/>
          </a:solidFill>
          <a:ln w="12700">
            <a:solidFill>
              <a:srgbClr val="333333"/>
            </a:solidFill>
            <a:prstDash val="solid"/>
          </a:ln>
        </p:spPr>
      </p:sp>
      <p:sp>
        <p:nvSpPr>
          <p:cNvPr id="20" name="Text 17"/>
          <p:cNvSpPr/>
          <p:nvPr/>
        </p:nvSpPr>
        <p:spPr>
          <a:xfrm>
            <a:off x="822960" y="2953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ROLLUP OPTIMISTA</a:t>
            </a:r>
            <a:endParaRPr lang="en-US" sz="1100" dirty="0"/>
          </a:p>
        </p:txBody>
      </p:sp>
      <p:sp>
        <p:nvSpPr>
          <p:cNvPr id="21" name="Text 18"/>
          <p:cNvSpPr/>
          <p:nvPr/>
        </p:nvSpPr>
        <p:spPr>
          <a:xfrm>
            <a:off x="2898648" y="2953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optimistic rollup</a:t>
            </a:r>
            <a:endParaRPr lang="en-US" sz="1050" dirty="0"/>
          </a:p>
        </p:txBody>
      </p:sp>
      <p:sp>
        <p:nvSpPr>
          <p:cNvPr id="22" name="Text 19"/>
          <p:cNvSpPr/>
          <p:nvPr/>
        </p:nvSpPr>
        <p:spPr>
          <a:xfrm>
            <a:off x="822960" y="3264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Asume que las transacciones son válidas; abre un plazo para impugnar con una prueba de fraude.</a:t>
            </a:r>
            <a:endParaRPr lang="en-US" sz="1100" dirty="0"/>
          </a:p>
        </p:txBody>
      </p:sp>
      <p:sp>
        <p:nvSpPr>
          <p:cNvPr id="23" name="Shape 20"/>
          <p:cNvSpPr/>
          <p:nvPr/>
        </p:nvSpPr>
        <p:spPr>
          <a:xfrm>
            <a:off x="6205576" y="2880360"/>
            <a:ext cx="5419192" cy="1014984"/>
          </a:xfrm>
          <a:prstGeom prst="rect">
            <a:avLst/>
          </a:prstGeom>
          <a:solidFill>
            <a:srgbClr val="FFFFFF"/>
          </a:solidFill>
          <a:ln w="15875">
            <a:solidFill>
              <a:srgbClr val="7152E9"/>
            </a:solidFill>
            <a:prstDash val="solid"/>
          </a:ln>
        </p:spPr>
      </p:sp>
      <p:sp>
        <p:nvSpPr>
          <p:cNvPr id="24" name="Shape 21"/>
          <p:cNvSpPr/>
          <p:nvPr/>
        </p:nvSpPr>
        <p:spPr>
          <a:xfrm>
            <a:off x="6205576" y="2880360"/>
            <a:ext cx="82296" cy="1014984"/>
          </a:xfrm>
          <a:prstGeom prst="rect">
            <a:avLst/>
          </a:prstGeom>
          <a:solidFill>
            <a:srgbClr val="7152E9"/>
          </a:solidFill>
          <a:ln w="12700">
            <a:solidFill>
              <a:srgbClr val="333333"/>
            </a:solidFill>
            <a:prstDash val="solid"/>
          </a:ln>
        </p:spPr>
      </p:sp>
      <p:sp>
        <p:nvSpPr>
          <p:cNvPr id="25" name="Text 22"/>
          <p:cNvSpPr/>
          <p:nvPr/>
        </p:nvSpPr>
        <p:spPr>
          <a:xfrm>
            <a:off x="6461608" y="2953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ZK-ROLLUP</a:t>
            </a:r>
            <a:endParaRPr lang="en-US" sz="1100" dirty="0"/>
          </a:p>
        </p:txBody>
      </p:sp>
      <p:sp>
        <p:nvSpPr>
          <p:cNvPr id="26" name="Text 23"/>
          <p:cNvSpPr/>
          <p:nvPr/>
        </p:nvSpPr>
        <p:spPr>
          <a:xfrm>
            <a:off x="8537296" y="2953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zero-knowledge</a:t>
            </a:r>
            <a:endParaRPr lang="en-US" sz="1050" dirty="0"/>
          </a:p>
        </p:txBody>
      </p:sp>
      <p:sp>
        <p:nvSpPr>
          <p:cNvPr id="27" name="Text 24"/>
          <p:cNvSpPr/>
          <p:nvPr/>
        </p:nvSpPr>
        <p:spPr>
          <a:xfrm>
            <a:off x="6461608" y="3264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Publica una prueba criptográfica de validez: no hay que confiar ni esperar a impugnar.</a:t>
            </a:r>
            <a:endParaRPr lang="en-US" sz="1100" dirty="0"/>
          </a:p>
        </p:txBody>
      </p:sp>
      <p:sp>
        <p:nvSpPr>
          <p:cNvPr id="28" name="Shape 25"/>
          <p:cNvSpPr/>
          <p:nvPr/>
        </p:nvSpPr>
        <p:spPr>
          <a:xfrm>
            <a:off x="566928" y="4023360"/>
            <a:ext cx="5419192" cy="1014984"/>
          </a:xfrm>
          <a:prstGeom prst="rect">
            <a:avLst/>
          </a:prstGeom>
          <a:solidFill>
            <a:srgbClr val="FFFFFF"/>
          </a:solidFill>
          <a:ln w="15875">
            <a:solidFill>
              <a:srgbClr val="7152E9"/>
            </a:solidFill>
            <a:prstDash val="solid"/>
          </a:ln>
        </p:spPr>
      </p:sp>
      <p:sp>
        <p:nvSpPr>
          <p:cNvPr id="29" name="Shape 26"/>
          <p:cNvSpPr/>
          <p:nvPr/>
        </p:nvSpPr>
        <p:spPr>
          <a:xfrm>
            <a:off x="566928" y="4023360"/>
            <a:ext cx="82296" cy="1014984"/>
          </a:xfrm>
          <a:prstGeom prst="rect">
            <a:avLst/>
          </a:prstGeom>
          <a:solidFill>
            <a:srgbClr val="7152E9"/>
          </a:solidFill>
          <a:ln w="12700">
            <a:solidFill>
              <a:srgbClr val="333333"/>
            </a:solidFill>
            <a:prstDash val="solid"/>
          </a:ln>
        </p:spPr>
      </p:sp>
      <p:sp>
        <p:nvSpPr>
          <p:cNvPr id="30" name="Text 27"/>
          <p:cNvSpPr/>
          <p:nvPr/>
        </p:nvSpPr>
        <p:spPr>
          <a:xfrm>
            <a:off x="822960" y="4096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PUENTE · BRIDGE</a:t>
            </a:r>
            <a:endParaRPr lang="en-US" sz="1100" dirty="0"/>
          </a:p>
        </p:txBody>
      </p:sp>
      <p:sp>
        <p:nvSpPr>
          <p:cNvPr id="31" name="Text 28"/>
          <p:cNvSpPr/>
          <p:nvPr/>
        </p:nvSpPr>
        <p:spPr>
          <a:xfrm>
            <a:off x="2898648" y="4096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bridge</a:t>
            </a:r>
            <a:endParaRPr lang="en-US" sz="1050" dirty="0"/>
          </a:p>
        </p:txBody>
      </p:sp>
      <p:sp>
        <p:nvSpPr>
          <p:cNvPr id="32" name="Text 29"/>
          <p:cNvSpPr/>
          <p:nvPr/>
        </p:nvSpPr>
        <p:spPr>
          <a:xfrm>
            <a:off x="822960" y="4407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Un mecanismo para mover activos entre cadenas distintas. Concentra los mayores robos históricos.</a:t>
            </a:r>
            <a:endParaRPr lang="en-US" sz="1100" dirty="0"/>
          </a:p>
        </p:txBody>
      </p:sp>
      <p:sp>
        <p:nvSpPr>
          <p:cNvPr id="33" name="Shape 30"/>
          <p:cNvSpPr/>
          <p:nvPr/>
        </p:nvSpPr>
        <p:spPr>
          <a:xfrm>
            <a:off x="6205576" y="4023360"/>
            <a:ext cx="5419192" cy="1014984"/>
          </a:xfrm>
          <a:prstGeom prst="rect">
            <a:avLst/>
          </a:prstGeom>
          <a:solidFill>
            <a:srgbClr val="FFFFFF"/>
          </a:solidFill>
          <a:ln w="15875">
            <a:solidFill>
              <a:srgbClr val="7152E9"/>
            </a:solidFill>
            <a:prstDash val="solid"/>
          </a:ln>
        </p:spPr>
      </p:sp>
      <p:sp>
        <p:nvSpPr>
          <p:cNvPr id="34" name="Shape 31"/>
          <p:cNvSpPr/>
          <p:nvPr/>
        </p:nvSpPr>
        <p:spPr>
          <a:xfrm>
            <a:off x="6205576" y="4023360"/>
            <a:ext cx="82296" cy="1014984"/>
          </a:xfrm>
          <a:prstGeom prst="rect">
            <a:avLst/>
          </a:prstGeom>
          <a:solidFill>
            <a:srgbClr val="7152E9"/>
          </a:solidFill>
          <a:ln w="12700">
            <a:solidFill>
              <a:srgbClr val="333333"/>
            </a:solidFill>
            <a:prstDash val="solid"/>
          </a:ln>
        </p:spPr>
      </p:sp>
      <p:sp>
        <p:nvSpPr>
          <p:cNvPr id="35" name="Text 32"/>
          <p:cNvSpPr/>
          <p:nvPr/>
        </p:nvSpPr>
        <p:spPr>
          <a:xfrm>
            <a:off x="6461608" y="4096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EVM-COMPATIBLE</a:t>
            </a:r>
            <a:endParaRPr lang="en-US" sz="1100" dirty="0"/>
          </a:p>
        </p:txBody>
      </p:sp>
      <p:sp>
        <p:nvSpPr>
          <p:cNvPr id="36" name="Text 33"/>
          <p:cNvSpPr/>
          <p:nvPr/>
        </p:nvSpPr>
        <p:spPr>
          <a:xfrm>
            <a:off x="8537296" y="4096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compatible con la EVM</a:t>
            </a:r>
            <a:endParaRPr lang="en-US" sz="1050" dirty="0"/>
          </a:p>
        </p:txBody>
      </p:sp>
      <p:sp>
        <p:nvSpPr>
          <p:cNvPr id="37" name="Text 34"/>
          <p:cNvSpPr/>
          <p:nvPr/>
        </p:nvSpPr>
        <p:spPr>
          <a:xfrm>
            <a:off x="6461608" y="4407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Una cadena donde corre el mismo bytecode de Ethereum: el mismo contrato sirve sin reescribir.</a:t>
            </a:r>
            <a:endParaRPr lang="en-US" sz="1100" dirty="0"/>
          </a:p>
        </p:txBody>
      </p:sp>
      <p:sp>
        <p:nvSpPr>
          <p:cNvPr id="38" name="Shape 35"/>
          <p:cNvSpPr/>
          <p:nvPr/>
        </p:nvSpPr>
        <p:spPr>
          <a:xfrm>
            <a:off x="566928" y="5166360"/>
            <a:ext cx="5419192" cy="1014984"/>
          </a:xfrm>
          <a:prstGeom prst="rect">
            <a:avLst/>
          </a:prstGeom>
          <a:solidFill>
            <a:srgbClr val="FFFFFF"/>
          </a:solidFill>
          <a:ln w="15875">
            <a:solidFill>
              <a:srgbClr val="7152E9"/>
            </a:solidFill>
            <a:prstDash val="solid"/>
          </a:ln>
        </p:spPr>
      </p:sp>
      <p:sp>
        <p:nvSpPr>
          <p:cNvPr id="39" name="Shape 36"/>
          <p:cNvSpPr/>
          <p:nvPr/>
        </p:nvSpPr>
        <p:spPr>
          <a:xfrm>
            <a:off x="566928" y="5166360"/>
            <a:ext cx="82296" cy="1014984"/>
          </a:xfrm>
          <a:prstGeom prst="rect">
            <a:avLst/>
          </a:prstGeom>
          <a:solidFill>
            <a:srgbClr val="7152E9"/>
          </a:solidFill>
          <a:ln w="12700">
            <a:solidFill>
              <a:srgbClr val="333333"/>
            </a:solidFill>
            <a:prstDash val="solid"/>
          </a:ln>
        </p:spPr>
      </p:sp>
      <p:sp>
        <p:nvSpPr>
          <p:cNvPr id="40" name="Text 37"/>
          <p:cNvSpPr/>
          <p:nvPr/>
        </p:nvSpPr>
        <p:spPr>
          <a:xfrm>
            <a:off x="822960" y="5239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UIAF</a:t>
            </a:r>
            <a:endParaRPr lang="en-US" sz="1100" dirty="0"/>
          </a:p>
        </p:txBody>
      </p:sp>
      <p:sp>
        <p:nvSpPr>
          <p:cNvPr id="41" name="Text 38"/>
          <p:cNvSpPr/>
          <p:nvPr/>
        </p:nvSpPr>
        <p:spPr>
          <a:xfrm>
            <a:off x="2898648" y="5239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Unidad de Información y Análisis Financiero</a:t>
            </a:r>
            <a:endParaRPr lang="en-US" sz="1050" dirty="0"/>
          </a:p>
        </p:txBody>
      </p:sp>
      <p:sp>
        <p:nvSpPr>
          <p:cNvPr id="42" name="Text 39"/>
          <p:cNvSpPr/>
          <p:nvPr/>
        </p:nvSpPr>
        <p:spPr>
          <a:xfrm>
            <a:off x="822960" y="5550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El organismo colombiano al que se reportan operaciones sospechosas.</a:t>
            </a:r>
            <a:endParaRPr lang="en-US" sz="1100" dirty="0"/>
          </a:p>
        </p:txBody>
      </p:sp>
      <p:sp>
        <p:nvSpPr>
          <p:cNvPr id="43" name="Shape 40"/>
          <p:cNvSpPr/>
          <p:nvPr/>
        </p:nvSpPr>
        <p:spPr>
          <a:xfrm>
            <a:off x="6205576" y="5166360"/>
            <a:ext cx="5419192" cy="1014984"/>
          </a:xfrm>
          <a:prstGeom prst="rect">
            <a:avLst/>
          </a:prstGeom>
          <a:solidFill>
            <a:srgbClr val="FFFFFF"/>
          </a:solidFill>
          <a:ln w="15875">
            <a:solidFill>
              <a:srgbClr val="7152E9"/>
            </a:solidFill>
            <a:prstDash val="solid"/>
          </a:ln>
        </p:spPr>
      </p:sp>
      <p:sp>
        <p:nvSpPr>
          <p:cNvPr id="44" name="Shape 41"/>
          <p:cNvSpPr/>
          <p:nvPr/>
        </p:nvSpPr>
        <p:spPr>
          <a:xfrm>
            <a:off x="6205576" y="5166360"/>
            <a:ext cx="82296" cy="1014984"/>
          </a:xfrm>
          <a:prstGeom prst="rect">
            <a:avLst/>
          </a:prstGeom>
          <a:solidFill>
            <a:srgbClr val="7152E9"/>
          </a:solidFill>
          <a:ln w="12700">
            <a:solidFill>
              <a:srgbClr val="333333"/>
            </a:solidFill>
            <a:prstDash val="solid"/>
          </a:ln>
        </p:spPr>
      </p:sp>
      <p:sp>
        <p:nvSpPr>
          <p:cNvPr id="45" name="Text 42"/>
          <p:cNvSpPr/>
          <p:nvPr/>
        </p:nvSpPr>
        <p:spPr>
          <a:xfrm>
            <a:off x="6461608" y="5239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MICA</a:t>
            </a:r>
            <a:endParaRPr lang="en-US" sz="1100" dirty="0"/>
          </a:p>
        </p:txBody>
      </p:sp>
      <p:sp>
        <p:nvSpPr>
          <p:cNvPr id="46" name="Text 43"/>
          <p:cNvSpPr/>
          <p:nvPr/>
        </p:nvSpPr>
        <p:spPr>
          <a:xfrm>
            <a:off x="8537296" y="5239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Markets in Crypto-Assets</a:t>
            </a:r>
            <a:endParaRPr lang="en-US" sz="1050" dirty="0"/>
          </a:p>
        </p:txBody>
      </p:sp>
      <p:sp>
        <p:nvSpPr>
          <p:cNvPr id="47" name="Text 44"/>
          <p:cNvSpPr/>
          <p:nvPr/>
        </p:nvSpPr>
        <p:spPr>
          <a:xfrm>
            <a:off x="6461608" y="5550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El marco regulatorio de criptoactivos de la Unión Europea.</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A</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50 MINUTOS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ESCALABILIDAD E INTEROPERABILIDAD</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Ethereum procesa pocas transacciones por segundo, y a veces caras. Escalar sin perder su seguridad es el gran problema técnico abierto.</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16 · ESCALABILIDAD Y REGULACIÓN</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 · DE VUELTA AL TRILEMA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POR QUÉ LA CAPA BASE NO ESCALA SOLA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16 · ESCALABILIDAD Y REGULACIÓN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06</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Recordando la Sesión 4: descentralización, seguridad y escala, elige dos. Ethereum eligió las dos primeras. Procesar más transacciones por bloque exigiría nodos más potentes, y eso reduce cuántos pueden participar.</a:t>
            </a:r>
            <a:endParaRPr lang="en-US" sz="1450" dirty="0"/>
          </a:p>
        </p:txBody>
      </p:sp>
      <p:sp>
        <p:nvSpPr>
          <p:cNvPr id="9" name="Shape 6"/>
          <p:cNvSpPr/>
          <p:nvPr/>
        </p:nvSpPr>
        <p:spPr>
          <a:xfrm>
            <a:off x="566928" y="2788920"/>
            <a:ext cx="11057839" cy="114300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10" name="Text 7"/>
          <p:cNvSpPr/>
          <p:nvPr/>
        </p:nvSpPr>
        <p:spPr>
          <a:xfrm>
            <a:off x="950976" y="2971800"/>
            <a:ext cx="10289743" cy="777240"/>
          </a:xfrm>
          <a:prstGeom prst="rect">
            <a:avLst/>
          </a:prstGeom>
          <a:noFill/>
          <a:ln/>
        </p:spPr>
        <p:txBody>
          <a:bodyPr wrap="square" lIns="0" tIns="0" rIns="0" bIns="0" rtlCol="0" anchor="ctr"/>
          <a:lstStyle/>
          <a:p>
            <a:pPr indent="0" marL="0">
              <a:lnSpc>
                <a:spcPct val="106000"/>
              </a:lnSpc>
              <a:buNone/>
            </a:pPr>
            <a:r>
              <a:rPr lang="en-US" sz="1900" dirty="0">
                <a:solidFill>
                  <a:srgbClr val="0F0F11"/>
                </a:solidFill>
                <a:latin typeface="Arial Black" pitchFamily="34" charset="0"/>
                <a:ea typeface="Arial Black" pitchFamily="34" charset="-122"/>
                <a:cs typeface="Arial Black" pitchFamily="34" charset="-120"/>
              </a:rPr>
              <a:t>Subir la escala en la capa base se paga en descentralización. Así que la escala se busca en otra parte: encima.</a:t>
            </a:r>
            <a:endParaRPr lang="en-US" sz="1900" dirty="0"/>
          </a:p>
        </p:txBody>
      </p:sp>
      <p:sp>
        <p:nvSpPr>
          <p:cNvPr id="11" name="Text 8"/>
          <p:cNvSpPr/>
          <p:nvPr/>
        </p:nvSpPr>
        <p:spPr>
          <a:xfrm>
            <a:off x="566928" y="4160520"/>
            <a:ext cx="11057839" cy="86868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La idea que organiza toda la sesión: dejar la capa base como una corte suprema —lenta, cara, pero máximamente segura— y mover el trabajo diario a capas de encima que se apoyan en ella.</a:t>
            </a:r>
            <a:endParaRPr lang="en-US" sz="1350" dirty="0"/>
          </a:p>
        </p:txBody>
      </p:sp>
      <p:sp>
        <p:nvSpPr>
          <p:cNvPr id="12" name="Shape 9"/>
          <p:cNvSpPr/>
          <p:nvPr/>
        </p:nvSpPr>
        <p:spPr>
          <a:xfrm>
            <a:off x="566928" y="5074920"/>
            <a:ext cx="11057839" cy="105156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3" name="Image 1" descr="preencoded.png">    </p:cNvPr>
          <p:cNvPicPr>
            <a:picLocks noChangeAspect="1"/>
          </p:cNvPicPr>
          <p:nvPr/>
        </p:nvPicPr>
        <p:blipFill>
          <a:blip r:embed="rId2"/>
          <a:stretch>
            <a:fillRect/>
          </a:stretch>
        </p:blipFill>
        <p:spPr>
          <a:xfrm>
            <a:off x="804672" y="5294376"/>
            <a:ext cx="237744" cy="237744"/>
          </a:xfrm>
          <a:prstGeom prst="rect">
            <a:avLst/>
          </a:prstGeom>
        </p:spPr>
      </p:pic>
      <p:sp>
        <p:nvSpPr>
          <p:cNvPr id="14" name="Text 10"/>
          <p:cNvSpPr/>
          <p:nvPr/>
        </p:nvSpPr>
        <p:spPr>
          <a:xfrm>
            <a:off x="1133856" y="526694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LA ANALOGÍA ÚTIL</a:t>
            </a:r>
            <a:endParaRPr lang="en-US" sz="950" dirty="0"/>
          </a:p>
        </p:txBody>
      </p:sp>
      <p:sp>
        <p:nvSpPr>
          <p:cNvPr id="15" name="Text 11"/>
          <p:cNvSpPr/>
          <p:nvPr/>
        </p:nvSpPr>
        <p:spPr>
          <a:xfrm>
            <a:off x="804672" y="5586984"/>
            <a:ext cx="10582351" cy="44805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La capa base es la corte suprema: no se acude a ella para todo, pero su palabra es final. Las capas 2 son los juzgados del día a día que apelan a ella.</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 · LA IDEA DE CAPA 2</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TRABAJAR AFUERA, LIQUIDAR ADENTRO</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16 · ESCALABILIDAD Y REGULACIÓN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07</a:t>
            </a:r>
            <a:endParaRPr lang="en-US" sz="900" dirty="0"/>
          </a:p>
        </p:txBody>
      </p:sp>
      <p:sp>
        <p:nvSpPr>
          <p:cNvPr id="8" name="Shape 5"/>
          <p:cNvSpPr/>
          <p:nvPr/>
        </p:nvSpPr>
        <p:spPr>
          <a:xfrm>
            <a:off x="566928" y="2011680"/>
            <a:ext cx="5212080" cy="1371600"/>
          </a:xfrm>
          <a:prstGeom prst="rect">
            <a:avLst/>
          </a:prstGeom>
          <a:solidFill>
            <a:srgbClr val="FFFFFF"/>
          </a:solidFill>
          <a:ln w="22225">
            <a:solidFill>
              <a:srgbClr val="F07F06"/>
            </a:solidFill>
            <a:prstDash val="solid"/>
          </a:ln>
        </p:spPr>
      </p:sp>
      <p:sp>
        <p:nvSpPr>
          <p:cNvPr id="9" name="Text 6"/>
          <p:cNvSpPr/>
          <p:nvPr/>
        </p:nvSpPr>
        <p:spPr>
          <a:xfrm>
            <a:off x="658368" y="2103120"/>
            <a:ext cx="502920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CAPA 2</a:t>
            </a:r>
            <a:endParaRPr lang="en-US" sz="1100" dirty="0"/>
          </a:p>
        </p:txBody>
      </p:sp>
      <p:sp>
        <p:nvSpPr>
          <p:cNvPr id="10" name="Text 7"/>
          <p:cNvSpPr/>
          <p:nvPr/>
        </p:nvSpPr>
        <p:spPr>
          <a:xfrm>
            <a:off x="658368" y="2414016"/>
            <a:ext cx="5029200" cy="896112"/>
          </a:xfrm>
          <a:prstGeom prst="rect">
            <a:avLst/>
          </a:prstGeom>
          <a:noFill/>
          <a:ln/>
        </p:spPr>
        <p:txBody>
          <a:bodyPr wrap="square" lIns="0" tIns="0" rIns="0" bIns="0" rtlCol="0" anchor="t"/>
          <a:lstStyle/>
          <a:p>
            <a:pPr algn="ctr" indent="0" marL="0">
              <a:lnSpc>
                <a:spcPct val="110000"/>
              </a:lnSpc>
              <a:buNone/>
            </a:pPr>
            <a:r>
              <a:rPr lang="en-US" sz="1200" dirty="0">
                <a:solidFill>
                  <a:srgbClr val="6F6B80"/>
                </a:solidFill>
                <a:latin typeface="Arial" pitchFamily="34" charset="0"/>
                <a:ea typeface="Arial" pitchFamily="34" charset="-122"/>
                <a:cs typeface="Arial" pitchFamily="34" charset="-120"/>
              </a:rPr>
              <a:t>miles de transacciones</a:t>
            </a:r>
            <a:endParaRPr lang="en-US" sz="1200" dirty="0"/>
          </a:p>
          <a:p>
            <a:pPr algn="ctr" indent="0" marL="0">
              <a:lnSpc>
                <a:spcPct val="110000"/>
              </a:lnSpc>
              <a:buNone/>
            </a:pPr>
            <a:r>
              <a:rPr lang="en-US" sz="1200" dirty="0">
                <a:solidFill>
                  <a:srgbClr val="6F6B80"/>
                </a:solidFill>
                <a:latin typeface="Arial" pitchFamily="34" charset="0"/>
                <a:ea typeface="Arial" pitchFamily="34" charset="-122"/>
                <a:cs typeface="Arial" pitchFamily="34" charset="-120"/>
              </a:rPr>
              <a:t>baratas y rápidas</a:t>
            </a:r>
            <a:endParaRPr lang="en-US" sz="1200" dirty="0"/>
          </a:p>
        </p:txBody>
      </p:sp>
      <p:sp>
        <p:nvSpPr>
          <p:cNvPr id="11" name="Shape 8"/>
          <p:cNvSpPr/>
          <p:nvPr/>
        </p:nvSpPr>
        <p:spPr>
          <a:xfrm>
            <a:off x="3172968" y="3383280"/>
            <a:ext cx="914" cy="548640"/>
          </a:xfrm>
          <a:prstGeom prst="line">
            <a:avLst/>
          </a:prstGeom>
          <a:noFill/>
          <a:ln w="25400">
            <a:solidFill>
              <a:srgbClr val="0F0F11"/>
            </a:solidFill>
            <a:prstDash val="solid"/>
            <a:tailEnd type="triangle"/>
          </a:ln>
        </p:spPr>
      </p:sp>
      <p:sp>
        <p:nvSpPr>
          <p:cNvPr id="12" name="Text 9"/>
          <p:cNvSpPr/>
          <p:nvPr/>
        </p:nvSpPr>
        <p:spPr>
          <a:xfrm>
            <a:off x="3310128" y="3520440"/>
            <a:ext cx="4114800" cy="292608"/>
          </a:xfrm>
          <a:prstGeom prst="rect">
            <a:avLst/>
          </a:prstGeom>
          <a:noFill/>
          <a:ln/>
        </p:spPr>
        <p:txBody>
          <a:bodyPr wrap="square" lIns="0" tIns="0" rIns="0" bIns="0" rtlCol="0" anchor="ctr"/>
          <a:lstStyle/>
          <a:p>
            <a:pPr indent="0" marL="0">
              <a:buNone/>
            </a:pPr>
            <a:r>
              <a:rPr lang="en-US" sz="900" b="1" spc="130" kern="0" dirty="0">
                <a:solidFill>
                  <a:srgbClr val="6F6B80"/>
                </a:solidFill>
                <a:latin typeface="Courier New" pitchFamily="34" charset="0"/>
                <a:ea typeface="Courier New" pitchFamily="34" charset="-122"/>
                <a:cs typeface="Courier New" pitchFamily="34" charset="-120"/>
              </a:rPr>
              <a:t>PUBLICA EL RESUMEN COMPRIMIDO</a:t>
            </a:r>
            <a:endParaRPr lang="en-US" sz="900" dirty="0"/>
          </a:p>
        </p:txBody>
      </p:sp>
      <p:sp>
        <p:nvSpPr>
          <p:cNvPr id="13" name="Shape 10"/>
          <p:cNvSpPr/>
          <p:nvPr/>
        </p:nvSpPr>
        <p:spPr>
          <a:xfrm>
            <a:off x="566928" y="3931920"/>
            <a:ext cx="5212080" cy="1371600"/>
          </a:xfrm>
          <a:prstGeom prst="rect">
            <a:avLst/>
          </a:prstGeom>
          <a:solidFill>
            <a:srgbClr val="FAF9FB"/>
          </a:solidFill>
          <a:ln w="22225">
            <a:solidFill>
              <a:srgbClr val="7152E9"/>
            </a:solidFill>
            <a:prstDash val="solid"/>
          </a:ln>
        </p:spPr>
      </p:sp>
      <p:sp>
        <p:nvSpPr>
          <p:cNvPr id="14" name="Text 11"/>
          <p:cNvSpPr/>
          <p:nvPr/>
        </p:nvSpPr>
        <p:spPr>
          <a:xfrm>
            <a:off x="658368" y="4023360"/>
            <a:ext cx="502920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CAPA 1 · ETHEREUM</a:t>
            </a:r>
            <a:endParaRPr lang="en-US" sz="1100" dirty="0"/>
          </a:p>
        </p:txBody>
      </p:sp>
      <p:sp>
        <p:nvSpPr>
          <p:cNvPr id="15" name="Text 12"/>
          <p:cNvSpPr/>
          <p:nvPr/>
        </p:nvSpPr>
        <p:spPr>
          <a:xfrm>
            <a:off x="658368" y="4334256"/>
            <a:ext cx="5029200" cy="896112"/>
          </a:xfrm>
          <a:prstGeom prst="rect">
            <a:avLst/>
          </a:prstGeom>
          <a:noFill/>
          <a:ln/>
        </p:spPr>
        <p:txBody>
          <a:bodyPr wrap="square" lIns="0" tIns="0" rIns="0" bIns="0" rtlCol="0" anchor="t"/>
          <a:lstStyle/>
          <a:p>
            <a:pPr algn="ctr" indent="0" marL="0">
              <a:lnSpc>
                <a:spcPct val="110000"/>
              </a:lnSpc>
              <a:buNone/>
            </a:pPr>
            <a:r>
              <a:rPr lang="en-US" sz="1200" dirty="0">
                <a:solidFill>
                  <a:srgbClr val="6F6B80"/>
                </a:solidFill>
                <a:latin typeface="Arial" pitchFamily="34" charset="0"/>
                <a:ea typeface="Arial" pitchFamily="34" charset="-122"/>
                <a:cs typeface="Arial" pitchFamily="34" charset="-120"/>
              </a:rPr>
              <a:t>guarda el resumen y</a:t>
            </a:r>
            <a:endParaRPr lang="en-US" sz="1200" dirty="0"/>
          </a:p>
          <a:p>
            <a:pPr algn="ctr" indent="0" marL="0">
              <a:lnSpc>
                <a:spcPct val="110000"/>
              </a:lnSpc>
              <a:buNone/>
            </a:pPr>
            <a:r>
              <a:rPr lang="en-US" sz="1200" dirty="0">
                <a:solidFill>
                  <a:srgbClr val="6F6B80"/>
                </a:solidFill>
                <a:latin typeface="Arial" pitchFamily="34" charset="0"/>
                <a:ea typeface="Arial" pitchFamily="34" charset="-122"/>
                <a:cs typeface="Arial" pitchFamily="34" charset="-120"/>
              </a:rPr>
              <a:t>aporta la seguridad</a:t>
            </a:r>
            <a:endParaRPr lang="en-US" sz="1200" dirty="0"/>
          </a:p>
        </p:txBody>
      </p:sp>
      <p:sp>
        <p:nvSpPr>
          <p:cNvPr id="16" name="Text 13"/>
          <p:cNvSpPr/>
          <p:nvPr/>
        </p:nvSpPr>
        <p:spPr>
          <a:xfrm>
            <a:off x="6144768" y="2011680"/>
            <a:ext cx="5479999" cy="3291840"/>
          </a:xfrm>
          <a:prstGeom prst="rect">
            <a:avLst/>
          </a:prstGeom>
          <a:noFill/>
          <a:ln/>
        </p:spPr>
        <p:txBody>
          <a:bodyPr wrap="square" lIns="0" tIns="0" rIns="0" bIns="0" rtlCol="0" anchor="t"/>
          <a:lstStyle/>
          <a:p>
            <a:pPr marL="203200" indent="-203200">
              <a:lnSpc>
                <a:spcPct val="118000"/>
              </a:lnSpc>
              <a:spcAft>
                <a:spcPts val="900"/>
              </a:spcAft>
              <a:buSzPct val="100000"/>
              <a:buChar char="■"/>
            </a:pPr>
            <a:r>
              <a:rPr lang="en-US" sz="1300" dirty="0">
                <a:solidFill>
                  <a:srgbClr val="3A3844"/>
                </a:solidFill>
                <a:latin typeface="Arial" pitchFamily="34" charset="0"/>
                <a:ea typeface="Arial" pitchFamily="34" charset="-122"/>
                <a:cs typeface="Arial" pitchFamily="34" charset="-120"/>
              </a:rPr>
              <a:t>Las transacciones ocurren en la L2: rápidas y baratas.</a:t>
            </a:r>
            <a:endParaRPr lang="en-US" sz="1300" dirty="0"/>
          </a:p>
          <a:p>
            <a:pPr marL="203200" indent="-203200">
              <a:lnSpc>
                <a:spcPct val="118000"/>
              </a:lnSpc>
              <a:spcAft>
                <a:spcPts val="900"/>
              </a:spcAft>
              <a:buSzPct val="100000"/>
              <a:buChar char="■"/>
            </a:pPr>
            <a:r>
              <a:rPr lang="en-US" sz="1300" dirty="0">
                <a:solidFill>
                  <a:srgbClr val="3A3844"/>
                </a:solidFill>
                <a:latin typeface="Arial" pitchFamily="34" charset="0"/>
                <a:ea typeface="Arial" pitchFamily="34" charset="-122"/>
                <a:cs typeface="Arial" pitchFamily="34" charset="-120"/>
              </a:rPr>
              <a:t>La L2 publica en la L1 solo un resumen de lo que pasó.</a:t>
            </a:r>
            <a:endParaRPr lang="en-US" sz="1300" dirty="0"/>
          </a:p>
          <a:p>
            <a:pPr marL="203200" indent="-203200">
              <a:lnSpc>
                <a:spcPct val="118000"/>
              </a:lnSpc>
              <a:spcAft>
                <a:spcPts val="900"/>
              </a:spcAft>
              <a:buSzPct val="100000"/>
              <a:buChar char="■"/>
            </a:pPr>
            <a:r>
              <a:rPr lang="en-US" sz="1300" dirty="0">
                <a:solidFill>
                  <a:srgbClr val="3A3844"/>
                </a:solidFill>
                <a:latin typeface="Arial" pitchFamily="34" charset="0"/>
                <a:ea typeface="Arial" pitchFamily="34" charset="-122"/>
                <a:cs typeface="Arial" pitchFamily="34" charset="-120"/>
              </a:rPr>
              <a:t>La seguridad la sigue dando la L1: la L2 la hereda.</a:t>
            </a:r>
            <a:endParaRPr lang="en-US" sz="1300" dirty="0"/>
          </a:p>
          <a:p>
            <a:pPr marL="203200" indent="-203200">
              <a:lnSpc>
                <a:spcPct val="118000"/>
              </a:lnSpc>
              <a:spcAft>
                <a:spcPts val="900"/>
              </a:spcAft>
              <a:buSzPct val="100000"/>
              <a:buChar char="■"/>
            </a:pPr>
            <a:r>
              <a:rPr lang="en-US" sz="1300" dirty="0">
                <a:solidFill>
                  <a:srgbClr val="3A3844"/>
                </a:solidFill>
                <a:latin typeface="Arial" pitchFamily="34" charset="0"/>
                <a:ea typeface="Arial" pitchFamily="34" charset="-122"/>
                <a:cs typeface="Arial" pitchFamily="34" charset="-120"/>
              </a:rPr>
              <a:t>Resultado: cientos de veces más barato, sin renunciar del todo a la seguridad de Ethereum.</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A.3 · DOS FAMILIAS DE ROLLUP</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OPTIMISTA FRENTE A CONOCIMIENTO CERO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16 · ESCALABILIDAD Y REGULACIÓN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103120"/>
                <a:gridCol w="4480560"/>
                <a:gridCol w="4474159"/>
              </a:tblGrid>
              <a:tr h="310896">
                <a:tc>
                  <a:txBody>
                    <a:bodyPr/>
                    <a:lstStyle/>
                    <a:p>
                      <a:pPr indent="0" marL="0">
                        <a:buNone/>
                      </a:pP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ROLLUP OPTIMISTA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ZK-ROLLUP</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77901">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Suposición</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Las transacciones son válidas, salvo que se demuestre lo contrario.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Cada lote trae una prueba criptográfica de que es válido.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77901">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Cómo se confía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Hay un plazo para impugnar con una prueba de fraude.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prueba se verifica al instante: no hay que confiar.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77901">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Retiro a la L1</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Lento: hay que esperar el plazo de impugnación (días).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Rápido: en cuanto se verifica la prueba.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77901">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Complejidad</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Más simple de construir.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Matemática pesada; era caro de generar, cada vez menos.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77901">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Ejemplos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Arbitrum, Optimism, Base.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zkSync, Starknet, Polygon zkEVM.</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3236976"/>
          </a:xfrm>
          <a:prstGeom prst="rect">
            <a:avLst/>
          </a:prstGeom>
          <a:ln w="22225">
            <a:solidFill>
              <a:srgbClr val="0F0F11"/>
            </a:solidFill>
            <a:prstDash val="solid"/>
          </a:ln>
        </p:spPr>
      </p:sp>
      <p:sp>
        <p:nvSpPr>
          <p:cNvPr id="10" name="Shape 6"/>
          <p:cNvSpPr/>
          <p:nvPr/>
        </p:nvSpPr>
        <p:spPr>
          <a:xfrm>
            <a:off x="566928" y="5074920"/>
            <a:ext cx="11057839" cy="105156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1" name="Image 1" descr="preencoded.png">    </p:cNvPr>
          <p:cNvPicPr>
            <a:picLocks noChangeAspect="1"/>
          </p:cNvPicPr>
          <p:nvPr/>
        </p:nvPicPr>
        <p:blipFill>
          <a:blip r:embed="rId2"/>
          <a:stretch>
            <a:fillRect/>
          </a:stretch>
        </p:blipFill>
        <p:spPr>
          <a:xfrm>
            <a:off x="804672" y="5294376"/>
            <a:ext cx="237744" cy="237744"/>
          </a:xfrm>
          <a:prstGeom prst="rect">
            <a:avLst/>
          </a:prstGeom>
        </p:spPr>
      </p:pic>
      <p:sp>
        <p:nvSpPr>
          <p:cNvPr id="12" name="Text 7"/>
          <p:cNvSpPr/>
          <p:nvPr/>
        </p:nvSpPr>
        <p:spPr>
          <a:xfrm>
            <a:off x="1133856" y="526694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CONOCIMIENTO CERO, SIN LA MATEMÁTICA</a:t>
            </a:r>
            <a:endParaRPr lang="en-US" sz="950" dirty="0"/>
          </a:p>
        </p:txBody>
      </p:sp>
      <p:sp>
        <p:nvSpPr>
          <p:cNvPr id="13" name="Text 8"/>
          <p:cNvSpPr/>
          <p:nvPr/>
        </p:nvSpPr>
        <p:spPr>
          <a:xfrm>
            <a:off x="804672" y="5586984"/>
            <a:ext cx="10582351" cy="44805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Una prueba de conocimiento cero demuestra que algo es cierto sin revelar por qué. Aquí: «este lote es válido», sin reejecutarlo. Es la frontera más activa del ecosistema.</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A.4 · OTRAS CAPAS BASE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400" dirty="0">
                <a:solidFill>
                  <a:srgbClr val="0F0F11"/>
                </a:solidFill>
                <a:latin typeface="Arial Black" pitchFamily="34" charset="0"/>
                <a:ea typeface="Arial Black" pitchFamily="34" charset="-122"/>
                <a:cs typeface="Arial Black" pitchFamily="34" charset="-120"/>
              </a:rPr>
              <a:t>NO TODO ES ETHEREUM, Y «COMPATIBLE CON LA EVM»</a:t>
            </a:r>
            <a:endParaRPr lang="en-US" sz="24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16 · ESCALABILIDAD Y REGULACIÓN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09</a:t>
            </a:r>
            <a:endParaRPr lang="en-US" sz="900" dirty="0"/>
          </a:p>
        </p:txBody>
      </p:sp>
      <p:sp>
        <p:nvSpPr>
          <p:cNvPr id="8" name="Text 5"/>
          <p:cNvSpPr/>
          <p:nvPr/>
        </p:nvSpPr>
        <p:spPr>
          <a:xfrm>
            <a:off x="566928" y="1737360"/>
            <a:ext cx="11057839" cy="82296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Existen otras L1 con compromisos distintos del trilema: algunas priorizan velocidad sobre descentralización. La pregunta clave al mirarlas es qué sacrificaron.</a:t>
            </a:r>
            <a:endParaRPr lang="en-US" sz="1450" dirty="0"/>
          </a:p>
        </p:txBody>
      </p:sp>
      <p:sp>
        <p:nvSpPr>
          <p:cNvPr id="9" name="Shape 6"/>
          <p:cNvSpPr/>
          <p:nvPr/>
        </p:nvSpPr>
        <p:spPr>
          <a:xfrm>
            <a:off x="566928" y="2697480"/>
            <a:ext cx="5391760" cy="21945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0" name="Text 7"/>
          <p:cNvSpPr/>
          <p:nvPr/>
        </p:nvSpPr>
        <p:spPr>
          <a:xfrm>
            <a:off x="841248" y="288036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EL ESPECTRO DE OTRAS L1</a:t>
            </a:r>
            <a:endParaRPr lang="en-US" sz="1050" dirty="0"/>
          </a:p>
        </p:txBody>
      </p:sp>
      <p:sp>
        <p:nvSpPr>
          <p:cNvPr id="11" name="Text 8"/>
          <p:cNvSpPr/>
          <p:nvPr/>
        </p:nvSpPr>
        <p:spPr>
          <a:xfrm>
            <a:off x="841248" y="3264408"/>
            <a:ext cx="4843120" cy="146304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Algunas ofrecen miles de transacciones por segundo con muy pocos validadores potentes: más rápidas, menos descentralizadas. Otras exploran arquitecturas nuevas. Cada una es un punto distinto del trilema de la Sesión 4.</a:t>
            </a:r>
            <a:endParaRPr lang="en-US" sz="1250" dirty="0"/>
          </a:p>
        </p:txBody>
      </p:sp>
      <p:sp>
        <p:nvSpPr>
          <p:cNvPr id="12" name="Shape 9"/>
          <p:cNvSpPr/>
          <p:nvPr/>
        </p:nvSpPr>
        <p:spPr>
          <a:xfrm>
            <a:off x="6233008" y="2697480"/>
            <a:ext cx="5391760" cy="219456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3" name="Text 10"/>
          <p:cNvSpPr/>
          <p:nvPr/>
        </p:nvSpPr>
        <p:spPr>
          <a:xfrm>
            <a:off x="6507328" y="288036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«COMPATIBLE CON LA EVM»</a:t>
            </a:r>
            <a:endParaRPr lang="en-US" sz="1050" dirty="0"/>
          </a:p>
        </p:txBody>
      </p:sp>
      <p:sp>
        <p:nvSpPr>
          <p:cNvPr id="14" name="Text 11"/>
          <p:cNvSpPr/>
          <p:nvPr/>
        </p:nvSpPr>
        <p:spPr>
          <a:xfrm>
            <a:off x="6507328" y="3264408"/>
            <a:ext cx="4843120" cy="146304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Muchas corren el MISMO bytecode que Ethereum. Eso significa que el contrato que ustedes escribieron en Solidity funciona ahí sin reescribir: se despliega igual. Es la razón de que la EVM sea un estándar de facto.</a:t>
            </a:r>
            <a:endParaRPr lang="en-US" sz="1250" dirty="0"/>
          </a:p>
        </p:txBody>
      </p:sp>
      <p:sp>
        <p:nvSpPr>
          <p:cNvPr id="15" name="Text 12"/>
          <p:cNvSpPr/>
          <p:nvPr/>
        </p:nvSpPr>
        <p:spPr>
          <a:xfrm>
            <a:off x="566928" y="5074920"/>
            <a:ext cx="11057839" cy="54864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Para el proyecto: lo que aprendieron es transferible. El mismo contrato corre en Ethereum, en sus L2 y en muchas otras cadenas compatibles.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A.5 · PUENTES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MOVER ACTIVOS ENTRE CADENAS: EL PUNTO MÁS FRÁGIL</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16 · ESCALABILIDAD Y REGULACIÓN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10</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Cada cadena es un mundo cerrado. Un puente mueve activos entre dos: bloquea el activo en la cadena de origen y emite una representación en la de destino. Suena simple. Es donde ocurren los mayores robos del ecosistema.</a:t>
            </a:r>
            <a:endParaRPr lang="en-US" sz="1400" dirty="0"/>
          </a:p>
        </p:txBody>
      </p:sp>
      <p:sp>
        <p:nvSpPr>
          <p:cNvPr id="9" name="Shape 6"/>
          <p:cNvSpPr/>
          <p:nvPr/>
        </p:nvSpPr>
        <p:spPr>
          <a:xfrm>
            <a:off x="566928" y="2697480"/>
            <a:ext cx="5391760" cy="228600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10" name="Text 7"/>
          <p:cNvSpPr/>
          <p:nvPr/>
        </p:nvSpPr>
        <p:spPr>
          <a:xfrm>
            <a:off x="841248" y="288036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POR QUÉ SON TAN ATACADOS</a:t>
            </a:r>
            <a:endParaRPr lang="en-US" sz="1050" dirty="0"/>
          </a:p>
        </p:txBody>
      </p:sp>
      <p:sp>
        <p:nvSpPr>
          <p:cNvPr id="11" name="Text 8"/>
          <p:cNvSpPr/>
          <p:nvPr/>
        </p:nvSpPr>
        <p:spPr>
          <a:xfrm>
            <a:off x="841248" y="3264408"/>
            <a:ext cx="4843120" cy="15544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Un puente custodia, en un solo lugar, todo el valor bloqueado de los dos lados. Es un pozo de dinero enorme con lógica compleja. Varios de los robos más grandes de la historia —cientos de millones cada uno— fueron a puentes.</a:t>
            </a:r>
            <a:endParaRPr lang="en-US" sz="1250" dirty="0"/>
          </a:p>
        </p:txBody>
      </p:sp>
      <p:sp>
        <p:nvSpPr>
          <p:cNvPr id="12" name="Shape 9"/>
          <p:cNvSpPr/>
          <p:nvPr/>
        </p:nvSpPr>
        <p:spPr>
          <a:xfrm>
            <a:off x="6233008" y="2697480"/>
            <a:ext cx="5391760" cy="22860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3" name="Text 10"/>
          <p:cNvSpPr/>
          <p:nvPr/>
        </p:nvSpPr>
        <p:spPr>
          <a:xfrm>
            <a:off x="6507328" y="288036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QUÉ MIRAR ANTES DE USAR UNO</a:t>
            </a:r>
            <a:endParaRPr lang="en-US" sz="1050" dirty="0"/>
          </a:p>
        </p:txBody>
      </p:sp>
      <p:sp>
        <p:nvSpPr>
          <p:cNvPr id="14" name="Text 11"/>
          <p:cNvSpPr/>
          <p:nvPr/>
        </p:nvSpPr>
        <p:spPr>
          <a:xfrm>
            <a:off x="6507328" y="3264408"/>
            <a:ext cx="4843120" cy="15544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Quién custodia los fondos y bajo qué reglas. Si es un multisig, quiénes firman. Si es un contrato, si está auditado. La pregunta de siempre: ¿a quién le estoy confiando esto, y qué pasa si falla?</a:t>
            </a:r>
            <a:endParaRPr lang="en-US" sz="1250" dirty="0"/>
          </a:p>
        </p:txBody>
      </p:sp>
      <p:sp>
        <p:nvSpPr>
          <p:cNvPr id="15" name="Shape 12"/>
          <p:cNvSpPr/>
          <p:nvPr/>
        </p:nvSpPr>
        <p:spPr>
          <a:xfrm>
            <a:off x="566928" y="5029200"/>
            <a:ext cx="11057839" cy="105156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pic>
        <p:nvPicPr>
          <p:cNvPr id="16" name="Image 1" descr="preencoded.png">    </p:cNvPr>
          <p:cNvPicPr>
            <a:picLocks noChangeAspect="1"/>
          </p:cNvPicPr>
          <p:nvPr/>
        </p:nvPicPr>
        <p:blipFill>
          <a:blip r:embed="rId2"/>
          <a:stretch>
            <a:fillRect/>
          </a:stretch>
        </p:blipFill>
        <p:spPr>
          <a:xfrm>
            <a:off x="804672" y="5248656"/>
            <a:ext cx="237744" cy="237744"/>
          </a:xfrm>
          <a:prstGeom prst="rect">
            <a:avLst/>
          </a:prstGeom>
        </p:spPr>
      </p:pic>
      <p:sp>
        <p:nvSpPr>
          <p:cNvPr id="17" name="Text 13"/>
          <p:cNvSpPr/>
          <p:nvPr/>
        </p:nvSpPr>
        <p:spPr>
          <a:xfrm>
            <a:off x="1133856" y="5221224"/>
            <a:ext cx="10234879" cy="292608"/>
          </a:xfrm>
          <a:prstGeom prst="rect">
            <a:avLst/>
          </a:prstGeom>
          <a:noFill/>
          <a:ln/>
        </p:spPr>
        <p:txBody>
          <a:bodyPr wrap="square" lIns="0" tIns="0" rIns="0" bIns="0" rtlCol="0" anchor="ctr"/>
          <a:lstStyle/>
          <a:p>
            <a:pPr indent="0" marL="0">
              <a:buNone/>
            </a:pPr>
            <a:r>
              <a:rPr lang="en-US" sz="950" b="1" spc="150" kern="0" dirty="0">
                <a:solidFill>
                  <a:srgbClr val="B3261E"/>
                </a:solidFill>
                <a:latin typeface="Courier New" pitchFamily="34" charset="0"/>
                <a:ea typeface="Courier New" pitchFamily="34" charset="-122"/>
                <a:cs typeface="Courier New" pitchFamily="34" charset="-120"/>
              </a:rPr>
              <a:t>LA REGLA PRÁCTICA</a:t>
            </a:r>
            <a:endParaRPr lang="en-US" sz="950" dirty="0"/>
          </a:p>
        </p:txBody>
      </p:sp>
      <p:sp>
        <p:nvSpPr>
          <p:cNvPr id="18" name="Text 14"/>
          <p:cNvSpPr/>
          <p:nvPr/>
        </p:nvSpPr>
        <p:spPr>
          <a:xfrm>
            <a:off x="804672" y="5541264"/>
            <a:ext cx="10582351" cy="44805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Un puente concentra riesgo por diseño. Si el proyecto puede vivir en una sola cadena, casi siempre es mejor. Cruzar cadenas es una decisión de riesgo, no solo técnica.</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A.6 · LO QUE HAY QUE LLEVARSE DEL BLOQUE 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CINCO IDEAS SOBRE ESCALA</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16 · ESCALABILIDAD Y REGULACIÓN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11</a:t>
            </a:r>
            <a:endParaRPr lang="en-US" sz="900" dirty="0"/>
          </a:p>
        </p:txBody>
      </p:sp>
      <p:sp>
        <p:nvSpPr>
          <p:cNvPr id="8" name="Text 5"/>
          <p:cNvSpPr/>
          <p:nvPr/>
        </p:nvSpPr>
        <p:spPr>
          <a:xfrm>
            <a:off x="566928" y="1737360"/>
            <a:ext cx="640080" cy="64008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01</a:t>
            </a:r>
            <a:endParaRPr lang="en-US" sz="2000" dirty="0"/>
          </a:p>
        </p:txBody>
      </p:sp>
      <p:sp>
        <p:nvSpPr>
          <p:cNvPr id="9" name="Text 6"/>
          <p:cNvSpPr/>
          <p:nvPr/>
        </p:nvSpPr>
        <p:spPr>
          <a:xfrm>
            <a:off x="1344168" y="1828800"/>
            <a:ext cx="10280599" cy="548640"/>
          </a:xfrm>
          <a:prstGeom prst="rect">
            <a:avLst/>
          </a:prstGeom>
          <a:noFill/>
          <a:ln/>
        </p:spPr>
        <p:txBody>
          <a:bodyPr wrap="square" lIns="0" tIns="0" rIns="0" bIns="0" rtlCol="0" anchor="ctr"/>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La capa base no escala sola sin sacrificar descentralización: la escala se busca encima.</a:t>
            </a:r>
            <a:endParaRPr lang="en-US" sz="1450" dirty="0"/>
          </a:p>
        </p:txBody>
      </p:sp>
      <p:sp>
        <p:nvSpPr>
          <p:cNvPr id="10" name="Shape 7"/>
          <p:cNvSpPr/>
          <p:nvPr/>
        </p:nvSpPr>
        <p:spPr>
          <a:xfrm>
            <a:off x="566928" y="2468880"/>
            <a:ext cx="11057839" cy="914"/>
          </a:xfrm>
          <a:prstGeom prst="line">
            <a:avLst/>
          </a:prstGeom>
          <a:noFill/>
          <a:ln w="12700">
            <a:solidFill>
              <a:srgbClr val="D9D6E0"/>
            </a:solidFill>
            <a:prstDash val="solid"/>
          </a:ln>
        </p:spPr>
      </p:sp>
      <p:sp>
        <p:nvSpPr>
          <p:cNvPr id="11" name="Text 8"/>
          <p:cNvSpPr/>
          <p:nvPr/>
        </p:nvSpPr>
        <p:spPr>
          <a:xfrm>
            <a:off x="566928" y="2542032"/>
            <a:ext cx="640080" cy="64008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02</a:t>
            </a:r>
            <a:endParaRPr lang="en-US" sz="2000" dirty="0"/>
          </a:p>
        </p:txBody>
      </p:sp>
      <p:sp>
        <p:nvSpPr>
          <p:cNvPr id="12" name="Text 9"/>
          <p:cNvSpPr/>
          <p:nvPr/>
        </p:nvSpPr>
        <p:spPr>
          <a:xfrm>
            <a:off x="1344168" y="2633472"/>
            <a:ext cx="10280599" cy="548640"/>
          </a:xfrm>
          <a:prstGeom prst="rect">
            <a:avLst/>
          </a:prstGeom>
          <a:noFill/>
          <a:ln/>
        </p:spPr>
        <p:txBody>
          <a:bodyPr wrap="square" lIns="0" tIns="0" rIns="0" bIns="0" rtlCol="0" anchor="ctr"/>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Una L2 procesa afuera y liquida adentro, heredando la seguridad de la L1.</a:t>
            </a:r>
            <a:endParaRPr lang="en-US" sz="1450" dirty="0"/>
          </a:p>
        </p:txBody>
      </p:sp>
      <p:sp>
        <p:nvSpPr>
          <p:cNvPr id="13" name="Shape 10"/>
          <p:cNvSpPr/>
          <p:nvPr/>
        </p:nvSpPr>
        <p:spPr>
          <a:xfrm>
            <a:off x="566928" y="3273552"/>
            <a:ext cx="11057839" cy="914"/>
          </a:xfrm>
          <a:prstGeom prst="line">
            <a:avLst/>
          </a:prstGeom>
          <a:noFill/>
          <a:ln w="12700">
            <a:solidFill>
              <a:srgbClr val="D9D6E0"/>
            </a:solidFill>
            <a:prstDash val="solid"/>
          </a:ln>
        </p:spPr>
      </p:sp>
      <p:sp>
        <p:nvSpPr>
          <p:cNvPr id="14" name="Text 11"/>
          <p:cNvSpPr/>
          <p:nvPr/>
        </p:nvSpPr>
        <p:spPr>
          <a:xfrm>
            <a:off x="566928" y="3346704"/>
            <a:ext cx="640080" cy="64008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03</a:t>
            </a:r>
            <a:endParaRPr lang="en-US" sz="2000" dirty="0"/>
          </a:p>
        </p:txBody>
      </p:sp>
      <p:sp>
        <p:nvSpPr>
          <p:cNvPr id="15" name="Text 12"/>
          <p:cNvSpPr/>
          <p:nvPr/>
        </p:nvSpPr>
        <p:spPr>
          <a:xfrm>
            <a:off x="1344168" y="3438144"/>
            <a:ext cx="10280599" cy="548640"/>
          </a:xfrm>
          <a:prstGeom prst="rect">
            <a:avLst/>
          </a:prstGeom>
          <a:noFill/>
          <a:ln/>
        </p:spPr>
        <p:txBody>
          <a:bodyPr wrap="square" lIns="0" tIns="0" rIns="0" bIns="0" rtlCol="0" anchor="ctr"/>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Optimista: confía y deja impugnar. ZK: prueba de validez, sin confiar ni esperar.</a:t>
            </a:r>
            <a:endParaRPr lang="en-US" sz="1450" dirty="0"/>
          </a:p>
        </p:txBody>
      </p:sp>
      <p:sp>
        <p:nvSpPr>
          <p:cNvPr id="16" name="Shape 13"/>
          <p:cNvSpPr/>
          <p:nvPr/>
        </p:nvSpPr>
        <p:spPr>
          <a:xfrm>
            <a:off x="566928" y="4078224"/>
            <a:ext cx="11057839" cy="914"/>
          </a:xfrm>
          <a:prstGeom prst="line">
            <a:avLst/>
          </a:prstGeom>
          <a:noFill/>
          <a:ln w="12700">
            <a:solidFill>
              <a:srgbClr val="D9D6E0"/>
            </a:solidFill>
            <a:prstDash val="solid"/>
          </a:ln>
        </p:spPr>
      </p:sp>
      <p:sp>
        <p:nvSpPr>
          <p:cNvPr id="17" name="Text 14"/>
          <p:cNvSpPr/>
          <p:nvPr/>
        </p:nvSpPr>
        <p:spPr>
          <a:xfrm>
            <a:off x="566928" y="4151376"/>
            <a:ext cx="640080" cy="64008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04</a:t>
            </a:r>
            <a:endParaRPr lang="en-US" sz="2000" dirty="0"/>
          </a:p>
        </p:txBody>
      </p:sp>
      <p:sp>
        <p:nvSpPr>
          <p:cNvPr id="18" name="Text 15"/>
          <p:cNvSpPr/>
          <p:nvPr/>
        </p:nvSpPr>
        <p:spPr>
          <a:xfrm>
            <a:off x="1344168" y="4242816"/>
            <a:ext cx="10280599" cy="548640"/>
          </a:xfrm>
          <a:prstGeom prst="rect">
            <a:avLst/>
          </a:prstGeom>
          <a:noFill/>
          <a:ln/>
        </p:spPr>
        <p:txBody>
          <a:bodyPr wrap="square" lIns="0" tIns="0" rIns="0" bIns="0" rtlCol="0" anchor="ctr"/>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«Compatible con la EVM» significa que su contrato corre sin reescribir en muchas cadenas.</a:t>
            </a:r>
            <a:endParaRPr lang="en-US" sz="1450" dirty="0"/>
          </a:p>
        </p:txBody>
      </p:sp>
      <p:sp>
        <p:nvSpPr>
          <p:cNvPr id="19" name="Shape 16"/>
          <p:cNvSpPr/>
          <p:nvPr/>
        </p:nvSpPr>
        <p:spPr>
          <a:xfrm>
            <a:off x="566928" y="4882896"/>
            <a:ext cx="11057839" cy="914"/>
          </a:xfrm>
          <a:prstGeom prst="line">
            <a:avLst/>
          </a:prstGeom>
          <a:noFill/>
          <a:ln w="12700">
            <a:solidFill>
              <a:srgbClr val="D9D6E0"/>
            </a:solidFill>
            <a:prstDash val="solid"/>
          </a:ln>
        </p:spPr>
      </p:sp>
      <p:sp>
        <p:nvSpPr>
          <p:cNvPr id="20" name="Text 17"/>
          <p:cNvSpPr/>
          <p:nvPr/>
        </p:nvSpPr>
        <p:spPr>
          <a:xfrm>
            <a:off x="566928" y="4956048"/>
            <a:ext cx="640080" cy="64008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05</a:t>
            </a:r>
            <a:endParaRPr lang="en-US" sz="2000" dirty="0"/>
          </a:p>
        </p:txBody>
      </p:sp>
      <p:sp>
        <p:nvSpPr>
          <p:cNvPr id="21" name="Text 18"/>
          <p:cNvSpPr/>
          <p:nvPr/>
        </p:nvSpPr>
        <p:spPr>
          <a:xfrm>
            <a:off x="1344168" y="5047488"/>
            <a:ext cx="10280599" cy="548640"/>
          </a:xfrm>
          <a:prstGeom prst="rect">
            <a:avLst/>
          </a:prstGeom>
          <a:noFill/>
          <a:ln/>
        </p:spPr>
        <p:txBody>
          <a:bodyPr wrap="square" lIns="0" tIns="0" rIns="0" bIns="0" rtlCol="0" anchor="ctr"/>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Los puentes concentran el valor y los robos: cruzar cadenas es una decisión de riesgo.</a:t>
            </a:r>
            <a:endParaRPr lang="en-US" sz="1450" dirty="0"/>
          </a:p>
        </p:txBody>
      </p:sp>
      <p:sp>
        <p:nvSpPr>
          <p:cNvPr id="22" name="Shape 19"/>
          <p:cNvSpPr/>
          <p:nvPr/>
        </p:nvSpPr>
        <p:spPr>
          <a:xfrm>
            <a:off x="566928" y="5687568"/>
            <a:ext cx="11057839" cy="914"/>
          </a:xfrm>
          <a:prstGeom prst="line">
            <a:avLst/>
          </a:prstGeom>
          <a:noFill/>
          <a:ln w="12700">
            <a:solidFill>
              <a:srgbClr val="D9D6E0"/>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B</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50 MINUTOS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MARCO REGULATORIO COLOMBIANO</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Una solución técnica impecable puede ser ilegal, cara de cumplir o sin efecto jurídico. Un ingeniero responsable conoce el terreno legal.</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16 · ESCALABILIDAD Y REGULACIÓN</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B.0 · ADVERTENCIA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ESTA PARTE CADUCA: VERIFÍQUELA ANTES DE CLASE</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16 · ESCALABILIDAD Y REGULACIÓN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13</a:t>
            </a:r>
            <a:endParaRPr lang="en-US" sz="900" dirty="0"/>
          </a:p>
        </p:txBody>
      </p:sp>
      <p:sp>
        <p:nvSpPr>
          <p:cNvPr id="8" name="Text 5"/>
          <p:cNvSpPr/>
          <p:nvPr/>
        </p:nvSpPr>
        <p:spPr>
          <a:xfrm>
            <a:off x="566928" y="1737360"/>
            <a:ext cx="11057839" cy="868680"/>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La regulación colombiana de criptoactivos ha estado en evolución activa. Lo que sigue es el marco general y las preguntas correctas, no una asesoría jurídica ni una foto vigente.</a:t>
            </a:r>
            <a:endParaRPr lang="en-US" sz="1450" dirty="0"/>
          </a:p>
        </p:txBody>
      </p:sp>
      <p:sp>
        <p:nvSpPr>
          <p:cNvPr id="9" name="Shape 6"/>
          <p:cNvSpPr/>
          <p:nvPr/>
        </p:nvSpPr>
        <p:spPr>
          <a:xfrm>
            <a:off x="566928" y="2834640"/>
            <a:ext cx="11057839" cy="146304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pic>
        <p:nvPicPr>
          <p:cNvPr id="10" name="Image 1" descr="preencoded.png">    </p:cNvPr>
          <p:cNvPicPr>
            <a:picLocks noChangeAspect="1"/>
          </p:cNvPicPr>
          <p:nvPr/>
        </p:nvPicPr>
        <p:blipFill>
          <a:blip r:embed="rId2"/>
          <a:stretch>
            <a:fillRect/>
          </a:stretch>
        </p:blipFill>
        <p:spPr>
          <a:xfrm>
            <a:off x="804672" y="3054096"/>
            <a:ext cx="237744" cy="237744"/>
          </a:xfrm>
          <a:prstGeom prst="rect">
            <a:avLst/>
          </a:prstGeom>
        </p:spPr>
      </p:pic>
      <p:sp>
        <p:nvSpPr>
          <p:cNvPr id="11" name="Text 7"/>
          <p:cNvSpPr/>
          <p:nvPr/>
        </p:nvSpPr>
        <p:spPr>
          <a:xfrm>
            <a:off x="1133856" y="3026664"/>
            <a:ext cx="10234879" cy="292608"/>
          </a:xfrm>
          <a:prstGeom prst="rect">
            <a:avLst/>
          </a:prstGeom>
          <a:noFill/>
          <a:ln/>
        </p:spPr>
        <p:txBody>
          <a:bodyPr wrap="square" lIns="0" tIns="0" rIns="0" bIns="0" rtlCol="0" anchor="ctr"/>
          <a:lstStyle/>
          <a:p>
            <a:pPr indent="0" marL="0">
              <a:buNone/>
            </a:pPr>
            <a:r>
              <a:rPr lang="en-US" sz="950" b="1" spc="150" kern="0" dirty="0">
                <a:solidFill>
                  <a:srgbClr val="B3261E"/>
                </a:solidFill>
                <a:latin typeface="Courier New" pitchFamily="34" charset="0"/>
                <a:ea typeface="Courier New" pitchFamily="34" charset="-122"/>
                <a:cs typeface="Courier New" pitchFamily="34" charset="-120"/>
              </a:rPr>
              <a:t>ANTES DE DICTAR ESTA SESIÓN</a:t>
            </a:r>
            <a:endParaRPr lang="en-US" sz="950" dirty="0"/>
          </a:p>
        </p:txBody>
      </p:sp>
      <p:sp>
        <p:nvSpPr>
          <p:cNvPr id="12" name="Text 8"/>
          <p:cNvSpPr/>
          <p:nvPr/>
        </p:nvSpPr>
        <p:spPr>
          <a:xfrm>
            <a:off x="804672" y="3346704"/>
            <a:ext cx="10582351" cy="859536"/>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Verificar el estado vigente de la normativa (UIAF, DIAN, Superintendencia Financiera, proyectos de ley en curso) y actualizar las referencias. Se recomienda fuertemente invitar a un profesional del área jurídica o financiera. El docente NO es la fuente de verdad legal.</a:t>
            </a:r>
            <a:endParaRPr lang="en-US" sz="1350" dirty="0"/>
          </a:p>
        </p:txBody>
      </p:sp>
      <p:sp>
        <p:nvSpPr>
          <p:cNvPr id="13" name="Text 9"/>
          <p:cNvSpPr/>
          <p:nvPr/>
        </p:nvSpPr>
        <p:spPr>
          <a:xfrm>
            <a:off x="566928" y="4572000"/>
            <a:ext cx="11057839" cy="64008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Lo que NO caduca es el método: qué preguntas hacerse, qué organismos existen y por qué la técnica no basta. Eso es lo que se evalúa.</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 · EL MAPA INSTITUCIONAL</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QUIÉN REGULA QUÉ EN COLOMBIA</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16 · ESCALABILIDAD Y REGULACIÓN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926080"/>
                <a:gridCol w="3657600"/>
                <a:gridCol w="447415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ORGANISMO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LE IMPORTA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LA PREGUNTA QUE HACE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0807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UIAF</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Prevención de lavado de activos.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¿Se reportan las operaciones sospechosas?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0807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DIAN</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Impuestos.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¿Se declaran las ganancias en criptoactivos?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0807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Superintendencia Financiera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Estabilidad y protección al consumidor.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¿Esto es un producto financiero que requiere licencia?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0807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Congreso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marco legal.</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¿Qué dice la ley que aún se está discutiendo?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2779776"/>
          </a:xfrm>
          <a:prstGeom prst="rect">
            <a:avLst/>
          </a:prstGeom>
          <a:ln w="22225">
            <a:solidFill>
              <a:srgbClr val="0F0F11"/>
            </a:solidFill>
            <a:prstDash val="solid"/>
          </a:ln>
        </p:spPr>
      </p:sp>
      <p:sp>
        <p:nvSpPr>
          <p:cNvPr id="10" name="Text 6"/>
          <p:cNvSpPr/>
          <p:nvPr/>
        </p:nvSpPr>
        <p:spPr>
          <a:xfrm>
            <a:off x="566928" y="4663440"/>
            <a:ext cx="11057839" cy="73152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El sandbox regulatorio de la Superintendencia Financiera ha permitido probar proyectos con criptoactivos en un entorno controlado y vigilado. Es la vía de experimentar legalmente.</a:t>
            </a:r>
            <a:endParaRPr lang="en-US" sz="1300" dirty="0"/>
          </a:p>
        </p:txBody>
      </p:sp>
      <p:sp>
        <p:nvSpPr>
          <p:cNvPr id="11" name="Text 7"/>
          <p:cNvSpPr/>
          <p:nvPr/>
        </p:nvSpPr>
        <p:spPr>
          <a:xfrm>
            <a:off x="566928" y="5486400"/>
            <a:ext cx="11057839" cy="365760"/>
          </a:xfrm>
          <a:prstGeom prst="rect">
            <a:avLst/>
          </a:prstGeom>
          <a:noFill/>
          <a:ln/>
        </p:spPr>
        <p:txBody>
          <a:bodyPr wrap="square" lIns="0" tIns="0" rIns="0" bIns="0" rtlCol="0" anchor="t"/>
          <a:lstStyle/>
          <a:p>
            <a:pPr indent="0" marL="0">
              <a:lnSpc>
                <a:spcPct val="124000"/>
              </a:lnSpc>
              <a:buNone/>
            </a:pPr>
            <a:r>
              <a:rPr lang="en-US" sz="1200" dirty="0">
                <a:solidFill>
                  <a:srgbClr val="A35604"/>
                </a:solidFill>
                <a:latin typeface="Arial" pitchFamily="34" charset="0"/>
                <a:ea typeface="Arial" pitchFamily="34" charset="-122"/>
                <a:cs typeface="Arial" pitchFamily="34" charset="-120"/>
              </a:rPr>
              <a:t>Verificar el estado y los nombres exactos antes de clase (B.0).</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B.2 · EL PANORAMA INTERNACIONAL</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AML, KYC, EL TRAVEL RULE Y MICA</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16 · ESCALABILIDAD Y REGULACIÓN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15</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3108960"/>
                <a:gridCol w="79488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TÉRMINO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EXIGE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3093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AML · antilavado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Medidas para impedir que el sistema se use para lavar dinero.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3093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KYC · conoce a tu cliente</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Identificar a los usuarios. Choca de frente con el ideal de anonimato de las cadenas públicas.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3093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Travel Rule</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Que la información del que envía y el que recibe «viaje» con las transferencias grandes entre entidades.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3093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MiCA (Unión Europea)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marco integral de criptoactivos de la UE: licencias, stablecoins, protección al consumidor. La referencia que muchos países miran.</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2871216"/>
          </a:xfrm>
          <a:prstGeom prst="rect">
            <a:avLst/>
          </a:prstGeom>
          <a:ln w="22225">
            <a:solidFill>
              <a:srgbClr val="0F0F11"/>
            </a:solidFill>
            <a:prstDash val="solid"/>
          </a:ln>
        </p:spPr>
      </p:sp>
      <p:sp>
        <p:nvSpPr>
          <p:cNvPr id="10" name="Shape 6"/>
          <p:cNvSpPr/>
          <p:nvPr/>
        </p:nvSpPr>
        <p:spPr>
          <a:xfrm>
            <a:off x="566928" y="4754880"/>
            <a:ext cx="11057839" cy="137160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1" name="Image 1" descr="preencoded.png">    </p:cNvPr>
          <p:cNvPicPr>
            <a:picLocks noChangeAspect="1"/>
          </p:cNvPicPr>
          <p:nvPr/>
        </p:nvPicPr>
        <p:blipFill>
          <a:blip r:embed="rId2"/>
          <a:stretch>
            <a:fillRect/>
          </a:stretch>
        </p:blipFill>
        <p:spPr>
          <a:xfrm>
            <a:off x="804672" y="4974336"/>
            <a:ext cx="237744" cy="237744"/>
          </a:xfrm>
          <a:prstGeom prst="rect">
            <a:avLst/>
          </a:prstGeom>
        </p:spPr>
      </p:pic>
      <p:sp>
        <p:nvSpPr>
          <p:cNvPr id="12" name="Text 7"/>
          <p:cNvSpPr/>
          <p:nvPr/>
        </p:nvSpPr>
        <p:spPr>
          <a:xfrm>
            <a:off x="1133856" y="494690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LA TENSIÓN DE FONDO</a:t>
            </a:r>
            <a:endParaRPr lang="en-US" sz="950" dirty="0"/>
          </a:p>
        </p:txBody>
      </p:sp>
      <p:sp>
        <p:nvSpPr>
          <p:cNvPr id="13" name="Text 8"/>
          <p:cNvSpPr/>
          <p:nvPr/>
        </p:nvSpPr>
        <p:spPr>
          <a:xfrm>
            <a:off x="804672" y="5266944"/>
            <a:ext cx="10582351" cy="76809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Las cadenas públicas se diseñaron para ser abiertas y seudónimas. La regulación financiera exige identificar a las partes. Todo proyecto real vive en esa tensión: cuánto anonimato preserva y cuánto cumplimiento acepta. No hay una respuesta técnica: es una decisión de diseño con consecuencias legales.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B.3 · LA PREGUNTA JURÍDICA DE FONDO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¿UN CONTRATO INTELIGENTE ES UN CONTRATO?</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16 · ESCALABILIDAD Y REGULACIÓN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16</a:t>
            </a:r>
            <a:endParaRPr lang="en-US" sz="900" dirty="0"/>
          </a:p>
        </p:txBody>
      </p:sp>
      <p:sp>
        <p:nvSpPr>
          <p:cNvPr id="8" name="Shape 5"/>
          <p:cNvSpPr/>
          <p:nvPr/>
        </p:nvSpPr>
        <p:spPr>
          <a:xfrm>
            <a:off x="566928" y="1737360"/>
            <a:ext cx="5391760" cy="21945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841248" y="192024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LO QUE ES</a:t>
            </a:r>
            <a:endParaRPr lang="en-US" sz="1050" dirty="0"/>
          </a:p>
        </p:txBody>
      </p:sp>
      <p:sp>
        <p:nvSpPr>
          <p:cNvPr id="10" name="Text 7"/>
          <p:cNvSpPr/>
          <p:nvPr/>
        </p:nvSpPr>
        <p:spPr>
          <a:xfrm>
            <a:off x="841248" y="2304288"/>
            <a:ext cx="4843120" cy="146304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Un programa que ejecuta reglas automáticamente. Puede AUTOMATIZAR el cumplimiento de un acuerdo: liberar un pago cuando se cumple una condición.</a:t>
            </a:r>
            <a:endParaRPr lang="en-US" sz="1250" dirty="0"/>
          </a:p>
        </p:txBody>
      </p:sp>
      <p:sp>
        <p:nvSpPr>
          <p:cNvPr id="11" name="Shape 8"/>
          <p:cNvSpPr/>
          <p:nvPr/>
        </p:nvSpPr>
        <p:spPr>
          <a:xfrm>
            <a:off x="6233008" y="1737360"/>
            <a:ext cx="5391760" cy="219456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12" name="Text 9"/>
          <p:cNvSpPr/>
          <p:nvPr/>
        </p:nvSpPr>
        <p:spPr>
          <a:xfrm>
            <a:off x="6507328" y="192024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LO QUE NO NECESARIAMENTE ES</a:t>
            </a:r>
            <a:endParaRPr lang="en-US" sz="1050" dirty="0"/>
          </a:p>
        </p:txBody>
      </p:sp>
      <p:sp>
        <p:nvSpPr>
          <p:cNvPr id="13" name="Text 10"/>
          <p:cNvSpPr/>
          <p:nvPr/>
        </p:nvSpPr>
        <p:spPr>
          <a:xfrm>
            <a:off x="6507328" y="2304288"/>
            <a:ext cx="4843120" cy="146304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Un contrato jurídicamente válido y exigible ante un juez. Eso depende de la ley, no del código. ¿Hubo consentimiento? ¿Las partes tenían capacidad? ¿Qué jurisdicción aplica si algo sale mal?</a:t>
            </a:r>
            <a:endParaRPr lang="en-US" sz="1250" dirty="0"/>
          </a:p>
        </p:txBody>
      </p:sp>
      <p:sp>
        <p:nvSpPr>
          <p:cNvPr id="14" name="Text 11"/>
          <p:cNvSpPr/>
          <p:nvPr/>
        </p:nvSpPr>
        <p:spPr>
          <a:xfrm>
            <a:off x="566928" y="4114800"/>
            <a:ext cx="11057839" cy="77724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Es la duda que aparece en casi todos los anteproyectos (Sesión 6). La respuesta honesta: un contrato inteligente y un contrato jurídico pueden coincidir, pero no son lo mismo, y confundirlos trae problemas.</a:t>
            </a:r>
            <a:endParaRPr lang="en-US" sz="1350" dirty="0"/>
          </a:p>
        </p:txBody>
      </p:sp>
      <p:sp>
        <p:nvSpPr>
          <p:cNvPr id="15" name="Shape 12"/>
          <p:cNvSpPr/>
          <p:nvPr/>
        </p:nvSpPr>
        <p:spPr>
          <a:xfrm>
            <a:off x="566928" y="5029200"/>
            <a:ext cx="11057839" cy="109728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6" name="Image 1" descr="preencoded.png">    </p:cNvPr>
          <p:cNvPicPr>
            <a:picLocks noChangeAspect="1"/>
          </p:cNvPicPr>
          <p:nvPr/>
        </p:nvPicPr>
        <p:blipFill>
          <a:blip r:embed="rId2"/>
          <a:stretch>
            <a:fillRect/>
          </a:stretch>
        </p:blipFill>
        <p:spPr>
          <a:xfrm>
            <a:off x="804672" y="5248656"/>
            <a:ext cx="237744" cy="237744"/>
          </a:xfrm>
          <a:prstGeom prst="rect">
            <a:avLst/>
          </a:prstGeom>
        </p:spPr>
      </p:pic>
      <p:sp>
        <p:nvSpPr>
          <p:cNvPr id="17" name="Text 13"/>
          <p:cNvSpPr/>
          <p:nvPr/>
        </p:nvSpPr>
        <p:spPr>
          <a:xfrm>
            <a:off x="1133856" y="522122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LA PREGUNTA QUE CASI NADIE HACE</a:t>
            </a:r>
            <a:endParaRPr lang="en-US" sz="950" dirty="0"/>
          </a:p>
        </p:txBody>
      </p:sp>
      <p:sp>
        <p:nvSpPr>
          <p:cNvPr id="18" name="Text 14"/>
          <p:cNvSpPr/>
          <p:nvPr/>
        </p:nvSpPr>
        <p:spPr>
          <a:xfrm>
            <a:off x="804672" y="5541264"/>
            <a:ext cx="10582351" cy="49377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Si el contrato hace algo que las partes no querían (un error, un exploit), ¿quién responde ante la ley? ¿El que lo programó? ¿El que lo desplegó? Es terreno sin resolver, y es exactamente el tipo de tema para el ensayo.</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B.4 · ÉTICA Y SOSTENIBILIDAD</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LA RESPONSABILIDAD DEL QUE CONSTRUYE</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16 · ESCALABILIDAD Y REGULACIÓN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560320"/>
                <a:gridCol w="84975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TEMA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LA CONVERSACIÓN HONESTA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96316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Huella energética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La prueba de trabajo consume mucho (S4). La prueba de participación bajó el consumo de Ethereum ~99,9 %. El dato importa y hay que citarlo con la fuente vigente, no de memoria.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96316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Inclusión financiera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La promesa: banca para quien no la tiene. La realidad: hace falta internet, un teléfono y saber usarlo. ¿Incluye de verdad, o solo a quien ya estaba cerca?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96316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Estafas</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ecosistema está lleno de esquemas extractivos (S10, S14). Quien construye tiene la responsabilidad de no sumar uno más, y de no prometer lo que no es.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719072"/>
            <a:ext cx="11094415" cy="3236976"/>
          </a:xfrm>
          <a:prstGeom prst="rect">
            <a:avLst/>
          </a:prstGeom>
          <a:ln w="22225">
            <a:solidFill>
              <a:srgbClr val="0F0F11"/>
            </a:solidFill>
            <a:prstDash val="solid"/>
          </a:ln>
        </p:spPr>
      </p:sp>
      <p:sp>
        <p:nvSpPr>
          <p:cNvPr id="10" name="Shape 6"/>
          <p:cNvSpPr/>
          <p:nvPr/>
        </p:nvSpPr>
        <p:spPr>
          <a:xfrm>
            <a:off x="566928" y="5120640"/>
            <a:ext cx="11057839" cy="100584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11" name="Text 7"/>
          <p:cNvSpPr/>
          <p:nvPr/>
        </p:nvSpPr>
        <p:spPr>
          <a:xfrm>
            <a:off x="950976" y="5303520"/>
            <a:ext cx="10289743" cy="640080"/>
          </a:xfrm>
          <a:prstGeom prst="rect">
            <a:avLst/>
          </a:prstGeom>
          <a:noFill/>
          <a:ln/>
        </p:spPr>
        <p:txBody>
          <a:bodyPr wrap="square" lIns="0" tIns="0" rIns="0" bIns="0" rtlCol="0" anchor="ctr"/>
          <a:lstStyle/>
          <a:p>
            <a:pPr indent="0" marL="0">
              <a:lnSpc>
                <a:spcPct val="106000"/>
              </a:lnSpc>
              <a:buNone/>
            </a:pPr>
            <a:r>
              <a:rPr lang="en-US" sz="1600" dirty="0">
                <a:solidFill>
                  <a:srgbClr val="0F0F11"/>
                </a:solidFill>
                <a:latin typeface="Arial Black" pitchFamily="34" charset="0"/>
                <a:ea typeface="Arial Black" pitchFamily="34" charset="-122"/>
                <a:cs typeface="Arial Black" pitchFamily="34" charset="-120"/>
              </a:rPr>
              <a:t>Saber construir esto trae una responsabilidad: reconocer cuándo NO se debe, y no vender humo. Es donde empezó el curso, en la Sesión 1.</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C</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60 MINUTOS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LABORATORIO 16 Y AVANCE 2</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Desplegar el mismo contrato en una L2 de prueba y comparar el costo con la L1. Y entregar la dApp integrada.</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16 · ESCALABILIDAD Y REGULACIÓN</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C.1 · LABORATORIO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EL MISMO CONTRATO, DOS REDES, UN CUADRO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16 · ESCALABILIDAD Y REGULACIÓN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19</a:t>
            </a:r>
            <a:endParaRPr lang="en-US" sz="900" dirty="0"/>
          </a:p>
        </p:txBody>
      </p:sp>
      <p:sp>
        <p:nvSpPr>
          <p:cNvPr id="8" name="Shape 5"/>
          <p:cNvSpPr/>
          <p:nvPr/>
        </p:nvSpPr>
        <p:spPr>
          <a:xfrm>
            <a:off x="566928" y="1737360"/>
            <a:ext cx="11057839" cy="749808"/>
          </a:xfrm>
          <a:prstGeom prst="rect">
            <a:avLst/>
          </a:prstGeom>
          <a:solidFill>
            <a:srgbClr val="FFFFFF"/>
          </a:solidFill>
          <a:ln w="15875">
            <a:solidFill>
              <a:srgbClr val="D9D6E0"/>
            </a:solidFill>
            <a:prstDash val="solid"/>
          </a:ln>
        </p:spPr>
      </p:sp>
      <p:sp>
        <p:nvSpPr>
          <p:cNvPr id="9" name="Text 6"/>
          <p:cNvSpPr/>
          <p:nvPr/>
        </p:nvSpPr>
        <p:spPr>
          <a:xfrm>
            <a:off x="694944" y="1737360"/>
            <a:ext cx="548640" cy="74980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965960"/>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ELEGIR CONTRATO</a:t>
            </a:r>
            <a:endParaRPr lang="en-US" sz="1000" dirty="0"/>
          </a:p>
        </p:txBody>
      </p:sp>
      <p:sp>
        <p:nvSpPr>
          <p:cNvPr id="11" name="Text 8"/>
          <p:cNvSpPr/>
          <p:nvPr/>
        </p:nvSpPr>
        <p:spPr>
          <a:xfrm>
            <a:off x="3657600" y="1828800"/>
            <a:ext cx="7857439" cy="60350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Cualquiera ya escrito del curso: el de certificados, el token, o uno del proyecto.</a:t>
            </a:r>
            <a:endParaRPr lang="en-US" sz="1250" dirty="0"/>
          </a:p>
        </p:txBody>
      </p:sp>
      <p:sp>
        <p:nvSpPr>
          <p:cNvPr id="12" name="Shape 9"/>
          <p:cNvSpPr/>
          <p:nvPr/>
        </p:nvSpPr>
        <p:spPr>
          <a:xfrm>
            <a:off x="566928" y="2596896"/>
            <a:ext cx="11057839" cy="749808"/>
          </a:xfrm>
          <a:prstGeom prst="rect">
            <a:avLst/>
          </a:prstGeom>
          <a:solidFill>
            <a:srgbClr val="FAF9FB"/>
          </a:solidFill>
          <a:ln w="15875">
            <a:solidFill>
              <a:srgbClr val="D9D6E0"/>
            </a:solidFill>
            <a:prstDash val="solid"/>
          </a:ln>
        </p:spPr>
      </p:sp>
      <p:sp>
        <p:nvSpPr>
          <p:cNvPr id="13" name="Text 10"/>
          <p:cNvSpPr/>
          <p:nvPr/>
        </p:nvSpPr>
        <p:spPr>
          <a:xfrm>
            <a:off x="694944" y="2596896"/>
            <a:ext cx="548640" cy="74980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825496"/>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DESPLEGAR EN L1</a:t>
            </a:r>
            <a:endParaRPr lang="en-US" sz="1000" dirty="0"/>
          </a:p>
        </p:txBody>
      </p:sp>
      <p:sp>
        <p:nvSpPr>
          <p:cNvPr id="15" name="Text 12"/>
          <p:cNvSpPr/>
          <p:nvPr/>
        </p:nvSpPr>
        <p:spPr>
          <a:xfrm>
            <a:off x="3657600" y="2688336"/>
            <a:ext cx="7857439" cy="60350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En Sepolia. Anotar el costo del despliegue y de una operación típica.</a:t>
            </a:r>
            <a:endParaRPr lang="en-US" sz="1250" dirty="0"/>
          </a:p>
        </p:txBody>
      </p:sp>
      <p:sp>
        <p:nvSpPr>
          <p:cNvPr id="16" name="Shape 13"/>
          <p:cNvSpPr/>
          <p:nvPr/>
        </p:nvSpPr>
        <p:spPr>
          <a:xfrm>
            <a:off x="566928" y="3456432"/>
            <a:ext cx="11057839" cy="749808"/>
          </a:xfrm>
          <a:prstGeom prst="rect">
            <a:avLst/>
          </a:prstGeom>
          <a:solidFill>
            <a:srgbClr val="FFFFFF"/>
          </a:solidFill>
          <a:ln w="15875">
            <a:solidFill>
              <a:srgbClr val="D9D6E0"/>
            </a:solidFill>
            <a:prstDash val="solid"/>
          </a:ln>
        </p:spPr>
      </p:sp>
      <p:sp>
        <p:nvSpPr>
          <p:cNvPr id="17" name="Text 14"/>
          <p:cNvSpPr/>
          <p:nvPr/>
        </p:nvSpPr>
        <p:spPr>
          <a:xfrm>
            <a:off x="694944" y="3456432"/>
            <a:ext cx="548640" cy="74980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685032"/>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DESPLEGAR EN L2</a:t>
            </a:r>
            <a:endParaRPr lang="en-US" sz="1000" dirty="0"/>
          </a:p>
        </p:txBody>
      </p:sp>
      <p:sp>
        <p:nvSpPr>
          <p:cNvPr id="19" name="Text 16"/>
          <p:cNvSpPr/>
          <p:nvPr/>
        </p:nvSpPr>
        <p:spPr>
          <a:xfrm>
            <a:off x="3657600" y="3547872"/>
            <a:ext cx="7857439" cy="60350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En una L2 de prueba compatible con la EVM (por ejemplo la testnet de Optimism o Base). El MISMO contrato, sin cambios.</a:t>
            </a:r>
            <a:endParaRPr lang="en-US" sz="1250" dirty="0"/>
          </a:p>
        </p:txBody>
      </p:sp>
      <p:sp>
        <p:nvSpPr>
          <p:cNvPr id="20" name="Shape 17"/>
          <p:cNvSpPr/>
          <p:nvPr/>
        </p:nvSpPr>
        <p:spPr>
          <a:xfrm>
            <a:off x="566928" y="4315968"/>
            <a:ext cx="11057839" cy="749808"/>
          </a:xfrm>
          <a:prstGeom prst="rect">
            <a:avLst/>
          </a:prstGeom>
          <a:solidFill>
            <a:srgbClr val="FAF9FB"/>
          </a:solidFill>
          <a:ln w="15875">
            <a:solidFill>
              <a:srgbClr val="D9D6E0"/>
            </a:solidFill>
            <a:prstDash val="solid"/>
          </a:ln>
        </p:spPr>
      </p:sp>
      <p:sp>
        <p:nvSpPr>
          <p:cNvPr id="21" name="Text 18"/>
          <p:cNvSpPr/>
          <p:nvPr/>
        </p:nvSpPr>
        <p:spPr>
          <a:xfrm>
            <a:off x="694944" y="4315968"/>
            <a:ext cx="548640" cy="74980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544568"/>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COMPARAR</a:t>
            </a:r>
            <a:endParaRPr lang="en-US" sz="1000" dirty="0"/>
          </a:p>
        </p:txBody>
      </p:sp>
      <p:sp>
        <p:nvSpPr>
          <p:cNvPr id="23" name="Text 20"/>
          <p:cNvSpPr/>
          <p:nvPr/>
        </p:nvSpPr>
        <p:spPr>
          <a:xfrm>
            <a:off x="3657600" y="4407408"/>
            <a:ext cx="7857439" cy="60350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Una tabla con datos propios: costo y tiempo de confirmación en cada red.</a:t>
            </a:r>
            <a:endParaRPr lang="en-US" sz="1250" dirty="0"/>
          </a:p>
        </p:txBody>
      </p:sp>
      <p:sp>
        <p:nvSpPr>
          <p:cNvPr id="24" name="Shape 21"/>
          <p:cNvSpPr/>
          <p:nvPr/>
        </p:nvSpPr>
        <p:spPr>
          <a:xfrm>
            <a:off x="566928" y="5413248"/>
            <a:ext cx="11057839" cy="786384"/>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25" name="Image 1" descr="preencoded.png">    </p:cNvPr>
          <p:cNvPicPr>
            <a:picLocks noChangeAspect="1"/>
          </p:cNvPicPr>
          <p:nvPr/>
        </p:nvPicPr>
        <p:blipFill>
          <a:blip r:embed="rId2"/>
          <a:stretch>
            <a:fillRect/>
          </a:stretch>
        </p:blipFill>
        <p:spPr>
          <a:xfrm>
            <a:off x="804672" y="5632704"/>
            <a:ext cx="237744" cy="237744"/>
          </a:xfrm>
          <a:prstGeom prst="rect">
            <a:avLst/>
          </a:prstGeom>
        </p:spPr>
      </p:pic>
      <p:sp>
        <p:nvSpPr>
          <p:cNvPr id="26" name="Text 22"/>
          <p:cNvSpPr/>
          <p:nvPr/>
        </p:nvSpPr>
        <p:spPr>
          <a:xfrm>
            <a:off x="1133856" y="5605272"/>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LO QUE DEMUESTRA EN CARNE PROPIA</a:t>
            </a:r>
            <a:endParaRPr lang="en-US" sz="950" dirty="0"/>
          </a:p>
        </p:txBody>
      </p:sp>
      <p:sp>
        <p:nvSpPr>
          <p:cNvPr id="27" name="Text 23"/>
          <p:cNvSpPr/>
          <p:nvPr/>
        </p:nvSpPr>
        <p:spPr>
          <a:xfrm>
            <a:off x="804672" y="5925312"/>
            <a:ext cx="10582351" cy="1828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«Compatible con la EVM» no es teoría: el mismo bytecode se despliega en la L2 sin tocar una línea, y cuesta una fracción.</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C.2 · TALLER REGULATORIO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EL ANÁLISIS LEGAL DEL PROYECTO PROPIO</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16 · ESCALABILIDAD Y REGULACIÓN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20</a:t>
            </a:r>
            <a:endParaRPr lang="en-US" sz="900" dirty="0"/>
          </a:p>
        </p:txBody>
      </p:sp>
      <p:sp>
        <p:nvSpPr>
          <p:cNvPr id="8" name="Text 5"/>
          <p:cNvSpPr/>
          <p:nvPr/>
        </p:nvSpPr>
        <p:spPr>
          <a:xfrm>
            <a:off x="566928" y="1737360"/>
            <a:ext cx="11057839" cy="82296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En equipos, media hora: aplicar el mapa institucional al propio proyecto. No es un ejercicio abstracto — es lo que habría que resolver para sacarlo a producción en Colombia.</a:t>
            </a:r>
            <a:endParaRPr lang="en-US" sz="1400" dirty="0"/>
          </a:p>
        </p:txBody>
      </p:sp>
      <p:sp>
        <p:nvSpPr>
          <p:cNvPr id="9" name="Text 6"/>
          <p:cNvSpPr/>
          <p:nvPr/>
        </p:nvSpPr>
        <p:spPr>
          <a:xfrm>
            <a:off x="566928" y="2651760"/>
            <a:ext cx="11057839" cy="2377440"/>
          </a:xfrm>
          <a:prstGeom prst="rect">
            <a:avLst/>
          </a:prstGeom>
          <a:noFill/>
          <a:ln/>
        </p:spPr>
        <p:txBody>
          <a:bodyPr wrap="square" lIns="0" tIns="0" rIns="0" bIns="0" rtlCol="0" anchor="t"/>
          <a:lstStyle/>
          <a:p>
            <a:pPr marL="342900" indent="-342900">
              <a:lnSpc>
                <a:spcPct val="118000"/>
              </a:lnSpc>
              <a:spcAft>
                <a:spcPts val="900"/>
              </a:spcAft>
              <a:buSzPct val="100000"/>
              <a:buFont typeface="+mj-lt"/>
              <a:buAutoNum type="arabicPeriod" startAt="1"/>
            </a:pPr>
            <a:r>
              <a:rPr lang="en-US" sz="1350" dirty="0">
                <a:solidFill>
                  <a:srgbClr val="3A3844"/>
                </a:solidFill>
                <a:latin typeface="Arial" pitchFamily="34" charset="0"/>
                <a:ea typeface="Arial" pitchFamily="34" charset="-122"/>
                <a:cs typeface="Arial" pitchFamily="34" charset="-120"/>
              </a:rPr>
              <a:t>Si nuestro proyecto saliera a producción, ¿qué obligación de la UIAF o la DIAN aplicaría?</a:t>
            </a:r>
            <a:endParaRPr lang="en-US" sz="1350" dirty="0"/>
          </a:p>
          <a:p>
            <a:pPr marL="342900" indent="-342900">
              <a:lnSpc>
                <a:spcPct val="118000"/>
              </a:lnSpc>
              <a:spcAft>
                <a:spcPts val="900"/>
              </a:spcAft>
              <a:buSzPct val="100000"/>
              <a:buFont typeface="+mj-lt"/>
              <a:buAutoNum type="arabicPeriod" startAt="1"/>
            </a:pPr>
            <a:r>
              <a:rPr lang="en-US" sz="1350" dirty="0">
                <a:solidFill>
                  <a:srgbClr val="3A3844"/>
                </a:solidFill>
                <a:latin typeface="Arial" pitchFamily="34" charset="0"/>
                <a:ea typeface="Arial" pitchFamily="34" charset="-122"/>
                <a:cs typeface="Arial" pitchFamily="34" charset="-120"/>
              </a:rPr>
              <a:t>¿Manejamos datos personales? ¿Cómo cumplimos la Ley 1581 con una cadena inmutable? (S6, S11)</a:t>
            </a:r>
            <a:endParaRPr lang="en-US" sz="1350" dirty="0"/>
          </a:p>
          <a:p>
            <a:pPr marL="342900" indent="-342900">
              <a:lnSpc>
                <a:spcPct val="118000"/>
              </a:lnSpc>
              <a:spcAft>
                <a:spcPts val="900"/>
              </a:spcAft>
              <a:buSzPct val="100000"/>
              <a:buFont typeface="+mj-lt"/>
              <a:buAutoNum type="arabicPeriod" startAt="1"/>
            </a:pPr>
            <a:r>
              <a:rPr lang="en-US" sz="1350" dirty="0">
                <a:solidFill>
                  <a:srgbClr val="3A3844"/>
                </a:solidFill>
                <a:latin typeface="Arial" pitchFamily="34" charset="0"/>
                <a:ea typeface="Arial" pitchFamily="34" charset="-122"/>
                <a:cs typeface="Arial" pitchFamily="34" charset="-120"/>
              </a:rPr>
              <a:t>¿Nuestro token o servicio podría considerarse un producto financiero regulado?</a:t>
            </a:r>
            <a:endParaRPr lang="en-US" sz="1350" dirty="0"/>
          </a:p>
          <a:p>
            <a:pPr marL="342900" indent="-342900">
              <a:lnSpc>
                <a:spcPct val="118000"/>
              </a:lnSpc>
              <a:spcAft>
                <a:spcPts val="900"/>
              </a:spcAft>
              <a:buSzPct val="100000"/>
              <a:buFont typeface="+mj-lt"/>
              <a:buAutoNum type="arabicPeriod" startAt="1"/>
            </a:pPr>
            <a:r>
              <a:rPr lang="en-US" sz="1350" dirty="0">
                <a:solidFill>
                  <a:srgbClr val="3A3844"/>
                </a:solidFill>
                <a:latin typeface="Arial" pitchFamily="34" charset="0"/>
                <a:ea typeface="Arial" pitchFamily="34" charset="-122"/>
                <a:cs typeface="Arial" pitchFamily="34" charset="-120"/>
              </a:rPr>
              <a:t>¿El «contrato» de nuestro proyecto tiene algún efecto jurídico, o solo automatiza?</a:t>
            </a:r>
            <a:endParaRPr lang="en-US" sz="1350" dirty="0"/>
          </a:p>
        </p:txBody>
      </p:sp>
      <p:sp>
        <p:nvSpPr>
          <p:cNvPr id="10" name="Text 7"/>
          <p:cNvSpPr/>
          <p:nvPr/>
        </p:nvSpPr>
        <p:spPr>
          <a:xfrm>
            <a:off x="566928" y="5212080"/>
            <a:ext cx="11057839" cy="45720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Estas respuestas alimentan directamente la sustentación final y, para muchos, el ensayo individual.</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C.3 · ENTREGA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AVANCE 2 · LA DAPP INTEGRADA</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16 · ESCALABILIDAD Y REGULACIÓN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7839" cy="914400"/>
        </p:xfrm>
        <a:graphic>
          <a:graphicData uri="http://schemas.openxmlformats.org/drawingml/2006/table">
            <a:tbl>
              <a:tblPr/>
              <a:tblGrid>
                <a:gridCol w="2651760"/>
                <a:gridCol w="84060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COMPONENTE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REQUISITO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70916">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Frontend conectado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La interfaz ejecuta el flujo completo del proyecto contra los contratos.</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70916">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Flujo funcional</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Un caso de uso de punta a punta funciona: leer, escribir, y ver el resultado.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70916">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Metadata en IPFS</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Si el proyecto usa NFTs, la metadata se sirve desde IPFS.</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70916">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Manejo de estados</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Los cuatro estados de transacción (S12), visibles al usuario.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19072"/>
            <a:ext cx="11094415" cy="2231136"/>
          </a:xfrm>
          <a:prstGeom prst="rect">
            <a:avLst/>
          </a:prstGeom>
          <a:ln w="22225">
            <a:solidFill>
              <a:srgbClr val="0F0F11"/>
            </a:solidFill>
            <a:prstDash val="solid"/>
          </a:ln>
        </p:spPr>
      </p:sp>
      <p:sp>
        <p:nvSpPr>
          <p:cNvPr id="10" name="Text 6"/>
          <p:cNvSpPr/>
          <p:nvPr/>
        </p:nvSpPr>
        <p:spPr>
          <a:xfrm>
            <a:off x="566928" y="4114800"/>
            <a:ext cx="11057839" cy="50292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Peso: 10 % de la nota final. Con esto, al Demo Day solo le queda pulir, documentar y preparar la defensa.</a:t>
            </a:r>
            <a:endParaRPr lang="en-US" sz="1300" dirty="0"/>
          </a:p>
        </p:txBody>
      </p:sp>
      <p:sp>
        <p:nvSpPr>
          <p:cNvPr id="11" name="Shape 7"/>
          <p:cNvSpPr/>
          <p:nvPr/>
        </p:nvSpPr>
        <p:spPr>
          <a:xfrm>
            <a:off x="566928" y="4754880"/>
            <a:ext cx="11057839" cy="137160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2" name="Image 1" descr="preencoded.png">    </p:cNvPr>
          <p:cNvPicPr>
            <a:picLocks noChangeAspect="1"/>
          </p:cNvPicPr>
          <p:nvPr/>
        </p:nvPicPr>
        <p:blipFill>
          <a:blip r:embed="rId2"/>
          <a:stretch>
            <a:fillRect/>
          </a:stretch>
        </p:blipFill>
        <p:spPr>
          <a:xfrm>
            <a:off x="804672" y="4974336"/>
            <a:ext cx="237744" cy="237744"/>
          </a:xfrm>
          <a:prstGeom prst="rect">
            <a:avLst/>
          </a:prstGeom>
        </p:spPr>
      </p:pic>
      <p:sp>
        <p:nvSpPr>
          <p:cNvPr id="13" name="Text 8"/>
          <p:cNvSpPr/>
          <p:nvPr/>
        </p:nvSpPr>
        <p:spPr>
          <a:xfrm>
            <a:off x="1133856" y="494690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LO QUE SE REVISA HOY</a:t>
            </a:r>
            <a:endParaRPr lang="en-US" sz="950" dirty="0"/>
          </a:p>
        </p:txBody>
      </p:sp>
      <p:sp>
        <p:nvSpPr>
          <p:cNvPr id="14" name="Text 9"/>
          <p:cNvSpPr/>
          <p:nvPr/>
        </p:nvSpPr>
        <p:spPr>
          <a:xfrm>
            <a:off x="804672" y="5266944"/>
            <a:ext cx="10582351" cy="76809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Que el flujo principal funcione de verdad, no en diapositivas. Mejor un caso de uso completo y sólido que cinco a medias — el corte vertical del proyecto del docente, una vez más. Lo que falte se cierra antes del Demo Day, con fecha.</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TRABAJO AUTÓNOMO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LA PREGUNTA DE LA SEMANA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16 · ESCALABILIDAD Y REGULACIÓN</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22</a:t>
            </a:r>
            <a:endParaRPr lang="en-US" sz="900" dirty="0"/>
          </a:p>
        </p:txBody>
      </p:sp>
      <p:sp>
        <p:nvSpPr>
          <p:cNvPr id="8" name="Shape 5"/>
          <p:cNvSpPr/>
          <p:nvPr/>
        </p:nvSpPr>
        <p:spPr>
          <a:xfrm>
            <a:off x="566928" y="1737360"/>
            <a:ext cx="11057839" cy="160020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1920240"/>
            <a:ext cx="10289743" cy="1234440"/>
          </a:xfrm>
          <a:prstGeom prst="rect">
            <a:avLst/>
          </a:prstGeom>
          <a:noFill/>
          <a:ln/>
        </p:spPr>
        <p:txBody>
          <a:bodyPr wrap="square" lIns="0" tIns="0" rIns="0" bIns="0" rtlCol="0" anchor="ctr"/>
          <a:lstStyle/>
          <a:p>
            <a:pPr indent="0" marL="0">
              <a:lnSpc>
                <a:spcPct val="106000"/>
              </a:lnSpc>
              <a:buNone/>
            </a:pPr>
            <a:r>
              <a:rPr lang="en-US" sz="2000" dirty="0">
                <a:solidFill>
                  <a:srgbClr val="0F0F11"/>
                </a:solidFill>
                <a:latin typeface="Arial Black" pitchFamily="34" charset="0"/>
                <a:ea typeface="Arial Black" pitchFamily="34" charset="-122"/>
                <a:cs typeface="Arial Black" pitchFamily="34" charset="-120"/>
              </a:rPr>
              <a:t>Para su proyecto en Colombia: nombren la obligación legal que MÁS le costaría cumplir. ¿La cumplirían, o rediseñarían para no tener que hacerlo?</a:t>
            </a:r>
            <a:endParaRPr lang="en-US" sz="2000" dirty="0"/>
          </a:p>
        </p:txBody>
      </p:sp>
      <p:sp>
        <p:nvSpPr>
          <p:cNvPr id="10" name="Text 7"/>
          <p:cNvSpPr/>
          <p:nvPr/>
        </p:nvSpPr>
        <p:spPr>
          <a:xfrm>
            <a:off x="566928" y="3611880"/>
            <a:ext cx="7315200" cy="292608"/>
          </a:xfrm>
          <a:prstGeom prst="rect">
            <a:avLst/>
          </a:prstGeom>
          <a:noFill/>
          <a:ln/>
        </p:spPr>
        <p:txBody>
          <a:bodyPr wrap="square" lIns="0" tIns="0" rIns="0" bIns="0" rtlCol="0" anchor="ctr"/>
          <a:lstStyle/>
          <a:p>
            <a:pPr indent="0" marL="0">
              <a:buNone/>
            </a:pPr>
            <a:r>
              <a:rPr lang="en-US" sz="1050" b="1" spc="130" kern="0" dirty="0">
                <a:solidFill>
                  <a:srgbClr val="6F6B80"/>
                </a:solidFill>
                <a:latin typeface="Courier New" pitchFamily="34" charset="0"/>
                <a:ea typeface="Courier New" pitchFamily="34" charset="-122"/>
                <a:cs typeface="Courier New" pitchFamily="34" charset="-120"/>
              </a:rPr>
              <a:t>PARA LA PRÓXIMA SESIÓN</a:t>
            </a:r>
            <a:endParaRPr lang="en-US" sz="1050" dirty="0"/>
          </a:p>
        </p:txBody>
      </p:sp>
      <p:sp>
        <p:nvSpPr>
          <p:cNvPr id="11" name="Text 8"/>
          <p:cNvSpPr/>
          <p:nvPr/>
        </p:nvSpPr>
        <p:spPr>
          <a:xfrm>
            <a:off x="566928" y="3977640"/>
            <a:ext cx="11057839" cy="2148840"/>
          </a:xfrm>
          <a:prstGeom prst="rect">
            <a:avLst/>
          </a:prstGeom>
          <a:noFill/>
          <a:ln/>
        </p:spPr>
        <p:txBody>
          <a:bodyPr wrap="square" lIns="0" tIns="0" rIns="0" bIns="0" rtlCol="0" anchor="t"/>
          <a:lstStyle/>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Entregar el Avance 2 y el cuadro comparativo L1 vs. L2 del laboratorio.</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Preparar la sustentación final para el Demo Day (Sesión 17): 15 min + 5 de preguntas.</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Terminar el ensayo individual (RA7): se entrega en la Sesión 17.</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Grabar un video demo de respaldo de 3 minutos, por si la demo en vivo falla.</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F07F06"/>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566928" y="1234440"/>
            <a:ext cx="457200" cy="457200"/>
          </a:xfrm>
          <a:prstGeom prst="rect">
            <a:avLst/>
          </a:prstGeom>
        </p:spPr>
      </p:pic>
      <p:sp>
        <p:nvSpPr>
          <p:cNvPr id="4" name="Text 1"/>
          <p:cNvSpPr/>
          <p:nvPr/>
        </p:nvSpPr>
        <p:spPr>
          <a:xfrm>
            <a:off x="566928" y="1874520"/>
            <a:ext cx="11057839" cy="457200"/>
          </a:xfrm>
          <a:prstGeom prst="rect">
            <a:avLst/>
          </a:prstGeom>
          <a:noFill/>
          <a:ln/>
        </p:spPr>
        <p:txBody>
          <a:bodyPr wrap="square" lIns="0" tIns="0" rIns="0" bIns="0" rtlCol="0" anchor="ctr"/>
          <a:lstStyle/>
          <a:p>
            <a:pPr indent="0" marL="0">
              <a:buNone/>
            </a:pPr>
            <a:r>
              <a:rPr lang="en-US" sz="1150" spc="180" kern="0" dirty="0">
                <a:solidFill>
                  <a:srgbClr val="F07F06"/>
                </a:solidFill>
                <a:latin typeface="Courier New" pitchFamily="34" charset="0"/>
                <a:ea typeface="Courier New" pitchFamily="34" charset="-122"/>
                <a:cs typeface="Courier New" pitchFamily="34" charset="-120"/>
              </a:rPr>
              <a:t>LO QUE SE LLEVAN DE HOY</a:t>
            </a:r>
            <a:endParaRPr lang="en-US" sz="1150" dirty="0"/>
          </a:p>
        </p:txBody>
      </p:sp>
      <p:sp>
        <p:nvSpPr>
          <p:cNvPr id="5" name="Text 2"/>
          <p:cNvSpPr/>
          <p:nvPr/>
        </p:nvSpPr>
        <p:spPr>
          <a:xfrm>
            <a:off x="566928" y="2377440"/>
            <a:ext cx="11057839" cy="1874520"/>
          </a:xfrm>
          <a:prstGeom prst="rect">
            <a:avLst/>
          </a:prstGeom>
          <a:noFill/>
          <a:ln/>
        </p:spPr>
        <p:txBody>
          <a:bodyPr wrap="square" lIns="0" tIns="0" rIns="0" bIns="0" rtlCol="0" anchor="t"/>
          <a:lstStyle/>
          <a:p>
            <a:pPr indent="0" marL="0">
              <a:lnSpc>
                <a:spcPct val="100000"/>
              </a:lnSpc>
              <a:buNone/>
            </a:pPr>
            <a:r>
              <a:rPr lang="en-US" sz="3600" dirty="0">
                <a:solidFill>
                  <a:srgbClr val="FFFFFF"/>
                </a:solidFill>
                <a:latin typeface="Arial Black" pitchFamily="34" charset="0"/>
                <a:ea typeface="Arial Black" pitchFamily="34" charset="-122"/>
                <a:cs typeface="Arial Black" pitchFamily="34" charset="-120"/>
              </a:rPr>
              <a:t>Una solución técnica perfecta puede ser ilegal o inaplicable. Saberlo es parte de saber construir.</a:t>
            </a:r>
            <a:endParaRPr lang="en-US" sz="3600" dirty="0"/>
          </a:p>
        </p:txBody>
      </p:sp>
      <p:sp>
        <p:nvSpPr>
          <p:cNvPr id="6" name="Text 3"/>
          <p:cNvSpPr/>
          <p:nvPr/>
        </p:nvSpPr>
        <p:spPr>
          <a:xfrm>
            <a:off x="566928" y="4343400"/>
            <a:ext cx="9960559" cy="822960"/>
          </a:xfrm>
          <a:prstGeom prst="rect">
            <a:avLst/>
          </a:prstGeom>
          <a:noFill/>
          <a:ln/>
        </p:spPr>
        <p:txBody>
          <a:bodyPr wrap="square" lIns="0" tIns="0" rIns="0" bIns="0" rtlCol="0" anchor="t"/>
          <a:lstStyle/>
          <a:p>
            <a:pPr indent="0" marL="0">
              <a:lnSpc>
                <a:spcPct val="125000"/>
              </a:lnSpc>
              <a:buNone/>
            </a:pPr>
            <a:r>
              <a:rPr lang="en-US" sz="1500" dirty="0">
                <a:solidFill>
                  <a:srgbClr val="B9B4C4"/>
                </a:solidFill>
                <a:latin typeface="Arial" pitchFamily="34" charset="0"/>
                <a:ea typeface="Arial" pitchFamily="34" charset="-122"/>
                <a:cs typeface="Arial" pitchFamily="34" charset="-120"/>
              </a:rPr>
              <a:t>Ya está todo: el mecanismo, el código, la seguridad, la interfaz, el gobierno y el contexto. Lo que queda es mostrarlo y defenderlo. Nos vemos en el Demo Day.</a:t>
            </a:r>
            <a:endParaRPr lang="en-US" sz="1500" dirty="0"/>
          </a:p>
        </p:txBody>
      </p:sp>
      <p:sp>
        <p:nvSpPr>
          <p:cNvPr id="7" name="Shape 4"/>
          <p:cNvSpPr/>
          <p:nvPr/>
        </p:nvSpPr>
        <p:spPr>
          <a:xfrm>
            <a:off x="566928" y="5349240"/>
            <a:ext cx="11057839" cy="685800"/>
          </a:xfrm>
          <a:prstGeom prst="rect">
            <a:avLst/>
          </a:prstGeom>
          <a:solidFill>
            <a:srgbClr val="1C1B21"/>
          </a:solidFill>
          <a:ln w="12700">
            <a:solidFill>
              <a:srgbClr val="343240"/>
            </a:solidFill>
            <a:prstDash val="solid"/>
          </a:ln>
        </p:spPr>
      </p:sp>
      <p:sp>
        <p:nvSpPr>
          <p:cNvPr id="8" name="Text 5"/>
          <p:cNvSpPr/>
          <p:nvPr/>
        </p:nvSpPr>
        <p:spPr>
          <a:xfrm>
            <a:off x="841248" y="5349240"/>
            <a:ext cx="10509199" cy="685800"/>
          </a:xfrm>
          <a:prstGeom prst="rect">
            <a:avLst/>
          </a:prstGeom>
          <a:noFill/>
          <a:ln/>
        </p:spPr>
        <p:txBody>
          <a:bodyPr wrap="square" lIns="0" tIns="0" rIns="0" bIns="0" rtlCol="0" anchor="ctr"/>
          <a:lstStyle/>
          <a:p>
            <a:pPr indent="0" marL="0">
              <a:buNone/>
            </a:pPr>
            <a:r>
              <a:rPr lang="en-US" sz="1100" spc="120" kern="0" dirty="0">
                <a:solidFill>
                  <a:srgbClr val="F07F06"/>
                </a:solidFill>
                <a:latin typeface="Courier New" pitchFamily="34" charset="0"/>
                <a:ea typeface="Courier New" pitchFamily="34" charset="-122"/>
                <a:cs typeface="Courier New" pitchFamily="34" charset="-120"/>
              </a:rPr>
              <a:t>SESIÓN 17 · DEMO DAY · SUSTENTACIÓN DE PROYECTOS Y CIERRE DEL CURSO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16 · L2 y regulación</dc:title>
  <dc:subject>Sesión 16 · L2 y regulación</dc:subject>
  <dc:creator>Universidad de San Buenaventura Medellín</dc:creator>
  <cp:lastModifiedBy>Universidad de San Buenaventura Medellín</cp:lastModifiedBy>
  <cp:revision>1</cp:revision>
  <dcterms:created xsi:type="dcterms:W3CDTF">2026-09-13T18:10:46Z</dcterms:created>
  <dcterms:modified xsi:type="dcterms:W3CDTF">2026-09-13T18:10:46Z</dcterms:modified>
</cp:coreProperties>
</file>