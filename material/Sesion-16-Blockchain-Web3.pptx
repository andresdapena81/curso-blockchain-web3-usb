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Penúltima sesión. La parte regulatoria (bloque B) se verificó en fuentes oficiales el 17 de septiembre de 2026; antes de dictar, revisar la lámina B.10 («Estado verificado») y actualizar lo que haya cambiado. Se recibe el Avance 2. Enganche: «¿cuánto les costó desplegar en Sepolia en la Sesión 13? Hoy lo van a comparar con una capa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Suma: 10 de apertura + 50 + 45 + 55 + 20 = 180. Pausa de 10 minutos entre B y C, descontada del laboratorio: el despliegue en dos redes se puede terminar en casa con la guía PDF. El Avance 2 se revisa al final para no cortar el laboratorio.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cierre, cada pregunta debe tener respuesta en una frase. La cuarta es la del taller y la del ensayo. 2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Señalar Blob y PSAV: el primero explica la caída de costos de las L2; el segundo es la palabra clave de la regulación colombiana. 2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Bloque A: 50 minutos, unas 3 por lámina. Las de números (A.1, A.9) piden más.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Datos consultados en vivo el 17-09-2026 con eth_getBlockByNumber a un RPC público de mainnet: bloque 26 000 939, gasLimit 60 000 000, 169 transacciones, 4 blobs. El límite de gas cambia con el tiempo (los validadores lo votan): repetir la consulta antes de dictar. La cifra de «miles» de tarjetas es deliberadamente vaga: no citar un número sin fuente. 4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última viñeta es la prueba de fuego para distinguir una L2 de verdad de una cadena aparte: ¿pueden los usuarios retirar sus fondos a la L1 sin permiso del operador? L2BEAT clasifica los rollups por esto (etapas 0, 1 y 2). 3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Verificado el 17 de septiembre de 2026: docs.optimism.io/app-developers/bridging/messaging dice 7 días en mainnet; docs.arbitrum.io (l2-to-l1-messaging) dice 6,4 días; en OP Sepolia se leyó en cadena proofMaturityDelaySeconds = 604 800 s (7 días), y el tutorial de puentes de Optimism confirma que la testnet replica mainnet (una página vieja de Optimism dice que es más corto: está desactualizada). Error típico: «optimista = inseguro». Basta UN verificador honesto que vigile. Consecuencia para el laboratorio: DEPOSITAR en OP Sepolia tarda minutos; RETIRAR, 7 días. 4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sudoku es la analogía de P frente a NP que usa casi toda la literatura divulgativa. Vuelve el tema de la S15 (divulgación selectiva): la misma familia de técnicas, usada para otra cosa. 3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ejemplos son redes conocidas en funcionamiento a la fecha; no implica recomendación. Starknet no ejecuta bytecode EVM (usa Cairo): buena pregunta para detectar quién leyó con cuidado. 3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Error típico: llamar «L2» a una sidechain. La prueba de A.2: ¿los fondos están asegurados por la L1 o por los validadores de la otra cadena? Si alguien intenta cerrar el canal con un estado viejo, la contraparte presenta el más reciente (firmado por ambos) durante un plazo de disputa. 3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tercera viñeta de la derecha causa pérdidas reales: enviar tokens a «la misma dirección» en otra red cuando esa dirección es un contrato que no existe allí. Pregunta: ¿qué define el chainId y por qué la firma de una transacción lo incluye (EIP-155)? 3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Verificado el 17 de septiembre de 2026: blog.ethereum.org (anuncios de Dencun 27-02-2024, Pectra 23-04-2025 y Fusaka 06-11-2025); eips.ethereum.org/EIPS/eip-4844 (4096 × 32 bytes = 128 KiB, MIN_EPOCHS_FOR_BLOB_SIDECARS_REQUESTS = 4096 épocas ≈ 18 días) y EIP-7691. Cifras de caída de tarifas: dlnews.com, «Ethereum's Dencun upgrade cuts layer 2 fees as much as 98%» (fuente secundaria con datos de growthepie). El bloque de mainnet consultado hoy usaba 4 blobs. Error típico: «los blobs sirven para guardar archivos». Caducan. 4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Recibo leído el 17 de septiembre de 2026 con eth_getTransactionReceipt en https://sepolia.optimism.io (una transacción del bloque 48 944 873). Cuenta: 123 824 × 1 700 250 = 210 532 956 000 wei; más 44 559 595 925 = 255 092 551 925 wei ≈ 2,55 × 10⁻⁷ ETH; 44,56 / 255,09 ≈ 17 %. La fórmula del l1Fee (Ecotone/Fjord) está en docs.optimism.io/stack/transactions/fees; no hace falta explicarla. También existe el predeploy GasPriceOracle (0x42…0F) con getL1Fee(bytes). 4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puente del laboratorio (L1StandardBridge de OP) es del tercer tipo. Pregunta: ¿cuál de los tres modelos usa el puente que ustedes elegirían para su proyecto, y a quién le están confiando? 3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Cifras consultadas el 17 de septiembre de 2026. Fuentes: rekt.news (ronin-rekt, wormhole-rekt, nomad-rekt y la tabla leaderboard); chainalysis.com/blog/multichain-exploit-july-2023; Elliptic (análisis de Harmony, 99,7 M). Son fuentes secundarias concordantes: los post-mortems oficiales de Ronin, Wormhole y Nomad no abrieron al verificar (404/403). Montos en USD al precio del día del robo. Suma: 624 + 320 + 190 + 126 + 100 ≈ 1 360 M. Ronin se descubrió seis días después (29-mar-2022). ⚠ VERIFICAR ANTES DE DICTAR si se quiere citar el post-mortem oficial de cada proyecto. 4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Fuente: rekt.news/ronin-rekt (consultada el 17-09-2026): 4 claves de Sky Mavis por spear-phishing y 1 del Axie DAO por una allowlist nunca revocada. Es el ejemplo perfecto de A.3 de la S15: «un 2 de 3 en el mismo portátil es un 1 de 1». 3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Resumen para repasar. 2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en parejas. Pausa de 10 minutos antes del bloque B si el tiempo va justo.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Bloque B: 45 minutos. Si hay un profesional invitado, este es su espacio. Cada lámina trae en las notas la fuente oficial exacta.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Recomendación del plan de estudios: invitar a un abogado o a un oficial de cumplimiento (SARLAFT) de una entidad financiera o de un PSAV. 15-20 minutos de su parte encajan en B.2-B.5. 3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Fuentes (consultadas el 17 de septiembre de 2026): superfinanciera.gov.co/publicaciones/10082339 (CC 29/2014), /10085788 (CC 78/2016), /10087902 (CC 52/2017) y /10115324 «¿Qué son los activos digitales o criptoactivos?» (modificada 11/06/2026). La posición del Banco de la República se confirmó tal como la citan la SFC y la DIAN; las páginas de conceptos de banrep.gov.co no abrieron al verificar (bloqueo de bots). ⚠ VERIFICAR ANTES DE DICTAR en banrep.gov.co si se cita al BanRep como fuente directa. 4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Fuentes (consultadas el 17 de septiembre de 2026): uiaf.gov.co/sites/default/files/2024-10/Resolución_314_de_2021_AV.pdf (arts. 2 a 7, 11 y 12), uiaf.gov.co/sites/default/files/2024-10/Resolucion_84_de_2022.pdf y uiaf.gov.co/sector/activos-virtuales (publica el calendario de reportes 2026). No se encontraron modificaciones posteriores. ⚠ VERIFICAR ANTES DE DICTAR si hubo cambios en 2026. Pregunta: ¿su proyecto sería un PSAV? Casi nunca: un registro de certificados no intercambia activos por cuenta de clientes. 4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Fuentes (consultadas el 17 de septiembre de 2026): normograma.dian.gov.co/dian/compilacion/docs/oficio_dian_18075_2023.htm; dian.gov.co/normatividad/Normatividad/Resolución 000240 de 24-12-2025.pdf (arts. 1.6.11.1 y 1.6.11.4; adiciona el Capítulo 11 a la Resolución 000227 de 2025; Colombia firmó el acuerdo CARF el 31-oct-2024). «Primer reporte en mayo de 2027» es una INFERENCIA de los arts. 1.6.11.1 y 1.6.11.4, no una frase literal: ⚠ VERIFICAR ANTES DE DICTAR. Tampoco se verificó la resolución de exógena «tradicional» (Formato 1012, concepto 1206) vigente para 2026. 4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Fuentes (consultadas el 17 de septiembre de 2026): funcionpublica.gov.co (Decreto 1234 de 2020, norma i=142005); superfinanciera.gov.co/publicaciones/10107301 (pruebas en el sandbox) y /10115218 (balance del cierre del piloto). Matiz: la SFC sitúa el piloto en «laArenera» y distingue entre su arenera y el espacio controlado del Decreto 1234; no presentarlo como «un piloto del Decreto 1234». No se encontró un informe final formal, solo el comunicado de balance. ⚠ VERIFICAR ANTES DE DICTAR. 4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Fuentes (consultadas el 17 de septiembre de 2026): camara.gov.co/criptoactivos-2227 y camara.gov.co/servicios-activos-virtuales-497; senado.gov.co, noticia 4578 (tercer debate). No se confirmaron radicaciones nuevas en la legislatura 2026-2027 (desde el 20-jul-2026): la prensa menciona iniciativas, pero no se encontró la fuente oficial. ⚠ VERIFICAR ANTES DE DICTAR en camara.gov.co y senado.gov.co. 3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Fuente: eur-lex.europa.eu, CELEX:32023R1114, arts. 143.3 y 149 (texto literal consultado el 17 de septiembre de 2026). Ojo: un resumen automático de EUR-Lex dio mal las fechas al verificar; se leyó el artículo 149 directamente. La última frase se deduce del fin del transitorio máximo (1-jul-2026); los plazos de cada país están en la lista de ESMA: ⚠ VERIFICAR si se menciona un país concreto. 3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Fuentes (consultadas el 17 de septiembre de 2026): fatf-gafi.org, «Updated Guidance for a Risk-Based Approach to Virtual Assets and VASPs» (párrafos 146, 149 y 191) y la publicación de la actualización de la R.16 (junio de 2025); eur-lex.europa.eu CELEX:32023R1113 (art. 40 y considerando 30). No se leyó el texto vigente de la nota interpretativa de la R.15 ni la «Seventh Targeted Update» de julio de 2026: ⚠ VERIFICAR ANTES DE DICTAR. Colombia es miembro de GAFILAT, el regional del GAFI. 4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dar una respuesta cerrada: es el punto. Si hay un abogado invitado, esta es la lámina para él. Conectar con el anteproyecto: casi todos escribieron «el contrato garantiza…». 3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Fuente de la cifra energética: ethereum.org/energy-consumption (consultada el 17 de septiembre de 2026), que cita al Crypto Carbon Ratings Institute (CCRI). 3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URL completas (todas abiertas el 17 de septiembre de 2026): superfinanciera.gov.co/publicaciones/10082339/ · /10085788/ · /10087902/ · /10115324/ · /10115249/ · /10107301/ · /10115218/ · /10114254/ | funcionpublica.gov.co/eva/gestornormativo/norma.php?i=142005 | uiaf.gov.co/sites/default/files/2024-10/Resolución_314_de_2021_AV.pdf · uiaf.gov.co/sites/default/files/2024-10/Resolucion_84_de_2022.pdf · uiaf.gov.co/sector/activos-virtuales | dian.gov.co/normatividad/Normatividad/Resolución 000240 de 24-12-2025.pdf · normograma.dian.gov.co/dian/compilacion/docs/oficio_dian_18075_2023.htm | camara.gov.co/criptoactivos-2227/ · camara.gov.co/servicios-activos-virtuales-497/ · senado.gov.co/index.php/el-senado/noticias/4578-proyecto-de-criptoactivos-supera-otro-debate-en-el-congreso | eur-lex.europa.eu/legal-content/EN/TXT/HTML/?uri=CELEX:32023R1114 · ...CELEX:32023R1113 | fatf-gafi.org/en/publications/Fatfrecommendations/update-Recommendation-16-payment-transparency-june-2025.html · fatf-gafi.org/content/dam/fatf-gafi/guidance/Updated-Guidance-VA-VASP.pdf. Se sugiere invitar a un profesional jurídico o de cumplimiento para esta sesión. 2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en parejas. Premiar a quien cite la resolución con número: es la costumbre que queremos.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Bloque C: 55 minutos. Guía completa: laboratorios-evm/guias/s16-capa2-comparativa.pdf. Si los faucets fallan, el docente reparte ETH de OP Sepolia desde la billetera institucional.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hardhat.config.js ya define la red opSepolia (chainType op). No se toca el archivo de configuración: solo el keystore. 3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Verificado el 17 de septiembre de 2026: docs.optimism.io/app-developers/tools/faucets; direcciones en el superchain-registry (github.com/ethereum-optimism/superchain-registry, superchain/configs/sepolia/op.toml): L1StandardBridgeProxy 0xFBb0621E0B23b5478B630BD55a5f21f67730B0F1. Enviar ETH directamente al proxy desde una cuenta normal (EOA) deposita la misma cantidad a la misma dirección en OP Sepolia. Tiempo de depósito 1-3 min según docs.optimism.io. chainId OP Sepolia: 11155420. ⚠ VERIFICAR ANTES DE DICTAR que los faucets sigan activos. 4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Medido en la red local el 17-09-2026: desplegar SelloTiempo usa 169 615 de gas y sellar(hash) 90 279. El tiempo de bloque de OP Sepolia es de 2 s (dato del OP Stack; se puede comprobar comparando timestamps de bloques consecutivos). 3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Estimación calculada el 17-09-2026: gas de sellar medido en local (90 279) × precios observados ese día en nodos públicos (base fee de Sepolia 1,075106545 gwei; effectiveGasPrice típico de OP Sepolia 1 700 250 wei; l1Fee de una transacción pequeña de OP Sepolia con l1GasUsed 1 600 = 16 746 508 672 wei). Sepolia: 90 279 × 1,0751 gwei = 97 059 543 776 055 wei. OP Sepolia: 153 496 869 750 + 16 746 508 672 = 170 243 378 422 wei. Razón ≈ 570. Los estudiantes deben reemplazar todo con SUS números. 3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guía PDF trae la tabla ampliada. 2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Circular por los equipos. Respuesta típica correcta: la mayoría de proyectos del curso NO son PSAV; su obligación más real es la Ley 1581. Premiar al equipo que descubra que su diseño obliga a algo que no había previsto. 20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Parte del 4 % de «Laboratorios S14–S16». 2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Bloque D: 20 minutos. Documento público con checklist y rúbrica: material/proyecto/03-avance-2.pdf.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Peso según la sección 8 del plan (Avance 2: 10 %). Ojo: la sección 9 del plan agrupa todos los avances en un 28 %; material/proyecto/README.md explica la discrepancia y la decisión que debe anunciar el docente. Detalle y rúbrica en proyecto/03-avance-2.pdf. 4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equipos de 3 y ~6 equipos, 3 minutos por equipo caben en 20. Si hay más equipos, revisar la mitad hoy y la otra mitad con el video. La rúbrica detallada está en el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respuesta a la pregunta de la semana es una lámina natural de la sustentación: «limitaciones y costos» (punto 5 de la estructura del Demo Day, plan de estudios).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Volver a la lámina de objetivos: una frase por pregunta. Recordar la fecha del ensayo y del Demo Day. 2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0"/>
            <a:ext cx="3749040" cy="6858000"/>
          </a:xfrm>
          <a:prstGeom prst="rect">
            <a:avLst/>
          </a:prstGeom>
          <a:solidFill>
            <a:srgbClr val="F07F06"/>
          </a:solidFill>
          <a:ln w="12700">
            <a:solidFill>
              <a:srgbClr val="333333"/>
            </a:solidFill>
            <a:prstDash val="solid"/>
          </a:ln>
        </p:spPr>
      </p:sp>
      <p:pic>
        <p:nvPicPr>
          <p:cNvPr id="3" name="Image 0" descr="preencoded.png">    </p:cNvPr>
          <p:cNvPicPr>
            <a:picLocks noChangeAspect="1"/>
          </p:cNvPicPr>
          <p:nvPr/>
        </p:nvPicPr>
        <p:blipFill>
          <a:blip r:embed="rId1"/>
          <a:stretch>
            <a:fillRect/>
          </a:stretch>
        </p:blipFill>
        <p:spPr>
          <a:xfrm>
            <a:off x="1234440" y="2331720"/>
            <a:ext cx="1280160" cy="1280160"/>
          </a:xfrm>
          <a:prstGeom prst="rect">
            <a:avLst/>
          </a:prstGeom>
        </p:spPr>
      </p:pic>
      <p:sp>
        <p:nvSpPr>
          <p:cNvPr id="4" name="Text 1"/>
          <p:cNvSpPr/>
          <p:nvPr/>
        </p:nvSpPr>
        <p:spPr>
          <a:xfrm>
            <a:off x="137160" y="3794760"/>
            <a:ext cx="3474720" cy="640080"/>
          </a:xfrm>
          <a:prstGeom prst="rect">
            <a:avLst/>
          </a:prstGeom>
          <a:noFill/>
          <a:ln/>
        </p:spPr>
        <p:txBody>
          <a:bodyPr wrap="square" lIns="0" tIns="0" rIns="0" bIns="0" rtlCol="0" anchor="ctr"/>
          <a:lstStyle/>
          <a:p>
            <a:pPr algn="ctr" indent="0" marL="0">
              <a:buNone/>
            </a:pPr>
            <a:r>
              <a:rPr lang="en-US" sz="2700" dirty="0">
                <a:solidFill>
                  <a:srgbClr val="0F0F11"/>
                </a:solidFill>
                <a:latin typeface="Arial Black" pitchFamily="34" charset="0"/>
                <a:ea typeface="Arial Black" pitchFamily="34" charset="-122"/>
                <a:cs typeface="Arial Black" pitchFamily="34" charset="-120"/>
              </a:rPr>
              <a:t>ESCALAR</a:t>
            </a:r>
            <a:endParaRPr lang="en-US" sz="2700" dirty="0"/>
          </a:p>
        </p:txBody>
      </p:sp>
      <p:pic>
        <p:nvPicPr>
          <p:cNvPr id="5" name="Image 1" descr="preencoded.png">    </p:cNvPr>
          <p:cNvPicPr>
            <a:picLocks noChangeAspect="1"/>
          </p:cNvPicPr>
          <p:nvPr/>
        </p:nvPicPr>
        <p:blipFill>
          <a:blip r:embed="rId2"/>
          <a:stretch>
            <a:fillRect/>
          </a:stretch>
        </p:blipFill>
        <p:spPr>
          <a:xfrm>
            <a:off x="4389120" y="1115568"/>
            <a:ext cx="310896" cy="310896"/>
          </a:xfrm>
          <a:prstGeom prst="rect">
            <a:avLst/>
          </a:prstGeom>
        </p:spPr>
      </p:pic>
      <p:sp>
        <p:nvSpPr>
          <p:cNvPr id="6" name="Text 2"/>
          <p:cNvSpPr/>
          <p:nvPr/>
        </p:nvSpPr>
        <p:spPr>
          <a:xfrm>
            <a:off x="4809744" y="1097280"/>
            <a:ext cx="6858000" cy="347472"/>
          </a:xfrm>
          <a:prstGeom prst="rect">
            <a:avLst/>
          </a:prstGeom>
          <a:noFill/>
          <a:ln/>
        </p:spPr>
        <p:txBody>
          <a:bodyPr wrap="square" lIns="0" tIns="0" rIns="0" bIns="0" rtlCol="0" anchor="ctr"/>
          <a:lstStyle/>
          <a:p>
            <a:pPr indent="0" marL="0">
              <a:buNone/>
            </a:pPr>
            <a:r>
              <a:rPr lang="en-US" sz="1050" spc="150" kern="0" dirty="0">
                <a:solidFill>
                  <a:srgbClr val="F07F06"/>
                </a:solidFill>
                <a:latin typeface="Courier New" pitchFamily="34" charset="0"/>
                <a:ea typeface="Courier New" pitchFamily="34" charset="-122"/>
                <a:cs typeface="Courier New" pitchFamily="34" charset="-120"/>
              </a:rPr>
              <a:t>SESIÓN 16 · UNIDAD IV · ECOSISTEMA</a:t>
            </a:r>
            <a:endParaRPr lang="en-US" sz="1050" dirty="0"/>
          </a:p>
        </p:txBody>
      </p:sp>
      <p:sp>
        <p:nvSpPr>
          <p:cNvPr id="7" name="Text 3"/>
          <p:cNvSpPr/>
          <p:nvPr/>
        </p:nvSpPr>
        <p:spPr>
          <a:xfrm>
            <a:off x="4389120" y="1719072"/>
            <a:ext cx="7269480" cy="2377440"/>
          </a:xfrm>
          <a:prstGeom prst="rect">
            <a:avLst/>
          </a:prstGeom>
          <a:noFill/>
          <a:ln/>
        </p:spPr>
        <p:txBody>
          <a:bodyPr wrap="square" lIns="0" tIns="0" rIns="0" bIns="0" rtlCol="0" anchor="t"/>
          <a:lstStyle/>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CÓMO ESCALA,</a:t>
            </a:r>
            <a:endParaRPr lang="en-US" sz="3800" dirty="0"/>
          </a:p>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QUÉ SE ROBA</a:t>
            </a:r>
            <a:endParaRPr lang="en-US" sz="3800" dirty="0"/>
          </a:p>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Y QUÉ DICE LA LEY</a:t>
            </a:r>
            <a:endParaRPr lang="en-US" sz="3800" dirty="0"/>
          </a:p>
        </p:txBody>
      </p:sp>
      <p:sp>
        <p:nvSpPr>
          <p:cNvPr id="8" name="Text 4"/>
          <p:cNvSpPr/>
          <p:nvPr/>
        </p:nvSpPr>
        <p:spPr>
          <a:xfrm>
            <a:off x="4389120" y="4224528"/>
            <a:ext cx="7269480" cy="685800"/>
          </a:xfrm>
          <a:prstGeom prst="rect">
            <a:avLst/>
          </a:prstGeom>
          <a:noFill/>
          <a:ln/>
        </p:spPr>
        <p:txBody>
          <a:bodyPr wrap="square" lIns="0" tIns="0" rIns="0" bIns="0" rtlCol="0" anchor="t"/>
          <a:lstStyle/>
          <a:p>
            <a:pPr indent="0" marL="0">
              <a:lnSpc>
                <a:spcPct val="120000"/>
              </a:lnSpc>
              <a:buNone/>
            </a:pPr>
            <a:r>
              <a:rPr lang="en-US" sz="1500" dirty="0">
                <a:solidFill>
                  <a:srgbClr val="B9B4C4"/>
                </a:solidFill>
                <a:latin typeface="Arial" pitchFamily="34" charset="0"/>
                <a:ea typeface="Arial" pitchFamily="34" charset="-122"/>
                <a:cs typeface="Arial" pitchFamily="34" charset="-120"/>
              </a:rPr>
              <a:t>La capa base no alcanza, los puentes concentran el riesgo y una solución impecable puede ser ilegal. Hoy, las tres cosas.</a:t>
            </a:r>
            <a:endParaRPr lang="en-US" sz="1500" dirty="0"/>
          </a:p>
        </p:txBody>
      </p:sp>
      <p:sp>
        <p:nvSpPr>
          <p:cNvPr id="9" name="Text 5"/>
          <p:cNvSpPr/>
          <p:nvPr/>
        </p:nvSpPr>
        <p:spPr>
          <a:xfrm>
            <a:off x="4389120" y="5120640"/>
            <a:ext cx="7269480" cy="731520"/>
          </a:xfrm>
          <a:prstGeom prst="rect">
            <a:avLst/>
          </a:prstGeom>
          <a:noFill/>
          <a:ln/>
        </p:spPr>
        <p:txBody>
          <a:bodyPr wrap="square" lIns="0" tIns="0" rIns="0" bIns="0" rtlCol="0" anchor="t"/>
          <a:lstStyle/>
          <a:p>
            <a:pPr indent="0" marL="0">
              <a:lnSpc>
                <a:spcPct val="125000"/>
              </a:lnSpc>
              <a:buNone/>
            </a:pPr>
            <a:r>
              <a:rPr lang="en-US" sz="1300" dirty="0">
                <a:solidFill>
                  <a:srgbClr val="8B8697"/>
                </a:solidFill>
                <a:latin typeface="Arial" pitchFamily="34" charset="0"/>
                <a:ea typeface="Arial" pitchFamily="34" charset="-122"/>
                <a:cs typeface="Arial" pitchFamily="34" charset="-120"/>
              </a:rPr>
              <a:t>Blockchain y Web 3.0 · Ingeniería de Sistemas</a:t>
            </a:r>
            <a:endParaRPr lang="en-US" sz="1300" dirty="0"/>
          </a:p>
          <a:p>
            <a:pPr indent="0" marL="0">
              <a:lnSpc>
                <a:spcPct val="125000"/>
              </a:lnSpc>
              <a:buNone/>
            </a:pPr>
            <a:r>
              <a:rPr lang="en-US" sz="1300" dirty="0">
                <a:solidFill>
                  <a:srgbClr val="8B8697"/>
                </a:solidFill>
                <a:latin typeface="Arial" pitchFamily="34" charset="0"/>
                <a:ea typeface="Arial" pitchFamily="34" charset="-122"/>
                <a:cs typeface="Arial" pitchFamily="34" charset="-120"/>
              </a:rPr>
              <a:t>Universidad de San Buenaventura Medellín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LO DE HOY</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CÓMO VAMOS A USAR LAS TRES HORAS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16 · ESCALABILIDAD Y REGULACIÓN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02</a:t>
            </a:r>
            <a:endParaRPr lang="en-US" sz="900" dirty="0"/>
          </a:p>
        </p:txBody>
      </p:sp>
      <p:sp>
        <p:nvSpPr>
          <p:cNvPr id="8" name="Text 5"/>
          <p:cNvSpPr/>
          <p:nvPr/>
        </p:nvSpPr>
        <p:spPr>
          <a:xfrm>
            <a:off x="566928" y="1737360"/>
            <a:ext cx="11057839" cy="566928"/>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Tres temas que todo proyecto real enfrenta tarde o temprano: no escala, cruzar cadenas es peligroso y no está claro qué obliga la ley. Y el laboratorio mide costos de verdad.</a:t>
            </a:r>
            <a:endParaRPr lang="en-US" sz="1450" dirty="0"/>
          </a:p>
        </p:txBody>
      </p:sp>
      <p:sp>
        <p:nvSpPr>
          <p:cNvPr id="9" name="Shape 6"/>
          <p:cNvSpPr/>
          <p:nvPr/>
        </p:nvSpPr>
        <p:spPr>
          <a:xfrm>
            <a:off x="566928" y="2395728"/>
            <a:ext cx="11057839" cy="786384"/>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0" name="Shape 7"/>
          <p:cNvSpPr/>
          <p:nvPr/>
        </p:nvSpPr>
        <p:spPr>
          <a:xfrm>
            <a:off x="566928" y="2395728"/>
            <a:ext cx="777240" cy="786384"/>
          </a:xfrm>
          <a:prstGeom prst="rect">
            <a:avLst/>
          </a:prstGeom>
          <a:solidFill>
            <a:srgbClr val="F07F06"/>
          </a:solidFill>
          <a:ln w="12700">
            <a:solidFill>
              <a:srgbClr val="333333"/>
            </a:solidFill>
            <a:prstDash val="solid"/>
          </a:ln>
        </p:spPr>
      </p:sp>
      <p:sp>
        <p:nvSpPr>
          <p:cNvPr id="11" name="Text 8"/>
          <p:cNvSpPr/>
          <p:nvPr/>
        </p:nvSpPr>
        <p:spPr>
          <a:xfrm>
            <a:off x="566928" y="2395728"/>
            <a:ext cx="777240" cy="786384"/>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A</a:t>
            </a:r>
            <a:endParaRPr lang="en-US" sz="2800" dirty="0"/>
          </a:p>
        </p:txBody>
      </p:sp>
      <p:sp>
        <p:nvSpPr>
          <p:cNvPr id="12" name="Text 9"/>
          <p:cNvSpPr/>
          <p:nvPr/>
        </p:nvSpPr>
        <p:spPr>
          <a:xfrm>
            <a:off x="1572768" y="2523744"/>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ESCALABILIDAD Y PUENTES</a:t>
            </a:r>
            <a:endParaRPr lang="en-US" sz="1100" dirty="0"/>
          </a:p>
        </p:txBody>
      </p:sp>
      <p:sp>
        <p:nvSpPr>
          <p:cNvPr id="13" name="Text 10"/>
          <p:cNvSpPr/>
          <p:nvPr/>
        </p:nvSpPr>
        <p:spPr>
          <a:xfrm>
            <a:off x="1572768" y="2852928"/>
            <a:ext cx="7863840" cy="27432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Trilema, rollups, sidechains, blobs y los mayores robos a puentes.</a:t>
            </a:r>
            <a:endParaRPr lang="en-US" sz="1250" dirty="0"/>
          </a:p>
        </p:txBody>
      </p:sp>
      <p:sp>
        <p:nvSpPr>
          <p:cNvPr id="14" name="Text 11"/>
          <p:cNvSpPr/>
          <p:nvPr/>
        </p:nvSpPr>
        <p:spPr>
          <a:xfrm>
            <a:off x="9704527" y="2395728"/>
            <a:ext cx="1691640" cy="786384"/>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~50 min</a:t>
            </a:r>
            <a:endParaRPr lang="en-US" sz="1200" dirty="0"/>
          </a:p>
        </p:txBody>
      </p:sp>
      <p:sp>
        <p:nvSpPr>
          <p:cNvPr id="15" name="Shape 12"/>
          <p:cNvSpPr/>
          <p:nvPr/>
        </p:nvSpPr>
        <p:spPr>
          <a:xfrm>
            <a:off x="566928" y="3291840"/>
            <a:ext cx="11057839" cy="786384"/>
          </a:xfrm>
          <a:prstGeom prst="rect">
            <a:avLst/>
          </a:prstGeom>
          <a:solidFill>
            <a:srgbClr val="FAF9FB"/>
          </a:solidFill>
          <a:ln w="22225">
            <a:solidFill>
              <a:srgbClr val="0F0F11"/>
            </a:solidFill>
            <a:prstDash val="solid"/>
          </a:ln>
        </p:spPr>
      </p:sp>
      <p:sp>
        <p:nvSpPr>
          <p:cNvPr id="16" name="Shape 13"/>
          <p:cNvSpPr/>
          <p:nvPr/>
        </p:nvSpPr>
        <p:spPr>
          <a:xfrm>
            <a:off x="566928" y="3291840"/>
            <a:ext cx="777240" cy="786384"/>
          </a:xfrm>
          <a:prstGeom prst="rect">
            <a:avLst/>
          </a:prstGeom>
          <a:solidFill>
            <a:srgbClr val="D9D6E0"/>
          </a:solidFill>
          <a:ln w="12700">
            <a:solidFill>
              <a:srgbClr val="333333"/>
            </a:solidFill>
            <a:prstDash val="solid"/>
          </a:ln>
        </p:spPr>
      </p:sp>
      <p:sp>
        <p:nvSpPr>
          <p:cNvPr id="17" name="Text 14"/>
          <p:cNvSpPr/>
          <p:nvPr/>
        </p:nvSpPr>
        <p:spPr>
          <a:xfrm>
            <a:off x="566928" y="3291840"/>
            <a:ext cx="777240" cy="786384"/>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B</a:t>
            </a:r>
            <a:endParaRPr lang="en-US" sz="2800" dirty="0"/>
          </a:p>
        </p:txBody>
      </p:sp>
      <p:sp>
        <p:nvSpPr>
          <p:cNvPr id="18" name="Text 15"/>
          <p:cNvSpPr/>
          <p:nvPr/>
        </p:nvSpPr>
        <p:spPr>
          <a:xfrm>
            <a:off x="1572768" y="3419856"/>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MARCO REGULATORIO</a:t>
            </a:r>
            <a:endParaRPr lang="en-US" sz="1100" dirty="0"/>
          </a:p>
        </p:txBody>
      </p:sp>
      <p:sp>
        <p:nvSpPr>
          <p:cNvPr id="19" name="Text 16"/>
          <p:cNvSpPr/>
          <p:nvPr/>
        </p:nvSpPr>
        <p:spPr>
          <a:xfrm>
            <a:off x="1572768" y="3749040"/>
            <a:ext cx="7863840" cy="27432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SFC, UIAF, DIAN, arenera, Congreso, MiCA y Travel Rule. Verificado a hoy.</a:t>
            </a:r>
            <a:endParaRPr lang="en-US" sz="1250" dirty="0"/>
          </a:p>
        </p:txBody>
      </p:sp>
      <p:sp>
        <p:nvSpPr>
          <p:cNvPr id="20" name="Text 17"/>
          <p:cNvSpPr/>
          <p:nvPr/>
        </p:nvSpPr>
        <p:spPr>
          <a:xfrm>
            <a:off x="9704527" y="3291840"/>
            <a:ext cx="1691640" cy="786384"/>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~45 min</a:t>
            </a:r>
            <a:endParaRPr lang="en-US" sz="1200" dirty="0"/>
          </a:p>
        </p:txBody>
      </p:sp>
      <p:sp>
        <p:nvSpPr>
          <p:cNvPr id="21" name="Shape 18"/>
          <p:cNvSpPr/>
          <p:nvPr/>
        </p:nvSpPr>
        <p:spPr>
          <a:xfrm>
            <a:off x="566928" y="4187952"/>
            <a:ext cx="11057839" cy="786384"/>
          </a:xfrm>
          <a:prstGeom prst="rect">
            <a:avLst/>
          </a:prstGeom>
          <a:solidFill>
            <a:srgbClr val="FAF9FB"/>
          </a:solidFill>
          <a:ln w="22225">
            <a:solidFill>
              <a:srgbClr val="0F0F11"/>
            </a:solidFill>
            <a:prstDash val="solid"/>
          </a:ln>
        </p:spPr>
      </p:sp>
      <p:sp>
        <p:nvSpPr>
          <p:cNvPr id="22" name="Shape 19"/>
          <p:cNvSpPr/>
          <p:nvPr/>
        </p:nvSpPr>
        <p:spPr>
          <a:xfrm>
            <a:off x="566928" y="4187952"/>
            <a:ext cx="777240" cy="786384"/>
          </a:xfrm>
          <a:prstGeom prst="rect">
            <a:avLst/>
          </a:prstGeom>
          <a:solidFill>
            <a:srgbClr val="D9D6E0"/>
          </a:solidFill>
          <a:ln w="12700">
            <a:solidFill>
              <a:srgbClr val="333333"/>
            </a:solidFill>
            <a:prstDash val="solid"/>
          </a:ln>
        </p:spPr>
      </p:sp>
      <p:sp>
        <p:nvSpPr>
          <p:cNvPr id="23" name="Text 20"/>
          <p:cNvSpPr/>
          <p:nvPr/>
        </p:nvSpPr>
        <p:spPr>
          <a:xfrm>
            <a:off x="566928" y="4187952"/>
            <a:ext cx="777240" cy="786384"/>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C</a:t>
            </a:r>
            <a:endParaRPr lang="en-US" sz="2800" dirty="0"/>
          </a:p>
        </p:txBody>
      </p:sp>
      <p:sp>
        <p:nvSpPr>
          <p:cNvPr id="24" name="Text 21"/>
          <p:cNvSpPr/>
          <p:nvPr/>
        </p:nvSpPr>
        <p:spPr>
          <a:xfrm>
            <a:off x="1572768" y="4315968"/>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LABORATORIO 16 + TALLER</a:t>
            </a:r>
            <a:endParaRPr lang="en-US" sz="1100" dirty="0"/>
          </a:p>
        </p:txBody>
      </p:sp>
      <p:sp>
        <p:nvSpPr>
          <p:cNvPr id="25" name="Text 22"/>
          <p:cNvSpPr/>
          <p:nvPr/>
        </p:nvSpPr>
        <p:spPr>
          <a:xfrm>
            <a:off x="1572768" y="4645152"/>
            <a:ext cx="7863840" cy="27432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El mismo contrato en Sepolia y OP Sepolia; taller regulatorio del proyecto.</a:t>
            </a:r>
            <a:endParaRPr lang="en-US" sz="1250" dirty="0"/>
          </a:p>
        </p:txBody>
      </p:sp>
      <p:sp>
        <p:nvSpPr>
          <p:cNvPr id="26" name="Text 23"/>
          <p:cNvSpPr/>
          <p:nvPr/>
        </p:nvSpPr>
        <p:spPr>
          <a:xfrm>
            <a:off x="9704527" y="4187952"/>
            <a:ext cx="1691640" cy="786384"/>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~55 min</a:t>
            </a:r>
            <a:endParaRPr lang="en-US" sz="1200" dirty="0"/>
          </a:p>
        </p:txBody>
      </p:sp>
      <p:sp>
        <p:nvSpPr>
          <p:cNvPr id="27" name="Shape 24"/>
          <p:cNvSpPr/>
          <p:nvPr/>
        </p:nvSpPr>
        <p:spPr>
          <a:xfrm>
            <a:off x="566928" y="5084064"/>
            <a:ext cx="11057839" cy="786384"/>
          </a:xfrm>
          <a:prstGeom prst="rect">
            <a:avLst/>
          </a:prstGeom>
          <a:solidFill>
            <a:srgbClr val="FAF9FB"/>
          </a:solidFill>
          <a:ln w="22225">
            <a:solidFill>
              <a:srgbClr val="0F0F11"/>
            </a:solidFill>
            <a:prstDash val="solid"/>
          </a:ln>
        </p:spPr>
      </p:sp>
      <p:sp>
        <p:nvSpPr>
          <p:cNvPr id="28" name="Shape 25"/>
          <p:cNvSpPr/>
          <p:nvPr/>
        </p:nvSpPr>
        <p:spPr>
          <a:xfrm>
            <a:off x="566928" y="5084064"/>
            <a:ext cx="777240" cy="786384"/>
          </a:xfrm>
          <a:prstGeom prst="rect">
            <a:avLst/>
          </a:prstGeom>
          <a:solidFill>
            <a:srgbClr val="D9D6E0"/>
          </a:solidFill>
          <a:ln w="12700">
            <a:solidFill>
              <a:srgbClr val="333333"/>
            </a:solidFill>
            <a:prstDash val="solid"/>
          </a:ln>
        </p:spPr>
      </p:sp>
      <p:sp>
        <p:nvSpPr>
          <p:cNvPr id="29" name="Text 26"/>
          <p:cNvSpPr/>
          <p:nvPr/>
        </p:nvSpPr>
        <p:spPr>
          <a:xfrm>
            <a:off x="566928" y="5084064"/>
            <a:ext cx="777240" cy="786384"/>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D</a:t>
            </a:r>
            <a:endParaRPr lang="en-US" sz="2800" dirty="0"/>
          </a:p>
        </p:txBody>
      </p:sp>
      <p:sp>
        <p:nvSpPr>
          <p:cNvPr id="30" name="Text 27"/>
          <p:cNvSpPr/>
          <p:nvPr/>
        </p:nvSpPr>
        <p:spPr>
          <a:xfrm>
            <a:off x="1572768" y="5212080"/>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AVANCE 2</a:t>
            </a:r>
            <a:endParaRPr lang="en-US" sz="1100" dirty="0"/>
          </a:p>
        </p:txBody>
      </p:sp>
      <p:sp>
        <p:nvSpPr>
          <p:cNvPr id="31" name="Text 28"/>
          <p:cNvSpPr/>
          <p:nvPr/>
        </p:nvSpPr>
        <p:spPr>
          <a:xfrm>
            <a:off x="1572768" y="5541264"/>
            <a:ext cx="7863840" cy="27432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Entrega y demostración corta de la dApp integrada.</a:t>
            </a:r>
            <a:endParaRPr lang="en-US" sz="1250" dirty="0"/>
          </a:p>
        </p:txBody>
      </p:sp>
      <p:sp>
        <p:nvSpPr>
          <p:cNvPr id="32" name="Text 29"/>
          <p:cNvSpPr/>
          <p:nvPr/>
        </p:nvSpPr>
        <p:spPr>
          <a:xfrm>
            <a:off x="9704527" y="5084064"/>
            <a:ext cx="1691640" cy="786384"/>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~20 min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EL PROPÓSITO DE LA SESIÓN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AL SALIR DE AQUÍ</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16 · ESCALABILIDAD Y REGULACIÓN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03</a:t>
            </a:r>
            <a:endParaRPr lang="en-US" sz="900" dirty="0"/>
          </a:p>
        </p:txBody>
      </p:sp>
      <p:sp>
        <p:nvSpPr>
          <p:cNvPr id="8" name="Shape 5"/>
          <p:cNvSpPr/>
          <p:nvPr/>
        </p:nvSpPr>
        <p:spPr>
          <a:xfrm>
            <a:off x="566928" y="1737360"/>
            <a:ext cx="11057839" cy="118872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9" name="Text 6"/>
          <p:cNvSpPr/>
          <p:nvPr/>
        </p:nvSpPr>
        <p:spPr>
          <a:xfrm>
            <a:off x="950976" y="1920240"/>
            <a:ext cx="10289743" cy="822960"/>
          </a:xfrm>
          <a:prstGeom prst="rect">
            <a:avLst/>
          </a:prstGeom>
          <a:noFill/>
          <a:ln/>
        </p:spPr>
        <p:txBody>
          <a:bodyPr wrap="square" lIns="0" tIns="0" rIns="0" bIns="0" rtlCol="0" anchor="ctr"/>
          <a:lstStyle/>
          <a:p>
            <a:pPr indent="0" marL="0">
              <a:lnSpc>
                <a:spcPct val="106000"/>
              </a:lnSpc>
              <a:buNone/>
            </a:pPr>
            <a:r>
              <a:rPr lang="en-US" sz="1900" dirty="0">
                <a:solidFill>
                  <a:srgbClr val="0F0F11"/>
                </a:solidFill>
                <a:latin typeface="Arial Black" pitchFamily="34" charset="0"/>
                <a:ea typeface="Arial Black" pitchFamily="34" charset="-122"/>
                <a:cs typeface="Arial Black" pitchFamily="34" charset="-120"/>
              </a:rPr>
              <a:t>Evaluar soluciones de escalado con datos propios y situar un proyecto blockchain en el marco legal colombiano vigente.</a:t>
            </a:r>
            <a:endParaRPr lang="en-US" sz="1900" dirty="0"/>
          </a:p>
        </p:txBody>
      </p:sp>
      <p:sp>
        <p:nvSpPr>
          <p:cNvPr id="10" name="Text 7"/>
          <p:cNvSpPr/>
          <p:nvPr/>
        </p:nvSpPr>
        <p:spPr>
          <a:xfrm>
            <a:off x="566928" y="3154680"/>
            <a:ext cx="7315200" cy="292608"/>
          </a:xfrm>
          <a:prstGeom prst="rect">
            <a:avLst/>
          </a:prstGeom>
          <a:noFill/>
          <a:ln/>
        </p:spPr>
        <p:txBody>
          <a:bodyPr wrap="square" lIns="0" tIns="0" rIns="0" bIns="0" rtlCol="0" anchor="ctr"/>
          <a:lstStyle/>
          <a:p>
            <a:pPr indent="0" marL="0">
              <a:buNone/>
            </a:pPr>
            <a:r>
              <a:rPr lang="en-US" sz="1050" b="1" spc="130" kern="0" dirty="0">
                <a:solidFill>
                  <a:srgbClr val="6F6B80"/>
                </a:solidFill>
                <a:latin typeface="Courier New" pitchFamily="34" charset="0"/>
                <a:ea typeface="Courier New" pitchFamily="34" charset="-122"/>
                <a:cs typeface="Courier New" pitchFamily="34" charset="-120"/>
              </a:rPr>
              <a:t>LAS PREGUNTAS QUE LA SESIÓN RESPONDE</a:t>
            </a:r>
            <a:endParaRPr lang="en-US" sz="1050" dirty="0"/>
          </a:p>
        </p:txBody>
      </p:sp>
      <p:sp>
        <p:nvSpPr>
          <p:cNvPr id="11" name="Text 8"/>
          <p:cNvSpPr/>
          <p:nvPr/>
        </p:nvSpPr>
        <p:spPr>
          <a:xfrm>
            <a:off x="566928" y="3566160"/>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2" name="Text 9"/>
          <p:cNvSpPr/>
          <p:nvPr/>
        </p:nvSpPr>
        <p:spPr>
          <a:xfrm>
            <a:off x="1225296" y="3630168"/>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¿Por qué la capa base no puede escalar sola, y qué hace una capa 2?</a:t>
            </a:r>
            <a:endParaRPr lang="en-US" sz="1400" dirty="0"/>
          </a:p>
        </p:txBody>
      </p:sp>
      <p:sp>
        <p:nvSpPr>
          <p:cNvPr id="13" name="Text 10"/>
          <p:cNvSpPr/>
          <p:nvPr/>
        </p:nvSpPr>
        <p:spPr>
          <a:xfrm>
            <a:off x="566928" y="4133088"/>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25296" y="4197096"/>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¿Qué diferencia un rollup optimista de uno de conocimiento cero, en seguridad y en tiempo de retiro?</a:t>
            </a:r>
            <a:endParaRPr lang="en-US" sz="1400" dirty="0"/>
          </a:p>
        </p:txBody>
      </p:sp>
      <p:sp>
        <p:nvSpPr>
          <p:cNvPr id="15" name="Text 12"/>
          <p:cNvSpPr/>
          <p:nvPr/>
        </p:nvSpPr>
        <p:spPr>
          <a:xfrm>
            <a:off x="566928" y="4700016"/>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6" name="Text 13"/>
          <p:cNvSpPr/>
          <p:nvPr/>
        </p:nvSpPr>
        <p:spPr>
          <a:xfrm>
            <a:off x="1225296" y="4764024"/>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¿Por qué los puentes concentran los mayores robos del ecosistema?</a:t>
            </a:r>
            <a:endParaRPr lang="en-US" sz="1400" dirty="0"/>
          </a:p>
        </p:txBody>
      </p:sp>
      <p:sp>
        <p:nvSpPr>
          <p:cNvPr id="17" name="Text 14"/>
          <p:cNvSpPr/>
          <p:nvPr/>
        </p:nvSpPr>
        <p:spPr>
          <a:xfrm>
            <a:off x="566928" y="5266944"/>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18" name="Text 15"/>
          <p:cNvSpPr/>
          <p:nvPr/>
        </p:nvSpPr>
        <p:spPr>
          <a:xfrm>
            <a:off x="1225296" y="5330952"/>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¿Qué obligaciones legales tendría su proyecto si saliera a producción en Colombia?</a:t>
            </a:r>
            <a:endParaRPr lang="en-US" sz="1400" dirty="0"/>
          </a:p>
        </p:txBody>
      </p:sp>
      <p:sp>
        <p:nvSpPr>
          <p:cNvPr id="19" name="Shape 16"/>
          <p:cNvSpPr/>
          <p:nvPr/>
        </p:nvSpPr>
        <p:spPr>
          <a:xfrm>
            <a:off x="566928" y="5943600"/>
            <a:ext cx="11057839" cy="457200"/>
          </a:xfrm>
          <a:prstGeom prst="rect">
            <a:avLst/>
          </a:prstGeom>
          <a:solidFill>
            <a:srgbClr val="F2F0F5"/>
          </a:solidFill>
          <a:ln w="12700">
            <a:solidFill>
              <a:srgbClr val="7152E9"/>
            </a:solidFill>
            <a:prstDash val="solid"/>
          </a:ln>
        </p:spPr>
      </p:sp>
      <p:sp>
        <p:nvSpPr>
          <p:cNvPr id="20" name="Text 17"/>
          <p:cNvSpPr/>
          <p:nvPr/>
        </p:nvSpPr>
        <p:spPr>
          <a:xfrm>
            <a:off x="731520" y="6016752"/>
            <a:ext cx="10728655" cy="310896"/>
          </a:xfrm>
          <a:prstGeom prst="rect">
            <a:avLst/>
          </a:prstGeom>
          <a:noFill/>
          <a:ln/>
        </p:spPr>
        <p:txBody>
          <a:bodyPr wrap="square" lIns="0" tIns="0" rIns="0" bIns="0" rtlCol="0" anchor="ctr"/>
          <a:lstStyle/>
          <a:p>
            <a:pPr indent="0" marL="0">
              <a:lnSpc>
                <a:spcPct val="120000"/>
              </a:lnSpc>
              <a:buNone/>
            </a:pPr>
            <a:r>
              <a:rPr lang="en-US" sz="1050" dirty="0">
                <a:solidFill>
                  <a:srgbClr val="3A3844"/>
                </a:solidFill>
                <a:latin typeface="Courier New" pitchFamily="34" charset="0"/>
                <a:ea typeface="Courier New" pitchFamily="34" charset="-122"/>
                <a:cs typeface="Courier New" pitchFamily="34" charset="-120"/>
              </a:rPr>
              <a:t>RA2 · arquitecturas y escalado  ·  RA7 · marco regulatorio colombiano, ética y sostenibilidad.</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VOCABULARIO DE LA SESIÓN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SIGLAS Y TÉRMINOS DE HOY</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16 · ESCALABILIDAD Y REGULACIÓN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04</a:t>
            </a:r>
            <a:endParaRPr lang="en-US" sz="900" dirty="0"/>
          </a:p>
        </p:txBody>
      </p:sp>
      <p:sp>
        <p:nvSpPr>
          <p:cNvPr id="8" name="Shape 5"/>
          <p:cNvSpPr/>
          <p:nvPr/>
        </p:nvSpPr>
        <p:spPr>
          <a:xfrm>
            <a:off x="566928" y="1737360"/>
            <a:ext cx="5419192" cy="1014984"/>
          </a:xfrm>
          <a:prstGeom prst="rect">
            <a:avLst/>
          </a:prstGeom>
          <a:solidFill>
            <a:srgbClr val="FFFFFF"/>
          </a:solidFill>
          <a:ln w="15875">
            <a:solidFill>
              <a:srgbClr val="7152E9"/>
            </a:solidFill>
            <a:prstDash val="solid"/>
          </a:ln>
        </p:spPr>
      </p:sp>
      <p:sp>
        <p:nvSpPr>
          <p:cNvPr id="9" name="Shape 6"/>
          <p:cNvSpPr/>
          <p:nvPr/>
        </p:nvSpPr>
        <p:spPr>
          <a:xfrm>
            <a:off x="566928" y="1737360"/>
            <a:ext cx="82296" cy="1014984"/>
          </a:xfrm>
          <a:prstGeom prst="rect">
            <a:avLst/>
          </a:prstGeom>
          <a:solidFill>
            <a:srgbClr val="7152E9"/>
          </a:solidFill>
          <a:ln w="12700">
            <a:solidFill>
              <a:srgbClr val="333333"/>
            </a:solidFill>
            <a:prstDash val="solid"/>
          </a:ln>
        </p:spPr>
      </p:sp>
      <p:sp>
        <p:nvSpPr>
          <p:cNvPr id="10" name="Text 7"/>
          <p:cNvSpPr/>
          <p:nvPr/>
        </p:nvSpPr>
        <p:spPr>
          <a:xfrm>
            <a:off x="822960" y="1810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L2 · CAPA 2</a:t>
            </a:r>
            <a:endParaRPr lang="en-US" sz="1100" dirty="0"/>
          </a:p>
        </p:txBody>
      </p:sp>
      <p:sp>
        <p:nvSpPr>
          <p:cNvPr id="11" name="Text 8"/>
          <p:cNvSpPr/>
          <p:nvPr/>
        </p:nvSpPr>
        <p:spPr>
          <a:xfrm>
            <a:off x="2898648" y="1810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Layer 2</a:t>
            </a:r>
            <a:endParaRPr lang="en-US" sz="1050" dirty="0"/>
          </a:p>
        </p:txBody>
      </p:sp>
      <p:sp>
        <p:nvSpPr>
          <p:cNvPr id="12" name="Text 9"/>
          <p:cNvSpPr/>
          <p:nvPr/>
        </p:nvSpPr>
        <p:spPr>
          <a:xfrm>
            <a:off x="822960" y="2121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Red que ejecuta transacciones fuera de la capa base y publica en ella datos y compromisos, heredando su seguridad.</a:t>
            </a:r>
            <a:endParaRPr lang="en-US" sz="1100" dirty="0"/>
          </a:p>
        </p:txBody>
      </p:sp>
      <p:sp>
        <p:nvSpPr>
          <p:cNvPr id="13" name="Shape 10"/>
          <p:cNvSpPr/>
          <p:nvPr/>
        </p:nvSpPr>
        <p:spPr>
          <a:xfrm>
            <a:off x="6205576" y="1737360"/>
            <a:ext cx="5419192" cy="1014984"/>
          </a:xfrm>
          <a:prstGeom prst="rect">
            <a:avLst/>
          </a:prstGeom>
          <a:solidFill>
            <a:srgbClr val="FFFFFF"/>
          </a:solidFill>
          <a:ln w="15875">
            <a:solidFill>
              <a:srgbClr val="7152E9"/>
            </a:solidFill>
            <a:prstDash val="solid"/>
          </a:ln>
        </p:spPr>
      </p:sp>
      <p:sp>
        <p:nvSpPr>
          <p:cNvPr id="14" name="Shape 11"/>
          <p:cNvSpPr/>
          <p:nvPr/>
        </p:nvSpPr>
        <p:spPr>
          <a:xfrm>
            <a:off x="6205576" y="1737360"/>
            <a:ext cx="82296" cy="1014984"/>
          </a:xfrm>
          <a:prstGeom prst="rect">
            <a:avLst/>
          </a:prstGeom>
          <a:solidFill>
            <a:srgbClr val="7152E9"/>
          </a:solidFill>
          <a:ln w="12700">
            <a:solidFill>
              <a:srgbClr val="333333"/>
            </a:solidFill>
            <a:prstDash val="solid"/>
          </a:ln>
        </p:spPr>
      </p:sp>
      <p:sp>
        <p:nvSpPr>
          <p:cNvPr id="15" name="Text 12"/>
          <p:cNvSpPr/>
          <p:nvPr/>
        </p:nvSpPr>
        <p:spPr>
          <a:xfrm>
            <a:off x="6461608" y="1810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ROLLUP</a:t>
            </a:r>
            <a:endParaRPr lang="en-US" sz="1100" dirty="0"/>
          </a:p>
        </p:txBody>
      </p:sp>
      <p:sp>
        <p:nvSpPr>
          <p:cNvPr id="16" name="Text 13"/>
          <p:cNvSpPr/>
          <p:nvPr/>
        </p:nvSpPr>
        <p:spPr>
          <a:xfrm>
            <a:off x="8537296" y="1810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acumulador</a:t>
            </a:r>
            <a:endParaRPr lang="en-US" sz="1050" dirty="0"/>
          </a:p>
        </p:txBody>
      </p:sp>
      <p:sp>
        <p:nvSpPr>
          <p:cNvPr id="17" name="Text 14"/>
          <p:cNvSpPr/>
          <p:nvPr/>
        </p:nvSpPr>
        <p:spPr>
          <a:xfrm>
            <a:off x="6461608" y="2121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L2 que agrupa muchas transacciones y publica en la L1 los datos comprimidos y la raíz del nuevo estado.</a:t>
            </a:r>
            <a:endParaRPr lang="en-US" sz="1100" dirty="0"/>
          </a:p>
        </p:txBody>
      </p:sp>
      <p:sp>
        <p:nvSpPr>
          <p:cNvPr id="18" name="Shape 15"/>
          <p:cNvSpPr/>
          <p:nvPr/>
        </p:nvSpPr>
        <p:spPr>
          <a:xfrm>
            <a:off x="566928" y="2880360"/>
            <a:ext cx="5419192" cy="1014984"/>
          </a:xfrm>
          <a:prstGeom prst="rect">
            <a:avLst/>
          </a:prstGeom>
          <a:solidFill>
            <a:srgbClr val="FFFFFF"/>
          </a:solidFill>
          <a:ln w="15875">
            <a:solidFill>
              <a:srgbClr val="7152E9"/>
            </a:solidFill>
            <a:prstDash val="solid"/>
          </a:ln>
        </p:spPr>
      </p:sp>
      <p:sp>
        <p:nvSpPr>
          <p:cNvPr id="19" name="Shape 16"/>
          <p:cNvSpPr/>
          <p:nvPr/>
        </p:nvSpPr>
        <p:spPr>
          <a:xfrm>
            <a:off x="566928" y="2880360"/>
            <a:ext cx="82296" cy="1014984"/>
          </a:xfrm>
          <a:prstGeom prst="rect">
            <a:avLst/>
          </a:prstGeom>
          <a:solidFill>
            <a:srgbClr val="7152E9"/>
          </a:solidFill>
          <a:ln w="12700">
            <a:solidFill>
              <a:srgbClr val="333333"/>
            </a:solidFill>
            <a:prstDash val="solid"/>
          </a:ln>
        </p:spPr>
      </p:sp>
      <p:sp>
        <p:nvSpPr>
          <p:cNvPr id="20" name="Text 17"/>
          <p:cNvSpPr/>
          <p:nvPr/>
        </p:nvSpPr>
        <p:spPr>
          <a:xfrm>
            <a:off x="822960" y="2953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FRAUD PROOF</a:t>
            </a:r>
            <a:endParaRPr lang="en-US" sz="1100" dirty="0"/>
          </a:p>
        </p:txBody>
      </p:sp>
      <p:sp>
        <p:nvSpPr>
          <p:cNvPr id="21" name="Text 18"/>
          <p:cNvSpPr/>
          <p:nvPr/>
        </p:nvSpPr>
        <p:spPr>
          <a:xfrm>
            <a:off x="2898648" y="2953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prueba de fraude</a:t>
            </a:r>
            <a:endParaRPr lang="en-US" sz="1050" dirty="0"/>
          </a:p>
        </p:txBody>
      </p:sp>
      <p:sp>
        <p:nvSpPr>
          <p:cNvPr id="22" name="Text 19"/>
          <p:cNvSpPr/>
          <p:nvPr/>
        </p:nvSpPr>
        <p:spPr>
          <a:xfrm>
            <a:off x="822960" y="3264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En un rollup optimista: demostración de que un lote publicado era incorrecto, durante la ventana de desafío.</a:t>
            </a:r>
            <a:endParaRPr lang="en-US" sz="1100" dirty="0"/>
          </a:p>
        </p:txBody>
      </p:sp>
      <p:sp>
        <p:nvSpPr>
          <p:cNvPr id="23" name="Shape 20"/>
          <p:cNvSpPr/>
          <p:nvPr/>
        </p:nvSpPr>
        <p:spPr>
          <a:xfrm>
            <a:off x="6205576" y="2880360"/>
            <a:ext cx="5419192" cy="1014984"/>
          </a:xfrm>
          <a:prstGeom prst="rect">
            <a:avLst/>
          </a:prstGeom>
          <a:solidFill>
            <a:srgbClr val="FFFFFF"/>
          </a:solidFill>
          <a:ln w="15875">
            <a:solidFill>
              <a:srgbClr val="7152E9"/>
            </a:solidFill>
            <a:prstDash val="solid"/>
          </a:ln>
        </p:spPr>
      </p:sp>
      <p:sp>
        <p:nvSpPr>
          <p:cNvPr id="24" name="Shape 21"/>
          <p:cNvSpPr/>
          <p:nvPr/>
        </p:nvSpPr>
        <p:spPr>
          <a:xfrm>
            <a:off x="6205576" y="2880360"/>
            <a:ext cx="82296" cy="1014984"/>
          </a:xfrm>
          <a:prstGeom prst="rect">
            <a:avLst/>
          </a:prstGeom>
          <a:solidFill>
            <a:srgbClr val="7152E9"/>
          </a:solidFill>
          <a:ln w="12700">
            <a:solidFill>
              <a:srgbClr val="333333"/>
            </a:solidFill>
            <a:prstDash val="solid"/>
          </a:ln>
        </p:spPr>
      </p:sp>
      <p:sp>
        <p:nvSpPr>
          <p:cNvPr id="25" name="Text 22"/>
          <p:cNvSpPr/>
          <p:nvPr/>
        </p:nvSpPr>
        <p:spPr>
          <a:xfrm>
            <a:off x="6461608" y="2953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VALIDITY PROOF</a:t>
            </a:r>
            <a:endParaRPr lang="en-US" sz="1100" dirty="0"/>
          </a:p>
        </p:txBody>
      </p:sp>
      <p:sp>
        <p:nvSpPr>
          <p:cNvPr id="26" name="Text 23"/>
          <p:cNvSpPr/>
          <p:nvPr/>
        </p:nvSpPr>
        <p:spPr>
          <a:xfrm>
            <a:off x="8537296" y="2953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prueba de validez</a:t>
            </a:r>
            <a:endParaRPr lang="en-US" sz="1050" dirty="0"/>
          </a:p>
        </p:txBody>
      </p:sp>
      <p:sp>
        <p:nvSpPr>
          <p:cNvPr id="27" name="Text 24"/>
          <p:cNvSpPr/>
          <p:nvPr/>
        </p:nvSpPr>
        <p:spPr>
          <a:xfrm>
            <a:off x="6461608" y="3264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En un ZK-rollup: prueba criptográfica de que el lote es correcto, verificada por un contrato en la L1.</a:t>
            </a:r>
            <a:endParaRPr lang="en-US" sz="1100" dirty="0"/>
          </a:p>
        </p:txBody>
      </p:sp>
      <p:sp>
        <p:nvSpPr>
          <p:cNvPr id="28" name="Shape 25"/>
          <p:cNvSpPr/>
          <p:nvPr/>
        </p:nvSpPr>
        <p:spPr>
          <a:xfrm>
            <a:off x="566928" y="4023360"/>
            <a:ext cx="5419192" cy="1014984"/>
          </a:xfrm>
          <a:prstGeom prst="rect">
            <a:avLst/>
          </a:prstGeom>
          <a:solidFill>
            <a:srgbClr val="FFFFFF"/>
          </a:solidFill>
          <a:ln w="15875">
            <a:solidFill>
              <a:srgbClr val="7152E9"/>
            </a:solidFill>
            <a:prstDash val="solid"/>
          </a:ln>
        </p:spPr>
      </p:sp>
      <p:sp>
        <p:nvSpPr>
          <p:cNvPr id="29" name="Shape 26"/>
          <p:cNvSpPr/>
          <p:nvPr/>
        </p:nvSpPr>
        <p:spPr>
          <a:xfrm>
            <a:off x="566928" y="4023360"/>
            <a:ext cx="82296" cy="1014984"/>
          </a:xfrm>
          <a:prstGeom prst="rect">
            <a:avLst/>
          </a:prstGeom>
          <a:solidFill>
            <a:srgbClr val="7152E9"/>
          </a:solidFill>
          <a:ln w="12700">
            <a:solidFill>
              <a:srgbClr val="333333"/>
            </a:solidFill>
            <a:prstDash val="solid"/>
          </a:ln>
        </p:spPr>
      </p:sp>
      <p:sp>
        <p:nvSpPr>
          <p:cNvPr id="30" name="Text 27"/>
          <p:cNvSpPr/>
          <p:nvPr/>
        </p:nvSpPr>
        <p:spPr>
          <a:xfrm>
            <a:off x="822960" y="4096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BLOB</a:t>
            </a:r>
            <a:endParaRPr lang="en-US" sz="1100" dirty="0"/>
          </a:p>
        </p:txBody>
      </p:sp>
      <p:sp>
        <p:nvSpPr>
          <p:cNvPr id="31" name="Text 28"/>
          <p:cNvSpPr/>
          <p:nvPr/>
        </p:nvSpPr>
        <p:spPr>
          <a:xfrm>
            <a:off x="2898648" y="4096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EIP-4844</a:t>
            </a:r>
            <a:endParaRPr lang="en-US" sz="1050" dirty="0"/>
          </a:p>
        </p:txBody>
      </p:sp>
      <p:sp>
        <p:nvSpPr>
          <p:cNvPr id="32" name="Text 29"/>
          <p:cNvSpPr/>
          <p:nvPr/>
        </p:nvSpPr>
        <p:spPr>
          <a:xfrm>
            <a:off x="822960" y="4407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Espacio de datos barato y temporal (~18 días) que la L1 ofrece a los rollups desde marzo de 2024.</a:t>
            </a:r>
            <a:endParaRPr lang="en-US" sz="1100" dirty="0"/>
          </a:p>
        </p:txBody>
      </p:sp>
      <p:sp>
        <p:nvSpPr>
          <p:cNvPr id="33" name="Shape 30"/>
          <p:cNvSpPr/>
          <p:nvPr/>
        </p:nvSpPr>
        <p:spPr>
          <a:xfrm>
            <a:off x="6205576" y="4023360"/>
            <a:ext cx="5419192" cy="1014984"/>
          </a:xfrm>
          <a:prstGeom prst="rect">
            <a:avLst/>
          </a:prstGeom>
          <a:solidFill>
            <a:srgbClr val="FFFFFF"/>
          </a:solidFill>
          <a:ln w="15875">
            <a:solidFill>
              <a:srgbClr val="7152E9"/>
            </a:solidFill>
            <a:prstDash val="solid"/>
          </a:ln>
        </p:spPr>
      </p:sp>
      <p:sp>
        <p:nvSpPr>
          <p:cNvPr id="34" name="Shape 31"/>
          <p:cNvSpPr/>
          <p:nvPr/>
        </p:nvSpPr>
        <p:spPr>
          <a:xfrm>
            <a:off x="6205576" y="4023360"/>
            <a:ext cx="82296" cy="1014984"/>
          </a:xfrm>
          <a:prstGeom prst="rect">
            <a:avLst/>
          </a:prstGeom>
          <a:solidFill>
            <a:srgbClr val="7152E9"/>
          </a:solidFill>
          <a:ln w="12700">
            <a:solidFill>
              <a:srgbClr val="333333"/>
            </a:solidFill>
            <a:prstDash val="solid"/>
          </a:ln>
        </p:spPr>
      </p:sp>
      <p:sp>
        <p:nvSpPr>
          <p:cNvPr id="35" name="Text 32"/>
          <p:cNvSpPr/>
          <p:nvPr/>
        </p:nvSpPr>
        <p:spPr>
          <a:xfrm>
            <a:off x="6461608" y="4096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PUENTE</a:t>
            </a:r>
            <a:endParaRPr lang="en-US" sz="1100" dirty="0"/>
          </a:p>
        </p:txBody>
      </p:sp>
      <p:sp>
        <p:nvSpPr>
          <p:cNvPr id="36" name="Text 33"/>
          <p:cNvSpPr/>
          <p:nvPr/>
        </p:nvSpPr>
        <p:spPr>
          <a:xfrm>
            <a:off x="8537296" y="4096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bridge</a:t>
            </a:r>
            <a:endParaRPr lang="en-US" sz="1050" dirty="0"/>
          </a:p>
        </p:txBody>
      </p:sp>
      <p:sp>
        <p:nvSpPr>
          <p:cNvPr id="37" name="Text 34"/>
          <p:cNvSpPr/>
          <p:nvPr/>
        </p:nvSpPr>
        <p:spPr>
          <a:xfrm>
            <a:off x="6461608" y="4407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Mecanismo que bloquea un activo en una cadena y emite su representación en otra.</a:t>
            </a:r>
            <a:endParaRPr lang="en-US" sz="1100" dirty="0"/>
          </a:p>
        </p:txBody>
      </p:sp>
      <p:sp>
        <p:nvSpPr>
          <p:cNvPr id="38" name="Shape 35"/>
          <p:cNvSpPr/>
          <p:nvPr/>
        </p:nvSpPr>
        <p:spPr>
          <a:xfrm>
            <a:off x="566928" y="5166360"/>
            <a:ext cx="5419192" cy="1014984"/>
          </a:xfrm>
          <a:prstGeom prst="rect">
            <a:avLst/>
          </a:prstGeom>
          <a:solidFill>
            <a:srgbClr val="FFFFFF"/>
          </a:solidFill>
          <a:ln w="15875">
            <a:solidFill>
              <a:srgbClr val="7152E9"/>
            </a:solidFill>
            <a:prstDash val="solid"/>
          </a:ln>
        </p:spPr>
      </p:sp>
      <p:sp>
        <p:nvSpPr>
          <p:cNvPr id="39" name="Shape 36"/>
          <p:cNvSpPr/>
          <p:nvPr/>
        </p:nvSpPr>
        <p:spPr>
          <a:xfrm>
            <a:off x="566928" y="5166360"/>
            <a:ext cx="82296" cy="1014984"/>
          </a:xfrm>
          <a:prstGeom prst="rect">
            <a:avLst/>
          </a:prstGeom>
          <a:solidFill>
            <a:srgbClr val="7152E9"/>
          </a:solidFill>
          <a:ln w="12700">
            <a:solidFill>
              <a:srgbClr val="333333"/>
            </a:solidFill>
            <a:prstDash val="solid"/>
          </a:ln>
        </p:spPr>
      </p:sp>
      <p:sp>
        <p:nvSpPr>
          <p:cNvPr id="40" name="Text 37"/>
          <p:cNvSpPr/>
          <p:nvPr/>
        </p:nvSpPr>
        <p:spPr>
          <a:xfrm>
            <a:off x="822960" y="5239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PSAV</a:t>
            </a:r>
            <a:endParaRPr lang="en-US" sz="1100" dirty="0"/>
          </a:p>
        </p:txBody>
      </p:sp>
      <p:sp>
        <p:nvSpPr>
          <p:cNvPr id="41" name="Text 38"/>
          <p:cNvSpPr/>
          <p:nvPr/>
        </p:nvSpPr>
        <p:spPr>
          <a:xfrm>
            <a:off x="2898648" y="5239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proveedor de servicios de activos virtuales</a:t>
            </a:r>
            <a:endParaRPr lang="en-US" sz="1050" dirty="0"/>
          </a:p>
        </p:txBody>
      </p:sp>
      <p:sp>
        <p:nvSpPr>
          <p:cNvPr id="42" name="Text 39"/>
          <p:cNvSpPr/>
          <p:nvPr/>
        </p:nvSpPr>
        <p:spPr>
          <a:xfrm>
            <a:off x="822960" y="5550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Plataforma de intercambio, custodia o transferencia. Reporta a la UIAF en Colombia.</a:t>
            </a:r>
            <a:endParaRPr lang="en-US" sz="1100" dirty="0"/>
          </a:p>
        </p:txBody>
      </p:sp>
      <p:sp>
        <p:nvSpPr>
          <p:cNvPr id="43" name="Shape 40"/>
          <p:cNvSpPr/>
          <p:nvPr/>
        </p:nvSpPr>
        <p:spPr>
          <a:xfrm>
            <a:off x="6205576" y="5166360"/>
            <a:ext cx="5419192" cy="1014984"/>
          </a:xfrm>
          <a:prstGeom prst="rect">
            <a:avLst/>
          </a:prstGeom>
          <a:solidFill>
            <a:srgbClr val="FFFFFF"/>
          </a:solidFill>
          <a:ln w="15875">
            <a:solidFill>
              <a:srgbClr val="7152E9"/>
            </a:solidFill>
            <a:prstDash val="solid"/>
          </a:ln>
        </p:spPr>
      </p:sp>
      <p:sp>
        <p:nvSpPr>
          <p:cNvPr id="44" name="Shape 41"/>
          <p:cNvSpPr/>
          <p:nvPr/>
        </p:nvSpPr>
        <p:spPr>
          <a:xfrm>
            <a:off x="6205576" y="5166360"/>
            <a:ext cx="82296" cy="1014984"/>
          </a:xfrm>
          <a:prstGeom prst="rect">
            <a:avLst/>
          </a:prstGeom>
          <a:solidFill>
            <a:srgbClr val="7152E9"/>
          </a:solidFill>
          <a:ln w="12700">
            <a:solidFill>
              <a:srgbClr val="333333"/>
            </a:solidFill>
            <a:prstDash val="solid"/>
          </a:ln>
        </p:spPr>
      </p:sp>
      <p:sp>
        <p:nvSpPr>
          <p:cNvPr id="45" name="Text 42"/>
          <p:cNvSpPr/>
          <p:nvPr/>
        </p:nvSpPr>
        <p:spPr>
          <a:xfrm>
            <a:off x="6461608" y="5239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MICA · CARF</a:t>
            </a:r>
            <a:endParaRPr lang="en-US" sz="1100" dirty="0"/>
          </a:p>
        </p:txBody>
      </p:sp>
      <p:sp>
        <p:nvSpPr>
          <p:cNvPr id="46" name="Text 43"/>
          <p:cNvSpPr/>
          <p:nvPr/>
        </p:nvSpPr>
        <p:spPr>
          <a:xfrm>
            <a:off x="8537296" y="5239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UE · OCDE</a:t>
            </a:r>
            <a:endParaRPr lang="en-US" sz="1050" dirty="0"/>
          </a:p>
        </p:txBody>
      </p:sp>
      <p:sp>
        <p:nvSpPr>
          <p:cNvPr id="47" name="Text 44"/>
          <p:cNvSpPr/>
          <p:nvPr/>
        </p:nvSpPr>
        <p:spPr>
          <a:xfrm>
            <a:off x="6461608" y="5550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Reglamento europeo de criptoactivos; marco de la OCDE para intercambiar información tributaria de criptoactivos.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A</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50 MINUTOS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ESCALABILIDAD Y PUENTES</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Ethereum procesa pocas transacciones por segundo, a veces caras. Escalar sin perder su seguridad es el gran problema técnico abierto; cruzar cadenas, el gran riesgo.</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16 · ESCALABILIDAD Y REGULACIÓN</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DE VUELTA AL TRILEMA (SESIÓN 4)</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LA CUENTA QUE MUESTRA EL TECHO</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16 · ESCALABILIDAD Y REGULACIÓN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06</a:t>
            </a:r>
            <a:endParaRPr lang="en-US" sz="900" dirty="0"/>
          </a:p>
        </p:txBody>
      </p:sp>
      <p:sp>
        <p:nvSpPr>
          <p:cNvPr id="8" name="Text 5"/>
          <p:cNvSpPr/>
          <p:nvPr/>
        </p:nvSpPr>
        <p:spPr>
          <a:xfrm>
            <a:off x="566928" y="1737360"/>
            <a:ext cx="11057839" cy="59436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Descentralización, seguridad y escala: elija dos. Ethereum eligió las dos primeras. Pongámosle números con un bloque real de hoy:</a:t>
            </a:r>
            <a:endParaRPr lang="en-US" sz="1450" dirty="0"/>
          </a:p>
        </p:txBody>
      </p:sp>
      <p:sp>
        <p:nvSpPr>
          <p:cNvPr id="9" name="Shape 6"/>
          <p:cNvSpPr/>
          <p:nvPr/>
        </p:nvSpPr>
        <p:spPr>
          <a:xfrm>
            <a:off x="566928" y="2468880"/>
            <a:ext cx="11057839" cy="685800"/>
          </a:xfrm>
          <a:prstGeom prst="rect">
            <a:avLst/>
          </a:prstGeom>
          <a:solidFill>
            <a:srgbClr val="F2F0F5"/>
          </a:solidFill>
          <a:ln w="12700">
            <a:solidFill>
              <a:srgbClr val="7152E9"/>
            </a:solidFill>
            <a:prstDash val="solid"/>
          </a:ln>
        </p:spPr>
      </p:sp>
      <p:sp>
        <p:nvSpPr>
          <p:cNvPr id="10" name="Text 7"/>
          <p:cNvSpPr/>
          <p:nvPr/>
        </p:nvSpPr>
        <p:spPr>
          <a:xfrm>
            <a:off x="731520" y="2542032"/>
            <a:ext cx="10728655" cy="539496"/>
          </a:xfrm>
          <a:prstGeom prst="rect">
            <a:avLst/>
          </a:prstGeom>
          <a:noFill/>
          <a:ln/>
        </p:spPr>
        <p:txBody>
          <a:bodyPr wrap="square" lIns="0" tIns="0" rIns="0" bIns="0" rtlCol="0" anchor="ctr"/>
          <a:lstStyle/>
          <a:p>
            <a:pPr indent="0" marL="0">
              <a:lnSpc>
                <a:spcPct val="120000"/>
              </a:lnSpc>
              <a:buNone/>
            </a:pPr>
            <a:r>
              <a:rPr lang="en-US" sz="1200" dirty="0">
                <a:solidFill>
                  <a:srgbClr val="3A3844"/>
                </a:solidFill>
                <a:latin typeface="Courier New" pitchFamily="34" charset="0"/>
                <a:ea typeface="Courier New" pitchFamily="34" charset="-122"/>
                <a:cs typeface="Courier New" pitchFamily="34" charset="-120"/>
              </a:rPr>
              <a:t>60 000 000 de gas por bloque ÷ 21 000 gas por transferencia simple ÷ 12 s por bloque ≈ 238 transferencias por segundo, como MÁXIMO teórico</a:t>
            </a:r>
            <a:endParaRPr lang="en-US" sz="1200" dirty="0"/>
          </a:p>
        </p:txBody>
      </p:sp>
      <p:sp>
        <p:nvSpPr>
          <p:cNvPr id="11" name="Shape 8"/>
          <p:cNvSpPr/>
          <p:nvPr/>
        </p:nvSpPr>
        <p:spPr>
          <a:xfrm>
            <a:off x="566928" y="3383280"/>
            <a:ext cx="3520440" cy="155448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2" name="Text 9"/>
          <p:cNvSpPr/>
          <p:nvPr/>
        </p:nvSpPr>
        <p:spPr>
          <a:xfrm>
            <a:off x="749808" y="3547872"/>
            <a:ext cx="3154680" cy="715061"/>
          </a:xfrm>
          <a:prstGeom prst="rect">
            <a:avLst/>
          </a:prstGeom>
          <a:noFill/>
          <a:ln/>
        </p:spPr>
        <p:txBody>
          <a:bodyPr wrap="square" lIns="0" tIns="0" rIns="0" bIns="0" rtlCol="0" anchor="ctr"/>
          <a:lstStyle/>
          <a:p>
            <a:pPr indent="0" marL="0">
              <a:buNone/>
            </a:pPr>
            <a:r>
              <a:rPr lang="en-US" sz="3600" dirty="0">
                <a:solidFill>
                  <a:srgbClr val="F07F06"/>
                </a:solidFill>
                <a:latin typeface="Arial Black" pitchFamily="34" charset="0"/>
                <a:ea typeface="Arial Black" pitchFamily="34" charset="-122"/>
                <a:cs typeface="Arial Black" pitchFamily="34" charset="-120"/>
              </a:rPr>
              <a:t>≈ 238</a:t>
            </a:r>
            <a:endParaRPr lang="en-US" sz="3600" dirty="0"/>
          </a:p>
        </p:txBody>
      </p:sp>
      <p:sp>
        <p:nvSpPr>
          <p:cNvPr id="13" name="Text 10"/>
          <p:cNvSpPr/>
          <p:nvPr/>
        </p:nvSpPr>
        <p:spPr>
          <a:xfrm>
            <a:off x="749808" y="4284878"/>
            <a:ext cx="3154680" cy="590702"/>
          </a:xfrm>
          <a:prstGeom prst="rect">
            <a:avLst/>
          </a:prstGeom>
          <a:noFill/>
          <a:ln/>
        </p:spPr>
        <p:txBody>
          <a:bodyPr wrap="square" lIns="0" tIns="0" rIns="0" bIns="0" rtlCol="0" anchor="t"/>
          <a:lstStyle/>
          <a:p>
            <a:pPr indent="0" marL="0">
              <a:lnSpc>
                <a:spcPct val="115000"/>
              </a:lnSpc>
              <a:buNone/>
            </a:pPr>
            <a:r>
              <a:rPr lang="en-US" sz="1150" dirty="0">
                <a:solidFill>
                  <a:srgbClr val="3A3844"/>
                </a:solidFill>
                <a:latin typeface="Arial" pitchFamily="34" charset="0"/>
                <a:ea typeface="Arial" pitchFamily="34" charset="-122"/>
                <a:cs typeface="Arial" pitchFamily="34" charset="-120"/>
              </a:rPr>
              <a:t>tx/s en el mejor caso: solo transferencias simples, bloques llenos.</a:t>
            </a:r>
            <a:endParaRPr lang="en-US" sz="1150" dirty="0"/>
          </a:p>
        </p:txBody>
      </p:sp>
      <p:sp>
        <p:nvSpPr>
          <p:cNvPr id="14" name="Shape 11"/>
          <p:cNvSpPr/>
          <p:nvPr/>
        </p:nvSpPr>
        <p:spPr>
          <a:xfrm>
            <a:off x="4334256" y="3383280"/>
            <a:ext cx="3520440" cy="155448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5" name="Text 12"/>
          <p:cNvSpPr/>
          <p:nvPr/>
        </p:nvSpPr>
        <p:spPr>
          <a:xfrm>
            <a:off x="4517136" y="3547872"/>
            <a:ext cx="3154680" cy="715061"/>
          </a:xfrm>
          <a:prstGeom prst="rect">
            <a:avLst/>
          </a:prstGeom>
          <a:noFill/>
          <a:ln/>
        </p:spPr>
        <p:txBody>
          <a:bodyPr wrap="square" lIns="0" tIns="0" rIns="0" bIns="0" rtlCol="0" anchor="ctr"/>
          <a:lstStyle/>
          <a:p>
            <a:pPr indent="0" marL="0">
              <a:buNone/>
            </a:pPr>
            <a:r>
              <a:rPr lang="en-US" sz="3600" dirty="0">
                <a:solidFill>
                  <a:srgbClr val="7152E9"/>
                </a:solidFill>
                <a:latin typeface="Arial Black" pitchFamily="34" charset="0"/>
                <a:ea typeface="Arial Black" pitchFamily="34" charset="-122"/>
                <a:cs typeface="Arial Black" pitchFamily="34" charset="-120"/>
              </a:rPr>
              <a:t>169</a:t>
            </a:r>
            <a:endParaRPr lang="en-US" sz="3600" dirty="0"/>
          </a:p>
        </p:txBody>
      </p:sp>
      <p:sp>
        <p:nvSpPr>
          <p:cNvPr id="16" name="Text 13"/>
          <p:cNvSpPr/>
          <p:nvPr/>
        </p:nvSpPr>
        <p:spPr>
          <a:xfrm>
            <a:off x="4517136" y="4284878"/>
            <a:ext cx="3154680" cy="590702"/>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transacciones tenía el bloque 26 000 939 (17-sep-2026): muchas son más caras que 21 000.</a:t>
            </a:r>
            <a:endParaRPr lang="en-US" sz="1100" dirty="0"/>
          </a:p>
        </p:txBody>
      </p:sp>
      <p:sp>
        <p:nvSpPr>
          <p:cNvPr id="17" name="Shape 14"/>
          <p:cNvSpPr/>
          <p:nvPr/>
        </p:nvSpPr>
        <p:spPr>
          <a:xfrm>
            <a:off x="8101584" y="3383280"/>
            <a:ext cx="3523183" cy="155448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8" name="Text 15"/>
          <p:cNvSpPr/>
          <p:nvPr/>
        </p:nvSpPr>
        <p:spPr>
          <a:xfrm>
            <a:off x="8284464" y="3547872"/>
            <a:ext cx="3157423" cy="715061"/>
          </a:xfrm>
          <a:prstGeom prst="rect">
            <a:avLst/>
          </a:prstGeom>
          <a:noFill/>
          <a:ln/>
        </p:spPr>
        <p:txBody>
          <a:bodyPr wrap="square" lIns="0" tIns="0" rIns="0" bIns="0" rtlCol="0" anchor="ctr"/>
          <a:lstStyle/>
          <a:p>
            <a:pPr indent="0" marL="0">
              <a:buNone/>
            </a:pPr>
            <a:r>
              <a:rPr lang="en-US" sz="2800" dirty="0">
                <a:solidFill>
                  <a:srgbClr val="0F0F11"/>
                </a:solidFill>
                <a:latin typeface="Arial Black" pitchFamily="34" charset="0"/>
                <a:ea typeface="Arial Black" pitchFamily="34" charset="-122"/>
                <a:cs typeface="Arial Black" pitchFamily="34" charset="-120"/>
              </a:rPr>
              <a:t>miles</a:t>
            </a:r>
            <a:endParaRPr lang="en-US" sz="2800" dirty="0"/>
          </a:p>
        </p:txBody>
      </p:sp>
      <p:sp>
        <p:nvSpPr>
          <p:cNvPr id="19" name="Text 16"/>
          <p:cNvSpPr/>
          <p:nvPr/>
        </p:nvSpPr>
        <p:spPr>
          <a:xfrm>
            <a:off x="8284464" y="4284878"/>
            <a:ext cx="3157423" cy="590702"/>
          </a:xfrm>
          <a:prstGeom prst="rect">
            <a:avLst/>
          </a:prstGeom>
          <a:noFill/>
          <a:ln/>
        </p:spPr>
        <p:txBody>
          <a:bodyPr wrap="square" lIns="0" tIns="0" rIns="0" bIns="0" rtlCol="0" anchor="t"/>
          <a:lstStyle/>
          <a:p>
            <a:pPr indent="0" marL="0">
              <a:lnSpc>
                <a:spcPct val="115000"/>
              </a:lnSpc>
              <a:buNone/>
            </a:pPr>
            <a:r>
              <a:rPr lang="en-US" sz="1150" dirty="0">
                <a:solidFill>
                  <a:srgbClr val="3A3844"/>
                </a:solidFill>
                <a:latin typeface="Arial" pitchFamily="34" charset="0"/>
                <a:ea typeface="Arial" pitchFamily="34" charset="-122"/>
                <a:cs typeface="Arial" pitchFamily="34" charset="-120"/>
              </a:rPr>
              <a:t>de pagos por segundo procesa un sistema de tarjetas en temporada alta.</a:t>
            </a:r>
            <a:endParaRPr lang="en-US" sz="1150" dirty="0"/>
          </a:p>
        </p:txBody>
      </p:sp>
      <p:sp>
        <p:nvSpPr>
          <p:cNvPr id="20" name="Shape 17"/>
          <p:cNvSpPr/>
          <p:nvPr/>
        </p:nvSpPr>
        <p:spPr>
          <a:xfrm>
            <a:off x="566928" y="5047488"/>
            <a:ext cx="11057839" cy="1115568"/>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21" name="Image 1" descr="preencoded.png">    </p:cNvPr>
          <p:cNvPicPr>
            <a:picLocks noChangeAspect="1"/>
          </p:cNvPicPr>
          <p:nvPr/>
        </p:nvPicPr>
        <p:blipFill>
          <a:blip r:embed="rId2"/>
          <a:stretch>
            <a:fillRect/>
          </a:stretch>
        </p:blipFill>
        <p:spPr>
          <a:xfrm>
            <a:off x="804672" y="5266944"/>
            <a:ext cx="237744" cy="237744"/>
          </a:xfrm>
          <a:prstGeom prst="rect">
            <a:avLst/>
          </a:prstGeom>
        </p:spPr>
      </p:pic>
      <p:sp>
        <p:nvSpPr>
          <p:cNvPr id="22" name="Text 18"/>
          <p:cNvSpPr/>
          <p:nvPr/>
        </p:nvSpPr>
        <p:spPr>
          <a:xfrm>
            <a:off x="1133856" y="5239512"/>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EL ERROR DE CONCEPTO TÍPICO</a:t>
            </a:r>
            <a:endParaRPr lang="en-US" sz="950" dirty="0"/>
          </a:p>
        </p:txBody>
      </p:sp>
      <p:sp>
        <p:nvSpPr>
          <p:cNvPr id="23" name="Text 19"/>
          <p:cNvSpPr/>
          <p:nvPr/>
        </p:nvSpPr>
        <p:spPr>
          <a:xfrm>
            <a:off x="804672" y="5559552"/>
            <a:ext cx="10582351"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«Subamos el límite de gas y listo». Bloques más grandes exigen nodos más potentes, y menos gente puede verificar: la escala se paga en descentralización. Por eso la escala se busca ENCIMA.</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 · LA IDEA DE CAPA 2</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EJECUTAR AFUERA, ASEGURAR ADENTRO</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16 · ESCALABILIDAD Y REGULACIÓN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07</a:t>
            </a:r>
            <a:endParaRPr lang="en-US" sz="900" dirty="0"/>
          </a:p>
        </p:txBody>
      </p:sp>
      <p:sp>
        <p:nvSpPr>
          <p:cNvPr id="8" name="Shape 5"/>
          <p:cNvSpPr/>
          <p:nvPr/>
        </p:nvSpPr>
        <p:spPr>
          <a:xfrm>
            <a:off x="566928" y="1828800"/>
            <a:ext cx="5212080" cy="1280160"/>
          </a:xfrm>
          <a:prstGeom prst="rect">
            <a:avLst/>
          </a:prstGeom>
          <a:solidFill>
            <a:srgbClr val="FFFFFF"/>
          </a:solidFill>
          <a:ln w="22225">
            <a:solidFill>
              <a:srgbClr val="F07F06"/>
            </a:solidFill>
            <a:prstDash val="solid"/>
          </a:ln>
        </p:spPr>
      </p:sp>
      <p:sp>
        <p:nvSpPr>
          <p:cNvPr id="9" name="Text 6"/>
          <p:cNvSpPr/>
          <p:nvPr/>
        </p:nvSpPr>
        <p:spPr>
          <a:xfrm>
            <a:off x="658368" y="1920240"/>
            <a:ext cx="5029200" cy="292608"/>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CAPA 2 · EJECUCIÓN</a:t>
            </a:r>
            <a:endParaRPr lang="en-US" sz="1100" dirty="0"/>
          </a:p>
        </p:txBody>
      </p:sp>
      <p:sp>
        <p:nvSpPr>
          <p:cNvPr id="10" name="Text 7"/>
          <p:cNvSpPr/>
          <p:nvPr/>
        </p:nvSpPr>
        <p:spPr>
          <a:xfrm>
            <a:off x="658368" y="2231136"/>
            <a:ext cx="5029200" cy="804672"/>
          </a:xfrm>
          <a:prstGeom prst="rect">
            <a:avLst/>
          </a:prstGeom>
          <a:noFill/>
          <a:ln/>
        </p:spPr>
        <p:txBody>
          <a:bodyPr wrap="square" lIns="0" tIns="0" rIns="0" bIns="0" rtlCol="0" anchor="t"/>
          <a:lstStyle/>
          <a:p>
            <a:pPr algn="ctr" indent="0" marL="0">
              <a:lnSpc>
                <a:spcPct val="110000"/>
              </a:lnSpc>
              <a:buNone/>
            </a:pPr>
            <a:r>
              <a:rPr lang="en-US" sz="1150" dirty="0">
                <a:solidFill>
                  <a:srgbClr val="6F6B80"/>
                </a:solidFill>
                <a:latin typeface="Arial" pitchFamily="34" charset="0"/>
                <a:ea typeface="Arial" pitchFamily="34" charset="-122"/>
                <a:cs typeface="Arial" pitchFamily="34" charset="-120"/>
              </a:rPr>
              <a:t>un secuenciador ordena y ejecuta</a:t>
            </a:r>
            <a:endParaRPr lang="en-US" sz="1150" dirty="0"/>
          </a:p>
          <a:p>
            <a:pPr algn="ctr" indent="0" marL="0">
              <a:lnSpc>
                <a:spcPct val="110000"/>
              </a:lnSpc>
              <a:buNone/>
            </a:pPr>
            <a:r>
              <a:rPr lang="en-US" sz="1150" dirty="0">
                <a:solidFill>
                  <a:srgbClr val="6F6B80"/>
                </a:solidFill>
                <a:latin typeface="Arial" pitchFamily="34" charset="0"/>
                <a:ea typeface="Arial" pitchFamily="34" charset="-122"/>
                <a:cs typeface="Arial" pitchFamily="34" charset="-120"/>
              </a:rPr>
              <a:t>miles de transacciones baratas</a:t>
            </a:r>
            <a:endParaRPr lang="en-US" sz="1150" dirty="0"/>
          </a:p>
        </p:txBody>
      </p:sp>
      <p:sp>
        <p:nvSpPr>
          <p:cNvPr id="11" name="Shape 8"/>
          <p:cNvSpPr/>
          <p:nvPr/>
        </p:nvSpPr>
        <p:spPr>
          <a:xfrm>
            <a:off x="3172968" y="3154680"/>
            <a:ext cx="914" cy="548640"/>
          </a:xfrm>
          <a:prstGeom prst="line">
            <a:avLst/>
          </a:prstGeom>
          <a:noFill/>
          <a:ln w="25400">
            <a:solidFill>
              <a:srgbClr val="0F0F11"/>
            </a:solidFill>
            <a:prstDash val="solid"/>
            <a:tailEnd type="triangle"/>
          </a:ln>
        </p:spPr>
      </p:sp>
      <p:sp>
        <p:nvSpPr>
          <p:cNvPr id="12" name="Text 9"/>
          <p:cNvSpPr/>
          <p:nvPr/>
        </p:nvSpPr>
        <p:spPr>
          <a:xfrm>
            <a:off x="3310128" y="3273552"/>
            <a:ext cx="3840480" cy="292608"/>
          </a:xfrm>
          <a:prstGeom prst="rect">
            <a:avLst/>
          </a:prstGeom>
          <a:noFill/>
          <a:ln/>
        </p:spPr>
        <p:txBody>
          <a:bodyPr wrap="square" lIns="0" tIns="0" rIns="0" bIns="0" rtlCol="0" anchor="ctr"/>
          <a:lstStyle/>
          <a:p>
            <a:pPr indent="0" marL="0">
              <a:buNone/>
            </a:pPr>
            <a:r>
              <a:rPr lang="en-US" sz="900" b="1" spc="130" kern="0" dirty="0">
                <a:solidFill>
                  <a:srgbClr val="6F6B80"/>
                </a:solidFill>
                <a:latin typeface="Courier New" pitchFamily="34" charset="0"/>
                <a:ea typeface="Courier New" pitchFamily="34" charset="-122"/>
                <a:cs typeface="Courier New" pitchFamily="34" charset="-120"/>
              </a:rPr>
              <a:t>DATOS COMPRIMIDOS + RAÍZ DE ESTADO</a:t>
            </a:r>
            <a:endParaRPr lang="en-US" sz="900" dirty="0"/>
          </a:p>
        </p:txBody>
      </p:sp>
      <p:sp>
        <p:nvSpPr>
          <p:cNvPr id="13" name="Shape 10"/>
          <p:cNvSpPr/>
          <p:nvPr/>
        </p:nvSpPr>
        <p:spPr>
          <a:xfrm>
            <a:off x="566928" y="3749040"/>
            <a:ext cx="5212080" cy="1280160"/>
          </a:xfrm>
          <a:prstGeom prst="rect">
            <a:avLst/>
          </a:prstGeom>
          <a:solidFill>
            <a:srgbClr val="FAF9FB"/>
          </a:solidFill>
          <a:ln w="22225">
            <a:solidFill>
              <a:srgbClr val="7152E9"/>
            </a:solidFill>
            <a:prstDash val="solid"/>
          </a:ln>
        </p:spPr>
      </p:sp>
      <p:sp>
        <p:nvSpPr>
          <p:cNvPr id="14" name="Text 11"/>
          <p:cNvSpPr/>
          <p:nvPr/>
        </p:nvSpPr>
        <p:spPr>
          <a:xfrm>
            <a:off x="658368" y="3840480"/>
            <a:ext cx="5029200" cy="292608"/>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CAPA 1 · ETHEREUM</a:t>
            </a:r>
            <a:endParaRPr lang="en-US" sz="1100" dirty="0"/>
          </a:p>
        </p:txBody>
      </p:sp>
      <p:sp>
        <p:nvSpPr>
          <p:cNvPr id="15" name="Text 12"/>
          <p:cNvSpPr/>
          <p:nvPr/>
        </p:nvSpPr>
        <p:spPr>
          <a:xfrm>
            <a:off x="658368" y="4151376"/>
            <a:ext cx="5029200" cy="804672"/>
          </a:xfrm>
          <a:prstGeom prst="rect">
            <a:avLst/>
          </a:prstGeom>
          <a:noFill/>
          <a:ln/>
        </p:spPr>
        <p:txBody>
          <a:bodyPr wrap="square" lIns="0" tIns="0" rIns="0" bIns="0" rtlCol="0" anchor="t"/>
          <a:lstStyle/>
          <a:p>
            <a:pPr algn="ctr" indent="0" marL="0">
              <a:lnSpc>
                <a:spcPct val="110000"/>
              </a:lnSpc>
              <a:buNone/>
            </a:pPr>
            <a:r>
              <a:rPr lang="en-US" sz="1150" dirty="0">
                <a:solidFill>
                  <a:srgbClr val="6F6B80"/>
                </a:solidFill>
                <a:latin typeface="Arial" pitchFamily="34" charset="0"/>
                <a:ea typeface="Arial" pitchFamily="34" charset="-122"/>
                <a:cs typeface="Arial" pitchFamily="34" charset="-120"/>
              </a:rPr>
              <a:t>guarda los datos, verifica pruebas</a:t>
            </a:r>
            <a:endParaRPr lang="en-US" sz="1150" dirty="0"/>
          </a:p>
          <a:p>
            <a:pPr algn="ctr" indent="0" marL="0">
              <a:lnSpc>
                <a:spcPct val="110000"/>
              </a:lnSpc>
              <a:buNone/>
            </a:pPr>
            <a:r>
              <a:rPr lang="en-US" sz="1150" dirty="0">
                <a:solidFill>
                  <a:srgbClr val="6F6B80"/>
                </a:solidFill>
                <a:latin typeface="Arial" pitchFamily="34" charset="0"/>
                <a:ea typeface="Arial" pitchFamily="34" charset="-122"/>
                <a:cs typeface="Arial" pitchFamily="34" charset="-120"/>
              </a:rPr>
              <a:t>y custodia los fondos del puente</a:t>
            </a:r>
            <a:endParaRPr lang="en-US" sz="1150" dirty="0"/>
          </a:p>
        </p:txBody>
      </p:sp>
      <p:sp>
        <p:nvSpPr>
          <p:cNvPr id="16" name="Text 13"/>
          <p:cNvSpPr/>
          <p:nvPr/>
        </p:nvSpPr>
        <p:spPr>
          <a:xfrm>
            <a:off x="6144768" y="1828800"/>
            <a:ext cx="5479999" cy="3200400"/>
          </a:xfrm>
          <a:prstGeom prst="rect">
            <a:avLst/>
          </a:prstGeom>
          <a:noFill/>
          <a:ln/>
        </p:spPr>
        <p:txBody>
          <a:bodyPr wrap="square" lIns="0" tIns="0" rIns="0" bIns="0" rtlCol="0" anchor="t"/>
          <a:lstStyle/>
          <a:p>
            <a:pPr marL="203200" indent="-203200">
              <a:lnSpc>
                <a:spcPct val="118000"/>
              </a:lnSpc>
              <a:spcAft>
                <a:spcPts val="800"/>
              </a:spcAft>
              <a:buSzPct val="100000"/>
              <a:buChar char="■"/>
            </a:pPr>
            <a:r>
              <a:rPr lang="en-US" sz="1250" dirty="0">
                <a:solidFill>
                  <a:srgbClr val="3A3844"/>
                </a:solidFill>
                <a:latin typeface="Arial" pitchFamily="34" charset="0"/>
                <a:ea typeface="Arial" pitchFamily="34" charset="-122"/>
                <a:cs typeface="Arial" pitchFamily="34" charset="-120"/>
              </a:rPr>
              <a:t>Los usuarios transaccionan en la L2: rápido y barato.</a:t>
            </a:r>
            <a:endParaRPr lang="en-US" sz="1250" dirty="0"/>
          </a:p>
          <a:p>
            <a:pPr marL="203200" indent="-203200">
              <a:lnSpc>
                <a:spcPct val="118000"/>
              </a:lnSpc>
              <a:spcAft>
                <a:spcPts val="800"/>
              </a:spcAft>
              <a:buSzPct val="100000"/>
              <a:buChar char="■"/>
            </a:pPr>
            <a:r>
              <a:rPr lang="en-US" sz="1250" dirty="0">
                <a:solidFill>
                  <a:srgbClr val="3A3844"/>
                </a:solidFill>
                <a:latin typeface="Arial" pitchFamily="34" charset="0"/>
                <a:ea typeface="Arial" pitchFamily="34" charset="-122"/>
                <a:cs typeface="Arial" pitchFamily="34" charset="-120"/>
              </a:rPr>
              <a:t>La L2 publica en la L1 los DATOS de las transacciones: cualquiera puede reconstruir el estado.</a:t>
            </a:r>
            <a:endParaRPr lang="en-US" sz="1250" dirty="0"/>
          </a:p>
          <a:p>
            <a:pPr marL="203200" indent="-203200">
              <a:lnSpc>
                <a:spcPct val="118000"/>
              </a:lnSpc>
              <a:spcAft>
                <a:spcPts val="800"/>
              </a:spcAft>
              <a:buSzPct val="100000"/>
              <a:buChar char="■"/>
            </a:pPr>
            <a:r>
              <a:rPr lang="en-US" sz="1250" dirty="0">
                <a:solidFill>
                  <a:srgbClr val="3A3844"/>
                </a:solidFill>
                <a:latin typeface="Arial" pitchFamily="34" charset="0"/>
                <a:ea typeface="Arial" pitchFamily="34" charset="-122"/>
                <a:cs typeface="Arial" pitchFamily="34" charset="-120"/>
              </a:rPr>
              <a:t>Un contrato en la L1 decide qué estado es válido (por desafío o por prueba).</a:t>
            </a:r>
            <a:endParaRPr lang="en-US" sz="1250" dirty="0"/>
          </a:p>
          <a:p>
            <a:pPr marL="203200" indent="-203200">
              <a:lnSpc>
                <a:spcPct val="118000"/>
              </a:lnSpc>
              <a:spcAft>
                <a:spcPts val="800"/>
              </a:spcAft>
              <a:buSzPct val="100000"/>
              <a:buChar char="■"/>
            </a:pPr>
            <a:r>
              <a:rPr lang="en-US" sz="1250" dirty="0">
                <a:solidFill>
                  <a:srgbClr val="3A3844"/>
                </a:solidFill>
                <a:latin typeface="Arial" pitchFamily="34" charset="0"/>
                <a:ea typeface="Arial" pitchFamily="34" charset="-122"/>
                <a:cs typeface="Arial" pitchFamily="34" charset="-120"/>
              </a:rPr>
              <a:t>Si el operador de la L2 desaparece, los usuarios pueden salir a la L1 con sus fondos.</a:t>
            </a:r>
            <a:endParaRPr lang="en-US" sz="1250" dirty="0"/>
          </a:p>
        </p:txBody>
      </p:sp>
      <p:sp>
        <p:nvSpPr>
          <p:cNvPr id="17" name="Text 14"/>
          <p:cNvSpPr/>
          <p:nvPr/>
        </p:nvSpPr>
        <p:spPr>
          <a:xfrm>
            <a:off x="566928" y="5303520"/>
            <a:ext cx="11057839" cy="73152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La clave: la L2 no le pide a nadie que confíe en su operador. La disponibilidad de los datos en la L1 es lo que permite verificar y salir.</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A.3 · ROLLUP OPTIMISTA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CONFIAR, PERO DEJAR IMPUGNAR</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16 · ESCALABILIDAD Y REGULACIÓN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08</a:t>
            </a:r>
            <a:endParaRPr lang="en-US" sz="900" dirty="0"/>
          </a:p>
        </p:txBody>
      </p:sp>
      <p:sp>
        <p:nvSpPr>
          <p:cNvPr id="8" name="Text 5"/>
          <p:cNvSpPr/>
          <p:nvPr/>
        </p:nvSpPr>
        <p:spPr>
          <a:xfrm>
            <a:off x="566928" y="1737360"/>
            <a:ext cx="11057839" cy="9144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El rollup optimista publica el nuevo estado SIN probar que es correcto. Supone que lo es, y abre una ventana de desafío: cualquiera que vea un error presenta una prueba de fraude, el contrato de la L1 reejecuta el paso en disputa y castiga al que mintió.</a:t>
            </a:r>
            <a:endParaRPr lang="en-US" sz="1400" dirty="0"/>
          </a:p>
        </p:txBody>
      </p:sp>
      <p:sp>
        <p:nvSpPr>
          <p:cNvPr id="9" name="Shape 6"/>
          <p:cNvSpPr/>
          <p:nvPr/>
        </p:nvSpPr>
        <p:spPr>
          <a:xfrm>
            <a:off x="566928" y="2788920"/>
            <a:ext cx="11057839" cy="603504"/>
          </a:xfrm>
          <a:prstGeom prst="rect">
            <a:avLst/>
          </a:prstGeom>
          <a:solidFill>
            <a:srgbClr val="FFFFFF"/>
          </a:solidFill>
          <a:ln w="15875">
            <a:solidFill>
              <a:srgbClr val="D9D6E0"/>
            </a:solidFill>
            <a:prstDash val="solid"/>
          </a:ln>
        </p:spPr>
      </p:sp>
      <p:sp>
        <p:nvSpPr>
          <p:cNvPr id="10" name="Text 7"/>
          <p:cNvSpPr/>
          <p:nvPr/>
        </p:nvSpPr>
        <p:spPr>
          <a:xfrm>
            <a:off x="694944" y="2788920"/>
            <a:ext cx="548640" cy="60350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1" name="Text 8"/>
          <p:cNvSpPr/>
          <p:nvPr/>
        </p:nvSpPr>
        <p:spPr>
          <a:xfrm>
            <a:off x="1280160" y="2944368"/>
            <a:ext cx="17373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DÍA 0</a:t>
            </a:r>
            <a:endParaRPr lang="en-US" sz="1000" dirty="0"/>
          </a:p>
        </p:txBody>
      </p:sp>
      <p:sp>
        <p:nvSpPr>
          <p:cNvPr id="12" name="Text 9"/>
          <p:cNvSpPr/>
          <p:nvPr/>
        </p:nvSpPr>
        <p:spPr>
          <a:xfrm>
            <a:off x="3291840" y="2880360"/>
            <a:ext cx="8223199" cy="457200"/>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Ana pide retirar 1 ETH de OP Mainnet a Ethereum. El retiro queda registrado en la L2.</a:t>
            </a:r>
            <a:endParaRPr lang="en-US" sz="1250" dirty="0"/>
          </a:p>
        </p:txBody>
      </p:sp>
      <p:sp>
        <p:nvSpPr>
          <p:cNvPr id="13" name="Shape 10"/>
          <p:cNvSpPr/>
          <p:nvPr/>
        </p:nvSpPr>
        <p:spPr>
          <a:xfrm>
            <a:off x="566928" y="3483864"/>
            <a:ext cx="11057839" cy="603504"/>
          </a:xfrm>
          <a:prstGeom prst="rect">
            <a:avLst/>
          </a:prstGeom>
          <a:solidFill>
            <a:srgbClr val="FAF9FB"/>
          </a:solidFill>
          <a:ln w="15875">
            <a:solidFill>
              <a:srgbClr val="D9D6E0"/>
            </a:solidFill>
            <a:prstDash val="solid"/>
          </a:ln>
        </p:spPr>
      </p:sp>
      <p:sp>
        <p:nvSpPr>
          <p:cNvPr id="14" name="Text 11"/>
          <p:cNvSpPr/>
          <p:nvPr/>
        </p:nvSpPr>
        <p:spPr>
          <a:xfrm>
            <a:off x="694944" y="3483864"/>
            <a:ext cx="548640" cy="60350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5" name="Text 12"/>
          <p:cNvSpPr/>
          <p:nvPr/>
        </p:nvSpPr>
        <p:spPr>
          <a:xfrm>
            <a:off x="1280160" y="3639312"/>
            <a:ext cx="17373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DÍAS 0 A 7</a:t>
            </a:r>
            <a:endParaRPr lang="en-US" sz="1000" dirty="0"/>
          </a:p>
        </p:txBody>
      </p:sp>
      <p:sp>
        <p:nvSpPr>
          <p:cNvPr id="16" name="Text 13"/>
          <p:cNvSpPr/>
          <p:nvPr/>
        </p:nvSpPr>
        <p:spPr>
          <a:xfrm>
            <a:off x="3291840" y="3575304"/>
            <a:ext cx="8223199" cy="457200"/>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Ventana de desafío: si el estado publicado fuera falso, alguien lo impugna.</a:t>
            </a:r>
            <a:endParaRPr lang="en-US" sz="1250" dirty="0"/>
          </a:p>
        </p:txBody>
      </p:sp>
      <p:sp>
        <p:nvSpPr>
          <p:cNvPr id="17" name="Shape 14"/>
          <p:cNvSpPr/>
          <p:nvPr/>
        </p:nvSpPr>
        <p:spPr>
          <a:xfrm>
            <a:off x="566928" y="4178808"/>
            <a:ext cx="11057839" cy="603504"/>
          </a:xfrm>
          <a:prstGeom prst="rect">
            <a:avLst/>
          </a:prstGeom>
          <a:solidFill>
            <a:srgbClr val="FFFFFF"/>
          </a:solidFill>
          <a:ln w="15875">
            <a:solidFill>
              <a:srgbClr val="D9D6E0"/>
            </a:solidFill>
            <a:prstDash val="solid"/>
          </a:ln>
        </p:spPr>
      </p:sp>
      <p:sp>
        <p:nvSpPr>
          <p:cNvPr id="18" name="Text 15"/>
          <p:cNvSpPr/>
          <p:nvPr/>
        </p:nvSpPr>
        <p:spPr>
          <a:xfrm>
            <a:off x="694944" y="4178808"/>
            <a:ext cx="548640" cy="60350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9" name="Text 16"/>
          <p:cNvSpPr/>
          <p:nvPr/>
        </p:nvSpPr>
        <p:spPr>
          <a:xfrm>
            <a:off x="1280160" y="4334256"/>
            <a:ext cx="17373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DÍA 7</a:t>
            </a:r>
            <a:endParaRPr lang="en-US" sz="1000" dirty="0"/>
          </a:p>
        </p:txBody>
      </p:sp>
      <p:sp>
        <p:nvSpPr>
          <p:cNvPr id="20" name="Text 17"/>
          <p:cNvSpPr/>
          <p:nvPr/>
        </p:nvSpPr>
        <p:spPr>
          <a:xfrm>
            <a:off x="3291840" y="4270248"/>
            <a:ext cx="8223199" cy="457200"/>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Sin impugnación exitosa, el estado es final: Ana reclama su 1 ETH en la L1.</a:t>
            </a:r>
            <a:endParaRPr lang="en-US" sz="12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4937760"/>
          <a:ext cx="11057839" cy="914400"/>
        </p:xfrm>
        <a:graphic>
          <a:graphicData uri="http://schemas.openxmlformats.org/drawingml/2006/table">
            <a:tbl>
              <a:tblPr/>
              <a:tblGrid>
                <a:gridCol w="3291840"/>
                <a:gridCol w="776599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RED</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VENTANA DE RETIRO A LA L1</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30784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OP Mainnet</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7 días (docs.optimism.io)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30784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Arbitrum One</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 6,4 días (docs.arbitrum.io): «una semana» redondeada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30784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OP Sepolia (el laboratorio)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7 días también: la testnet replica los tiempos de mainnet</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22" name="Shape 18"/>
          <p:cNvSpPr/>
          <p:nvPr/>
        </p:nvSpPr>
        <p:spPr>
          <a:xfrm>
            <a:off x="548640" y="4919472"/>
            <a:ext cx="11094415" cy="1271016"/>
          </a:xfrm>
          <a:prstGeom prst="rect">
            <a:avLst/>
          </a:prstGeom>
          <a:ln w="22225">
            <a:solidFill>
              <a:srgbClr val="0F0F11"/>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A.4 · ROLLUP DE CONOCIMIENTO CERO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PROBAR EN VEZ DE ESPERAR</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16 · ESCALABILIDAD Y REGULACIÓN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09</a:t>
            </a:r>
            <a:endParaRPr lang="en-US" sz="900" dirty="0"/>
          </a:p>
        </p:txBody>
      </p:sp>
      <p:sp>
        <p:nvSpPr>
          <p:cNvPr id="8" name="Text 5"/>
          <p:cNvSpPr/>
          <p:nvPr/>
        </p:nvSpPr>
        <p:spPr>
          <a:xfrm>
            <a:off x="566928" y="1737360"/>
            <a:ext cx="11057839" cy="9144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El ZK-rollup publica cada lote con una prueba de validez: un certificado matemático, corto y rápido de verificar, de que el nuevo estado resulta de aplicar correctamente esas transacciones. El contrato de la L1 verifica la prueba; si no cuadra, rechaza el lote.</a:t>
            </a:r>
            <a:endParaRPr lang="en-US" sz="1400" dirty="0"/>
          </a:p>
        </p:txBody>
      </p:sp>
      <p:sp>
        <p:nvSpPr>
          <p:cNvPr id="9" name="Shape 6"/>
          <p:cNvSpPr/>
          <p:nvPr/>
        </p:nvSpPr>
        <p:spPr>
          <a:xfrm>
            <a:off x="566928" y="2788920"/>
            <a:ext cx="5391760" cy="205740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0" name="Text 7"/>
          <p:cNvSpPr/>
          <p:nvPr/>
        </p:nvSpPr>
        <p:spPr>
          <a:xfrm>
            <a:off x="841248" y="297180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LA INTUICIÓN, SIN MATEMÁTICA</a:t>
            </a:r>
            <a:endParaRPr lang="en-US" sz="1050" dirty="0"/>
          </a:p>
        </p:txBody>
      </p:sp>
      <p:sp>
        <p:nvSpPr>
          <p:cNvPr id="11" name="Text 8"/>
          <p:cNvSpPr/>
          <p:nvPr/>
        </p:nvSpPr>
        <p:spPr>
          <a:xfrm>
            <a:off x="841248" y="3355848"/>
            <a:ext cx="4843120" cy="132588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Resolver un sudoku difícil toma mucho; comprobar uno ya resuelto toma segundos. Generar la prueba de un lote es caro (lo hace el operador, con hardware potente); verificarla es barato (lo hace un contrato).</a:t>
            </a:r>
            <a:endParaRPr lang="en-US" sz="1250" dirty="0"/>
          </a:p>
        </p:txBody>
      </p:sp>
      <p:sp>
        <p:nvSpPr>
          <p:cNvPr id="12" name="Shape 9"/>
          <p:cNvSpPr/>
          <p:nvPr/>
        </p:nvSpPr>
        <p:spPr>
          <a:xfrm>
            <a:off x="6233008" y="2788920"/>
            <a:ext cx="5391760" cy="205740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13" name="Text 10"/>
          <p:cNvSpPr/>
          <p:nvPr/>
        </p:nvSpPr>
        <p:spPr>
          <a:xfrm>
            <a:off x="6507328" y="297180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EL ERROR DE CONCEPTO TÍPICO</a:t>
            </a:r>
            <a:endParaRPr lang="en-US" sz="1050" dirty="0"/>
          </a:p>
        </p:txBody>
      </p:sp>
      <p:sp>
        <p:nvSpPr>
          <p:cNvPr id="14" name="Text 11"/>
          <p:cNvSpPr/>
          <p:nvPr/>
        </p:nvSpPr>
        <p:spPr>
          <a:xfrm>
            <a:off x="6507328" y="3355848"/>
            <a:ext cx="4843120" cy="132588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«ZK = privado». En un ZK-rollup la prueba sirve para ESCALAR: los datos de las transacciones se publican igual. «Conocimiento cero» describe la propiedad de la prueba, no la privacidad del usuario.</a:t>
            </a:r>
            <a:endParaRPr lang="en-US" sz="1250" dirty="0"/>
          </a:p>
        </p:txBody>
      </p:sp>
      <p:sp>
        <p:nvSpPr>
          <p:cNvPr id="15" name="Shape 12"/>
          <p:cNvSpPr/>
          <p:nvPr/>
        </p:nvSpPr>
        <p:spPr>
          <a:xfrm>
            <a:off x="566928" y="5029200"/>
            <a:ext cx="11057839" cy="109728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16" name="Image 1" descr="preencoded.png">    </p:cNvPr>
          <p:cNvPicPr>
            <a:picLocks noChangeAspect="1"/>
          </p:cNvPicPr>
          <p:nvPr/>
        </p:nvPicPr>
        <p:blipFill>
          <a:blip r:embed="rId2"/>
          <a:stretch>
            <a:fillRect/>
          </a:stretch>
        </p:blipFill>
        <p:spPr>
          <a:xfrm>
            <a:off x="804672" y="5248656"/>
            <a:ext cx="237744" cy="237744"/>
          </a:xfrm>
          <a:prstGeom prst="rect">
            <a:avLst/>
          </a:prstGeom>
        </p:spPr>
      </p:pic>
      <p:sp>
        <p:nvSpPr>
          <p:cNvPr id="17" name="Text 13"/>
          <p:cNvSpPr/>
          <p:nvPr/>
        </p:nvSpPr>
        <p:spPr>
          <a:xfrm>
            <a:off x="1133856" y="522122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LA CONSECUENCIA PRÁCTICA</a:t>
            </a:r>
            <a:endParaRPr lang="en-US" sz="950" dirty="0"/>
          </a:p>
        </p:txBody>
      </p:sp>
      <p:sp>
        <p:nvSpPr>
          <p:cNvPr id="18" name="Text 14"/>
          <p:cNvSpPr/>
          <p:nvPr/>
        </p:nvSpPr>
        <p:spPr>
          <a:xfrm>
            <a:off x="804672" y="5541264"/>
            <a:ext cx="10582351" cy="49377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Como la validez se prueba, no hay ventana de desafío: el retiro a la L1 puede hacerse en cuanto se verifica la prueba del lote (horas, no días). El costo se traslada a generar pruebas.</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A.5 · LA COMPARACIÓN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OPTIMISTA FRENTE A ZK</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16 · ESCALABILIDAD Y REGULACIÓN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10</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7839" cy="914400"/>
        </p:xfrm>
        <a:graphic>
          <a:graphicData uri="http://schemas.openxmlformats.org/drawingml/2006/table">
            <a:tbl>
              <a:tblPr/>
              <a:tblGrid>
                <a:gridCol w="2377440"/>
                <a:gridCol w="4343400"/>
                <a:gridCol w="4336999"/>
              </a:tblGrid>
              <a:tr h="310896">
                <a:tc>
                  <a:txBody>
                    <a:bodyPr/>
                    <a:lstStyle/>
                    <a:p>
                      <a:pPr indent="0" marL="0">
                        <a:buNone/>
                      </a:pP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ROLLUP OPTIMISTA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ZK-ROLLUP</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1874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Supuesto de seguridad</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Al menos un verificador honesto vigila y desafía a tiempo.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La criptografía de la prueba es sólida y el verificador está bien programado.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1874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Qué se publica en la L1</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Datos de las transacciones + raíz de estado.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Datos de las transacciones + raíz de estado + prueba de validez.</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1874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Retiro a la L1</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Lento: 7 días de ventana.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Rápido: al verificarse la prueba.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1874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Costo principal</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Publicar datos.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Publicar datos + generar pruebas.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1874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Compatibilidad EVM</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Muy alta: ejecutan el mismo bytecode.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Alta y creciente; históricamente más difícil.</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1874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Ejemplos</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OP Mainnet, Base, Arbitrum One.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zkSync Era, Starknet, Linea, Scroll.</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673352"/>
            <a:ext cx="11094415" cy="4059936"/>
          </a:xfrm>
          <a:prstGeom prst="rect">
            <a:avLst/>
          </a:prstGeom>
          <a:ln w="22225">
            <a:solidFill>
              <a:srgbClr val="0F0F11"/>
            </a:solidFill>
            <a:prstDash val="solid"/>
          </a:ln>
        </p:spPr>
      </p:sp>
      <p:sp>
        <p:nvSpPr>
          <p:cNvPr id="10" name="Text 6"/>
          <p:cNvSpPr/>
          <p:nvPr/>
        </p:nvSpPr>
        <p:spPr>
          <a:xfrm>
            <a:off x="566928" y="5806440"/>
            <a:ext cx="11057839" cy="41148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Ninguna gana en todo. Y los dos dependen de lo mismo: que los datos estén disponibles en la L1.</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A.6 · LO QUE NO ES UN ROLLUP</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SIDECHAINS Y CANALES DE ESTADO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16 · ESCALABILIDAD Y REGULACIÓN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11</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7839" cy="914400"/>
        </p:xfrm>
        <a:graphic>
          <a:graphicData uri="http://schemas.openxmlformats.org/drawingml/2006/table">
            <a:tbl>
              <a:tblPr/>
              <a:tblGrid>
                <a:gridCol w="2286000"/>
                <a:gridCol w="4389120"/>
                <a:gridCol w="4382719"/>
              </a:tblGrid>
              <a:tr h="310896">
                <a:tc>
                  <a:txBody>
                    <a:bodyPr/>
                    <a:lstStyle/>
                    <a:p>
                      <a:pPr indent="0" marL="0">
                        <a:buNone/>
                      </a:pP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SIDECHAIN</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CANAL DE ESTADO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5379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Qué es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Otra cadena, con sus propios validadores, conectada por un puente.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Un acuerdo entre dos partes que se firman estados fuera de la cadena.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5379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De dónde viene la seguridad</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De SUS validadores, no de Ethereum.</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De Ethereum: cualquiera puede llevar el último estado firmado a la L1.</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5379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Bueno para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Aplicaciones que aceptan otra confianza a cambio de costo bajo.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Muchas interacciones repetidas entre las mismas partes (pagos, juegos).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5379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El límite</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Si sus validadores se coluden, el puente se vacía.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Solo sirve entre participantes fijos y conectados.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673352"/>
            <a:ext cx="11094415" cy="2962656"/>
          </a:xfrm>
          <a:prstGeom prst="rect">
            <a:avLst/>
          </a:prstGeom>
          <a:ln w="22225">
            <a:solidFill>
              <a:srgbClr val="0F0F11"/>
            </a:solidFill>
            <a:prstDash val="solid"/>
          </a:ln>
        </p:spPr>
      </p:sp>
      <p:sp>
        <p:nvSpPr>
          <p:cNvPr id="10" name="Shape 6"/>
          <p:cNvSpPr/>
          <p:nvPr/>
        </p:nvSpPr>
        <p:spPr>
          <a:xfrm>
            <a:off x="566928" y="4800600"/>
            <a:ext cx="11057839" cy="1325880"/>
          </a:xfrm>
          <a:prstGeom prst="rect">
            <a:avLst/>
          </a:prstGeom>
          <a:solidFill>
            <a:srgbClr val="F2F0F5"/>
          </a:solidFill>
          <a:ln w="22225">
            <a:solidFill>
              <a:srgbClr val="0F0F11"/>
            </a:solidFill>
            <a:prstDash val="solid"/>
          </a:ln>
        </p:spPr>
      </p:sp>
      <p:pic>
        <p:nvPicPr>
          <p:cNvPr id="11" name="Image 1" descr="preencoded.png">    </p:cNvPr>
          <p:cNvPicPr>
            <a:picLocks noChangeAspect="1"/>
          </p:cNvPicPr>
          <p:nvPr/>
        </p:nvPicPr>
        <p:blipFill>
          <a:blip r:embed="rId2"/>
          <a:stretch>
            <a:fillRect/>
          </a:stretch>
        </p:blipFill>
        <p:spPr>
          <a:xfrm>
            <a:off x="804672" y="5020056"/>
            <a:ext cx="237744" cy="237744"/>
          </a:xfrm>
          <a:prstGeom prst="rect">
            <a:avLst/>
          </a:prstGeom>
        </p:spPr>
      </p:pic>
      <p:sp>
        <p:nvSpPr>
          <p:cNvPr id="12" name="Text 7"/>
          <p:cNvSpPr/>
          <p:nvPr/>
        </p:nvSpPr>
        <p:spPr>
          <a:xfrm>
            <a:off x="1133856" y="4992624"/>
            <a:ext cx="10234879" cy="292608"/>
          </a:xfrm>
          <a:prstGeom prst="rect">
            <a:avLst/>
          </a:prstGeom>
          <a:noFill/>
          <a:ln/>
        </p:spPr>
        <p:txBody>
          <a:bodyPr wrap="square" lIns="0" tIns="0" rIns="0" bIns="0" rtlCol="0" anchor="ctr"/>
          <a:lstStyle/>
          <a:p>
            <a:pPr indent="0" marL="0">
              <a:buNone/>
            </a:pPr>
            <a:r>
              <a:rPr lang="en-US" sz="950" b="1" spc="150" kern="0" dirty="0">
                <a:solidFill>
                  <a:srgbClr val="6F6B80"/>
                </a:solidFill>
                <a:latin typeface="Courier New" pitchFamily="34" charset="0"/>
                <a:ea typeface="Courier New" pitchFamily="34" charset="-122"/>
                <a:cs typeface="Courier New" pitchFamily="34" charset="-120"/>
              </a:rPr>
              <a:t>UN CANAL, CON NÚMEROS</a:t>
            </a:r>
            <a:endParaRPr lang="en-US" sz="950" dirty="0"/>
          </a:p>
        </p:txBody>
      </p:sp>
      <p:sp>
        <p:nvSpPr>
          <p:cNvPr id="13" name="Text 8"/>
          <p:cNvSpPr/>
          <p:nvPr/>
        </p:nvSpPr>
        <p:spPr>
          <a:xfrm>
            <a:off x="804672" y="5312664"/>
            <a:ext cx="10582351" cy="72237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Ana y la cafetería abren un canal con 20 000 COP en tokens: 1 transacción. Ana paga 100 tintos firmando estados «Ana 19 800 / café 200», «19 600 / 400»… sin tocar la cadena. Al cerrar, se publica solo el último: 1 transacción. 100 pagos, 2 transacciones.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A.7 · OTRAS CAPAS BASE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400" dirty="0">
                <a:solidFill>
                  <a:srgbClr val="0F0F11"/>
                </a:solidFill>
                <a:latin typeface="Arial Black" pitchFamily="34" charset="0"/>
                <a:ea typeface="Arial Black" pitchFamily="34" charset="-122"/>
                <a:cs typeface="Arial Black" pitchFamily="34" charset="-120"/>
              </a:rPr>
              <a:t>«COMPATIBLE CON LA EVM»: QUÉ SIGNIFICA Y QUÉ NO</a:t>
            </a:r>
            <a:endParaRPr lang="en-US" sz="24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16 · ESCALABILIDAD Y REGULACIÓN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12</a:t>
            </a:r>
            <a:endParaRPr lang="en-US" sz="900" dirty="0"/>
          </a:p>
        </p:txBody>
      </p:sp>
      <p:sp>
        <p:nvSpPr>
          <p:cNvPr id="8" name="Text 5"/>
          <p:cNvSpPr/>
          <p:nvPr/>
        </p:nvSpPr>
        <p:spPr>
          <a:xfrm>
            <a:off x="566928" y="1737360"/>
            <a:ext cx="11057839" cy="86868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Existen otras L1 con otros puntos del trilema: algunas priorizan velocidad con pocos validadores potentes, otras usan arquitecturas o lenguajes distintos. La pregunta al mirarlas siempre es la misma: ¿qué sacrificaron?</a:t>
            </a:r>
            <a:endParaRPr lang="en-US" sz="1400" dirty="0"/>
          </a:p>
        </p:txBody>
      </p:sp>
      <p:sp>
        <p:nvSpPr>
          <p:cNvPr id="9" name="Shape 6"/>
          <p:cNvSpPr/>
          <p:nvPr/>
        </p:nvSpPr>
        <p:spPr>
          <a:xfrm>
            <a:off x="566928" y="2788920"/>
            <a:ext cx="5391760" cy="233172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0" name="Text 7"/>
          <p:cNvSpPr/>
          <p:nvPr/>
        </p:nvSpPr>
        <p:spPr>
          <a:xfrm>
            <a:off x="841248" y="297180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QUÉ SÍ SIGNIFICA</a:t>
            </a:r>
            <a:endParaRPr lang="en-US" sz="1050" dirty="0"/>
          </a:p>
        </p:txBody>
      </p:sp>
      <p:sp>
        <p:nvSpPr>
          <p:cNvPr id="11" name="Text 8"/>
          <p:cNvSpPr/>
          <p:nvPr/>
        </p:nvSpPr>
        <p:spPr>
          <a:xfrm>
            <a:off x="841248" y="3355848"/>
            <a:ext cx="4843120" cy="160020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Corre el mismo bytecode de la EVM.</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El mismo SelloTiempo.sol se despliega sin cambiar una línea.</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Las mismas herramientas: Hardhat, ethers, MetaMask.</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Solo cambian la URL del nodo y el chainId.</a:t>
            </a:r>
            <a:endParaRPr lang="en-US" sz="1250" dirty="0"/>
          </a:p>
        </p:txBody>
      </p:sp>
      <p:sp>
        <p:nvSpPr>
          <p:cNvPr id="12" name="Shape 9"/>
          <p:cNvSpPr/>
          <p:nvPr/>
        </p:nvSpPr>
        <p:spPr>
          <a:xfrm>
            <a:off x="6233008" y="2788920"/>
            <a:ext cx="5391760" cy="233172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13" name="Text 10"/>
          <p:cNvSpPr/>
          <p:nvPr/>
        </p:nvSpPr>
        <p:spPr>
          <a:xfrm>
            <a:off x="6507328" y="297180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QUÉ NO SIGNIFICA</a:t>
            </a:r>
            <a:endParaRPr lang="en-US" sz="1050" dirty="0"/>
          </a:p>
        </p:txBody>
      </p:sp>
      <p:sp>
        <p:nvSpPr>
          <p:cNvPr id="14" name="Text 11"/>
          <p:cNvSpPr/>
          <p:nvPr/>
        </p:nvSpPr>
        <p:spPr>
          <a:xfrm>
            <a:off x="6507328" y="3355848"/>
            <a:ext cx="4843120" cy="160020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Misma seguridad: depende de quién valida.</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Mismos costos: cada red tiene su mercado de gas.</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Misma dirección = mismo contrato: son redes distintas.</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Mismos tokens: un USDC en otra red es otro contrato.</a:t>
            </a:r>
            <a:endParaRPr lang="en-US" sz="1250" dirty="0"/>
          </a:p>
        </p:txBody>
      </p:sp>
      <p:sp>
        <p:nvSpPr>
          <p:cNvPr id="15" name="Text 12"/>
          <p:cNvSpPr/>
          <p:nvPr/>
        </p:nvSpPr>
        <p:spPr>
          <a:xfrm>
            <a:off x="566928" y="5349240"/>
            <a:ext cx="11057839" cy="45720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Es lo que el laboratorio de hoy demuestra: el mismo contrato, dos redes, dos costos.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A.8 · DENCUN Y EIP-4844</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LOS BLOBS: DATOS BARATOS QUE CADUCAN</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16 · ESCALABILIDAD Y REGULACIÓN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13</a:t>
            </a:r>
            <a:endParaRPr lang="en-US" sz="900" dirty="0"/>
          </a:p>
        </p:txBody>
      </p:sp>
      <p:sp>
        <p:nvSpPr>
          <p:cNvPr id="8" name="Text 5"/>
          <p:cNvSpPr/>
          <p:nvPr/>
        </p:nvSpPr>
        <p:spPr>
          <a:xfrm>
            <a:off x="566928" y="1737360"/>
            <a:ext cx="11057839" cy="109728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El mayor costo de un rollup era publicar sus datos como calldata, que se guarda para siempre. EIP-4844 creó un espacio aparte, los blobs: más barato, con su propio mercado de gas, y que los nodos borran a las ~2,5 semanas. Suficiente para que cualquiera verifique o desafíe; inútil para almacenamiento permanente.</a:t>
            </a:r>
            <a:endParaRPr lang="en-US" sz="13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2971800"/>
          <a:ext cx="11057839" cy="914400"/>
        </p:xfrm>
        <a:graphic>
          <a:graphicData uri="http://schemas.openxmlformats.org/drawingml/2006/table">
            <a:tbl>
              <a:tblPr/>
              <a:tblGrid>
                <a:gridCol w="3017520"/>
                <a:gridCol w="2926080"/>
                <a:gridCol w="51142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HITO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FECHA (MAINNET)</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BLOBS POR BLOQUE: OBJETIVO / MÁXIMO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0233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Dencun (EIP-4844)</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13-mar-2024</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3 / 6 · cada blob = 128 KiB · retención ≈ 18 días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0233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Pectra (EIP-7691)</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07-may-2025</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6 / 9</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0233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Fusaka (PeerDAS) + BPO1</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03-dic-2025 · 09-dic-2025</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10 / 15</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0233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BPO2</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07-ene-2026</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14 / 21</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0" name="Shape 6"/>
          <p:cNvSpPr/>
          <p:nvPr/>
        </p:nvSpPr>
        <p:spPr>
          <a:xfrm>
            <a:off x="548640" y="2953512"/>
            <a:ext cx="11094415" cy="1956816"/>
          </a:xfrm>
          <a:prstGeom prst="rect">
            <a:avLst/>
          </a:prstGeom>
          <a:ln w="22225">
            <a:solidFill>
              <a:srgbClr val="0F0F11"/>
            </a:solidFill>
            <a:prstDash val="solid"/>
          </a:ln>
        </p:spPr>
      </p:sp>
      <p:sp>
        <p:nvSpPr>
          <p:cNvPr id="11" name="Shape 7"/>
          <p:cNvSpPr/>
          <p:nvPr/>
        </p:nvSpPr>
        <p:spPr>
          <a:xfrm>
            <a:off x="566928" y="5074920"/>
            <a:ext cx="11057839" cy="105156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12" name="Image 1" descr="preencoded.png">    </p:cNvPr>
          <p:cNvPicPr>
            <a:picLocks noChangeAspect="1"/>
          </p:cNvPicPr>
          <p:nvPr/>
        </p:nvPicPr>
        <p:blipFill>
          <a:blip r:embed="rId2"/>
          <a:stretch>
            <a:fillRect/>
          </a:stretch>
        </p:blipFill>
        <p:spPr>
          <a:xfrm>
            <a:off x="804672" y="5294376"/>
            <a:ext cx="237744" cy="237744"/>
          </a:xfrm>
          <a:prstGeom prst="rect">
            <a:avLst/>
          </a:prstGeom>
        </p:spPr>
      </p:pic>
      <p:sp>
        <p:nvSpPr>
          <p:cNvPr id="13" name="Text 8"/>
          <p:cNvSpPr/>
          <p:nvPr/>
        </p:nvSpPr>
        <p:spPr>
          <a:xfrm>
            <a:off x="1133856" y="526694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EL EFECTO MEDIDO EN LAS TARIFAS DE LAS L2</a:t>
            </a:r>
            <a:endParaRPr lang="en-US" sz="950" dirty="0"/>
          </a:p>
        </p:txBody>
      </p:sp>
      <p:sp>
        <p:nvSpPr>
          <p:cNvPr id="14" name="Text 9"/>
          <p:cNvSpPr/>
          <p:nvPr/>
        </p:nvSpPr>
        <p:spPr>
          <a:xfrm>
            <a:off x="804672" y="5586984"/>
            <a:ext cx="10582351" cy="44805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Tras Dencun, la tarifa mediana cayó ≈ 95-96 % en Base, OP Mainnet y Arbitrum, 98 % en Starknet y ≈ 65 % en zkSync (DL News con datos de growthepie). No todas por igual.</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A.9 · CÓMO SE VE EN UN RECIBO REAL</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DOS COSTOS EN CADA TRANSACCIÓN DE OP</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16 · ESCALABILIDAD Y REGULACIÓN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14</a:t>
            </a:r>
            <a:endParaRPr lang="en-US" sz="900" dirty="0"/>
          </a:p>
        </p:txBody>
      </p:sp>
      <p:sp>
        <p:nvSpPr>
          <p:cNvPr id="8" name="Text 5"/>
          <p:cNvSpPr/>
          <p:nvPr/>
        </p:nvSpPr>
        <p:spPr>
          <a:xfrm>
            <a:off x="566928" y="1691640"/>
            <a:ext cx="11057839" cy="59436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En un rollup OP, el recibo trae un campo extra, l1Fee: lo que la transacción aporta para publicar sus datos en Ethereum. Recibo real de OP Sepolia, leído hoy del nodo público:</a:t>
            </a:r>
            <a:endParaRPr lang="en-US" sz="1350" dirty="0"/>
          </a:p>
        </p:txBody>
      </p:sp>
      <p:sp>
        <p:nvSpPr>
          <p:cNvPr id="9" name="Shape 6"/>
          <p:cNvSpPr/>
          <p:nvPr/>
        </p:nvSpPr>
        <p:spPr>
          <a:xfrm>
            <a:off x="566928" y="2377440"/>
            <a:ext cx="11057839" cy="1783080"/>
          </a:xfrm>
          <a:prstGeom prst="rect">
            <a:avLst/>
          </a:prstGeom>
          <a:solidFill>
            <a:srgbClr val="16151B"/>
          </a:solidFill>
          <a:ln w="22225">
            <a:solidFill>
              <a:srgbClr val="16151B"/>
            </a:solidFill>
            <a:prstDash val="solid"/>
          </a:ln>
        </p:spPr>
      </p:sp>
      <p:sp>
        <p:nvSpPr>
          <p:cNvPr id="10" name="Text 7"/>
          <p:cNvSpPr/>
          <p:nvPr/>
        </p:nvSpPr>
        <p:spPr>
          <a:xfrm>
            <a:off x="768096" y="2450592"/>
            <a:ext cx="10655503"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ETH_GETTRANSACTIONRECEIPT · OP SEPOLIA · BLOQUE 48 944 873</a:t>
            </a:r>
            <a:endParaRPr lang="en-US" sz="850" dirty="0"/>
          </a:p>
        </p:txBody>
      </p:sp>
      <p:sp>
        <p:nvSpPr>
          <p:cNvPr id="11" name="Text 8"/>
          <p:cNvSpPr/>
          <p:nvPr/>
        </p:nvSpPr>
        <p:spPr>
          <a:xfrm>
            <a:off x="768096" y="2761488"/>
            <a:ext cx="10655503" cy="1289304"/>
          </a:xfrm>
          <a:prstGeom prst="rect">
            <a:avLst/>
          </a:prstGeom>
          <a:noFill/>
          <a:ln/>
        </p:spPr>
        <p:txBody>
          <a:bodyPr wrap="square" lIns="0" tIns="0" rIns="0" bIns="0" rtlCol="0" anchor="t"/>
          <a:lstStyle/>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gasUsed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123824</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ejecución en la L2</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effectiveGasPrice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1700250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wei</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0,00170025 gwei</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l1GasUsed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4257</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tamaño de sus datos, en gas L1</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l1Fee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44559595925</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wei</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costo de publicar esos datos</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l1BaseFeeScalar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7600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l1BlobBaseFeeScalar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862000</a:t>
            </a:r>
            <a:endParaRPr lang="en-US" sz="1100" dirty="0"/>
          </a:p>
        </p:txBody>
      </p:sp>
      <p:sp>
        <p:nvSpPr>
          <p:cNvPr id="12" name="Shape 9"/>
          <p:cNvSpPr/>
          <p:nvPr/>
        </p:nvSpPr>
        <p:spPr>
          <a:xfrm>
            <a:off x="566928" y="4297680"/>
            <a:ext cx="11057839" cy="594360"/>
          </a:xfrm>
          <a:prstGeom prst="rect">
            <a:avLst/>
          </a:prstGeom>
          <a:solidFill>
            <a:srgbClr val="F2F0F5"/>
          </a:solidFill>
          <a:ln w="12700">
            <a:solidFill>
              <a:srgbClr val="7152E9"/>
            </a:solidFill>
            <a:prstDash val="solid"/>
          </a:ln>
        </p:spPr>
      </p:sp>
      <p:sp>
        <p:nvSpPr>
          <p:cNvPr id="13" name="Text 10"/>
          <p:cNvSpPr/>
          <p:nvPr/>
        </p:nvSpPr>
        <p:spPr>
          <a:xfrm>
            <a:off x="731520" y="4370832"/>
            <a:ext cx="10728655" cy="448056"/>
          </a:xfrm>
          <a:prstGeom prst="rect">
            <a:avLst/>
          </a:prstGeom>
          <a:noFill/>
          <a:ln/>
        </p:spPr>
        <p:txBody>
          <a:bodyPr wrap="square" lIns="0" tIns="0" rIns="0" bIns="0" rtlCol="0" anchor="ctr"/>
          <a:lstStyle/>
          <a:p>
            <a:pPr indent="0" marL="0">
              <a:lnSpc>
                <a:spcPct val="120000"/>
              </a:lnSpc>
              <a:buNone/>
            </a:pPr>
            <a:r>
              <a:rPr lang="en-US" sz="1100" dirty="0">
                <a:solidFill>
                  <a:srgbClr val="3A3844"/>
                </a:solidFill>
                <a:latin typeface="Courier New" pitchFamily="34" charset="0"/>
                <a:ea typeface="Courier New" pitchFamily="34" charset="-122"/>
                <a:cs typeface="Courier New" pitchFamily="34" charset="-120"/>
              </a:rPr>
              <a:t>costo total = gasUsed × effectiveGasPrice + l1Fee = 210 532 956 000 + 44 559 595 925 wei ≈ 0,000000255 ETH  (el 17 % es la parte L1)</a:t>
            </a:r>
            <a:endParaRPr lang="en-US" sz="1100" dirty="0"/>
          </a:p>
        </p:txBody>
      </p:sp>
      <p:sp>
        <p:nvSpPr>
          <p:cNvPr id="14" name="Shape 11"/>
          <p:cNvSpPr/>
          <p:nvPr/>
        </p:nvSpPr>
        <p:spPr>
          <a:xfrm>
            <a:off x="566928" y="5074920"/>
            <a:ext cx="11057839" cy="105156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5" name="Image 1" descr="preencoded.png">    </p:cNvPr>
          <p:cNvPicPr>
            <a:picLocks noChangeAspect="1"/>
          </p:cNvPicPr>
          <p:nvPr/>
        </p:nvPicPr>
        <p:blipFill>
          <a:blip r:embed="rId2"/>
          <a:stretch>
            <a:fillRect/>
          </a:stretch>
        </p:blipFill>
        <p:spPr>
          <a:xfrm>
            <a:off x="804672" y="5294376"/>
            <a:ext cx="237744" cy="237744"/>
          </a:xfrm>
          <a:prstGeom prst="rect">
            <a:avLst/>
          </a:prstGeom>
        </p:spPr>
      </p:pic>
      <p:sp>
        <p:nvSpPr>
          <p:cNvPr id="16" name="Text 12"/>
          <p:cNvSpPr/>
          <p:nvPr/>
        </p:nvSpPr>
        <p:spPr>
          <a:xfrm>
            <a:off x="1133856" y="526694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EL ERROR DE MEDICIÓN TÍPICO</a:t>
            </a:r>
            <a:endParaRPr lang="en-US" sz="950" dirty="0"/>
          </a:p>
        </p:txBody>
      </p:sp>
      <p:sp>
        <p:nvSpPr>
          <p:cNvPr id="17" name="Text 13"/>
          <p:cNvSpPr/>
          <p:nvPr/>
        </p:nvSpPr>
        <p:spPr>
          <a:xfrm>
            <a:off x="804672" y="5586984"/>
            <a:ext cx="10582351" cy="44805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Calcular el costo como gasUsed × gasPrice y olvidar l1Fee. En la L2 eso subestima el costo real. El script del laboratorio lee el recibo crudo del nodo para incluirlo.</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A.10 · PUENTES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TRES FORMAS DE CRUZAR, TRES CONFIANZAS</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16 · ESCALABILIDAD Y REGULACIÓN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15</a:t>
            </a:r>
            <a:endParaRPr lang="en-US" sz="900" dirty="0"/>
          </a:p>
        </p:txBody>
      </p:sp>
      <p:sp>
        <p:nvSpPr>
          <p:cNvPr id="8" name="Text 5"/>
          <p:cNvSpPr/>
          <p:nvPr/>
        </p:nvSpPr>
        <p:spPr>
          <a:xfrm>
            <a:off x="566928" y="1737360"/>
            <a:ext cx="11057839" cy="59436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Un puente bloquea el activo en la cadena de origen y emite una representación en la de destino. La pregunta es siempre la misma: ¿quién certifica que el bloqueo ocurrió?</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2514600"/>
          <a:ext cx="11057839" cy="914400"/>
        </p:xfrm>
        <a:graphic>
          <a:graphicData uri="http://schemas.openxmlformats.org/drawingml/2006/table">
            <a:tbl>
              <a:tblPr/>
              <a:tblGrid>
                <a:gridCol w="2926080"/>
                <a:gridCol w="3840480"/>
                <a:gridCol w="429127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MODELO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QUIÉN CERTIFICA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FALLA SI…</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71932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Custodio o multisig externo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Un grupo de firmantes (m de n) o un proveedor.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Roban o coluden m claves. Es la Sesión 15, con cientos de millones detrás.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71932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Red de validadores o guardianes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Un conjunto propio de nodos que firman mensajes.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Se comprometen los validadores o el código que verifica sus firmas.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71932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Puente nativo de un rollup</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La propia L1, con pruebas de fraude o de validez.</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Falla el sistema de pruebas del rollup (y hereda sus tiempos: 7 días al salir de un optimista).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0" name="Shape 6"/>
          <p:cNvSpPr/>
          <p:nvPr/>
        </p:nvSpPr>
        <p:spPr>
          <a:xfrm>
            <a:off x="548640" y="2496312"/>
            <a:ext cx="11094415" cy="2505456"/>
          </a:xfrm>
          <a:prstGeom prst="rect">
            <a:avLst/>
          </a:prstGeom>
          <a:ln w="22225">
            <a:solidFill>
              <a:srgbClr val="0F0F11"/>
            </a:solidFill>
            <a:prstDash val="solid"/>
          </a:ln>
        </p:spPr>
      </p:sp>
      <p:sp>
        <p:nvSpPr>
          <p:cNvPr id="11" name="Shape 7"/>
          <p:cNvSpPr/>
          <p:nvPr/>
        </p:nvSpPr>
        <p:spPr>
          <a:xfrm>
            <a:off x="566928" y="5047488"/>
            <a:ext cx="11057839" cy="109728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pic>
        <p:nvPicPr>
          <p:cNvPr id="12" name="Image 1" descr="preencoded.png">    </p:cNvPr>
          <p:cNvPicPr>
            <a:picLocks noChangeAspect="1"/>
          </p:cNvPicPr>
          <p:nvPr/>
        </p:nvPicPr>
        <p:blipFill>
          <a:blip r:embed="rId2"/>
          <a:stretch>
            <a:fillRect/>
          </a:stretch>
        </p:blipFill>
        <p:spPr>
          <a:xfrm>
            <a:off x="804672" y="5266944"/>
            <a:ext cx="237744" cy="237744"/>
          </a:xfrm>
          <a:prstGeom prst="rect">
            <a:avLst/>
          </a:prstGeom>
        </p:spPr>
      </p:pic>
      <p:sp>
        <p:nvSpPr>
          <p:cNvPr id="13" name="Text 8"/>
          <p:cNvSpPr/>
          <p:nvPr/>
        </p:nvSpPr>
        <p:spPr>
          <a:xfrm>
            <a:off x="1133856" y="5239512"/>
            <a:ext cx="10234879" cy="292608"/>
          </a:xfrm>
          <a:prstGeom prst="rect">
            <a:avLst/>
          </a:prstGeom>
          <a:noFill/>
          <a:ln/>
        </p:spPr>
        <p:txBody>
          <a:bodyPr wrap="square" lIns="0" tIns="0" rIns="0" bIns="0" rtlCol="0" anchor="ctr"/>
          <a:lstStyle/>
          <a:p>
            <a:pPr indent="0" marL="0">
              <a:buNone/>
            </a:pPr>
            <a:r>
              <a:rPr lang="en-US" sz="950" b="1" spc="150" kern="0" dirty="0">
                <a:solidFill>
                  <a:srgbClr val="B3261E"/>
                </a:solidFill>
                <a:latin typeface="Courier New" pitchFamily="34" charset="0"/>
                <a:ea typeface="Courier New" pitchFamily="34" charset="-122"/>
                <a:cs typeface="Courier New" pitchFamily="34" charset="-120"/>
              </a:rPr>
              <a:t>POR QUÉ ATRAEN A LOS ATACANTES</a:t>
            </a:r>
            <a:endParaRPr lang="en-US" sz="950" dirty="0"/>
          </a:p>
        </p:txBody>
      </p:sp>
      <p:sp>
        <p:nvSpPr>
          <p:cNvPr id="14" name="Text 9"/>
          <p:cNvSpPr/>
          <p:nvPr/>
        </p:nvSpPr>
        <p:spPr>
          <a:xfrm>
            <a:off x="804672" y="5559552"/>
            <a:ext cx="10582351" cy="49377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Un puente custodia en un solo contrato todo lo bloqueado de un lado. Es un pozo de valor enorme con lógica compleja: la combinación perfecta.</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A.11 · LOS MAYORES ROBOS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500" dirty="0">
                <a:solidFill>
                  <a:srgbClr val="0F0F11"/>
                </a:solidFill>
                <a:latin typeface="Arial Black" pitchFamily="34" charset="0"/>
                <a:ea typeface="Arial Black" pitchFamily="34" charset="-122"/>
                <a:cs typeface="Arial Black" pitchFamily="34" charset="-120"/>
              </a:rPr>
              <a:t>CINCO PUENTES, MÁS DE USD 1 300 MILLONES</a:t>
            </a:r>
            <a:endParaRPr lang="en-US" sz="25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16 · ESCALABILIDAD Y REGULACIÓN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16</a:t>
            </a:r>
            <a:endParaRPr lang="en-US" sz="9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7839" cy="914400"/>
        </p:xfrm>
        <a:graphic>
          <a:graphicData uri="http://schemas.openxmlformats.org/drawingml/2006/table">
            <a:tbl>
              <a:tblPr/>
              <a:tblGrid>
                <a:gridCol w="1920240"/>
                <a:gridCol w="1554480"/>
                <a:gridCol w="3291840"/>
                <a:gridCol w="429127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PUENTE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FECHA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MONTO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FALLÓ</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23621">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Ronin</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23-mar-2022</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 USD 624 M (173 600 ETH + 25,5 M USDC)</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atacante controló 5 de 9 claves de validadores.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23621">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Wormhole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02-feb-2022</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120 000 wETH ≈ USD 320-326 M</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Se burló la verificación de firmas de los guardianes en Solana.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23621">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Nomad</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01-ago-2022</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 USD 190 M</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Una actualización dejó la raíz 0x00 como válida: cualquier mensaje pasaba.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23621">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Multichain</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06-jul-2023</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 USD 126 M</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Claves MPC comprometidas.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23621">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Harmony Horizon</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23-jun-2022</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 USD 100 M</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Multisig 2 de 5 con dos claves comprometidas.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673352"/>
            <a:ext cx="11094415" cy="3465576"/>
          </a:xfrm>
          <a:prstGeom prst="rect">
            <a:avLst/>
          </a:prstGeom>
          <a:ln w="22225">
            <a:solidFill>
              <a:srgbClr val="0F0F11"/>
            </a:solidFill>
            <a:prstDash val="solid"/>
          </a:ln>
        </p:spPr>
      </p:sp>
      <p:sp>
        <p:nvSpPr>
          <p:cNvPr id="10" name="Shape 6"/>
          <p:cNvSpPr/>
          <p:nvPr/>
        </p:nvSpPr>
        <p:spPr>
          <a:xfrm>
            <a:off x="566928" y="5303520"/>
            <a:ext cx="11057839" cy="86868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1" name="Image 1" descr="preencoded.png">    </p:cNvPr>
          <p:cNvPicPr>
            <a:picLocks noChangeAspect="1"/>
          </p:cNvPicPr>
          <p:nvPr/>
        </p:nvPicPr>
        <p:blipFill>
          <a:blip r:embed="rId2"/>
          <a:stretch>
            <a:fillRect/>
          </a:stretch>
        </p:blipFill>
        <p:spPr>
          <a:xfrm>
            <a:off x="804672" y="5522976"/>
            <a:ext cx="237744" cy="237744"/>
          </a:xfrm>
          <a:prstGeom prst="rect">
            <a:avLst/>
          </a:prstGeom>
        </p:spPr>
      </p:pic>
      <p:sp>
        <p:nvSpPr>
          <p:cNvPr id="12" name="Text 7"/>
          <p:cNvSpPr/>
          <p:nvPr/>
        </p:nvSpPr>
        <p:spPr>
          <a:xfrm>
            <a:off x="1133856" y="549554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LEAN LA ÚLTIMA COLUMNA</a:t>
            </a:r>
            <a:endParaRPr lang="en-US" sz="950" dirty="0"/>
          </a:p>
        </p:txBody>
      </p:sp>
      <p:sp>
        <p:nvSpPr>
          <p:cNvPr id="13" name="Text 8"/>
          <p:cNvSpPr/>
          <p:nvPr/>
        </p:nvSpPr>
        <p:spPr>
          <a:xfrm>
            <a:off x="804672" y="5815584"/>
            <a:ext cx="10582351" cy="26517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Tres de cinco son un m de n mal elegido o mal custodiado. La lección de la Sesión 15 vale cientos de millones.</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A.12 · RONIN, DE CERCA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CUANDO 5 DE 9 SON 2 ORGANIZACIONES</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16 · ESCALABILIDAD Y REGULACIÓN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17</a:t>
            </a:r>
            <a:endParaRPr lang="en-US" sz="900" dirty="0"/>
          </a:p>
        </p:txBody>
      </p:sp>
      <p:sp>
        <p:nvSpPr>
          <p:cNvPr id="8" name="Shape 5"/>
          <p:cNvSpPr/>
          <p:nvPr/>
        </p:nvSpPr>
        <p:spPr>
          <a:xfrm>
            <a:off x="566928" y="1691640"/>
            <a:ext cx="11057839" cy="731520"/>
          </a:xfrm>
          <a:prstGeom prst="rect">
            <a:avLst/>
          </a:prstGeom>
          <a:solidFill>
            <a:srgbClr val="FFFFFF"/>
          </a:solidFill>
          <a:ln w="15875">
            <a:solidFill>
              <a:srgbClr val="D9D6E0"/>
            </a:solidFill>
            <a:prstDash val="solid"/>
          </a:ln>
        </p:spPr>
      </p:sp>
      <p:sp>
        <p:nvSpPr>
          <p:cNvPr id="9" name="Text 6"/>
          <p:cNvSpPr/>
          <p:nvPr/>
        </p:nvSpPr>
        <p:spPr>
          <a:xfrm>
            <a:off x="694944" y="1691640"/>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911096"/>
            <a:ext cx="18288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EL DISEÑO</a:t>
            </a:r>
            <a:endParaRPr lang="en-US" sz="1000" dirty="0"/>
          </a:p>
        </p:txBody>
      </p:sp>
      <p:sp>
        <p:nvSpPr>
          <p:cNvPr id="11" name="Text 8"/>
          <p:cNvSpPr/>
          <p:nvPr/>
        </p:nvSpPr>
        <p:spPr>
          <a:xfrm>
            <a:off x="3383280" y="1783080"/>
            <a:ext cx="8131759" cy="58521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El puente exigía 5 firmas de 9 validadores. En el papel, un 5 de 9 resiste que roben 4 claves (m − 1, Sesión 15).</a:t>
            </a:r>
            <a:endParaRPr lang="en-US" sz="1200" dirty="0"/>
          </a:p>
        </p:txBody>
      </p:sp>
      <p:sp>
        <p:nvSpPr>
          <p:cNvPr id="12" name="Shape 9"/>
          <p:cNvSpPr/>
          <p:nvPr/>
        </p:nvSpPr>
        <p:spPr>
          <a:xfrm>
            <a:off x="566928" y="2514600"/>
            <a:ext cx="11057839" cy="731520"/>
          </a:xfrm>
          <a:prstGeom prst="rect">
            <a:avLst/>
          </a:prstGeom>
          <a:solidFill>
            <a:srgbClr val="FAF9FB"/>
          </a:solidFill>
          <a:ln w="15875">
            <a:solidFill>
              <a:srgbClr val="D9D6E0"/>
            </a:solidFill>
            <a:prstDash val="solid"/>
          </a:ln>
        </p:spPr>
      </p:sp>
      <p:sp>
        <p:nvSpPr>
          <p:cNvPr id="13" name="Text 10"/>
          <p:cNvSpPr/>
          <p:nvPr/>
        </p:nvSpPr>
        <p:spPr>
          <a:xfrm>
            <a:off x="694944" y="2514600"/>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734056"/>
            <a:ext cx="18288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LA REALIDAD</a:t>
            </a:r>
            <a:endParaRPr lang="en-US" sz="1000" dirty="0"/>
          </a:p>
        </p:txBody>
      </p:sp>
      <p:sp>
        <p:nvSpPr>
          <p:cNvPr id="15" name="Text 12"/>
          <p:cNvSpPr/>
          <p:nvPr/>
        </p:nvSpPr>
        <p:spPr>
          <a:xfrm>
            <a:off x="3383280" y="2606040"/>
            <a:ext cx="8131759" cy="58521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Cuatro de las nueve claves las operaba la misma empresa, Sky Mavis. Y una quinta firmaba por ella por un permiso temporal que nunca se revocó.</a:t>
            </a:r>
            <a:endParaRPr lang="en-US" sz="1200" dirty="0"/>
          </a:p>
        </p:txBody>
      </p:sp>
      <p:sp>
        <p:nvSpPr>
          <p:cNvPr id="16" name="Shape 13"/>
          <p:cNvSpPr/>
          <p:nvPr/>
        </p:nvSpPr>
        <p:spPr>
          <a:xfrm>
            <a:off x="566928" y="3337560"/>
            <a:ext cx="11057839" cy="731520"/>
          </a:xfrm>
          <a:prstGeom prst="rect">
            <a:avLst/>
          </a:prstGeom>
          <a:solidFill>
            <a:srgbClr val="FFFFFF"/>
          </a:solidFill>
          <a:ln w="15875">
            <a:solidFill>
              <a:srgbClr val="D9D6E0"/>
            </a:solidFill>
            <a:prstDash val="solid"/>
          </a:ln>
        </p:spPr>
      </p:sp>
      <p:sp>
        <p:nvSpPr>
          <p:cNvPr id="17" name="Text 14"/>
          <p:cNvSpPr/>
          <p:nvPr/>
        </p:nvSpPr>
        <p:spPr>
          <a:xfrm>
            <a:off x="694944" y="3337560"/>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557016"/>
            <a:ext cx="18288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EL ATAQUE</a:t>
            </a:r>
            <a:endParaRPr lang="en-US" sz="1000" dirty="0"/>
          </a:p>
        </p:txBody>
      </p:sp>
      <p:sp>
        <p:nvSpPr>
          <p:cNvPr id="19" name="Text 16"/>
          <p:cNvSpPr/>
          <p:nvPr/>
        </p:nvSpPr>
        <p:spPr>
          <a:xfrm>
            <a:off x="3383280" y="3429000"/>
            <a:ext cx="8131759" cy="58521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Con un ataque de ingeniería social contra empleados, el atacante obtuvo las 4 claves de la empresa y usó el permiso olvidado para la quinta.</a:t>
            </a:r>
            <a:endParaRPr lang="en-US" sz="1200" dirty="0"/>
          </a:p>
        </p:txBody>
      </p:sp>
      <p:sp>
        <p:nvSpPr>
          <p:cNvPr id="20" name="Shape 17"/>
          <p:cNvSpPr/>
          <p:nvPr/>
        </p:nvSpPr>
        <p:spPr>
          <a:xfrm>
            <a:off x="566928" y="4160520"/>
            <a:ext cx="11057839" cy="731520"/>
          </a:xfrm>
          <a:prstGeom prst="rect">
            <a:avLst/>
          </a:prstGeom>
          <a:solidFill>
            <a:srgbClr val="FAF9FB"/>
          </a:solidFill>
          <a:ln w="15875">
            <a:solidFill>
              <a:srgbClr val="D9D6E0"/>
            </a:solidFill>
            <a:prstDash val="solid"/>
          </a:ln>
        </p:spPr>
      </p:sp>
      <p:sp>
        <p:nvSpPr>
          <p:cNvPr id="21" name="Text 18"/>
          <p:cNvSpPr/>
          <p:nvPr/>
        </p:nvSpPr>
        <p:spPr>
          <a:xfrm>
            <a:off x="694944" y="4160520"/>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379976"/>
            <a:ext cx="18288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EL RESULTADO</a:t>
            </a:r>
            <a:endParaRPr lang="en-US" sz="1000" dirty="0"/>
          </a:p>
        </p:txBody>
      </p:sp>
      <p:sp>
        <p:nvSpPr>
          <p:cNvPr id="23" name="Text 20"/>
          <p:cNvSpPr/>
          <p:nvPr/>
        </p:nvSpPr>
        <p:spPr>
          <a:xfrm>
            <a:off x="3383280" y="4251960"/>
            <a:ext cx="8131759" cy="58521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Dos retiros firmados «válidamente» vaciaron el puente. Nadie lo notó durante seis días.</a:t>
            </a:r>
            <a:endParaRPr lang="en-US" sz="1200" dirty="0"/>
          </a:p>
        </p:txBody>
      </p:sp>
      <p:sp>
        <p:nvSpPr>
          <p:cNvPr id="24" name="Shape 21"/>
          <p:cNvSpPr/>
          <p:nvPr/>
        </p:nvSpPr>
        <p:spPr>
          <a:xfrm>
            <a:off x="566928" y="5029200"/>
            <a:ext cx="11057839" cy="109728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25" name="Image 1" descr="preencoded.png">    </p:cNvPr>
          <p:cNvPicPr>
            <a:picLocks noChangeAspect="1"/>
          </p:cNvPicPr>
          <p:nvPr/>
        </p:nvPicPr>
        <p:blipFill>
          <a:blip r:embed="rId2"/>
          <a:stretch>
            <a:fillRect/>
          </a:stretch>
        </p:blipFill>
        <p:spPr>
          <a:xfrm>
            <a:off x="804672" y="5248656"/>
            <a:ext cx="237744" cy="237744"/>
          </a:xfrm>
          <a:prstGeom prst="rect">
            <a:avLst/>
          </a:prstGeom>
        </p:spPr>
      </p:pic>
      <p:sp>
        <p:nvSpPr>
          <p:cNvPr id="26" name="Text 22"/>
          <p:cNvSpPr/>
          <p:nvPr/>
        </p:nvSpPr>
        <p:spPr>
          <a:xfrm>
            <a:off x="1133856" y="522122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LA LECCIÓN</a:t>
            </a:r>
            <a:endParaRPr lang="en-US" sz="950" dirty="0"/>
          </a:p>
        </p:txBody>
      </p:sp>
      <p:sp>
        <p:nvSpPr>
          <p:cNvPr id="27" name="Text 23"/>
          <p:cNvSpPr/>
          <p:nvPr/>
        </p:nvSpPr>
        <p:spPr>
          <a:xfrm>
            <a:off x="804672" y="5541264"/>
            <a:ext cx="10582351" cy="49377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La seguridad de un m de n depende de cuántas ORGANIZACIONES independientes hay detrás de las claves, no de cuántas claves hay.</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A.13 · LO QUE HAY QUE LLEVARSE DEL BLOQUE 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SEIS IDEAS SOBRE ESCALA Y PUENTES</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16 · ESCALABILIDAD Y REGULACIÓN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18</a:t>
            </a:r>
            <a:endParaRPr lang="en-US" sz="900" dirty="0"/>
          </a:p>
        </p:txBody>
      </p:sp>
      <p:sp>
        <p:nvSpPr>
          <p:cNvPr id="8" name="Text 5"/>
          <p:cNvSpPr/>
          <p:nvPr/>
        </p:nvSpPr>
        <p:spPr>
          <a:xfrm>
            <a:off x="566928" y="173736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01</a:t>
            </a:r>
            <a:endParaRPr lang="en-US" sz="2000" dirty="0"/>
          </a:p>
        </p:txBody>
      </p:sp>
      <p:sp>
        <p:nvSpPr>
          <p:cNvPr id="9" name="Text 6"/>
          <p:cNvSpPr/>
          <p:nvPr/>
        </p:nvSpPr>
        <p:spPr>
          <a:xfrm>
            <a:off x="1344168" y="1810512"/>
            <a:ext cx="10280599" cy="548640"/>
          </a:xfrm>
          <a:prstGeom prst="rect">
            <a:avLst/>
          </a:prstGeom>
          <a:noFill/>
          <a:ln/>
        </p:spPr>
        <p:txBody>
          <a:bodyPr wrap="square" lIns="0" tIns="0" rIns="0" bIns="0" rtlCol="0" anchor="ctr"/>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La L1 tiene un techo de transacciones: subirlo cuesta descentralización. La escala va encima.</a:t>
            </a:r>
            <a:endParaRPr lang="en-US" sz="1400" dirty="0"/>
          </a:p>
        </p:txBody>
      </p:sp>
      <p:sp>
        <p:nvSpPr>
          <p:cNvPr id="10" name="Shape 7"/>
          <p:cNvSpPr/>
          <p:nvPr/>
        </p:nvSpPr>
        <p:spPr>
          <a:xfrm>
            <a:off x="566928" y="2414016"/>
            <a:ext cx="11057839" cy="914"/>
          </a:xfrm>
          <a:prstGeom prst="line">
            <a:avLst/>
          </a:prstGeom>
          <a:noFill/>
          <a:ln w="12700">
            <a:solidFill>
              <a:srgbClr val="D9D6E0"/>
            </a:solidFill>
            <a:prstDash val="solid"/>
          </a:ln>
        </p:spPr>
      </p:sp>
      <p:sp>
        <p:nvSpPr>
          <p:cNvPr id="11" name="Text 8"/>
          <p:cNvSpPr/>
          <p:nvPr/>
        </p:nvSpPr>
        <p:spPr>
          <a:xfrm>
            <a:off x="566928" y="246888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02</a:t>
            </a:r>
            <a:endParaRPr lang="en-US" sz="2000" dirty="0"/>
          </a:p>
        </p:txBody>
      </p:sp>
      <p:sp>
        <p:nvSpPr>
          <p:cNvPr id="12" name="Text 9"/>
          <p:cNvSpPr/>
          <p:nvPr/>
        </p:nvSpPr>
        <p:spPr>
          <a:xfrm>
            <a:off x="1344168" y="2542032"/>
            <a:ext cx="10280599" cy="548640"/>
          </a:xfrm>
          <a:prstGeom prst="rect">
            <a:avLst/>
          </a:prstGeom>
          <a:noFill/>
          <a:ln/>
        </p:spPr>
        <p:txBody>
          <a:bodyPr wrap="square" lIns="0" tIns="0" rIns="0" bIns="0" rtlCol="0" anchor="ctr"/>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Un rollup ejecuta afuera y publica sus datos en la L1: por eso cualquiera puede verificar y salir.</a:t>
            </a:r>
            <a:endParaRPr lang="en-US" sz="1400" dirty="0"/>
          </a:p>
        </p:txBody>
      </p:sp>
      <p:sp>
        <p:nvSpPr>
          <p:cNvPr id="13" name="Shape 10"/>
          <p:cNvSpPr/>
          <p:nvPr/>
        </p:nvSpPr>
        <p:spPr>
          <a:xfrm>
            <a:off x="566928" y="3145536"/>
            <a:ext cx="11057839" cy="914"/>
          </a:xfrm>
          <a:prstGeom prst="line">
            <a:avLst/>
          </a:prstGeom>
          <a:noFill/>
          <a:ln w="12700">
            <a:solidFill>
              <a:srgbClr val="D9D6E0"/>
            </a:solidFill>
            <a:prstDash val="solid"/>
          </a:ln>
        </p:spPr>
      </p:sp>
      <p:sp>
        <p:nvSpPr>
          <p:cNvPr id="14" name="Text 11"/>
          <p:cNvSpPr/>
          <p:nvPr/>
        </p:nvSpPr>
        <p:spPr>
          <a:xfrm>
            <a:off x="566928" y="320040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03</a:t>
            </a:r>
            <a:endParaRPr lang="en-US" sz="2000" dirty="0"/>
          </a:p>
        </p:txBody>
      </p:sp>
      <p:sp>
        <p:nvSpPr>
          <p:cNvPr id="15" name="Text 12"/>
          <p:cNvSpPr/>
          <p:nvPr/>
        </p:nvSpPr>
        <p:spPr>
          <a:xfrm>
            <a:off x="1344168" y="3273552"/>
            <a:ext cx="10280599" cy="548640"/>
          </a:xfrm>
          <a:prstGeom prst="rect">
            <a:avLst/>
          </a:prstGeom>
          <a:noFill/>
          <a:ln/>
        </p:spPr>
        <p:txBody>
          <a:bodyPr wrap="square" lIns="0" tIns="0" rIns="0" bIns="0" rtlCol="0" anchor="ctr"/>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Optimista: confía y deja desafiar 7 días. ZK: prueba la validez y permite salir rápido.</a:t>
            </a:r>
            <a:endParaRPr lang="en-US" sz="1400" dirty="0"/>
          </a:p>
        </p:txBody>
      </p:sp>
      <p:sp>
        <p:nvSpPr>
          <p:cNvPr id="16" name="Shape 13"/>
          <p:cNvSpPr/>
          <p:nvPr/>
        </p:nvSpPr>
        <p:spPr>
          <a:xfrm>
            <a:off x="566928" y="3877056"/>
            <a:ext cx="11057839" cy="914"/>
          </a:xfrm>
          <a:prstGeom prst="line">
            <a:avLst/>
          </a:prstGeom>
          <a:noFill/>
          <a:ln w="12700">
            <a:solidFill>
              <a:srgbClr val="D9D6E0"/>
            </a:solidFill>
            <a:prstDash val="solid"/>
          </a:ln>
        </p:spPr>
      </p:sp>
      <p:sp>
        <p:nvSpPr>
          <p:cNvPr id="17" name="Text 14"/>
          <p:cNvSpPr/>
          <p:nvPr/>
        </p:nvSpPr>
        <p:spPr>
          <a:xfrm>
            <a:off x="566928" y="393192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04</a:t>
            </a:r>
            <a:endParaRPr lang="en-US" sz="2000" dirty="0"/>
          </a:p>
        </p:txBody>
      </p:sp>
      <p:sp>
        <p:nvSpPr>
          <p:cNvPr id="18" name="Text 15"/>
          <p:cNvSpPr/>
          <p:nvPr/>
        </p:nvSpPr>
        <p:spPr>
          <a:xfrm>
            <a:off x="1344168" y="4005072"/>
            <a:ext cx="10280599" cy="548640"/>
          </a:xfrm>
          <a:prstGeom prst="rect">
            <a:avLst/>
          </a:prstGeom>
          <a:noFill/>
          <a:ln/>
        </p:spPr>
        <p:txBody>
          <a:bodyPr wrap="square" lIns="0" tIns="0" rIns="0" bIns="0" rtlCol="0" anchor="ctr"/>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Sidechain y canal NO son rollups: la seguridad de la sidechain es la de sus validadores.</a:t>
            </a:r>
            <a:endParaRPr lang="en-US" sz="1400" dirty="0"/>
          </a:p>
        </p:txBody>
      </p:sp>
      <p:sp>
        <p:nvSpPr>
          <p:cNvPr id="19" name="Shape 16"/>
          <p:cNvSpPr/>
          <p:nvPr/>
        </p:nvSpPr>
        <p:spPr>
          <a:xfrm>
            <a:off x="566928" y="4608576"/>
            <a:ext cx="11057839" cy="914"/>
          </a:xfrm>
          <a:prstGeom prst="line">
            <a:avLst/>
          </a:prstGeom>
          <a:noFill/>
          <a:ln w="12700">
            <a:solidFill>
              <a:srgbClr val="D9D6E0"/>
            </a:solidFill>
            <a:prstDash val="solid"/>
          </a:ln>
        </p:spPr>
      </p:sp>
      <p:sp>
        <p:nvSpPr>
          <p:cNvPr id="20" name="Text 17"/>
          <p:cNvSpPr/>
          <p:nvPr/>
        </p:nvSpPr>
        <p:spPr>
          <a:xfrm>
            <a:off x="566928" y="466344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05</a:t>
            </a:r>
            <a:endParaRPr lang="en-US" sz="2000" dirty="0"/>
          </a:p>
        </p:txBody>
      </p:sp>
      <p:sp>
        <p:nvSpPr>
          <p:cNvPr id="21" name="Text 18"/>
          <p:cNvSpPr/>
          <p:nvPr/>
        </p:nvSpPr>
        <p:spPr>
          <a:xfrm>
            <a:off x="1344168" y="4736592"/>
            <a:ext cx="10280599" cy="548640"/>
          </a:xfrm>
          <a:prstGeom prst="rect">
            <a:avLst/>
          </a:prstGeom>
          <a:noFill/>
          <a:ln/>
        </p:spPr>
        <p:txBody>
          <a:bodyPr wrap="square" lIns="0" tIns="0" rIns="0" bIns="0" rtlCol="0" anchor="ctr"/>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Los blobs (EIP-4844) abarataron los datos de las L2; en el recibo de OP, eso es l1Fee.</a:t>
            </a:r>
            <a:endParaRPr lang="en-US" sz="1400" dirty="0"/>
          </a:p>
        </p:txBody>
      </p:sp>
      <p:sp>
        <p:nvSpPr>
          <p:cNvPr id="22" name="Shape 19"/>
          <p:cNvSpPr/>
          <p:nvPr/>
        </p:nvSpPr>
        <p:spPr>
          <a:xfrm>
            <a:off x="566928" y="5340096"/>
            <a:ext cx="11057839" cy="914"/>
          </a:xfrm>
          <a:prstGeom prst="line">
            <a:avLst/>
          </a:prstGeom>
          <a:noFill/>
          <a:ln w="12700">
            <a:solidFill>
              <a:srgbClr val="D9D6E0"/>
            </a:solidFill>
            <a:prstDash val="solid"/>
          </a:ln>
        </p:spPr>
      </p:sp>
      <p:sp>
        <p:nvSpPr>
          <p:cNvPr id="23" name="Text 20"/>
          <p:cNvSpPr/>
          <p:nvPr/>
        </p:nvSpPr>
        <p:spPr>
          <a:xfrm>
            <a:off x="566928" y="539496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06</a:t>
            </a:r>
            <a:endParaRPr lang="en-US" sz="2000" dirty="0"/>
          </a:p>
        </p:txBody>
      </p:sp>
      <p:sp>
        <p:nvSpPr>
          <p:cNvPr id="24" name="Text 21"/>
          <p:cNvSpPr/>
          <p:nvPr/>
        </p:nvSpPr>
        <p:spPr>
          <a:xfrm>
            <a:off x="1344168" y="5468112"/>
            <a:ext cx="10280599" cy="548640"/>
          </a:xfrm>
          <a:prstGeom prst="rect">
            <a:avLst/>
          </a:prstGeom>
          <a:noFill/>
          <a:ln/>
        </p:spPr>
        <p:txBody>
          <a:bodyPr wrap="square" lIns="0" tIns="0" rIns="0" bIns="0" rtlCol="0" anchor="ctr"/>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Los puentes concentran valor y robos; un m de n vale lo que las organizaciones detrás.</a:t>
            </a:r>
            <a:endParaRPr lang="en-US" sz="1400" dirty="0"/>
          </a:p>
        </p:txBody>
      </p:sp>
      <p:sp>
        <p:nvSpPr>
          <p:cNvPr id="25" name="Shape 22"/>
          <p:cNvSpPr/>
          <p:nvPr/>
        </p:nvSpPr>
        <p:spPr>
          <a:xfrm>
            <a:off x="566928" y="6071616"/>
            <a:ext cx="11057839" cy="914"/>
          </a:xfrm>
          <a:prstGeom prst="line">
            <a:avLst/>
          </a:prstGeom>
          <a:noFill/>
          <a:ln w="12700">
            <a:solidFill>
              <a:srgbClr val="D9D6E0"/>
            </a:solidFill>
            <a:prstDash val="solid"/>
          </a:ln>
        </p:spPr>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A.14 · VERIFICACIÓN DEL BLOQUE 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PREGUNTA DE CONTROL</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16 · ESCALABILIDAD Y REGULACIÓN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19</a:t>
            </a:r>
            <a:endParaRPr lang="en-US" sz="900" dirty="0"/>
          </a:p>
        </p:txBody>
      </p:sp>
      <p:sp>
        <p:nvSpPr>
          <p:cNvPr id="8" name="Shape 5"/>
          <p:cNvSpPr/>
          <p:nvPr/>
        </p:nvSpPr>
        <p:spPr>
          <a:xfrm>
            <a:off x="566928" y="1737360"/>
            <a:ext cx="11057839" cy="192024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950976" y="1920240"/>
            <a:ext cx="10289743" cy="1554480"/>
          </a:xfrm>
          <a:prstGeom prst="rect">
            <a:avLst/>
          </a:prstGeom>
          <a:noFill/>
          <a:ln/>
        </p:spPr>
        <p:txBody>
          <a:bodyPr wrap="square" lIns="0" tIns="0" rIns="0" bIns="0" rtlCol="0" anchor="ctr"/>
          <a:lstStyle/>
          <a:p>
            <a:pPr indent="0" marL="0">
              <a:lnSpc>
                <a:spcPct val="106000"/>
              </a:lnSpc>
              <a:buNone/>
            </a:pPr>
            <a:r>
              <a:rPr lang="en-US" sz="1750" dirty="0">
                <a:solidFill>
                  <a:srgbClr val="0F0F11"/>
                </a:solidFill>
                <a:latin typeface="Arial Black" pitchFamily="34" charset="0"/>
                <a:ea typeface="Arial Black" pitchFamily="34" charset="-122"/>
                <a:cs typeface="Arial Black" pitchFamily="34" charset="-120"/>
              </a:rPr>
              <a:t>Un equipo quiere que su dApp de tiquetes corra en una L2 «para que sea barata» y que los usuarios puedan retirar su dinero a Ethereum el mismo día. ¿Optimista o ZK? ¿Y qué número del recibo tienen que mirar para saber cuánto cuesta de verdad?</a:t>
            </a:r>
            <a:endParaRPr lang="en-US" sz="1750" dirty="0"/>
          </a:p>
        </p:txBody>
      </p:sp>
      <p:sp>
        <p:nvSpPr>
          <p:cNvPr id="10" name="Shape 7"/>
          <p:cNvSpPr/>
          <p:nvPr/>
        </p:nvSpPr>
        <p:spPr>
          <a:xfrm>
            <a:off x="566928" y="3886200"/>
            <a:ext cx="11057839" cy="224028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11" name="Image 1" descr="preencoded.png">    </p:cNvPr>
          <p:cNvPicPr>
            <a:picLocks noChangeAspect="1"/>
          </p:cNvPicPr>
          <p:nvPr/>
        </p:nvPicPr>
        <p:blipFill>
          <a:blip r:embed="rId2"/>
          <a:stretch>
            <a:fillRect/>
          </a:stretch>
        </p:blipFill>
        <p:spPr>
          <a:xfrm>
            <a:off x="804672" y="4105656"/>
            <a:ext cx="237744" cy="237744"/>
          </a:xfrm>
          <a:prstGeom prst="rect">
            <a:avLst/>
          </a:prstGeom>
        </p:spPr>
      </p:pic>
      <p:sp>
        <p:nvSpPr>
          <p:cNvPr id="12" name="Text 8"/>
          <p:cNvSpPr/>
          <p:nvPr/>
        </p:nvSpPr>
        <p:spPr>
          <a:xfrm>
            <a:off x="1133856" y="407822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RESPUESTA ESPERADA</a:t>
            </a:r>
            <a:endParaRPr lang="en-US" sz="950" dirty="0"/>
          </a:p>
        </p:txBody>
      </p:sp>
      <p:sp>
        <p:nvSpPr>
          <p:cNvPr id="13" name="Text 9"/>
          <p:cNvSpPr/>
          <p:nvPr/>
        </p:nvSpPr>
        <p:spPr>
          <a:xfrm>
            <a:off x="804672" y="4398264"/>
            <a:ext cx="10582351" cy="163677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Retiro el mismo día descarta el puente nativo de un rollup optimista (7 días); un ZK-rollup lo permite en cuanto se verifica la prueba (o, en un optimista, un puente de terceros con liquidez, que agrega otra confianza: A.10). Para el costo: gasUsed × effectiveGasPrice MÁS el l1Fee del recibo; si solo miran la primera parte, subestiman.</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B</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45 MINUTOS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MARCO REGULATORIO COLOMBIANO</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Una solución técnica impecable puede ser ilegal, cara de cumplir o sin efecto jurídico. Todo lo que sigue se verificó en fuentes oficiales el 17 de septiembre de 2026.</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16 · ESCALABILIDAD Y REGULACIÓN</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B.0 · ADVERTENCIA Y MÉTODO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ESTA PARTE CADUCA: EL MÉTODO NO</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16 · ESCALABILIDAD Y REGULACIÓN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21</a:t>
            </a:r>
            <a:endParaRPr lang="en-US" sz="900" dirty="0"/>
          </a:p>
        </p:txBody>
      </p:sp>
      <p:sp>
        <p:nvSpPr>
          <p:cNvPr id="8" name="Text 5"/>
          <p:cNvSpPr/>
          <p:nvPr/>
        </p:nvSpPr>
        <p:spPr>
          <a:xfrm>
            <a:off x="566928" y="1737360"/>
            <a:ext cx="11057839" cy="86868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La regulación colombiana de criptoactivos cambia. Lo que sigue es el estado verificado en fuentes oficiales en una fecha concreta, no asesoría jurídica. Lo que no caduca es el método:</a:t>
            </a:r>
            <a:endParaRPr lang="en-US" sz="1400" dirty="0"/>
          </a:p>
        </p:txBody>
      </p:sp>
      <p:sp>
        <p:nvSpPr>
          <p:cNvPr id="9" name="Shape 6"/>
          <p:cNvSpPr/>
          <p:nvPr/>
        </p:nvSpPr>
        <p:spPr>
          <a:xfrm>
            <a:off x="566928" y="2743200"/>
            <a:ext cx="11057839" cy="658368"/>
          </a:xfrm>
          <a:prstGeom prst="rect">
            <a:avLst/>
          </a:prstGeom>
          <a:solidFill>
            <a:srgbClr val="FFFFFF"/>
          </a:solidFill>
          <a:ln w="15875">
            <a:solidFill>
              <a:srgbClr val="D9D6E0"/>
            </a:solidFill>
            <a:prstDash val="solid"/>
          </a:ln>
        </p:spPr>
      </p:sp>
      <p:sp>
        <p:nvSpPr>
          <p:cNvPr id="10" name="Text 7"/>
          <p:cNvSpPr/>
          <p:nvPr/>
        </p:nvSpPr>
        <p:spPr>
          <a:xfrm>
            <a:off x="694944" y="2743200"/>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1" name="Text 8"/>
          <p:cNvSpPr/>
          <p:nvPr/>
        </p:nvSpPr>
        <p:spPr>
          <a:xfrm>
            <a:off x="1280160" y="2926080"/>
            <a:ext cx="19202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IR A LA FUENTE</a:t>
            </a:r>
            <a:endParaRPr lang="en-US" sz="1000" dirty="0"/>
          </a:p>
        </p:txBody>
      </p:sp>
      <p:sp>
        <p:nvSpPr>
          <p:cNvPr id="12" name="Text 9"/>
          <p:cNvSpPr/>
          <p:nvPr/>
        </p:nvSpPr>
        <p:spPr>
          <a:xfrm>
            <a:off x="3474720" y="2834640"/>
            <a:ext cx="804031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La norma o el comunicado del organismo que la emite: SFC, BanRep, UIAF, DIAN, Congreso. No la nota de prensa.</a:t>
            </a:r>
            <a:endParaRPr lang="en-US" sz="1250" dirty="0"/>
          </a:p>
        </p:txBody>
      </p:sp>
      <p:sp>
        <p:nvSpPr>
          <p:cNvPr id="13" name="Shape 10"/>
          <p:cNvSpPr/>
          <p:nvPr/>
        </p:nvSpPr>
        <p:spPr>
          <a:xfrm>
            <a:off x="566928" y="3493008"/>
            <a:ext cx="11057839" cy="658368"/>
          </a:xfrm>
          <a:prstGeom prst="rect">
            <a:avLst/>
          </a:prstGeom>
          <a:solidFill>
            <a:srgbClr val="FAF9FB"/>
          </a:solidFill>
          <a:ln w="15875">
            <a:solidFill>
              <a:srgbClr val="D9D6E0"/>
            </a:solidFill>
            <a:prstDash val="solid"/>
          </a:ln>
        </p:spPr>
      </p:sp>
      <p:sp>
        <p:nvSpPr>
          <p:cNvPr id="14" name="Text 11"/>
          <p:cNvSpPr/>
          <p:nvPr/>
        </p:nvSpPr>
        <p:spPr>
          <a:xfrm>
            <a:off x="694944" y="3493008"/>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5" name="Text 12"/>
          <p:cNvSpPr/>
          <p:nvPr/>
        </p:nvSpPr>
        <p:spPr>
          <a:xfrm>
            <a:off x="1280160" y="3675888"/>
            <a:ext cx="19202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FECHAR</a:t>
            </a:r>
            <a:endParaRPr lang="en-US" sz="1000" dirty="0"/>
          </a:p>
        </p:txBody>
      </p:sp>
      <p:sp>
        <p:nvSpPr>
          <p:cNvPr id="16" name="Text 13"/>
          <p:cNvSpPr/>
          <p:nvPr/>
        </p:nvSpPr>
        <p:spPr>
          <a:xfrm>
            <a:off x="3474720" y="3584448"/>
            <a:ext cx="804031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Anotar la fecha en que se consultó. Una afirmación regulatoria sin fecha no vale nada.</a:t>
            </a:r>
            <a:endParaRPr lang="en-US" sz="1250" dirty="0"/>
          </a:p>
        </p:txBody>
      </p:sp>
      <p:sp>
        <p:nvSpPr>
          <p:cNvPr id="17" name="Shape 14"/>
          <p:cNvSpPr/>
          <p:nvPr/>
        </p:nvSpPr>
        <p:spPr>
          <a:xfrm>
            <a:off x="566928" y="4242816"/>
            <a:ext cx="11057839" cy="658368"/>
          </a:xfrm>
          <a:prstGeom prst="rect">
            <a:avLst/>
          </a:prstGeom>
          <a:solidFill>
            <a:srgbClr val="FFFFFF"/>
          </a:solidFill>
          <a:ln w="15875">
            <a:solidFill>
              <a:srgbClr val="D9D6E0"/>
            </a:solidFill>
            <a:prstDash val="solid"/>
          </a:ln>
        </p:spPr>
      </p:sp>
      <p:sp>
        <p:nvSpPr>
          <p:cNvPr id="18" name="Text 15"/>
          <p:cNvSpPr/>
          <p:nvPr/>
        </p:nvSpPr>
        <p:spPr>
          <a:xfrm>
            <a:off x="694944" y="4242816"/>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9" name="Text 16"/>
          <p:cNvSpPr/>
          <p:nvPr/>
        </p:nvSpPr>
        <p:spPr>
          <a:xfrm>
            <a:off x="1280160" y="4425696"/>
            <a:ext cx="19202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SEPARAR</a:t>
            </a:r>
            <a:endParaRPr lang="en-US" sz="1000" dirty="0"/>
          </a:p>
        </p:txBody>
      </p:sp>
      <p:sp>
        <p:nvSpPr>
          <p:cNvPr id="20" name="Text 17"/>
          <p:cNvSpPr/>
          <p:nvPr/>
        </p:nvSpPr>
        <p:spPr>
          <a:xfrm>
            <a:off x="3474720" y="4334256"/>
            <a:ext cx="804031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¿Es una ley, una resolución, un concepto, un proyecto o una opinión? Obligan distinto.</a:t>
            </a:r>
            <a:endParaRPr lang="en-US" sz="1250" dirty="0"/>
          </a:p>
        </p:txBody>
      </p:sp>
      <p:sp>
        <p:nvSpPr>
          <p:cNvPr id="21" name="Shape 18"/>
          <p:cNvSpPr/>
          <p:nvPr/>
        </p:nvSpPr>
        <p:spPr>
          <a:xfrm>
            <a:off x="566928" y="5029200"/>
            <a:ext cx="11057839" cy="1115568"/>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pic>
        <p:nvPicPr>
          <p:cNvPr id="22" name="Image 1" descr="preencoded.png">    </p:cNvPr>
          <p:cNvPicPr>
            <a:picLocks noChangeAspect="1"/>
          </p:cNvPicPr>
          <p:nvPr/>
        </p:nvPicPr>
        <p:blipFill>
          <a:blip r:embed="rId2"/>
          <a:stretch>
            <a:fillRect/>
          </a:stretch>
        </p:blipFill>
        <p:spPr>
          <a:xfrm>
            <a:off x="804672" y="5248656"/>
            <a:ext cx="237744" cy="237744"/>
          </a:xfrm>
          <a:prstGeom prst="rect">
            <a:avLst/>
          </a:prstGeom>
        </p:spPr>
      </p:pic>
      <p:sp>
        <p:nvSpPr>
          <p:cNvPr id="23" name="Text 19"/>
          <p:cNvSpPr/>
          <p:nvPr/>
        </p:nvSpPr>
        <p:spPr>
          <a:xfrm>
            <a:off x="1133856" y="5221224"/>
            <a:ext cx="10234879" cy="292608"/>
          </a:xfrm>
          <a:prstGeom prst="rect">
            <a:avLst/>
          </a:prstGeom>
          <a:noFill/>
          <a:ln/>
        </p:spPr>
        <p:txBody>
          <a:bodyPr wrap="square" lIns="0" tIns="0" rIns="0" bIns="0" rtlCol="0" anchor="ctr"/>
          <a:lstStyle/>
          <a:p>
            <a:pPr indent="0" marL="0">
              <a:buNone/>
            </a:pPr>
            <a:r>
              <a:rPr lang="en-US" sz="950" b="1" spc="150" kern="0" dirty="0">
                <a:solidFill>
                  <a:srgbClr val="B3261E"/>
                </a:solidFill>
                <a:latin typeface="Courier New" pitchFamily="34" charset="0"/>
                <a:ea typeface="Courier New" pitchFamily="34" charset="-122"/>
                <a:cs typeface="Courier New" pitchFamily="34" charset="-120"/>
              </a:rPr>
              <a:t>ANTES DE DICTAR ESTA SESIÓN</a:t>
            </a:r>
            <a:endParaRPr lang="en-US" sz="950" dirty="0"/>
          </a:p>
        </p:txBody>
      </p:sp>
      <p:sp>
        <p:nvSpPr>
          <p:cNvPr id="24" name="Text 20"/>
          <p:cNvSpPr/>
          <p:nvPr/>
        </p:nvSpPr>
        <p:spPr>
          <a:xfrm>
            <a:off x="804672" y="5541264"/>
            <a:ext cx="10582351"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Revisar la lámina B.10 y abrir cada fuente otra vez. Se recomienda invitar a un profesional del área jurídica o de cumplimiento. El docente de ingeniería NO es la fuente de verdad legal.</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 · NATURALEZA JURÍDICA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400" dirty="0">
                <a:solidFill>
                  <a:srgbClr val="0F0F11"/>
                </a:solidFill>
                <a:latin typeface="Arial Black" pitchFamily="34" charset="0"/>
                <a:ea typeface="Arial Black" pitchFamily="34" charset="-122"/>
                <a:cs typeface="Arial Black" pitchFamily="34" charset="-120"/>
              </a:rPr>
              <a:t>NO SON MONEDA, NO SON VALORES, NO ESTÁN REGULADOS</a:t>
            </a:r>
            <a:endParaRPr lang="en-US" sz="24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16 · ESCALABILIDAD Y REGULACIÓN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22</a:t>
            </a:r>
            <a:endParaRPr lang="en-US" sz="9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7839" cy="914400"/>
        </p:xfrm>
        <a:graphic>
          <a:graphicData uri="http://schemas.openxmlformats.org/drawingml/2006/table">
            <a:tbl>
              <a:tblPr/>
              <a:tblGrid>
                <a:gridCol w="3291840"/>
                <a:gridCol w="776599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PRONUNCIAMIENTO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DICE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74523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SFC · Carta Circular 29 de 2014</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peso es la única moneda de curso legal (Ley 31 de 1992); el Bitcoin no es divisa. Las plataformas no están reguladas ni vigiladas.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74523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SFC · Carta Circular 78 de 2016</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Transcribe al Banco de la República: ninguna moneda virtual es moneda ni divisa, ni sirve para operaciones de cambio.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74523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SFC · Carta Circular 52 de 2017</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No son «valor» (Ley 964 de 2005). Las entidades vigiladas no pueden custodiar, invertir ni intermediar con ellos.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74523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SFC · página oficial, actualizada el 11-jun-2026</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No son dinero reconocido legalmente, no hay definición legal y ninguna autoridad los supervisa.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673352"/>
            <a:ext cx="11094415" cy="3328416"/>
          </a:xfrm>
          <a:prstGeom prst="rect">
            <a:avLst/>
          </a:prstGeom>
          <a:ln w="22225">
            <a:solidFill>
              <a:srgbClr val="0F0F11"/>
            </a:solidFill>
            <a:prstDash val="solid"/>
          </a:ln>
        </p:spPr>
      </p:sp>
      <p:sp>
        <p:nvSpPr>
          <p:cNvPr id="10" name="Shape 6"/>
          <p:cNvSpPr/>
          <p:nvPr/>
        </p:nvSpPr>
        <p:spPr>
          <a:xfrm>
            <a:off x="566928" y="5047488"/>
            <a:ext cx="11057839" cy="109728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1" name="Image 1" descr="preencoded.png">    </p:cNvPr>
          <p:cNvPicPr>
            <a:picLocks noChangeAspect="1"/>
          </p:cNvPicPr>
          <p:nvPr/>
        </p:nvPicPr>
        <p:blipFill>
          <a:blip r:embed="rId2"/>
          <a:stretch>
            <a:fillRect/>
          </a:stretch>
        </p:blipFill>
        <p:spPr>
          <a:xfrm>
            <a:off x="804672" y="5266944"/>
            <a:ext cx="237744" cy="237744"/>
          </a:xfrm>
          <a:prstGeom prst="rect">
            <a:avLst/>
          </a:prstGeom>
        </p:spPr>
      </p:pic>
      <p:sp>
        <p:nvSpPr>
          <p:cNvPr id="12" name="Text 7"/>
          <p:cNvSpPr/>
          <p:nvPr/>
        </p:nvSpPr>
        <p:spPr>
          <a:xfrm>
            <a:off x="1133856" y="5239512"/>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QUÉ SIGNIFICA PARA SU PROYECTO</a:t>
            </a:r>
            <a:endParaRPr lang="en-US" sz="950" dirty="0"/>
          </a:p>
        </p:txBody>
      </p:sp>
      <p:sp>
        <p:nvSpPr>
          <p:cNvPr id="13" name="Text 8"/>
          <p:cNvSpPr/>
          <p:nvPr/>
        </p:nvSpPr>
        <p:spPr>
          <a:xfrm>
            <a:off x="804672" y="5559552"/>
            <a:ext cx="10582351" cy="49377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Comprar o tener criptoactivos no es ilegal; pero no hay supervisor que proteja al usuario si algo sale mal. Y un banco colombiano no puede custodiarlos por ustedes.</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B.2 · UIAF</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LOS PSAV REPORTAN: RESOLUCIÓN 314 DE 2021</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16 · ESCALABILIDAD Y REGULACIÓN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23</a:t>
            </a:r>
            <a:endParaRPr lang="en-US" sz="900" dirty="0"/>
          </a:p>
        </p:txBody>
      </p:sp>
      <p:sp>
        <p:nvSpPr>
          <p:cNvPr id="8" name="Text 5"/>
          <p:cNvSpPr/>
          <p:nvPr/>
        </p:nvSpPr>
        <p:spPr>
          <a:xfrm>
            <a:off x="566928" y="1737360"/>
            <a:ext cx="11057839" cy="86868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La Unidad de Información y Análisis Financiero impuso obligaciones de reporte a las empresas y personas naturales que presten servicios de activos virtuales (PSAV) en Colombia. Resolución 314 del 15 de diciembre de 2021.</a:t>
            </a:r>
            <a:endParaRPr lang="en-US" sz="13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66928" y="2743200"/>
          <a:ext cx="11057839" cy="914400"/>
        </p:xfrm>
        <a:graphic>
          <a:graphicData uri="http://schemas.openxmlformats.org/drawingml/2006/table">
            <a:tbl>
              <a:tblPr/>
              <a:tblGrid>
                <a:gridCol w="3200400"/>
                <a:gridCol w="2377440"/>
                <a:gridCol w="547999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REPORTE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CUÁNDO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9377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Operaciones sospechosas (ROS)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Inmediato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Por el sistema SIREL, en cuanto se detectan.</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9377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Ausencia de ROS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Mensual</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Declarar que no hubo operaciones sospechosas.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9377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Transacciones con activos virtuales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Mensual, primeros 20 días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Individuales desde USD 150; múltiples desde USD 450 en conjunto.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9377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Clientes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Mensual</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Activos, inactivos y desvinculados.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0" name="Shape 6"/>
          <p:cNvSpPr/>
          <p:nvPr/>
        </p:nvSpPr>
        <p:spPr>
          <a:xfrm>
            <a:off x="548640" y="2724912"/>
            <a:ext cx="11094415" cy="2322576"/>
          </a:xfrm>
          <a:prstGeom prst="rect">
            <a:avLst/>
          </a:prstGeom>
          <a:ln w="22225">
            <a:solidFill>
              <a:srgbClr val="0F0F11"/>
            </a:solidFill>
            <a:prstDash val="solid"/>
          </a:ln>
        </p:spPr>
      </p:sp>
      <p:sp>
        <p:nvSpPr>
          <p:cNvPr id="11" name="Text 7"/>
          <p:cNvSpPr/>
          <p:nvPr/>
        </p:nvSpPr>
        <p:spPr>
          <a:xfrm>
            <a:off x="566928" y="5212080"/>
            <a:ext cx="11057839" cy="82296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Obligatorio desde el 1-jul-2022 (la Resolución 84 de 2022 corrió la fecha inicial del 1-abr-2022). Sanciona la Superintendencia de Sociedades o el supervisor respectivo.</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B.3 · DIAN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IMPUESTOS Y EL NUEVO REPORTE CARF</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16 · ESCALABILIDAD Y REGULACIÓN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24</a:t>
            </a:r>
            <a:endParaRPr lang="en-US" sz="900" dirty="0"/>
          </a:p>
        </p:txBody>
      </p:sp>
      <p:sp>
        <p:nvSpPr>
          <p:cNvPr id="8" name="Shape 5"/>
          <p:cNvSpPr/>
          <p:nvPr/>
        </p:nvSpPr>
        <p:spPr>
          <a:xfrm>
            <a:off x="566928" y="1737360"/>
            <a:ext cx="5391760" cy="292608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841248" y="192024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TRATAMIENTO TRIBUTARIO</a:t>
            </a:r>
            <a:endParaRPr lang="en-US" sz="1050" dirty="0"/>
          </a:p>
        </p:txBody>
      </p:sp>
      <p:sp>
        <p:nvSpPr>
          <p:cNvPr id="10" name="Text 7"/>
          <p:cNvSpPr/>
          <p:nvPr/>
        </p:nvSpPr>
        <p:spPr>
          <a:xfrm>
            <a:off x="841248" y="2304288"/>
            <a:ext cx="4843120" cy="219456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00" dirty="0">
                <a:solidFill>
                  <a:srgbClr val="3A3844"/>
                </a:solidFill>
                <a:latin typeface="Arial" pitchFamily="34" charset="0"/>
                <a:ea typeface="Arial" pitchFamily="34" charset="-122"/>
                <a:cs typeface="Arial" pitchFamily="34" charset="-120"/>
              </a:rPr>
              <a:t>Concepto Unificado 018075 del 17-oct-2023: revoca los anteriores.</a:t>
            </a:r>
            <a:endParaRPr lang="en-US" sz="1200" dirty="0"/>
          </a:p>
          <a:p>
            <a:pPr marL="203200" indent="-203200">
              <a:lnSpc>
                <a:spcPct val="118000"/>
              </a:lnSpc>
              <a:spcAft>
                <a:spcPts val="500"/>
              </a:spcAft>
              <a:buSzPct val="100000"/>
              <a:buChar char="■"/>
            </a:pPr>
            <a:r>
              <a:rPr lang="en-US" sz="1200" dirty="0">
                <a:solidFill>
                  <a:srgbClr val="3A3844"/>
                </a:solidFill>
                <a:latin typeface="Arial" pitchFamily="34" charset="0"/>
                <a:ea typeface="Arial" pitchFamily="34" charset="-122"/>
                <a:cs typeface="Arial" pitchFamily="34" charset="-120"/>
              </a:rPr>
              <a:t>Criptoactivos y NFT = activos intangibles.</a:t>
            </a:r>
            <a:endParaRPr lang="en-US" sz="1200" dirty="0"/>
          </a:p>
          <a:p>
            <a:pPr marL="203200" indent="-203200">
              <a:lnSpc>
                <a:spcPct val="118000"/>
              </a:lnSpc>
              <a:spcAft>
                <a:spcPts val="500"/>
              </a:spcAft>
              <a:buSzPct val="100000"/>
              <a:buChar char="■"/>
            </a:pPr>
            <a:r>
              <a:rPr lang="en-US" sz="1200" dirty="0">
                <a:solidFill>
                  <a:srgbClr val="3A3844"/>
                </a:solidFill>
                <a:latin typeface="Arial" pitchFamily="34" charset="0"/>
                <a:ea typeface="Arial" pitchFamily="34" charset="-122"/>
                <a:cs typeface="Arial" pitchFamily="34" charset="-120"/>
              </a:rPr>
              <a:t>Se declaran en el patrimonio.</a:t>
            </a:r>
            <a:endParaRPr lang="en-US" sz="1200" dirty="0"/>
          </a:p>
          <a:p>
            <a:pPr marL="203200" indent="-203200">
              <a:lnSpc>
                <a:spcPct val="118000"/>
              </a:lnSpc>
              <a:spcAft>
                <a:spcPts val="500"/>
              </a:spcAft>
              <a:buSzPct val="100000"/>
              <a:buChar char="■"/>
            </a:pPr>
            <a:r>
              <a:rPr lang="en-US" sz="1200" dirty="0">
                <a:solidFill>
                  <a:srgbClr val="3A3844"/>
                </a:solidFill>
                <a:latin typeface="Arial" pitchFamily="34" charset="0"/>
                <a:ea typeface="Arial" pitchFamily="34" charset="-122"/>
                <a:cs typeface="Arial" pitchFamily="34" charset="-120"/>
              </a:rPr>
              <a:t>Vender o permutar: renta ordinaria; ganancia ocasional si era activo fijo por más de 2 años.</a:t>
            </a:r>
            <a:endParaRPr lang="en-US" sz="1200" dirty="0"/>
          </a:p>
        </p:txBody>
      </p:sp>
      <p:sp>
        <p:nvSpPr>
          <p:cNvPr id="11" name="Shape 8"/>
          <p:cNvSpPr/>
          <p:nvPr/>
        </p:nvSpPr>
        <p:spPr>
          <a:xfrm>
            <a:off x="6233008" y="1737360"/>
            <a:ext cx="5391760" cy="292608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2" name="Text 9"/>
          <p:cNvSpPr/>
          <p:nvPr/>
        </p:nvSpPr>
        <p:spPr>
          <a:xfrm>
            <a:off x="6507328" y="192024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REPORTE DE PROVEEDORES (CARF)</a:t>
            </a:r>
            <a:endParaRPr lang="en-US" sz="1050" dirty="0"/>
          </a:p>
        </p:txBody>
      </p:sp>
      <p:sp>
        <p:nvSpPr>
          <p:cNvPr id="13" name="Text 10"/>
          <p:cNvSpPr/>
          <p:nvPr/>
        </p:nvSpPr>
        <p:spPr>
          <a:xfrm>
            <a:off x="6507328" y="2304288"/>
            <a:ext cx="4843120" cy="219456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00" dirty="0">
                <a:solidFill>
                  <a:srgbClr val="3A3844"/>
                </a:solidFill>
                <a:latin typeface="Arial" pitchFamily="34" charset="0"/>
                <a:ea typeface="Arial" pitchFamily="34" charset="-122"/>
                <a:cs typeface="Arial" pitchFamily="34" charset="-120"/>
              </a:rPr>
              <a:t>Resolución 000240 del 24-dic-2025.</a:t>
            </a:r>
            <a:endParaRPr lang="en-US" sz="1200" dirty="0"/>
          </a:p>
          <a:p>
            <a:pPr marL="203200" indent="-203200">
              <a:lnSpc>
                <a:spcPct val="118000"/>
              </a:lnSpc>
              <a:spcAft>
                <a:spcPts val="500"/>
              </a:spcAft>
              <a:buSzPct val="100000"/>
              <a:buChar char="■"/>
            </a:pPr>
            <a:r>
              <a:rPr lang="en-US" sz="1200" dirty="0">
                <a:solidFill>
                  <a:srgbClr val="3A3844"/>
                </a:solidFill>
                <a:latin typeface="Arial" pitchFamily="34" charset="0"/>
                <a:ea typeface="Arial" pitchFamily="34" charset="-122"/>
                <a:cs typeface="Arial" pitchFamily="34" charset="-120"/>
              </a:rPr>
              <a:t>Implementa el marco CARF de la OCDE.</a:t>
            </a:r>
            <a:endParaRPr lang="en-US" sz="1200" dirty="0"/>
          </a:p>
          <a:p>
            <a:pPr marL="203200" indent="-203200">
              <a:lnSpc>
                <a:spcPct val="118000"/>
              </a:lnSpc>
              <a:spcAft>
                <a:spcPts val="500"/>
              </a:spcAft>
              <a:buSzPct val="100000"/>
              <a:buChar char="■"/>
            </a:pPr>
            <a:r>
              <a:rPr lang="en-US" sz="1200" dirty="0">
                <a:solidFill>
                  <a:srgbClr val="3A3844"/>
                </a:solidFill>
                <a:latin typeface="Arial" pitchFamily="34" charset="0"/>
                <a:ea typeface="Arial" pitchFamily="34" charset="-122"/>
                <a:cs typeface="Arial" pitchFamily="34" charset="-120"/>
              </a:rPr>
              <a:t>Reportan los proveedores de servicios de criptoactivos.</a:t>
            </a:r>
            <a:endParaRPr lang="en-US" sz="1200" dirty="0"/>
          </a:p>
          <a:p>
            <a:pPr marL="203200" indent="-203200">
              <a:lnSpc>
                <a:spcPct val="118000"/>
              </a:lnSpc>
              <a:spcAft>
                <a:spcPts val="500"/>
              </a:spcAft>
              <a:buSzPct val="100000"/>
              <a:buChar char="■"/>
            </a:pPr>
            <a:r>
              <a:rPr lang="en-US" sz="1200" dirty="0">
                <a:solidFill>
                  <a:srgbClr val="3A3844"/>
                </a:solidFill>
                <a:latin typeface="Arial" pitchFamily="34" charset="0"/>
                <a:ea typeface="Arial" pitchFamily="34" charset="-122"/>
                <a:cs typeface="Arial" pitchFamily="34" charset="-120"/>
              </a:rPr>
              <a:t>Años gravables 2026 y siguientes, en XML, hasta el último día hábil de mayo del año siguiente.</a:t>
            </a:r>
            <a:endParaRPr lang="en-US" sz="1200" dirty="0"/>
          </a:p>
        </p:txBody>
      </p:sp>
      <p:sp>
        <p:nvSpPr>
          <p:cNvPr id="14" name="Shape 11"/>
          <p:cNvSpPr/>
          <p:nvPr/>
        </p:nvSpPr>
        <p:spPr>
          <a:xfrm>
            <a:off x="566928" y="4846320"/>
            <a:ext cx="11057839" cy="128016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5" name="Image 1" descr="preencoded.png">    </p:cNvPr>
          <p:cNvPicPr>
            <a:picLocks noChangeAspect="1"/>
          </p:cNvPicPr>
          <p:nvPr/>
        </p:nvPicPr>
        <p:blipFill>
          <a:blip r:embed="rId2"/>
          <a:stretch>
            <a:fillRect/>
          </a:stretch>
        </p:blipFill>
        <p:spPr>
          <a:xfrm>
            <a:off x="804672" y="5065776"/>
            <a:ext cx="237744" cy="237744"/>
          </a:xfrm>
          <a:prstGeom prst="rect">
            <a:avLst/>
          </a:prstGeom>
        </p:spPr>
      </p:pic>
      <p:sp>
        <p:nvSpPr>
          <p:cNvPr id="16" name="Text 12"/>
          <p:cNvSpPr/>
          <p:nvPr/>
        </p:nvSpPr>
        <p:spPr>
          <a:xfrm>
            <a:off x="1133856" y="503834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LA CONSECUENCIA PRÁCTICA</a:t>
            </a:r>
            <a:endParaRPr lang="en-US" sz="950" dirty="0"/>
          </a:p>
        </p:txBody>
      </p:sp>
      <p:sp>
        <p:nvSpPr>
          <p:cNvPr id="17" name="Text 13"/>
          <p:cNvSpPr/>
          <p:nvPr/>
        </p:nvSpPr>
        <p:spPr>
          <a:xfrm>
            <a:off x="804672" y="5358384"/>
            <a:ext cx="10582351" cy="67665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Desde el año gravable 2026 las plataformas reportan a la DIAN lo que hacen sus usuarios. El «nadie se entera» se acabó para quien usa un intermediario. El primer reporte sería en mayo de 2027.</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B.4 · LA ARENERA DE LA SFC</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UN PILOTO DE TRES AÑOS, SIN INCIDENTES</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16 · ESCALABILIDAD Y REGULACIÓN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25</a:t>
            </a:r>
            <a:endParaRPr lang="en-US" sz="900" dirty="0"/>
          </a:p>
        </p:txBody>
      </p:sp>
      <p:sp>
        <p:nvSpPr>
          <p:cNvPr id="8" name="Text 5"/>
          <p:cNvSpPr/>
          <p:nvPr/>
        </p:nvSpPr>
        <p:spPr>
          <a:xfrm>
            <a:off x="566928" y="1737360"/>
            <a:ext cx="11057839" cy="86868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El Decreto 1234 de 2020 creó el «espacio controlado de prueba» para innovación financiera. En su arenera («laArenera»), la SFC corrió un piloto: bancos abrían cuentas de depósito a plataformas de criptoactivos, bajo vigilancia.</a:t>
            </a:r>
            <a:endParaRPr lang="en-US" sz="1350" dirty="0"/>
          </a:p>
        </p:txBody>
      </p:sp>
      <p:sp>
        <p:nvSpPr>
          <p:cNvPr id="9" name="Shape 6"/>
          <p:cNvSpPr/>
          <p:nvPr/>
        </p:nvSpPr>
        <p:spPr>
          <a:xfrm>
            <a:off x="566928" y="2743200"/>
            <a:ext cx="11057839" cy="502920"/>
          </a:xfrm>
          <a:prstGeom prst="rect">
            <a:avLst/>
          </a:prstGeom>
          <a:solidFill>
            <a:srgbClr val="FFFFFF"/>
          </a:solidFill>
          <a:ln w="15875">
            <a:solidFill>
              <a:srgbClr val="D9D6E0"/>
            </a:solidFill>
            <a:prstDash val="solid"/>
          </a:ln>
        </p:spPr>
      </p:sp>
      <p:sp>
        <p:nvSpPr>
          <p:cNvPr id="10" name="Text 7"/>
          <p:cNvSpPr/>
          <p:nvPr/>
        </p:nvSpPr>
        <p:spPr>
          <a:xfrm>
            <a:off x="694944" y="2743200"/>
            <a:ext cx="548640" cy="5029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1" name="Text 8"/>
          <p:cNvSpPr/>
          <p:nvPr/>
        </p:nvSpPr>
        <p:spPr>
          <a:xfrm>
            <a:off x="1280160" y="2848356"/>
            <a:ext cx="17373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17-SEP-2020</a:t>
            </a:r>
            <a:endParaRPr lang="en-US" sz="1000" dirty="0"/>
          </a:p>
        </p:txBody>
      </p:sp>
      <p:sp>
        <p:nvSpPr>
          <p:cNvPr id="12" name="Text 9"/>
          <p:cNvSpPr/>
          <p:nvPr/>
        </p:nvSpPr>
        <p:spPr>
          <a:xfrm>
            <a:off x="3291840" y="2834640"/>
            <a:ext cx="8223199" cy="35661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Se anuncia el piloto.</a:t>
            </a:r>
            <a:endParaRPr lang="en-US" sz="1200" dirty="0"/>
          </a:p>
        </p:txBody>
      </p:sp>
      <p:sp>
        <p:nvSpPr>
          <p:cNvPr id="13" name="Shape 10"/>
          <p:cNvSpPr/>
          <p:nvPr/>
        </p:nvSpPr>
        <p:spPr>
          <a:xfrm>
            <a:off x="566928" y="3319272"/>
            <a:ext cx="11057839" cy="502920"/>
          </a:xfrm>
          <a:prstGeom prst="rect">
            <a:avLst/>
          </a:prstGeom>
          <a:solidFill>
            <a:srgbClr val="FAF9FB"/>
          </a:solidFill>
          <a:ln w="15875">
            <a:solidFill>
              <a:srgbClr val="D9D6E0"/>
            </a:solidFill>
            <a:prstDash val="solid"/>
          </a:ln>
        </p:spPr>
      </p:sp>
      <p:sp>
        <p:nvSpPr>
          <p:cNvPr id="14" name="Text 11"/>
          <p:cNvSpPr/>
          <p:nvPr/>
        </p:nvSpPr>
        <p:spPr>
          <a:xfrm>
            <a:off x="694944" y="3319272"/>
            <a:ext cx="548640" cy="5029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5" name="Text 12"/>
          <p:cNvSpPr/>
          <p:nvPr/>
        </p:nvSpPr>
        <p:spPr>
          <a:xfrm>
            <a:off x="1280160" y="3424428"/>
            <a:ext cx="17373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29-ENE-2021</a:t>
            </a:r>
            <a:endParaRPr lang="en-US" sz="1000" dirty="0"/>
          </a:p>
        </p:txBody>
      </p:sp>
      <p:sp>
        <p:nvSpPr>
          <p:cNvPr id="16" name="Text 13"/>
          <p:cNvSpPr/>
          <p:nvPr/>
        </p:nvSpPr>
        <p:spPr>
          <a:xfrm>
            <a:off x="3291840" y="3410712"/>
            <a:ext cx="8223199" cy="35661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Se seleccionan 9 de 14 alianzas banco-plataforma; operaron 7.</a:t>
            </a:r>
            <a:endParaRPr lang="en-US" sz="1200" dirty="0"/>
          </a:p>
        </p:txBody>
      </p:sp>
      <p:sp>
        <p:nvSpPr>
          <p:cNvPr id="17" name="Shape 14"/>
          <p:cNvSpPr/>
          <p:nvPr/>
        </p:nvSpPr>
        <p:spPr>
          <a:xfrm>
            <a:off x="566928" y="3895344"/>
            <a:ext cx="11057839" cy="502920"/>
          </a:xfrm>
          <a:prstGeom prst="rect">
            <a:avLst/>
          </a:prstGeom>
          <a:solidFill>
            <a:srgbClr val="FFFFFF"/>
          </a:solidFill>
          <a:ln w="15875">
            <a:solidFill>
              <a:srgbClr val="D9D6E0"/>
            </a:solidFill>
            <a:prstDash val="solid"/>
          </a:ln>
        </p:spPr>
      </p:sp>
      <p:sp>
        <p:nvSpPr>
          <p:cNvPr id="18" name="Text 15"/>
          <p:cNvSpPr/>
          <p:nvPr/>
        </p:nvSpPr>
        <p:spPr>
          <a:xfrm>
            <a:off x="694944" y="3895344"/>
            <a:ext cx="548640" cy="5029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9" name="Text 16"/>
          <p:cNvSpPr/>
          <p:nvPr/>
        </p:nvSpPr>
        <p:spPr>
          <a:xfrm>
            <a:off x="1280160" y="4000500"/>
            <a:ext cx="17373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22-JUN-2021</a:t>
            </a:r>
            <a:endParaRPr lang="en-US" sz="1000" dirty="0"/>
          </a:p>
        </p:txBody>
      </p:sp>
      <p:sp>
        <p:nvSpPr>
          <p:cNvPr id="20" name="Text 17"/>
          <p:cNvSpPr/>
          <p:nvPr/>
        </p:nvSpPr>
        <p:spPr>
          <a:xfrm>
            <a:off x="3291840" y="3986784"/>
            <a:ext cx="8223199" cy="35661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Empieza la primera alianza.</a:t>
            </a:r>
            <a:endParaRPr lang="en-US" sz="1200" dirty="0"/>
          </a:p>
        </p:txBody>
      </p:sp>
      <p:sp>
        <p:nvSpPr>
          <p:cNvPr id="21" name="Shape 18"/>
          <p:cNvSpPr/>
          <p:nvPr/>
        </p:nvSpPr>
        <p:spPr>
          <a:xfrm>
            <a:off x="566928" y="4471416"/>
            <a:ext cx="11057839" cy="502920"/>
          </a:xfrm>
          <a:prstGeom prst="rect">
            <a:avLst/>
          </a:prstGeom>
          <a:solidFill>
            <a:srgbClr val="FAF9FB"/>
          </a:solidFill>
          <a:ln w="15875">
            <a:solidFill>
              <a:srgbClr val="D9D6E0"/>
            </a:solidFill>
            <a:prstDash val="solid"/>
          </a:ln>
        </p:spPr>
      </p:sp>
      <p:sp>
        <p:nvSpPr>
          <p:cNvPr id="22" name="Text 19"/>
          <p:cNvSpPr/>
          <p:nvPr/>
        </p:nvSpPr>
        <p:spPr>
          <a:xfrm>
            <a:off x="694944" y="4471416"/>
            <a:ext cx="548640" cy="5029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3" name="Text 20"/>
          <p:cNvSpPr/>
          <p:nvPr/>
        </p:nvSpPr>
        <p:spPr>
          <a:xfrm>
            <a:off x="1280160" y="4576572"/>
            <a:ext cx="17373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13-JUN-2024</a:t>
            </a:r>
            <a:endParaRPr lang="en-US" sz="1000" dirty="0"/>
          </a:p>
        </p:txBody>
      </p:sp>
      <p:sp>
        <p:nvSpPr>
          <p:cNvPr id="24" name="Text 21"/>
          <p:cNvSpPr/>
          <p:nvPr/>
        </p:nvSpPr>
        <p:spPr>
          <a:xfrm>
            <a:off x="3291840" y="4562856"/>
            <a:ext cx="8223199" cy="35661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Termina el piloto. El 27-jun-2024 la SFC publica su balance.</a:t>
            </a:r>
            <a:endParaRPr lang="en-US" sz="1200" dirty="0"/>
          </a:p>
        </p:txBody>
      </p:sp>
      <p:sp>
        <p:nvSpPr>
          <p:cNvPr id="25" name="Shape 22"/>
          <p:cNvSpPr/>
          <p:nvPr/>
        </p:nvSpPr>
        <p:spPr>
          <a:xfrm>
            <a:off x="566928" y="5084064"/>
            <a:ext cx="11057839" cy="1078992"/>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26" name="Image 1" descr="preencoded.png">    </p:cNvPr>
          <p:cNvPicPr>
            <a:picLocks noChangeAspect="1"/>
          </p:cNvPicPr>
          <p:nvPr/>
        </p:nvPicPr>
        <p:blipFill>
          <a:blip r:embed="rId2"/>
          <a:stretch>
            <a:fillRect/>
          </a:stretch>
        </p:blipFill>
        <p:spPr>
          <a:xfrm>
            <a:off x="804672" y="5303520"/>
            <a:ext cx="237744" cy="237744"/>
          </a:xfrm>
          <a:prstGeom prst="rect">
            <a:avLst/>
          </a:prstGeom>
        </p:spPr>
      </p:pic>
      <p:sp>
        <p:nvSpPr>
          <p:cNvPr id="27" name="Text 23"/>
          <p:cNvSpPr/>
          <p:nvPr/>
        </p:nvSpPr>
        <p:spPr>
          <a:xfrm>
            <a:off x="1133856" y="5276088"/>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EL RESULTADO, SEGÚN LA SFC</a:t>
            </a:r>
            <a:endParaRPr lang="en-US" sz="950" dirty="0"/>
          </a:p>
        </p:txBody>
      </p:sp>
      <p:sp>
        <p:nvSpPr>
          <p:cNvPr id="28" name="Text 24"/>
          <p:cNvSpPr/>
          <p:nvPr/>
        </p:nvSpPr>
        <p:spPr>
          <a:xfrm>
            <a:off x="804672" y="5596128"/>
            <a:ext cx="10582351" cy="475488"/>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No se observaron incidentes ni riesgos materializados para los consumidores. Es «insumo» para una eventual regulación; los criptoactivos siguen sin regular.</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B.5 · EL CONGRESO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DOS PROYECTOS DE LEY, LOS DOS ARCHIVADOS</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16 · ESCALABILIDAD Y REGULACIÓN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26</a:t>
            </a:r>
            <a:endParaRPr lang="en-US" sz="9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4023360"/>
                <a:gridCol w="4480560"/>
                <a:gridCol w="255391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PROYECTO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TRÁMITE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ESTADO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1033272">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PL 139 de 2021 Cámara · plataformas de intercambio de criptoactivos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Aprobado en plenaria de Cámara (29-nov-2022) y en tercer debate en la Comisión Sexta del Senado (30-may-2023).</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Archivado (art. 190, Ley 5 de 1992)</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1033272">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PL 510 de 2025 Cámara · proveedores de servicios de activos virtuales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Radicado el 25-feb-2025; ponencias de primer y segundo debate.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Archivado (art. 190, Ley 5 de 1992)</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2414016"/>
          </a:xfrm>
          <a:prstGeom prst="rect">
            <a:avLst/>
          </a:prstGeom>
          <a:ln w="22225">
            <a:solidFill>
              <a:srgbClr val="0F0F11"/>
            </a:solidFill>
            <a:prstDash val="solid"/>
          </a:ln>
        </p:spPr>
      </p:sp>
      <p:sp>
        <p:nvSpPr>
          <p:cNvPr id="10" name="Shape 6"/>
          <p:cNvSpPr/>
          <p:nvPr/>
        </p:nvSpPr>
        <p:spPr>
          <a:xfrm>
            <a:off x="566928" y="4343400"/>
            <a:ext cx="11057839" cy="100584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11" name="Text 7"/>
          <p:cNvSpPr/>
          <p:nvPr/>
        </p:nvSpPr>
        <p:spPr>
          <a:xfrm>
            <a:off x="950976" y="4526280"/>
            <a:ext cx="10289743" cy="640080"/>
          </a:xfrm>
          <a:prstGeom prst="rect">
            <a:avLst/>
          </a:prstGeom>
          <a:noFill/>
          <a:ln/>
        </p:spPr>
        <p:txBody>
          <a:bodyPr wrap="square" lIns="0" tIns="0" rIns="0" bIns="0" rtlCol="0" anchor="ctr"/>
          <a:lstStyle/>
          <a:p>
            <a:pPr indent="0" marL="0">
              <a:lnSpc>
                <a:spcPct val="106000"/>
              </a:lnSpc>
              <a:buNone/>
            </a:pPr>
            <a:r>
              <a:rPr lang="en-US" sz="1700" dirty="0">
                <a:solidFill>
                  <a:srgbClr val="0F0F11"/>
                </a:solidFill>
                <a:latin typeface="Arial Black" pitchFamily="34" charset="0"/>
                <a:ea typeface="Arial Black" pitchFamily="34" charset="-122"/>
                <a:cs typeface="Arial Black" pitchFamily="34" charset="-120"/>
              </a:rPr>
              <a:t>A la fecha de verificación no hay ninguna ley de plataformas o PSAV sancionada en Colombia.</a:t>
            </a:r>
            <a:endParaRPr lang="en-US" sz="1700" dirty="0"/>
          </a:p>
        </p:txBody>
      </p:sp>
      <p:sp>
        <p:nvSpPr>
          <p:cNvPr id="12" name="Text 8"/>
          <p:cNvSpPr/>
          <p:nvPr/>
        </p:nvSpPr>
        <p:spPr>
          <a:xfrm>
            <a:off x="566928" y="5532120"/>
            <a:ext cx="11057839" cy="548640"/>
          </a:xfrm>
          <a:prstGeom prst="rect">
            <a:avLst/>
          </a:prstGeom>
          <a:noFill/>
          <a:ln/>
        </p:spPr>
        <p:txBody>
          <a:bodyPr wrap="square" lIns="0" tIns="0" rIns="0" bIns="0" rtlCol="0" anchor="t"/>
          <a:lstStyle/>
          <a:p>
            <a:pPr indent="0" marL="0">
              <a:lnSpc>
                <a:spcPct val="124000"/>
              </a:lnSpc>
              <a:buNone/>
            </a:pPr>
            <a:r>
              <a:rPr lang="en-US" sz="1200" dirty="0">
                <a:solidFill>
                  <a:srgbClr val="A35604"/>
                </a:solidFill>
                <a:latin typeface="Arial" pitchFamily="34" charset="0"/>
                <a:ea typeface="Arial" pitchFamily="34" charset="-122"/>
                <a:cs typeface="Arial" pitchFamily="34" charset="-120"/>
              </a:rPr>
              <a:t>El artículo 190 de la Ley 5 de 1992 archiva los proyectos que no completan su trámite en dos legislaturas.</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B.6 · LA REFERENCIA INTERNACIONAL</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MICA: EL REGLAMENTO EUROPEO, POR FECHAS</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16 · ESCALABILIDAD Y REGULACIÓN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27</a:t>
            </a:r>
            <a:endParaRPr lang="en-US" sz="900" dirty="0"/>
          </a:p>
        </p:txBody>
      </p:sp>
      <p:sp>
        <p:nvSpPr>
          <p:cNvPr id="8" name="Text 5"/>
          <p:cNvSpPr/>
          <p:nvPr/>
        </p:nvSpPr>
        <p:spPr>
          <a:xfrm>
            <a:off x="566928" y="1737360"/>
            <a:ext cx="11057839" cy="86868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Reglamento (UE) 2023/1114 sobre mercados de criptoactivos. Es el marco integral que muchos países, Colombia incluida, miran como modelo: licencias para proveedores, reglas para stablecoins y protección al consumidor.</a:t>
            </a:r>
            <a:endParaRPr lang="en-US" sz="13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66928" y="2743200"/>
          <a:ext cx="11057839" cy="914400"/>
        </p:xfrm>
        <a:graphic>
          <a:graphicData uri="http://schemas.openxmlformats.org/drawingml/2006/table">
            <a:tbl>
              <a:tblPr/>
              <a:tblGrid>
                <a:gridCol w="2194560"/>
                <a:gridCol w="886327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FECHA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EMPEZÓ</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8234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29-jun-2023</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Entrada en vigor (y algunos artículos habilitantes).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8234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30-jun-2024</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Títulos III y IV: stablecoins (tokens referenciados a activos y de dinero electrónico).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8234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30-dic-2024</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Aplicación general: proveedores de servicios de criptoactivos (CASP).</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8234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1-jul-2026</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Fin del periodo transitorio máximo para CASP que ya operaban. Cada país podía acortarlo.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0" name="Shape 6"/>
          <p:cNvSpPr/>
          <p:nvPr/>
        </p:nvSpPr>
        <p:spPr>
          <a:xfrm>
            <a:off x="548640" y="2724912"/>
            <a:ext cx="11094415" cy="2276856"/>
          </a:xfrm>
          <a:prstGeom prst="rect">
            <a:avLst/>
          </a:prstGeom>
          <a:ln w="22225">
            <a:solidFill>
              <a:srgbClr val="0F0F11"/>
            </a:solidFill>
            <a:prstDash val="solid"/>
          </a:ln>
        </p:spPr>
      </p:sp>
      <p:sp>
        <p:nvSpPr>
          <p:cNvPr id="11" name="Text 7"/>
          <p:cNvSpPr/>
          <p:nvPr/>
        </p:nvSpPr>
        <p:spPr>
          <a:xfrm>
            <a:off x="566928" y="5212080"/>
            <a:ext cx="11057839" cy="73152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Hoy, en la UE, prestar servicios de criptoactivos sin licencia MiCA ya no está permitido en ningún Estado miembro.</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B.7 · AML, KYC Y LA TRAVEL RULE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QUE LOS DATOS VIAJEN CON EL DINERO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16 · ESCALABILIDAD Y REGULACIÓN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28</a:t>
            </a:r>
            <a:endParaRPr lang="en-US" sz="9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7839" cy="914400"/>
        </p:xfrm>
        <a:graphic>
          <a:graphicData uri="http://schemas.openxmlformats.org/drawingml/2006/table">
            <a:tbl>
              <a:tblPr/>
              <a:tblGrid>
                <a:gridCol w="3291840"/>
                <a:gridCol w="776599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REGLA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EXIGE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72237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GAFI · Recomendación 15</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Aplica a los proveedores de activos virtuales las medidas contra el lavado: conocer al cliente desde transacciones ocasionales de USD/EUR 1 000.</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72237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Travel Rule (R.16 aplicada)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proveedor que envía obtiene, guarda y transmite los datos de quien envía y de quien recibe; el que recibe los verifica.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72237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Revisión de la R.16 · 18-jun-2025</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Datos estandarizados en pagos transfronterizos mayores de USD/EUR 1 000; cumplimiento hacia finales de 2030.</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72237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UE · Reglamento 2023/1113</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Desde el 30-dic-2024, en criptoactivos la información acompaña CADA transferencia, sin umbral.</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673352"/>
            <a:ext cx="11094415" cy="3236976"/>
          </a:xfrm>
          <a:prstGeom prst="rect">
            <a:avLst/>
          </a:prstGeom>
          <a:ln w="22225">
            <a:solidFill>
              <a:srgbClr val="0F0F11"/>
            </a:solidFill>
            <a:prstDash val="solid"/>
          </a:ln>
        </p:spPr>
      </p:sp>
      <p:sp>
        <p:nvSpPr>
          <p:cNvPr id="10" name="Shape 6"/>
          <p:cNvSpPr/>
          <p:nvPr/>
        </p:nvSpPr>
        <p:spPr>
          <a:xfrm>
            <a:off x="566928" y="5074920"/>
            <a:ext cx="11057839" cy="105156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1" name="Image 1" descr="preencoded.png">    </p:cNvPr>
          <p:cNvPicPr>
            <a:picLocks noChangeAspect="1"/>
          </p:cNvPicPr>
          <p:nvPr/>
        </p:nvPicPr>
        <p:blipFill>
          <a:blip r:embed="rId2"/>
          <a:stretch>
            <a:fillRect/>
          </a:stretch>
        </p:blipFill>
        <p:spPr>
          <a:xfrm>
            <a:off x="804672" y="5294376"/>
            <a:ext cx="237744" cy="237744"/>
          </a:xfrm>
          <a:prstGeom prst="rect">
            <a:avLst/>
          </a:prstGeom>
        </p:spPr>
      </p:pic>
      <p:sp>
        <p:nvSpPr>
          <p:cNvPr id="12" name="Text 7"/>
          <p:cNvSpPr/>
          <p:nvPr/>
        </p:nvSpPr>
        <p:spPr>
          <a:xfrm>
            <a:off x="1133856" y="526694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LA TENSIÓN DE FONDO</a:t>
            </a:r>
            <a:endParaRPr lang="en-US" sz="950" dirty="0"/>
          </a:p>
        </p:txBody>
      </p:sp>
      <p:sp>
        <p:nvSpPr>
          <p:cNvPr id="13" name="Text 8"/>
          <p:cNvSpPr/>
          <p:nvPr/>
        </p:nvSpPr>
        <p:spPr>
          <a:xfrm>
            <a:off x="804672" y="5586984"/>
            <a:ext cx="10582351" cy="44805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Las cadenas públicas se diseñaron seudónimas; la regulación financiera exige identificar a las partes. Cuánto seudonimato preserva un proyecto y cuánto cumplimiento acepta es una decisión de diseño con consecuencias legales.</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B.8 · LA PREGUNTA JURÍDICA DE FONDO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¿UN CONTRATO INTELIGENTE ES UN CONTRATO?</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16 · ESCALABILIDAD Y REGULACIÓN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29</a:t>
            </a:r>
            <a:endParaRPr lang="en-US" sz="900" dirty="0"/>
          </a:p>
        </p:txBody>
      </p:sp>
      <p:sp>
        <p:nvSpPr>
          <p:cNvPr id="8" name="Shape 5"/>
          <p:cNvSpPr/>
          <p:nvPr/>
        </p:nvSpPr>
        <p:spPr>
          <a:xfrm>
            <a:off x="566928" y="1737360"/>
            <a:ext cx="5391760" cy="224028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841248" y="192024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LO QUE ES</a:t>
            </a:r>
            <a:endParaRPr lang="en-US" sz="1050" dirty="0"/>
          </a:p>
        </p:txBody>
      </p:sp>
      <p:sp>
        <p:nvSpPr>
          <p:cNvPr id="10" name="Text 7"/>
          <p:cNvSpPr/>
          <p:nvPr/>
        </p:nvSpPr>
        <p:spPr>
          <a:xfrm>
            <a:off x="841248" y="2304288"/>
            <a:ext cx="4843120" cy="150876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Un programa que ejecuta reglas automáticamente. Puede AUTOMATIZAR el cumplimiento de un acuerdo: liberar un pago cuando una propuesta se aprueba y vence el timelock (Sesión 15).</a:t>
            </a:r>
            <a:endParaRPr lang="en-US" sz="1250" dirty="0"/>
          </a:p>
        </p:txBody>
      </p:sp>
      <p:sp>
        <p:nvSpPr>
          <p:cNvPr id="11" name="Shape 8"/>
          <p:cNvSpPr/>
          <p:nvPr/>
        </p:nvSpPr>
        <p:spPr>
          <a:xfrm>
            <a:off x="6233008" y="1737360"/>
            <a:ext cx="5391760" cy="224028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12" name="Text 9"/>
          <p:cNvSpPr/>
          <p:nvPr/>
        </p:nvSpPr>
        <p:spPr>
          <a:xfrm>
            <a:off x="6507328" y="192024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LO QUE NO NECESARIAMENTE ES</a:t>
            </a:r>
            <a:endParaRPr lang="en-US" sz="1050" dirty="0"/>
          </a:p>
        </p:txBody>
      </p:sp>
      <p:sp>
        <p:nvSpPr>
          <p:cNvPr id="13" name="Text 10"/>
          <p:cNvSpPr/>
          <p:nvPr/>
        </p:nvSpPr>
        <p:spPr>
          <a:xfrm>
            <a:off x="6507328" y="2304288"/>
            <a:ext cx="4843120" cy="150876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Un contrato válido y exigible ante un juez. Eso depende de la ley: ¿hubo consentimiento?, ¿las partes eran capaces?, ¿qué jurisdicción aplica si las partes están en tres países?</a:t>
            </a:r>
            <a:endParaRPr lang="en-US" sz="12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66928" y="4160520"/>
          <a:ext cx="11057839" cy="914400"/>
        </p:xfrm>
        <a:graphic>
          <a:graphicData uri="http://schemas.openxmlformats.org/drawingml/2006/table">
            <a:tbl>
              <a:tblPr/>
              <a:tblGrid>
                <a:gridCol w="4572000"/>
                <a:gridCol w="64858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SITUACIÓN</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LA PREGUNTA SIN RESPUESTA TÉCNICA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30352">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Un error del código envía fondos a quien no debía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¿Quién responde: quien lo programó, quien lo desplegó o la DAO que lo aprobó?</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30352">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Un atacante usa una función tal como está escrita (Beanstalk)</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¿Es un robo o «el código es la ley»? Los tribunales no aceptan lo segundo sin más.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5" name="Shape 11"/>
          <p:cNvSpPr/>
          <p:nvPr/>
        </p:nvSpPr>
        <p:spPr>
          <a:xfrm>
            <a:off x="548640" y="4142232"/>
            <a:ext cx="11094415" cy="1408176"/>
          </a:xfrm>
          <a:prstGeom prst="rect">
            <a:avLst/>
          </a:prstGeom>
          <a:ln w="22225">
            <a:solidFill>
              <a:srgbClr val="0F0F11"/>
            </a:solidFill>
            <a:prstDash val="solid"/>
          </a:ln>
        </p:spPr>
      </p:sp>
      <p:sp>
        <p:nvSpPr>
          <p:cNvPr id="16" name="Text 12"/>
          <p:cNvSpPr/>
          <p:nvPr/>
        </p:nvSpPr>
        <p:spPr>
          <a:xfrm>
            <a:off x="566928" y="5669280"/>
            <a:ext cx="11057839" cy="41148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Terreno abierto: ideal para el ensayo individual (eje regulatorio o ético).</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B.9 · ÉTICA Y SOSTENIBILIDAD</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LA RESPONSABILIDAD DEL QUE CONSTRUYE</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16 · ESCALABILIDAD Y REGULACIÓN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30</a:t>
            </a:r>
            <a:endParaRPr lang="en-US" sz="9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7839" cy="914400"/>
        </p:xfrm>
        <a:graphic>
          <a:graphicData uri="http://schemas.openxmlformats.org/drawingml/2006/table">
            <a:tbl>
              <a:tblPr/>
              <a:tblGrid>
                <a:gridCol w="2377440"/>
                <a:gridCol w="868039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TEMA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LA CONVERSACIÓN HONESTA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99364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Huella energética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The Merge (2022) redujo el consumo anualizado de electricidad de Ethereum en más de 99,988 % (CCRI, citado por ethereum.org). La prueba de trabajo de Bitcoin sigue: citar el índice de Cambridge vigente, no una cifra de memoria.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99364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Inclusión financiera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La promesa: servicios para quien no tiene banco. La realidad: hace falta internet, un teléfono, saber custodiar una clave y soportar volatilidad. ¿Incluye de verdad, o a quien ya estaba cerca?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99364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Estafas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ecosistema está lleno de esquemas extractivos (S10, S14). Quien construye tiene la responsabilidad de no sumar uno más y de no prometer rendimientos que no puede explicar.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673352"/>
            <a:ext cx="11094415" cy="3328416"/>
          </a:xfrm>
          <a:prstGeom prst="rect">
            <a:avLst/>
          </a:prstGeom>
          <a:ln w="22225">
            <a:solidFill>
              <a:srgbClr val="0F0F11"/>
            </a:solidFill>
            <a:prstDash val="solid"/>
          </a:ln>
        </p:spPr>
      </p:sp>
      <p:sp>
        <p:nvSpPr>
          <p:cNvPr id="10" name="Shape 6"/>
          <p:cNvSpPr/>
          <p:nvPr/>
        </p:nvSpPr>
        <p:spPr>
          <a:xfrm>
            <a:off x="566928" y="5166360"/>
            <a:ext cx="11057839" cy="96012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11" name="Text 7"/>
          <p:cNvSpPr/>
          <p:nvPr/>
        </p:nvSpPr>
        <p:spPr>
          <a:xfrm>
            <a:off x="950976" y="5349240"/>
            <a:ext cx="10289743" cy="594360"/>
          </a:xfrm>
          <a:prstGeom prst="rect">
            <a:avLst/>
          </a:prstGeom>
          <a:noFill/>
          <a:ln/>
        </p:spPr>
        <p:txBody>
          <a:bodyPr wrap="square" lIns="0" tIns="0" rIns="0" bIns="0" rtlCol="0" anchor="ctr"/>
          <a:lstStyle/>
          <a:p>
            <a:pPr indent="0" marL="0">
              <a:lnSpc>
                <a:spcPct val="106000"/>
              </a:lnSpc>
              <a:buNone/>
            </a:pPr>
            <a:r>
              <a:rPr lang="en-US" sz="1600" dirty="0">
                <a:solidFill>
                  <a:srgbClr val="0F0F11"/>
                </a:solidFill>
                <a:latin typeface="Arial Black" pitchFamily="34" charset="0"/>
                <a:ea typeface="Arial Black" pitchFamily="34" charset="-122"/>
                <a:cs typeface="Arial Black" pitchFamily="34" charset="-120"/>
              </a:rPr>
              <a:t>Saber construir esto trae una responsabilidad: reconocer cuándo NO se debe, y decirlo. Es la tesis del curso desde la Sesión 1.</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B.10 · FUENTES DEL BLOQUE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100" dirty="0">
                <a:solidFill>
                  <a:srgbClr val="0F0F11"/>
                </a:solidFill>
                <a:latin typeface="Arial Black" pitchFamily="34" charset="0"/>
                <a:ea typeface="Arial Black" pitchFamily="34" charset="-122"/>
                <a:cs typeface="Arial Black" pitchFamily="34" charset="-120"/>
              </a:rPr>
              <a:t>ESTADO VERIFICADO A 17 DE SEPTIEMBRE DE 2026</a:t>
            </a:r>
            <a:endParaRPr lang="en-US" sz="21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16 · ESCALABILIDAD Y REGULACIÓN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31</a:t>
            </a:r>
            <a:endParaRPr lang="en-US" sz="9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7839" cy="914400"/>
        </p:xfrm>
        <a:graphic>
          <a:graphicData uri="http://schemas.openxmlformats.org/drawingml/2006/table">
            <a:tbl>
              <a:tblPr/>
              <a:tblGrid>
                <a:gridCol w="2194560"/>
                <a:gridCol w="886327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TEMA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FUENTE OFICIAL CONSULTADA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23821">
                <a:tc>
                  <a:txBody>
                    <a:bodyPr/>
                    <a:lstStyle/>
                    <a:p>
                      <a:pPr indent="0" marL="0">
                        <a:buNone/>
                      </a:pPr>
                      <a:r>
                        <a:rPr lang="en-US" sz="1050" b="1" dirty="0">
                          <a:solidFill>
                            <a:srgbClr val="0F0F11"/>
                          </a:solidFill>
                          <a:latin typeface="Courier New" pitchFamily="34" charset="0"/>
                          <a:ea typeface="Courier New" pitchFamily="34" charset="-122"/>
                          <a:cs typeface="Courier New" pitchFamily="34" charset="-120"/>
                        </a:rPr>
                        <a:t>Naturaleza jurídica</a:t>
                      </a:r>
                      <a:endParaRPr lang="en-US" sz="10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superfinanciera.gov.co · Cartas Circulares 29/2014, 78/2016, 52/2017 · página «¿Qué son los criptoactivos?» (11-jun-2026)</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23821">
                <a:tc>
                  <a:txBody>
                    <a:bodyPr/>
                    <a:lstStyle/>
                    <a:p>
                      <a:pPr indent="0" marL="0">
                        <a:buNone/>
                      </a:pPr>
                      <a:r>
                        <a:rPr lang="en-US" sz="1050" b="1" dirty="0">
                          <a:solidFill>
                            <a:srgbClr val="0F0F11"/>
                          </a:solidFill>
                          <a:latin typeface="Courier New" pitchFamily="34" charset="0"/>
                          <a:ea typeface="Courier New" pitchFamily="34" charset="-122"/>
                          <a:cs typeface="Courier New" pitchFamily="34" charset="-120"/>
                        </a:rPr>
                        <a:t>UIAF</a:t>
                      </a:r>
                      <a:endParaRPr lang="en-US" sz="10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uiaf.gov.co · Resolución 314 de 2021 · Resolución 84 de 2022 · sector «activos virtuales»</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23821">
                <a:tc>
                  <a:txBody>
                    <a:bodyPr/>
                    <a:lstStyle/>
                    <a:p>
                      <a:pPr indent="0" marL="0">
                        <a:buNone/>
                      </a:pPr>
                      <a:r>
                        <a:rPr lang="en-US" sz="1050" b="1" dirty="0">
                          <a:solidFill>
                            <a:srgbClr val="0F0F11"/>
                          </a:solidFill>
                          <a:latin typeface="Courier New" pitchFamily="34" charset="0"/>
                          <a:ea typeface="Courier New" pitchFamily="34" charset="-122"/>
                          <a:cs typeface="Courier New" pitchFamily="34" charset="-120"/>
                        </a:rPr>
                        <a:t>DIAN</a:t>
                      </a:r>
                      <a:endParaRPr lang="en-US" sz="10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normograma.dian.gov.co · Concepto 018075 de 2023 · dian.gov.co · Resolución 000240 de 2025</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23821">
                <a:tc>
                  <a:txBody>
                    <a:bodyPr/>
                    <a:lstStyle/>
                    <a:p>
                      <a:pPr indent="0" marL="0">
                        <a:buNone/>
                      </a:pPr>
                      <a:r>
                        <a:rPr lang="en-US" sz="1050" b="1" dirty="0">
                          <a:solidFill>
                            <a:srgbClr val="0F0F11"/>
                          </a:solidFill>
                          <a:latin typeface="Courier New" pitchFamily="34" charset="0"/>
                          <a:ea typeface="Courier New" pitchFamily="34" charset="-122"/>
                          <a:cs typeface="Courier New" pitchFamily="34" charset="-120"/>
                        </a:rPr>
                        <a:t>Arenera</a:t>
                      </a:r>
                      <a:endParaRPr lang="en-US" sz="10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funcionpublica.gov.co · Decreto 1234 de 2020 · superfinanciera.gov.co · balance del piloto (27-jun-2024)</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23821">
                <a:tc>
                  <a:txBody>
                    <a:bodyPr/>
                    <a:lstStyle/>
                    <a:p>
                      <a:pPr indent="0" marL="0">
                        <a:buNone/>
                      </a:pPr>
                      <a:r>
                        <a:rPr lang="en-US" sz="1050" b="1" dirty="0">
                          <a:solidFill>
                            <a:srgbClr val="0F0F11"/>
                          </a:solidFill>
                          <a:latin typeface="Courier New" pitchFamily="34" charset="0"/>
                          <a:ea typeface="Courier New" pitchFamily="34" charset="-122"/>
                          <a:cs typeface="Courier New" pitchFamily="34" charset="-120"/>
                        </a:rPr>
                        <a:t>Congreso</a:t>
                      </a:r>
                      <a:endParaRPr lang="en-US" sz="10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camara.gov.co · PL 139/2021C y PL 510/2025C · senado.gov.co · noticias de trámite</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23821">
                <a:tc>
                  <a:txBody>
                    <a:bodyPr/>
                    <a:lstStyle/>
                    <a:p>
                      <a:pPr indent="0" marL="0">
                        <a:buNone/>
                      </a:pPr>
                      <a:r>
                        <a:rPr lang="en-US" sz="1050" b="1" dirty="0">
                          <a:solidFill>
                            <a:srgbClr val="0F0F11"/>
                          </a:solidFill>
                          <a:latin typeface="Courier New" pitchFamily="34" charset="0"/>
                          <a:ea typeface="Courier New" pitchFamily="34" charset="-122"/>
                          <a:cs typeface="Courier New" pitchFamily="34" charset="-120"/>
                        </a:rPr>
                        <a:t>UE y GAFI</a:t>
                      </a:r>
                      <a:endParaRPr lang="en-US" sz="10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eur-lex.europa.eu · Reglamentos 2023/1114 y 2023/1113 · fatf-gafi.org · guía de activos virtuales y R.16 (2025)</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23821">
                <a:tc>
                  <a:txBody>
                    <a:bodyPr/>
                    <a:lstStyle/>
                    <a:p>
                      <a:pPr indent="0" marL="0">
                        <a:buNone/>
                      </a:pPr>
                      <a:r>
                        <a:rPr lang="en-US" sz="1050" b="1" dirty="0">
                          <a:solidFill>
                            <a:srgbClr val="0F0F11"/>
                          </a:solidFill>
                          <a:latin typeface="Courier New" pitchFamily="34" charset="0"/>
                          <a:ea typeface="Courier New" pitchFamily="34" charset="-122"/>
                          <a:cs typeface="Courier New" pitchFamily="34" charset="-120"/>
                        </a:rPr>
                        <a:t>⚠ No confirmado</a:t>
                      </a:r>
                      <a:endParaRPr lang="en-US" sz="10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Conceptos del BanRep (sitio no abrió) · proyectos radicados desde jul-2026 · informe final del piloto · modificaciones 2026</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673352"/>
            <a:ext cx="11094415" cy="4014216"/>
          </a:xfrm>
          <a:prstGeom prst="rect">
            <a:avLst/>
          </a:prstGeom>
          <a:ln w="22225">
            <a:solidFill>
              <a:srgbClr val="0F0F11"/>
            </a:solidFill>
            <a:prstDash val="solid"/>
          </a:ln>
        </p:spPr>
      </p:sp>
      <p:sp>
        <p:nvSpPr>
          <p:cNvPr id="10" name="Text 6"/>
          <p:cNvSpPr/>
          <p:nvPr/>
        </p:nvSpPr>
        <p:spPr>
          <a:xfrm>
            <a:off x="566928" y="5760720"/>
            <a:ext cx="11057839" cy="411480"/>
          </a:xfrm>
          <a:prstGeom prst="rect">
            <a:avLst/>
          </a:prstGeom>
          <a:noFill/>
          <a:ln/>
        </p:spPr>
        <p:txBody>
          <a:bodyPr wrap="square" lIns="0" tIns="0" rIns="0" bIns="0" rtlCol="0" anchor="t"/>
          <a:lstStyle/>
          <a:p>
            <a:pPr indent="0" marL="0">
              <a:lnSpc>
                <a:spcPct val="124000"/>
              </a:lnSpc>
              <a:buNone/>
            </a:pPr>
            <a:r>
              <a:rPr lang="en-US" sz="1200" dirty="0">
                <a:solidFill>
                  <a:srgbClr val="A35604"/>
                </a:solidFill>
                <a:latin typeface="Arial" pitchFamily="34" charset="0"/>
                <a:ea typeface="Arial" pitchFamily="34" charset="-122"/>
                <a:cs typeface="Arial" pitchFamily="34" charset="-120"/>
              </a:rPr>
              <a:t>Las URL completas están en las notas del orador y en la guía del laboratorio 16. Antes de dictar: abrir cada una otra vez.</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B.11 · VERIFICACIÓN DEL BLOQUE B</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PREGUNTA DE CONTROL</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16 · ESCALABILIDAD Y REGULACIÓN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32</a:t>
            </a:r>
            <a:endParaRPr lang="en-US" sz="900" dirty="0"/>
          </a:p>
        </p:txBody>
      </p:sp>
      <p:sp>
        <p:nvSpPr>
          <p:cNvPr id="8" name="Shape 5"/>
          <p:cNvSpPr/>
          <p:nvPr/>
        </p:nvSpPr>
        <p:spPr>
          <a:xfrm>
            <a:off x="566928" y="1737360"/>
            <a:ext cx="11057839" cy="164592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950976" y="1920240"/>
            <a:ext cx="10289743" cy="1280160"/>
          </a:xfrm>
          <a:prstGeom prst="rect">
            <a:avLst/>
          </a:prstGeom>
          <a:noFill/>
          <a:ln/>
        </p:spPr>
        <p:txBody>
          <a:bodyPr wrap="square" lIns="0" tIns="0" rIns="0" bIns="0" rtlCol="0" anchor="ctr"/>
          <a:lstStyle/>
          <a:p>
            <a:pPr indent="0" marL="0">
              <a:lnSpc>
                <a:spcPct val="106000"/>
              </a:lnSpc>
              <a:buNone/>
            </a:pPr>
            <a:r>
              <a:rPr lang="en-US" sz="1800" dirty="0">
                <a:solidFill>
                  <a:srgbClr val="0F0F11"/>
                </a:solidFill>
                <a:latin typeface="Arial Black" pitchFamily="34" charset="0"/>
                <a:ea typeface="Arial Black" pitchFamily="34" charset="-122"/>
                <a:cs typeface="Arial Black" pitchFamily="34" charset="-120"/>
              </a:rPr>
              <a:t>Un compañero dice: «En Colombia las criptomonedas son ilegales y la DIAN no se entera de nada». Corrijan las dos mitades de la frase citando la fuente oficial de cada corrección.</a:t>
            </a:r>
            <a:endParaRPr lang="en-US" sz="1800" dirty="0"/>
          </a:p>
        </p:txBody>
      </p:sp>
      <p:sp>
        <p:nvSpPr>
          <p:cNvPr id="10" name="Shape 7"/>
          <p:cNvSpPr/>
          <p:nvPr/>
        </p:nvSpPr>
        <p:spPr>
          <a:xfrm>
            <a:off x="566928" y="3611880"/>
            <a:ext cx="11057839" cy="25146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11" name="Image 1" descr="preencoded.png">    </p:cNvPr>
          <p:cNvPicPr>
            <a:picLocks noChangeAspect="1"/>
          </p:cNvPicPr>
          <p:nvPr/>
        </p:nvPicPr>
        <p:blipFill>
          <a:blip r:embed="rId2"/>
          <a:stretch>
            <a:fillRect/>
          </a:stretch>
        </p:blipFill>
        <p:spPr>
          <a:xfrm>
            <a:off x="804672" y="3831336"/>
            <a:ext cx="237744" cy="237744"/>
          </a:xfrm>
          <a:prstGeom prst="rect">
            <a:avLst/>
          </a:prstGeom>
        </p:spPr>
      </p:pic>
      <p:sp>
        <p:nvSpPr>
          <p:cNvPr id="12" name="Text 8"/>
          <p:cNvSpPr/>
          <p:nvPr/>
        </p:nvSpPr>
        <p:spPr>
          <a:xfrm>
            <a:off x="1133856" y="380390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RESPUESTA ESPERADA</a:t>
            </a:r>
            <a:endParaRPr lang="en-US" sz="950" dirty="0"/>
          </a:p>
        </p:txBody>
      </p:sp>
      <p:sp>
        <p:nvSpPr>
          <p:cNvPr id="13" name="Text 9"/>
          <p:cNvSpPr/>
          <p:nvPr/>
        </p:nvSpPr>
        <p:spPr>
          <a:xfrm>
            <a:off x="804672" y="4123944"/>
            <a:ext cx="10582351" cy="191109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No son ilegales: no son moneda de curso legal ni valores, y no están reguladas ni supervisadas (SFC, Cartas Circulares 29/2014, 78/2016 y 52/2017; página de la SFC actualizada en 2026). Pero tenerlas o negociarlas no está prohibido. Y la DIAN sí se entera: se declaran como activos intangibles (Concepto 018075 de 2023) y, desde el año gravable 2026, los proveedores reportan a sus usuarios (Resolución 000240 de 2025, CARF). Además, los PSAV reportan transacciones a la UIAF desde 2022 (Resolución 314 de 2021).</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C</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55 MINUTOS · EN EQUIPOS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LABORATORIO 16 Y TALLER</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El mismo contrato, sin tocar una línea, en Sepolia y en OP Sepolia: cuánto cuesta y cuánto tarda en cada una, con datos propios. Y el análisis regulatorio del proyecto.</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16 · ESCALABILIDAD Y REGULACIÓN</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C.1 · QUÉ SE HACE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UN CONTRATO, DOS REDES, UNA TABLA</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16 · ESCALABILIDAD Y REGULACIÓN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34</a:t>
            </a:r>
            <a:endParaRPr lang="en-US" sz="900" dirty="0"/>
          </a:p>
        </p:txBody>
      </p:sp>
      <p:sp>
        <p:nvSpPr>
          <p:cNvPr id="8" name="Shape 5"/>
          <p:cNvSpPr/>
          <p:nvPr/>
        </p:nvSpPr>
        <p:spPr>
          <a:xfrm>
            <a:off x="566928" y="1691640"/>
            <a:ext cx="11057839" cy="694944"/>
          </a:xfrm>
          <a:prstGeom prst="rect">
            <a:avLst/>
          </a:prstGeom>
          <a:solidFill>
            <a:srgbClr val="FFFFFF"/>
          </a:solidFill>
          <a:ln w="15875">
            <a:solidFill>
              <a:srgbClr val="D9D6E0"/>
            </a:solidFill>
            <a:prstDash val="solid"/>
          </a:ln>
        </p:spPr>
      </p:sp>
      <p:sp>
        <p:nvSpPr>
          <p:cNvPr id="9" name="Text 6"/>
          <p:cNvSpPr/>
          <p:nvPr/>
        </p:nvSpPr>
        <p:spPr>
          <a:xfrm>
            <a:off x="694944" y="1691640"/>
            <a:ext cx="548640" cy="69494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892808"/>
            <a:ext cx="26517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PROBAR EN LOCAL</a:t>
            </a:r>
            <a:endParaRPr lang="en-US" sz="1000" dirty="0"/>
          </a:p>
        </p:txBody>
      </p:sp>
      <p:sp>
        <p:nvSpPr>
          <p:cNvPr id="11" name="Text 8"/>
          <p:cNvSpPr/>
          <p:nvPr/>
        </p:nvSpPr>
        <p:spPr>
          <a:xfrm>
            <a:off x="4206240" y="1783080"/>
            <a:ext cx="7308799" cy="548640"/>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npx hardhat test test/s16/SelloTiempo.test.js → 3 passing. Antes de gastar ETH, comprobar que el contrato funciona.</a:t>
            </a:r>
            <a:endParaRPr lang="en-US" sz="1200" dirty="0"/>
          </a:p>
        </p:txBody>
      </p:sp>
      <p:sp>
        <p:nvSpPr>
          <p:cNvPr id="12" name="Shape 9"/>
          <p:cNvSpPr/>
          <p:nvPr/>
        </p:nvSpPr>
        <p:spPr>
          <a:xfrm>
            <a:off x="566928" y="2478024"/>
            <a:ext cx="11057839" cy="694944"/>
          </a:xfrm>
          <a:prstGeom prst="rect">
            <a:avLst/>
          </a:prstGeom>
          <a:solidFill>
            <a:srgbClr val="FAF9FB"/>
          </a:solidFill>
          <a:ln w="15875">
            <a:solidFill>
              <a:srgbClr val="D9D6E0"/>
            </a:solidFill>
            <a:prstDash val="solid"/>
          </a:ln>
        </p:spPr>
      </p:sp>
      <p:sp>
        <p:nvSpPr>
          <p:cNvPr id="13" name="Text 10"/>
          <p:cNvSpPr/>
          <p:nvPr/>
        </p:nvSpPr>
        <p:spPr>
          <a:xfrm>
            <a:off x="694944" y="2478024"/>
            <a:ext cx="548640" cy="69494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679192"/>
            <a:ext cx="26517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ENSAYAR LA MEDICIÓN</a:t>
            </a:r>
            <a:endParaRPr lang="en-US" sz="1000" dirty="0"/>
          </a:p>
        </p:txBody>
      </p:sp>
      <p:sp>
        <p:nvSpPr>
          <p:cNvPr id="15" name="Text 12"/>
          <p:cNvSpPr/>
          <p:nvPr/>
        </p:nvSpPr>
        <p:spPr>
          <a:xfrm>
            <a:off x="4206240" y="2569464"/>
            <a:ext cx="7308799" cy="548640"/>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El script en la red local, y simulando un rollup OP para ver el campo l1Fee sin gastar nada.</a:t>
            </a:r>
            <a:endParaRPr lang="en-US" sz="1200" dirty="0"/>
          </a:p>
        </p:txBody>
      </p:sp>
      <p:sp>
        <p:nvSpPr>
          <p:cNvPr id="16" name="Shape 13"/>
          <p:cNvSpPr/>
          <p:nvPr/>
        </p:nvSpPr>
        <p:spPr>
          <a:xfrm>
            <a:off x="566928" y="3264408"/>
            <a:ext cx="11057839" cy="694944"/>
          </a:xfrm>
          <a:prstGeom prst="rect">
            <a:avLst/>
          </a:prstGeom>
          <a:solidFill>
            <a:srgbClr val="FFFFFF"/>
          </a:solidFill>
          <a:ln w="15875">
            <a:solidFill>
              <a:srgbClr val="D9D6E0"/>
            </a:solidFill>
            <a:prstDash val="solid"/>
          </a:ln>
        </p:spPr>
      </p:sp>
      <p:sp>
        <p:nvSpPr>
          <p:cNvPr id="17" name="Text 14"/>
          <p:cNvSpPr/>
          <p:nvPr/>
        </p:nvSpPr>
        <p:spPr>
          <a:xfrm>
            <a:off x="694944" y="3264408"/>
            <a:ext cx="548640" cy="69494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465576"/>
            <a:ext cx="26517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CONSEGUIR ETH EN OP SEPOLIA</a:t>
            </a:r>
            <a:endParaRPr lang="en-US" sz="1000" dirty="0"/>
          </a:p>
        </p:txBody>
      </p:sp>
      <p:sp>
        <p:nvSpPr>
          <p:cNvPr id="19" name="Text 16"/>
          <p:cNvSpPr/>
          <p:nvPr/>
        </p:nvSpPr>
        <p:spPr>
          <a:xfrm>
            <a:off x="4206240" y="3355848"/>
            <a:ext cx="7308799" cy="548640"/>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Faucet o puente desde Sepolia (1 a 3 minutos). Detalle en C.2.</a:t>
            </a:r>
            <a:endParaRPr lang="en-US" sz="1200" dirty="0"/>
          </a:p>
        </p:txBody>
      </p:sp>
      <p:sp>
        <p:nvSpPr>
          <p:cNvPr id="20" name="Shape 17"/>
          <p:cNvSpPr/>
          <p:nvPr/>
        </p:nvSpPr>
        <p:spPr>
          <a:xfrm>
            <a:off x="566928" y="4050792"/>
            <a:ext cx="11057839" cy="694944"/>
          </a:xfrm>
          <a:prstGeom prst="rect">
            <a:avLst/>
          </a:prstGeom>
          <a:solidFill>
            <a:srgbClr val="FAF9FB"/>
          </a:solidFill>
          <a:ln w="15875">
            <a:solidFill>
              <a:srgbClr val="D9D6E0"/>
            </a:solidFill>
            <a:prstDash val="solid"/>
          </a:ln>
        </p:spPr>
      </p:sp>
      <p:sp>
        <p:nvSpPr>
          <p:cNvPr id="21" name="Text 18"/>
          <p:cNvSpPr/>
          <p:nvPr/>
        </p:nvSpPr>
        <p:spPr>
          <a:xfrm>
            <a:off x="694944" y="4050792"/>
            <a:ext cx="548640" cy="69494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251960"/>
            <a:ext cx="26517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DESPLEGAR Y MEDIR</a:t>
            </a:r>
            <a:endParaRPr lang="en-US" sz="1000" dirty="0"/>
          </a:p>
        </p:txBody>
      </p:sp>
      <p:sp>
        <p:nvSpPr>
          <p:cNvPr id="23" name="Text 20"/>
          <p:cNvSpPr/>
          <p:nvPr/>
        </p:nvSpPr>
        <p:spPr>
          <a:xfrm>
            <a:off x="4206240" y="4142232"/>
            <a:ext cx="7308799" cy="548640"/>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El mismo script con --network sepolia y con --network opSepolia.</a:t>
            </a:r>
            <a:endParaRPr lang="en-US" sz="1200" dirty="0"/>
          </a:p>
        </p:txBody>
      </p:sp>
      <p:sp>
        <p:nvSpPr>
          <p:cNvPr id="24" name="Shape 21"/>
          <p:cNvSpPr/>
          <p:nvPr/>
        </p:nvSpPr>
        <p:spPr>
          <a:xfrm>
            <a:off x="566928" y="4837176"/>
            <a:ext cx="11057839" cy="694944"/>
          </a:xfrm>
          <a:prstGeom prst="rect">
            <a:avLst/>
          </a:prstGeom>
          <a:solidFill>
            <a:srgbClr val="FFFFFF"/>
          </a:solidFill>
          <a:ln w="15875">
            <a:solidFill>
              <a:srgbClr val="D9D6E0"/>
            </a:solidFill>
            <a:prstDash val="solid"/>
          </a:ln>
        </p:spPr>
      </p:sp>
      <p:sp>
        <p:nvSpPr>
          <p:cNvPr id="25" name="Text 22"/>
          <p:cNvSpPr/>
          <p:nvPr/>
        </p:nvSpPr>
        <p:spPr>
          <a:xfrm>
            <a:off x="694944" y="4837176"/>
            <a:ext cx="548640" cy="69494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05</a:t>
            </a:r>
            <a:endParaRPr lang="en-US" sz="1600" dirty="0"/>
          </a:p>
        </p:txBody>
      </p:sp>
      <p:sp>
        <p:nvSpPr>
          <p:cNvPr id="26" name="Text 23"/>
          <p:cNvSpPr/>
          <p:nvPr/>
        </p:nvSpPr>
        <p:spPr>
          <a:xfrm>
            <a:off x="1280160" y="5038344"/>
            <a:ext cx="26517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COMPARAR</a:t>
            </a:r>
            <a:endParaRPr lang="en-US" sz="1000" dirty="0"/>
          </a:p>
        </p:txBody>
      </p:sp>
      <p:sp>
        <p:nvSpPr>
          <p:cNvPr id="27" name="Text 24"/>
          <p:cNvSpPr/>
          <p:nvPr/>
        </p:nvSpPr>
        <p:spPr>
          <a:xfrm>
            <a:off x="4206240" y="4928616"/>
            <a:ext cx="7308799" cy="548640"/>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Llenar la tabla con SUS números y responder las preguntas de la guía.</a:t>
            </a:r>
            <a:endParaRPr lang="en-US" sz="1200" dirty="0"/>
          </a:p>
        </p:txBody>
      </p:sp>
      <p:sp>
        <p:nvSpPr>
          <p:cNvPr id="28" name="Text 25"/>
          <p:cNvSpPr/>
          <p:nvPr/>
        </p:nvSpPr>
        <p:spPr>
          <a:xfrm>
            <a:off x="566928" y="5669280"/>
            <a:ext cx="11057839" cy="50292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El contrato es SelloTiempo: guarda el hash de un documento y su fecha. Pequeño y sin dependencias, para que la comparación sea justa.</a:t>
            </a:r>
            <a:endParaRPr lang="en-US" sz="12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C.2 · PREPARAR LA RED DE PRUEBA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KEYSTORE, FAUCETS Y PUENTE</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16 · ESCALABILIDAD Y REGULACIÓN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35</a:t>
            </a:r>
            <a:endParaRPr lang="en-US" sz="900" dirty="0"/>
          </a:p>
        </p:txBody>
      </p:sp>
      <p:sp>
        <p:nvSpPr>
          <p:cNvPr id="8" name="Shape 5"/>
          <p:cNvSpPr/>
          <p:nvPr/>
        </p:nvSpPr>
        <p:spPr>
          <a:xfrm>
            <a:off x="566928" y="1691640"/>
            <a:ext cx="11057839" cy="868680"/>
          </a:xfrm>
          <a:prstGeom prst="rect">
            <a:avLst/>
          </a:prstGeom>
          <a:solidFill>
            <a:srgbClr val="16151B"/>
          </a:solidFill>
          <a:ln w="22225">
            <a:solidFill>
              <a:srgbClr val="16151B"/>
            </a:solidFill>
            <a:prstDash val="solid"/>
          </a:ln>
        </p:spPr>
      </p:sp>
      <p:sp>
        <p:nvSpPr>
          <p:cNvPr id="9" name="Text 6"/>
          <p:cNvSpPr/>
          <p:nvPr/>
        </p:nvSpPr>
        <p:spPr>
          <a:xfrm>
            <a:off x="768096" y="1837944"/>
            <a:ext cx="10655503" cy="612648"/>
          </a:xfrm>
          <a:prstGeom prst="rect">
            <a:avLst/>
          </a:prstGeom>
          <a:noFill/>
          <a:ln/>
        </p:spPr>
        <p:txBody>
          <a:bodyPr wrap="square" lIns="0" tIns="0" rIns="0" bIns="0" rtlCol="0" anchor="t"/>
          <a:lstStyle/>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keystore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set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OP_SEPOLIA_RPC_URL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p. ej. https://sepolia.optimism.io (público)</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keystore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list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deben aparecer SEPOLIA_* y OP_SEPOLIA_RPC_URL</a:t>
            </a:r>
            <a:endParaRPr lang="en-US" sz="11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66928" y="2697480"/>
          <a:ext cx="11057839" cy="914400"/>
        </p:xfrm>
        <a:graphic>
          <a:graphicData uri="http://schemas.openxmlformats.org/drawingml/2006/table">
            <a:tbl>
              <a:tblPr/>
              <a:tblGrid>
                <a:gridCol w="4480560"/>
                <a:gridCol w="657727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VÍA PARA TENER ETH EN OP SEPOLIA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CONDICIONES (VERIFICADAS EL 17-SEP-2026)</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0520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Superchain Faucet · console.optimism.io/faucet</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Faucet oficial de Optimism. Montos: la página no se pudo leer al verificar.</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0520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QuickNode · faucet.quicknode.com/optimism/sepolia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Un reclamo cada 12 h, sin saldo mínimo en mainnet.</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0520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Alchemy · alchemy.com/faucets/optimism-sepolia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0,1 ETH cada 24 h; exige 0,001 ETH en mainnet: no apto para billeteras del curso.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0520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Puente desde Sepolia (L1StandardBridge)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Enviar ETH de Sepolia a 0xFBb0621E0B23b5478B630BD55a5f21f67730B0F1: llega en 1-3 min.</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1" name="Shape 7"/>
          <p:cNvSpPr/>
          <p:nvPr/>
        </p:nvSpPr>
        <p:spPr>
          <a:xfrm>
            <a:off x="548640" y="2679192"/>
            <a:ext cx="11094415" cy="2368296"/>
          </a:xfrm>
          <a:prstGeom prst="rect">
            <a:avLst/>
          </a:prstGeom>
          <a:ln w="22225">
            <a:solidFill>
              <a:srgbClr val="0F0F11"/>
            </a:solidFill>
            <a:prstDash val="solid"/>
          </a:ln>
        </p:spPr>
      </p:sp>
      <p:sp>
        <p:nvSpPr>
          <p:cNvPr id="12" name="Shape 8"/>
          <p:cNvSpPr/>
          <p:nvPr/>
        </p:nvSpPr>
        <p:spPr>
          <a:xfrm>
            <a:off x="566928" y="5138928"/>
            <a:ext cx="11057839" cy="1024128"/>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pic>
        <p:nvPicPr>
          <p:cNvPr id="13" name="Image 1" descr="preencoded.png">    </p:cNvPr>
          <p:cNvPicPr>
            <a:picLocks noChangeAspect="1"/>
          </p:cNvPicPr>
          <p:nvPr/>
        </p:nvPicPr>
        <p:blipFill>
          <a:blip r:embed="rId2"/>
          <a:stretch>
            <a:fillRect/>
          </a:stretch>
        </p:blipFill>
        <p:spPr>
          <a:xfrm>
            <a:off x="804672" y="5358384"/>
            <a:ext cx="237744" cy="237744"/>
          </a:xfrm>
          <a:prstGeom prst="rect">
            <a:avLst/>
          </a:prstGeom>
        </p:spPr>
      </p:pic>
      <p:sp>
        <p:nvSpPr>
          <p:cNvPr id="14" name="Text 9"/>
          <p:cNvSpPr/>
          <p:nvPr/>
        </p:nvSpPr>
        <p:spPr>
          <a:xfrm>
            <a:off x="1133856" y="5330952"/>
            <a:ext cx="10234879" cy="292608"/>
          </a:xfrm>
          <a:prstGeom prst="rect">
            <a:avLst/>
          </a:prstGeom>
          <a:noFill/>
          <a:ln/>
        </p:spPr>
        <p:txBody>
          <a:bodyPr wrap="square" lIns="0" tIns="0" rIns="0" bIns="0" rtlCol="0" anchor="ctr"/>
          <a:lstStyle/>
          <a:p>
            <a:pPr indent="0" marL="0">
              <a:buNone/>
            </a:pPr>
            <a:r>
              <a:rPr lang="en-US" sz="950" b="1" spc="150" kern="0" dirty="0">
                <a:solidFill>
                  <a:srgbClr val="B3261E"/>
                </a:solidFill>
                <a:latin typeface="Courier New" pitchFamily="34" charset="0"/>
                <a:ea typeface="Courier New" pitchFamily="34" charset="-122"/>
                <a:cs typeface="Courier New" pitchFamily="34" charset="-120"/>
              </a:rPr>
              <a:t>ANTES DE ENVIAR AL PUENTE</a:t>
            </a:r>
            <a:endParaRPr lang="en-US" sz="950" dirty="0"/>
          </a:p>
        </p:txBody>
      </p:sp>
      <p:sp>
        <p:nvSpPr>
          <p:cNvPr id="15" name="Text 10"/>
          <p:cNvSpPr/>
          <p:nvPr/>
        </p:nvSpPr>
        <p:spPr>
          <a:xfrm>
            <a:off x="804672" y="5650992"/>
            <a:ext cx="10582351" cy="420624"/>
          </a:xfrm>
          <a:prstGeom prst="rect">
            <a:avLst/>
          </a:prstGeom>
          <a:noFill/>
          <a:ln/>
        </p:spPr>
        <p:txBody>
          <a:bodyPr wrap="square" lIns="0" tIns="0" rIns="0" bIns="0" rtlCol="0" anchor="t"/>
          <a:lstStyle/>
          <a:p>
            <a:pPr indent="0" marL="0">
              <a:lnSpc>
                <a:spcPct val="124000"/>
              </a:lnSpc>
              <a:buNone/>
            </a:pPr>
            <a:r>
              <a:rPr lang="en-US" sz="1200" dirty="0">
                <a:solidFill>
                  <a:srgbClr val="3A3844"/>
                </a:solidFill>
                <a:latin typeface="Arial" pitchFamily="34" charset="0"/>
                <a:ea typeface="Arial" pitchFamily="34" charset="-122"/>
                <a:cs typeface="Arial" pitchFamily="34" charset="-120"/>
              </a:rPr>
              <a:t>Verifiquen la dirección en el registro oficial (guía, sección 5). Solo ETH de Sepolia, solo desde la billetera del curso. Volver de OP Sepolia a Sepolia tarda 7 días.</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C.3 · DESPLEGAR Y MEDIR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EL SCRIPT Y LO QUE IMPRIME</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16 · ESCALABILIDAD Y REGULACIÓN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36</a:t>
            </a:r>
            <a:endParaRPr lang="en-US" sz="900" dirty="0"/>
          </a:p>
        </p:txBody>
      </p:sp>
      <p:sp>
        <p:nvSpPr>
          <p:cNvPr id="8" name="Shape 5"/>
          <p:cNvSpPr/>
          <p:nvPr/>
        </p:nvSpPr>
        <p:spPr>
          <a:xfrm>
            <a:off x="566928" y="1691640"/>
            <a:ext cx="11057839" cy="822960"/>
          </a:xfrm>
          <a:prstGeom prst="rect">
            <a:avLst/>
          </a:prstGeom>
          <a:solidFill>
            <a:srgbClr val="16151B"/>
          </a:solidFill>
          <a:ln w="22225">
            <a:solidFill>
              <a:srgbClr val="16151B"/>
            </a:solidFill>
            <a:prstDash val="solid"/>
          </a:ln>
        </p:spPr>
      </p:sp>
      <p:sp>
        <p:nvSpPr>
          <p:cNvPr id="9" name="Text 6"/>
          <p:cNvSpPr/>
          <p:nvPr/>
        </p:nvSpPr>
        <p:spPr>
          <a:xfrm>
            <a:off x="768096" y="1837944"/>
            <a:ext cx="10655503" cy="566928"/>
          </a:xfrm>
          <a:prstGeom prst="rect">
            <a:avLst/>
          </a:prstGeom>
          <a:noFill/>
          <a:ln/>
        </p:spPr>
        <p:txBody>
          <a:bodyPr wrap="square" lIns="0" tIns="0" rIns="0" bIns="0" rtlCol="0" anchor="t"/>
          <a:lstStyle/>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run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scripts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s16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desplegar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y</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medir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js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network</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sepolia</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run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scripts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s16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desplegar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y</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medir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js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network</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opSepolia</a:t>
            </a:r>
            <a:endParaRPr lang="en-US" sz="1150" dirty="0"/>
          </a:p>
        </p:txBody>
      </p:sp>
      <p:sp>
        <p:nvSpPr>
          <p:cNvPr id="10" name="Shape 7"/>
          <p:cNvSpPr/>
          <p:nvPr/>
        </p:nvSpPr>
        <p:spPr>
          <a:xfrm>
            <a:off x="566928" y="2651760"/>
            <a:ext cx="5669280" cy="2331720"/>
          </a:xfrm>
          <a:prstGeom prst="rect">
            <a:avLst/>
          </a:prstGeom>
          <a:solidFill>
            <a:srgbClr val="16151B"/>
          </a:solidFill>
          <a:ln w="22225">
            <a:solidFill>
              <a:srgbClr val="16151B"/>
            </a:solidFill>
            <a:prstDash val="solid"/>
          </a:ln>
        </p:spPr>
      </p:sp>
      <p:sp>
        <p:nvSpPr>
          <p:cNvPr id="11" name="Text 8"/>
          <p:cNvSpPr/>
          <p:nvPr/>
        </p:nvSpPr>
        <p:spPr>
          <a:xfrm>
            <a:off x="768096" y="2724912"/>
            <a:ext cx="5266944"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FORMA DE LA SALIDA (RED LOCAL: GAS REAL)</a:t>
            </a:r>
            <a:endParaRPr lang="en-US" sz="850" dirty="0"/>
          </a:p>
        </p:txBody>
      </p:sp>
      <p:sp>
        <p:nvSpPr>
          <p:cNvPr id="12" name="Text 9"/>
          <p:cNvSpPr/>
          <p:nvPr/>
        </p:nvSpPr>
        <p:spPr>
          <a:xfrm>
            <a:off x="768096" y="3035808"/>
            <a:ext cx="5266944" cy="1837944"/>
          </a:xfrm>
          <a:prstGeom prst="rect">
            <a:avLst/>
          </a:prstGeom>
          <a:noFill/>
          <a:ln/>
        </p:spPr>
        <p:txBody>
          <a:bodyPr wrap="square" lIns="0" tIns="0" rIns="0" bIns="0" rtlCol="0" anchor="t"/>
          <a:lstStyle/>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OPERACI</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Ó</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sellar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hash</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gas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usado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90.279</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precio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del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gas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gwei</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ejecuci</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ó</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ETH</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datos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L1</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l1Fee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ETH</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solo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OP</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Sepolia</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TOTAL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ETH</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tiempo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recibo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a:t>
            </a:r>
            <a:endParaRPr lang="en-US" sz="1050" dirty="0"/>
          </a:p>
        </p:txBody>
      </p:sp>
      <p:sp>
        <p:nvSpPr>
          <p:cNvPr id="13" name="Text 10"/>
          <p:cNvSpPr/>
          <p:nvPr/>
        </p:nvSpPr>
        <p:spPr>
          <a:xfrm>
            <a:off x="6464808" y="2651760"/>
            <a:ext cx="5159959" cy="2331720"/>
          </a:xfrm>
          <a:prstGeom prst="rect">
            <a:avLst/>
          </a:prstGeom>
          <a:noFill/>
          <a:ln/>
        </p:spPr>
        <p:txBody>
          <a:bodyPr wrap="square" lIns="0" tIns="0" rIns="0" bIns="0" rtlCol="0" anchor="t"/>
          <a:lstStyle/>
          <a:p>
            <a:pPr marL="203200" indent="-203200">
              <a:lnSpc>
                <a:spcPct val="118000"/>
              </a:lnSpc>
              <a:spcAft>
                <a:spcPts val="600"/>
              </a:spcAft>
              <a:buSzPct val="100000"/>
              <a:buChar char="■"/>
            </a:pPr>
            <a:r>
              <a:rPr lang="en-US" sz="1200" dirty="0">
                <a:solidFill>
                  <a:srgbClr val="3A3844"/>
                </a:solidFill>
                <a:latin typeface="Arial" pitchFamily="34" charset="0"/>
                <a:ea typeface="Arial" pitchFamily="34" charset="-122"/>
                <a:cs typeface="Arial" pitchFamily="34" charset="-120"/>
              </a:rPr>
              <a:t>El gas usado es CASI igual en las dos redes: es el mismo bytecode ejecutando lo mismo.</a:t>
            </a:r>
            <a:endParaRPr lang="en-US" sz="1200" dirty="0"/>
          </a:p>
          <a:p>
            <a:pPr marL="203200" indent="-203200">
              <a:lnSpc>
                <a:spcPct val="118000"/>
              </a:lnSpc>
              <a:spcAft>
                <a:spcPts val="600"/>
              </a:spcAft>
              <a:buSzPct val="100000"/>
              <a:buChar char="■"/>
            </a:pPr>
            <a:r>
              <a:rPr lang="en-US" sz="1200" dirty="0">
                <a:solidFill>
                  <a:srgbClr val="3A3844"/>
                </a:solidFill>
                <a:latin typeface="Arial" pitchFamily="34" charset="0"/>
                <a:ea typeface="Arial" pitchFamily="34" charset="-122"/>
                <a:cs typeface="Arial" pitchFamily="34" charset="-120"/>
              </a:rPr>
              <a:t>Lo que cambia es el precio del gas y, en la L2, el l1Fee.</a:t>
            </a:r>
            <a:endParaRPr lang="en-US" sz="1200" dirty="0"/>
          </a:p>
          <a:p>
            <a:pPr marL="203200" indent="-203200">
              <a:lnSpc>
                <a:spcPct val="118000"/>
              </a:lnSpc>
              <a:spcAft>
                <a:spcPts val="600"/>
              </a:spcAft>
              <a:buSzPct val="100000"/>
              <a:buChar char="■"/>
            </a:pPr>
            <a:r>
              <a:rPr lang="en-US" sz="1200" dirty="0">
                <a:solidFill>
                  <a:srgbClr val="3A3844"/>
                </a:solidFill>
                <a:latin typeface="Arial" pitchFamily="34" charset="0"/>
                <a:ea typeface="Arial" pitchFamily="34" charset="-122"/>
                <a:cs typeface="Arial" pitchFamily="34" charset="-120"/>
              </a:rPr>
              <a:t>El tiempo al recibo depende del tiempo de bloque: 12 s en Sepolia, 2 s en OP Sepolia.</a:t>
            </a:r>
            <a:endParaRPr lang="en-US" sz="1200" dirty="0"/>
          </a:p>
        </p:txBody>
      </p:sp>
      <p:sp>
        <p:nvSpPr>
          <p:cNvPr id="14" name="Text 11"/>
          <p:cNvSpPr/>
          <p:nvPr/>
        </p:nvSpPr>
        <p:spPr>
          <a:xfrm>
            <a:off x="566928" y="5166360"/>
            <a:ext cx="11057839" cy="64008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Cómo saber que terminó: cada corrida imprime una «Fila para la tabla». Con las dos filas, la tabla de C.4 se llena sola.</a:t>
            </a:r>
            <a:endParaRPr lang="en-US" sz="12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C.4 · LA TABLA COMPARATIVA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QUÉ ESPERAR, ANTES DE MEDIR</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16 · ESCALABILIDAD Y REGULACIÓN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37</a:t>
            </a:r>
            <a:endParaRPr lang="en-US" sz="9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7839" cy="914400"/>
        </p:xfrm>
        <a:graphic>
          <a:graphicData uri="http://schemas.openxmlformats.org/drawingml/2006/table">
            <a:tbl>
              <a:tblPr/>
              <a:tblGrid>
                <a:gridCol w="3931920"/>
                <a:gridCol w="3566160"/>
                <a:gridCol w="355975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SELLAR(HASH) · 90 279 GAS</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SEPOLIA (L1)</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OP SEPOLIA (L2)</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1663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Precio del gas observado hoy</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 1,075 gwei (base fee)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 0,0017 gwei</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663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Ejecución</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 0,0000971 ETH</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 0,000000153 ETH</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1663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Datos L1 (l1Fee), estimado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no aplica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 0,0000000167 ETH</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663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Total estimado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 0,0000971 ETH</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 0,00000017 ETH</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673352"/>
            <a:ext cx="11094415" cy="2414016"/>
          </a:xfrm>
          <a:prstGeom prst="rect">
            <a:avLst/>
          </a:prstGeom>
          <a:ln w="22225">
            <a:solidFill>
              <a:srgbClr val="0F0F11"/>
            </a:solidFill>
            <a:prstDash val="solid"/>
          </a:ln>
        </p:spPr>
      </p:sp>
      <p:sp>
        <p:nvSpPr>
          <p:cNvPr id="10" name="Shape 6"/>
          <p:cNvSpPr/>
          <p:nvPr/>
        </p:nvSpPr>
        <p:spPr>
          <a:xfrm>
            <a:off x="566928" y="4251960"/>
            <a:ext cx="4206240" cy="173736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1" name="Text 7"/>
          <p:cNvSpPr/>
          <p:nvPr/>
        </p:nvSpPr>
        <p:spPr>
          <a:xfrm>
            <a:off x="749808" y="4416552"/>
            <a:ext cx="3840480" cy="799186"/>
          </a:xfrm>
          <a:prstGeom prst="rect">
            <a:avLst/>
          </a:prstGeom>
          <a:noFill/>
          <a:ln/>
        </p:spPr>
        <p:txBody>
          <a:bodyPr wrap="square" lIns="0" tIns="0" rIns="0" bIns="0" rtlCol="0" anchor="ctr"/>
          <a:lstStyle/>
          <a:p>
            <a:pPr indent="0" marL="0">
              <a:buNone/>
            </a:pPr>
            <a:r>
              <a:rPr lang="en-US" sz="3600" dirty="0">
                <a:solidFill>
                  <a:srgbClr val="F07F06"/>
                </a:solidFill>
                <a:latin typeface="Arial Black" pitchFamily="34" charset="0"/>
                <a:ea typeface="Arial Black" pitchFamily="34" charset="-122"/>
                <a:cs typeface="Arial Black" pitchFamily="34" charset="-120"/>
              </a:rPr>
              <a:t>≈ 570×</a:t>
            </a:r>
            <a:endParaRPr lang="en-US" sz="3600" dirty="0"/>
          </a:p>
        </p:txBody>
      </p:sp>
      <p:sp>
        <p:nvSpPr>
          <p:cNvPr id="12" name="Text 8"/>
          <p:cNvSpPr/>
          <p:nvPr/>
        </p:nvSpPr>
        <p:spPr>
          <a:xfrm>
            <a:off x="749808" y="5259629"/>
            <a:ext cx="3840480" cy="660197"/>
          </a:xfrm>
          <a:prstGeom prst="rect">
            <a:avLst/>
          </a:prstGeom>
          <a:noFill/>
          <a:ln/>
        </p:spPr>
        <p:txBody>
          <a:bodyPr wrap="square" lIns="0" tIns="0" rIns="0" bIns="0" rtlCol="0" anchor="t"/>
          <a:lstStyle/>
          <a:p>
            <a:pPr indent="0" marL="0">
              <a:lnSpc>
                <a:spcPct val="115000"/>
              </a:lnSpc>
              <a:buNone/>
            </a:pPr>
            <a:r>
              <a:rPr lang="en-US" sz="1150" dirty="0">
                <a:solidFill>
                  <a:srgbClr val="3A3844"/>
                </a:solidFill>
                <a:latin typeface="Arial" pitchFamily="34" charset="0"/>
                <a:ea typeface="Arial" pitchFamily="34" charset="-122"/>
                <a:cs typeface="Arial" pitchFamily="34" charset="-120"/>
              </a:rPr>
              <a:t>más barato en OP Sepolia, con los precios observados hoy. El de ustedes será otro.</a:t>
            </a:r>
            <a:endParaRPr lang="en-US" sz="1150" dirty="0"/>
          </a:p>
        </p:txBody>
      </p:sp>
      <p:sp>
        <p:nvSpPr>
          <p:cNvPr id="13" name="Shape 9"/>
          <p:cNvSpPr/>
          <p:nvPr/>
        </p:nvSpPr>
        <p:spPr>
          <a:xfrm>
            <a:off x="5001768" y="4251960"/>
            <a:ext cx="6622999" cy="173736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4" name="Image 1" descr="preencoded.png">    </p:cNvPr>
          <p:cNvPicPr>
            <a:picLocks noChangeAspect="1"/>
          </p:cNvPicPr>
          <p:nvPr/>
        </p:nvPicPr>
        <p:blipFill>
          <a:blip r:embed="rId2"/>
          <a:stretch>
            <a:fillRect/>
          </a:stretch>
        </p:blipFill>
        <p:spPr>
          <a:xfrm>
            <a:off x="5239512" y="4471416"/>
            <a:ext cx="237744" cy="237744"/>
          </a:xfrm>
          <a:prstGeom prst="rect">
            <a:avLst/>
          </a:prstGeom>
        </p:spPr>
      </p:pic>
      <p:sp>
        <p:nvSpPr>
          <p:cNvPr id="15" name="Text 10"/>
          <p:cNvSpPr/>
          <p:nvPr/>
        </p:nvSpPr>
        <p:spPr>
          <a:xfrm>
            <a:off x="5568696" y="4443984"/>
            <a:ext cx="580003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NO GENERALIZAR</a:t>
            </a:r>
            <a:endParaRPr lang="en-US" sz="950" dirty="0"/>
          </a:p>
        </p:txBody>
      </p:sp>
      <p:sp>
        <p:nvSpPr>
          <p:cNvPr id="16" name="Text 11"/>
          <p:cNvSpPr/>
          <p:nvPr/>
        </p:nvSpPr>
        <p:spPr>
          <a:xfrm>
            <a:off x="5239512" y="4764024"/>
            <a:ext cx="6147511" cy="1133856"/>
          </a:xfrm>
          <a:prstGeom prst="rect">
            <a:avLst/>
          </a:prstGeom>
          <a:noFill/>
          <a:ln/>
        </p:spPr>
        <p:txBody>
          <a:bodyPr wrap="square" lIns="0" tIns="0" rIns="0" bIns="0" rtlCol="0" anchor="t"/>
          <a:lstStyle/>
          <a:p>
            <a:pPr indent="0" marL="0">
              <a:lnSpc>
                <a:spcPct val="124000"/>
              </a:lnSpc>
              <a:buNone/>
            </a:pPr>
            <a:r>
              <a:rPr lang="en-US" sz="1200" dirty="0">
                <a:solidFill>
                  <a:srgbClr val="3A3844"/>
                </a:solidFill>
                <a:latin typeface="Arial" pitchFamily="34" charset="0"/>
                <a:ea typeface="Arial" pitchFamily="34" charset="-122"/>
                <a:cs typeface="Arial" pitchFamily="34" charset="-120"/>
              </a:rPr>
              <a:t>Son redes de PRUEBA: sus precios no reflejan los de mainnet. Lo que sí se generaliza es la estructura: el gas es igual, el precio no, y la L2 suma un costo de datos L1.</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C.5 · ERRORES FRECUENTES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LO QUE ATASCA A CASI TODOS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16 · ESCALABILIDAD Y REGULACIÓN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38</a:t>
            </a:r>
            <a:endParaRPr lang="en-US" sz="9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7839" cy="914400"/>
        </p:xfrm>
        <a:graphic>
          <a:graphicData uri="http://schemas.openxmlformats.org/drawingml/2006/table">
            <a:tbl>
              <a:tblPr/>
              <a:tblGrid>
                <a:gridCol w="4206240"/>
                <a:gridCol w="685159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SÍNTOMA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CAUSA Y SOLUCIÓN</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8732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«Sin saldo en esta red» en opSepolia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ETH está en Sepolia, no en OP Sepolia. Faucet de OP Sepolia o puente (C.2).</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8732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HHE… configuration variable OP_SEPOLIA_RPC_URL</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Falta en el keystore: npx hardhat keystore set OP_SEPOLIA_RPC_URL.</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8732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Envió ETH al puente y no llega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Esperar 1-3 minutos y revisar el explorador de OP Sepolia con la MISMA dirección.</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8732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«rate limit» o 429 con el RPC público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nodo público limita. Usar una URL de Alchemy o Infura para OP Sepolia en el keystore.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8732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l1Fee aparece como «no aplica»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Corrieron sin --network opSepolia: están en Sepolia o en la red local.</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8732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El total de la L2 da 0,0</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Leyeron gasUsed × gasPrice redondeado. El script imprime la cifra completa en ETH: no redondeen.</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673352"/>
            <a:ext cx="11094415" cy="4471416"/>
          </a:xfrm>
          <a:prstGeom prst="rect">
            <a:avLst/>
          </a:prstGeom>
          <a:ln w="22225">
            <a:solidFill>
              <a:srgbClr val="0F0F11"/>
            </a:solidFill>
            <a:prstDash val="solid"/>
          </a:ln>
        </p:spPr>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C.6 · TALLER REGULATORIO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EL ANÁLISIS LEGAL DEL PROYECTO PROPIO</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16 · ESCALABILIDAD Y REGULACIÓN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39</a:t>
            </a:r>
            <a:endParaRPr lang="en-US" sz="900" dirty="0"/>
          </a:p>
        </p:txBody>
      </p:sp>
      <p:sp>
        <p:nvSpPr>
          <p:cNvPr id="8" name="Text 5"/>
          <p:cNvSpPr/>
          <p:nvPr/>
        </p:nvSpPr>
        <p:spPr>
          <a:xfrm>
            <a:off x="566928" y="1691640"/>
            <a:ext cx="11057839" cy="59436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En equipos, 20 minutos, con la plantilla de la guía. No es un ejercicio abstracto: es lo que habría que resolver para sacar SU proyecto a producción en Colombia.</a:t>
            </a:r>
            <a:endParaRPr lang="en-US" sz="13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66928" y="2377440"/>
          <a:ext cx="11057839" cy="914400"/>
        </p:xfrm>
        <a:graphic>
          <a:graphicData uri="http://schemas.openxmlformats.org/drawingml/2006/table">
            <a:tbl>
              <a:tblPr/>
              <a:tblGrid>
                <a:gridCol w="6949440"/>
                <a:gridCol w="410839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PREGUNTA DE LA PLANTILLA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NORMA QUE LA RESPONDE (BLOQUE B)</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96189">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¿Nuestro proyecto intercambia, custodia o transfiere activos virtuales por cuenta de otros? ¿Seríamos PSAV?</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UIAF · Resolución 314 de 2021</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96189">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¿Nuestros usuarios obtienen ganancias con un token? ¿Qué declaran? ¿Reportaríamos?</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DIAN · Concepto 018075 de 2023 · Resolución 000240 de 2025</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96189">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¿Nuestro token podría verse como producto financiero o valor?</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SFC · Cartas Circulares; Ley 964 de 2005</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96189">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¿Qué datos personales tocamos y dónde viven? ¿Cómo cumplimos la supresión?</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Ley 1581 de 2012 (Sesión 15)</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96189">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¿El «contrato» de nuestro proyecto tiene efecto jurídico, o solo automatiza?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B.8: pregunta abierta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0" name="Shape 6"/>
          <p:cNvSpPr/>
          <p:nvPr/>
        </p:nvSpPr>
        <p:spPr>
          <a:xfrm>
            <a:off x="548640" y="2359152"/>
            <a:ext cx="11094415" cy="3328416"/>
          </a:xfrm>
          <a:prstGeom prst="rect">
            <a:avLst/>
          </a:prstGeom>
          <a:ln w="22225">
            <a:solidFill>
              <a:srgbClr val="0F0F11"/>
            </a:solidFill>
            <a:prstDash val="solid"/>
          </a:ln>
        </p:spPr>
      </p:sp>
      <p:sp>
        <p:nvSpPr>
          <p:cNvPr id="11" name="Text 7"/>
          <p:cNvSpPr/>
          <p:nvPr/>
        </p:nvSpPr>
        <p:spPr>
          <a:xfrm>
            <a:off x="566928" y="5760720"/>
            <a:ext cx="11057839" cy="41148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Se entrega con el laboratorio. Alimenta la sustentación del Demo Day y, para muchos, el ensayo.</a:t>
            </a:r>
            <a:endParaRPr lang="en-US" sz="12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C.7 · ENTREGA DEL LABORATORIO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QUÉ SE ENTREGA Y CÓMO SE CALIFICA</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16 · ESCALABILIDAD Y REGULACIÓN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40</a:t>
            </a:r>
            <a:endParaRPr lang="en-US" sz="9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9229039"/>
                <a:gridCol w="1828800"/>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EVIDENCIA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PESO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8521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SelloTiempo desplegado en Sepolia y en OP Sepolia: direcciones y hashes verificables en los exploradores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30 %</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8521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Tabla comparativa llenada con las dos «filas» del script, incluido el l1Fee</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25 %</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8521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Respuestas de análisis (guía, sección 8) con SUS números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20 %</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8521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Plantilla del taller regulatorio del proyecto propio, con normas citadas y fecha de consulta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25 %</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2688336"/>
          </a:xfrm>
          <a:prstGeom prst="rect">
            <a:avLst/>
          </a:prstGeom>
          <a:ln w="22225">
            <a:solidFill>
              <a:srgbClr val="0F0F11"/>
            </a:solidFill>
            <a:prstDash val="solid"/>
          </a:ln>
        </p:spPr>
      </p:sp>
      <p:sp>
        <p:nvSpPr>
          <p:cNvPr id="10" name="Shape 6"/>
          <p:cNvSpPr/>
          <p:nvPr/>
        </p:nvSpPr>
        <p:spPr>
          <a:xfrm>
            <a:off x="566928" y="4617720"/>
            <a:ext cx="11057839" cy="150876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1" name="Image 1" descr="preencoded.png">    </p:cNvPr>
          <p:cNvPicPr>
            <a:picLocks noChangeAspect="1"/>
          </p:cNvPicPr>
          <p:nvPr/>
        </p:nvPicPr>
        <p:blipFill>
          <a:blip r:embed="rId2"/>
          <a:stretch>
            <a:fillRect/>
          </a:stretch>
        </p:blipFill>
        <p:spPr>
          <a:xfrm>
            <a:off x="804672" y="4837176"/>
            <a:ext cx="237744" cy="237744"/>
          </a:xfrm>
          <a:prstGeom prst="rect">
            <a:avLst/>
          </a:prstGeom>
        </p:spPr>
      </p:pic>
      <p:sp>
        <p:nvSpPr>
          <p:cNvPr id="12" name="Text 7"/>
          <p:cNvSpPr/>
          <p:nvPr/>
        </p:nvSpPr>
        <p:spPr>
          <a:xfrm>
            <a:off x="1133856" y="480974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DÓNDE ESTÁ TODO</a:t>
            </a:r>
            <a:endParaRPr lang="en-US" sz="950" dirty="0"/>
          </a:p>
        </p:txBody>
      </p:sp>
      <p:sp>
        <p:nvSpPr>
          <p:cNvPr id="13" name="Text 8"/>
          <p:cNvSpPr/>
          <p:nvPr/>
        </p:nvSpPr>
        <p:spPr>
          <a:xfrm>
            <a:off x="804672" y="5129784"/>
            <a:ext cx="10582351" cy="90525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Guía paso a paso: laboratorios-evm/guias/s16-capa2-comparativa.pdf (faucets, puente, keystore, script, tabla y plantilla del taller). Se entrega en el repositorio del equipo antes de la Sesión 17. Sin direcciones verificables en las dos redes, el laboratorio no se califica.</a:t>
            </a:r>
            <a:endParaRPr lang="en-US" sz="12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D</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20 MINUTOS · 10 % DE LA NOTA FINAL</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AVANCE 2 · LA DAPP INTEGRADA</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El proyecto deja de ser contratos sueltos: una interfaz conectada que ejecuta el flujo principal de punta a punta en Sepolia.</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16 · ESCALABILIDAD Y REGULACIÓN</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D.1 · QUÉ SE ENTREGA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AVANCE 2: EL CORTE VERTICAL FUNCIONANDO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16 · ESCALABILIDAD Y REGULACIÓN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42</a:t>
            </a:r>
            <a:endParaRPr lang="en-US" sz="9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7839" cy="914400"/>
        </p:xfrm>
        <a:graphic>
          <a:graphicData uri="http://schemas.openxmlformats.org/drawingml/2006/table">
            <a:tbl>
              <a:tblPr/>
              <a:tblGrid>
                <a:gridCol w="2743200"/>
                <a:gridCol w="83146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COMPONENTE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REQUISITO MÍNIMO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23621">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Frontend conectado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Conecta la billetera, detecta la red (Sepolia) y lee y escribe en SUS contratos verificados.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23621">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Flujo completo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caso de uso principal funciona de punta a punta: acción del usuario → transacción → resultado visible.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23621">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Estados de transacción</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Esperando firma, pendiente, confirmada; y los cuatro errores de la S12: red equivocada, sin billetera, rechazo, revertida.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23621">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Metadata en IPFS (si aplica)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Si hay NFT, el tokenURI apunta a IPFS y la imagen se ve en la interfaz.</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23621">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Repositorio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README con cómo correrlo, direcciones de contratos y etiqueta git v0.2-avance-2.</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673352"/>
            <a:ext cx="11094415" cy="3465576"/>
          </a:xfrm>
          <a:prstGeom prst="rect">
            <a:avLst/>
          </a:prstGeom>
          <a:ln w="22225">
            <a:solidFill>
              <a:srgbClr val="0F0F11"/>
            </a:solidFill>
            <a:prstDash val="solid"/>
          </a:ln>
        </p:spPr>
      </p:sp>
      <p:sp>
        <p:nvSpPr>
          <p:cNvPr id="10" name="Text 6"/>
          <p:cNvSpPr/>
          <p:nvPr/>
        </p:nvSpPr>
        <p:spPr>
          <a:xfrm>
            <a:off x="566928" y="5303520"/>
            <a:ext cx="11057839" cy="45720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Peso: 10 % de la nota final. Mejor UN flujo completo y sólido que cinco a medias.</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D.2 · CÓMO SE DEMUESTRA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TRES MINUTOS EN VIVO, Y UN VIDEO DE RESPALDO</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16 · ESCALABILIDAD Y REGULACIÓN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43</a:t>
            </a:r>
            <a:endParaRPr lang="en-US" sz="900" dirty="0"/>
          </a:p>
        </p:txBody>
      </p:sp>
      <p:sp>
        <p:nvSpPr>
          <p:cNvPr id="8" name="Shape 5"/>
          <p:cNvSpPr/>
          <p:nvPr/>
        </p:nvSpPr>
        <p:spPr>
          <a:xfrm>
            <a:off x="566928" y="1691640"/>
            <a:ext cx="11057839" cy="713232"/>
          </a:xfrm>
          <a:prstGeom prst="rect">
            <a:avLst/>
          </a:prstGeom>
          <a:solidFill>
            <a:srgbClr val="FFFFFF"/>
          </a:solidFill>
          <a:ln w="15875">
            <a:solidFill>
              <a:srgbClr val="D9D6E0"/>
            </a:solidFill>
            <a:prstDash val="solid"/>
          </a:ln>
        </p:spPr>
      </p:sp>
      <p:sp>
        <p:nvSpPr>
          <p:cNvPr id="9" name="Text 6"/>
          <p:cNvSpPr/>
          <p:nvPr/>
        </p:nvSpPr>
        <p:spPr>
          <a:xfrm>
            <a:off x="694944" y="1691640"/>
            <a:ext cx="548640" cy="71323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901952"/>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ABRIR</a:t>
            </a:r>
            <a:endParaRPr lang="en-US" sz="1000" dirty="0"/>
          </a:p>
        </p:txBody>
      </p:sp>
      <p:sp>
        <p:nvSpPr>
          <p:cNvPr id="11" name="Text 8"/>
          <p:cNvSpPr/>
          <p:nvPr/>
        </p:nvSpPr>
        <p:spPr>
          <a:xfrm>
            <a:off x="3657600" y="1783080"/>
            <a:ext cx="7857439" cy="56692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La dApp en el navegador, billetera del curso, red Sepolia.</a:t>
            </a:r>
            <a:endParaRPr lang="en-US" sz="1250" dirty="0"/>
          </a:p>
        </p:txBody>
      </p:sp>
      <p:sp>
        <p:nvSpPr>
          <p:cNvPr id="12" name="Shape 9"/>
          <p:cNvSpPr/>
          <p:nvPr/>
        </p:nvSpPr>
        <p:spPr>
          <a:xfrm>
            <a:off x="566928" y="2496312"/>
            <a:ext cx="11057839" cy="713232"/>
          </a:xfrm>
          <a:prstGeom prst="rect">
            <a:avLst/>
          </a:prstGeom>
          <a:solidFill>
            <a:srgbClr val="FAF9FB"/>
          </a:solidFill>
          <a:ln w="15875">
            <a:solidFill>
              <a:srgbClr val="D9D6E0"/>
            </a:solidFill>
            <a:prstDash val="solid"/>
          </a:ln>
        </p:spPr>
      </p:sp>
      <p:sp>
        <p:nvSpPr>
          <p:cNvPr id="13" name="Text 10"/>
          <p:cNvSpPr/>
          <p:nvPr/>
        </p:nvSpPr>
        <p:spPr>
          <a:xfrm>
            <a:off x="694944" y="2496312"/>
            <a:ext cx="548640" cy="71323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706624"/>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EJECUTAR</a:t>
            </a:r>
            <a:endParaRPr lang="en-US" sz="1000" dirty="0"/>
          </a:p>
        </p:txBody>
      </p:sp>
      <p:sp>
        <p:nvSpPr>
          <p:cNvPr id="15" name="Text 12"/>
          <p:cNvSpPr/>
          <p:nvPr/>
        </p:nvSpPr>
        <p:spPr>
          <a:xfrm>
            <a:off x="3657600" y="2587752"/>
            <a:ext cx="7857439" cy="56692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El flujo principal completo, en vivo: firmar, esperar, ver el resultado en la interfaz.</a:t>
            </a:r>
            <a:endParaRPr lang="en-US" sz="1250" dirty="0"/>
          </a:p>
        </p:txBody>
      </p:sp>
      <p:sp>
        <p:nvSpPr>
          <p:cNvPr id="16" name="Shape 13"/>
          <p:cNvSpPr/>
          <p:nvPr/>
        </p:nvSpPr>
        <p:spPr>
          <a:xfrm>
            <a:off x="566928" y="3300984"/>
            <a:ext cx="11057839" cy="713232"/>
          </a:xfrm>
          <a:prstGeom prst="rect">
            <a:avLst/>
          </a:prstGeom>
          <a:solidFill>
            <a:srgbClr val="FFFFFF"/>
          </a:solidFill>
          <a:ln w="15875">
            <a:solidFill>
              <a:srgbClr val="D9D6E0"/>
            </a:solidFill>
            <a:prstDash val="solid"/>
          </a:ln>
        </p:spPr>
      </p:sp>
      <p:sp>
        <p:nvSpPr>
          <p:cNvPr id="17" name="Text 14"/>
          <p:cNvSpPr/>
          <p:nvPr/>
        </p:nvSpPr>
        <p:spPr>
          <a:xfrm>
            <a:off x="694944" y="3300984"/>
            <a:ext cx="548640" cy="71323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511296"/>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VERIFICAR</a:t>
            </a:r>
            <a:endParaRPr lang="en-US" sz="1000" dirty="0"/>
          </a:p>
        </p:txBody>
      </p:sp>
      <p:sp>
        <p:nvSpPr>
          <p:cNvPr id="19" name="Text 16"/>
          <p:cNvSpPr/>
          <p:nvPr/>
        </p:nvSpPr>
        <p:spPr>
          <a:xfrm>
            <a:off x="3657600" y="3392424"/>
            <a:ext cx="7857439" cy="56692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Abrir el hash de esa transacción en el explorador: la cadena confirma lo que muestra la interfaz.</a:t>
            </a:r>
            <a:endParaRPr lang="en-US" sz="1250" dirty="0"/>
          </a:p>
        </p:txBody>
      </p:sp>
      <p:sp>
        <p:nvSpPr>
          <p:cNvPr id="20" name="Shape 17"/>
          <p:cNvSpPr/>
          <p:nvPr/>
        </p:nvSpPr>
        <p:spPr>
          <a:xfrm>
            <a:off x="566928" y="4105656"/>
            <a:ext cx="11057839" cy="713232"/>
          </a:xfrm>
          <a:prstGeom prst="rect">
            <a:avLst/>
          </a:prstGeom>
          <a:solidFill>
            <a:srgbClr val="FAF9FB"/>
          </a:solidFill>
          <a:ln w="15875">
            <a:solidFill>
              <a:srgbClr val="D9D6E0"/>
            </a:solidFill>
            <a:prstDash val="solid"/>
          </a:ln>
        </p:spPr>
      </p:sp>
      <p:sp>
        <p:nvSpPr>
          <p:cNvPr id="21" name="Text 18"/>
          <p:cNvSpPr/>
          <p:nvPr/>
        </p:nvSpPr>
        <p:spPr>
          <a:xfrm>
            <a:off x="694944" y="4105656"/>
            <a:ext cx="548640" cy="71323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315968"/>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PROVOCAR UN ERROR</a:t>
            </a:r>
            <a:endParaRPr lang="en-US" sz="1000" dirty="0"/>
          </a:p>
        </p:txBody>
      </p:sp>
      <p:sp>
        <p:nvSpPr>
          <p:cNvPr id="23" name="Text 20"/>
          <p:cNvSpPr/>
          <p:nvPr/>
        </p:nvSpPr>
        <p:spPr>
          <a:xfrm>
            <a:off x="3657600" y="4197096"/>
            <a:ext cx="7857439" cy="56692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Rechazar una firma o cambiar de red: la interfaz lo explica sin romperse.</a:t>
            </a:r>
            <a:endParaRPr lang="en-US" sz="1250" dirty="0"/>
          </a:p>
        </p:txBody>
      </p:sp>
      <p:sp>
        <p:nvSpPr>
          <p:cNvPr id="24" name="Shape 21"/>
          <p:cNvSpPr/>
          <p:nvPr/>
        </p:nvSpPr>
        <p:spPr>
          <a:xfrm>
            <a:off x="566928" y="5029200"/>
            <a:ext cx="11057839" cy="109728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25" name="Image 1" descr="preencoded.png">    </p:cNvPr>
          <p:cNvPicPr>
            <a:picLocks noChangeAspect="1"/>
          </p:cNvPicPr>
          <p:nvPr/>
        </p:nvPicPr>
        <p:blipFill>
          <a:blip r:embed="rId2"/>
          <a:stretch>
            <a:fillRect/>
          </a:stretch>
        </p:blipFill>
        <p:spPr>
          <a:xfrm>
            <a:off x="804672" y="5248656"/>
            <a:ext cx="237744" cy="237744"/>
          </a:xfrm>
          <a:prstGeom prst="rect">
            <a:avLst/>
          </a:prstGeom>
        </p:spPr>
      </p:pic>
      <p:sp>
        <p:nvSpPr>
          <p:cNvPr id="26" name="Text 22"/>
          <p:cNvSpPr/>
          <p:nvPr/>
        </p:nvSpPr>
        <p:spPr>
          <a:xfrm>
            <a:off x="1133856" y="522122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SI LA DEMO EN VIVO FALLA</a:t>
            </a:r>
            <a:endParaRPr lang="en-US" sz="950" dirty="0"/>
          </a:p>
        </p:txBody>
      </p:sp>
      <p:sp>
        <p:nvSpPr>
          <p:cNvPr id="27" name="Text 23"/>
          <p:cNvSpPr/>
          <p:nvPr/>
        </p:nvSpPr>
        <p:spPr>
          <a:xfrm>
            <a:off x="804672" y="5541264"/>
            <a:ext cx="10582351" cy="49377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Se muestra el video de respaldo de 3 minutos (el mismo que exige el Demo Day) y se agenda una revisión en horario de atención antes de la S17. Nunca con dinero real, nunca con la billetera personal.</a:t>
            </a:r>
            <a:endParaRPr lang="en-US" sz="12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TRABAJO AUTÓNOMO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LA PREGUNTA DE LA SEMANA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16 · ESCALABILIDAD Y REGULACIÓN</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44</a:t>
            </a:r>
            <a:endParaRPr lang="en-US" sz="900" dirty="0"/>
          </a:p>
        </p:txBody>
      </p:sp>
      <p:sp>
        <p:nvSpPr>
          <p:cNvPr id="8" name="Shape 5"/>
          <p:cNvSpPr/>
          <p:nvPr/>
        </p:nvSpPr>
        <p:spPr>
          <a:xfrm>
            <a:off x="566928" y="1737360"/>
            <a:ext cx="11057839" cy="160020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950976" y="1920240"/>
            <a:ext cx="10289743" cy="1234440"/>
          </a:xfrm>
          <a:prstGeom prst="rect">
            <a:avLst/>
          </a:prstGeom>
          <a:noFill/>
          <a:ln/>
        </p:spPr>
        <p:txBody>
          <a:bodyPr wrap="square" lIns="0" tIns="0" rIns="0" bIns="0" rtlCol="0" anchor="ctr"/>
          <a:lstStyle/>
          <a:p>
            <a:pPr indent="0" marL="0">
              <a:lnSpc>
                <a:spcPct val="106000"/>
              </a:lnSpc>
              <a:buNone/>
            </a:pPr>
            <a:r>
              <a:rPr lang="en-US" sz="2000" dirty="0">
                <a:solidFill>
                  <a:srgbClr val="0F0F11"/>
                </a:solidFill>
                <a:latin typeface="Arial Black" pitchFamily="34" charset="0"/>
                <a:ea typeface="Arial Black" pitchFamily="34" charset="-122"/>
                <a:cs typeface="Arial Black" pitchFamily="34" charset="-120"/>
              </a:rPr>
              <a:t>Para su proyecto en Colombia: nombren la obligación legal que MÁS les costaría cumplir. ¿La cumplirían, o rediseñarían el proyecto para no tenerla?</a:t>
            </a:r>
            <a:endParaRPr lang="en-US" sz="2000" dirty="0"/>
          </a:p>
        </p:txBody>
      </p:sp>
      <p:sp>
        <p:nvSpPr>
          <p:cNvPr id="10" name="Text 7"/>
          <p:cNvSpPr/>
          <p:nvPr/>
        </p:nvSpPr>
        <p:spPr>
          <a:xfrm>
            <a:off x="566928" y="3611880"/>
            <a:ext cx="7315200" cy="292608"/>
          </a:xfrm>
          <a:prstGeom prst="rect">
            <a:avLst/>
          </a:prstGeom>
          <a:noFill/>
          <a:ln/>
        </p:spPr>
        <p:txBody>
          <a:bodyPr wrap="square" lIns="0" tIns="0" rIns="0" bIns="0" rtlCol="0" anchor="ctr"/>
          <a:lstStyle/>
          <a:p>
            <a:pPr indent="0" marL="0">
              <a:buNone/>
            </a:pPr>
            <a:r>
              <a:rPr lang="en-US" sz="1050" b="1" spc="130" kern="0" dirty="0">
                <a:solidFill>
                  <a:srgbClr val="6F6B80"/>
                </a:solidFill>
                <a:latin typeface="Courier New" pitchFamily="34" charset="0"/>
                <a:ea typeface="Courier New" pitchFamily="34" charset="-122"/>
                <a:cs typeface="Courier New" pitchFamily="34" charset="-120"/>
              </a:rPr>
              <a:t>PARA LA PRÓXIMA SESIÓN</a:t>
            </a:r>
            <a:endParaRPr lang="en-US" sz="1050" dirty="0"/>
          </a:p>
        </p:txBody>
      </p:sp>
      <p:sp>
        <p:nvSpPr>
          <p:cNvPr id="11" name="Text 8"/>
          <p:cNvSpPr/>
          <p:nvPr/>
        </p:nvSpPr>
        <p:spPr>
          <a:xfrm>
            <a:off x="566928" y="3977640"/>
            <a:ext cx="11057839" cy="2148840"/>
          </a:xfrm>
          <a:prstGeom prst="rect">
            <a:avLst/>
          </a:prstGeom>
          <a:noFill/>
          <a:ln/>
        </p:spPr>
        <p:txBody>
          <a:bodyPr wrap="square" lIns="0" tIns="0" rIns="0" bIns="0" rtlCol="0" anchor="t"/>
          <a:lstStyle/>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Laboratorio 16: despliegue en dos redes, tabla, análisis y plantilla del taller (guía PDF).</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Demo Day (S17): sustentación de 15 min + 5 de preguntas; ensayar con cronómetro.</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Ensayo individual (RA7): entrega en la S17, con la declaración de uso de IA.</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Video demo de respaldo de 3 minutos y repositorio final con README reproducible.</a:t>
            </a:r>
            <a:endParaRPr lang="en-US" sz="13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F07F06"/>
          </a:solidFill>
          <a:ln w="12700">
            <a:solidFill>
              <a:srgbClr val="333333"/>
            </a:solidFill>
            <a:prstDash val="solid"/>
          </a:ln>
        </p:spPr>
      </p:sp>
      <p:pic>
        <p:nvPicPr>
          <p:cNvPr id="3" name="Image 0" descr="preencoded.png">    </p:cNvPr>
          <p:cNvPicPr>
            <a:picLocks noChangeAspect="1"/>
          </p:cNvPicPr>
          <p:nvPr/>
        </p:nvPicPr>
        <p:blipFill>
          <a:blip r:embed="rId1"/>
          <a:stretch>
            <a:fillRect/>
          </a:stretch>
        </p:blipFill>
        <p:spPr>
          <a:xfrm>
            <a:off x="566928" y="1234440"/>
            <a:ext cx="457200" cy="457200"/>
          </a:xfrm>
          <a:prstGeom prst="rect">
            <a:avLst/>
          </a:prstGeom>
        </p:spPr>
      </p:pic>
      <p:sp>
        <p:nvSpPr>
          <p:cNvPr id="4" name="Text 1"/>
          <p:cNvSpPr/>
          <p:nvPr/>
        </p:nvSpPr>
        <p:spPr>
          <a:xfrm>
            <a:off x="566928" y="1874520"/>
            <a:ext cx="11057839" cy="457200"/>
          </a:xfrm>
          <a:prstGeom prst="rect">
            <a:avLst/>
          </a:prstGeom>
          <a:noFill/>
          <a:ln/>
        </p:spPr>
        <p:txBody>
          <a:bodyPr wrap="square" lIns="0" tIns="0" rIns="0" bIns="0" rtlCol="0" anchor="ctr"/>
          <a:lstStyle/>
          <a:p>
            <a:pPr indent="0" marL="0">
              <a:buNone/>
            </a:pPr>
            <a:r>
              <a:rPr lang="en-US" sz="1150" spc="180" kern="0" dirty="0">
                <a:solidFill>
                  <a:srgbClr val="F07F06"/>
                </a:solidFill>
                <a:latin typeface="Courier New" pitchFamily="34" charset="0"/>
                <a:ea typeface="Courier New" pitchFamily="34" charset="-122"/>
                <a:cs typeface="Courier New" pitchFamily="34" charset="-120"/>
              </a:rPr>
              <a:t>LO QUE SE LLEVAN DE HOY</a:t>
            </a:r>
            <a:endParaRPr lang="en-US" sz="1150" dirty="0"/>
          </a:p>
        </p:txBody>
      </p:sp>
      <p:sp>
        <p:nvSpPr>
          <p:cNvPr id="5" name="Text 2"/>
          <p:cNvSpPr/>
          <p:nvPr/>
        </p:nvSpPr>
        <p:spPr>
          <a:xfrm>
            <a:off x="566928" y="2377440"/>
            <a:ext cx="11057839" cy="1874520"/>
          </a:xfrm>
          <a:prstGeom prst="rect">
            <a:avLst/>
          </a:prstGeom>
          <a:noFill/>
          <a:ln/>
        </p:spPr>
        <p:txBody>
          <a:bodyPr wrap="square" lIns="0" tIns="0" rIns="0" bIns="0" rtlCol="0" anchor="t"/>
          <a:lstStyle/>
          <a:p>
            <a:pPr indent="0" marL="0">
              <a:lnSpc>
                <a:spcPct val="100000"/>
              </a:lnSpc>
              <a:buNone/>
            </a:pPr>
            <a:r>
              <a:rPr lang="en-US" sz="3600" dirty="0">
                <a:solidFill>
                  <a:srgbClr val="FFFFFF"/>
                </a:solidFill>
                <a:latin typeface="Arial Black" pitchFamily="34" charset="0"/>
                <a:ea typeface="Arial Black" pitchFamily="34" charset="-122"/>
                <a:cs typeface="Arial Black" pitchFamily="34" charset="-120"/>
              </a:rPr>
              <a:t>Una solución técnica perfecta puede ser ilegal o impagable. Saberlo es parte de saber construir.</a:t>
            </a:r>
            <a:endParaRPr lang="en-US" sz="3600" dirty="0"/>
          </a:p>
        </p:txBody>
      </p:sp>
      <p:sp>
        <p:nvSpPr>
          <p:cNvPr id="6" name="Text 3"/>
          <p:cNvSpPr/>
          <p:nvPr/>
        </p:nvSpPr>
        <p:spPr>
          <a:xfrm>
            <a:off x="566928" y="4343400"/>
            <a:ext cx="9960559" cy="822960"/>
          </a:xfrm>
          <a:prstGeom prst="rect">
            <a:avLst/>
          </a:prstGeom>
          <a:noFill/>
          <a:ln/>
        </p:spPr>
        <p:txBody>
          <a:bodyPr wrap="square" lIns="0" tIns="0" rIns="0" bIns="0" rtlCol="0" anchor="t"/>
          <a:lstStyle/>
          <a:p>
            <a:pPr indent="0" marL="0">
              <a:lnSpc>
                <a:spcPct val="125000"/>
              </a:lnSpc>
              <a:buNone/>
            </a:pPr>
            <a:r>
              <a:rPr lang="en-US" sz="1500" dirty="0">
                <a:solidFill>
                  <a:srgbClr val="B9B4C4"/>
                </a:solidFill>
                <a:latin typeface="Arial" pitchFamily="34" charset="0"/>
                <a:ea typeface="Arial" pitchFamily="34" charset="-122"/>
                <a:cs typeface="Arial" pitchFamily="34" charset="-120"/>
              </a:rPr>
              <a:t>Ya está todo: el mecanismo, el código, la seguridad, la interfaz, el gobierno, la escala y el contexto. Lo que queda es mostrarlo y defenderlo.</a:t>
            </a:r>
            <a:endParaRPr lang="en-US" sz="1500" dirty="0"/>
          </a:p>
        </p:txBody>
      </p:sp>
      <p:sp>
        <p:nvSpPr>
          <p:cNvPr id="7" name="Shape 4"/>
          <p:cNvSpPr/>
          <p:nvPr/>
        </p:nvSpPr>
        <p:spPr>
          <a:xfrm>
            <a:off x="566928" y="5349240"/>
            <a:ext cx="11057839" cy="685800"/>
          </a:xfrm>
          <a:prstGeom prst="rect">
            <a:avLst/>
          </a:prstGeom>
          <a:solidFill>
            <a:srgbClr val="1C1B21"/>
          </a:solidFill>
          <a:ln w="12700">
            <a:solidFill>
              <a:srgbClr val="343240"/>
            </a:solidFill>
            <a:prstDash val="solid"/>
          </a:ln>
        </p:spPr>
      </p:sp>
      <p:sp>
        <p:nvSpPr>
          <p:cNvPr id="8" name="Text 5"/>
          <p:cNvSpPr/>
          <p:nvPr/>
        </p:nvSpPr>
        <p:spPr>
          <a:xfrm>
            <a:off x="841248" y="5349240"/>
            <a:ext cx="10509199" cy="685800"/>
          </a:xfrm>
          <a:prstGeom prst="rect">
            <a:avLst/>
          </a:prstGeom>
          <a:noFill/>
          <a:ln/>
        </p:spPr>
        <p:txBody>
          <a:bodyPr wrap="square" lIns="0" tIns="0" rIns="0" bIns="0" rtlCol="0" anchor="ctr"/>
          <a:lstStyle/>
          <a:p>
            <a:pPr indent="0" marL="0">
              <a:buNone/>
            </a:pPr>
            <a:r>
              <a:rPr lang="en-US" sz="1100" spc="120" kern="0" dirty="0">
                <a:solidFill>
                  <a:srgbClr val="F07F06"/>
                </a:solidFill>
                <a:latin typeface="Courier New" pitchFamily="34" charset="0"/>
                <a:ea typeface="Courier New" pitchFamily="34" charset="-122"/>
                <a:cs typeface="Courier New" pitchFamily="34" charset="-120"/>
              </a:rPr>
              <a:t>SESIÓN 17 · DEMO DAY · SUSTENTACIÓN DE PROYECTOS Y CIERRE DEL CURSO</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Sesión 16 · Capa 2, puentes y marco regulatorio</dc:title>
  <dc:subject>Sesión 16 · Capa 2, puentes y marco regulatorio</dc:subject>
  <dc:creator>Universidad de San Buenaventura Medellín</dc:creator>
  <cp:lastModifiedBy>Universidad de San Buenaventura Medellín</cp:lastModifiedBy>
  <cp:revision>1</cp:revision>
  <dcterms:created xsi:type="dcterms:W3CDTF">2026-09-18T01:08:19Z</dcterms:created>
  <dcterms:modified xsi:type="dcterms:W3CDTF">2026-09-18T01:08:19Z</dcterms:modified>
</cp:coreProperties>
</file>