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Abran con la pregunta de la semana de la S11 (5 min): ¿dónde vivía la imagen del NFT famoso que eligieron? Luego el gancho: lo nuevo hoy no es HTML ni React; es hablar con la cadena y aceptar que una transacción NO es instantánea ni siempre exitosa.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 + 85 + 20 = 170, más 10 de pausa entre A y B. El laboratorio va SIN herramientas de compilación (un solo HTML): la sala puede no permitir instalar un toolchain de React. React + wagmi se presentan como el camino profesional para el proyecto (A.18 y C.2).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cuatro preguntas se verifican al final de cada tramo del bloque A (A.5, A.12, A.19). La cuarta es la que se evalúa en el laboratorio: los cuatro errores provocados a propósito.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EIP-1193 es el que más importa hoy: define el código 4001 (el usuario rechazó), que es uno de los cuatro errores. No lean todo; señalen Provider/Signer y Recibo, que son el corazón del bloque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tramos con su verificación: arquitectura y RPC (hasta A.5, 15 min), ethers y transacciones (hasta A.12, 25 min), eventos y UX (hasta A.19, 25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Recorran el diagrama de izquierda a derecha con el ejemplo. Pregunta rápida: ¿quién paga el gas? Ana, desde su cuenta; el frontend no paga nada. Conecten con la S3: la firma es ECDSA con la clave que solo está en la billetera.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es la que se pide en la reflexión del laboratorio. Ejemplo real frecuente: cuando un proveedor RPC grande tiene una falla, muchas «dApps» dejan de funcionar al mismo tiempo aunque la red siga produciendo bloques. No citen un incidente concreto sin fuente; el mecanismo es lo que importa.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den cifras de los planes gratuitos: cambian a menudo; que las consulten en la página del proveedor el día que las necesiten. Diferencia clave con Hardhat: la URL de Sepolia con clave que usan para desplegar va en el keystore (da acceso a su cuota); la de un frontend público se expone sí o sí y se protege con restricciones de dominio.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consulta de logs en rango amplio es el caso típico: muchos proveedores limitan cuántos bloques abarca una sola llamada eth_getLogs. Eso motiva el indexador de la Sesión 13 (The Graph o similares).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Verificación de 3 minutos. El punto: el fallo de acceso no es fallo de datos. Lo del explorador «Write contract» lo usaron en la S6: es literalmente otro frontend sobre el mismo contrato.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líneas reales de la dApp de referencia (ethers 6.15 cargado desde jsDelivr). En ethers v5 era providers.Web3Provider; si encuentran tutoriales viejos con ese nombre, están desactualizados. viem es la alternativa moderna con otra API; los conceptos son los mismos.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mismo ABI que usa scripts/s12/comprobar-ficha.js, para que el punto de control de terminal pruebe exactamente lo que va a hacer el navegador. Si cambian una firma en el contrato, hay que cambiarla aquí: el ABI es un contrato entre frontend y cadena.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Cifras medidas contra un nodo local de Hardhat 3.16 durante la preparación. Si la misma función balanceOf se enviara como transacción costaría unos 24 000 de gas (estimado): por eso nunca se «transacciona» una lectura. La diferencia de ~17 000 entre las dos transferencias es el SSTORE de cero a no-cero.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 con la S10 (decimals = 18). comprobar-ficha.js imprime a propósito el saldo bruto (1000000000000000000000) y el legible (1000.0) uno debajo del otro: pídanles que lo miren. Pregunta del informe: ¿qué número exacto devuelve balanceOf si tienen 1000 FUSB?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error de la sesión: mostrar «listo» después del primer await. En la red local de Hardhat se mina al instante y el error no se nota; en Sepolia sí. Por eso el laboratorio se prueba también en Sepolia si es posible. Verificamos el comportamiento de wait() con ethers 6.17: una transacción revertida hace que wait() lance CALL_EXCEPTION con el recibo adjunto.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cumple la promesa de la lámina A.18 de la S4: «en la Sesión 12 veremos cómo lo maneja una interfaz». tx.wait(3) espera tres confirmaciones. En redes de capa 2 (Sesión 16) la noción cambia otra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La tercera respuesta es la más importante: sin manejo de errores, la interfaz miente. Enlaza con los cuatro estados de A.14.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real de esta preparación: la dApp de referencia tenía la función de eventos escrita y nunca invocada. Se detectó probando: una transferencia hecha desde fuera no actualizaba el saldo. Tras la corrección, una transferencia externa de 10 FUSB bajó el saldo mostrado de 996 a 986 en menos de 5 s sin recargar. Moraleja: el código que no se ejecuta no se prueba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tabla es el núcleo evaluable del laboratorio: una captura por cada estado, provocado a propósito. Los estados pendiente y minada son los de A.10; la dApp usa amarillo para pendiente, verde para minada y rojo para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«unknown custom error» aparece porque el ABI de la dApp no declara los errores personalizados de OpenZeppelin (ERC20InsufficientBalance). Reto para quien termine: agregar "error ERC20InsufficientBalance(address sender, uint256 balance, uint256 needed)" al ABI y ver cómo ethers decodifica el motivo. En la red local, Hardhat rechaza incluso las transacciones forzadas que revertirían, así que el caso «minada» se ve mejor en Sepolia.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«bloque 11» no es inventado: es el mensaje que mostró la dApp de referencia en la prueba de preparación contra el nodo local. Durante el paso 2 hay que desactivar el botón Enviar para evitar dobles envíos (la dApp lo hace en el try/finally).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0xaa36a7 = 11155111 en hexadecimal. Texto de EIP-6963 verificado (Final): eventos eip6963:announceProvider y eip6963:requestProvider. El código 4902 lo devuelve MetaMask cuando la red no está agregada.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Versiones consultadas en el registro de npm: wagmi 3.7.7, @rainbow-me/rainbowkit 2.2.11 con peerDependency wagmi ^2.9.0, viem 2.x, ethers 6.17.0. ⚠ VERIFICAR ANTES DE DICTAR: si RainbowKit ya publicó compatibilidad con wagmi 3. Los nombres de ganchos son los de wagmi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minutos. Es exactamente el tipo de pregunta del Avance 2 y de la sustentación: un síntoma de usuario y un diagnóstico técnico. Pausa de 10 minutos después de la síntesis.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Pausa de 10 minutos. Pidan que en la pausa abran MetaMask y confirmen que recuerdan cómo desbloquearla, y que tengan a mano la dirección de su FichaUSB de la S10 si la desplegaron en Sepolia.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Guía: material/laboratorio-12/guia/guia-laboratorio-12.pdf. Material: laboratorio-12/andamiaje/index.html (con TODO) y scripts en laboratorios-evm/scripts/s12. Recomendación para la sala: red local de Hardhat (no depende de faucets ni de internet salvo para cargar ethers la primera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es material/dapp-ficha/index.html (en el repositorio del docente; en el público se reemplaza por el andamiaje). Los comentarios de cada TODO traen el código casi literal: el aprendizaje está en entender qué hace cada línea y en PROVOCAR los errores, no en tipearlo.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manifiesto de MetaMask declara file://, pero Chrome deja ese acceso apagado por defecto para toda extensión; es un interruptor en chrome://extensions. npx serve descarga el paquete serve la primera vez (pide confirmación): si la sala no deja, python -m http.server ya viene con Python. Probado en la preparación con python -m http.server.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preparar-local.js se niega a correr fuera de la red 31337 (regala ETH). La dirección 0x9fE4… es la que salió en la preparación como tercer contrato de la cuenta #0; en un nodo recién iniciado suele salir 0x5FbDB…; da igual, se copia la que imprima. El ETH local mostrado será 10.0 para una cuenta nueva de MetaMask.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nombre CHAIN_ID_SEPOLIA se conserva igual al de la solución para que comparen fácil; en red local se le pone 31337n. Si comprobar-ficha dice «NO hay contrato», casi siempre reiniciaron el nodo o están en otra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mensajes esperados son los que mostró la dApp de referencia en la prueba de navegador de la preparación (saldo, «¡Listo! Transferencia confirmada en el bloque N.»). En la red local todo es instantáneo: la transición amarillo → verde apenas se ve. En Sepolia dura unos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cuatro se reprodujeron en la preparación con una billetera simulada contra el nodo local (sin MetaMask real): los mensajes de la tercera columna son los que mostró la dApp. Con MetaMask real el texto del motivo del estado 4 puede variar un poco; lo que se evalúa es que se clasifique como revertida.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«could not decode result data» es el mensaje de ethers v6 cuando eth_call devuelve 0x (no hay código en esa dirección). El de «nonce too high» es clásico con Hardhat: MetaMask recuerda el nonce de una cadena que ya no existe. La ubicación exacta del botón de MetaMask cambia entre versiones: la guía lo describe.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trabajaron solo en red local, el hash de la transacción local vale como evidencia del laboratorio pero no es verificable por terceros: recomienden repetir una transferencia en Sepolia desde casa (política de laboratorios del plan: evidencia verificable en cadena).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minutos por equipos de proyecto (no parejas). Cada equipo sale con la frase de integración de C.2 escrita.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Sección 8 del plan: Avance 1 = contratos + pruebas + repo; Avance 2 = dApp integrada. La fila «Interfaz» es adelanto, no requisito del Avance 1. Díganlo así para no generar ansiedad falsa.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para arrancar: «Nuestra interfaz LEE el estado de una entrada con estadoDe(id), y ESCRIBE una reventa con revender(id, precio), que firma el dueño de la entrada.» Si algún equipo no tiene transacción de usuario (solo el admin escribe), es una señal para revisar si necesitan blockchain.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pregunta se abre al inicio de la S13 (5 min). Es auditoría de UX: encontrar dApps reales que fallen en alguno de los cuatro estados es muy común y muy instructivo.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en un minuto. Repitan la regla: validar, pedir firma, enviada, esperar recibo, confirmada; y un mensaje rojo claro para cada uno de los cuatro errores.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F07F06"/>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1234440" y="2331720"/>
            <a:ext cx="1280160" cy="1280160"/>
          </a:xfrm>
          <a:prstGeom prst="rect">
            <a:avLst/>
          </a:prstGeom>
        </p:spPr>
      </p:pic>
      <p:sp>
        <p:nvSpPr>
          <p:cNvPr id="4" name="Text 1"/>
          <p:cNvSpPr/>
          <p:nvPr/>
        </p:nvSpPr>
        <p:spPr>
          <a:xfrm>
            <a:off x="137160" y="3794760"/>
            <a:ext cx="3474720" cy="640080"/>
          </a:xfrm>
          <a:prstGeom prst="rect">
            <a:avLst/>
          </a:prstGeom>
          <a:noFill/>
          <a:ln/>
        </p:spPr>
        <p:txBody>
          <a:bodyPr wrap="square" lIns="0" tIns="0" rIns="0" bIns="0" rtlCol="0" anchor="ctr"/>
          <a:lstStyle/>
          <a:p>
            <a:pPr algn="ctr" indent="0" marL="0">
              <a:buNone/>
            </a:pPr>
            <a:r>
              <a:rPr lang="en-US" sz="2700" dirty="0">
                <a:solidFill>
                  <a:srgbClr val="0F0F11"/>
                </a:solidFill>
                <a:latin typeface="Arial Black" pitchFamily="34" charset="0"/>
                <a:ea typeface="Arial Black" pitchFamily="34" charset="-122"/>
                <a:cs typeface="Arial Black" pitchFamily="34" charset="-120"/>
              </a:rPr>
              <a:t>CONECTAR</a:t>
            </a:r>
            <a:endParaRPr lang="en-US" sz="2700" dirty="0"/>
          </a:p>
        </p:txBody>
      </p:sp>
      <p:pic>
        <p:nvPicPr>
          <p:cNvPr id="5" name="Image 1" descr="preencoded.png">    </p:cNvPr>
          <p:cNvPicPr>
            <a:picLocks noChangeAspect="1"/>
          </p:cNvPicPr>
          <p:nvPr/>
        </p:nvPicPr>
        <p:blipFill>
          <a:blip r:embed="rId2"/>
          <a:stretch>
            <a:fillRect/>
          </a:stretch>
        </p:blipFill>
        <p:spPr>
          <a:xfrm>
            <a:off x="4389120" y="1115568"/>
            <a:ext cx="310896" cy="310896"/>
          </a:xfrm>
          <a:prstGeom prst="rect">
            <a:avLst/>
          </a:prstGeom>
        </p:spPr>
      </p:pic>
      <p:sp>
        <p:nvSpPr>
          <p:cNvPr id="6" name="Text 2"/>
          <p:cNvSpPr/>
          <p:nvPr/>
        </p:nvSpPr>
        <p:spPr>
          <a:xfrm>
            <a:off x="4809744" y="1097280"/>
            <a:ext cx="6858000" cy="347472"/>
          </a:xfrm>
          <a:prstGeom prst="rect">
            <a:avLst/>
          </a:prstGeom>
          <a:noFill/>
          <a:ln/>
        </p:spPr>
        <p:txBody>
          <a:bodyPr wrap="square" lIns="0" tIns="0" rIns="0" bIns="0" rtlCol="0" anchor="ctr"/>
          <a:lstStyle/>
          <a:p>
            <a:pPr indent="0" marL="0">
              <a:buNone/>
            </a:pPr>
            <a:r>
              <a:rPr lang="en-US" sz="1050" spc="150" kern="0" dirty="0">
                <a:solidFill>
                  <a:srgbClr val="F07F06"/>
                </a:solidFill>
                <a:latin typeface="Courier New" pitchFamily="34" charset="0"/>
                <a:ea typeface="Courier New" pitchFamily="34" charset="-122"/>
                <a:cs typeface="Courier New" pitchFamily="34" charset="-120"/>
              </a:rPr>
              <a:t>SESIÓN 12 · UNIDAD III · WEB 3.0</a:t>
            </a:r>
            <a:endParaRPr lang="en-US" sz="1050" dirty="0"/>
          </a:p>
        </p:txBody>
      </p:sp>
      <p:sp>
        <p:nvSpPr>
          <p:cNvPr id="7" name="Text 3"/>
          <p:cNvSpPr/>
          <p:nvPr/>
        </p:nvSpPr>
        <p:spPr>
          <a:xfrm>
            <a:off x="4389120" y="1719072"/>
            <a:ext cx="7269480" cy="2377440"/>
          </a:xfrm>
          <a:prstGeom prst="rect">
            <a:avLst/>
          </a:prstGeom>
          <a:noFill/>
          <a:ln/>
        </p:spPr>
        <p:txBody>
          <a:bodyPr wrap="square" lIns="0" tIns="0" rIns="0" bIns="0" rtlCol="0" anchor="t"/>
          <a:lstStyle/>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CONECTAR LA</a:t>
            </a:r>
            <a:endParaRPr lang="en-US" sz="3800" dirty="0"/>
          </a:p>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PANTALLA A</a:t>
            </a:r>
            <a:endParaRPr lang="en-US" sz="3800" dirty="0"/>
          </a:p>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LA CADENA</a:t>
            </a:r>
            <a:endParaRPr lang="en-US" sz="3800" dirty="0"/>
          </a:p>
        </p:txBody>
      </p:sp>
      <p:sp>
        <p:nvSpPr>
          <p:cNvPr id="8" name="Text 4"/>
          <p:cNvSpPr/>
          <p:nvPr/>
        </p:nvSpPr>
        <p:spPr>
          <a:xfrm>
            <a:off x="4389120" y="4224528"/>
            <a:ext cx="7269480" cy="685800"/>
          </a:xfrm>
          <a:prstGeom prst="rect">
            <a:avLst/>
          </a:prstGeom>
          <a:noFill/>
          <a:ln/>
        </p:spPr>
        <p:txBody>
          <a:bodyPr wrap="square" lIns="0" tIns="0" rIns="0" bIns="0" rtlCol="0" anchor="t"/>
          <a:lstStyle/>
          <a:p>
            <a:pPr indent="0" marL="0">
              <a:lnSpc>
                <a:spcPct val="120000"/>
              </a:lnSpc>
              <a:buNone/>
            </a:pPr>
            <a:r>
              <a:rPr lang="en-US" sz="1500" dirty="0">
                <a:solidFill>
                  <a:srgbClr val="B9B4C4"/>
                </a:solidFill>
                <a:latin typeface="Arial" pitchFamily="34" charset="0"/>
                <a:ea typeface="Arial" pitchFamily="34" charset="-122"/>
                <a:cs typeface="Arial" pitchFamily="34" charset="-120"/>
              </a:rPr>
              <a:t>Hasta hoy todo pasaba en la terminal y el explorador. Hoy, una interfaz que una persona no técnica puede usar, y que no le miente.</a:t>
            </a:r>
            <a:endParaRPr lang="en-US" sz="1500" dirty="0"/>
          </a:p>
        </p:txBody>
      </p:sp>
      <p:sp>
        <p:nvSpPr>
          <p:cNvPr id="9" name="Text 5"/>
          <p:cNvSpPr/>
          <p:nvPr/>
        </p:nvSpPr>
        <p:spPr>
          <a:xfrm>
            <a:off x="4389120" y="5120640"/>
            <a:ext cx="7269480" cy="731520"/>
          </a:xfrm>
          <a:prstGeom prst="rect">
            <a:avLst/>
          </a:prstGeom>
          <a:noFill/>
          <a:ln/>
        </p:spPr>
        <p:txBody>
          <a:bodyPr wrap="square" lIns="0" tIns="0" rIns="0" bIns="0" rtlCol="0" anchor="t"/>
          <a:lstStyle/>
          <a:p>
            <a:pPr indent="0" marL="0">
              <a:lnSpc>
                <a:spcPct val="125000"/>
              </a:lnSpc>
              <a:buNone/>
            </a:pPr>
            <a:r>
              <a:rPr lang="en-US" sz="1300" dirty="0">
                <a:solidFill>
                  <a:srgbClr val="8B8697"/>
                </a:solidFill>
                <a:latin typeface="Arial" pitchFamily="34" charset="0"/>
                <a:ea typeface="Arial" pitchFamily="34" charset="-122"/>
                <a:cs typeface="Arial" pitchFamily="34" charset="-120"/>
              </a:rPr>
              <a:t>Blockchain y Web 3.0 · Ingeniería de Sistemas</a:t>
            </a:r>
            <a:endParaRPr lang="en-US" sz="1300" dirty="0"/>
          </a:p>
          <a:p>
            <a:pPr indent="0" marL="0">
              <a:lnSpc>
                <a:spcPct val="125000"/>
              </a:lnSpc>
              <a:buNone/>
            </a:pPr>
            <a:r>
              <a:rPr lang="en-US" sz="1300" dirty="0">
                <a:solidFill>
                  <a:srgbClr val="8B8697"/>
                </a:solidFill>
                <a:latin typeface="Arial" pitchFamily="34" charset="0"/>
                <a:ea typeface="Arial" pitchFamily="34" charset="-122"/>
                <a:cs typeface="Arial" pitchFamily="34" charset="-120"/>
              </a:rPr>
              <a:t>Universidad de San Buenaventura Medellín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LO DE HOY</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CÓMO VAMOS A USAR LAS TRES HORAS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02</a:t>
            </a:r>
            <a:endParaRPr lang="en-US" sz="900" dirty="0"/>
          </a:p>
        </p:txBody>
      </p:sp>
      <p:sp>
        <p:nvSpPr>
          <p:cNvPr id="8" name="Text 5"/>
          <p:cNvSpPr/>
          <p:nvPr/>
        </p:nvSpPr>
        <p:spPr>
          <a:xfrm>
            <a:off x="566928" y="1737360"/>
            <a:ext cx="11057839" cy="566928"/>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La sesión más de «producto» del curso. El error que se combate: creer que una transacción es instantánea y siempre sale bien.</a:t>
            </a:r>
            <a:endParaRPr lang="en-US" sz="1450" dirty="0"/>
          </a:p>
        </p:txBody>
      </p:sp>
      <p:sp>
        <p:nvSpPr>
          <p:cNvPr id="9" name="Shape 6"/>
          <p:cNvSpPr/>
          <p:nvPr/>
        </p:nvSpPr>
        <p:spPr>
          <a:xfrm>
            <a:off x="566928" y="2468880"/>
            <a:ext cx="11057839" cy="1024128"/>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0" name="Shape 7"/>
          <p:cNvSpPr/>
          <p:nvPr/>
        </p:nvSpPr>
        <p:spPr>
          <a:xfrm>
            <a:off x="566928" y="2468880"/>
            <a:ext cx="777240" cy="1024128"/>
          </a:xfrm>
          <a:prstGeom prst="rect">
            <a:avLst/>
          </a:prstGeom>
          <a:solidFill>
            <a:srgbClr val="F07F06"/>
          </a:solidFill>
          <a:ln w="12700">
            <a:solidFill>
              <a:srgbClr val="333333"/>
            </a:solidFill>
            <a:prstDash val="solid"/>
          </a:ln>
        </p:spPr>
      </p:sp>
      <p:sp>
        <p:nvSpPr>
          <p:cNvPr id="11" name="Text 8"/>
          <p:cNvSpPr/>
          <p:nvPr/>
        </p:nvSpPr>
        <p:spPr>
          <a:xfrm>
            <a:off x="566928" y="2468880"/>
            <a:ext cx="777240" cy="1024128"/>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A</a:t>
            </a:r>
            <a:endParaRPr lang="en-US" sz="2800" dirty="0"/>
          </a:p>
        </p:txBody>
      </p:sp>
      <p:sp>
        <p:nvSpPr>
          <p:cNvPr id="12" name="Text 9"/>
          <p:cNvSpPr/>
          <p:nvPr/>
        </p:nvSpPr>
        <p:spPr>
          <a:xfrm>
            <a:off x="1572768" y="2596896"/>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ARQUITECTURA, ETHERS Y UX</a:t>
            </a:r>
            <a:endParaRPr lang="en-US" sz="1100" dirty="0"/>
          </a:p>
        </p:txBody>
      </p:sp>
      <p:sp>
        <p:nvSpPr>
          <p:cNvPr id="13" name="Text 10"/>
          <p:cNvSpPr/>
          <p:nvPr/>
        </p:nvSpPr>
        <p:spPr>
          <a:xfrm>
            <a:off x="1572768" y="2926080"/>
            <a:ext cx="7863840" cy="51206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Qué está descentralizado, RPC, Provider/Signer/Contract, eventos y los estados de error.</a:t>
            </a:r>
            <a:endParaRPr lang="en-US" sz="1250" dirty="0"/>
          </a:p>
        </p:txBody>
      </p:sp>
      <p:sp>
        <p:nvSpPr>
          <p:cNvPr id="14" name="Text 11"/>
          <p:cNvSpPr/>
          <p:nvPr/>
        </p:nvSpPr>
        <p:spPr>
          <a:xfrm>
            <a:off x="9704527" y="2468880"/>
            <a:ext cx="1691640" cy="1024128"/>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~65 min</a:t>
            </a:r>
            <a:endParaRPr lang="en-US" sz="1200" dirty="0"/>
          </a:p>
        </p:txBody>
      </p:sp>
      <p:sp>
        <p:nvSpPr>
          <p:cNvPr id="15" name="Shape 12"/>
          <p:cNvSpPr/>
          <p:nvPr/>
        </p:nvSpPr>
        <p:spPr>
          <a:xfrm>
            <a:off x="566928" y="3675888"/>
            <a:ext cx="11057839" cy="1024128"/>
          </a:xfrm>
          <a:prstGeom prst="rect">
            <a:avLst/>
          </a:prstGeom>
          <a:solidFill>
            <a:srgbClr val="FAF9FB"/>
          </a:solidFill>
          <a:ln w="22225">
            <a:solidFill>
              <a:srgbClr val="0F0F11"/>
            </a:solidFill>
            <a:prstDash val="solid"/>
          </a:ln>
        </p:spPr>
      </p:sp>
      <p:sp>
        <p:nvSpPr>
          <p:cNvPr id="16" name="Shape 13"/>
          <p:cNvSpPr/>
          <p:nvPr/>
        </p:nvSpPr>
        <p:spPr>
          <a:xfrm>
            <a:off x="566928" y="3675888"/>
            <a:ext cx="777240" cy="1024128"/>
          </a:xfrm>
          <a:prstGeom prst="rect">
            <a:avLst/>
          </a:prstGeom>
          <a:solidFill>
            <a:srgbClr val="D9D6E0"/>
          </a:solidFill>
          <a:ln w="12700">
            <a:solidFill>
              <a:srgbClr val="333333"/>
            </a:solidFill>
            <a:prstDash val="solid"/>
          </a:ln>
        </p:spPr>
      </p:sp>
      <p:sp>
        <p:nvSpPr>
          <p:cNvPr id="17" name="Text 14"/>
          <p:cNvSpPr/>
          <p:nvPr/>
        </p:nvSpPr>
        <p:spPr>
          <a:xfrm>
            <a:off x="566928" y="3675888"/>
            <a:ext cx="777240" cy="1024128"/>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B</a:t>
            </a:r>
            <a:endParaRPr lang="en-US" sz="2800" dirty="0"/>
          </a:p>
        </p:txBody>
      </p:sp>
      <p:sp>
        <p:nvSpPr>
          <p:cNvPr id="18" name="Text 15"/>
          <p:cNvSpPr/>
          <p:nvPr/>
        </p:nvSpPr>
        <p:spPr>
          <a:xfrm>
            <a:off x="1572768" y="3803904"/>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LABORATORIO 12 · EN PAREJAS</a:t>
            </a:r>
            <a:endParaRPr lang="en-US" sz="1100" dirty="0"/>
          </a:p>
        </p:txBody>
      </p:sp>
      <p:sp>
        <p:nvSpPr>
          <p:cNvPr id="19" name="Text 16"/>
          <p:cNvSpPr/>
          <p:nvPr/>
        </p:nvSpPr>
        <p:spPr>
          <a:xfrm>
            <a:off x="1572768" y="4133088"/>
            <a:ext cx="7863840" cy="51206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 dApp de la FichaUSB: conectar, leer saldo, transferir y provocar los 4 errores.</a:t>
            </a:r>
            <a:endParaRPr lang="en-US" sz="1250" dirty="0"/>
          </a:p>
        </p:txBody>
      </p:sp>
      <p:sp>
        <p:nvSpPr>
          <p:cNvPr id="20" name="Text 17"/>
          <p:cNvSpPr/>
          <p:nvPr/>
        </p:nvSpPr>
        <p:spPr>
          <a:xfrm>
            <a:off x="9704527" y="3675888"/>
            <a:ext cx="1691640" cy="1024128"/>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~85 min</a:t>
            </a:r>
            <a:endParaRPr lang="en-US" sz="1200" dirty="0"/>
          </a:p>
        </p:txBody>
      </p:sp>
      <p:sp>
        <p:nvSpPr>
          <p:cNvPr id="21" name="Shape 18"/>
          <p:cNvSpPr/>
          <p:nvPr/>
        </p:nvSpPr>
        <p:spPr>
          <a:xfrm>
            <a:off x="566928" y="4882896"/>
            <a:ext cx="11057839" cy="1024128"/>
          </a:xfrm>
          <a:prstGeom prst="rect">
            <a:avLst/>
          </a:prstGeom>
          <a:solidFill>
            <a:srgbClr val="FAF9FB"/>
          </a:solidFill>
          <a:ln w="22225">
            <a:solidFill>
              <a:srgbClr val="0F0F11"/>
            </a:solidFill>
            <a:prstDash val="solid"/>
          </a:ln>
        </p:spPr>
      </p:sp>
      <p:sp>
        <p:nvSpPr>
          <p:cNvPr id="22" name="Shape 19"/>
          <p:cNvSpPr/>
          <p:nvPr/>
        </p:nvSpPr>
        <p:spPr>
          <a:xfrm>
            <a:off x="566928" y="4882896"/>
            <a:ext cx="777240" cy="1024128"/>
          </a:xfrm>
          <a:prstGeom prst="rect">
            <a:avLst/>
          </a:prstGeom>
          <a:solidFill>
            <a:srgbClr val="D9D6E0"/>
          </a:solidFill>
          <a:ln w="12700">
            <a:solidFill>
              <a:srgbClr val="333333"/>
            </a:solidFill>
            <a:prstDash val="solid"/>
          </a:ln>
        </p:spPr>
      </p:sp>
      <p:sp>
        <p:nvSpPr>
          <p:cNvPr id="23" name="Text 20"/>
          <p:cNvSpPr/>
          <p:nvPr/>
        </p:nvSpPr>
        <p:spPr>
          <a:xfrm>
            <a:off x="566928" y="4882896"/>
            <a:ext cx="777240" cy="1024128"/>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C</a:t>
            </a:r>
            <a:endParaRPr lang="en-US" sz="2800" dirty="0"/>
          </a:p>
        </p:txBody>
      </p:sp>
      <p:sp>
        <p:nvSpPr>
          <p:cNvPr id="24" name="Text 21"/>
          <p:cNvSpPr/>
          <p:nvPr/>
        </p:nvSpPr>
        <p:spPr>
          <a:xfrm>
            <a:off x="1572768" y="5010912"/>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PROYECTO · HACIA EL AVANCE 1</a:t>
            </a:r>
            <a:endParaRPr lang="en-US" sz="1100" dirty="0"/>
          </a:p>
        </p:txBody>
      </p:sp>
      <p:sp>
        <p:nvSpPr>
          <p:cNvPr id="25" name="Text 22"/>
          <p:cNvSpPr/>
          <p:nvPr/>
        </p:nvSpPr>
        <p:spPr>
          <a:xfrm>
            <a:off x="1572768" y="5340096"/>
            <a:ext cx="7863840" cy="51206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Qué lee y qué escribe la interfaz del proyecto; React y wagmi.</a:t>
            </a:r>
            <a:endParaRPr lang="en-US" sz="1250" dirty="0"/>
          </a:p>
        </p:txBody>
      </p:sp>
      <p:sp>
        <p:nvSpPr>
          <p:cNvPr id="26" name="Text 23"/>
          <p:cNvSpPr/>
          <p:nvPr/>
        </p:nvSpPr>
        <p:spPr>
          <a:xfrm>
            <a:off x="9704527" y="4882896"/>
            <a:ext cx="1691640" cy="1024128"/>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~20 min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EL PROPÓSITO DE LA SESIÓN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AL SALIR DE AQUÍ</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03</a:t>
            </a:r>
            <a:endParaRPr lang="en-US" sz="900" dirty="0"/>
          </a:p>
        </p:txBody>
      </p:sp>
      <p:sp>
        <p:nvSpPr>
          <p:cNvPr id="8" name="Shape 5"/>
          <p:cNvSpPr/>
          <p:nvPr/>
        </p:nvSpPr>
        <p:spPr>
          <a:xfrm>
            <a:off x="566928" y="1737360"/>
            <a:ext cx="11057839" cy="118872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9" name="Text 6"/>
          <p:cNvSpPr/>
          <p:nvPr/>
        </p:nvSpPr>
        <p:spPr>
          <a:xfrm>
            <a:off x="950976" y="1920240"/>
            <a:ext cx="10289743" cy="822960"/>
          </a:xfrm>
          <a:prstGeom prst="rect">
            <a:avLst/>
          </a:prstGeom>
          <a:noFill/>
          <a:ln/>
        </p:spPr>
        <p:txBody>
          <a:bodyPr wrap="square" lIns="0" tIns="0" rIns="0" bIns="0" rtlCol="0" anchor="ctr"/>
          <a:lstStyle/>
          <a:p>
            <a:pPr indent="0" marL="0">
              <a:lnSpc>
                <a:spcPct val="106000"/>
              </a:lnSpc>
              <a:buNone/>
            </a:pPr>
            <a:r>
              <a:rPr lang="en-US" sz="1900" dirty="0">
                <a:solidFill>
                  <a:srgbClr val="0F0F11"/>
                </a:solidFill>
                <a:latin typeface="Arial Black" pitchFamily="34" charset="0"/>
                <a:ea typeface="Arial Black" pitchFamily="34" charset="-122"/>
                <a:cs typeface="Arial Black" pitchFamily="34" charset="-120"/>
              </a:rPr>
              <a:t>Construir una interfaz que lea y escriba en contratos, gestionando la billetera y los estados de una transacción.</a:t>
            </a:r>
            <a:endParaRPr lang="en-US" sz="1900" dirty="0"/>
          </a:p>
        </p:txBody>
      </p:sp>
      <p:sp>
        <p:nvSpPr>
          <p:cNvPr id="10" name="Text 7"/>
          <p:cNvSpPr/>
          <p:nvPr/>
        </p:nvSpPr>
        <p:spPr>
          <a:xfrm>
            <a:off x="566928" y="3154680"/>
            <a:ext cx="7315200" cy="292608"/>
          </a:xfrm>
          <a:prstGeom prst="rect">
            <a:avLst/>
          </a:prstGeom>
          <a:noFill/>
          <a:ln/>
        </p:spPr>
        <p:txBody>
          <a:bodyPr wrap="square" lIns="0" tIns="0" rIns="0" bIns="0" rtlCol="0" anchor="ctr"/>
          <a:lstStyle/>
          <a:p>
            <a:pPr indent="0" marL="0">
              <a:buNone/>
            </a:pPr>
            <a:r>
              <a:rPr lang="en-US" sz="1050" b="1" spc="130" kern="0" dirty="0">
                <a:solidFill>
                  <a:srgbClr val="6F6B80"/>
                </a:solidFill>
                <a:latin typeface="Courier New" pitchFamily="34" charset="0"/>
                <a:ea typeface="Courier New" pitchFamily="34" charset="-122"/>
                <a:cs typeface="Courier New" pitchFamily="34" charset="-120"/>
              </a:rPr>
              <a:t>LAS PREGUNTAS QUE LA SESIÓN RESPONDE</a:t>
            </a:r>
            <a:endParaRPr lang="en-US" sz="1050" dirty="0"/>
          </a:p>
        </p:txBody>
      </p:sp>
      <p:sp>
        <p:nvSpPr>
          <p:cNvPr id="11" name="Text 8"/>
          <p:cNvSpPr/>
          <p:nvPr/>
        </p:nvSpPr>
        <p:spPr>
          <a:xfrm>
            <a:off x="566928" y="3566160"/>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2" name="Text 9"/>
          <p:cNvSpPr/>
          <p:nvPr/>
        </p:nvSpPr>
        <p:spPr>
          <a:xfrm>
            <a:off x="1225296" y="3630168"/>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En una dApp, ¿qué parte está de verdad descentralizada y cuál no?</a:t>
            </a:r>
            <a:endParaRPr lang="en-US" sz="1400" dirty="0"/>
          </a:p>
        </p:txBody>
      </p:sp>
      <p:sp>
        <p:nvSpPr>
          <p:cNvPr id="13" name="Text 10"/>
          <p:cNvSpPr/>
          <p:nvPr/>
        </p:nvSpPr>
        <p:spPr>
          <a:xfrm>
            <a:off x="566928" y="4133088"/>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25296" y="4197096"/>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¿Qué diferencia una lectura gratis de una transacción que cuesta gas?</a:t>
            </a:r>
            <a:endParaRPr lang="en-US" sz="1400" dirty="0"/>
          </a:p>
        </p:txBody>
      </p:sp>
      <p:sp>
        <p:nvSpPr>
          <p:cNvPr id="15" name="Text 12"/>
          <p:cNvSpPr/>
          <p:nvPr/>
        </p:nvSpPr>
        <p:spPr>
          <a:xfrm>
            <a:off x="566928" y="4700016"/>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6" name="Text 13"/>
          <p:cNvSpPr/>
          <p:nvPr/>
        </p:nvSpPr>
        <p:spPr>
          <a:xfrm>
            <a:off x="1225296" y="4764024"/>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¿Cómo se entera la interfaz de que algo cambió en la cadena?</a:t>
            </a:r>
            <a:endParaRPr lang="en-US" sz="1400" dirty="0"/>
          </a:p>
        </p:txBody>
      </p:sp>
      <p:sp>
        <p:nvSpPr>
          <p:cNvPr id="17" name="Text 14"/>
          <p:cNvSpPr/>
          <p:nvPr/>
        </p:nvSpPr>
        <p:spPr>
          <a:xfrm>
            <a:off x="566928" y="5266944"/>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18" name="Text 15"/>
          <p:cNvSpPr/>
          <p:nvPr/>
        </p:nvSpPr>
        <p:spPr>
          <a:xfrm>
            <a:off x="1225296" y="5330952"/>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¿Cuáles son los cuatro errores que todo principiante ignora, y cómo se detecta cada uno?</a:t>
            </a:r>
            <a:endParaRPr lang="en-US" sz="1400" dirty="0"/>
          </a:p>
        </p:txBody>
      </p:sp>
      <p:sp>
        <p:nvSpPr>
          <p:cNvPr id="19" name="Shape 16"/>
          <p:cNvSpPr/>
          <p:nvPr/>
        </p:nvSpPr>
        <p:spPr>
          <a:xfrm>
            <a:off x="566928" y="5943600"/>
            <a:ext cx="11057839" cy="457200"/>
          </a:xfrm>
          <a:prstGeom prst="rect">
            <a:avLst/>
          </a:prstGeom>
          <a:solidFill>
            <a:srgbClr val="F2F0F5"/>
          </a:solidFill>
          <a:ln w="12700">
            <a:solidFill>
              <a:srgbClr val="7152E9"/>
            </a:solidFill>
            <a:prstDash val="solid"/>
          </a:ln>
        </p:spPr>
      </p:sp>
      <p:sp>
        <p:nvSpPr>
          <p:cNvPr id="20" name="Text 17"/>
          <p:cNvSpPr/>
          <p:nvPr/>
        </p:nvSpPr>
        <p:spPr>
          <a:xfrm>
            <a:off x="731520" y="6016752"/>
            <a:ext cx="10728655" cy="310896"/>
          </a:xfrm>
          <a:prstGeom prst="rect">
            <a:avLst/>
          </a:prstGeom>
          <a:noFill/>
          <a:ln/>
        </p:spPr>
        <p:txBody>
          <a:bodyPr wrap="square" lIns="0" tIns="0" rIns="0" bIns="0" rtlCol="0" anchor="ctr"/>
          <a:lstStyle/>
          <a:p>
            <a:pPr indent="0" marL="0">
              <a:lnSpc>
                <a:spcPct val="120000"/>
              </a:lnSpc>
              <a:buNone/>
            </a:pPr>
            <a:r>
              <a:rPr lang="en-US" sz="1050" dirty="0">
                <a:solidFill>
                  <a:srgbClr val="3A3844"/>
                </a:solidFill>
                <a:latin typeface="Courier New" pitchFamily="34" charset="0"/>
                <a:ea typeface="Courier New" pitchFamily="34" charset="-122"/>
                <a:cs typeface="Courier New" pitchFamily="34" charset="-120"/>
              </a:rPr>
              <a:t>RA6 · Integrar una interfaz Web 3.0 con contratos, gestionando wallets, eventos y estados de transacción.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VOCABULARIO DE LA SESIÓN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SIGLAS Y TÉRMINOS DE HOY</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04</a:t>
            </a:r>
            <a:endParaRPr lang="en-US" sz="900" dirty="0"/>
          </a:p>
        </p:txBody>
      </p:sp>
      <p:sp>
        <p:nvSpPr>
          <p:cNvPr id="8" name="Shape 5"/>
          <p:cNvSpPr/>
          <p:nvPr/>
        </p:nvSpPr>
        <p:spPr>
          <a:xfrm>
            <a:off x="566928" y="1737360"/>
            <a:ext cx="5419192" cy="1014984"/>
          </a:xfrm>
          <a:prstGeom prst="rect">
            <a:avLst/>
          </a:prstGeom>
          <a:solidFill>
            <a:srgbClr val="FFFFFF"/>
          </a:solidFill>
          <a:ln w="15875">
            <a:solidFill>
              <a:srgbClr val="7152E9"/>
            </a:solidFill>
            <a:prstDash val="solid"/>
          </a:ln>
        </p:spPr>
      </p:sp>
      <p:sp>
        <p:nvSpPr>
          <p:cNvPr id="9" name="Shape 6"/>
          <p:cNvSpPr/>
          <p:nvPr/>
        </p:nvSpPr>
        <p:spPr>
          <a:xfrm>
            <a:off x="566928" y="1737360"/>
            <a:ext cx="82296" cy="1014984"/>
          </a:xfrm>
          <a:prstGeom prst="rect">
            <a:avLst/>
          </a:prstGeom>
          <a:solidFill>
            <a:srgbClr val="7152E9"/>
          </a:solidFill>
          <a:ln w="12700">
            <a:solidFill>
              <a:srgbClr val="333333"/>
            </a:solidFill>
            <a:prstDash val="solid"/>
          </a:ln>
        </p:spPr>
      </p:sp>
      <p:sp>
        <p:nvSpPr>
          <p:cNvPr id="10" name="Text 7"/>
          <p:cNvSpPr/>
          <p:nvPr/>
        </p:nvSpPr>
        <p:spPr>
          <a:xfrm>
            <a:off x="822960" y="1810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DAPP</a:t>
            </a:r>
            <a:endParaRPr lang="en-US" sz="1100" dirty="0"/>
          </a:p>
        </p:txBody>
      </p:sp>
      <p:sp>
        <p:nvSpPr>
          <p:cNvPr id="11" name="Text 8"/>
          <p:cNvSpPr/>
          <p:nvPr/>
        </p:nvSpPr>
        <p:spPr>
          <a:xfrm>
            <a:off x="2898648" y="1810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aplicación descentralizada</a:t>
            </a:r>
            <a:endParaRPr lang="en-US" sz="1050" dirty="0"/>
          </a:p>
        </p:txBody>
      </p:sp>
      <p:sp>
        <p:nvSpPr>
          <p:cNvPr id="12" name="Text 9"/>
          <p:cNvSpPr/>
          <p:nvPr/>
        </p:nvSpPr>
        <p:spPr>
          <a:xfrm>
            <a:off x="822960" y="2121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Interfaz + contratos. La interfaz suele ser una web normal; lo descentralizado son los contratos.</a:t>
            </a:r>
            <a:endParaRPr lang="en-US" sz="1100" dirty="0"/>
          </a:p>
        </p:txBody>
      </p:sp>
      <p:sp>
        <p:nvSpPr>
          <p:cNvPr id="13" name="Shape 10"/>
          <p:cNvSpPr/>
          <p:nvPr/>
        </p:nvSpPr>
        <p:spPr>
          <a:xfrm>
            <a:off x="6205576" y="1737360"/>
            <a:ext cx="5419192" cy="1014984"/>
          </a:xfrm>
          <a:prstGeom prst="rect">
            <a:avLst/>
          </a:prstGeom>
          <a:solidFill>
            <a:srgbClr val="FFFFFF"/>
          </a:solidFill>
          <a:ln w="15875">
            <a:solidFill>
              <a:srgbClr val="7152E9"/>
            </a:solidFill>
            <a:prstDash val="solid"/>
          </a:ln>
        </p:spPr>
      </p:sp>
      <p:sp>
        <p:nvSpPr>
          <p:cNvPr id="14" name="Shape 11"/>
          <p:cNvSpPr/>
          <p:nvPr/>
        </p:nvSpPr>
        <p:spPr>
          <a:xfrm>
            <a:off x="6205576" y="1737360"/>
            <a:ext cx="82296" cy="1014984"/>
          </a:xfrm>
          <a:prstGeom prst="rect">
            <a:avLst/>
          </a:prstGeom>
          <a:solidFill>
            <a:srgbClr val="7152E9"/>
          </a:solidFill>
          <a:ln w="12700">
            <a:solidFill>
              <a:srgbClr val="333333"/>
            </a:solidFill>
            <a:prstDash val="solid"/>
          </a:ln>
        </p:spPr>
      </p:sp>
      <p:sp>
        <p:nvSpPr>
          <p:cNvPr id="15" name="Text 12"/>
          <p:cNvSpPr/>
          <p:nvPr/>
        </p:nvSpPr>
        <p:spPr>
          <a:xfrm>
            <a:off x="6461608" y="1810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RPC</a:t>
            </a:r>
            <a:endParaRPr lang="en-US" sz="1100" dirty="0"/>
          </a:p>
        </p:txBody>
      </p:sp>
      <p:sp>
        <p:nvSpPr>
          <p:cNvPr id="16" name="Text 13"/>
          <p:cNvSpPr/>
          <p:nvPr/>
        </p:nvSpPr>
        <p:spPr>
          <a:xfrm>
            <a:off x="8537296" y="1810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Remote Procedure Call</a:t>
            </a:r>
            <a:endParaRPr lang="en-US" sz="1050" dirty="0"/>
          </a:p>
        </p:txBody>
      </p:sp>
      <p:sp>
        <p:nvSpPr>
          <p:cNvPr id="17" name="Text 14"/>
          <p:cNvSpPr/>
          <p:nvPr/>
        </p:nvSpPr>
        <p:spPr>
          <a:xfrm>
            <a:off x="6461608" y="2121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El nodo al que la interfaz le hace preguntas: propio, de MetaMask o de Alchemy/Infura.</a:t>
            </a:r>
            <a:endParaRPr lang="en-US" sz="1100" dirty="0"/>
          </a:p>
        </p:txBody>
      </p:sp>
      <p:sp>
        <p:nvSpPr>
          <p:cNvPr id="18" name="Shape 15"/>
          <p:cNvSpPr/>
          <p:nvPr/>
        </p:nvSpPr>
        <p:spPr>
          <a:xfrm>
            <a:off x="566928" y="2880360"/>
            <a:ext cx="5419192" cy="1014984"/>
          </a:xfrm>
          <a:prstGeom prst="rect">
            <a:avLst/>
          </a:prstGeom>
          <a:solidFill>
            <a:srgbClr val="FFFFFF"/>
          </a:solidFill>
          <a:ln w="15875">
            <a:solidFill>
              <a:srgbClr val="7152E9"/>
            </a:solidFill>
            <a:prstDash val="solid"/>
          </a:ln>
        </p:spPr>
      </p:sp>
      <p:sp>
        <p:nvSpPr>
          <p:cNvPr id="19" name="Shape 16"/>
          <p:cNvSpPr/>
          <p:nvPr/>
        </p:nvSpPr>
        <p:spPr>
          <a:xfrm>
            <a:off x="566928" y="2880360"/>
            <a:ext cx="82296" cy="1014984"/>
          </a:xfrm>
          <a:prstGeom prst="rect">
            <a:avLst/>
          </a:prstGeom>
          <a:solidFill>
            <a:srgbClr val="7152E9"/>
          </a:solidFill>
          <a:ln w="12700">
            <a:solidFill>
              <a:srgbClr val="333333"/>
            </a:solidFill>
            <a:prstDash val="solid"/>
          </a:ln>
        </p:spPr>
      </p:sp>
      <p:sp>
        <p:nvSpPr>
          <p:cNvPr id="20" name="Text 17"/>
          <p:cNvSpPr/>
          <p:nvPr/>
        </p:nvSpPr>
        <p:spPr>
          <a:xfrm>
            <a:off x="822960" y="2953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PROVIDER</a:t>
            </a:r>
            <a:endParaRPr lang="en-US" sz="1100" dirty="0"/>
          </a:p>
        </p:txBody>
      </p:sp>
      <p:sp>
        <p:nvSpPr>
          <p:cNvPr id="21" name="Text 18"/>
          <p:cNvSpPr/>
          <p:nvPr/>
        </p:nvSpPr>
        <p:spPr>
          <a:xfrm>
            <a:off x="2898648" y="2953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proveedor (ethers)</a:t>
            </a:r>
            <a:endParaRPr lang="en-US" sz="1050" dirty="0"/>
          </a:p>
        </p:txBody>
      </p:sp>
      <p:sp>
        <p:nvSpPr>
          <p:cNvPr id="22" name="Text 19"/>
          <p:cNvSpPr/>
          <p:nvPr/>
        </p:nvSpPr>
        <p:spPr>
          <a:xfrm>
            <a:off x="822960" y="3264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Objeto que LEE la cadena: saldos, estado, eventos. No firma, no cuesta gas.</a:t>
            </a:r>
            <a:endParaRPr lang="en-US" sz="1100" dirty="0"/>
          </a:p>
        </p:txBody>
      </p:sp>
      <p:sp>
        <p:nvSpPr>
          <p:cNvPr id="23" name="Shape 20"/>
          <p:cNvSpPr/>
          <p:nvPr/>
        </p:nvSpPr>
        <p:spPr>
          <a:xfrm>
            <a:off x="6205576" y="2880360"/>
            <a:ext cx="5419192" cy="1014984"/>
          </a:xfrm>
          <a:prstGeom prst="rect">
            <a:avLst/>
          </a:prstGeom>
          <a:solidFill>
            <a:srgbClr val="FFFFFF"/>
          </a:solidFill>
          <a:ln w="15875">
            <a:solidFill>
              <a:srgbClr val="7152E9"/>
            </a:solidFill>
            <a:prstDash val="solid"/>
          </a:ln>
        </p:spPr>
      </p:sp>
      <p:sp>
        <p:nvSpPr>
          <p:cNvPr id="24" name="Shape 21"/>
          <p:cNvSpPr/>
          <p:nvPr/>
        </p:nvSpPr>
        <p:spPr>
          <a:xfrm>
            <a:off x="6205576" y="2880360"/>
            <a:ext cx="82296" cy="1014984"/>
          </a:xfrm>
          <a:prstGeom prst="rect">
            <a:avLst/>
          </a:prstGeom>
          <a:solidFill>
            <a:srgbClr val="7152E9"/>
          </a:solidFill>
          <a:ln w="12700">
            <a:solidFill>
              <a:srgbClr val="333333"/>
            </a:solidFill>
            <a:prstDash val="solid"/>
          </a:ln>
        </p:spPr>
      </p:sp>
      <p:sp>
        <p:nvSpPr>
          <p:cNvPr id="25" name="Text 22"/>
          <p:cNvSpPr/>
          <p:nvPr/>
        </p:nvSpPr>
        <p:spPr>
          <a:xfrm>
            <a:off x="6461608" y="2953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SIGNER</a:t>
            </a:r>
            <a:endParaRPr lang="en-US" sz="1100" dirty="0"/>
          </a:p>
        </p:txBody>
      </p:sp>
      <p:sp>
        <p:nvSpPr>
          <p:cNvPr id="26" name="Text 23"/>
          <p:cNvSpPr/>
          <p:nvPr/>
        </p:nvSpPr>
        <p:spPr>
          <a:xfrm>
            <a:off x="8537296" y="2953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firmante (ethers)</a:t>
            </a:r>
            <a:endParaRPr lang="en-US" sz="1050" dirty="0"/>
          </a:p>
        </p:txBody>
      </p:sp>
      <p:sp>
        <p:nvSpPr>
          <p:cNvPr id="27" name="Text 24"/>
          <p:cNvSpPr/>
          <p:nvPr/>
        </p:nvSpPr>
        <p:spPr>
          <a:xfrm>
            <a:off x="6461608" y="3264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Objeto que ESCRIBE: pide a la billetera que firme una transacción. Cuesta gas.</a:t>
            </a:r>
            <a:endParaRPr lang="en-US" sz="1100" dirty="0"/>
          </a:p>
        </p:txBody>
      </p:sp>
      <p:sp>
        <p:nvSpPr>
          <p:cNvPr id="28" name="Shape 25"/>
          <p:cNvSpPr/>
          <p:nvPr/>
        </p:nvSpPr>
        <p:spPr>
          <a:xfrm>
            <a:off x="566928" y="4023360"/>
            <a:ext cx="5419192" cy="1014984"/>
          </a:xfrm>
          <a:prstGeom prst="rect">
            <a:avLst/>
          </a:prstGeom>
          <a:solidFill>
            <a:srgbClr val="FFFFFF"/>
          </a:solidFill>
          <a:ln w="15875">
            <a:solidFill>
              <a:srgbClr val="7152E9"/>
            </a:solidFill>
            <a:prstDash val="solid"/>
          </a:ln>
        </p:spPr>
      </p:sp>
      <p:sp>
        <p:nvSpPr>
          <p:cNvPr id="29" name="Shape 26"/>
          <p:cNvSpPr/>
          <p:nvPr/>
        </p:nvSpPr>
        <p:spPr>
          <a:xfrm>
            <a:off x="566928" y="4023360"/>
            <a:ext cx="82296" cy="1014984"/>
          </a:xfrm>
          <a:prstGeom prst="rect">
            <a:avLst/>
          </a:prstGeom>
          <a:solidFill>
            <a:srgbClr val="7152E9"/>
          </a:solidFill>
          <a:ln w="12700">
            <a:solidFill>
              <a:srgbClr val="333333"/>
            </a:solidFill>
            <a:prstDash val="solid"/>
          </a:ln>
        </p:spPr>
      </p:sp>
      <p:sp>
        <p:nvSpPr>
          <p:cNvPr id="30" name="Text 27"/>
          <p:cNvSpPr/>
          <p:nvPr/>
        </p:nvSpPr>
        <p:spPr>
          <a:xfrm>
            <a:off x="822960" y="4096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ABI</a:t>
            </a:r>
            <a:endParaRPr lang="en-US" sz="1100" dirty="0"/>
          </a:p>
        </p:txBody>
      </p:sp>
      <p:sp>
        <p:nvSpPr>
          <p:cNvPr id="31" name="Text 28"/>
          <p:cNvSpPr/>
          <p:nvPr/>
        </p:nvSpPr>
        <p:spPr>
          <a:xfrm>
            <a:off x="2898648" y="4096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Application Binary Interface</a:t>
            </a:r>
            <a:endParaRPr lang="en-US" sz="1050" dirty="0"/>
          </a:p>
        </p:txBody>
      </p:sp>
      <p:sp>
        <p:nvSpPr>
          <p:cNvPr id="32" name="Text 29"/>
          <p:cNvSpPr/>
          <p:nvPr/>
        </p:nvSpPr>
        <p:spPr>
          <a:xfrm>
            <a:off x="822960" y="4407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La lista de funciones y eventos del contrato que la interfaz necesita para llamarlo.</a:t>
            </a:r>
            <a:endParaRPr lang="en-US" sz="1100" dirty="0"/>
          </a:p>
        </p:txBody>
      </p:sp>
      <p:sp>
        <p:nvSpPr>
          <p:cNvPr id="33" name="Shape 30"/>
          <p:cNvSpPr/>
          <p:nvPr/>
        </p:nvSpPr>
        <p:spPr>
          <a:xfrm>
            <a:off x="6205576" y="4023360"/>
            <a:ext cx="5419192" cy="1014984"/>
          </a:xfrm>
          <a:prstGeom prst="rect">
            <a:avLst/>
          </a:prstGeom>
          <a:solidFill>
            <a:srgbClr val="FFFFFF"/>
          </a:solidFill>
          <a:ln w="15875">
            <a:solidFill>
              <a:srgbClr val="7152E9"/>
            </a:solidFill>
            <a:prstDash val="solid"/>
          </a:ln>
        </p:spPr>
      </p:sp>
      <p:sp>
        <p:nvSpPr>
          <p:cNvPr id="34" name="Shape 31"/>
          <p:cNvSpPr/>
          <p:nvPr/>
        </p:nvSpPr>
        <p:spPr>
          <a:xfrm>
            <a:off x="6205576" y="4023360"/>
            <a:ext cx="82296" cy="1014984"/>
          </a:xfrm>
          <a:prstGeom prst="rect">
            <a:avLst/>
          </a:prstGeom>
          <a:solidFill>
            <a:srgbClr val="7152E9"/>
          </a:solidFill>
          <a:ln w="12700">
            <a:solidFill>
              <a:srgbClr val="333333"/>
            </a:solidFill>
            <a:prstDash val="solid"/>
          </a:ln>
        </p:spPr>
      </p:sp>
      <p:sp>
        <p:nvSpPr>
          <p:cNvPr id="35" name="Text 32"/>
          <p:cNvSpPr/>
          <p:nvPr/>
        </p:nvSpPr>
        <p:spPr>
          <a:xfrm>
            <a:off x="6461608" y="4096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EIP-1193</a:t>
            </a:r>
            <a:endParaRPr lang="en-US" sz="1100" dirty="0"/>
          </a:p>
        </p:txBody>
      </p:sp>
      <p:sp>
        <p:nvSpPr>
          <p:cNvPr id="36" name="Text 33"/>
          <p:cNvSpPr/>
          <p:nvPr/>
        </p:nvSpPr>
        <p:spPr>
          <a:xfrm>
            <a:off x="8537296" y="4096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API del proveedor</a:t>
            </a:r>
            <a:endParaRPr lang="en-US" sz="1050" dirty="0"/>
          </a:p>
        </p:txBody>
      </p:sp>
      <p:sp>
        <p:nvSpPr>
          <p:cNvPr id="37" name="Text 34"/>
          <p:cNvSpPr/>
          <p:nvPr/>
        </p:nvSpPr>
        <p:spPr>
          <a:xfrm>
            <a:off x="6461608" y="4407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El estándar de window.ethereum: request(), eventos y códigos de error como 4001.</a:t>
            </a:r>
            <a:endParaRPr lang="en-US" sz="1100" dirty="0"/>
          </a:p>
        </p:txBody>
      </p:sp>
      <p:sp>
        <p:nvSpPr>
          <p:cNvPr id="38" name="Shape 35"/>
          <p:cNvSpPr/>
          <p:nvPr/>
        </p:nvSpPr>
        <p:spPr>
          <a:xfrm>
            <a:off x="566928" y="5166360"/>
            <a:ext cx="5419192" cy="1014984"/>
          </a:xfrm>
          <a:prstGeom prst="rect">
            <a:avLst/>
          </a:prstGeom>
          <a:solidFill>
            <a:srgbClr val="FFFFFF"/>
          </a:solidFill>
          <a:ln w="15875">
            <a:solidFill>
              <a:srgbClr val="7152E9"/>
            </a:solidFill>
            <a:prstDash val="solid"/>
          </a:ln>
        </p:spPr>
      </p:sp>
      <p:sp>
        <p:nvSpPr>
          <p:cNvPr id="39" name="Shape 36"/>
          <p:cNvSpPr/>
          <p:nvPr/>
        </p:nvSpPr>
        <p:spPr>
          <a:xfrm>
            <a:off x="566928" y="5166360"/>
            <a:ext cx="82296" cy="1014984"/>
          </a:xfrm>
          <a:prstGeom prst="rect">
            <a:avLst/>
          </a:prstGeom>
          <a:solidFill>
            <a:srgbClr val="7152E9"/>
          </a:solidFill>
          <a:ln w="12700">
            <a:solidFill>
              <a:srgbClr val="333333"/>
            </a:solidFill>
            <a:prstDash val="solid"/>
          </a:ln>
        </p:spPr>
      </p:sp>
      <p:sp>
        <p:nvSpPr>
          <p:cNvPr id="40" name="Text 37"/>
          <p:cNvSpPr/>
          <p:nvPr/>
        </p:nvSpPr>
        <p:spPr>
          <a:xfrm>
            <a:off x="822960" y="5239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WAGMI · VIEM</a:t>
            </a:r>
            <a:endParaRPr lang="en-US" sz="1100" dirty="0"/>
          </a:p>
        </p:txBody>
      </p:sp>
      <p:sp>
        <p:nvSpPr>
          <p:cNvPr id="41" name="Text 38"/>
          <p:cNvSpPr/>
          <p:nvPr/>
        </p:nvSpPr>
        <p:spPr>
          <a:xfrm>
            <a:off x="2898648" y="5239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librerías de React y JS</a:t>
            </a:r>
            <a:endParaRPr lang="en-US" sz="1050" dirty="0"/>
          </a:p>
        </p:txBody>
      </p:sp>
      <p:sp>
        <p:nvSpPr>
          <p:cNvPr id="42" name="Text 39"/>
          <p:cNvSpPr/>
          <p:nvPr/>
        </p:nvSpPr>
        <p:spPr>
          <a:xfrm>
            <a:off x="822960" y="5550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El camino profesional: ganchos listos para conexión, lecturas y escrituras.</a:t>
            </a:r>
            <a:endParaRPr lang="en-US" sz="1100" dirty="0"/>
          </a:p>
        </p:txBody>
      </p:sp>
      <p:sp>
        <p:nvSpPr>
          <p:cNvPr id="43" name="Shape 40"/>
          <p:cNvSpPr/>
          <p:nvPr/>
        </p:nvSpPr>
        <p:spPr>
          <a:xfrm>
            <a:off x="6205576" y="5166360"/>
            <a:ext cx="5419192" cy="1014984"/>
          </a:xfrm>
          <a:prstGeom prst="rect">
            <a:avLst/>
          </a:prstGeom>
          <a:solidFill>
            <a:srgbClr val="FFFFFF"/>
          </a:solidFill>
          <a:ln w="15875">
            <a:solidFill>
              <a:srgbClr val="7152E9"/>
            </a:solidFill>
            <a:prstDash val="solid"/>
          </a:ln>
        </p:spPr>
      </p:sp>
      <p:sp>
        <p:nvSpPr>
          <p:cNvPr id="44" name="Shape 41"/>
          <p:cNvSpPr/>
          <p:nvPr/>
        </p:nvSpPr>
        <p:spPr>
          <a:xfrm>
            <a:off x="6205576" y="5166360"/>
            <a:ext cx="82296" cy="1014984"/>
          </a:xfrm>
          <a:prstGeom prst="rect">
            <a:avLst/>
          </a:prstGeom>
          <a:solidFill>
            <a:srgbClr val="7152E9"/>
          </a:solidFill>
          <a:ln w="12700">
            <a:solidFill>
              <a:srgbClr val="333333"/>
            </a:solidFill>
            <a:prstDash val="solid"/>
          </a:ln>
        </p:spPr>
      </p:sp>
      <p:sp>
        <p:nvSpPr>
          <p:cNvPr id="45" name="Text 42"/>
          <p:cNvSpPr/>
          <p:nvPr/>
        </p:nvSpPr>
        <p:spPr>
          <a:xfrm>
            <a:off x="6461608" y="5239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RECIBO</a:t>
            </a:r>
            <a:endParaRPr lang="en-US" sz="1100" dirty="0"/>
          </a:p>
        </p:txBody>
      </p:sp>
      <p:sp>
        <p:nvSpPr>
          <p:cNvPr id="46" name="Text 43"/>
          <p:cNvSpPr/>
          <p:nvPr/>
        </p:nvSpPr>
        <p:spPr>
          <a:xfrm>
            <a:off x="8537296" y="5239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transaction receipt</a:t>
            </a:r>
            <a:endParaRPr lang="en-US" sz="1050" dirty="0"/>
          </a:p>
        </p:txBody>
      </p:sp>
      <p:sp>
        <p:nvSpPr>
          <p:cNvPr id="47" name="Text 44"/>
          <p:cNvSpPr/>
          <p:nvPr/>
        </p:nvSpPr>
        <p:spPr>
          <a:xfrm>
            <a:off x="6461608" y="5550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Lo que existe cuando la transacción se minó: bloque, gas usado y status (1 ok, 0 revertida).</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A</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65 MINUTOS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ARQUITECTURA, ETHERS Y UX</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Una dApp es, casi siempre, una web normal que además sabe hablar con una cadena. Lo interesante está en ese «además».</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 · QUÉ HAY DETRÁS DE UN BOTÓN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LAS CINCO PIEZAS DE UNA DAPP</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06</a:t>
            </a:r>
            <a:endParaRPr lang="en-US" sz="900" dirty="0"/>
          </a:p>
        </p:txBody>
      </p:sp>
      <p:sp>
        <p:nvSpPr>
          <p:cNvPr id="8" name="Shape 5"/>
          <p:cNvSpPr/>
          <p:nvPr/>
        </p:nvSpPr>
        <p:spPr>
          <a:xfrm>
            <a:off x="566928" y="1828800"/>
            <a:ext cx="1965960" cy="1051560"/>
          </a:xfrm>
          <a:prstGeom prst="rect">
            <a:avLst/>
          </a:prstGeom>
          <a:solidFill>
            <a:srgbClr val="FAF9FB"/>
          </a:solidFill>
          <a:ln w="22225">
            <a:solidFill>
              <a:srgbClr val="0F0F11"/>
            </a:solidFill>
            <a:prstDash val="solid"/>
          </a:ln>
        </p:spPr>
      </p:sp>
      <p:sp>
        <p:nvSpPr>
          <p:cNvPr id="9" name="Text 6"/>
          <p:cNvSpPr/>
          <p:nvPr/>
        </p:nvSpPr>
        <p:spPr>
          <a:xfrm>
            <a:off x="658368" y="1920240"/>
            <a:ext cx="178308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FRONTEND</a:t>
            </a:r>
            <a:endParaRPr lang="en-US" sz="1100" dirty="0"/>
          </a:p>
        </p:txBody>
      </p:sp>
      <p:sp>
        <p:nvSpPr>
          <p:cNvPr id="10" name="Text 7"/>
          <p:cNvSpPr/>
          <p:nvPr/>
        </p:nvSpPr>
        <p:spPr>
          <a:xfrm>
            <a:off x="658368" y="2231136"/>
            <a:ext cx="1783080" cy="57607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HTML/JS en un</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servidor normal</a:t>
            </a:r>
            <a:endParaRPr lang="en-US" sz="1050" dirty="0"/>
          </a:p>
        </p:txBody>
      </p:sp>
      <p:sp>
        <p:nvSpPr>
          <p:cNvPr id="11" name="Shape 8"/>
          <p:cNvSpPr/>
          <p:nvPr/>
        </p:nvSpPr>
        <p:spPr>
          <a:xfrm>
            <a:off x="2532888" y="2350008"/>
            <a:ext cx="411480" cy="914"/>
          </a:xfrm>
          <a:prstGeom prst="line">
            <a:avLst/>
          </a:prstGeom>
          <a:noFill/>
          <a:ln w="25400">
            <a:solidFill>
              <a:srgbClr val="0F0F11"/>
            </a:solidFill>
            <a:prstDash val="solid"/>
            <a:tailEnd type="triangle"/>
          </a:ln>
        </p:spPr>
      </p:sp>
      <p:sp>
        <p:nvSpPr>
          <p:cNvPr id="12" name="Shape 9"/>
          <p:cNvSpPr/>
          <p:nvPr/>
        </p:nvSpPr>
        <p:spPr>
          <a:xfrm>
            <a:off x="2944368" y="1828800"/>
            <a:ext cx="1965960" cy="1051560"/>
          </a:xfrm>
          <a:prstGeom prst="rect">
            <a:avLst/>
          </a:prstGeom>
          <a:solidFill>
            <a:srgbClr val="FFFFFF"/>
          </a:solidFill>
          <a:ln w="22225">
            <a:solidFill>
              <a:srgbClr val="F07F06"/>
            </a:solidFill>
            <a:prstDash val="solid"/>
          </a:ln>
        </p:spPr>
      </p:sp>
      <p:sp>
        <p:nvSpPr>
          <p:cNvPr id="13" name="Text 10"/>
          <p:cNvSpPr/>
          <p:nvPr/>
        </p:nvSpPr>
        <p:spPr>
          <a:xfrm>
            <a:off x="3035808" y="1920240"/>
            <a:ext cx="178308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BILLETERA</a:t>
            </a:r>
            <a:endParaRPr lang="en-US" sz="1100" dirty="0"/>
          </a:p>
        </p:txBody>
      </p:sp>
      <p:sp>
        <p:nvSpPr>
          <p:cNvPr id="14" name="Text 11"/>
          <p:cNvSpPr/>
          <p:nvPr/>
        </p:nvSpPr>
        <p:spPr>
          <a:xfrm>
            <a:off x="3035808" y="2231136"/>
            <a:ext cx="1783080" cy="57607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MetaMask: guarda</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la clave y firma</a:t>
            </a:r>
            <a:endParaRPr lang="en-US" sz="1050" dirty="0"/>
          </a:p>
        </p:txBody>
      </p:sp>
      <p:sp>
        <p:nvSpPr>
          <p:cNvPr id="15" name="Shape 12"/>
          <p:cNvSpPr/>
          <p:nvPr/>
        </p:nvSpPr>
        <p:spPr>
          <a:xfrm>
            <a:off x="4910328" y="2350008"/>
            <a:ext cx="411480" cy="914"/>
          </a:xfrm>
          <a:prstGeom prst="line">
            <a:avLst/>
          </a:prstGeom>
          <a:noFill/>
          <a:ln w="25400">
            <a:solidFill>
              <a:srgbClr val="0F0F11"/>
            </a:solidFill>
            <a:prstDash val="solid"/>
            <a:tailEnd type="triangle"/>
          </a:ln>
        </p:spPr>
      </p:sp>
      <p:sp>
        <p:nvSpPr>
          <p:cNvPr id="16" name="Shape 13"/>
          <p:cNvSpPr/>
          <p:nvPr/>
        </p:nvSpPr>
        <p:spPr>
          <a:xfrm>
            <a:off x="5321808" y="1828800"/>
            <a:ext cx="1965960" cy="1051560"/>
          </a:xfrm>
          <a:prstGeom prst="rect">
            <a:avLst/>
          </a:prstGeom>
          <a:solidFill>
            <a:srgbClr val="FAF9FB"/>
          </a:solidFill>
          <a:ln w="22225">
            <a:solidFill>
              <a:srgbClr val="0F0F11"/>
            </a:solidFill>
            <a:prstDash val="solid"/>
          </a:ln>
        </p:spPr>
      </p:sp>
      <p:sp>
        <p:nvSpPr>
          <p:cNvPr id="17" name="Text 14"/>
          <p:cNvSpPr/>
          <p:nvPr/>
        </p:nvSpPr>
        <p:spPr>
          <a:xfrm>
            <a:off x="5413248" y="1920240"/>
            <a:ext cx="178308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RPC</a:t>
            </a:r>
            <a:endParaRPr lang="en-US" sz="1100" dirty="0"/>
          </a:p>
        </p:txBody>
      </p:sp>
      <p:sp>
        <p:nvSpPr>
          <p:cNvPr id="18" name="Text 15"/>
          <p:cNvSpPr/>
          <p:nvPr/>
        </p:nvSpPr>
        <p:spPr>
          <a:xfrm>
            <a:off x="5413248" y="2231136"/>
            <a:ext cx="1783080" cy="57607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Infura, Alchemy</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o nodo propio</a:t>
            </a:r>
            <a:endParaRPr lang="en-US" sz="1050" dirty="0"/>
          </a:p>
        </p:txBody>
      </p:sp>
      <p:sp>
        <p:nvSpPr>
          <p:cNvPr id="19" name="Shape 16"/>
          <p:cNvSpPr/>
          <p:nvPr/>
        </p:nvSpPr>
        <p:spPr>
          <a:xfrm>
            <a:off x="7287768" y="2350008"/>
            <a:ext cx="411480" cy="914"/>
          </a:xfrm>
          <a:prstGeom prst="line">
            <a:avLst/>
          </a:prstGeom>
          <a:noFill/>
          <a:ln w="25400">
            <a:solidFill>
              <a:srgbClr val="0F0F11"/>
            </a:solidFill>
            <a:prstDash val="solid"/>
            <a:tailEnd type="triangle"/>
          </a:ln>
        </p:spPr>
      </p:sp>
      <p:sp>
        <p:nvSpPr>
          <p:cNvPr id="20" name="Shape 17"/>
          <p:cNvSpPr/>
          <p:nvPr/>
        </p:nvSpPr>
        <p:spPr>
          <a:xfrm>
            <a:off x="7699248" y="1828800"/>
            <a:ext cx="1828800" cy="1051560"/>
          </a:xfrm>
          <a:prstGeom prst="rect">
            <a:avLst/>
          </a:prstGeom>
          <a:solidFill>
            <a:srgbClr val="FAF9FB"/>
          </a:solidFill>
          <a:ln w="22225">
            <a:solidFill>
              <a:srgbClr val="0F0F11"/>
            </a:solidFill>
            <a:prstDash val="solid"/>
          </a:ln>
        </p:spPr>
      </p:sp>
      <p:sp>
        <p:nvSpPr>
          <p:cNvPr id="21" name="Text 18"/>
          <p:cNvSpPr/>
          <p:nvPr/>
        </p:nvSpPr>
        <p:spPr>
          <a:xfrm>
            <a:off x="7790688" y="1920240"/>
            <a:ext cx="164592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NODO</a:t>
            </a:r>
            <a:endParaRPr lang="en-US" sz="1100" dirty="0"/>
          </a:p>
        </p:txBody>
      </p:sp>
      <p:sp>
        <p:nvSpPr>
          <p:cNvPr id="22" name="Text 19"/>
          <p:cNvSpPr/>
          <p:nvPr/>
        </p:nvSpPr>
        <p:spPr>
          <a:xfrm>
            <a:off x="7790688" y="2231136"/>
            <a:ext cx="1645920" cy="57607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uno de miles</a:t>
            </a:r>
            <a:endParaRPr lang="en-US" sz="1050" dirty="0"/>
          </a:p>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en la red</a:t>
            </a:r>
            <a:endParaRPr lang="en-US" sz="1050" dirty="0"/>
          </a:p>
        </p:txBody>
      </p:sp>
      <p:sp>
        <p:nvSpPr>
          <p:cNvPr id="23" name="Shape 20"/>
          <p:cNvSpPr/>
          <p:nvPr/>
        </p:nvSpPr>
        <p:spPr>
          <a:xfrm>
            <a:off x="9528048" y="2350008"/>
            <a:ext cx="365760" cy="914"/>
          </a:xfrm>
          <a:prstGeom prst="line">
            <a:avLst/>
          </a:prstGeom>
          <a:noFill/>
          <a:ln w="25400">
            <a:solidFill>
              <a:srgbClr val="0F0F11"/>
            </a:solidFill>
            <a:prstDash val="solid"/>
            <a:tailEnd type="triangle"/>
          </a:ln>
        </p:spPr>
      </p:sp>
      <p:sp>
        <p:nvSpPr>
          <p:cNvPr id="24" name="Shape 21"/>
          <p:cNvSpPr/>
          <p:nvPr/>
        </p:nvSpPr>
        <p:spPr>
          <a:xfrm>
            <a:off x="9893808" y="1828800"/>
            <a:ext cx="1730959" cy="1051560"/>
          </a:xfrm>
          <a:prstGeom prst="rect">
            <a:avLst/>
          </a:prstGeom>
          <a:solidFill>
            <a:srgbClr val="FFFFFF"/>
          </a:solidFill>
          <a:ln w="22225">
            <a:solidFill>
              <a:srgbClr val="7152E9"/>
            </a:solidFill>
            <a:prstDash val="solid"/>
          </a:ln>
        </p:spPr>
      </p:sp>
      <p:sp>
        <p:nvSpPr>
          <p:cNvPr id="25" name="Text 22"/>
          <p:cNvSpPr/>
          <p:nvPr/>
        </p:nvSpPr>
        <p:spPr>
          <a:xfrm>
            <a:off x="9985248" y="1920240"/>
            <a:ext cx="1548079"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CONTRATO</a:t>
            </a:r>
            <a:endParaRPr lang="en-US" sz="1100" dirty="0"/>
          </a:p>
        </p:txBody>
      </p:sp>
      <p:sp>
        <p:nvSpPr>
          <p:cNvPr id="26" name="Text 23"/>
          <p:cNvSpPr/>
          <p:nvPr/>
        </p:nvSpPr>
        <p:spPr>
          <a:xfrm>
            <a:off x="9985248" y="2231136"/>
            <a:ext cx="1548079" cy="576072"/>
          </a:xfrm>
          <a:prstGeom prst="rect">
            <a:avLst/>
          </a:prstGeom>
          <a:noFill/>
          <a:ln/>
        </p:spPr>
        <p:txBody>
          <a:bodyPr wrap="square" lIns="0" tIns="0" rIns="0" bIns="0" rtlCol="0" anchor="t"/>
          <a:lstStyle/>
          <a:p>
            <a:pPr algn="ctr" indent="0" marL="0">
              <a:lnSpc>
                <a:spcPct val="110000"/>
              </a:lnSpc>
              <a:buNone/>
            </a:pPr>
            <a:r>
              <a:rPr lang="en-US" sz="1050" dirty="0">
                <a:solidFill>
                  <a:srgbClr val="6F6B80"/>
                </a:solidFill>
                <a:latin typeface="Arial" pitchFamily="34" charset="0"/>
                <a:ea typeface="Arial" pitchFamily="34" charset="-122"/>
                <a:cs typeface="Arial" pitchFamily="34" charset="-120"/>
              </a:rPr>
              <a:t>FichaUSB</a:t>
            </a:r>
            <a:endParaRPr lang="en-US" sz="1050" dirty="0"/>
          </a:p>
        </p:txBody>
      </p:sp>
      <p:sp>
        <p:nvSpPr>
          <p:cNvPr id="27" name="Text 24"/>
          <p:cNvSpPr/>
          <p:nvPr/>
        </p:nvSpPr>
        <p:spPr>
          <a:xfrm>
            <a:off x="566928" y="3154680"/>
            <a:ext cx="11057839" cy="123444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Ejemplo trabajado: Ana pulsa «Enviar 2,5 FUSB». El frontend arma la llamada con el ABI; MetaMask le muestra qué va a firmar y firma con SU clave (el frontend nunca la ve); el RPC recibe la transacción firmada y la pasa a la red; un nodo la incluye en un bloque; el contrato mueve los saldos y emite Transfer.</a:t>
            </a:r>
            <a:endParaRPr lang="en-US" sz="1350" dirty="0"/>
          </a:p>
        </p:txBody>
      </p:sp>
      <p:sp>
        <p:nvSpPr>
          <p:cNvPr id="28" name="Shape 25"/>
          <p:cNvSpPr/>
          <p:nvPr/>
        </p:nvSpPr>
        <p:spPr>
          <a:xfrm>
            <a:off x="566928" y="4526280"/>
            <a:ext cx="11057839" cy="16002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29" name="Image 1" descr="preencoded.png">    </p:cNvPr>
          <p:cNvPicPr>
            <a:picLocks noChangeAspect="1"/>
          </p:cNvPicPr>
          <p:nvPr/>
        </p:nvPicPr>
        <p:blipFill>
          <a:blip r:embed="rId2"/>
          <a:stretch>
            <a:fillRect/>
          </a:stretch>
        </p:blipFill>
        <p:spPr>
          <a:xfrm>
            <a:off x="804672" y="4745736"/>
            <a:ext cx="237744" cy="237744"/>
          </a:xfrm>
          <a:prstGeom prst="rect">
            <a:avLst/>
          </a:prstGeom>
        </p:spPr>
      </p:pic>
      <p:sp>
        <p:nvSpPr>
          <p:cNvPr id="30" name="Text 26"/>
          <p:cNvSpPr/>
          <p:nvPr/>
        </p:nvSpPr>
        <p:spPr>
          <a:xfrm>
            <a:off x="1133856" y="471830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EL ERROR DE CONCEPTO TÍPICO</a:t>
            </a:r>
            <a:endParaRPr lang="en-US" sz="950" dirty="0"/>
          </a:p>
        </p:txBody>
      </p:sp>
      <p:sp>
        <p:nvSpPr>
          <p:cNvPr id="31" name="Text 27"/>
          <p:cNvSpPr/>
          <p:nvPr/>
        </p:nvSpPr>
        <p:spPr>
          <a:xfrm>
            <a:off x="804672" y="5038344"/>
            <a:ext cx="10582351" cy="99669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 página tiene acceso a mi billetera.» No: la página PIDE, la billetera decide. La clave privada nunca sale de MetaMask. Por eso la regla del curso es leer lo que la billetera muestra antes de firmar: es la única pieza que trabaja para ustedes.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 · QUÉ ESTÁ DESCENTRALIZADO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LA RESPUESTA HONESTA: MENOS DE LO QUE PARECE</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1828800"/>
                <a:gridCol w="3657600"/>
                <a:gridCol w="55714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PIEZA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QUIÉN LA CONTROLA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SI CAE O MIENTE…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4236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Frontend</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Quien paga el hosting y el dominio.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 dApp desaparece o muestra otra cosa; el contrato sigue vivo.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4236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RPC</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Una empresa (o ustedes, si tienen nodo).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No se puede leer ni enviar; o responde datos falsos a quien no verifica.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4236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Billetera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usuario (software de un tercero).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Sin billetera no hay firma: solo lectura.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4236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Contrato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Nadie: sus reglas están en la cadena.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No cae mientras la red exista. Es lo único descentralizado de verdad.</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673352"/>
            <a:ext cx="11094415" cy="2916936"/>
          </a:xfrm>
          <a:prstGeom prst="rect">
            <a:avLst/>
          </a:prstGeom>
          <a:ln w="22225">
            <a:solidFill>
              <a:srgbClr val="0F0F11"/>
            </a:solidFill>
            <a:prstDash val="solid"/>
          </a:ln>
        </p:spPr>
      </p:sp>
      <p:sp>
        <p:nvSpPr>
          <p:cNvPr id="10" name="Shape 6"/>
          <p:cNvSpPr/>
          <p:nvPr/>
        </p:nvSpPr>
        <p:spPr>
          <a:xfrm>
            <a:off x="566928" y="4754880"/>
            <a:ext cx="11057839" cy="137160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1" name="Image 1" descr="preencoded.png">    </p:cNvPr>
          <p:cNvPicPr>
            <a:picLocks noChangeAspect="1"/>
          </p:cNvPicPr>
          <p:nvPr/>
        </p:nvPicPr>
        <p:blipFill>
          <a:blip r:embed="rId2"/>
          <a:stretch>
            <a:fillRect/>
          </a:stretch>
        </p:blipFill>
        <p:spPr>
          <a:xfrm>
            <a:off x="804672" y="4974336"/>
            <a:ext cx="237744" cy="237744"/>
          </a:xfrm>
          <a:prstGeom prst="rect">
            <a:avLst/>
          </a:prstGeom>
        </p:spPr>
      </p:pic>
      <p:sp>
        <p:nvSpPr>
          <p:cNvPr id="12" name="Text 7"/>
          <p:cNvSpPr/>
          <p:nvPr/>
        </p:nvSpPr>
        <p:spPr>
          <a:xfrm>
            <a:off x="1133856" y="494690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CÓMO DECIRLO CON MADUREZ</a:t>
            </a:r>
            <a:endParaRPr lang="en-US" sz="950" dirty="0"/>
          </a:p>
        </p:txBody>
      </p:sp>
      <p:sp>
        <p:nvSpPr>
          <p:cNvPr id="13" name="Text 8"/>
          <p:cNvSpPr/>
          <p:nvPr/>
        </p:nvSpPr>
        <p:spPr>
          <a:xfrm>
            <a:off x="804672" y="5266944"/>
            <a:ext cx="10582351" cy="76809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El VALOR y las REGLAS están descentralizados en el contrato; el ACCESO, muchas veces no. Se puede mejorar (frontend en IPFS, varios RPC, nodo propio), pero en el README del proyecto hay que decir con honestidad cuál es cuál.</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A.3 · PROVEEDORES RPC</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NODO PROPIO O SERVICIO DE INFRAESTRUCTURA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08</a:t>
            </a:r>
            <a:endParaRPr lang="en-US" sz="900" dirty="0"/>
          </a:p>
        </p:txBody>
      </p:sp>
      <p:sp>
        <p:nvSpPr>
          <p:cNvPr id="8" name="Shape 5"/>
          <p:cNvSpPr/>
          <p:nvPr/>
        </p:nvSpPr>
        <p:spPr>
          <a:xfrm>
            <a:off x="566928" y="1691640"/>
            <a:ext cx="5391760" cy="22860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841248" y="187452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NODO PROPIO</a:t>
            </a:r>
            <a:endParaRPr lang="en-US" sz="1050" dirty="0"/>
          </a:p>
        </p:txBody>
      </p:sp>
      <p:sp>
        <p:nvSpPr>
          <p:cNvPr id="10" name="Text 7"/>
          <p:cNvSpPr/>
          <p:nvPr/>
        </p:nvSpPr>
        <p:spPr>
          <a:xfrm>
            <a:off x="841248" y="2258568"/>
            <a:ext cx="4843120" cy="15544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Máxima independencia: nadie les filtra ni les limita. Pero un nodo completo de Ethereum pide cientos de GB de disco rápido, sincronizar tarda horas o días, y hay que mantenerlo.</a:t>
            </a:r>
            <a:endParaRPr lang="en-US" sz="1250" dirty="0"/>
          </a:p>
        </p:txBody>
      </p:sp>
      <p:sp>
        <p:nvSpPr>
          <p:cNvPr id="11" name="Shape 8"/>
          <p:cNvSpPr/>
          <p:nvPr/>
        </p:nvSpPr>
        <p:spPr>
          <a:xfrm>
            <a:off x="6233008" y="1691640"/>
            <a:ext cx="5391760" cy="22860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2" name="Text 9"/>
          <p:cNvSpPr/>
          <p:nvPr/>
        </p:nvSpPr>
        <p:spPr>
          <a:xfrm>
            <a:off x="6507328" y="187452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INFURA, ALCHEMY Y SIMILARES</a:t>
            </a:r>
            <a:endParaRPr lang="en-US" sz="1050" dirty="0"/>
          </a:p>
        </p:txBody>
      </p:sp>
      <p:sp>
        <p:nvSpPr>
          <p:cNvPr id="13" name="Text 10"/>
          <p:cNvSpPr/>
          <p:nvPr/>
        </p:nvSpPr>
        <p:spPr>
          <a:xfrm>
            <a:off x="6507328" y="2258568"/>
            <a:ext cx="4843120" cy="15544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Una URL con una clave de API y listo. Plan gratuito con límite de consultas por segundo y por mes. A cambio, dependen de una empresa que ve todas sus consultas.</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4160520"/>
          <a:ext cx="11057839" cy="914400"/>
        </p:xfrm>
        <a:graphic>
          <a:graphicData uri="http://schemas.openxmlformats.org/drawingml/2006/table">
            <a:tbl>
              <a:tblPr/>
              <a:tblGrid>
                <a:gridCol w="2926080"/>
                <a:gridCol w="813175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SITUACIÓN</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DE DÓNDE LEE LA DAPP DEL LABORATORIO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61772">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El usuario conectó MetaMask</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Del RPC que MetaMask tenga configurado para esa red. La dApp no necesita clave propia.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61772">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Sin billetera (solo lectura)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De un RPC propio del frontend: su clave queda VISIBLE en el código de la página.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5" name="Shape 11"/>
          <p:cNvSpPr/>
          <p:nvPr/>
        </p:nvSpPr>
        <p:spPr>
          <a:xfrm>
            <a:off x="548640" y="4142232"/>
            <a:ext cx="11094415" cy="1271016"/>
          </a:xfrm>
          <a:prstGeom prst="rect">
            <a:avLst/>
          </a:prstGeom>
          <a:ln w="22225">
            <a:solidFill>
              <a:srgbClr val="0F0F11"/>
            </a:solidFill>
            <a:prstDash val="solid"/>
          </a:ln>
        </p:spPr>
      </p:sp>
      <p:sp>
        <p:nvSpPr>
          <p:cNvPr id="16" name="Text 12"/>
          <p:cNvSpPr/>
          <p:nvPr/>
        </p:nvSpPr>
        <p:spPr>
          <a:xfrm>
            <a:off x="566928" y="5532120"/>
            <a:ext cx="11057839" cy="594360"/>
          </a:xfrm>
          <a:prstGeom prst="rect">
            <a:avLst/>
          </a:prstGeom>
          <a:noFill/>
          <a:ln/>
        </p:spPr>
        <p:txBody>
          <a:bodyPr wrap="square" lIns="0" tIns="0" rIns="0" bIns="0" rtlCol="0" anchor="t"/>
          <a:lstStyle/>
          <a:p>
            <a:pPr indent="0" marL="0">
              <a:lnSpc>
                <a:spcPct val="124000"/>
              </a:lnSpc>
              <a:buNone/>
            </a:pPr>
            <a:r>
              <a:rPr lang="en-US" sz="1200" dirty="0">
                <a:solidFill>
                  <a:srgbClr val="A35604"/>
                </a:solidFill>
                <a:latin typeface="Arial" pitchFamily="34" charset="0"/>
                <a:ea typeface="Arial" pitchFamily="34" charset="-122"/>
                <a:cs typeface="Arial" pitchFamily="34" charset="-120"/>
              </a:rPr>
              <a:t>Una clave de API en un frontend es pública por definición: restrínjanla por dominio en el panel del proveedor. Las de Hardhat van al keystore; esta no es secreta, solo acotada.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A.4 · LÍMITES DE TASA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EL RPC TAMBIÉN DICE «NO»</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09</a:t>
            </a:r>
            <a:endParaRPr lang="en-US" sz="900" dirty="0"/>
          </a:p>
        </p:txBody>
      </p:sp>
      <p:sp>
        <p:nvSpPr>
          <p:cNvPr id="8" name="Text 5"/>
          <p:cNvSpPr/>
          <p:nvPr/>
        </p:nvSpPr>
        <p:spPr>
          <a:xfrm>
            <a:off x="566928" y="1691640"/>
            <a:ext cx="11057839" cy="82296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Todo RPC gratuito limita cuántas consultas acepta. Una interfaz mal hecha lo agota sola: por ejemplo, preguntar el saldo cada segundo desde cada pestaña abierta.</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2651760"/>
          <a:ext cx="11057839" cy="914400"/>
        </p:xfrm>
        <a:graphic>
          <a:graphicData uri="http://schemas.openxmlformats.org/drawingml/2006/table">
            <a:tbl>
              <a:tblPr/>
              <a:tblGrid>
                <a:gridCol w="5120640"/>
                <a:gridCol w="593719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MALA PRÁCTICA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MEJOR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3644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Preguntar el saldo en un bucle cada segundo.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Leer una vez y escuchar el evento Transfer (A.13).</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3644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Pedir todos los eventos desde el bloque 0.</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Pedir un rango acotado o usar un indexador (Sesión 13).</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3644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Reintentar sin pausa cuando algo falla.</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Reintentar con espera creciente y avisar al usuario.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633472"/>
            <a:ext cx="11094415" cy="1956816"/>
          </a:xfrm>
          <a:prstGeom prst="rect">
            <a:avLst/>
          </a:prstGeom>
          <a:ln w="22225">
            <a:solidFill>
              <a:srgbClr val="0F0F11"/>
            </a:solidFill>
            <a:prstDash val="solid"/>
          </a:ln>
        </p:spPr>
      </p:sp>
      <p:sp>
        <p:nvSpPr>
          <p:cNvPr id="11" name="Shape 7"/>
          <p:cNvSpPr/>
          <p:nvPr/>
        </p:nvSpPr>
        <p:spPr>
          <a:xfrm>
            <a:off x="566928" y="4754880"/>
            <a:ext cx="11057839" cy="13716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2" name="Image 1" descr="preencoded.png">    </p:cNvPr>
          <p:cNvPicPr>
            <a:picLocks noChangeAspect="1"/>
          </p:cNvPicPr>
          <p:nvPr/>
        </p:nvPicPr>
        <p:blipFill>
          <a:blip r:embed="rId2"/>
          <a:stretch>
            <a:fillRect/>
          </a:stretch>
        </p:blipFill>
        <p:spPr>
          <a:xfrm>
            <a:off x="804672" y="4974336"/>
            <a:ext cx="237744" cy="237744"/>
          </a:xfrm>
          <a:prstGeom prst="rect">
            <a:avLst/>
          </a:prstGeom>
        </p:spPr>
      </p:pic>
      <p:sp>
        <p:nvSpPr>
          <p:cNvPr id="13" name="Text 8"/>
          <p:cNvSpPr/>
          <p:nvPr/>
        </p:nvSpPr>
        <p:spPr>
          <a:xfrm>
            <a:off x="1133856" y="494690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EL SÍNTOMA</a:t>
            </a:r>
            <a:endParaRPr lang="en-US" sz="950" dirty="0"/>
          </a:p>
        </p:txBody>
      </p:sp>
      <p:sp>
        <p:nvSpPr>
          <p:cNvPr id="14" name="Text 9"/>
          <p:cNvSpPr/>
          <p:nvPr/>
        </p:nvSpPr>
        <p:spPr>
          <a:xfrm>
            <a:off x="804672" y="5266944"/>
            <a:ext cx="10582351" cy="76809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Errores 429 («too many requests») o respuestas lentas que parecen «la red está caída». En la Sesión 11 lo vimos con las puertas IPFS públicas: el mismo fenómeno, en otra capa. Es un límite comercial, no una falla de la cadena.</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A.5 · VERIFICACIÓN · ARQUITECTURA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¿QUÉ DEJA DE FUNCIONAR?</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10</a:t>
            </a:r>
            <a:endParaRPr lang="en-US" sz="900" dirty="0"/>
          </a:p>
        </p:txBody>
      </p:sp>
      <p:sp>
        <p:nvSpPr>
          <p:cNvPr id="8" name="Shape 5"/>
          <p:cNvSpPr/>
          <p:nvPr/>
        </p:nvSpPr>
        <p:spPr>
          <a:xfrm>
            <a:off x="566928" y="1737360"/>
            <a:ext cx="11057839" cy="169164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920240"/>
            <a:ext cx="10289743" cy="1325880"/>
          </a:xfrm>
          <a:prstGeom prst="rect">
            <a:avLst/>
          </a:prstGeom>
          <a:noFill/>
          <a:ln/>
        </p:spPr>
        <p:txBody>
          <a:bodyPr wrap="square" lIns="0" tIns="0" rIns="0" bIns="0" rtlCol="0" anchor="ctr"/>
          <a:lstStyle/>
          <a:p>
            <a:pPr indent="0" marL="0">
              <a:lnSpc>
                <a:spcPct val="106000"/>
              </a:lnSpc>
              <a:buNone/>
            </a:pPr>
            <a:r>
              <a:rPr lang="en-US" sz="1800" dirty="0">
                <a:solidFill>
                  <a:srgbClr val="0F0F11"/>
                </a:solidFill>
                <a:latin typeface="Arial Black" pitchFamily="34" charset="0"/>
                <a:ea typeface="Arial Black" pitchFamily="34" charset="-122"/>
                <a:cs typeface="Arial Black" pitchFamily="34" charset="-120"/>
              </a:rPr>
              <a:t>El proveedor RPC que usa MetaMask cae durante una hora. ¿Qué le pasa a la FichaUSB, a los saldos y a su dApp? ¿Y si lo que cae es el hosting del frontend?</a:t>
            </a:r>
            <a:endParaRPr lang="en-US" sz="1800" dirty="0"/>
          </a:p>
        </p:txBody>
      </p:sp>
      <p:sp>
        <p:nvSpPr>
          <p:cNvPr id="10" name="Text 7"/>
          <p:cNvSpPr/>
          <p:nvPr/>
        </p:nvSpPr>
        <p:spPr>
          <a:xfrm>
            <a:off x="566928" y="3611880"/>
            <a:ext cx="11057839" cy="411480"/>
          </a:xfrm>
          <a:prstGeom prst="rect">
            <a:avLst/>
          </a:prstGeom>
          <a:noFill/>
          <a:ln/>
        </p:spPr>
        <p:txBody>
          <a:bodyPr wrap="square" lIns="0" tIns="0" rIns="0" bIns="0" rtlCol="0" anchor="t"/>
          <a:lstStyle/>
          <a:p>
            <a:pPr marL="203200" indent="-203200">
              <a:lnSpc>
                <a:spcPct val="118000"/>
              </a:lnSpc>
              <a:spcAft>
                <a:spcPts val="900"/>
              </a:spcAft>
              <a:buSzPct val="100000"/>
              <a:buChar char="■"/>
            </a:pPr>
            <a:r>
              <a:rPr lang="en-US" sz="1350" dirty="0">
                <a:solidFill>
                  <a:srgbClr val="3A3844"/>
                </a:solidFill>
                <a:latin typeface="Arial" pitchFamily="34" charset="0"/>
                <a:ea typeface="Arial" pitchFamily="34" charset="-122"/>
                <a:cs typeface="Arial" pitchFamily="34" charset="-120"/>
              </a:rPr>
              <a:t>Un minuto en pareja. Separen: el contrato, los datos, el acceso.</a:t>
            </a:r>
            <a:endParaRPr lang="en-US" sz="1350" dirty="0"/>
          </a:p>
        </p:txBody>
      </p:sp>
      <p:sp>
        <p:nvSpPr>
          <p:cNvPr id="11" name="Shape 8"/>
          <p:cNvSpPr/>
          <p:nvPr/>
        </p:nvSpPr>
        <p:spPr>
          <a:xfrm>
            <a:off x="566928" y="4206240"/>
            <a:ext cx="11057839" cy="1920240"/>
          </a:xfrm>
          <a:prstGeom prst="rect">
            <a:avLst/>
          </a:prstGeom>
          <a:solidFill>
            <a:srgbClr val="F2F0F5"/>
          </a:solidFill>
          <a:ln w="22225">
            <a:solidFill>
              <a:srgbClr val="0F0F11"/>
            </a:solidFill>
            <a:prstDash val="solid"/>
          </a:ln>
        </p:spPr>
      </p:sp>
      <p:pic>
        <p:nvPicPr>
          <p:cNvPr id="12" name="Image 1" descr="preencoded.png">    </p:cNvPr>
          <p:cNvPicPr>
            <a:picLocks noChangeAspect="1"/>
          </p:cNvPicPr>
          <p:nvPr/>
        </p:nvPicPr>
        <p:blipFill>
          <a:blip r:embed="rId2"/>
          <a:stretch>
            <a:fillRect/>
          </a:stretch>
        </p:blipFill>
        <p:spPr>
          <a:xfrm>
            <a:off x="804672" y="4425696"/>
            <a:ext cx="237744" cy="237744"/>
          </a:xfrm>
          <a:prstGeom prst="rect">
            <a:avLst/>
          </a:prstGeom>
        </p:spPr>
      </p:pic>
      <p:sp>
        <p:nvSpPr>
          <p:cNvPr id="13" name="Text 9"/>
          <p:cNvSpPr/>
          <p:nvPr/>
        </p:nvSpPr>
        <p:spPr>
          <a:xfrm>
            <a:off x="1133856" y="4398264"/>
            <a:ext cx="10234879" cy="292608"/>
          </a:xfrm>
          <a:prstGeom prst="rect">
            <a:avLst/>
          </a:prstGeom>
          <a:noFill/>
          <a:ln/>
        </p:spPr>
        <p:txBody>
          <a:bodyPr wrap="square" lIns="0" tIns="0" rIns="0" bIns="0" rtlCol="0" anchor="ctr"/>
          <a:lstStyle/>
          <a:p>
            <a:pPr indent="0" marL="0">
              <a:buNone/>
            </a:pPr>
            <a:r>
              <a:rPr lang="en-US" sz="950" b="1" spc="150" kern="0" dirty="0">
                <a:solidFill>
                  <a:srgbClr val="6F6B80"/>
                </a:solidFill>
                <a:latin typeface="Courier New" pitchFamily="34" charset="0"/>
                <a:ea typeface="Courier New" pitchFamily="34" charset="-122"/>
                <a:cs typeface="Courier New" pitchFamily="34" charset="-120"/>
              </a:rPr>
              <a:t>RESPUESTA</a:t>
            </a:r>
            <a:endParaRPr lang="en-US" sz="950" dirty="0"/>
          </a:p>
        </p:txBody>
      </p:sp>
      <p:sp>
        <p:nvSpPr>
          <p:cNvPr id="14" name="Text 10"/>
          <p:cNvSpPr/>
          <p:nvPr/>
        </p:nvSpPr>
        <p:spPr>
          <a:xfrm>
            <a:off x="804672" y="4718304"/>
            <a:ext cx="10582351" cy="131673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Caído el RPC: el contrato y los saldos siguen intactos en miles de nodos; la dApp no puede leer ni enviar, a menos que el usuario cambie de RPC en MetaMask. Caído el hosting: la página no carga, pero cualquiera puede interactuar con el contrato desde el explorador («Write contract») o desde otro frontend. Nada se pierde; se pierde el ACCESO cómodo.</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A.6 · LAS TRES PIEZAS DE ETHERS V6</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PROVIDER, SIGNER, CONTRACT</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11</a:t>
            </a:r>
            <a:endParaRPr lang="en-US" sz="900" dirty="0"/>
          </a:p>
        </p:txBody>
      </p:sp>
      <p:sp>
        <p:nvSpPr>
          <p:cNvPr id="8" name="Shape 5"/>
          <p:cNvSpPr/>
          <p:nvPr/>
        </p:nvSpPr>
        <p:spPr>
          <a:xfrm>
            <a:off x="566928" y="1691640"/>
            <a:ext cx="11057839" cy="3063240"/>
          </a:xfrm>
          <a:prstGeom prst="rect">
            <a:avLst/>
          </a:prstGeom>
          <a:solidFill>
            <a:srgbClr val="16151B"/>
          </a:solidFill>
          <a:ln w="22225">
            <a:solidFill>
              <a:srgbClr val="16151B"/>
            </a:solidFill>
            <a:prstDash val="solid"/>
          </a:ln>
        </p:spPr>
      </p:sp>
      <p:sp>
        <p:nvSpPr>
          <p:cNvPr id="9" name="Text 6"/>
          <p:cNvSpPr/>
          <p:nvPr/>
        </p:nvSpPr>
        <p:spPr>
          <a:xfrm>
            <a:off x="768096" y="176479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MATERIAL/DAPP-FICHA/INDEX.HTML (RESUMIDO)</a:t>
            </a:r>
            <a:endParaRPr lang="en-US" sz="850" dirty="0"/>
          </a:p>
        </p:txBody>
      </p:sp>
      <p:sp>
        <p:nvSpPr>
          <p:cNvPr id="10" name="Text 7"/>
          <p:cNvSpPr/>
          <p:nvPr/>
        </p:nvSpPr>
        <p:spPr>
          <a:xfrm>
            <a:off x="768096" y="2075688"/>
            <a:ext cx="10655503" cy="2569464"/>
          </a:xfrm>
          <a:prstGeom prst="rect">
            <a:avLst/>
          </a:prstGeom>
          <a:noFill/>
          <a:ln/>
        </p:spPr>
        <p:txBody>
          <a:bodyPr wrap="square" lIns="0" tIns="0" rIns="0" bIns="0" rtlCol="0" anchor="t"/>
          <a:lstStyle/>
          <a:p>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PROVIDER: habla con el nodo a través de la billetera. Lee gratis.</a:t>
            </a:r>
            <a:endParaRPr lang="en-US" sz="1100" dirty="0"/>
          </a:p>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provider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new</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ethers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BrowserProvider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window</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ethereum</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provider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send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"eth_requestAccounts"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MetaMask pide permiso</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SIGNER: la cuenta que firma. Escribir cuesta gas.</a:t>
            </a:r>
            <a:endParaRPr lang="en-US" sz="1100" dirty="0"/>
          </a:p>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signer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provider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getSigner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CONTRACT: dirección + ABI + quién llama.</a:t>
            </a:r>
            <a:endParaRPr lang="en-US" sz="1100" dirty="0"/>
          </a:p>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ficha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new</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ethers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Contract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DIRECCION_FICHA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ABI</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signer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bruto</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ficha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balanceOf</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cuenta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lectura</a:t>
            </a:r>
            <a:endParaRPr lang="en-US" sz="1100" dirty="0"/>
          </a:p>
          <a:p>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tx</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ficha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transfer</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dest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cantidad</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8B8697"/>
                </a:solidFill>
                <a:latin typeface="Courier New" pitchFamily="34" charset="0"/>
                <a:ea typeface="Courier New" pitchFamily="34" charset="-122"/>
                <a:cs typeface="Courier New" pitchFamily="34" charset="-120"/>
              </a:rPr>
              <a:t>// escritura</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4892040"/>
          <a:ext cx="11057839" cy="914400"/>
        </p:xfrm>
        <a:graphic>
          <a:graphicData uri="http://schemas.openxmlformats.org/drawingml/2006/table">
            <a:tbl>
              <a:tblPr/>
              <a:tblGrid>
                <a:gridCol w="2011680"/>
                <a:gridCol w="6760159"/>
                <a:gridCol w="2286000"/>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PIEZA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PARA QUÉ</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¿FIRMA?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30784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Provider</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Leer: saldos, estado, eventos, recibos.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30784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Signer</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Firmar y enviar transacciones.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Sí</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30784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Contract</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Traducir llamadas de JS a la cadena usando el ABI.</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Según la función</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2" name="Shape 8"/>
          <p:cNvSpPr/>
          <p:nvPr/>
        </p:nvSpPr>
        <p:spPr>
          <a:xfrm>
            <a:off x="548640" y="4873752"/>
            <a:ext cx="11094415" cy="1271016"/>
          </a:xfrm>
          <a:prstGeom prst="rect">
            <a:avLst/>
          </a:prstGeom>
          <a:ln w="22225">
            <a:solidFill>
              <a:srgbClr val="0F0F11"/>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A.7 · EL ABI</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LO ÚNICO QUE LA INTERFAZ NECESITA DEL CONTRATO</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12</a:t>
            </a:r>
            <a:endParaRPr lang="en-US" sz="900" dirty="0"/>
          </a:p>
        </p:txBody>
      </p:sp>
      <p:sp>
        <p:nvSpPr>
          <p:cNvPr id="8" name="Shape 5"/>
          <p:cNvSpPr/>
          <p:nvPr/>
        </p:nvSpPr>
        <p:spPr>
          <a:xfrm>
            <a:off x="566928" y="1691640"/>
            <a:ext cx="11057839" cy="2148840"/>
          </a:xfrm>
          <a:prstGeom prst="rect">
            <a:avLst/>
          </a:prstGeom>
          <a:solidFill>
            <a:srgbClr val="16151B"/>
          </a:solidFill>
          <a:ln w="22225">
            <a:solidFill>
              <a:srgbClr val="16151B"/>
            </a:solidFill>
            <a:prstDash val="solid"/>
          </a:ln>
        </p:spPr>
      </p:sp>
      <p:sp>
        <p:nvSpPr>
          <p:cNvPr id="9" name="Text 6"/>
          <p:cNvSpPr/>
          <p:nvPr/>
        </p:nvSpPr>
        <p:spPr>
          <a:xfrm>
            <a:off x="768096" y="176479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EL ABI COMPLETO DE LA DAPP: CINCO LÍNEAS</a:t>
            </a:r>
            <a:endParaRPr lang="en-US" sz="850" dirty="0"/>
          </a:p>
        </p:txBody>
      </p:sp>
      <p:sp>
        <p:nvSpPr>
          <p:cNvPr id="10" name="Text 7"/>
          <p:cNvSpPr/>
          <p:nvPr/>
        </p:nvSpPr>
        <p:spPr>
          <a:xfrm>
            <a:off x="768096" y="2075688"/>
            <a:ext cx="10655503" cy="1655064"/>
          </a:xfrm>
          <a:prstGeom prst="rect">
            <a:avLst/>
          </a:prstGeom>
          <a:noFill/>
          <a:ln/>
        </p:spPr>
        <p:txBody>
          <a:bodyPr wrap="square" lIns="0" tIns="0" rIns="0" bIns="0" rtlCol="0" anchor="t"/>
          <a:lstStyle/>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ABI</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"function symbol() view returns (string)"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"function decimals() view returns (uint8)"</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"function balanceOf(address) view returns (uint256)"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"function transfer(address to, uint256 amount) returns (bool)"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"event Transfer(address indexed from, address indexed to, uint256 value)"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p:txBody>
      </p:sp>
      <p:sp>
        <p:nvSpPr>
          <p:cNvPr id="11" name="Text 8"/>
          <p:cNvSpPr/>
          <p:nvPr/>
        </p:nvSpPr>
        <p:spPr>
          <a:xfrm>
            <a:off x="566928" y="4023360"/>
            <a:ext cx="11057839" cy="1600200"/>
          </a:xfrm>
          <a:prstGeom prst="rect">
            <a:avLst/>
          </a:prstGeom>
          <a:noFill/>
          <a:ln/>
        </p:spPr>
        <p:txBody>
          <a:bodyPr wrap="square" lIns="0" tIns="0" rIns="0" bIns="0" rtlCol="0" anchor="t"/>
          <a:lstStyle/>
          <a:p>
            <a:pPr marL="203200" indent="-203200">
              <a:lnSpc>
                <a:spcPct val="118000"/>
              </a:lnSpc>
              <a:spcAft>
                <a:spcPts val="600"/>
              </a:spcAft>
              <a:buSzPct val="100000"/>
              <a:buChar char="■"/>
            </a:pPr>
            <a:r>
              <a:rPr lang="en-US" sz="1250" dirty="0">
                <a:solidFill>
                  <a:srgbClr val="3A3844"/>
                </a:solidFill>
                <a:latin typeface="Arial" pitchFamily="34" charset="0"/>
                <a:ea typeface="Arial" pitchFamily="34" charset="-122"/>
                <a:cs typeface="Arial" pitchFamily="34" charset="-120"/>
              </a:rPr>
              <a:t>Formato «legible» de ethers: se copia la firma de la función tal como en Solidity.</a:t>
            </a:r>
            <a:endParaRPr lang="en-US" sz="1250" dirty="0"/>
          </a:p>
          <a:p>
            <a:pPr marL="203200" indent="-203200">
              <a:lnSpc>
                <a:spcPct val="118000"/>
              </a:lnSpc>
              <a:spcAft>
                <a:spcPts val="600"/>
              </a:spcAft>
              <a:buSzPct val="100000"/>
              <a:buChar char="■"/>
            </a:pPr>
            <a:r>
              <a:rPr lang="en-US" sz="1250" dirty="0">
                <a:solidFill>
                  <a:srgbClr val="3A3844"/>
                </a:solidFill>
                <a:latin typeface="Arial" pitchFamily="34" charset="0"/>
                <a:ea typeface="Arial" pitchFamily="34" charset="-122"/>
                <a:cs typeface="Arial" pitchFamily="34" charset="-120"/>
              </a:rPr>
              <a:t>Solo lo que la interfaz usa. El ABI completo está en artifacts/ tras compilar con Hardhat.</a:t>
            </a:r>
            <a:endParaRPr lang="en-US" sz="1250" dirty="0"/>
          </a:p>
          <a:p>
            <a:pPr marL="203200" indent="-203200">
              <a:lnSpc>
                <a:spcPct val="118000"/>
              </a:lnSpc>
              <a:spcAft>
                <a:spcPts val="600"/>
              </a:spcAft>
              <a:buSzPct val="100000"/>
              <a:buChar char="■"/>
            </a:pPr>
            <a:r>
              <a:rPr lang="en-US" sz="1250" dirty="0">
                <a:solidFill>
                  <a:srgbClr val="3A3844"/>
                </a:solidFill>
                <a:latin typeface="Arial" pitchFamily="34" charset="0"/>
                <a:ea typeface="Arial" pitchFamily="34" charset="-122"/>
                <a:cs typeface="Arial" pitchFamily="34" charset="-120"/>
              </a:rPr>
              <a:t>Con él, ethers calcula el selector de 4 bytes (Sesión 5) y codifica los argumentos.</a:t>
            </a:r>
            <a:endParaRPr lang="en-US" sz="1250" dirty="0"/>
          </a:p>
          <a:p>
            <a:pPr marL="203200" indent="-203200">
              <a:lnSpc>
                <a:spcPct val="118000"/>
              </a:lnSpc>
              <a:spcAft>
                <a:spcPts val="600"/>
              </a:spcAft>
              <a:buSzPct val="100000"/>
              <a:buChar char="■"/>
            </a:pPr>
            <a:r>
              <a:rPr lang="en-US" sz="1250" dirty="0">
                <a:solidFill>
                  <a:srgbClr val="3A3844"/>
                </a:solidFill>
                <a:latin typeface="Arial" pitchFamily="34" charset="0"/>
                <a:ea typeface="Arial" pitchFamily="34" charset="-122"/>
                <a:cs typeface="Arial" pitchFamily="34" charset="-120"/>
              </a:rPr>
              <a:t>No es secreto: el contrato verificado lo publica en el explorador.</a:t>
            </a:r>
            <a:endParaRPr lang="en-US" sz="1250" dirty="0"/>
          </a:p>
        </p:txBody>
      </p:sp>
      <p:sp>
        <p:nvSpPr>
          <p:cNvPr id="12" name="Text 9"/>
          <p:cNvSpPr/>
          <p:nvPr/>
        </p:nvSpPr>
        <p:spPr>
          <a:xfrm>
            <a:off x="566928" y="5669280"/>
            <a:ext cx="11057839" cy="457200"/>
          </a:xfrm>
          <a:prstGeom prst="rect">
            <a:avLst/>
          </a:prstGeom>
          <a:noFill/>
          <a:ln/>
        </p:spPr>
        <p:txBody>
          <a:bodyPr wrap="square" lIns="0" tIns="0" rIns="0" bIns="0" rtlCol="0" anchor="t"/>
          <a:lstStyle/>
          <a:p>
            <a:pPr indent="0" marL="0">
              <a:lnSpc>
                <a:spcPct val="124000"/>
              </a:lnSpc>
              <a:buNone/>
            </a:pPr>
            <a:r>
              <a:rPr lang="en-US" sz="1200" dirty="0">
                <a:solidFill>
                  <a:srgbClr val="A35604"/>
                </a:solidFill>
                <a:latin typeface="Arial" pitchFamily="34" charset="0"/>
                <a:ea typeface="Arial" pitchFamily="34" charset="-122"/>
                <a:cs typeface="Arial" pitchFamily="34" charset="-120"/>
              </a:rPr>
              <a:t>Error típico: una coma de menos o un tipo mal escrito (uint en vez de uint256) y ethers lanza error al crear el Contract.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A.8 · LEER NO ES ESCRIBIR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LA DISTINCIÓN QUE DEFINE EL COSTO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13</a:t>
            </a:r>
            <a:endParaRPr lang="en-US" sz="900" dirty="0"/>
          </a:p>
        </p:txBody>
      </p:sp>
      <p:sp>
        <p:nvSpPr>
          <p:cNvPr id="8" name="Shape 5"/>
          <p:cNvSpPr/>
          <p:nvPr/>
        </p:nvSpPr>
        <p:spPr>
          <a:xfrm>
            <a:off x="566928" y="1691640"/>
            <a:ext cx="5391760" cy="237744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841248" y="187452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LECTURA · ETH_CALL</a:t>
            </a:r>
            <a:endParaRPr lang="en-US" sz="1050" dirty="0"/>
          </a:p>
        </p:txBody>
      </p:sp>
      <p:sp>
        <p:nvSpPr>
          <p:cNvPr id="10" name="Text 7"/>
          <p:cNvSpPr/>
          <p:nvPr/>
        </p:nvSpPr>
        <p:spPr>
          <a:xfrm>
            <a:off x="841248" y="2258568"/>
            <a:ext cx="4843120" cy="16459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ficha.balanceOf(ana)</a:t>
            </a:r>
            <a:endParaRPr lang="en-US" sz="1250" dirty="0"/>
          </a:p>
          <a:p>
            <a:pPr indent="0" marL="0">
              <a:lnSpc>
                <a:spcPct val="124000"/>
              </a:lnSpc>
              <a:buNone/>
            </a:pPr>
            <a:endParaRPr lang="en-US" sz="1250" dirty="0"/>
          </a:p>
          <a:p>
            <a:pPr indent="0" marL="0">
              <a:lnSpc>
                <a:spcPct val="124000"/>
              </a:lnSpc>
              <a:buNone/>
            </a:pPr>
            <a:r>
              <a:rPr lang="en-US" sz="1250" dirty="0">
                <a:solidFill>
                  <a:srgbClr val="3A3844"/>
                </a:solidFill>
                <a:latin typeface="Arial" pitchFamily="34" charset="0"/>
                <a:ea typeface="Arial" pitchFamily="34" charset="-122"/>
                <a:cs typeface="Arial" pitchFamily="34" charset="-120"/>
              </a:rPr>
              <a:t>El nodo ejecuta la función en su copia local y responde. No hay transacción, no hay firma, no hay gas para el usuario, no queda rastro en la cadena. Instantánea.</a:t>
            </a:r>
            <a:endParaRPr lang="en-US" sz="1250" dirty="0"/>
          </a:p>
        </p:txBody>
      </p:sp>
      <p:sp>
        <p:nvSpPr>
          <p:cNvPr id="11" name="Shape 8"/>
          <p:cNvSpPr/>
          <p:nvPr/>
        </p:nvSpPr>
        <p:spPr>
          <a:xfrm>
            <a:off x="6233008" y="1691640"/>
            <a:ext cx="5391760" cy="237744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2" name="Text 9"/>
          <p:cNvSpPr/>
          <p:nvPr/>
        </p:nvSpPr>
        <p:spPr>
          <a:xfrm>
            <a:off x="6507328" y="187452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ESCRITURA · TRANSACCIÓN</a:t>
            </a:r>
            <a:endParaRPr lang="en-US" sz="1050" dirty="0"/>
          </a:p>
        </p:txBody>
      </p:sp>
      <p:sp>
        <p:nvSpPr>
          <p:cNvPr id="13" name="Text 10"/>
          <p:cNvSpPr/>
          <p:nvPr/>
        </p:nvSpPr>
        <p:spPr>
          <a:xfrm>
            <a:off x="6507328" y="2258568"/>
            <a:ext cx="4843120" cy="164592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ficha.transfer(dest, monto)</a:t>
            </a:r>
            <a:endParaRPr lang="en-US" sz="1250" dirty="0"/>
          </a:p>
          <a:p>
            <a:pPr indent="0" marL="0">
              <a:lnSpc>
                <a:spcPct val="124000"/>
              </a:lnSpc>
              <a:buNone/>
            </a:pPr>
            <a:endParaRPr lang="en-US" sz="1250" dirty="0"/>
          </a:p>
          <a:p>
            <a:pPr indent="0" marL="0">
              <a:lnSpc>
                <a:spcPct val="124000"/>
              </a:lnSpc>
              <a:buNone/>
            </a:pPr>
            <a:r>
              <a:rPr lang="en-US" sz="1250" dirty="0">
                <a:solidFill>
                  <a:srgbClr val="3A3844"/>
                </a:solidFill>
                <a:latin typeface="Arial" pitchFamily="34" charset="0"/>
                <a:ea typeface="Arial" pitchFamily="34" charset="-122"/>
                <a:cs typeface="Arial" pitchFamily="34" charset="-120"/>
              </a:rPr>
              <a:t>La billetera pide firmar; la transacción viaja a la red; espera turno en un bloque; cuesta gas; puede fallar. Devuelve una tx cuyo recibo hay que esperar.</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4251960"/>
          <a:ext cx="11057839" cy="914400"/>
        </p:xfrm>
        <a:graphic>
          <a:graphicData uri="http://schemas.openxmlformats.org/drawingml/2006/table">
            <a:tbl>
              <a:tblPr/>
              <a:tblGrid>
                <a:gridCol w="6949440"/>
                <a:gridCol w="410839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OPERACIÓN SOBRE FICHAUSB (MEDIDA EN HARDHAT)</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GAS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36880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transfer a una cuenta que tenía saldo 0</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51 692</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36880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transfer a una cuenta que ya tenía saldo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34 592</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36880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balanceOf llamada como lectura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0 para el usuario (el nodo la ejecuta gratis)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5" name="Shape 11"/>
          <p:cNvSpPr/>
          <p:nvPr/>
        </p:nvSpPr>
        <p:spPr>
          <a:xfrm>
            <a:off x="548640" y="4233672"/>
            <a:ext cx="11094415" cy="1453896"/>
          </a:xfrm>
          <a:prstGeom prst="rect">
            <a:avLst/>
          </a:prstGeom>
          <a:ln w="22225">
            <a:solidFill>
              <a:srgbClr val="0F0F11"/>
            </a:solidFill>
            <a:prstDash val="solid"/>
          </a:ln>
        </p:spPr>
      </p:sp>
      <p:sp>
        <p:nvSpPr>
          <p:cNvPr id="16" name="Text 12"/>
          <p:cNvSpPr/>
          <p:nvPr/>
        </p:nvSpPr>
        <p:spPr>
          <a:xfrm>
            <a:off x="566928" y="5760720"/>
            <a:ext cx="11057839" cy="411480"/>
          </a:xfrm>
          <a:prstGeom prst="rect">
            <a:avLst/>
          </a:prstGeom>
          <a:noFill/>
          <a:ln/>
        </p:spPr>
        <p:txBody>
          <a:bodyPr wrap="square" lIns="0" tIns="0" rIns="0" bIns="0" rtlCol="0" anchor="t"/>
          <a:lstStyle/>
          <a:p>
            <a:pPr indent="0" marL="0">
              <a:lnSpc>
                <a:spcPct val="124000"/>
              </a:lnSpc>
              <a:buNone/>
            </a:pPr>
            <a:r>
              <a:rPr lang="en-US" sz="1150" dirty="0">
                <a:solidFill>
                  <a:srgbClr val="A35604"/>
                </a:solidFill>
                <a:latin typeface="Arial" pitchFamily="34" charset="0"/>
                <a:ea typeface="Arial" pitchFamily="34" charset="-122"/>
                <a:cs typeface="Arial" pitchFamily="34" charset="-120"/>
              </a:rPr>
              <a:t>¿Por qué la primera transferencia cuesta más? Escribir una celda de almacenamiento que estaba en cero es la operación más cara de la EVM (Sesión 5).</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A.9 · UNIDADES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NO HAY DECIMALES EN LA CADENA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14</a:t>
            </a:r>
            <a:endParaRPr lang="en-US" sz="900" dirty="0"/>
          </a:p>
        </p:txBody>
      </p:sp>
      <p:sp>
        <p:nvSpPr>
          <p:cNvPr id="8" name="Shape 5"/>
          <p:cNvSpPr/>
          <p:nvPr/>
        </p:nvSpPr>
        <p:spPr>
          <a:xfrm>
            <a:off x="566928" y="1691640"/>
            <a:ext cx="11057839" cy="1965960"/>
          </a:xfrm>
          <a:prstGeom prst="rect">
            <a:avLst/>
          </a:prstGeom>
          <a:solidFill>
            <a:srgbClr val="16151B"/>
          </a:solidFill>
          <a:ln w="22225">
            <a:solidFill>
              <a:srgbClr val="16151B"/>
            </a:solidFill>
            <a:prstDash val="solid"/>
          </a:ln>
        </p:spPr>
      </p:sp>
      <p:sp>
        <p:nvSpPr>
          <p:cNvPr id="9" name="Text 6"/>
          <p:cNvSpPr/>
          <p:nvPr/>
        </p:nvSpPr>
        <p:spPr>
          <a:xfrm>
            <a:off x="768096" y="176479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EJECUTADO CON ETHERS 6</a:t>
            </a:r>
            <a:endParaRPr lang="en-US" sz="850" dirty="0"/>
          </a:p>
        </p:txBody>
      </p:sp>
      <p:sp>
        <p:nvSpPr>
          <p:cNvPr id="10" name="Text 7"/>
          <p:cNvSpPr/>
          <p:nvPr/>
        </p:nvSpPr>
        <p:spPr>
          <a:xfrm>
            <a:off x="768096" y="2075688"/>
            <a:ext cx="10655503" cy="1472184"/>
          </a:xfrm>
          <a:prstGeom prst="rect">
            <a:avLst/>
          </a:prstGeom>
          <a:noFill/>
          <a:ln/>
        </p:spPr>
        <p:txBody>
          <a:bodyPr wrap="square" lIns="0" tIns="0" rIns="0" bIns="0" rtlCol="0" anchor="t"/>
          <a:lstStyle/>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decimales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18</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ethers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parseUnits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"2.5"</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18</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-&gt; 2500000000000000000n   (lo que viaja)</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ethers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formatUnits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1000000000000000000000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18</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-&gt; "1000.0"  (lo que se muestra)</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Number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1000000000000000000000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1e+21 -&gt; pierde precisión: NO</a:t>
            </a:r>
            <a:endParaRPr lang="en-US" sz="1150" dirty="0"/>
          </a:p>
        </p:txBody>
      </p:sp>
      <p:sp>
        <p:nvSpPr>
          <p:cNvPr id="11" name="Shape 8"/>
          <p:cNvSpPr/>
          <p:nvPr/>
        </p:nvSpPr>
        <p:spPr>
          <a:xfrm>
            <a:off x="566928" y="3840480"/>
            <a:ext cx="5391760" cy="22860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2" name="Text 9"/>
          <p:cNvSpPr/>
          <p:nvPr/>
        </p:nvSpPr>
        <p:spPr>
          <a:xfrm>
            <a:off x="841248" y="402336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REGLA DE ORO</a:t>
            </a:r>
            <a:endParaRPr lang="en-US" sz="1050" dirty="0"/>
          </a:p>
        </p:txBody>
      </p:sp>
      <p:sp>
        <p:nvSpPr>
          <p:cNvPr id="13" name="Text 10"/>
          <p:cNvSpPr/>
          <p:nvPr/>
        </p:nvSpPr>
        <p:spPr>
          <a:xfrm>
            <a:off x="841248" y="4407408"/>
            <a:ext cx="4843120" cy="15544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Todo lo que va o viene de la cadena es un entero BigInt (sufijo n). Se convierte a texto legible solo para mostrar, y de texto a BigInt solo al enviar.</a:t>
            </a:r>
            <a:endParaRPr lang="en-US" sz="1250" dirty="0"/>
          </a:p>
        </p:txBody>
      </p:sp>
      <p:sp>
        <p:nvSpPr>
          <p:cNvPr id="14" name="Shape 11"/>
          <p:cNvSpPr/>
          <p:nvPr/>
        </p:nvSpPr>
        <p:spPr>
          <a:xfrm>
            <a:off x="6233008" y="3840480"/>
            <a:ext cx="5391760" cy="228600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5" name="Text 12"/>
          <p:cNvSpPr/>
          <p:nvPr/>
        </p:nvSpPr>
        <p:spPr>
          <a:xfrm>
            <a:off x="6507328" y="402336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EL ERROR DE CONCEPTO TÍPICO</a:t>
            </a:r>
            <a:endParaRPr lang="en-US" sz="1050" dirty="0"/>
          </a:p>
        </p:txBody>
      </p:sp>
      <p:sp>
        <p:nvSpPr>
          <p:cNvPr id="16" name="Text 13"/>
          <p:cNvSpPr/>
          <p:nvPr/>
        </p:nvSpPr>
        <p:spPr>
          <a:xfrm>
            <a:off x="6507328" y="4407408"/>
            <a:ext cx="4843120" cy="15544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Usar Number o parseFloat con montos: 0,1 + 0,2 no da 0,3 en JavaScript, y los enteros grandes pierden dígitos. Con dinero, eso es un error de contabilidad.</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A.10 · LAS DOS ESPERAS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«ENVIADA» NO ES «HECHA»</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15</a:t>
            </a:r>
            <a:endParaRPr lang="en-US" sz="900" dirty="0"/>
          </a:p>
        </p:txBody>
      </p:sp>
      <p:sp>
        <p:nvSpPr>
          <p:cNvPr id="8" name="Shape 5"/>
          <p:cNvSpPr/>
          <p:nvPr/>
        </p:nvSpPr>
        <p:spPr>
          <a:xfrm>
            <a:off x="566928" y="1691640"/>
            <a:ext cx="11057839" cy="2057400"/>
          </a:xfrm>
          <a:prstGeom prst="rect">
            <a:avLst/>
          </a:prstGeom>
          <a:solidFill>
            <a:srgbClr val="16151B"/>
          </a:solidFill>
          <a:ln w="22225">
            <a:solidFill>
              <a:srgbClr val="16151B"/>
            </a:solidFill>
            <a:prstDash val="solid"/>
          </a:ln>
        </p:spPr>
      </p:sp>
      <p:sp>
        <p:nvSpPr>
          <p:cNvPr id="9" name="Text 6"/>
          <p:cNvSpPr/>
          <p:nvPr/>
        </p:nvSpPr>
        <p:spPr>
          <a:xfrm>
            <a:off x="768096" y="1837944"/>
            <a:ext cx="10655503" cy="1801368"/>
          </a:xfrm>
          <a:prstGeom prst="rect">
            <a:avLst/>
          </a:prstGeom>
          <a:noFill/>
          <a:ln/>
        </p:spPr>
        <p:txBody>
          <a:bodyPr wrap="square" lIns="0" tIns="0" rIns="0" bIns="0" rtlCol="0" anchor="t"/>
          <a:lstStyle/>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tx</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ficha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transfer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cantidad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ya hay HASH: la transacción fue firmada y enviada. NO se ha transferido nada.</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recibo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tx</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ahora sí: está en un bloque. recibo.status 1 = éxito.</a:t>
            </a:r>
            <a:endParaRPr lang="en-US" sz="1150" dirty="0"/>
          </a:p>
          <a:p>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en ethers v6, si status es 0 (revertida), wait() LANZA un error CALL_EXCEPTION.</a:t>
            </a:r>
            <a:endParaRPr lang="en-US" sz="1150" dirty="0"/>
          </a:p>
        </p:txBody>
      </p:sp>
      <p:sp>
        <p:nvSpPr>
          <p:cNvPr id="10" name="Shape 7"/>
          <p:cNvSpPr/>
          <p:nvPr/>
        </p:nvSpPr>
        <p:spPr>
          <a:xfrm>
            <a:off x="566928" y="3931920"/>
            <a:ext cx="11057839" cy="658368"/>
          </a:xfrm>
          <a:prstGeom prst="rect">
            <a:avLst/>
          </a:prstGeom>
          <a:solidFill>
            <a:srgbClr val="FFFFFF"/>
          </a:solidFill>
          <a:ln w="15875">
            <a:solidFill>
              <a:srgbClr val="D9D6E0"/>
            </a:solidFill>
            <a:prstDash val="solid"/>
          </a:ln>
        </p:spPr>
      </p:sp>
      <p:sp>
        <p:nvSpPr>
          <p:cNvPr id="11" name="Text 8"/>
          <p:cNvSpPr/>
          <p:nvPr/>
        </p:nvSpPr>
        <p:spPr>
          <a:xfrm>
            <a:off x="694944" y="3931920"/>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2" name="Text 9"/>
          <p:cNvSpPr/>
          <p:nvPr/>
        </p:nvSpPr>
        <p:spPr>
          <a:xfrm>
            <a:off x="1280160" y="4114800"/>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PRIMER AWAIT</a:t>
            </a:r>
            <a:endParaRPr lang="en-US" sz="1000" dirty="0"/>
          </a:p>
        </p:txBody>
      </p:sp>
      <p:sp>
        <p:nvSpPr>
          <p:cNvPr id="13" name="Text 10"/>
          <p:cNvSpPr/>
          <p:nvPr/>
        </p:nvSpPr>
        <p:spPr>
          <a:xfrm>
            <a:off x="3657600" y="4023360"/>
            <a:ext cx="7857439" cy="512064"/>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Espera a que el usuario firme en MetaMask y a que el RPC acepte la transacción. Segundos.</a:t>
            </a:r>
            <a:endParaRPr lang="en-US" sz="1200" dirty="0"/>
          </a:p>
        </p:txBody>
      </p:sp>
      <p:sp>
        <p:nvSpPr>
          <p:cNvPr id="14" name="Shape 11"/>
          <p:cNvSpPr/>
          <p:nvPr/>
        </p:nvSpPr>
        <p:spPr>
          <a:xfrm>
            <a:off x="566928" y="4681728"/>
            <a:ext cx="11057839" cy="658368"/>
          </a:xfrm>
          <a:prstGeom prst="rect">
            <a:avLst/>
          </a:prstGeom>
          <a:solidFill>
            <a:srgbClr val="FAF9FB"/>
          </a:solidFill>
          <a:ln w="15875">
            <a:solidFill>
              <a:srgbClr val="D9D6E0"/>
            </a:solidFill>
            <a:prstDash val="solid"/>
          </a:ln>
        </p:spPr>
      </p:sp>
      <p:sp>
        <p:nvSpPr>
          <p:cNvPr id="15" name="Text 12"/>
          <p:cNvSpPr/>
          <p:nvPr/>
        </p:nvSpPr>
        <p:spPr>
          <a:xfrm>
            <a:off x="694944" y="4681728"/>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6" name="Text 13"/>
          <p:cNvSpPr/>
          <p:nvPr/>
        </p:nvSpPr>
        <p:spPr>
          <a:xfrm>
            <a:off x="1280160" y="4864608"/>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ENTRE LOS DOS</a:t>
            </a:r>
            <a:endParaRPr lang="en-US" sz="1000" dirty="0"/>
          </a:p>
        </p:txBody>
      </p:sp>
      <p:sp>
        <p:nvSpPr>
          <p:cNvPr id="17" name="Text 14"/>
          <p:cNvSpPr/>
          <p:nvPr/>
        </p:nvSpPr>
        <p:spPr>
          <a:xfrm>
            <a:off x="3657600" y="4773168"/>
            <a:ext cx="7857439" cy="512064"/>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La transacción está pendiente en el mempool. Puede tardar, reemplazarse o no minarse nunca.</a:t>
            </a:r>
            <a:endParaRPr lang="en-US" sz="1200" dirty="0"/>
          </a:p>
        </p:txBody>
      </p:sp>
      <p:sp>
        <p:nvSpPr>
          <p:cNvPr id="18" name="Shape 15"/>
          <p:cNvSpPr/>
          <p:nvPr/>
        </p:nvSpPr>
        <p:spPr>
          <a:xfrm>
            <a:off x="566928" y="5431536"/>
            <a:ext cx="11057839" cy="658368"/>
          </a:xfrm>
          <a:prstGeom prst="rect">
            <a:avLst/>
          </a:prstGeom>
          <a:solidFill>
            <a:srgbClr val="FFFFFF"/>
          </a:solidFill>
          <a:ln w="15875">
            <a:solidFill>
              <a:srgbClr val="D9D6E0"/>
            </a:solidFill>
            <a:prstDash val="solid"/>
          </a:ln>
        </p:spPr>
      </p:sp>
      <p:sp>
        <p:nvSpPr>
          <p:cNvPr id="19" name="Text 16"/>
          <p:cNvSpPr/>
          <p:nvPr/>
        </p:nvSpPr>
        <p:spPr>
          <a:xfrm>
            <a:off x="694944" y="5431536"/>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20" name="Text 17"/>
          <p:cNvSpPr/>
          <p:nvPr/>
        </p:nvSpPr>
        <p:spPr>
          <a:xfrm>
            <a:off x="1280160" y="561441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SEGUNDO AWAIT</a:t>
            </a:r>
            <a:endParaRPr lang="en-US" sz="1000" dirty="0"/>
          </a:p>
        </p:txBody>
      </p:sp>
      <p:sp>
        <p:nvSpPr>
          <p:cNvPr id="21" name="Text 18"/>
          <p:cNvSpPr/>
          <p:nvPr/>
        </p:nvSpPr>
        <p:spPr>
          <a:xfrm>
            <a:off x="3657600" y="5522976"/>
            <a:ext cx="7857439" cy="512064"/>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Espera a que se mine. En Sepolia, unos 12 s por bloque; en la red local, al instante.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A.11 · CUÁNTO ESPERAR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UNA CONFIRMACIÓN NO ES FINALIDAD</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16</a:t>
            </a:r>
            <a:endParaRPr lang="en-US" sz="900" dirty="0"/>
          </a:p>
        </p:txBody>
      </p:sp>
      <p:sp>
        <p:nvSpPr>
          <p:cNvPr id="8" name="Text 5"/>
          <p:cNvSpPr/>
          <p:nvPr/>
        </p:nvSpPr>
        <p:spPr>
          <a:xfrm>
            <a:off x="566928" y="1691640"/>
            <a:ext cx="11057839" cy="59436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tx.wait() espera por defecto UNA confirmación: el bloque que la incluye. Recuerden la Sesión 4: ese bloque todavía puede reorganizarse.</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2423160"/>
          <a:ext cx="11057839" cy="914400"/>
        </p:xfrm>
        <a:graphic>
          <a:graphicData uri="http://schemas.openxmlformats.org/drawingml/2006/table">
            <a:tbl>
              <a:tblPr/>
              <a:tblGrid>
                <a:gridCol w="5760720"/>
                <a:gridCol w="52971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PASA EN LA INTERFAZ</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CUÁNTO ESPERAR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3644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Mostrar un saldo actualizado, un «me gusta»</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1 confirmación: tx.wait().</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3644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Liberar algo de valor (un producto, un certificado)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Varias: tx.wait(n), o esperar la finalidad.</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3644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Finalidad económica en Ethereum</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Unos 13 minutos (dos épocas, Sesión 4).</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404872"/>
            <a:ext cx="11094415" cy="1956816"/>
          </a:xfrm>
          <a:prstGeom prst="rect">
            <a:avLst/>
          </a:prstGeom>
          <a:ln w="22225">
            <a:solidFill>
              <a:srgbClr val="0F0F11"/>
            </a:solidFill>
            <a:prstDash val="solid"/>
          </a:ln>
        </p:spPr>
      </p:sp>
      <p:sp>
        <p:nvSpPr>
          <p:cNvPr id="11" name="Shape 7"/>
          <p:cNvSpPr/>
          <p:nvPr/>
        </p:nvSpPr>
        <p:spPr>
          <a:xfrm>
            <a:off x="566928" y="4526280"/>
            <a:ext cx="11057839" cy="16002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2" name="Image 1" descr="preencoded.png">    </p:cNvPr>
          <p:cNvPicPr>
            <a:picLocks noChangeAspect="1"/>
          </p:cNvPicPr>
          <p:nvPr/>
        </p:nvPicPr>
        <p:blipFill>
          <a:blip r:embed="rId2"/>
          <a:stretch>
            <a:fillRect/>
          </a:stretch>
        </p:blipFill>
        <p:spPr>
          <a:xfrm>
            <a:off x="804672" y="4745736"/>
            <a:ext cx="237744" cy="237744"/>
          </a:xfrm>
          <a:prstGeom prst="rect">
            <a:avLst/>
          </a:prstGeom>
        </p:spPr>
      </p:pic>
      <p:sp>
        <p:nvSpPr>
          <p:cNvPr id="13" name="Text 8"/>
          <p:cNvSpPr/>
          <p:nvPr/>
        </p:nvSpPr>
        <p:spPr>
          <a:xfrm>
            <a:off x="1133856" y="471830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DECISIÓN DE NEGOCIO, NO TÉCNICA</a:t>
            </a:r>
            <a:endParaRPr lang="en-US" sz="950" dirty="0"/>
          </a:p>
        </p:txBody>
      </p:sp>
      <p:sp>
        <p:nvSpPr>
          <p:cNvPr id="14" name="Text 9"/>
          <p:cNvSpPr/>
          <p:nvPr/>
        </p:nvSpPr>
        <p:spPr>
          <a:xfrm>
            <a:off x="804672" y="5038344"/>
            <a:ext cx="10582351" cy="99669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Cuántas confirmaciones esperar depende de cuánto se pierde si la transacción desaparece. Para el laboratorio, una basta. Para un sistema que entrega algo de valor, hay que escribir el número en el diseño y justificarlo, igual que en la Sesión 4.</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A.12 · VERIFICACIÓN · ETHERS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¿QUÉ MUESTRA LA PANTALLA, Y CUÁNDO?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17</a:t>
            </a:r>
            <a:endParaRPr lang="en-US" sz="900" dirty="0"/>
          </a:p>
        </p:txBody>
      </p:sp>
      <p:sp>
        <p:nvSpPr>
          <p:cNvPr id="8" name="Shape 5"/>
          <p:cNvSpPr/>
          <p:nvPr/>
        </p:nvSpPr>
        <p:spPr>
          <a:xfrm>
            <a:off x="566928" y="1691640"/>
            <a:ext cx="11057839" cy="1828800"/>
          </a:xfrm>
          <a:prstGeom prst="rect">
            <a:avLst/>
          </a:prstGeom>
          <a:solidFill>
            <a:srgbClr val="16151B"/>
          </a:solidFill>
          <a:ln w="22225">
            <a:solidFill>
              <a:srgbClr val="16151B"/>
            </a:solidFill>
            <a:prstDash val="solid"/>
          </a:ln>
        </p:spPr>
      </p:sp>
      <p:sp>
        <p:nvSpPr>
          <p:cNvPr id="9" name="Text 6"/>
          <p:cNvSpPr/>
          <p:nvPr/>
        </p:nvSpPr>
        <p:spPr>
          <a:xfrm>
            <a:off x="768096" y="176479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CÓDIGO DE UN ESTUDIANTE</a:t>
            </a:r>
            <a:endParaRPr lang="en-US" sz="850" dirty="0"/>
          </a:p>
        </p:txBody>
      </p:sp>
      <p:sp>
        <p:nvSpPr>
          <p:cNvPr id="10" name="Text 7"/>
          <p:cNvSpPr/>
          <p:nvPr/>
        </p:nvSpPr>
        <p:spPr>
          <a:xfrm>
            <a:off x="768096" y="2075688"/>
            <a:ext cx="10655503" cy="1335024"/>
          </a:xfrm>
          <a:prstGeom prst="rect">
            <a:avLst/>
          </a:prstGeom>
          <a:noFill/>
          <a:ln/>
        </p:spPr>
        <p:txBody>
          <a:bodyPr wrap="square" lIns="0" tIns="0" rIns="0" bIns="0" rtlCol="0" anchor="t"/>
          <a:lstStyle/>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estado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"Confirma en la billetera…"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tx</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ficha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transfer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ethers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parseUnits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monto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18</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estado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"¡Listo! Transferencia hecha."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(1)</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recibo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await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tx</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wait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refrescarSaldo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p:txBody>
      </p:sp>
      <p:sp>
        <p:nvSpPr>
          <p:cNvPr id="11" name="Text 8"/>
          <p:cNvSpPr/>
          <p:nvPr/>
        </p:nvSpPr>
        <p:spPr>
          <a:xfrm>
            <a:off x="566928" y="3657600"/>
            <a:ext cx="11057839" cy="1097280"/>
          </a:xfrm>
          <a:prstGeom prst="rect">
            <a:avLst/>
          </a:prstGeom>
          <a:noFill/>
          <a:ln/>
        </p:spPr>
        <p:txBody>
          <a:bodyPr wrap="square" lIns="0" tIns="0" rIns="0" bIns="0" rtlCol="0" anchor="t"/>
          <a:lstStyle/>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¿Qué está mal en la línea (1)? ¿Qué debería decir ahí?</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Si el usuario escribe 2,5 en el monto, ¿qué número exacto viaja a la cadena?</a:t>
            </a:r>
            <a:endParaRPr lang="en-US" sz="1300" dirty="0"/>
          </a:p>
          <a:p>
            <a:pPr marL="203200" indent="-203200">
              <a:lnSpc>
                <a:spcPct val="118000"/>
              </a:lnSpc>
              <a:spcAft>
                <a:spcPts val="500"/>
              </a:spcAft>
              <a:buSzPct val="100000"/>
              <a:buChar char="■"/>
            </a:pPr>
            <a:r>
              <a:rPr lang="en-US" sz="1300" dirty="0">
                <a:solidFill>
                  <a:srgbClr val="3A3844"/>
                </a:solidFill>
                <a:latin typeface="Arial" pitchFamily="34" charset="0"/>
                <a:ea typeface="Arial" pitchFamily="34" charset="-122"/>
                <a:cs typeface="Arial" pitchFamily="34" charset="-120"/>
              </a:rPr>
              <a:t>¿Qué pasa con este código si la transacción se revierte?</a:t>
            </a:r>
            <a:endParaRPr lang="en-US" sz="1300" dirty="0"/>
          </a:p>
        </p:txBody>
      </p:sp>
      <p:sp>
        <p:nvSpPr>
          <p:cNvPr id="12" name="Shape 9"/>
          <p:cNvSpPr/>
          <p:nvPr/>
        </p:nvSpPr>
        <p:spPr>
          <a:xfrm>
            <a:off x="566928" y="4846320"/>
            <a:ext cx="11057839" cy="1280160"/>
          </a:xfrm>
          <a:prstGeom prst="rect">
            <a:avLst/>
          </a:prstGeom>
          <a:solidFill>
            <a:srgbClr val="F2F0F5"/>
          </a:solidFill>
          <a:ln w="22225">
            <a:solidFill>
              <a:srgbClr val="0F0F11"/>
            </a:solidFill>
            <a:prstDash val="solid"/>
          </a:ln>
        </p:spPr>
      </p:sp>
      <p:pic>
        <p:nvPicPr>
          <p:cNvPr id="13" name="Image 1" descr="preencoded.png">    </p:cNvPr>
          <p:cNvPicPr>
            <a:picLocks noChangeAspect="1"/>
          </p:cNvPicPr>
          <p:nvPr/>
        </p:nvPicPr>
        <p:blipFill>
          <a:blip r:embed="rId2"/>
          <a:stretch>
            <a:fillRect/>
          </a:stretch>
        </p:blipFill>
        <p:spPr>
          <a:xfrm>
            <a:off x="804672" y="5065776"/>
            <a:ext cx="237744" cy="237744"/>
          </a:xfrm>
          <a:prstGeom prst="rect">
            <a:avLst/>
          </a:prstGeom>
        </p:spPr>
      </p:pic>
      <p:sp>
        <p:nvSpPr>
          <p:cNvPr id="14" name="Text 10"/>
          <p:cNvSpPr/>
          <p:nvPr/>
        </p:nvSpPr>
        <p:spPr>
          <a:xfrm>
            <a:off x="1133856" y="5038344"/>
            <a:ext cx="10234879" cy="292608"/>
          </a:xfrm>
          <a:prstGeom prst="rect">
            <a:avLst/>
          </a:prstGeom>
          <a:noFill/>
          <a:ln/>
        </p:spPr>
        <p:txBody>
          <a:bodyPr wrap="square" lIns="0" tIns="0" rIns="0" bIns="0" rtlCol="0" anchor="ctr"/>
          <a:lstStyle/>
          <a:p>
            <a:pPr indent="0" marL="0">
              <a:buNone/>
            </a:pPr>
            <a:r>
              <a:rPr lang="en-US" sz="950" b="1" spc="150" kern="0" dirty="0">
                <a:solidFill>
                  <a:srgbClr val="6F6B80"/>
                </a:solidFill>
                <a:latin typeface="Courier New" pitchFamily="34" charset="0"/>
                <a:ea typeface="Courier New" pitchFamily="34" charset="-122"/>
                <a:cs typeface="Courier New" pitchFamily="34" charset="-120"/>
              </a:rPr>
              <a:t>RESPUESTAS</a:t>
            </a:r>
            <a:endParaRPr lang="en-US" sz="950" dirty="0"/>
          </a:p>
        </p:txBody>
      </p:sp>
      <p:sp>
        <p:nvSpPr>
          <p:cNvPr id="15" name="Text 11"/>
          <p:cNvSpPr/>
          <p:nvPr/>
        </p:nvSpPr>
        <p:spPr>
          <a:xfrm>
            <a:off x="804672" y="5358384"/>
            <a:ext cx="10582351" cy="676656"/>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(1) Dice «listo» cuando apenas se ENVIÓ: debe decir «enviada, esperando confirmación» y el «listo» va después de wait(). Viaja 2500000000000000000n. Si se revierte, wait() lanza CALL_EXCEPTION y, sin try/catch, la pantalla se queda en «¡Listo!»: una mentira.</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A.13 · ESCUCHAR LA CADENA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QUE LA INTERFAZ SE ACTUALICE SOLA</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18</a:t>
            </a:r>
            <a:endParaRPr lang="en-US" sz="900" dirty="0"/>
          </a:p>
        </p:txBody>
      </p:sp>
      <p:sp>
        <p:nvSpPr>
          <p:cNvPr id="8" name="Shape 5"/>
          <p:cNvSpPr/>
          <p:nvPr/>
        </p:nvSpPr>
        <p:spPr>
          <a:xfrm>
            <a:off x="566928" y="1691640"/>
            <a:ext cx="11057839" cy="1645920"/>
          </a:xfrm>
          <a:prstGeom prst="rect">
            <a:avLst/>
          </a:prstGeom>
          <a:solidFill>
            <a:srgbClr val="16151B"/>
          </a:solidFill>
          <a:ln w="22225">
            <a:solidFill>
              <a:srgbClr val="16151B"/>
            </a:solidFill>
            <a:prstDash val="solid"/>
          </a:ln>
        </p:spPr>
      </p:sp>
      <p:sp>
        <p:nvSpPr>
          <p:cNvPr id="9" name="Text 6"/>
          <p:cNvSpPr/>
          <p:nvPr/>
        </p:nvSpPr>
        <p:spPr>
          <a:xfrm>
            <a:off x="768096" y="176479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DAPP-FICHA/INDEX.HTML</a:t>
            </a:r>
            <a:endParaRPr lang="en-US" sz="850" dirty="0"/>
          </a:p>
        </p:txBody>
      </p:sp>
      <p:sp>
        <p:nvSpPr>
          <p:cNvPr id="10" name="Text 7"/>
          <p:cNvSpPr/>
          <p:nvPr/>
        </p:nvSpPr>
        <p:spPr>
          <a:xfrm>
            <a:off x="768096" y="2075688"/>
            <a:ext cx="10655503" cy="1152144"/>
          </a:xfrm>
          <a:prstGeom prst="rect">
            <a:avLst/>
          </a:prstGeom>
          <a:noFill/>
          <a:ln/>
        </p:spPr>
        <p:txBody>
          <a:bodyPr wrap="square" lIns="0" tIns="0" rIns="0" bIns="0" rtlCol="0" anchor="t"/>
          <a:lstStyle/>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suscribirEventos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contrato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on</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"Transfer"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from</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from</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cuenta</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cuenta</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refrescarSaldo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8B8697"/>
                </a:solidFill>
                <a:latin typeface="Courier New" pitchFamily="34" charset="0"/>
                <a:ea typeface="Courier New" pitchFamily="34" charset="-122"/>
                <a:cs typeface="Courier New" pitchFamily="34" charset="-120"/>
              </a:rPr>
              <a:t>// solo si me toca</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p:txBody>
      </p:sp>
      <p:sp>
        <p:nvSpPr>
          <p:cNvPr id="11" name="Shape 8"/>
          <p:cNvSpPr/>
          <p:nvPr/>
        </p:nvSpPr>
        <p:spPr>
          <a:xfrm>
            <a:off x="566928" y="3520440"/>
            <a:ext cx="5391760" cy="16002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2" name="Text 9"/>
          <p:cNvSpPr/>
          <p:nvPr/>
        </p:nvSpPr>
        <p:spPr>
          <a:xfrm>
            <a:off x="841248" y="370332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SIN EVENTOS</a:t>
            </a:r>
            <a:endParaRPr lang="en-US" sz="1050" dirty="0"/>
          </a:p>
        </p:txBody>
      </p:sp>
      <p:sp>
        <p:nvSpPr>
          <p:cNvPr id="13" name="Text 10"/>
          <p:cNvSpPr/>
          <p:nvPr/>
        </p:nvSpPr>
        <p:spPr>
          <a:xfrm>
            <a:off x="841248" y="4087368"/>
            <a:ext cx="4843120" cy="8686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 interfaz pregunta el saldo cada pocos segundos, cambie o no. Gasta cuota del RPC y siempre va un poco atrasada.</a:t>
            </a:r>
            <a:endParaRPr lang="en-US" sz="1250" dirty="0"/>
          </a:p>
        </p:txBody>
      </p:sp>
      <p:sp>
        <p:nvSpPr>
          <p:cNvPr id="14" name="Shape 11"/>
          <p:cNvSpPr/>
          <p:nvPr/>
        </p:nvSpPr>
        <p:spPr>
          <a:xfrm>
            <a:off x="6233008" y="3520440"/>
            <a:ext cx="5391760" cy="16002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5" name="Text 12"/>
          <p:cNvSpPr/>
          <p:nvPr/>
        </p:nvSpPr>
        <p:spPr>
          <a:xfrm>
            <a:off x="6507328" y="370332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CON EVENTOS</a:t>
            </a:r>
            <a:endParaRPr lang="en-US" sz="1050" dirty="0"/>
          </a:p>
        </p:txBody>
      </p:sp>
      <p:sp>
        <p:nvSpPr>
          <p:cNvPr id="16" name="Text 13"/>
          <p:cNvSpPr/>
          <p:nvPr/>
        </p:nvSpPr>
        <p:spPr>
          <a:xfrm>
            <a:off x="6507328" y="4087368"/>
            <a:ext cx="4843120" cy="8686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 interfaz no pregunta hasta que el contrato emite Transfer. Si un compañero les transfiere, el saldo cambia solo, sin recargar.</a:t>
            </a:r>
            <a:endParaRPr lang="en-US" sz="1250" dirty="0"/>
          </a:p>
        </p:txBody>
      </p:sp>
      <p:sp>
        <p:nvSpPr>
          <p:cNvPr id="17" name="Shape 14"/>
          <p:cNvSpPr/>
          <p:nvPr/>
        </p:nvSpPr>
        <p:spPr>
          <a:xfrm>
            <a:off x="566928" y="5257800"/>
            <a:ext cx="11057839" cy="86868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8" name="Image 1" descr="preencoded.png">    </p:cNvPr>
          <p:cNvPicPr>
            <a:picLocks noChangeAspect="1"/>
          </p:cNvPicPr>
          <p:nvPr/>
        </p:nvPicPr>
        <p:blipFill>
          <a:blip r:embed="rId2"/>
          <a:stretch>
            <a:fillRect/>
          </a:stretch>
        </p:blipFill>
        <p:spPr>
          <a:xfrm>
            <a:off x="804672" y="5477256"/>
            <a:ext cx="237744" cy="237744"/>
          </a:xfrm>
          <a:prstGeom prst="rect">
            <a:avLst/>
          </a:prstGeom>
        </p:spPr>
      </p:pic>
      <p:sp>
        <p:nvSpPr>
          <p:cNvPr id="19" name="Text 15"/>
          <p:cNvSpPr/>
          <p:nvPr/>
        </p:nvSpPr>
        <p:spPr>
          <a:xfrm>
            <a:off x="1133856" y="544982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LO QUE ENCONTRAMOS AL PROBAR LA DAPP DE REFERENCIA</a:t>
            </a:r>
            <a:endParaRPr lang="en-US" sz="950" dirty="0"/>
          </a:p>
        </p:txBody>
      </p:sp>
      <p:sp>
        <p:nvSpPr>
          <p:cNvPr id="20" name="Text 16"/>
          <p:cNvSpPr/>
          <p:nvPr/>
        </p:nvSpPr>
        <p:spPr>
          <a:xfrm>
            <a:off x="804672" y="5769864"/>
            <a:ext cx="10582351" cy="265176"/>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suscribirEventos() estaba definida pero nunca se llamaba: el saldo no se refrescaba solo. Se corrigió y se probó.</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A.14 · LA UX DE WEB3</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LOS CUATRO ESTADOS QUE TODOS OLVIDAN</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19</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2286000"/>
                <a:gridCol w="4480560"/>
                <a:gridCol w="42912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ESTADO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VE EL USUARIO SI NO SE MANEJA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DEBE MOSTRAR LA INTERFAZ</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9951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1 · Red equivocada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Un error críptico, o una transacción en otra red.</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«Estás en la red equivocada» y el botón Enviar bloqueado.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9951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2 · Sin billetera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página se rompe: window.ethereum no existe.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«Instala MetaMask» y el botón Conectar desactivado.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9951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3 · Usuario rechaza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app queda «cargando» para siempre.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«Rechazaste la transacción» y volver al estado normal.</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9951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4 · Revertida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La app dice «éxito» cuando falló.</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«Se revirtió», con el motivo y si se pagó gas o no.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673352"/>
            <a:ext cx="11094415" cy="3145536"/>
          </a:xfrm>
          <a:prstGeom prst="rect">
            <a:avLst/>
          </a:prstGeom>
          <a:ln w="22225">
            <a:solidFill>
              <a:srgbClr val="0F0F11"/>
            </a:solidFill>
            <a:prstDash val="solid"/>
          </a:ln>
        </p:spPr>
      </p:sp>
      <p:sp>
        <p:nvSpPr>
          <p:cNvPr id="10" name="Shape 6"/>
          <p:cNvSpPr/>
          <p:nvPr/>
        </p:nvSpPr>
        <p:spPr>
          <a:xfrm>
            <a:off x="566928" y="4983480"/>
            <a:ext cx="11057839" cy="114300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7"/>
          <p:cNvSpPr/>
          <p:nvPr/>
        </p:nvSpPr>
        <p:spPr>
          <a:xfrm>
            <a:off x="950976" y="5166360"/>
            <a:ext cx="10289743" cy="777240"/>
          </a:xfrm>
          <a:prstGeom prst="rect">
            <a:avLst/>
          </a:prstGeom>
          <a:noFill/>
          <a:ln/>
        </p:spPr>
        <p:txBody>
          <a:bodyPr wrap="square" lIns="0" tIns="0" rIns="0" bIns="0" rtlCol="0" anchor="ctr"/>
          <a:lstStyle/>
          <a:p>
            <a:pPr indent="0" marL="0">
              <a:lnSpc>
                <a:spcPct val="106000"/>
              </a:lnSpc>
              <a:buNone/>
            </a:pPr>
            <a:r>
              <a:rPr lang="en-US" sz="1550" dirty="0">
                <a:solidFill>
                  <a:srgbClr val="0F0F11"/>
                </a:solidFill>
                <a:latin typeface="Arial Black" pitchFamily="34" charset="0"/>
                <a:ea typeface="Arial Black" pitchFamily="34" charset="-122"/>
                <a:cs typeface="Arial Black" pitchFamily="34" charset="-120"/>
              </a:rPr>
              <a:t>Y dos estados que no son errores pero se olvidan igual: PENDIENTE (enviada, sin minar) y MINADA (con su bloque).</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A.15 · CÓMO SE DETECTA CADA UNO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DEL ESTADO AL CÓDIGO</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2194560"/>
                <a:gridCol w="5120640"/>
                <a:gridCol w="37426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ESTADO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SEÑAL EN EL CÓDIGO (ETHERS V6 + METAMASK)</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CUÁNDO APARECE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23621">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Sin billetera</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typeof window.ethereum === "undefined"</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Al cargar la página.</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23621">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Red equivocada</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(await provider.getNetwork()).chainId !== 11155111n</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Al conectar, y en el evento chainChanged.</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23621">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Rechazo</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e.code === "ACTION_REJECTED" (4001 en EIP-1193)</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Al esperar la firma.</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23621">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Revertida al simular</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e.code === "CALL_EXCEPTION", sin e.receipt</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Antes de firmar: estimateGas falla. No gasta gas.</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23621">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Revertida minada</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e.code === "CALL_EXCEPTION", con e.receipt</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En tx.wait(). El gas SÍ se pagó.</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673352"/>
            <a:ext cx="11094415" cy="3465576"/>
          </a:xfrm>
          <a:prstGeom prst="rect">
            <a:avLst/>
          </a:prstGeom>
          <a:ln w="22225">
            <a:solidFill>
              <a:srgbClr val="0F0F11"/>
            </a:solidFill>
            <a:prstDash val="solid"/>
          </a:ln>
        </p:spPr>
      </p:sp>
      <p:sp>
        <p:nvSpPr>
          <p:cNvPr id="10" name="Text 6"/>
          <p:cNvSpPr/>
          <p:nvPr/>
        </p:nvSpPr>
        <p:spPr>
          <a:xfrm>
            <a:off x="566928" y="5303520"/>
            <a:ext cx="11057839" cy="82296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Verificado en la preparación: transferir más que el saldo falla al simular con CALL_EXCEPTION y el mensaje «execution reverted (unknown custom error)», sin abrir MetaMask.</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A.16 · EL CAMINO DE UNA TRANSACCIÓN EN PANTALLA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DE «ENVIAR» A «CONFIRMADA»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21</a:t>
            </a:r>
            <a:endParaRPr lang="en-US" sz="900" dirty="0"/>
          </a:p>
        </p:txBody>
      </p:sp>
      <p:sp>
        <p:nvSpPr>
          <p:cNvPr id="8" name="Shape 5"/>
          <p:cNvSpPr/>
          <p:nvPr/>
        </p:nvSpPr>
        <p:spPr>
          <a:xfrm>
            <a:off x="566928" y="1691640"/>
            <a:ext cx="11057839" cy="731520"/>
          </a:xfrm>
          <a:prstGeom prst="rect">
            <a:avLst/>
          </a:prstGeom>
          <a:solidFill>
            <a:srgbClr val="FFFFFF"/>
          </a:solidFill>
          <a:ln w="15875">
            <a:solidFill>
              <a:srgbClr val="D9D6E0"/>
            </a:solidFill>
            <a:prstDash val="solid"/>
          </a:ln>
        </p:spPr>
      </p:sp>
      <p:sp>
        <p:nvSpPr>
          <p:cNvPr id="9" name="Text 6"/>
          <p:cNvSpPr/>
          <p:nvPr/>
        </p:nvSpPr>
        <p:spPr>
          <a:xfrm>
            <a:off x="694944" y="1691640"/>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1109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VALIDAR</a:t>
            </a:r>
            <a:endParaRPr lang="en-US" sz="1000" dirty="0"/>
          </a:p>
        </p:txBody>
      </p:sp>
      <p:sp>
        <p:nvSpPr>
          <p:cNvPr id="11" name="Text 8"/>
          <p:cNvSpPr/>
          <p:nvPr/>
        </p:nvSpPr>
        <p:spPr>
          <a:xfrm>
            <a:off x="3657600" y="1783080"/>
            <a:ext cx="7857439" cy="58521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Dirección con ethers.isAddress y monto &gt; 0 ANTES de tocar la billetera. Si fallan, avisar y parar.</a:t>
            </a:r>
            <a:endParaRPr lang="en-US" sz="1200" dirty="0"/>
          </a:p>
        </p:txBody>
      </p:sp>
      <p:sp>
        <p:nvSpPr>
          <p:cNvPr id="12" name="Shape 9"/>
          <p:cNvSpPr/>
          <p:nvPr/>
        </p:nvSpPr>
        <p:spPr>
          <a:xfrm>
            <a:off x="566928" y="2514600"/>
            <a:ext cx="11057839" cy="731520"/>
          </a:xfrm>
          <a:prstGeom prst="rect">
            <a:avLst/>
          </a:prstGeom>
          <a:solidFill>
            <a:srgbClr val="FAF9FB"/>
          </a:solidFill>
          <a:ln w="15875">
            <a:solidFill>
              <a:srgbClr val="D9D6E0"/>
            </a:solidFill>
            <a:prstDash val="solid"/>
          </a:ln>
        </p:spPr>
      </p:sp>
      <p:sp>
        <p:nvSpPr>
          <p:cNvPr id="13" name="Text 10"/>
          <p:cNvSpPr/>
          <p:nvPr/>
        </p:nvSpPr>
        <p:spPr>
          <a:xfrm>
            <a:off x="694944" y="2514600"/>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73405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PEDIR FIRMA</a:t>
            </a:r>
            <a:endParaRPr lang="en-US" sz="1000" dirty="0"/>
          </a:p>
        </p:txBody>
      </p:sp>
      <p:sp>
        <p:nvSpPr>
          <p:cNvPr id="15" name="Text 12"/>
          <p:cNvSpPr/>
          <p:nvPr/>
        </p:nvSpPr>
        <p:spPr>
          <a:xfrm>
            <a:off x="3657600" y="2606040"/>
            <a:ext cx="7857439" cy="58521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«Confirma en la billetera…» (amarillo). Aquí puede ocurrir el rechazo (3) o la reversión al simular (4).</a:t>
            </a:r>
            <a:endParaRPr lang="en-US" sz="1200" dirty="0"/>
          </a:p>
        </p:txBody>
      </p:sp>
      <p:sp>
        <p:nvSpPr>
          <p:cNvPr id="16" name="Shape 13"/>
          <p:cNvSpPr/>
          <p:nvPr/>
        </p:nvSpPr>
        <p:spPr>
          <a:xfrm>
            <a:off x="566928" y="3337560"/>
            <a:ext cx="11057839" cy="731520"/>
          </a:xfrm>
          <a:prstGeom prst="rect">
            <a:avLst/>
          </a:prstGeom>
          <a:solidFill>
            <a:srgbClr val="FFFFFF"/>
          </a:solidFill>
          <a:ln w="15875">
            <a:solidFill>
              <a:srgbClr val="D9D6E0"/>
            </a:solidFill>
            <a:prstDash val="solid"/>
          </a:ln>
        </p:spPr>
      </p:sp>
      <p:sp>
        <p:nvSpPr>
          <p:cNvPr id="17" name="Text 14"/>
          <p:cNvSpPr/>
          <p:nvPr/>
        </p:nvSpPr>
        <p:spPr>
          <a:xfrm>
            <a:off x="694944" y="3337560"/>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55701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ENVIADA</a:t>
            </a:r>
            <a:endParaRPr lang="en-US" sz="1000" dirty="0"/>
          </a:p>
        </p:txBody>
      </p:sp>
      <p:sp>
        <p:nvSpPr>
          <p:cNvPr id="19" name="Text 16"/>
          <p:cNvSpPr/>
          <p:nvPr/>
        </p:nvSpPr>
        <p:spPr>
          <a:xfrm>
            <a:off x="3657600" y="3429000"/>
            <a:ext cx="7857439" cy="58521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Ya hay hash: «Esperando confirmación… 0x1a2b…» (amarillo). Todavía NO decir listo.</a:t>
            </a:r>
            <a:endParaRPr lang="en-US" sz="1200" dirty="0"/>
          </a:p>
        </p:txBody>
      </p:sp>
      <p:sp>
        <p:nvSpPr>
          <p:cNvPr id="20" name="Shape 17"/>
          <p:cNvSpPr/>
          <p:nvPr/>
        </p:nvSpPr>
        <p:spPr>
          <a:xfrm>
            <a:off x="566928" y="4160520"/>
            <a:ext cx="11057839" cy="731520"/>
          </a:xfrm>
          <a:prstGeom prst="rect">
            <a:avLst/>
          </a:prstGeom>
          <a:solidFill>
            <a:srgbClr val="FAF9FB"/>
          </a:solidFill>
          <a:ln w="15875">
            <a:solidFill>
              <a:srgbClr val="D9D6E0"/>
            </a:solidFill>
            <a:prstDash val="solid"/>
          </a:ln>
        </p:spPr>
      </p:sp>
      <p:sp>
        <p:nvSpPr>
          <p:cNvPr id="21" name="Text 18"/>
          <p:cNvSpPr/>
          <p:nvPr/>
        </p:nvSpPr>
        <p:spPr>
          <a:xfrm>
            <a:off x="694944" y="4160520"/>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37997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ESPERAR RECIBO</a:t>
            </a:r>
            <a:endParaRPr lang="en-US" sz="1000" dirty="0"/>
          </a:p>
        </p:txBody>
      </p:sp>
      <p:sp>
        <p:nvSpPr>
          <p:cNvPr id="23" name="Text 20"/>
          <p:cNvSpPr/>
          <p:nvPr/>
        </p:nvSpPr>
        <p:spPr>
          <a:xfrm>
            <a:off x="3657600" y="4251960"/>
            <a:ext cx="7857439" cy="58521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tx.wait(). Si lanza CALL_EXCEPTION con recibo: revertida minada (4).</a:t>
            </a:r>
            <a:endParaRPr lang="en-US" sz="1200" dirty="0"/>
          </a:p>
        </p:txBody>
      </p:sp>
      <p:sp>
        <p:nvSpPr>
          <p:cNvPr id="24" name="Shape 21"/>
          <p:cNvSpPr/>
          <p:nvPr/>
        </p:nvSpPr>
        <p:spPr>
          <a:xfrm>
            <a:off x="566928" y="4983480"/>
            <a:ext cx="11057839" cy="731520"/>
          </a:xfrm>
          <a:prstGeom prst="rect">
            <a:avLst/>
          </a:prstGeom>
          <a:solidFill>
            <a:srgbClr val="FFFFFF"/>
          </a:solidFill>
          <a:ln w="15875">
            <a:solidFill>
              <a:srgbClr val="D9D6E0"/>
            </a:solidFill>
            <a:prstDash val="solid"/>
          </a:ln>
        </p:spPr>
      </p:sp>
      <p:sp>
        <p:nvSpPr>
          <p:cNvPr id="25" name="Text 22"/>
          <p:cNvSpPr/>
          <p:nvPr/>
        </p:nvSpPr>
        <p:spPr>
          <a:xfrm>
            <a:off x="694944" y="4983480"/>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05</a:t>
            </a:r>
            <a:endParaRPr lang="en-US" sz="1600" dirty="0"/>
          </a:p>
        </p:txBody>
      </p:sp>
      <p:sp>
        <p:nvSpPr>
          <p:cNvPr id="26" name="Text 23"/>
          <p:cNvSpPr/>
          <p:nvPr/>
        </p:nvSpPr>
        <p:spPr>
          <a:xfrm>
            <a:off x="1280160" y="5202936"/>
            <a:ext cx="21031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CONFIRMADA</a:t>
            </a:r>
            <a:endParaRPr lang="en-US" sz="1000" dirty="0"/>
          </a:p>
        </p:txBody>
      </p:sp>
      <p:sp>
        <p:nvSpPr>
          <p:cNvPr id="27" name="Text 24"/>
          <p:cNvSpPr/>
          <p:nvPr/>
        </p:nvSpPr>
        <p:spPr>
          <a:xfrm>
            <a:off x="3657600" y="5074920"/>
            <a:ext cx="7857439" cy="58521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«¡Listo! Confirmada en el bloque 11» (verde). Refrescar saldo; opcional: enlace al explorador.</a:t>
            </a:r>
            <a:endParaRPr lang="en-US" sz="1200" dirty="0"/>
          </a:p>
        </p:txBody>
      </p:sp>
      <p:sp>
        <p:nvSpPr>
          <p:cNvPr id="28" name="Text 25"/>
          <p:cNvSpPr/>
          <p:nvPr/>
        </p:nvSpPr>
        <p:spPr>
          <a:xfrm>
            <a:off x="566928" y="5806440"/>
            <a:ext cx="11057839" cy="36576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Cada paso tiene su mensaje. El usuario nunca debe mirar una pantalla que no dice qué está pasando.</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A.17 · DOS MEJORAS DE UX REALES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CAMBIAR DE RED, Y VARIAS BILLETERAS</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22</a:t>
            </a:r>
            <a:endParaRPr lang="en-US" sz="900" dirty="0"/>
          </a:p>
        </p:txBody>
      </p:sp>
      <p:sp>
        <p:nvSpPr>
          <p:cNvPr id="8" name="Shape 5"/>
          <p:cNvSpPr/>
          <p:nvPr/>
        </p:nvSpPr>
        <p:spPr>
          <a:xfrm>
            <a:off x="566928" y="1691640"/>
            <a:ext cx="5391760" cy="329184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841248" y="187452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OFRECER EL CAMBIO DE RED</a:t>
            </a:r>
            <a:endParaRPr lang="en-US" sz="1050" dirty="0"/>
          </a:p>
        </p:txBody>
      </p:sp>
      <p:sp>
        <p:nvSpPr>
          <p:cNvPr id="10" name="Text 7"/>
          <p:cNvSpPr/>
          <p:nvPr/>
        </p:nvSpPr>
        <p:spPr>
          <a:xfrm>
            <a:off x="841248" y="2258568"/>
            <a:ext cx="4843120" cy="2560320"/>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En vez de solo decir «red equivocada», la interfaz puede pedirle a MetaMask que cambie:</a:t>
            </a:r>
            <a:endParaRPr lang="en-US" sz="1200" dirty="0"/>
          </a:p>
          <a:p>
            <a:pPr indent="0" marL="0">
              <a:lnSpc>
                <a:spcPct val="124000"/>
              </a:lnSpc>
              <a:buNone/>
            </a:pPr>
            <a:endParaRPr lang="en-US" sz="1200" dirty="0"/>
          </a:p>
          <a:p>
            <a:pPr indent="0" marL="0">
              <a:lnSpc>
                <a:spcPct val="124000"/>
              </a:lnSpc>
              <a:buNone/>
            </a:pPr>
            <a:r>
              <a:rPr lang="en-US" sz="1200" dirty="0">
                <a:solidFill>
                  <a:srgbClr val="3A3844"/>
                </a:solidFill>
                <a:latin typeface="Arial" pitchFamily="34" charset="0"/>
                <a:ea typeface="Arial" pitchFamily="34" charset="-122"/>
                <a:cs typeface="Arial" pitchFamily="34" charset="-120"/>
              </a:rPr>
              <a:t>wallet_switchEthereumChain con chainId 0xaa36a7 (Sepolia).</a:t>
            </a:r>
            <a:endParaRPr lang="en-US" sz="1200" dirty="0"/>
          </a:p>
          <a:p>
            <a:pPr indent="0" marL="0">
              <a:lnSpc>
                <a:spcPct val="124000"/>
              </a:lnSpc>
              <a:buNone/>
            </a:pPr>
            <a:endParaRPr lang="en-US" sz="1200" dirty="0"/>
          </a:p>
          <a:p>
            <a:pPr indent="0" marL="0">
              <a:lnSpc>
                <a:spcPct val="124000"/>
              </a:lnSpc>
              <a:buNone/>
            </a:pPr>
            <a:r>
              <a:rPr lang="en-US" sz="1200" dirty="0">
                <a:solidFill>
                  <a:srgbClr val="3A3844"/>
                </a:solidFill>
                <a:latin typeface="Arial" pitchFamily="34" charset="0"/>
                <a:ea typeface="Arial" pitchFamily="34" charset="-122"/>
                <a:cs typeface="Arial" pitchFamily="34" charset="-120"/>
              </a:rPr>
              <a:t>Si la billetera no conoce esa red, responde el código 4902 y hay que ofrecer agregarla.</a:t>
            </a:r>
            <a:endParaRPr lang="en-US" sz="1200" dirty="0"/>
          </a:p>
        </p:txBody>
      </p:sp>
      <p:sp>
        <p:nvSpPr>
          <p:cNvPr id="11" name="Shape 8"/>
          <p:cNvSpPr/>
          <p:nvPr/>
        </p:nvSpPr>
        <p:spPr>
          <a:xfrm>
            <a:off x="6233008" y="1691640"/>
            <a:ext cx="5391760" cy="329184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2" name="Text 9"/>
          <p:cNvSpPr/>
          <p:nvPr/>
        </p:nvSpPr>
        <p:spPr>
          <a:xfrm>
            <a:off x="6507328" y="187452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VARIAS BILLETERAS: EIP-6963</a:t>
            </a:r>
            <a:endParaRPr lang="en-US" sz="1050" dirty="0"/>
          </a:p>
        </p:txBody>
      </p:sp>
      <p:sp>
        <p:nvSpPr>
          <p:cNvPr id="13" name="Text 10"/>
          <p:cNvSpPr/>
          <p:nvPr/>
        </p:nvSpPr>
        <p:spPr>
          <a:xfrm>
            <a:off x="6507328" y="2258568"/>
            <a:ext cx="4843120" cy="2560320"/>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Con dos extensiones instaladas, ambas pelean por window.ethereum y «gana la última en cargar». EIP-6963 (estado Final) lo resuelve: cada billetera se anuncia con un evento y la dApp muestra la lista para que el usuario elija.</a:t>
            </a:r>
            <a:endParaRPr lang="en-US" sz="1200" dirty="0"/>
          </a:p>
        </p:txBody>
      </p:sp>
      <p:sp>
        <p:nvSpPr>
          <p:cNvPr id="14" name="Shape 11"/>
          <p:cNvSpPr/>
          <p:nvPr/>
        </p:nvSpPr>
        <p:spPr>
          <a:xfrm>
            <a:off x="566928" y="5166360"/>
            <a:ext cx="11057839" cy="96012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5" name="Image 1" descr="preencoded.png">    </p:cNvPr>
          <p:cNvPicPr>
            <a:picLocks noChangeAspect="1"/>
          </p:cNvPicPr>
          <p:nvPr/>
        </p:nvPicPr>
        <p:blipFill>
          <a:blip r:embed="rId2"/>
          <a:stretch>
            <a:fillRect/>
          </a:stretch>
        </p:blipFill>
        <p:spPr>
          <a:xfrm>
            <a:off x="804672" y="5385816"/>
            <a:ext cx="237744" cy="237744"/>
          </a:xfrm>
          <a:prstGeom prst="rect">
            <a:avLst/>
          </a:prstGeom>
        </p:spPr>
      </p:pic>
      <p:sp>
        <p:nvSpPr>
          <p:cNvPr id="16" name="Text 12"/>
          <p:cNvSpPr/>
          <p:nvPr/>
        </p:nvSpPr>
        <p:spPr>
          <a:xfrm>
            <a:off x="1133856" y="535838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PARA EL PROYECTO, NO PARA HOY</a:t>
            </a:r>
            <a:endParaRPr lang="en-US" sz="950" dirty="0"/>
          </a:p>
        </p:txBody>
      </p:sp>
      <p:sp>
        <p:nvSpPr>
          <p:cNvPr id="17" name="Text 13"/>
          <p:cNvSpPr/>
          <p:nvPr/>
        </p:nvSpPr>
        <p:spPr>
          <a:xfrm>
            <a:off x="804672" y="5678424"/>
            <a:ext cx="10582351" cy="35661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 dApp del laboratorio usa window.ethereum a secas: basta para aprender. wagmi y RainbowKit ya implementan las dos mejoras.</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A.18 · EL STACK MODERNO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400" dirty="0">
                <a:solidFill>
                  <a:srgbClr val="0F0F11"/>
                </a:solidFill>
                <a:latin typeface="Arial Black" pitchFamily="34" charset="0"/>
                <a:ea typeface="Arial Black" pitchFamily="34" charset="-122"/>
                <a:cs typeface="Arial Black" pitchFamily="34" charset="-120"/>
              </a:rPr>
              <a:t>ETHERS A MANO, O REACT + WAGMI + RAINBOWKIT</a:t>
            </a:r>
            <a:endParaRPr lang="en-US" sz="24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23</a:t>
            </a:r>
            <a:endParaRPr lang="en-US" sz="900" dirty="0"/>
          </a:p>
        </p:txBody>
      </p:sp>
      <p:sp>
        <p:nvSpPr>
          <p:cNvPr id="8" name="Shape 5"/>
          <p:cNvSpPr/>
          <p:nvPr/>
        </p:nvSpPr>
        <p:spPr>
          <a:xfrm>
            <a:off x="566928" y="1691640"/>
            <a:ext cx="11057839" cy="1600200"/>
          </a:xfrm>
          <a:prstGeom prst="rect">
            <a:avLst/>
          </a:prstGeom>
          <a:solidFill>
            <a:srgbClr val="16151B"/>
          </a:solidFill>
          <a:ln w="22225">
            <a:solidFill>
              <a:srgbClr val="16151B"/>
            </a:solidFill>
            <a:prstDash val="solid"/>
          </a:ln>
        </p:spPr>
      </p:sp>
      <p:sp>
        <p:nvSpPr>
          <p:cNvPr id="9" name="Text 6"/>
          <p:cNvSpPr/>
          <p:nvPr/>
        </p:nvSpPr>
        <p:spPr>
          <a:xfrm>
            <a:off x="768096" y="176479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WAGMI · LOS MISMOS CUATRO PASOS, COMO GANCHOS DE REACT</a:t>
            </a:r>
            <a:endParaRPr lang="en-US" sz="850" dirty="0"/>
          </a:p>
        </p:txBody>
      </p:sp>
      <p:sp>
        <p:nvSpPr>
          <p:cNvPr id="10" name="Text 7"/>
          <p:cNvSpPr/>
          <p:nvPr/>
        </p:nvSpPr>
        <p:spPr>
          <a:xfrm>
            <a:off x="768096" y="2075688"/>
            <a:ext cx="10655503" cy="1106424"/>
          </a:xfrm>
          <a:prstGeom prst="rect">
            <a:avLst/>
          </a:prstGeom>
          <a:noFill/>
          <a:ln/>
        </p:spPr>
        <p:txBody>
          <a:bodyPr wrap="square" lIns="0" tIns="0" rIns="0" bIns="0" rtlCol="0" anchor="t"/>
          <a:lstStyle/>
          <a:p>
            <a:pPr indent="0" marL="0">
              <a:lnSpc>
                <a:spcPct val="112000"/>
              </a:lnSpc>
              <a:buNone/>
            </a:pPr>
            <a:r>
              <a:rPr lang="en-US" sz="100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address</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isConnected</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useAccount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data</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saldo</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useReadContract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address</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FICHA</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abi</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functionName</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FA41B"/>
                </a:solidFill>
                <a:latin typeface="Courier New" pitchFamily="34" charset="0"/>
                <a:ea typeface="Courier New" pitchFamily="34" charset="-122"/>
                <a:cs typeface="Courier New" pitchFamily="34" charset="-120"/>
              </a:rPr>
              <a:t>"balanceOf"</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args</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address</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writeContract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isPending</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useWriteContract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isSuccess</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useWaitForTransactionReceipt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hash</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00" dirty="0">
                <a:solidFill>
                  <a:srgbClr val="F4F2F7"/>
                </a:solidFill>
                <a:latin typeface="Courier New" pitchFamily="34" charset="0"/>
                <a:ea typeface="Courier New" pitchFamily="34" charset="-122"/>
                <a:cs typeface="Courier New" pitchFamily="34" charset="-120"/>
              </a:rPr>
              <a:t>;</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3474720"/>
          <a:ext cx="11057839" cy="914400"/>
        </p:xfrm>
        <a:graphic>
          <a:graphicData uri="http://schemas.openxmlformats.org/drawingml/2006/table">
            <a:tbl>
              <a:tblPr/>
              <a:tblGrid>
                <a:gridCol w="2926080"/>
                <a:gridCol w="3840480"/>
                <a:gridCol w="4291279"/>
              </a:tblGrid>
              <a:tr h="310896">
                <a:tc>
                  <a:txBody>
                    <a:bodyPr/>
                    <a:lstStyle/>
                    <a:p>
                      <a:pPr indent="0" marL="0">
                        <a:buNone/>
                      </a:pP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ETHERS A MANO (LABORATORIO)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REACT + WAGMI + RAINBOWKIT (PROYECTO)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2976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Se ve cada pieza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Sí: ideal para entender.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la magia la hacen los ganchos.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2976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Herramientas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Un HTML y un navegador.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Node, npm y un empaquetador (p. ej. Vite).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29768">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Billeteras y red</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 mano.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Incluido.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2" name="Shape 8"/>
          <p:cNvSpPr/>
          <p:nvPr/>
        </p:nvSpPr>
        <p:spPr>
          <a:xfrm>
            <a:off x="548640" y="3456432"/>
            <a:ext cx="11094415" cy="1636776"/>
          </a:xfrm>
          <a:prstGeom prst="rect">
            <a:avLst/>
          </a:prstGeom>
          <a:ln w="22225">
            <a:solidFill>
              <a:srgbClr val="0F0F11"/>
            </a:solidFill>
            <a:prstDash val="solid"/>
          </a:ln>
        </p:spPr>
      </p:sp>
      <p:sp>
        <p:nvSpPr>
          <p:cNvPr id="13" name="Shape 9"/>
          <p:cNvSpPr/>
          <p:nvPr/>
        </p:nvSpPr>
        <p:spPr>
          <a:xfrm>
            <a:off x="566928" y="5212080"/>
            <a:ext cx="11057839" cy="9144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4" name="Image 1" descr="preencoded.png">    </p:cNvPr>
          <p:cNvPicPr>
            <a:picLocks noChangeAspect="1"/>
          </p:cNvPicPr>
          <p:nvPr/>
        </p:nvPicPr>
        <p:blipFill>
          <a:blip r:embed="rId2"/>
          <a:stretch>
            <a:fillRect/>
          </a:stretch>
        </p:blipFill>
        <p:spPr>
          <a:xfrm>
            <a:off x="804672" y="5431536"/>
            <a:ext cx="237744" cy="237744"/>
          </a:xfrm>
          <a:prstGeom prst="rect">
            <a:avLst/>
          </a:prstGeom>
        </p:spPr>
      </p:pic>
      <p:sp>
        <p:nvSpPr>
          <p:cNvPr id="15" name="Text 10"/>
          <p:cNvSpPr/>
          <p:nvPr/>
        </p:nvSpPr>
        <p:spPr>
          <a:xfrm>
            <a:off x="1133856" y="540410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VERSIONES, VERIFICADAS EN SEPTIEMBRE DE 2026</a:t>
            </a:r>
            <a:endParaRPr lang="en-US" sz="950" dirty="0"/>
          </a:p>
        </p:txBody>
      </p:sp>
      <p:sp>
        <p:nvSpPr>
          <p:cNvPr id="16" name="Text 11"/>
          <p:cNvSpPr/>
          <p:nvPr/>
        </p:nvSpPr>
        <p:spPr>
          <a:xfrm>
            <a:off x="804672" y="5724144"/>
            <a:ext cx="10582351" cy="310896"/>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wagmi va en la 3.x, pero RainbowKit 2.2 exige wagmi 2.x. Si usan RainbowKit, fijen wagmi 2 (versiones congeladas).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A.19 · VERIFICACIÓN · UX</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DIAGNOSTIQUEN LA PANTALLA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5577840"/>
                <a:gridCol w="2103120"/>
                <a:gridCol w="33768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 QUE REPORTA UN USUARIO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ESTADO ES?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DEBIÓ MOSTRAR LA DAPP?</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8884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«Le di Enviar, cerré el MetaMask y la página quedó cargando.»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8884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«Decía listo, pero el saldo de mi amigo no cambió.»</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8884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«Abrí el link desde el celular y no pasó nada al tocar Conectar.»</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673352"/>
            <a:ext cx="11094415" cy="2414016"/>
          </a:xfrm>
          <a:prstGeom prst="rect">
            <a:avLst/>
          </a:prstGeom>
          <a:ln w="22225">
            <a:solidFill>
              <a:srgbClr val="0F0F11"/>
            </a:solidFill>
            <a:prstDash val="solid"/>
          </a:ln>
        </p:spPr>
      </p:sp>
      <p:sp>
        <p:nvSpPr>
          <p:cNvPr id="10" name="Shape 6"/>
          <p:cNvSpPr/>
          <p:nvPr/>
        </p:nvSpPr>
        <p:spPr>
          <a:xfrm>
            <a:off x="566928" y="4251960"/>
            <a:ext cx="11057839" cy="1874520"/>
          </a:xfrm>
          <a:prstGeom prst="rect">
            <a:avLst/>
          </a:prstGeom>
          <a:solidFill>
            <a:srgbClr val="F2F0F5"/>
          </a:solidFill>
          <a:ln w="22225">
            <a:solidFill>
              <a:srgbClr val="0F0F11"/>
            </a:solidFill>
            <a:prstDash val="solid"/>
          </a:ln>
        </p:spPr>
      </p:sp>
      <p:pic>
        <p:nvPicPr>
          <p:cNvPr id="11" name="Image 1" descr="preencoded.png">    </p:cNvPr>
          <p:cNvPicPr>
            <a:picLocks noChangeAspect="1"/>
          </p:cNvPicPr>
          <p:nvPr/>
        </p:nvPicPr>
        <p:blipFill>
          <a:blip r:embed="rId2"/>
          <a:stretch>
            <a:fillRect/>
          </a:stretch>
        </p:blipFill>
        <p:spPr>
          <a:xfrm>
            <a:off x="804672" y="4471416"/>
            <a:ext cx="237744" cy="237744"/>
          </a:xfrm>
          <a:prstGeom prst="rect">
            <a:avLst/>
          </a:prstGeom>
        </p:spPr>
      </p:pic>
      <p:sp>
        <p:nvSpPr>
          <p:cNvPr id="12" name="Text 7"/>
          <p:cNvSpPr/>
          <p:nvPr/>
        </p:nvSpPr>
        <p:spPr>
          <a:xfrm>
            <a:off x="1133856" y="4443984"/>
            <a:ext cx="10234879" cy="292608"/>
          </a:xfrm>
          <a:prstGeom prst="rect">
            <a:avLst/>
          </a:prstGeom>
          <a:noFill/>
          <a:ln/>
        </p:spPr>
        <p:txBody>
          <a:bodyPr wrap="square" lIns="0" tIns="0" rIns="0" bIns="0" rtlCol="0" anchor="ctr"/>
          <a:lstStyle/>
          <a:p>
            <a:pPr indent="0" marL="0">
              <a:buNone/>
            </a:pPr>
            <a:r>
              <a:rPr lang="en-US" sz="950" b="1" spc="150" kern="0" dirty="0">
                <a:solidFill>
                  <a:srgbClr val="6F6B80"/>
                </a:solidFill>
                <a:latin typeface="Courier New" pitchFamily="34" charset="0"/>
                <a:ea typeface="Courier New" pitchFamily="34" charset="-122"/>
                <a:cs typeface="Courier New" pitchFamily="34" charset="-120"/>
              </a:rPr>
              <a:t>RESPUESTAS</a:t>
            </a:r>
            <a:endParaRPr lang="en-US" sz="950" dirty="0"/>
          </a:p>
        </p:txBody>
      </p:sp>
      <p:sp>
        <p:nvSpPr>
          <p:cNvPr id="13" name="Text 8"/>
          <p:cNvSpPr/>
          <p:nvPr/>
        </p:nvSpPr>
        <p:spPr>
          <a:xfrm>
            <a:off x="804672" y="4764024"/>
            <a:ext cx="10582351" cy="1271016"/>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1) Rechazo (3): «Rechazaste la transacción» y volver a habilitar el botón. 2) Dijo «listo» sin esperar el recibo: o seguía pendiente, o se revirtió (4); debía decir «esperando confirmación» y luego el resultado real. 3) Sin billetera (2): el navegador del celular no tiene window.ethereum; debía decir «instala una billetera o abre esto desde su navegador interno».</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A.20 · LO QUE HAY QUE LLEVARSE DEL BLOQUE 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SEIS IDEAS SOBRE DAPPS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25</a:t>
            </a:r>
            <a:endParaRPr lang="en-US" sz="900" dirty="0"/>
          </a:p>
        </p:txBody>
      </p:sp>
      <p:sp>
        <p:nvSpPr>
          <p:cNvPr id="8" name="Text 5"/>
          <p:cNvSpPr/>
          <p:nvPr/>
        </p:nvSpPr>
        <p:spPr>
          <a:xfrm>
            <a:off x="566928" y="173736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01</a:t>
            </a:r>
            <a:endParaRPr lang="en-US" sz="2000" dirty="0"/>
          </a:p>
        </p:txBody>
      </p:sp>
      <p:sp>
        <p:nvSpPr>
          <p:cNvPr id="9" name="Text 6"/>
          <p:cNvSpPr/>
          <p:nvPr/>
        </p:nvSpPr>
        <p:spPr>
          <a:xfrm>
            <a:off x="1344168" y="1810512"/>
            <a:ext cx="10280599" cy="548640"/>
          </a:xfrm>
          <a:prstGeom prst="rect">
            <a:avLst/>
          </a:prstGeom>
          <a:noFill/>
          <a:ln/>
        </p:spPr>
        <p:txBody>
          <a:bodyPr wrap="square" lIns="0" tIns="0" rIns="0" bIns="0" rtlCol="0" anchor="ctr"/>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Lo descentralizado es el contrato; el frontend y el RPC muchas veces no. Hay que decirlo.</a:t>
            </a:r>
            <a:endParaRPr lang="en-US" sz="1350" dirty="0"/>
          </a:p>
        </p:txBody>
      </p:sp>
      <p:sp>
        <p:nvSpPr>
          <p:cNvPr id="10" name="Shape 7"/>
          <p:cNvSpPr/>
          <p:nvPr/>
        </p:nvSpPr>
        <p:spPr>
          <a:xfrm>
            <a:off x="566928" y="2414016"/>
            <a:ext cx="11057839" cy="914"/>
          </a:xfrm>
          <a:prstGeom prst="line">
            <a:avLst/>
          </a:prstGeom>
          <a:noFill/>
          <a:ln w="12700">
            <a:solidFill>
              <a:srgbClr val="D9D6E0"/>
            </a:solidFill>
            <a:prstDash val="solid"/>
          </a:ln>
        </p:spPr>
      </p:sp>
      <p:sp>
        <p:nvSpPr>
          <p:cNvPr id="11" name="Text 8"/>
          <p:cNvSpPr/>
          <p:nvPr/>
        </p:nvSpPr>
        <p:spPr>
          <a:xfrm>
            <a:off x="566928" y="246888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02</a:t>
            </a:r>
            <a:endParaRPr lang="en-US" sz="2000" dirty="0"/>
          </a:p>
        </p:txBody>
      </p:sp>
      <p:sp>
        <p:nvSpPr>
          <p:cNvPr id="12" name="Text 9"/>
          <p:cNvSpPr/>
          <p:nvPr/>
        </p:nvSpPr>
        <p:spPr>
          <a:xfrm>
            <a:off x="1344168" y="2542032"/>
            <a:ext cx="10280599" cy="548640"/>
          </a:xfrm>
          <a:prstGeom prst="rect">
            <a:avLst/>
          </a:prstGeom>
          <a:noFill/>
          <a:ln/>
        </p:spPr>
        <p:txBody>
          <a:bodyPr wrap="square" lIns="0" tIns="0" rIns="0" bIns="0" rtlCol="0" anchor="ctr"/>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La página pide; la billetera decide y firma. La clave nunca sale de la billetera.</a:t>
            </a:r>
            <a:endParaRPr lang="en-US" sz="1350" dirty="0"/>
          </a:p>
        </p:txBody>
      </p:sp>
      <p:sp>
        <p:nvSpPr>
          <p:cNvPr id="13" name="Shape 10"/>
          <p:cNvSpPr/>
          <p:nvPr/>
        </p:nvSpPr>
        <p:spPr>
          <a:xfrm>
            <a:off x="566928" y="3145536"/>
            <a:ext cx="11057839" cy="914"/>
          </a:xfrm>
          <a:prstGeom prst="line">
            <a:avLst/>
          </a:prstGeom>
          <a:noFill/>
          <a:ln w="12700">
            <a:solidFill>
              <a:srgbClr val="D9D6E0"/>
            </a:solidFill>
            <a:prstDash val="solid"/>
          </a:ln>
        </p:spPr>
      </p:sp>
      <p:sp>
        <p:nvSpPr>
          <p:cNvPr id="14" name="Text 11"/>
          <p:cNvSpPr/>
          <p:nvPr/>
        </p:nvSpPr>
        <p:spPr>
          <a:xfrm>
            <a:off x="566928" y="320040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03</a:t>
            </a:r>
            <a:endParaRPr lang="en-US" sz="2000" dirty="0"/>
          </a:p>
        </p:txBody>
      </p:sp>
      <p:sp>
        <p:nvSpPr>
          <p:cNvPr id="15" name="Text 12"/>
          <p:cNvSpPr/>
          <p:nvPr/>
        </p:nvSpPr>
        <p:spPr>
          <a:xfrm>
            <a:off x="1344168" y="3273552"/>
            <a:ext cx="10280599" cy="548640"/>
          </a:xfrm>
          <a:prstGeom prst="rect">
            <a:avLst/>
          </a:prstGeom>
          <a:noFill/>
          <a:ln/>
        </p:spPr>
        <p:txBody>
          <a:bodyPr wrap="square" lIns="0" tIns="0" rIns="0" bIns="0" rtlCol="0" anchor="ctr"/>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Provider lee gratis (eth_call); Signer escribe con una transacción que cuesta gas.</a:t>
            </a:r>
            <a:endParaRPr lang="en-US" sz="1350" dirty="0"/>
          </a:p>
        </p:txBody>
      </p:sp>
      <p:sp>
        <p:nvSpPr>
          <p:cNvPr id="16" name="Shape 13"/>
          <p:cNvSpPr/>
          <p:nvPr/>
        </p:nvSpPr>
        <p:spPr>
          <a:xfrm>
            <a:off x="566928" y="3877056"/>
            <a:ext cx="11057839" cy="914"/>
          </a:xfrm>
          <a:prstGeom prst="line">
            <a:avLst/>
          </a:prstGeom>
          <a:noFill/>
          <a:ln w="12700">
            <a:solidFill>
              <a:srgbClr val="D9D6E0"/>
            </a:solidFill>
            <a:prstDash val="solid"/>
          </a:ln>
        </p:spPr>
      </p:sp>
      <p:sp>
        <p:nvSpPr>
          <p:cNvPr id="17" name="Text 14"/>
          <p:cNvSpPr/>
          <p:nvPr/>
        </p:nvSpPr>
        <p:spPr>
          <a:xfrm>
            <a:off x="566928" y="393192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04</a:t>
            </a:r>
            <a:endParaRPr lang="en-US" sz="2000" dirty="0"/>
          </a:p>
        </p:txBody>
      </p:sp>
      <p:sp>
        <p:nvSpPr>
          <p:cNvPr id="18" name="Text 15"/>
          <p:cNvSpPr/>
          <p:nvPr/>
        </p:nvSpPr>
        <p:spPr>
          <a:xfrm>
            <a:off x="1344168" y="4005072"/>
            <a:ext cx="10280599" cy="548640"/>
          </a:xfrm>
          <a:prstGeom prst="rect">
            <a:avLst/>
          </a:prstGeom>
          <a:noFill/>
          <a:ln/>
        </p:spPr>
        <p:txBody>
          <a:bodyPr wrap="square" lIns="0" tIns="0" rIns="0" bIns="0" rtlCol="0" anchor="ctr"/>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Todo monto es BigInt: parseUnits para enviar, formatUnits para mostrar.</a:t>
            </a:r>
            <a:endParaRPr lang="en-US" sz="1350" dirty="0"/>
          </a:p>
        </p:txBody>
      </p:sp>
      <p:sp>
        <p:nvSpPr>
          <p:cNvPr id="19" name="Shape 16"/>
          <p:cNvSpPr/>
          <p:nvPr/>
        </p:nvSpPr>
        <p:spPr>
          <a:xfrm>
            <a:off x="566928" y="4608576"/>
            <a:ext cx="11057839" cy="914"/>
          </a:xfrm>
          <a:prstGeom prst="line">
            <a:avLst/>
          </a:prstGeom>
          <a:noFill/>
          <a:ln w="12700">
            <a:solidFill>
              <a:srgbClr val="D9D6E0"/>
            </a:solidFill>
            <a:prstDash val="solid"/>
          </a:ln>
        </p:spPr>
      </p:sp>
      <p:sp>
        <p:nvSpPr>
          <p:cNvPr id="20" name="Text 17"/>
          <p:cNvSpPr/>
          <p:nvPr/>
        </p:nvSpPr>
        <p:spPr>
          <a:xfrm>
            <a:off x="566928" y="466344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05</a:t>
            </a:r>
            <a:endParaRPr lang="en-US" sz="2000" dirty="0"/>
          </a:p>
        </p:txBody>
      </p:sp>
      <p:sp>
        <p:nvSpPr>
          <p:cNvPr id="21" name="Text 18"/>
          <p:cNvSpPr/>
          <p:nvPr/>
        </p:nvSpPr>
        <p:spPr>
          <a:xfrm>
            <a:off x="1344168" y="4736592"/>
            <a:ext cx="10280599" cy="548640"/>
          </a:xfrm>
          <a:prstGeom prst="rect">
            <a:avLst/>
          </a:prstGeom>
          <a:noFill/>
          <a:ln/>
        </p:spPr>
        <p:txBody>
          <a:bodyPr wrap="square" lIns="0" tIns="0" rIns="0" bIns="0" rtlCol="0" anchor="ctr"/>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await transfer() significa «enviada»; «hecha» lo dice tx.wait(). Una confirmación no es finalidad.</a:t>
            </a:r>
            <a:endParaRPr lang="en-US" sz="1350" dirty="0"/>
          </a:p>
        </p:txBody>
      </p:sp>
      <p:sp>
        <p:nvSpPr>
          <p:cNvPr id="22" name="Shape 19"/>
          <p:cNvSpPr/>
          <p:nvPr/>
        </p:nvSpPr>
        <p:spPr>
          <a:xfrm>
            <a:off x="566928" y="5340096"/>
            <a:ext cx="11057839" cy="914"/>
          </a:xfrm>
          <a:prstGeom prst="line">
            <a:avLst/>
          </a:prstGeom>
          <a:noFill/>
          <a:ln w="12700">
            <a:solidFill>
              <a:srgbClr val="D9D6E0"/>
            </a:solidFill>
            <a:prstDash val="solid"/>
          </a:ln>
        </p:spPr>
      </p:sp>
      <p:sp>
        <p:nvSpPr>
          <p:cNvPr id="23" name="Text 20"/>
          <p:cNvSpPr/>
          <p:nvPr/>
        </p:nvSpPr>
        <p:spPr>
          <a:xfrm>
            <a:off x="566928" y="539496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06</a:t>
            </a:r>
            <a:endParaRPr lang="en-US" sz="2000" dirty="0"/>
          </a:p>
        </p:txBody>
      </p:sp>
      <p:sp>
        <p:nvSpPr>
          <p:cNvPr id="24" name="Text 21"/>
          <p:cNvSpPr/>
          <p:nvPr/>
        </p:nvSpPr>
        <p:spPr>
          <a:xfrm>
            <a:off x="1344168" y="5468112"/>
            <a:ext cx="10280599" cy="548640"/>
          </a:xfrm>
          <a:prstGeom prst="rect">
            <a:avLst/>
          </a:prstGeom>
          <a:noFill/>
          <a:ln/>
        </p:spPr>
        <p:txBody>
          <a:bodyPr wrap="square" lIns="0" tIns="0" rIns="0" bIns="0" rtlCol="0" anchor="ctr"/>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La calidad está en los cuatro errores y en los estados pendiente y minada.</a:t>
            </a:r>
            <a:endParaRPr lang="en-US" sz="1350" dirty="0"/>
          </a:p>
        </p:txBody>
      </p:sp>
      <p:sp>
        <p:nvSpPr>
          <p:cNvPr id="25" name="Shape 22"/>
          <p:cNvSpPr/>
          <p:nvPr/>
        </p:nvSpPr>
        <p:spPr>
          <a:xfrm>
            <a:off x="566928" y="6071616"/>
            <a:ext cx="11057839" cy="914"/>
          </a:xfrm>
          <a:prstGeom prst="line">
            <a:avLst/>
          </a:prstGeom>
          <a:noFill/>
          <a:ln w="12700">
            <a:solidFill>
              <a:srgbClr val="D9D6E0"/>
            </a:solidFill>
            <a:prstDash val="soli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B</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85 MINUTOS · EN PAREJAS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LABORATORIO 12</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Una interfaz que conecta la billetera, muestra el saldo de la FichaUSB, transfiere y maneja los cuatro errores. Sin compilar nada.</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 · EL PUNTO DE PARTIDA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UN SOLO ARCHIVO, OCHO TODO</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27</a:t>
            </a:r>
            <a:endParaRPr lang="en-US" sz="900" dirty="0"/>
          </a:p>
        </p:txBody>
      </p:sp>
      <p:sp>
        <p:nvSpPr>
          <p:cNvPr id="8" name="Text 5"/>
          <p:cNvSpPr/>
          <p:nvPr/>
        </p:nvSpPr>
        <p:spPr>
          <a:xfrm>
            <a:off x="566928" y="1691640"/>
            <a:ext cx="11057839" cy="82296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laboratorio-12/andamiaje/index.html es la dApp de referencia con las funciones clave vacías. Mientras un TODO falte, la caja «Estado» dice cuál: no falla en silencio.</a:t>
            </a:r>
            <a:endParaRPr lang="en-US" sz="13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2651760"/>
          <a:ext cx="11057839" cy="914400"/>
        </p:xfrm>
        <a:graphic>
          <a:graphicData uri="http://schemas.openxmlformats.org/drawingml/2006/table">
            <a:tbl>
              <a:tblPr/>
              <a:tblGrid>
                <a:gridCol w="1188720"/>
                <a:gridCol w="6949440"/>
                <a:gridCol w="291967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TODO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COMPLETAN</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LÁMINA QUE LO EXPLICA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2730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1</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Detectar que no hay billetera (estado 2).</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A.14 · A.15</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2730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2 · 3</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Conectar: provider, signer, cuenta; detectar red equivocada (estado 1).</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A.6 · A.15</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2730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4 · 5</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Crear el Contract; leer symbol, decimals y balanceOf; formatUnits.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A.7 · A.9</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2730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6</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transfer con parseUnits, mensaje de «enviada» y tx.wait().</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A.10 · A.16</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2730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7</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Clasificar el error: rechazo (3), revertida (4), sin gas.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A.15</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27304">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8</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Escuchar Transfer y refrescar el saldo solo.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A.13</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0" name="Shape 6"/>
          <p:cNvSpPr/>
          <p:nvPr/>
        </p:nvSpPr>
        <p:spPr>
          <a:xfrm>
            <a:off x="548640" y="2633472"/>
            <a:ext cx="11094415" cy="3511296"/>
          </a:xfrm>
          <a:prstGeom prst="rect">
            <a:avLst/>
          </a:prstGeom>
          <a:ln w="22225">
            <a:solidFill>
              <a:srgbClr val="0F0F11"/>
            </a:solidFill>
            <a:prstDash val="solid"/>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B.2 · PASO 1 · SERVIR LA PÁGINA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DOBLE CLIC NO SIRVE: HACE FALTA UN SERVIDOR</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28</a:t>
            </a:r>
            <a:endParaRPr lang="en-US" sz="900" dirty="0"/>
          </a:p>
        </p:txBody>
      </p:sp>
      <p:sp>
        <p:nvSpPr>
          <p:cNvPr id="8" name="Shape 5"/>
          <p:cNvSpPr/>
          <p:nvPr/>
        </p:nvSpPr>
        <p:spPr>
          <a:xfrm>
            <a:off x="566928" y="1691640"/>
            <a:ext cx="5391760" cy="297180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9" name="Text 6"/>
          <p:cNvSpPr/>
          <p:nvPr/>
        </p:nvSpPr>
        <p:spPr>
          <a:xfrm>
            <a:off x="841248" y="187452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POR QUÉ FILE:// FALLA</a:t>
            </a:r>
            <a:endParaRPr lang="en-US" sz="1050" dirty="0"/>
          </a:p>
        </p:txBody>
      </p:sp>
      <p:sp>
        <p:nvSpPr>
          <p:cNvPr id="10" name="Text 7"/>
          <p:cNvSpPr/>
          <p:nvPr/>
        </p:nvSpPr>
        <p:spPr>
          <a:xfrm>
            <a:off x="841248" y="2258568"/>
            <a:ext cx="4843120" cy="22402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Chrome no deja que las extensiones actúen en páginas file:// salvo que se active un permiso por extensión, y MetaMask da permisos por SITIO: una página file:// no tiene un origen normal. Resultado típico: «no se detecta billetera».</a:t>
            </a:r>
            <a:endParaRPr lang="en-US" sz="1250" dirty="0"/>
          </a:p>
        </p:txBody>
      </p:sp>
      <p:sp>
        <p:nvSpPr>
          <p:cNvPr id="11" name="Shape 8"/>
          <p:cNvSpPr/>
          <p:nvPr/>
        </p:nvSpPr>
        <p:spPr>
          <a:xfrm>
            <a:off x="6233008" y="1691640"/>
            <a:ext cx="5391760" cy="29718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2" name="Text 9"/>
          <p:cNvSpPr/>
          <p:nvPr/>
        </p:nvSpPr>
        <p:spPr>
          <a:xfrm>
            <a:off x="6507328" y="187452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LA SOLUCIÓN: UN SERVIDOR LOCAL</a:t>
            </a:r>
            <a:endParaRPr lang="en-US" sz="1050" dirty="0"/>
          </a:p>
        </p:txBody>
      </p:sp>
      <p:sp>
        <p:nvSpPr>
          <p:cNvPr id="13" name="Text 10"/>
          <p:cNvSpPr/>
          <p:nvPr/>
        </p:nvSpPr>
        <p:spPr>
          <a:xfrm>
            <a:off x="6507328" y="2258568"/>
            <a:ext cx="4843120" cy="22402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Desde la carpeta andamiaje:</a:t>
            </a:r>
            <a:endParaRPr lang="en-US" sz="1250" dirty="0"/>
          </a:p>
          <a:p>
            <a:pPr indent="0" marL="0">
              <a:lnSpc>
                <a:spcPct val="124000"/>
              </a:lnSpc>
              <a:buNone/>
            </a:pPr>
            <a:endParaRPr lang="en-US" sz="1250" dirty="0"/>
          </a:p>
          <a:p>
            <a:pPr indent="0" marL="0">
              <a:lnSpc>
                <a:spcPct val="124000"/>
              </a:lnSpc>
              <a:buNone/>
            </a:pPr>
            <a:r>
              <a:rPr lang="en-US" sz="1250" dirty="0">
                <a:solidFill>
                  <a:srgbClr val="3A3844"/>
                </a:solidFill>
                <a:latin typeface="Arial" pitchFamily="34" charset="0"/>
                <a:ea typeface="Arial" pitchFamily="34" charset="-122"/>
                <a:cs typeface="Arial" pitchFamily="34" charset="-120"/>
              </a:rPr>
              <a:t>npx serve .</a:t>
            </a:r>
            <a:endParaRPr lang="en-US" sz="1250" dirty="0"/>
          </a:p>
          <a:p>
            <a:pPr indent="0" marL="0">
              <a:lnSpc>
                <a:spcPct val="124000"/>
              </a:lnSpc>
              <a:buNone/>
            </a:pPr>
            <a:r>
              <a:rPr lang="en-US" sz="1250" dirty="0">
                <a:solidFill>
                  <a:srgbClr val="3A3844"/>
                </a:solidFill>
                <a:latin typeface="Arial" pitchFamily="34" charset="0"/>
                <a:ea typeface="Arial" pitchFamily="34" charset="-122"/>
                <a:cs typeface="Arial" pitchFamily="34" charset="-120"/>
              </a:rPr>
              <a:t>→ abrir http://localhost:3000</a:t>
            </a:r>
            <a:endParaRPr lang="en-US" sz="1250" dirty="0"/>
          </a:p>
          <a:p>
            <a:pPr indent="0" marL="0">
              <a:lnSpc>
                <a:spcPct val="124000"/>
              </a:lnSpc>
              <a:buNone/>
            </a:pPr>
            <a:endParaRPr lang="en-US" sz="1250" dirty="0"/>
          </a:p>
          <a:p>
            <a:pPr indent="0" marL="0">
              <a:lnSpc>
                <a:spcPct val="124000"/>
              </a:lnSpc>
              <a:buNone/>
            </a:pPr>
            <a:r>
              <a:rPr lang="en-US" sz="1250" dirty="0">
                <a:solidFill>
                  <a:srgbClr val="3A3844"/>
                </a:solidFill>
                <a:latin typeface="Arial" pitchFamily="34" charset="0"/>
                <a:ea typeface="Arial" pitchFamily="34" charset="-122"/>
                <a:cs typeface="Arial" pitchFamily="34" charset="-120"/>
              </a:rPr>
              <a:t>o, si no hay Node:</a:t>
            </a:r>
            <a:endParaRPr lang="en-US" sz="1250" dirty="0"/>
          </a:p>
          <a:p>
            <a:pPr indent="0" marL="0">
              <a:lnSpc>
                <a:spcPct val="124000"/>
              </a:lnSpc>
              <a:buNone/>
            </a:pPr>
            <a:r>
              <a:rPr lang="en-US" sz="1250" dirty="0">
                <a:solidFill>
                  <a:srgbClr val="3A3844"/>
                </a:solidFill>
                <a:latin typeface="Arial" pitchFamily="34" charset="0"/>
                <a:ea typeface="Arial" pitchFamily="34" charset="-122"/>
                <a:cs typeface="Arial" pitchFamily="34" charset="-120"/>
              </a:rPr>
              <a:t>python -m http.server 8000</a:t>
            </a:r>
            <a:endParaRPr lang="en-US" sz="1250" dirty="0"/>
          </a:p>
          <a:p>
            <a:pPr indent="0" marL="0">
              <a:lnSpc>
                <a:spcPct val="124000"/>
              </a:lnSpc>
              <a:buNone/>
            </a:pPr>
            <a:r>
              <a:rPr lang="en-US" sz="1250" dirty="0">
                <a:solidFill>
                  <a:srgbClr val="3A3844"/>
                </a:solidFill>
                <a:latin typeface="Arial" pitchFamily="34" charset="0"/>
                <a:ea typeface="Arial" pitchFamily="34" charset="-122"/>
                <a:cs typeface="Arial" pitchFamily="34" charset="-120"/>
              </a:rPr>
              <a:t>→ abrir http://localhost:8000</a:t>
            </a:r>
            <a:endParaRPr lang="en-US" sz="1250" dirty="0"/>
          </a:p>
        </p:txBody>
      </p:sp>
      <p:sp>
        <p:nvSpPr>
          <p:cNvPr id="14" name="Shape 11"/>
          <p:cNvSpPr/>
          <p:nvPr/>
        </p:nvSpPr>
        <p:spPr>
          <a:xfrm>
            <a:off x="566928" y="4846320"/>
            <a:ext cx="11057839" cy="128016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pic>
        <p:nvPicPr>
          <p:cNvPr id="15" name="Image 1" descr="preencoded.png">    </p:cNvPr>
          <p:cNvPicPr>
            <a:picLocks noChangeAspect="1"/>
          </p:cNvPicPr>
          <p:nvPr/>
        </p:nvPicPr>
        <p:blipFill>
          <a:blip r:embed="rId2"/>
          <a:stretch>
            <a:fillRect/>
          </a:stretch>
        </p:blipFill>
        <p:spPr>
          <a:xfrm>
            <a:off x="804672" y="5065776"/>
            <a:ext cx="237744" cy="237744"/>
          </a:xfrm>
          <a:prstGeom prst="rect">
            <a:avLst/>
          </a:prstGeom>
        </p:spPr>
      </p:pic>
      <p:sp>
        <p:nvSpPr>
          <p:cNvPr id="16" name="Text 12"/>
          <p:cNvSpPr/>
          <p:nvPr/>
        </p:nvSpPr>
        <p:spPr>
          <a:xfrm>
            <a:off x="1133856" y="5038344"/>
            <a:ext cx="10234879" cy="292608"/>
          </a:xfrm>
          <a:prstGeom prst="rect">
            <a:avLst/>
          </a:prstGeom>
          <a:noFill/>
          <a:ln/>
        </p:spPr>
        <p:txBody>
          <a:bodyPr wrap="square" lIns="0" tIns="0" rIns="0" bIns="0" rtlCol="0" anchor="ctr"/>
          <a:lstStyle/>
          <a:p>
            <a:pPr indent="0" marL="0">
              <a:buNone/>
            </a:pPr>
            <a:r>
              <a:rPr lang="en-US" sz="950" b="1" spc="150" kern="0" dirty="0">
                <a:solidFill>
                  <a:srgbClr val="B3261E"/>
                </a:solidFill>
                <a:latin typeface="Courier New" pitchFamily="34" charset="0"/>
                <a:ea typeface="Courier New" pitchFamily="34" charset="-122"/>
                <a:cs typeface="Courier New" pitchFamily="34" charset="-120"/>
              </a:rPr>
              <a:t>NO ACTIVEN «PERMITIR ACCESO A URL DE ARCHIVO»</a:t>
            </a:r>
            <a:endParaRPr lang="en-US" sz="950" dirty="0"/>
          </a:p>
        </p:txBody>
      </p:sp>
      <p:sp>
        <p:nvSpPr>
          <p:cNvPr id="17" name="Text 13"/>
          <p:cNvSpPr/>
          <p:nvPr/>
        </p:nvSpPr>
        <p:spPr>
          <a:xfrm>
            <a:off x="804672" y="5358384"/>
            <a:ext cx="10582351" cy="67665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Funcionaría a veces, pero da a la extensión acceso a sus archivos locales. La práctica correcta es servir por http://localhost, igual que en producción se sirve por https.</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B.3 · PASO 2 · UN TOKEN PARA PROBAR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RED LOCAL (SALA) O SEPOLIA (CASA)</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29</a:t>
            </a:r>
            <a:endParaRPr lang="en-US" sz="900" dirty="0"/>
          </a:p>
        </p:txBody>
      </p:sp>
      <p:sp>
        <p:nvSpPr>
          <p:cNvPr id="8" name="Shape 5"/>
          <p:cNvSpPr/>
          <p:nvPr/>
        </p:nvSpPr>
        <p:spPr>
          <a:xfrm>
            <a:off x="566928" y="1691640"/>
            <a:ext cx="6766560" cy="2377440"/>
          </a:xfrm>
          <a:prstGeom prst="rect">
            <a:avLst/>
          </a:prstGeom>
          <a:solidFill>
            <a:srgbClr val="16151B"/>
          </a:solidFill>
          <a:ln w="22225">
            <a:solidFill>
              <a:srgbClr val="16151B"/>
            </a:solidFill>
            <a:prstDash val="solid"/>
          </a:ln>
        </p:spPr>
      </p:sp>
      <p:sp>
        <p:nvSpPr>
          <p:cNvPr id="9" name="Text 6"/>
          <p:cNvSpPr/>
          <p:nvPr/>
        </p:nvSpPr>
        <p:spPr>
          <a:xfrm>
            <a:off x="768096" y="1764792"/>
            <a:ext cx="6364224"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OPCIÓN A · RED LOCAL DE HARDHAT</a:t>
            </a:r>
            <a:endParaRPr lang="en-US" sz="850" dirty="0"/>
          </a:p>
        </p:txBody>
      </p:sp>
      <p:sp>
        <p:nvSpPr>
          <p:cNvPr id="10" name="Text 7"/>
          <p:cNvSpPr/>
          <p:nvPr/>
        </p:nvSpPr>
        <p:spPr>
          <a:xfrm>
            <a:off x="768096" y="2075688"/>
            <a:ext cx="6364224" cy="1883664"/>
          </a:xfrm>
          <a:prstGeom prst="rect">
            <a:avLst/>
          </a:prstGeom>
          <a:noFill/>
          <a:ln/>
        </p:spPr>
        <p:txBody>
          <a:bodyPr wrap="square" lIns="0" tIns="0" rIns="0" bIns="0" rtlCol="0" anchor="t"/>
          <a:lstStyle/>
          <a:p>
            <a:pPr indent="0" marL="0">
              <a:lnSpc>
                <a:spcPct val="112000"/>
              </a:lnSpc>
              <a:buNone/>
            </a:pPr>
            <a:r>
              <a:rPr lang="en-US" sz="1050" dirty="0">
                <a:solidFill>
                  <a:srgbClr val="8B8697"/>
                </a:solidFill>
                <a:latin typeface="Courier New" pitchFamily="34" charset="0"/>
                <a:ea typeface="Courier New" pitchFamily="34" charset="-122"/>
                <a:cs typeface="Courier New" pitchFamily="34" charset="-120"/>
              </a:rPr>
              <a:t># terminal 1 · se deja abierta</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node</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8B8697"/>
                </a:solidFill>
                <a:latin typeface="Courier New" pitchFamily="34" charset="0"/>
                <a:ea typeface="Courier New" pitchFamily="34" charset="-122"/>
                <a:cs typeface="Courier New" pitchFamily="34" charset="-120"/>
              </a:rPr>
              <a:t># terminal 2 · despliega FichaUSB, les da 1000 FUSB y 10 ETH locales</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env</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DESTINO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"0xSU_DIRECCION_DE_METAMASK"</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run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scripts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s12</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preparar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local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js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network</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localhost</a:t>
            </a:r>
            <a:endParaRPr lang="en-US" sz="1050" dirty="0"/>
          </a:p>
        </p:txBody>
      </p:sp>
      <p:sp>
        <p:nvSpPr>
          <p:cNvPr id="11" name="Text 8"/>
          <p:cNvSpPr/>
          <p:nvPr/>
        </p:nvSpPr>
        <p:spPr>
          <a:xfrm>
            <a:off x="7562088" y="1691640"/>
            <a:ext cx="4062679" cy="2377440"/>
          </a:xfrm>
          <a:prstGeom prst="rect">
            <a:avLst/>
          </a:prstGeom>
          <a:noFill/>
          <a:ln/>
        </p:spPr>
        <p:txBody>
          <a:bodyPr wrap="square" lIns="0" tIns="0" rIns="0" bIns="0" rtlCol="0" anchor="t"/>
          <a:lstStyle/>
          <a:p>
            <a:pPr marL="203200" indent="-203200">
              <a:lnSpc>
                <a:spcPct val="118000"/>
              </a:lnSpc>
              <a:spcAft>
                <a:spcPts val="800"/>
              </a:spcAft>
              <a:buSzPct val="100000"/>
              <a:buChar char="■"/>
            </a:pPr>
            <a:r>
              <a:rPr lang="en-US" sz="1200" dirty="0">
                <a:solidFill>
                  <a:srgbClr val="3A3844"/>
                </a:solidFill>
                <a:latin typeface="Arial" pitchFamily="34" charset="0"/>
                <a:ea typeface="Arial" pitchFamily="34" charset="-122"/>
                <a:cs typeface="Arial" pitchFamily="34" charset="-120"/>
              </a:rPr>
              <a:t>En MetaMask: agregar red RPC http://127.0.0.1:8545, chainId 31337, moneda ETH.</a:t>
            </a:r>
            <a:endParaRPr lang="en-US" sz="1200" dirty="0"/>
          </a:p>
          <a:p>
            <a:pPr marL="203200" indent="-203200">
              <a:lnSpc>
                <a:spcPct val="118000"/>
              </a:lnSpc>
              <a:spcAft>
                <a:spcPts val="800"/>
              </a:spcAft>
              <a:buSzPct val="100000"/>
              <a:buChar char="■"/>
            </a:pPr>
            <a:r>
              <a:rPr lang="en-US" sz="1200" dirty="0">
                <a:solidFill>
                  <a:srgbClr val="3A3844"/>
                </a:solidFill>
                <a:latin typeface="Arial" pitchFamily="34" charset="0"/>
                <a:ea typeface="Arial" pitchFamily="34" charset="-122"/>
                <a:cs typeface="Arial" pitchFamily="34" charset="-120"/>
              </a:rPr>
              <a:t>Ninguna clave privada se importa: el script les manda fondos a SU cuenta.</a:t>
            </a:r>
            <a:endParaRPr lang="en-US" sz="1200" dirty="0"/>
          </a:p>
          <a:p>
            <a:pPr marL="203200" indent="-203200">
              <a:lnSpc>
                <a:spcPct val="118000"/>
              </a:lnSpc>
              <a:spcAft>
                <a:spcPts val="800"/>
              </a:spcAft>
              <a:buSzPct val="100000"/>
              <a:buChar char="■"/>
            </a:pPr>
            <a:r>
              <a:rPr lang="en-US" sz="1200" dirty="0">
                <a:solidFill>
                  <a:srgbClr val="3A3844"/>
                </a:solidFill>
                <a:latin typeface="Arial" pitchFamily="34" charset="0"/>
                <a:ea typeface="Arial" pitchFamily="34" charset="-122"/>
                <a:cs typeface="Arial" pitchFamily="34" charset="-120"/>
              </a:rPr>
              <a:t>Opción B: la FichaUSB que desplegaron en la S10, en Sepolia.</a:t>
            </a:r>
            <a:endParaRPr lang="en-US" sz="1200" dirty="0"/>
          </a:p>
        </p:txBody>
      </p:sp>
      <p:sp>
        <p:nvSpPr>
          <p:cNvPr id="12" name="Shape 9"/>
          <p:cNvSpPr/>
          <p:nvPr/>
        </p:nvSpPr>
        <p:spPr>
          <a:xfrm>
            <a:off x="566928" y="4251960"/>
            <a:ext cx="11057839" cy="1234440"/>
          </a:xfrm>
          <a:prstGeom prst="rect">
            <a:avLst/>
          </a:prstGeom>
          <a:solidFill>
            <a:srgbClr val="16151B"/>
          </a:solidFill>
          <a:ln w="22225">
            <a:solidFill>
              <a:srgbClr val="16151B"/>
            </a:solidFill>
            <a:prstDash val="solid"/>
          </a:ln>
        </p:spPr>
      </p:sp>
      <p:sp>
        <p:nvSpPr>
          <p:cNvPr id="13" name="Text 10"/>
          <p:cNvSpPr/>
          <p:nvPr/>
        </p:nvSpPr>
        <p:spPr>
          <a:xfrm>
            <a:off x="768096" y="432511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SALIDA ESPERADA (LA DIRECCIÓN PUEDE VARIAR)</a:t>
            </a:r>
            <a:endParaRPr lang="en-US" sz="850" dirty="0"/>
          </a:p>
        </p:txBody>
      </p:sp>
      <p:sp>
        <p:nvSpPr>
          <p:cNvPr id="14" name="Text 11"/>
          <p:cNvSpPr/>
          <p:nvPr/>
        </p:nvSpPr>
        <p:spPr>
          <a:xfrm>
            <a:off x="768096" y="4636008"/>
            <a:ext cx="10655503" cy="740664"/>
          </a:xfrm>
          <a:prstGeom prst="rect">
            <a:avLst/>
          </a:prstGeom>
          <a:noFill/>
          <a:ln/>
        </p:spPr>
        <p:txBody>
          <a:bodyPr wrap="square" lIns="0" tIns="0" rIns="0" bIns="0" rtlCol="0" anchor="t"/>
          <a:lstStyle/>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DIRECCION_FICHA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x9fE46736679d2D9a65F0992F2272dE9f3c7fa6e0</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chainId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31337</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FUSB</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1000.0</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ETH</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local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10.0</a:t>
            </a:r>
            <a:endParaRPr lang="en-US" sz="1050" dirty="0"/>
          </a:p>
        </p:txBody>
      </p:sp>
      <p:sp>
        <p:nvSpPr>
          <p:cNvPr id="15" name="Text 12"/>
          <p:cNvSpPr/>
          <p:nvPr/>
        </p:nvSpPr>
        <p:spPr>
          <a:xfrm>
            <a:off x="566928" y="5623560"/>
            <a:ext cx="11057839" cy="502920"/>
          </a:xfrm>
          <a:prstGeom prst="rect">
            <a:avLst/>
          </a:prstGeom>
          <a:noFill/>
          <a:ln/>
        </p:spPr>
        <p:txBody>
          <a:bodyPr wrap="square" lIns="0" tIns="0" rIns="0" bIns="0" rtlCol="0" anchor="t"/>
          <a:lstStyle/>
          <a:p>
            <a:pPr indent="0" marL="0">
              <a:lnSpc>
                <a:spcPct val="124000"/>
              </a:lnSpc>
              <a:buNone/>
            </a:pPr>
            <a:r>
              <a:rPr lang="en-US" sz="1200" dirty="0">
                <a:solidFill>
                  <a:srgbClr val="A35604"/>
                </a:solidFill>
                <a:latin typeface="Arial" pitchFamily="34" charset="0"/>
                <a:ea typeface="Arial" pitchFamily="34" charset="-122"/>
                <a:cs typeface="Arial" pitchFamily="34" charset="-120"/>
              </a:rPr>
              <a:t>Si reinician el nodo, la cadena se borra: se vuelve a correr el script y se limpia la actividad de MetaMask.</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B.4 · PASO 3 · CONFIGURAR Y COMPROBAR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ANTES DEL NAVEGADOR, LA TERMINAL</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30</a:t>
            </a:r>
            <a:endParaRPr lang="en-US" sz="900" dirty="0"/>
          </a:p>
        </p:txBody>
      </p:sp>
      <p:sp>
        <p:nvSpPr>
          <p:cNvPr id="8" name="Shape 5"/>
          <p:cNvSpPr/>
          <p:nvPr/>
        </p:nvSpPr>
        <p:spPr>
          <a:xfrm>
            <a:off x="566928" y="1691640"/>
            <a:ext cx="11057839" cy="960120"/>
          </a:xfrm>
          <a:prstGeom prst="rect">
            <a:avLst/>
          </a:prstGeom>
          <a:solidFill>
            <a:srgbClr val="16151B"/>
          </a:solidFill>
          <a:ln w="22225">
            <a:solidFill>
              <a:srgbClr val="16151B"/>
            </a:solidFill>
            <a:prstDash val="solid"/>
          </a:ln>
        </p:spPr>
      </p:sp>
      <p:sp>
        <p:nvSpPr>
          <p:cNvPr id="9" name="Text 6"/>
          <p:cNvSpPr/>
          <p:nvPr/>
        </p:nvSpPr>
        <p:spPr>
          <a:xfrm>
            <a:off x="768096" y="176479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EN INDEX.HTML</a:t>
            </a:r>
            <a:endParaRPr lang="en-US" sz="850" dirty="0"/>
          </a:p>
        </p:txBody>
      </p:sp>
      <p:sp>
        <p:nvSpPr>
          <p:cNvPr id="10" name="Text 7"/>
          <p:cNvSpPr/>
          <p:nvPr/>
        </p:nvSpPr>
        <p:spPr>
          <a:xfrm>
            <a:off x="768096" y="2075688"/>
            <a:ext cx="10655503" cy="466344"/>
          </a:xfrm>
          <a:prstGeom prst="rect">
            <a:avLst/>
          </a:prstGeom>
          <a:noFill/>
          <a:ln/>
        </p:spPr>
        <p:txBody>
          <a:bodyPr wrap="square" lIns="0" tIns="0" rIns="0" bIns="0" rtlCol="0" anchor="t"/>
          <a:lstStyle/>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DIRECCION_FICHA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"0x9fE4…a6e0"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la que imprimió el script</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const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CHAIN_ID_SEPOLIA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31337</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11155111n si usan Sepolia</a:t>
            </a:r>
            <a:endParaRPr lang="en-US" sz="1150" dirty="0"/>
          </a:p>
        </p:txBody>
      </p:sp>
      <p:sp>
        <p:nvSpPr>
          <p:cNvPr id="11" name="Shape 8"/>
          <p:cNvSpPr/>
          <p:nvPr/>
        </p:nvSpPr>
        <p:spPr>
          <a:xfrm>
            <a:off x="566928" y="2788920"/>
            <a:ext cx="11057839" cy="2148840"/>
          </a:xfrm>
          <a:prstGeom prst="rect">
            <a:avLst/>
          </a:prstGeom>
          <a:solidFill>
            <a:srgbClr val="16151B"/>
          </a:solidFill>
          <a:ln w="22225">
            <a:solidFill>
              <a:srgbClr val="16151B"/>
            </a:solidFill>
            <a:prstDash val="solid"/>
          </a:ln>
        </p:spPr>
      </p:sp>
      <p:sp>
        <p:nvSpPr>
          <p:cNvPr id="12" name="Text 9"/>
          <p:cNvSpPr/>
          <p:nvPr/>
        </p:nvSpPr>
        <p:spPr>
          <a:xfrm>
            <a:off x="768096" y="286207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PUNTO DE CONTROL · SALIDA REAL</a:t>
            </a:r>
            <a:endParaRPr lang="en-US" sz="850" dirty="0"/>
          </a:p>
        </p:txBody>
      </p:sp>
      <p:sp>
        <p:nvSpPr>
          <p:cNvPr id="13" name="Text 10"/>
          <p:cNvSpPr/>
          <p:nvPr/>
        </p:nvSpPr>
        <p:spPr>
          <a:xfrm>
            <a:off x="768096" y="3172968"/>
            <a:ext cx="10655503" cy="1655064"/>
          </a:xfrm>
          <a:prstGeom prst="rect">
            <a:avLst/>
          </a:prstGeom>
          <a:noFill/>
          <a:ln/>
        </p:spPr>
        <p:txBody>
          <a:bodyPr wrap="square" lIns="0" tIns="0" rIns="0" bIns="0" rtlCol="0" anchor="t"/>
          <a:lstStyle/>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env</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FICHA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"0x9fE4…a6e0"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env</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CUENTA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"0xSU_DIRECCION"</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run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scripts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s12</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comprobar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ficha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js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network</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localhost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í</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mbolo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FUSB</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decimales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18</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saldo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bruto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1000000000000000000000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que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devuelve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cadena</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saldo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legible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1000.0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FUSB</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formatUnits</a:t>
            </a:r>
            <a:endParaRPr lang="en-US" sz="1050" dirty="0"/>
          </a:p>
        </p:txBody>
      </p:sp>
      <p:sp>
        <p:nvSpPr>
          <p:cNvPr id="14" name="Shape 11"/>
          <p:cNvSpPr/>
          <p:nvPr/>
        </p:nvSpPr>
        <p:spPr>
          <a:xfrm>
            <a:off x="566928" y="5074920"/>
            <a:ext cx="11057839" cy="105156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5" name="Image 1" descr="preencoded.png">    </p:cNvPr>
          <p:cNvPicPr>
            <a:picLocks noChangeAspect="1"/>
          </p:cNvPicPr>
          <p:nvPr/>
        </p:nvPicPr>
        <p:blipFill>
          <a:blip r:embed="rId2"/>
          <a:stretch>
            <a:fillRect/>
          </a:stretch>
        </p:blipFill>
        <p:spPr>
          <a:xfrm>
            <a:off x="804672" y="5294376"/>
            <a:ext cx="237744" cy="237744"/>
          </a:xfrm>
          <a:prstGeom prst="rect">
            <a:avLst/>
          </a:prstGeom>
        </p:spPr>
      </p:pic>
      <p:sp>
        <p:nvSpPr>
          <p:cNvPr id="16" name="Text 12"/>
          <p:cNvSpPr/>
          <p:nvPr/>
        </p:nvSpPr>
        <p:spPr>
          <a:xfrm>
            <a:off x="1133856" y="526694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POR QUÉ ESTE PASO</a:t>
            </a:r>
            <a:endParaRPr lang="en-US" sz="950" dirty="0"/>
          </a:p>
        </p:txBody>
      </p:sp>
      <p:sp>
        <p:nvSpPr>
          <p:cNvPr id="17" name="Text 13"/>
          <p:cNvSpPr/>
          <p:nvPr/>
        </p:nvSpPr>
        <p:spPr>
          <a:xfrm>
            <a:off x="804672" y="5586984"/>
            <a:ext cx="10582351" cy="44805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Hace las mismas lecturas que la dApp con el mismo ABI. Si esto falla, el problema es la dirección o la red, no su HTML: ahorra media hora de depurar el navegador.</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B.5 · PASOS 4 Y 5 · COMPLETAR LOS TODO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CONECTAR Y LEER, DESPUÉS ESCRIBIR</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31</a:t>
            </a:r>
            <a:endParaRPr lang="en-US" sz="900" dirty="0"/>
          </a:p>
        </p:txBody>
      </p:sp>
      <p:sp>
        <p:nvSpPr>
          <p:cNvPr id="8" name="Shape 5"/>
          <p:cNvSpPr/>
          <p:nvPr/>
        </p:nvSpPr>
        <p:spPr>
          <a:xfrm>
            <a:off x="566928" y="1691640"/>
            <a:ext cx="11057839" cy="713232"/>
          </a:xfrm>
          <a:prstGeom prst="rect">
            <a:avLst/>
          </a:prstGeom>
          <a:solidFill>
            <a:srgbClr val="FFFFFF"/>
          </a:solidFill>
          <a:ln w="15875">
            <a:solidFill>
              <a:srgbClr val="D9D6E0"/>
            </a:solidFill>
            <a:prstDash val="solid"/>
          </a:ln>
        </p:spPr>
      </p:sp>
      <p:sp>
        <p:nvSpPr>
          <p:cNvPr id="9" name="Text 6"/>
          <p:cNvSpPr/>
          <p:nvPr/>
        </p:nvSpPr>
        <p:spPr>
          <a:xfrm>
            <a:off x="694944" y="1691640"/>
            <a:ext cx="548640" cy="71323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01952"/>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TODO 1 A 3</a:t>
            </a:r>
            <a:endParaRPr lang="en-US" sz="1000" dirty="0"/>
          </a:p>
        </p:txBody>
      </p:sp>
      <p:sp>
        <p:nvSpPr>
          <p:cNvPr id="11" name="Text 8"/>
          <p:cNvSpPr/>
          <p:nvPr/>
        </p:nvSpPr>
        <p:spPr>
          <a:xfrm>
            <a:off x="3383280" y="1783080"/>
            <a:ext cx="8131759" cy="566928"/>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Conectar. Se espera: cuenta 0x…, red «unknown (31337)» o «sepolia (11155111)».</a:t>
            </a:r>
            <a:endParaRPr lang="en-US" sz="1200" dirty="0"/>
          </a:p>
        </p:txBody>
      </p:sp>
      <p:sp>
        <p:nvSpPr>
          <p:cNvPr id="12" name="Shape 9"/>
          <p:cNvSpPr/>
          <p:nvPr/>
        </p:nvSpPr>
        <p:spPr>
          <a:xfrm>
            <a:off x="566928" y="2496312"/>
            <a:ext cx="11057839" cy="713232"/>
          </a:xfrm>
          <a:prstGeom prst="rect">
            <a:avLst/>
          </a:prstGeom>
          <a:solidFill>
            <a:srgbClr val="FAF9FB"/>
          </a:solidFill>
          <a:ln w="15875">
            <a:solidFill>
              <a:srgbClr val="D9D6E0"/>
            </a:solidFill>
            <a:prstDash val="solid"/>
          </a:ln>
        </p:spPr>
      </p:sp>
      <p:sp>
        <p:nvSpPr>
          <p:cNvPr id="13" name="Text 10"/>
          <p:cNvSpPr/>
          <p:nvPr/>
        </p:nvSpPr>
        <p:spPr>
          <a:xfrm>
            <a:off x="694944" y="2496312"/>
            <a:ext cx="548640" cy="71323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706624"/>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TODO 4 Y 5</a:t>
            </a:r>
            <a:endParaRPr lang="en-US" sz="1000" dirty="0"/>
          </a:p>
        </p:txBody>
      </p:sp>
      <p:sp>
        <p:nvSpPr>
          <p:cNvPr id="15" name="Text 12"/>
          <p:cNvSpPr/>
          <p:nvPr/>
        </p:nvSpPr>
        <p:spPr>
          <a:xfrm>
            <a:off x="3383280" y="2587752"/>
            <a:ext cx="8131759" cy="566928"/>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Leer. Se espera: «Saldo FUSB 1000.0 FUSB» y el estado verde «Conectado».</a:t>
            </a:r>
            <a:endParaRPr lang="en-US" sz="1200" dirty="0"/>
          </a:p>
        </p:txBody>
      </p:sp>
      <p:sp>
        <p:nvSpPr>
          <p:cNvPr id="16" name="Shape 13"/>
          <p:cNvSpPr/>
          <p:nvPr/>
        </p:nvSpPr>
        <p:spPr>
          <a:xfrm>
            <a:off x="566928" y="3300984"/>
            <a:ext cx="11057839" cy="713232"/>
          </a:xfrm>
          <a:prstGeom prst="rect">
            <a:avLst/>
          </a:prstGeom>
          <a:solidFill>
            <a:srgbClr val="FFFFFF"/>
          </a:solidFill>
          <a:ln w="15875">
            <a:solidFill>
              <a:srgbClr val="D9D6E0"/>
            </a:solidFill>
            <a:prstDash val="solid"/>
          </a:ln>
        </p:spPr>
      </p:sp>
      <p:sp>
        <p:nvSpPr>
          <p:cNvPr id="17" name="Text 14"/>
          <p:cNvSpPr/>
          <p:nvPr/>
        </p:nvSpPr>
        <p:spPr>
          <a:xfrm>
            <a:off x="694944" y="3300984"/>
            <a:ext cx="548640" cy="71323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511296"/>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TODO 6</a:t>
            </a:r>
            <a:endParaRPr lang="en-US" sz="1000" dirty="0"/>
          </a:p>
        </p:txBody>
      </p:sp>
      <p:sp>
        <p:nvSpPr>
          <p:cNvPr id="19" name="Text 16"/>
          <p:cNvSpPr/>
          <p:nvPr/>
        </p:nvSpPr>
        <p:spPr>
          <a:xfrm>
            <a:off x="3383280" y="3392424"/>
            <a:ext cx="8131759" cy="566928"/>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Transferir 2,5 a un compañero. Amarillo «esperando confirmación», luego verde con el bloque.</a:t>
            </a:r>
            <a:endParaRPr lang="en-US" sz="1200" dirty="0"/>
          </a:p>
        </p:txBody>
      </p:sp>
      <p:sp>
        <p:nvSpPr>
          <p:cNvPr id="20" name="Shape 17"/>
          <p:cNvSpPr/>
          <p:nvPr/>
        </p:nvSpPr>
        <p:spPr>
          <a:xfrm>
            <a:off x="566928" y="4105656"/>
            <a:ext cx="11057839" cy="713232"/>
          </a:xfrm>
          <a:prstGeom prst="rect">
            <a:avLst/>
          </a:prstGeom>
          <a:solidFill>
            <a:srgbClr val="FAF9FB"/>
          </a:solidFill>
          <a:ln w="15875">
            <a:solidFill>
              <a:srgbClr val="D9D6E0"/>
            </a:solidFill>
            <a:prstDash val="solid"/>
          </a:ln>
        </p:spPr>
      </p:sp>
      <p:sp>
        <p:nvSpPr>
          <p:cNvPr id="21" name="Text 18"/>
          <p:cNvSpPr/>
          <p:nvPr/>
        </p:nvSpPr>
        <p:spPr>
          <a:xfrm>
            <a:off x="694944" y="4105656"/>
            <a:ext cx="548640" cy="71323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315968"/>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TODO 7</a:t>
            </a:r>
            <a:endParaRPr lang="en-US" sz="1000" dirty="0"/>
          </a:p>
        </p:txBody>
      </p:sp>
      <p:sp>
        <p:nvSpPr>
          <p:cNvPr id="23" name="Text 20"/>
          <p:cNvSpPr/>
          <p:nvPr/>
        </p:nvSpPr>
        <p:spPr>
          <a:xfrm>
            <a:off x="3383280" y="4197096"/>
            <a:ext cx="8131759" cy="566928"/>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Errores clasificados: cada uno con su mensaje rojo propio (lámina siguiente).</a:t>
            </a:r>
            <a:endParaRPr lang="en-US" sz="1200" dirty="0"/>
          </a:p>
        </p:txBody>
      </p:sp>
      <p:sp>
        <p:nvSpPr>
          <p:cNvPr id="24" name="Shape 21"/>
          <p:cNvSpPr/>
          <p:nvPr/>
        </p:nvSpPr>
        <p:spPr>
          <a:xfrm>
            <a:off x="566928" y="4910328"/>
            <a:ext cx="11057839" cy="713232"/>
          </a:xfrm>
          <a:prstGeom prst="rect">
            <a:avLst/>
          </a:prstGeom>
          <a:solidFill>
            <a:srgbClr val="FFFFFF"/>
          </a:solidFill>
          <a:ln w="15875">
            <a:solidFill>
              <a:srgbClr val="D9D6E0"/>
            </a:solidFill>
            <a:prstDash val="solid"/>
          </a:ln>
        </p:spPr>
      </p:sp>
      <p:sp>
        <p:nvSpPr>
          <p:cNvPr id="25" name="Text 22"/>
          <p:cNvSpPr/>
          <p:nvPr/>
        </p:nvSpPr>
        <p:spPr>
          <a:xfrm>
            <a:off x="694944" y="4910328"/>
            <a:ext cx="548640" cy="71323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05</a:t>
            </a:r>
            <a:endParaRPr lang="en-US" sz="1600" dirty="0"/>
          </a:p>
        </p:txBody>
      </p:sp>
      <p:sp>
        <p:nvSpPr>
          <p:cNvPr id="26" name="Text 23"/>
          <p:cNvSpPr/>
          <p:nvPr/>
        </p:nvSpPr>
        <p:spPr>
          <a:xfrm>
            <a:off x="1280160" y="5120640"/>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TODO 8</a:t>
            </a:r>
            <a:endParaRPr lang="en-US" sz="1000" dirty="0"/>
          </a:p>
        </p:txBody>
      </p:sp>
      <p:sp>
        <p:nvSpPr>
          <p:cNvPr id="27" name="Text 24"/>
          <p:cNvSpPr/>
          <p:nvPr/>
        </p:nvSpPr>
        <p:spPr>
          <a:xfrm>
            <a:off x="3383280" y="5001768"/>
            <a:ext cx="8131759" cy="566928"/>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Que un compañero les transfiera: el saldo cambia SIN recargar la página.</a:t>
            </a:r>
            <a:endParaRPr lang="en-US" sz="1200" dirty="0"/>
          </a:p>
        </p:txBody>
      </p:sp>
      <p:sp>
        <p:nvSpPr>
          <p:cNvPr id="28" name="Text 25"/>
          <p:cNvSpPr/>
          <p:nvPr/>
        </p:nvSpPr>
        <p:spPr>
          <a:xfrm>
            <a:off x="566928" y="5760720"/>
            <a:ext cx="11057839" cy="36576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Después de cada TODO: guardar, recargar el navegador (F5) y probar. Nada se compila.</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B.6 · EL RETO DE VERDAD</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PROVOCAR LOS CUATRO ERRORES A PROPÓSITO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32</a:t>
            </a:r>
            <a:endParaRPr lang="en-US" sz="9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2194560"/>
                <a:gridCol w="5303520"/>
                <a:gridCol w="355975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ESTADO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CÓMO PROVOCARLO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MENSAJE ESPERADO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73380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1 · Red equivocada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En MetaMask, cambiar a otra red (p. ej. Sepolia si esperan 31337) y reconectar.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«Red equivocada…» y Enviar bloqueado.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73380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2 · Sin billetera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Abrir la página en otro navegador o ventana sin MetaMask.</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«No se detecta una billetera…»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73380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3 · Rechazo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Pulsar Enviar y, en MetaMask, «Rechazar».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«Rechazaste la transacción…»</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73380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4 · Revertida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Transferir más FUSB de los que tienen.</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«Se revirtió al simularla… no se gastó gas».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673352"/>
            <a:ext cx="11094415" cy="3282696"/>
          </a:xfrm>
          <a:prstGeom prst="rect">
            <a:avLst/>
          </a:prstGeom>
          <a:ln w="22225">
            <a:solidFill>
              <a:srgbClr val="0F0F11"/>
            </a:solidFill>
            <a:prstDash val="solid"/>
          </a:ln>
        </p:spPr>
      </p:sp>
      <p:sp>
        <p:nvSpPr>
          <p:cNvPr id="10" name="Shape 6"/>
          <p:cNvSpPr/>
          <p:nvPr/>
        </p:nvSpPr>
        <p:spPr>
          <a:xfrm>
            <a:off x="566928" y="5120640"/>
            <a:ext cx="11057839" cy="100584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1" name="Image 1" descr="preencoded.png">    </p:cNvPr>
          <p:cNvPicPr>
            <a:picLocks noChangeAspect="1"/>
          </p:cNvPicPr>
          <p:nvPr/>
        </p:nvPicPr>
        <p:blipFill>
          <a:blip r:embed="rId2"/>
          <a:stretch>
            <a:fillRect/>
          </a:stretch>
        </p:blipFill>
        <p:spPr>
          <a:xfrm>
            <a:off x="804672" y="5340096"/>
            <a:ext cx="237744" cy="237744"/>
          </a:xfrm>
          <a:prstGeom prst="rect">
            <a:avLst/>
          </a:prstGeom>
        </p:spPr>
      </p:pic>
      <p:sp>
        <p:nvSpPr>
          <p:cNvPr id="12" name="Text 7"/>
          <p:cNvSpPr/>
          <p:nvPr/>
        </p:nvSpPr>
        <p:spPr>
          <a:xfrm>
            <a:off x="1133856" y="531266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EVIDENCIA</a:t>
            </a:r>
            <a:endParaRPr lang="en-US" sz="950" dirty="0"/>
          </a:p>
        </p:txBody>
      </p:sp>
      <p:sp>
        <p:nvSpPr>
          <p:cNvPr id="13" name="Text 8"/>
          <p:cNvSpPr/>
          <p:nvPr/>
        </p:nvSpPr>
        <p:spPr>
          <a:xfrm>
            <a:off x="804672" y="5632704"/>
            <a:ext cx="10582351" cy="40233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Una captura por estado, más una de pendiente y una de confirmada. Seis capturas: es lo que demuestra que se entendió la UX.</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B.7 · LO QUE MÁS FALLA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ERRORES COMUNES DEL LABORATORIO 12</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33</a:t>
            </a:r>
            <a:endParaRPr lang="en-US" sz="9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3931920"/>
                <a:gridCol w="71259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SÍNTOMA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CAUSA Y ARREGLO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87324">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«No se detecta una billetera» teniendo MetaMask</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Abrieron el archivo con doble clic (file://). Sírvanlo con npx serve o python -m http.server.</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87324">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«could not decode result data» al leer</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DIRECCION_FICHA no tiene contrato en ESA red: dirección o red equivocada, o reiniciaron el nodo.</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87324">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MetaMask: «nonce too high» en red local</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Reiniciaron el nodo: en MetaMask, borrar los datos de actividad de la cuenta (configuración avanzada).</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87324">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Red siempre «equivocada»</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CHAIN_ID_SEPOLIA no coincide: 31337n en local; comparen BigInt con BigInt (con la n).</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87324">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El saldo no se actualiza solo</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Falta llamar suscribirEventos() después de conectar (TODO 4 y 8).</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87324">
                <a:tc>
                  <a:txBody>
                    <a:bodyPr/>
                    <a:lstStyle/>
                    <a:p>
                      <a:pPr indent="0" marL="0">
                        <a:buNone/>
                      </a:pPr>
                      <a:r>
                        <a:rPr lang="en-US" sz="1050" b="1" dirty="0">
                          <a:solidFill>
                            <a:srgbClr val="0F0F11"/>
                          </a:solidFill>
                          <a:latin typeface="Courier New" pitchFamily="34" charset="0"/>
                          <a:ea typeface="Courier New" pitchFamily="34" charset="-122"/>
                          <a:cs typeface="Courier New" pitchFamily="34" charset="-120"/>
                        </a:rPr>
                        <a:t>ethers is not defined</a:t>
                      </a:r>
                      <a:endParaRPr lang="en-US" sz="10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050" dirty="0">
                          <a:solidFill>
                            <a:srgbClr val="3A3844"/>
                          </a:solidFill>
                          <a:latin typeface="Arial" pitchFamily="34" charset="0"/>
                          <a:ea typeface="Arial" pitchFamily="34" charset="-122"/>
                          <a:cs typeface="Arial" pitchFamily="34" charset="-120"/>
                        </a:rPr>
                        <a:t>Sin internet no carga ethers desde jsDelivr. Recarguen con conexión.</a:t>
                      </a:r>
                      <a:endParaRPr lang="en-US" sz="10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673352"/>
            <a:ext cx="11094415" cy="4471416"/>
          </a:xfrm>
          <a:prstGeom prst="rect">
            <a:avLst/>
          </a:prstGeom>
          <a:ln w="22225">
            <a:solidFill>
              <a:srgbClr val="0F0F11"/>
            </a:solidFill>
            <a:prstDash val="solid"/>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B.8 · CÓMO SABER QUE TERMINÓ · QUÉ SE ENTREGA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EVIDENCIA DEL LABORATORIO 12</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34</a:t>
            </a:r>
            <a:endParaRPr lang="en-US" sz="9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2926080"/>
                <a:gridCol w="6668719"/>
                <a:gridCol w="1463040"/>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EVIDENCIA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DETALLE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PESO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77901">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Repositorio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index.html con los 8 TODO completos, en el repo del equipo.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25 %</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77901">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Transferencia real</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Captura de «confirmada» con su hash (en Sepolia, enlace al explorador).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20 %</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77901">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Los cuatro errores + 2 estados</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Seis capturas, cada estado provocado a propósito.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35 %</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77901">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Eventos</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Saldo actualizado sin recargar tras una transferencia de un compañero.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10 %</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77901">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Reflexión</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¿Qué parte de su dApp NO está descentralizada? (tabla A.2).</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10 %</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673352"/>
            <a:ext cx="11094415" cy="3236976"/>
          </a:xfrm>
          <a:prstGeom prst="rect">
            <a:avLst/>
          </a:prstGeom>
          <a:ln w="22225">
            <a:solidFill>
              <a:srgbClr val="0F0F11"/>
            </a:solidFill>
            <a:prstDash val="solid"/>
          </a:ln>
        </p:spPr>
      </p:sp>
      <p:sp>
        <p:nvSpPr>
          <p:cNvPr id="10" name="Shape 6"/>
          <p:cNvSpPr/>
          <p:nvPr/>
        </p:nvSpPr>
        <p:spPr>
          <a:xfrm>
            <a:off x="566928" y="5074920"/>
            <a:ext cx="11057839" cy="10515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1" name="Image 1" descr="preencoded.png">    </p:cNvPr>
          <p:cNvPicPr>
            <a:picLocks noChangeAspect="1"/>
          </p:cNvPicPr>
          <p:nvPr/>
        </p:nvPicPr>
        <p:blipFill>
          <a:blip r:embed="rId2"/>
          <a:stretch>
            <a:fillRect/>
          </a:stretch>
        </p:blipFill>
        <p:spPr>
          <a:xfrm>
            <a:off x="804672" y="5294376"/>
            <a:ext cx="237744" cy="237744"/>
          </a:xfrm>
          <a:prstGeom prst="rect">
            <a:avLst/>
          </a:prstGeom>
        </p:spPr>
      </p:pic>
      <p:sp>
        <p:nvSpPr>
          <p:cNvPr id="12" name="Text 7"/>
          <p:cNvSpPr/>
          <p:nvPr/>
        </p:nvSpPr>
        <p:spPr>
          <a:xfrm>
            <a:off x="1133856" y="526694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DÓNDE ESTÁ TODO</a:t>
            </a:r>
            <a:endParaRPr lang="en-US" sz="950" dirty="0"/>
          </a:p>
        </p:txBody>
      </p:sp>
      <p:sp>
        <p:nvSpPr>
          <p:cNvPr id="13" name="Text 8"/>
          <p:cNvSpPr/>
          <p:nvPr/>
        </p:nvSpPr>
        <p:spPr>
          <a:xfrm>
            <a:off x="804672" y="5586984"/>
            <a:ext cx="10582351" cy="44805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Guía exageradamente detallada: laboratorio-12/guia/guia-laboratorio-12.pdf. Terminó cuando las seis capturas existen y el saldo cambia solo. Sin hash de transacción, no se califica.</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C</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20 MINUTOS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EL PROYECTO</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Conectar la interfaz propia a los contratos propios. El primer momento en que el proyecto se ve como un producto.</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C.1 · HACIA EL AVANCE 1</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LO QUE DEBE FUNCIONAR EN LA SESIÓN 13</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36</a:t>
            </a:r>
            <a:endParaRPr lang="en-US" sz="9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2377440"/>
                <a:gridCol w="868039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PIEZA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ESTADO ESPERADO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50926">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Contratos</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Desplegados y verificados en Sepolia, con cobertura ≥ 80 %.</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50926">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Interfaz</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Conecta la billetera, lee al menos un dato y ejecuta al menos una transacción.</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50926">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Estados</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Los cuatro errores y los estados pendiente/minada, con mensajes claros.</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50926">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Repositorio</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Contratos, pruebas y frontend, con un README que diga qué NO está descentralizado.</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673352"/>
            <a:ext cx="11094415" cy="2551176"/>
          </a:xfrm>
          <a:prstGeom prst="rect">
            <a:avLst/>
          </a:prstGeom>
          <a:ln w="22225">
            <a:solidFill>
              <a:srgbClr val="0F0F11"/>
            </a:solidFill>
            <a:prstDash val="solid"/>
          </a:ln>
        </p:spPr>
      </p:sp>
      <p:sp>
        <p:nvSpPr>
          <p:cNvPr id="10" name="Shape 6"/>
          <p:cNvSpPr/>
          <p:nvPr/>
        </p:nvSpPr>
        <p:spPr>
          <a:xfrm>
            <a:off x="566928" y="4434840"/>
            <a:ext cx="11057839" cy="169164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1" name="Image 1" descr="preencoded.png">    </p:cNvPr>
          <p:cNvPicPr>
            <a:picLocks noChangeAspect="1"/>
          </p:cNvPicPr>
          <p:nvPr/>
        </p:nvPicPr>
        <p:blipFill>
          <a:blip r:embed="rId2"/>
          <a:stretch>
            <a:fillRect/>
          </a:stretch>
        </p:blipFill>
        <p:spPr>
          <a:xfrm>
            <a:off x="804672" y="4654296"/>
            <a:ext cx="237744" cy="237744"/>
          </a:xfrm>
          <a:prstGeom prst="rect">
            <a:avLst/>
          </a:prstGeom>
        </p:spPr>
      </p:pic>
      <p:sp>
        <p:nvSpPr>
          <p:cNvPr id="12" name="Text 7"/>
          <p:cNvSpPr/>
          <p:nvPr/>
        </p:nvSpPr>
        <p:spPr>
          <a:xfrm>
            <a:off x="1133856" y="462686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QUÉ DICE EL PLAN</a:t>
            </a:r>
            <a:endParaRPr lang="en-US" sz="950" dirty="0"/>
          </a:p>
        </p:txBody>
      </p:sp>
      <p:sp>
        <p:nvSpPr>
          <p:cNvPr id="13" name="Text 8"/>
          <p:cNvSpPr/>
          <p:nvPr/>
        </p:nvSpPr>
        <p:spPr>
          <a:xfrm>
            <a:off x="804672" y="4946904"/>
            <a:ext cx="10582351" cy="108813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El Avance 1 (S13) exige contratos desplegados y verificados, pruebas con 80 % de cobertura y repositorio documentado. La interfaz integrada se evalúa en el Avance 2 (S16) y en la rúbrica final («Integración e interfaz», 10 %: estados de transacción manejados y UX comprensible). Empezar hoy es llegar holgados.</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C.2 · TRABAJO EN EQUIPOS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LA FRASE DE INTEGRACIÓN</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37</a:t>
            </a:r>
            <a:endParaRPr lang="en-US" sz="900" dirty="0"/>
          </a:p>
        </p:txBody>
      </p:sp>
      <p:sp>
        <p:nvSpPr>
          <p:cNvPr id="8" name="Shape 5"/>
          <p:cNvSpPr/>
          <p:nvPr/>
        </p:nvSpPr>
        <p:spPr>
          <a:xfrm>
            <a:off x="566928" y="1691640"/>
            <a:ext cx="11057839" cy="146304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874520"/>
            <a:ext cx="10289743" cy="1097280"/>
          </a:xfrm>
          <a:prstGeom prst="rect">
            <a:avLst/>
          </a:prstGeom>
          <a:noFill/>
          <a:ln/>
        </p:spPr>
        <p:txBody>
          <a:bodyPr wrap="square" lIns="0" tIns="0" rIns="0" bIns="0" rtlCol="0" anchor="ctr"/>
          <a:lstStyle/>
          <a:p>
            <a:pPr indent="0" marL="0">
              <a:lnSpc>
                <a:spcPct val="106000"/>
              </a:lnSpc>
              <a:buNone/>
            </a:pPr>
            <a:r>
              <a:rPr lang="en-US" sz="1900" dirty="0">
                <a:solidFill>
                  <a:srgbClr val="0F0F11"/>
                </a:solidFill>
                <a:latin typeface="Arial Black" pitchFamily="34" charset="0"/>
                <a:ea typeface="Arial Black" pitchFamily="34" charset="-122"/>
                <a:cs typeface="Arial Black" pitchFamily="34" charset="-120"/>
              </a:rPr>
              <a:t>«Nuestra interfaz LEE ____ con una llamada view, y ESCRIBE ____ con una transacción que firma ____.»</a:t>
            </a:r>
            <a:endParaRPr lang="en-US" sz="1900" dirty="0"/>
          </a:p>
        </p:txBody>
      </p:sp>
      <p:sp>
        <p:nvSpPr>
          <p:cNvPr id="10" name="Text 7"/>
          <p:cNvSpPr/>
          <p:nvPr/>
        </p:nvSpPr>
        <p:spPr>
          <a:xfrm>
            <a:off x="566928" y="3383280"/>
            <a:ext cx="11057839" cy="2011680"/>
          </a:xfrm>
          <a:prstGeom prst="rect">
            <a:avLst/>
          </a:prstGeom>
          <a:noFill/>
          <a:ln/>
        </p:spPr>
        <p:txBody>
          <a:bodyPr wrap="square" lIns="0" tIns="0" rIns="0" bIns="0" rtlCol="0" anchor="t"/>
          <a:lstStyle/>
          <a:p>
            <a:pPr marL="203200" indent="-203200">
              <a:lnSpc>
                <a:spcPct val="118000"/>
              </a:lnSpc>
              <a:spcAft>
                <a:spcPts val="700"/>
              </a:spcAft>
              <a:buSzPct val="100000"/>
              <a:buChar char="■"/>
            </a:pPr>
            <a:r>
              <a:rPr lang="en-US" sz="1300" dirty="0">
                <a:solidFill>
                  <a:srgbClr val="3A3844"/>
                </a:solidFill>
                <a:latin typeface="Arial" pitchFamily="34" charset="0"/>
                <a:ea typeface="Arial" pitchFamily="34" charset="-122"/>
                <a:cs typeface="Arial" pitchFamily="34" charset="-120"/>
              </a:rPr>
              <a:t>Si no la pueden completar en una línea, la interfaz aún no está pensada.</a:t>
            </a:r>
            <a:endParaRPr lang="en-US" sz="1300" dirty="0"/>
          </a:p>
          <a:p>
            <a:pPr marL="203200" indent="-203200">
              <a:lnSpc>
                <a:spcPct val="118000"/>
              </a:lnSpc>
              <a:spcAft>
                <a:spcPts val="700"/>
              </a:spcAft>
              <a:buSzPct val="100000"/>
              <a:buChar char="■"/>
            </a:pPr>
            <a:r>
              <a:rPr lang="en-US" sz="1300" dirty="0">
                <a:solidFill>
                  <a:srgbClr val="3A3844"/>
                </a:solidFill>
                <a:latin typeface="Arial" pitchFamily="34" charset="0"/>
                <a:ea typeface="Arial" pitchFamily="34" charset="-122"/>
                <a:cs typeface="Arial" pitchFamily="34" charset="-120"/>
              </a:rPr>
              <a:t>Una función de punta a punta antes que diez a medias (corte vertical, como el proyecto del docente).</a:t>
            </a:r>
            <a:endParaRPr lang="en-US" sz="1300" dirty="0"/>
          </a:p>
          <a:p>
            <a:pPr marL="203200" indent="-203200">
              <a:lnSpc>
                <a:spcPct val="118000"/>
              </a:lnSpc>
              <a:spcAft>
                <a:spcPts val="700"/>
              </a:spcAft>
              <a:buSzPct val="100000"/>
              <a:buChar char="■"/>
            </a:pPr>
            <a:r>
              <a:rPr lang="en-US" sz="1300" dirty="0">
                <a:solidFill>
                  <a:srgbClr val="3A3844"/>
                </a:solidFill>
                <a:latin typeface="Arial" pitchFamily="34" charset="0"/>
                <a:ea typeface="Arial" pitchFamily="34" charset="-122"/>
                <a:cs typeface="Arial" pitchFamily="34" charset="-120"/>
              </a:rPr>
              <a:t>Para el proyecto pueden usar React + wagmi; lo que se evalúa son los estados, no el framework.</a:t>
            </a:r>
            <a:endParaRPr lang="en-US" sz="1300" dirty="0"/>
          </a:p>
          <a:p>
            <a:pPr marL="203200" indent="-203200">
              <a:lnSpc>
                <a:spcPct val="118000"/>
              </a:lnSpc>
              <a:spcAft>
                <a:spcPts val="700"/>
              </a:spcAft>
              <a:buSzPct val="100000"/>
              <a:buChar char="■"/>
            </a:pPr>
            <a:r>
              <a:rPr lang="en-US" sz="1300" dirty="0">
                <a:solidFill>
                  <a:srgbClr val="3A3844"/>
                </a:solidFill>
                <a:latin typeface="Arial" pitchFamily="34" charset="0"/>
                <a:ea typeface="Arial" pitchFamily="34" charset="-122"/>
                <a:cs typeface="Arial" pitchFamily="34" charset="-120"/>
              </a:rPr>
              <a:t>Reutilicen el manejo de errores del laboratorio: la tabla A.15 vale igual en React.</a:t>
            </a:r>
            <a:endParaRPr lang="en-US" sz="1300" dirty="0"/>
          </a:p>
        </p:txBody>
      </p:sp>
      <p:sp>
        <p:nvSpPr>
          <p:cNvPr id="11" name="Text 8"/>
          <p:cNvSpPr/>
          <p:nvPr/>
        </p:nvSpPr>
        <p:spPr>
          <a:xfrm>
            <a:off x="566928" y="5532120"/>
            <a:ext cx="11057839" cy="59436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Verificación del bloque C: cada equipo lee su frase en voz alta. El docente pregunta «¿y si la transacción se revierte?».</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TRABAJO AUTÓNOMO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LA PREGUNTA DE LA SEMANA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12 · WEB 3.0 · FRONTEND Y CADENA</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38</a:t>
            </a:r>
            <a:endParaRPr lang="en-US" sz="900" dirty="0"/>
          </a:p>
        </p:txBody>
      </p:sp>
      <p:sp>
        <p:nvSpPr>
          <p:cNvPr id="8" name="Shape 5"/>
          <p:cNvSpPr/>
          <p:nvPr/>
        </p:nvSpPr>
        <p:spPr>
          <a:xfrm>
            <a:off x="566928" y="1737360"/>
            <a:ext cx="11057839" cy="160020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920240"/>
            <a:ext cx="10289743" cy="1234440"/>
          </a:xfrm>
          <a:prstGeom prst="rect">
            <a:avLst/>
          </a:prstGeom>
          <a:noFill/>
          <a:ln/>
        </p:spPr>
        <p:txBody>
          <a:bodyPr wrap="square" lIns="0" tIns="0" rIns="0" bIns="0" rtlCol="0" anchor="ctr"/>
          <a:lstStyle/>
          <a:p>
            <a:pPr indent="0" marL="0">
              <a:lnSpc>
                <a:spcPct val="106000"/>
              </a:lnSpc>
              <a:buNone/>
            </a:pPr>
            <a:r>
              <a:rPr lang="en-US" sz="2000" dirty="0">
                <a:solidFill>
                  <a:srgbClr val="0F0F11"/>
                </a:solidFill>
                <a:latin typeface="Arial Black" pitchFamily="34" charset="0"/>
                <a:ea typeface="Arial Black" pitchFamily="34" charset="-122"/>
                <a:cs typeface="Arial Black" pitchFamily="34" charset="-120"/>
              </a:rPr>
              <a:t>Abran una dApp conocida y, a mitad de uso, cambien de red en MetaMask o desconecten internet. ¿Qué deja de funcionar y qué mensaje les muestra? ¿Maneja los cuatro estados?</a:t>
            </a:r>
            <a:endParaRPr lang="en-US" sz="2000" dirty="0"/>
          </a:p>
        </p:txBody>
      </p:sp>
      <p:sp>
        <p:nvSpPr>
          <p:cNvPr id="10" name="Text 7"/>
          <p:cNvSpPr/>
          <p:nvPr/>
        </p:nvSpPr>
        <p:spPr>
          <a:xfrm>
            <a:off x="566928" y="3611880"/>
            <a:ext cx="7315200" cy="292608"/>
          </a:xfrm>
          <a:prstGeom prst="rect">
            <a:avLst/>
          </a:prstGeom>
          <a:noFill/>
          <a:ln/>
        </p:spPr>
        <p:txBody>
          <a:bodyPr wrap="square" lIns="0" tIns="0" rIns="0" bIns="0" rtlCol="0" anchor="ctr"/>
          <a:lstStyle/>
          <a:p>
            <a:pPr indent="0" marL="0">
              <a:buNone/>
            </a:pPr>
            <a:r>
              <a:rPr lang="en-US" sz="1050" b="1" spc="130" kern="0" dirty="0">
                <a:solidFill>
                  <a:srgbClr val="6F6B80"/>
                </a:solidFill>
                <a:latin typeface="Courier New" pitchFamily="34" charset="0"/>
                <a:ea typeface="Courier New" pitchFamily="34" charset="-122"/>
                <a:cs typeface="Courier New" pitchFamily="34" charset="-120"/>
              </a:rPr>
              <a:t>PARA LA PRÓXIMA SESIÓN</a:t>
            </a:r>
            <a:endParaRPr lang="en-US" sz="1050" dirty="0"/>
          </a:p>
        </p:txBody>
      </p:sp>
      <p:sp>
        <p:nvSpPr>
          <p:cNvPr id="11" name="Text 8"/>
          <p:cNvSpPr/>
          <p:nvPr/>
        </p:nvSpPr>
        <p:spPr>
          <a:xfrm>
            <a:off x="566928" y="3977640"/>
            <a:ext cx="11057839" cy="2148840"/>
          </a:xfrm>
          <a:prstGeom prst="rect">
            <a:avLst/>
          </a:prstGeom>
          <a:noFill/>
          <a:ln/>
        </p:spPr>
        <p:txBody>
          <a:bodyPr wrap="square" lIns="0" tIns="0" rIns="0" bIns="0" rtlCol="0" anchor="t"/>
          <a:lstStyle/>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Entregar la evidencia del laboratorio 12 (seis capturas, repo y reflexión).</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Avance 1 para la Sesión 13: contratos verificados + pruebas ≥ 80 % + README.</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Escribir la frase de integración del proyecto en el README.</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Leer sobre EIP-712 y «Sign-In with Ethereum» para la Sesión 13.</a:t>
            </a:r>
            <a:endParaRPr lang="en-US" sz="13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F07F06"/>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566928" y="1234440"/>
            <a:ext cx="457200" cy="457200"/>
          </a:xfrm>
          <a:prstGeom prst="rect">
            <a:avLst/>
          </a:prstGeom>
        </p:spPr>
      </p:pic>
      <p:sp>
        <p:nvSpPr>
          <p:cNvPr id="4" name="Text 1"/>
          <p:cNvSpPr/>
          <p:nvPr/>
        </p:nvSpPr>
        <p:spPr>
          <a:xfrm>
            <a:off x="566928" y="1874520"/>
            <a:ext cx="11057839" cy="457200"/>
          </a:xfrm>
          <a:prstGeom prst="rect">
            <a:avLst/>
          </a:prstGeom>
          <a:noFill/>
          <a:ln/>
        </p:spPr>
        <p:txBody>
          <a:bodyPr wrap="square" lIns="0" tIns="0" rIns="0" bIns="0" rtlCol="0" anchor="ctr"/>
          <a:lstStyle/>
          <a:p>
            <a:pPr indent="0" marL="0">
              <a:buNone/>
            </a:pPr>
            <a:r>
              <a:rPr lang="en-US" sz="1150" spc="180" kern="0" dirty="0">
                <a:solidFill>
                  <a:srgbClr val="F07F06"/>
                </a:solidFill>
                <a:latin typeface="Courier New" pitchFamily="34" charset="0"/>
                <a:ea typeface="Courier New" pitchFamily="34" charset="-122"/>
                <a:cs typeface="Courier New" pitchFamily="34" charset="-120"/>
              </a:rPr>
              <a:t>LO QUE SE LLEVAN DE HOY</a:t>
            </a:r>
            <a:endParaRPr lang="en-US" sz="1150" dirty="0"/>
          </a:p>
        </p:txBody>
      </p:sp>
      <p:sp>
        <p:nvSpPr>
          <p:cNvPr id="5" name="Text 2"/>
          <p:cNvSpPr/>
          <p:nvPr/>
        </p:nvSpPr>
        <p:spPr>
          <a:xfrm>
            <a:off x="566928" y="2377440"/>
            <a:ext cx="11057839" cy="1874520"/>
          </a:xfrm>
          <a:prstGeom prst="rect">
            <a:avLst/>
          </a:prstGeom>
          <a:noFill/>
          <a:ln/>
        </p:spPr>
        <p:txBody>
          <a:bodyPr wrap="square" lIns="0" tIns="0" rIns="0" bIns="0" rtlCol="0" anchor="t"/>
          <a:lstStyle/>
          <a:p>
            <a:pPr indent="0" marL="0">
              <a:lnSpc>
                <a:spcPct val="100000"/>
              </a:lnSpc>
              <a:buNone/>
            </a:pPr>
            <a:r>
              <a:rPr lang="en-US" sz="3600" dirty="0">
                <a:solidFill>
                  <a:srgbClr val="FFFFFF"/>
                </a:solidFill>
                <a:latin typeface="Arial Black" pitchFamily="34" charset="0"/>
                <a:ea typeface="Arial Black" pitchFamily="34" charset="-122"/>
                <a:cs typeface="Arial Black" pitchFamily="34" charset="-120"/>
              </a:rPr>
              <a:t>await transfer() no dice «hecho», dice «enviado». Esa diferencia es la UX de Web3.</a:t>
            </a:r>
            <a:endParaRPr lang="en-US" sz="3600" dirty="0"/>
          </a:p>
        </p:txBody>
      </p:sp>
      <p:sp>
        <p:nvSpPr>
          <p:cNvPr id="6" name="Text 3"/>
          <p:cNvSpPr/>
          <p:nvPr/>
        </p:nvSpPr>
        <p:spPr>
          <a:xfrm>
            <a:off x="566928" y="4343400"/>
            <a:ext cx="9960559" cy="822960"/>
          </a:xfrm>
          <a:prstGeom prst="rect">
            <a:avLst/>
          </a:prstGeom>
          <a:noFill/>
          <a:ln/>
        </p:spPr>
        <p:txBody>
          <a:bodyPr wrap="square" lIns="0" tIns="0" rIns="0" bIns="0" rtlCol="0" anchor="t"/>
          <a:lstStyle/>
          <a:p>
            <a:pPr indent="0" marL="0">
              <a:lnSpc>
                <a:spcPct val="125000"/>
              </a:lnSpc>
              <a:buNone/>
            </a:pPr>
            <a:r>
              <a:rPr lang="en-US" sz="1500" dirty="0">
                <a:solidFill>
                  <a:srgbClr val="B9B4C4"/>
                </a:solidFill>
                <a:latin typeface="Arial" pitchFamily="34" charset="0"/>
                <a:ea typeface="Arial" pitchFamily="34" charset="-122"/>
                <a:cs typeface="Arial" pitchFamily="34" charset="-120"/>
              </a:rPr>
              <a:t>Ya hay una interfaz que lee y escribe en la cadena sin mentirle al usuario. La próxima sesión la completa: indexación, nombres legibles, firmas sin gas. Y se entrega el Avance 1.</a:t>
            </a:r>
            <a:endParaRPr lang="en-US" sz="1500" dirty="0"/>
          </a:p>
        </p:txBody>
      </p:sp>
      <p:sp>
        <p:nvSpPr>
          <p:cNvPr id="7" name="Shape 4"/>
          <p:cNvSpPr/>
          <p:nvPr/>
        </p:nvSpPr>
        <p:spPr>
          <a:xfrm>
            <a:off x="566928" y="5349240"/>
            <a:ext cx="11057839" cy="685800"/>
          </a:xfrm>
          <a:prstGeom prst="rect">
            <a:avLst/>
          </a:prstGeom>
          <a:solidFill>
            <a:srgbClr val="1C1B21"/>
          </a:solidFill>
          <a:ln w="12700">
            <a:solidFill>
              <a:srgbClr val="343240"/>
            </a:solidFill>
            <a:prstDash val="solid"/>
          </a:ln>
        </p:spPr>
      </p:sp>
      <p:sp>
        <p:nvSpPr>
          <p:cNvPr id="8" name="Text 5"/>
          <p:cNvSpPr/>
          <p:nvPr/>
        </p:nvSpPr>
        <p:spPr>
          <a:xfrm>
            <a:off x="841248" y="5349240"/>
            <a:ext cx="10509199" cy="685800"/>
          </a:xfrm>
          <a:prstGeom prst="rect">
            <a:avLst/>
          </a:prstGeom>
          <a:noFill/>
          <a:ln/>
        </p:spPr>
        <p:txBody>
          <a:bodyPr wrap="square" lIns="0" tIns="0" rIns="0" bIns="0" rtlCol="0" anchor="ctr"/>
          <a:lstStyle/>
          <a:p>
            <a:pPr indent="0" marL="0">
              <a:buNone/>
            </a:pPr>
            <a:r>
              <a:rPr lang="en-US" sz="1100" spc="120" kern="0" dirty="0">
                <a:solidFill>
                  <a:srgbClr val="F07F06"/>
                </a:solidFill>
                <a:latin typeface="Courier New" pitchFamily="34" charset="0"/>
                <a:ea typeface="Courier New" pitchFamily="34" charset="-122"/>
                <a:cs typeface="Courier New" pitchFamily="34" charset="-120"/>
              </a:rPr>
              <a:t>SESIÓN 13 · INTEGRACIÓN FULL-STACK E INFRAESTRUCTURA · AVANCE 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12 · Frontend Web3</dc:title>
  <dc:subject>Sesión 12 · Frontend Web3</dc:subject>
  <dc:creator>Universidad de San Buenaventura Medellín</dc:creator>
  <cp:lastModifiedBy>Universidad de San Buenaventura Medellín</cp:lastModifiedBy>
  <cp:revision>1</cp:revision>
  <dcterms:created xsi:type="dcterms:W3CDTF">2026-09-18T01:05:44Z</dcterms:created>
  <dcterms:modified xsi:type="dcterms:W3CDTF">2026-09-18T01:05:44Z</dcterms:modified>
</cp:coreProperties>
</file>