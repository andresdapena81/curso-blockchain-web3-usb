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Sesión más intensa del curso. El bloque A termina con reentrancy explotada en vivo; B es Ethernaut; C es el parcial calificado.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el parcial de 90 min, los bloques A y B tienen que caber en 90. Ser estricto con el reloj.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60 segundos para que lo encuentren antes de pasar. Muchos verán que el orden está invertido.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Correr la prueba en vivo: npx hardhat test test/s09/Reentrancy.test.js. Ver el balance del banco caer a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con S4 (hard fork) y con S6 (el código hace lo que dice, no lo que se quería). Es el caso que amarra media Unidad 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Verificado: contra BancoSeguro el mismo atacante revierte y el banco conserva sus 10 ETH.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Ninguna capa sola es suficiente. The DAO tenía pruebas. Muchos contratos auditados igual fueron robados. Es defensa en profundidad.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Slither exige Python. Si la sala no lo permite, hay una versión web y extensiones de VS Code. Mostrarlo sobre el BancoVulnerable en vivo si hay tiempo.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'Ethernaut + auditoría cruzada #1' que vale 20% del segundo corte. La entrega del informe puede cerrarse fuera de clase si el tiempo aprieta.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contrato está en evaluaciones/parcial-s09/VaultVulnerable.sol. La solución y la rúbrica, en SOLUCION-DOCENTE.md — no proyectar.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tutorial de nivelación de React se entrega en esta sesión (material aparte). Es trabajo autónomo de ~4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" y="3794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ATACAR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UNIDAD II · CIERRE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CÓDIGO ES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PÚBLICO, CUSTODIA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 Y NO SE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PARCHA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cambiamos de lado: para defender un contrato hay que saber atacarlo. Y al final, un parcial: encontrar, explotar y corregir.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12064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LAS TRES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Cierra la Unidad II. Primero la taxonomía y un robo en vivo; después el CTF; y de últimas, 90 minutos de parcial individual.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572768" y="259689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TAXONOMÍA Y REENTRANCY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572768" y="292608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vulnerabilidades más caras de la historia, y una explotada en vivo.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704527" y="2468880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~55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75888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72768" y="38039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ETHERNAUT + AUDITORÍA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72768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niveles del CTF y auditoría cruzada entre equipos.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704527" y="3675888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~50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1572768" y="501091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PARCIAL PRÁCTICO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572768" y="5340096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Encontrar, explotar y corregir. Individual, libro abierto.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704527" y="4882896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PROPÓSITO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 SALIR DE AQUÍ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Identificar, explotar y remediar las vulnerabilidades más frecuentes de los contratos inteligentes.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PREGUNTAS QUE LA SESIÓN RESPONDE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25296" y="363016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la seguridad aquí es distinta de la de una aplicación web?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66928" y="4133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5296" y="419709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roba un contrato con reentrancy, línea por línea?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47000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25296" y="47640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defensas existen, y por qué ninguna sola basta?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5266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25296" y="5330952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lee un contrato ajeno buscando el fallo?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16752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RA5 · Identificar y remediar vulnerabilidades típicas mediante análisis manual y herramientas automáticas.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VOCABULARIO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SIGLAS Y TÉRMINOS DE HOY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898648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reentrada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contrato externo vuelve a llamar antes de que el primero termine de actualizar su estado.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5576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05576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CEI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37296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Checks-Effects-Interactions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61608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Validar, actualizar el estado propio y solo al final llamar hacia afuera.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TX.ORIGIN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898648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de la transacción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cuenta que firmó. NUNCA para permisos: quien llama directo es msg.sender.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05576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05576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1608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DELEGATECALL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537296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 delegada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61608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 el código de otro contrato con el almacenamiento del propio. Poderosa y peligrosa.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MEV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898648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Maximal Extractable Value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Ganancia que un productor de bloques extrae reordenando, insertando o censurando transacciones.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05576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5576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16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ORÁCULO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537296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461608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que trae datos externos a la cadena. Su manipulación es un vector de ataque frecuente.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66928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6928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SLITHER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898648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analizador estático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22960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que revisa el código sin ejecutarlo y marca patrones peligrosos.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205576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05576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61608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ETHERNAUT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537296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CTF de OpenZeppelin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461608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 de contratos que hay que «hackear» para aprender vulnerabilidades jugando.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55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TAXONOMÍA Y REENTRANCY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vulnerabilidad de esta lista costó dinero real. Varias, cientos de millones. Ninguna era código roto: era código que hacía exactamente lo que decía.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POR QUÉ ES DIFERENTE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TRES COSAS QUE NO PASAN EN UNA APP NORMAL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37744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APLICACIÓN WEB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hay un error, se publica un parche.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código corre en un servidor privado.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 está en un banco con reversos y soporte.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37744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CONTRATO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código desplegado es inmutable: no hay parche.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público: cualquiera lo lee y lo estudia.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Custodia valor directamente, y las transferencias no se revierten.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50976" y="4480560"/>
            <a:ext cx="102897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 la web, un atacante busca una puerta mal cerrada. Aquí tiene los planos del edificio, tiempo ilimitado, y si entra se lleva la caja fuerte sin que nadie pueda perseguirlo.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566928" y="571500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el orden es: escribir menos, reutilizar código auditado, probar los bordes (Sesión 8) y auditar antes de tocar dinero.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EL MAPA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TAXONOMÍA DE HOY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26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VULNERABILIDAD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 UNA FRASE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CASO CÉLEBRE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Reentrancy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Vuelven a entrar antes de que actualices el estado.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DAO, 2016 · ~60 M USD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Control de acceso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un permiso, o se comprueba mal (tx.origin).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Parity multisig, 2017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delegatecall no protegido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ajeno escribe en tu almacenamiento.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Parity, 2017 · ~150 M USD congelados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Desbordamiento aritmético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número da la vuelta. Resuelto en 0.8.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BeautyChain, 2018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Aleatoriedad on-chain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azar es predecible o influenciable.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Múltiples loterías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Front-running / MEV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 tu transacción y se adelantan.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DEX, a diario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Manipulación de oráculos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Falsean el precio del que dependes.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Ataques con flash loans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DoS por bucle o receptor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dato o una cuenta bloquean a todos.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King of the Ether, 2016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41970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98932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Reentrancy la explotamos en vivo. Las demás, con ejemplos. Todas pueden salir en el parcial.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EL CONTRATO QUE VAMOS A ROBAR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BANCO QUE PARECE CORRECTO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766560" cy="443484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6364224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BancoVulnerable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depositar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"sin saldo"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"envio fallido"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saldos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&lt;-- el saldo se limpia AL FINAL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07808" y="1737360"/>
            <a:ext cx="401695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 la cuenta de cada depósito.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deja retirar lo propio.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Comprueba que el envío no falle.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 el saldo en cero.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07808" y="4114800"/>
            <a:ext cx="4016959" cy="201168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52" y="433425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174736" y="4306824"/>
            <a:ext cx="31939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PREGUNTA ANTES DE SEGUIR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45552" y="4626864"/>
            <a:ext cx="3541471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parece bien. ¿En qué línea está el fallo? Pista: piensen qué pasa DURANTE el call, antes de la última línea.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EL FALLO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ENVÍO CEDE EL CONTROL AL ATACANTE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call{value: monto} no es solo mover ETH. Si el receptor es un contrato, EJECUTA su función receive(). Y ahí, el atacante toma el control con el saldo todavía sin limpiar.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743200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" y="27432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80160" y="29718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LÍNEA 1 DEL ATAQUE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023360" y="2834640"/>
            <a:ext cx="74916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banco ejecuta call y le envía el ETH al contrato atacante.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3602736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" y="360273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280160" y="38313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CONTROL SALTA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023360" y="3694176"/>
            <a:ext cx="74916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ejecuta receive() del atacante — antes de que el banco llegue a saldos = 0.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6928" y="4462272"/>
            <a:ext cx="11057839" cy="74980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" y="4462272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280160" y="469087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ATACANTE REENTRA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023360" y="4553712"/>
            <a:ext cx="74916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receive() vuelve a llamar retirar(). El banco aún cree que tiene saldo.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5321808"/>
            <a:ext cx="11057839" cy="74980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" y="5321808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80160" y="5550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REPITE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023360" y="5413248"/>
            <a:ext cx="74916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banco vuelve a enviar. Y otra vez. Hasta que se queda sin fondos.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66928" y="5413248"/>
            <a:ext cx="11057839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32704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133856" y="5605272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REGLA QUE SE VIOLÓ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804672" y="5925312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Interacción (enviar) antes que efecto (limpiar el saldo). Es exactamente al revés de Checks-Effects-Interactions.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EL EXPLOIT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TRECE LÍNEAS QUE VACÍAN EL BANCO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949440" cy="41148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6547104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Atacante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IBanco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uint256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cebo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atacar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cebo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depositar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deposita 1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pide su retiro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payable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 banco le paga...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897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balance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cebo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...y vuelve a entrar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90688" y="1737360"/>
            <a:ext cx="3834079" cy="173736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973568" y="1901952"/>
            <a:ext cx="3468319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B326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→ 11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973568" y="2745029"/>
            <a:ext cx="3468319" cy="660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deposita 1 ETH, se lleva los 11 del banco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90688" y="3611880"/>
            <a:ext cx="383407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Verificado en test/s09: tres clientes honestos tenían 10 ETH; el atacante depositó 1 y salió con 11. El banco quedó en cero, y los saldos honestos quedaron impagables.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EL ROBO REAL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DAO, JUNIO DE 2016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DAO era un fondo de inversión colectivo gobernado por contrato. Recaudó una de las mayores sumas de su tiempo. Tenía exactamente este error.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743200"/>
            <a:ext cx="3566160" cy="15544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2907792"/>
            <a:ext cx="32004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326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~3,6 M ETH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49808" y="3644798"/>
            <a:ext cx="32004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drenados por reentrancy en unas horas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15968" y="2743200"/>
            <a:ext cx="3566160" cy="15544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98848" y="2907792"/>
            <a:ext cx="32004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7152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5 %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498848" y="3644798"/>
            <a:ext cx="32004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todo el ETH que existía entonces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65008" y="2743200"/>
            <a:ext cx="3559759" cy="155448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47888" y="2907792"/>
            <a:ext cx="319399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línea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47888" y="3644798"/>
            <a:ext cx="3193999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invertido de dos instrucciones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66928" y="4572000"/>
            <a:ext cx="1105783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respuesta partió a Ethereum en dos: la mayoría hizo una bifurcación dura para revertir el robo (la cadena que hoy llamamos Ethereum); una minoría se negó por principio y siguió en la cadena original (Ethereum Classic). Es el ejemplo de la Sesión 4 sobre que la inmutabilidad también es una convención social.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A.7 · LA DEFENSA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DOS CINTURONES PARA EL MISMO RIESGO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1760" cy="2514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CHECKS-EFFECTS-INTERACTIONS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304288"/>
            <a:ext cx="484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saldos[msg.sender] = 0;   // primero</a:t>
            </a: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(bool ok, ) = ...call{value: monto}("");</a:t>
            </a: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atacante recibe el control, su saldo ya es cero. Reentrar no sirve: no hay nada que cobrar.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33008" y="1737360"/>
            <a:ext cx="5391760" cy="251460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7328" y="1920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REENTRANCYGUARD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07328" y="2304288"/>
            <a:ext cx="484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retirar() external nonReentrant { ... }</a:t>
            </a: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endParaRPr lang="en-US" sz="12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cerrojo que se cierra al entrar y se abre al salir. La segunda entrada revierte, aunque alguien olvide el orden.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434840"/>
            <a:ext cx="11057839" cy="169164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65429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33856" y="46268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AMBAS, SI UNA BASTA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04672" y="4946904"/>
            <a:ext cx="10582351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 es la corrección de fondo y no cuesta gas extra. El guard es defensa en profundidad: protege del error humano futuro, cuando alguien modifique la función dentro de seis meses y rompa el orden sin darse cuenta. En seguridad no se apuesta todo a una sola barrera.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A.8 · CONTROL DE ACCESO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PERMISO QUE MIRA A LA CUENTA EQUIVOCADA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09728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"solo admin"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MAL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"solo admin"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BIEN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5391760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41248" y="32004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TX.ORIGIN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3584448"/>
            <a:ext cx="484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cuenta que FIRMÓ la transacción, al principio de toda la cadena de llamadas. Si el admin firma una transacción a un contrato malicioso, ese contrato llama al vault y tx.origin sigue siendo el admin: la comprobación pasa.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33008" y="3017520"/>
            <a:ext cx="5391760" cy="21031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07328" y="32004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MSG.SENDER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507328" y="3584448"/>
            <a:ext cx="484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llama DIRECTAMENTE a esta función. Si el contrato malicioso llama al vault, msg.sender es el contrato malicioso, no el admin: la comprobación falla, como debe ser.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57839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47725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33856" y="544982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 SIN EXCEPCIONES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04672" y="5769864"/>
            <a:ext cx="10582351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tx.origin nunca se usa para autorizar. Su único uso legítimo es raro. Ante la duda, msg.sender.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A.9 · EL RESTO DE LA TAXONOMÍA · 1 DE 2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DELEGATECALL, DESBORDAMIENTO, AZAR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937760"/>
                <a:gridCol w="35597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VULNERABILIDAD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MECANISMO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DEFENSA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1054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delegatecall no protegido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Ejecuta código ajeno con TU almacenamiento y TU saldo. Si apunta a un contrato que alguien controla, se apodera del tuyo.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usarlo salvo para proxies bien entendidos. Nunca hacia una dirección que un usuario elija.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4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Desbordamiento aritmético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uint8 en 255 más 1 daba 0. Antes de 0.8 pasaba en silencio.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Solidity 0.8 revierte solo. Cuidado con los bloques unchecked.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1054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Aleatoriedad on-chain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block.timestamp y block.prevrandao son conocidos o influenciables; un contrato calcula el mismo «azar» antes de apostar.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Oráculo de aleatoriedad (Chainlink VRF) o esquema commit-reveal. Nunca variables de bloque.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5112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5358384"/>
            <a:ext cx="11057839" cy="84124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77840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5550408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AZAR ENTRA EN EL PARCIAL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5870448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«Poner más variables de bloque» no arregla la aleatoriedad. Es la respuesta que hay que evitar.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A.10 · EL RESTO DE LA TAXONOMÍA · 2 DE 2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MEV, ORÁCULOS Y DENEGACIÓN DE SERVICIO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937760"/>
                <a:gridCol w="35597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VULNERABILIDAD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MECANISMO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DEFENSA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1146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Front-running / MEV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Todas las transacciones pendientes son públicas. Quien arma el bloque puede colar la suya antes, o reordenar, para ganar a costa tuya.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Límites de deslizamiento, subastas por lotes, revelar en dos pasos. No suponer orden de llegada.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46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Manipulación de oráculos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contrato que lee el precio «spot» de un DEX se engaña moviendo ese precio con un préstamo relámpago, dentro de la misma transacción.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Precios promediados en el tiempo (TWAP), varios oráculos, Chainlink. Nunca un solo precio spot.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1146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DoS por bucle o receptor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arreglo que crece sin límite (S7) o un receptor que revierte (King of the Ether) bloquean la función para todos.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Patrón de retiro. No recorrer arreglos ilimitados. No depender de que un envío externo funcione.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7856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62356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préstamos relámpago (flash loans) no son un ataque en sí: son crédito sin garantía que se pide y devuelve en una transacción. Amplifican los otros ataques. Se ven a fondo en la Sesión 14.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A.11 · EL CICLO DE VIDA SEGURO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SEGURIDAD NO ES UN PASO: ES UNA CADENA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207008" y="17922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ESCRIBIR MENOS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407408" y="1773936"/>
            <a:ext cx="72173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línea propia es superficie de ataque. Reutilizar OpenZeppelin auditado en lugar de reescribir.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2404872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246888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07008" y="25237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PROBAR LOS BORDES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407408" y="2505456"/>
            <a:ext cx="72173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suite de la Sesión 8, con pruebas que atrapan errores, no solo que dan cobertura.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136392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32004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207008" y="32552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ANÁLISIS ESTÁTICO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07408" y="3236976"/>
            <a:ext cx="72173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Slither revisa el código sin ejecutarlo y marca patrones peligrosos en segundos.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66928" y="3867912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393192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207008" y="39867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FUZZING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407408" y="3968496"/>
            <a:ext cx="72173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 de entradas al azar buscando romper una invariante que uno afirma siempre cierta.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66928" y="4599432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66344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1207008" y="471830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AUDITORÍA EXTERNA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407408" y="4700016"/>
            <a:ext cx="72173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Ojos que no escribieron el código. Cuesta, pero es la última red antes de custodiar valor.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66928" y="5330952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53949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1207008" y="54498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RECOMPENSAS Y MONITOREO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407408" y="5431536"/>
            <a:ext cx="72173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Pagar a quien encuentre fallos, y vigilar el contrato ya desplegado.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566928" y="6062472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A.12 · UNA HERRAMIENTA CONCRETA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SLITHER: UN ANALIZADOR EN LA TERMINAL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9601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slither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analyzer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slither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s09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BancoVulnerable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8036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41248" y="3063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ENCUENTRA BIEN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3447288"/>
            <a:ext cx="484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Reentrancy y orden CEI violado.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tx.origin, de variables de bloque como azar.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Envíos sin comprobar, visibilidad faltante.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Docenas de patrones conocidos, en segundos y gratis.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33008" y="2880360"/>
            <a:ext cx="5391760" cy="228600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07328" y="30632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NO PUEDE HACER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507328" y="3447288"/>
            <a:ext cx="484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la lógica de negocio: no sabe qué DEBERÍA hacer el contrato.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fallos de diseño nuevos.</a:t>
            </a:r>
            <a:endParaRPr lang="en-US" sz="125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a un auditor humano.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66928" y="530352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proyecto: Slither sin hallazgos críticos es parte del criterio de seguridad de la rúbrica. Es el primer filtro, no el último.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A.13 · LO QUE HAY QUE LLEVARSE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IDEAS ANTES DE ATACAR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44168" y="18105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código es inmutable, público y custodia valor: no hay parche ni reverso.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44168" y="254203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a un contrato le cede el control: puede reentrar antes de que actualices el estado.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66928" y="314553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00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44168" y="327355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Reentrancy se cierra con CEI, y se blinda con un guard. Ambos.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319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44168" y="400507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permisos van con msg.sender, jamás con tx.origin.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460857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63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44168" y="473659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azar seguro no existe on-chain: se necesita un oráculo o commit-reveal.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566928" y="534009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949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344168" y="54681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seguridad es una cadena de capas; ninguna sola basta.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566928" y="60716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50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ETHERNAUT + AUDITORÍA CRUZADA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Jugar a romper contratos, y después leer el de otro equipo con la mirada de quien busca la grieta.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QUÉ ES ETHERNAUT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CTF DONDE GANAR ES HACKEAR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Ethernaut, de OpenZeppelin, es una serie de contratos con una vulnerabilidad cada uno. Se «gana» un nivel explotándolo desde la consola del navegador. Es la mejor forma de fijar lo del bloque A.</a:t>
            </a:r>
            <a:endParaRPr lang="en-US" sz="14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1105783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38340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NIVEL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VULNERABILIDAD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 QUÉ SE CONECTA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acceso por receive/fallback mal puestos.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S7 receive/fallback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Fal1out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«constructor» que en realidad es una función pública.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S6 constructor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Token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Desbordamiento aritmético (contrato en versión vieja).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A.9 de hoy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Re-entrancy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robo que acabamos de ver, para explotar con las manos.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A.3 a A.7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8646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Force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Enviar ETH a un contrato que no tiene receive, con selfdestruct.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Suposiciones falsas sobre el saldo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2724912"/>
            <a:ext cx="11094415" cy="27797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56692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Prerrequisito: el nivel 0 (Hello Ethernaut) quedó de trabajo de la Sesión 8. Hoy se empieza en Fallback.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AUDITORÍA CRUZADA #1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LEER EL CONTRATO DE OTRO EQUIPO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equipo entrega el contrato principal de su proyecto y recibe el de otro. Media hora para auditarlo con una lista concreta.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" y="246888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80160" y="2679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RECORRER LA TAXONOMÍA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06240" y="2560320"/>
            <a:ext cx="7308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ocho vulnerabilidades de A.2, una por una, contra el contrato recibido.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11057839" cy="71323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" y="329184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280160" y="35021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PASAR SLITHER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206240" y="3383280"/>
            <a:ext cx="7308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Correrlo y leer los hallazgos: separar los reales de los falsos positivos.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6928" y="4114800"/>
            <a:ext cx="11057839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" y="411480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280160" y="43251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CLASIFICAR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06240" y="4206240"/>
            <a:ext cx="7308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hallazgo con severidad —alta, media, baja— y la línea exacta.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4937760"/>
            <a:ext cx="11057839" cy="713232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" y="49377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80160" y="5148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PROPONER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206240" y="5029200"/>
            <a:ext cx="7308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uno, la corrección mínima. No reescribir el contrato ajeno.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57839" cy="105156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431536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133856" y="54041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SE CALIFICA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804672" y="5724144"/>
            <a:ext cx="1058235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calidad de la auditoría, no cuántos fallos tenga el otro. Un informe con «no hallé vulnerabilidades explotables, revisé esto y esto» vale.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 MINUTOS · 45 % DEL SEGUNDO CORTE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PARCIAL PRÁCTICO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contrato con exactamente tres vulnerabilidades. Encontrarlas, explotar al menos una y corregir las tres. 90 minutos, individual, libro abierto.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LAS REGLAS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ES EL PARCIAL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DETALLE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se entrega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contrato VaultVulnerable.sol con tres vulnerabilidades de la taxonomía de hoy.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Tarea 1 · identificar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Nombrar las tres, con severidad y línea exacta.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Tarea 2 · explotar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prueba en Hardhat que demuestre al menos un abuso.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Tarea 3 · corregir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VaultCorregido.sol con las tres arregladas, sin romper lo legítimo.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Condiciones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Individual. Libro abierto: material, documentación y el repositorio. Sin ayuda de otra persona ni de un asistente de 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Tiempo y peso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minutos. 45 % del segundo corte.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7856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5413248"/>
            <a:ext cx="11057839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3270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5605272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RESTRICCIÓN IMPORTANTE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5925312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reescribir el contrato entero: corregir lo mínimo necesario. Reescribirlo cuesta puntos.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C.2 · CÓMO SE CALIFICA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RÚBRICA SOBRE 20 PUNTOS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63029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CRITERIO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PUNTOS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SE ESPERA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Identificar las tres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Nombre correcto y línea. Media si nombra sin ubicar.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Severidad justificada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Coherente con el impacto real de cada una.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Exploit funcional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prueba que demuestra el abuso. Más si roba fondos.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Corregir las tres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tres, sin romper depositar / retirar / repartir.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04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 romper lo legítimo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de humo del docente sobre el contrato corregido.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8712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475488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cuenta como una de las tres: que falte un evento, que no haya pausa, que la contabilidad de un total no cuadre. Son mejoras o bugs, no vulnerabilidades de seguridad.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66928" y="5486400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Pista general, sin regalar nada: las tres viven en funciones distintas. Una es de las que explotamos hoy; otra es de permisos; otra, de algo que parece azar.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DE LA SEMANA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09 · SEGURIDAD DE CONTRATOS INTELIGENTES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las ocho vulnerabilidades de hoy, ¿cuáles podría tener SU proyecto? Revísenlo con la lista en la mano antes del Avance 1.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LA PRÓXIMA SESIÓN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977640"/>
            <a:ext cx="1105783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Terminar los cinco niveles de Ethernaut si no se alcanzaron en clase.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el informe de la auditoría cruzada #1.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Slither al contrato del proyecto y anotar los hallazgos.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Empezar la Unidad III: leer sobre el estándar ERC-20 para la Sesión 10.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Nivelación de React: quien no lo haya visto, empezar el tutorial entregado. La Sesión 12 lo asume.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874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377440"/>
            <a:ext cx="1105783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Para escribir un contrato que nadie pueda robar, primero hay que aprender a robarlo.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66928" y="4343400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esto cierra la Unidad II: ya saben escribir, probar, desplegar y auditar. La Unidad III construye cosas que la gente usa: tokens, NFTs y una interfaz de verdad.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10 · TOKENS FUNGIBLES · EL ESTÁNDAR ERC-20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09 · Seguridad de contratos</dc:title>
  <dc:subject>Sesión 09 · Seguridad de contratos</dc:subject>
  <dc:creator>Universidad de San Buenaventura Medellín</dc:creator>
  <cp:lastModifiedBy>Universidad de San Buenaventura Medellín</cp:lastModifiedBy>
  <cp:revision>1</cp:revision>
  <dcterms:created xsi:type="dcterms:W3CDTF">2026-09-13T17:45:55Z</dcterms:created>
  <dcterms:modified xsi:type="dcterms:W3CDTF">2026-09-13T17:45:55Z</dcterms:modified>
</cp:coreProperties>
</file>