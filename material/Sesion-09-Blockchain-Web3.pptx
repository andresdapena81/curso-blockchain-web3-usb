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Sesión más intensa del curso. El bloque A termina con reentrancy explotada en vivo; B es Ethernaut + auditoría cruzada; C es el parcial calificado de 90 minutos. Ser MUY estricto con el reloj: A y B tienen que caber en 90 minutos porque el parcial es intocable.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el parcial de 90 min, A y B tienen que caber en 90. Hay una pausa corta entre B y C. Repartir el enunciado del parcial impreso o por el canal solo al empezar el bloque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Abrir con una pregunta: '¿cuántos de ustedes han publicado un hotfix en producción?'. Aquí eso no existe. El error mental típico del estudiante: creer que un contrato es un backend más.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Cifras verificadas (2026-09): The DAO 3,6 M ETH (coindesk, withsecure). Parity jul-2017 ~153.037 ETH robados; nov-2017 513.774,16 ETH congelados en 587 wallets (openzeppelin blog, parity postmortem). BEC = CVE-2018-10299 (NVD). SmartBillions ~400 ETH (~120k USD). Mango &gt;110 M USD (CFTC 8647-23). King of the Ether feb 2016 (post-mortem kingoftheether.com). No dictar cifras que no estén aquí sin volver a verificar.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Dar 60 segundos para que lo encuentren antes de pasar. Muchos verán que el orden está invertido. El contrato real está en contracts/s09/BancoVulnerable.sol.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detalle fino: el saldo se pone en CERO al final, no se resta. Si fuera saldos[...] -= monto, el underflow chequeado de 0.8 cortaría la cascada. Con = 0 el ataque drena hasta vaciar. Vale mencionarlo al 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Correr la prueba en vivo: npx hardhat test test/s09/Reentrancy.test.js. Ver el balance del banco caer a 0 y el atacante quedar con 11 ETH. Es la prueba con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Verificado: 17 jun 2016, ~3,6 M ETH (≈ un tercio del fondo; ≈ 5% del ETH existente). Hard fork en el bloque 1.920.000, 20 jul 2016 → ETH / ETC. Fuentes: coindesk 'How the DAO hack changed Ethereum', withsecure labs, wikipedia Ethereum Classic. Conectar con S4 (hard fork) y S6 (el código hace lo que dice, no lo que se quería).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Verificado en test/s09: contra BancoSeguro el mismo atacante revierte y el banco conserva sus 10 ETH. Detalle: revierte con EnvioFallido (la reentrada choca con el guard dentro del receive del atacante, ese receive revierte, y el envío del banco falla). ReentrancyGuard vive en @openzeppelin/contracts/utils/.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 de cierre del primer tramo del bloque A. Dar 30 segundos de discusión en parejas. El error 'msg.sender == tx.origin' es un antipatrón real que aparece en foros: sirve para lo contrario de lo que la gente cree y se rompe con account abstraction.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caso Parity de julio 2017 (~153.037 ETH robados) fue en el fondo control de acceso: la función de inicialización quedó pública y sin protección. Se ve en detalle en A.9.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Verificado: Parity multisig. Robo del 19 jul 2017 (~153.037 ETH ≈ 30 M USD) por initWallet sin protección vía delegatecall. Congelación del 6 nov 2017: 'devops199' llamó initWallet en la LIBRERÍA no inicializada y luego kill() → 513.774,16 ETH en 587 wallets, congelados para siempre (EIP-999 no se adoptó). Fuentes: openzeppelin blog 'On the parity wallet multisig hack', parity postmortem, github openethereum/parity-ethereum#6995, theregister. Esta lámina cuenta la CONGELACIÓN de noviembre.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Verificado: CVE-2018-10299, 22 abr 2018, BeautyChain/BEC, overflow en batchTransfer (NVD, peckshield). Solidity 0.8.0 salió el 16 dic 2020 (soliditylang blog). Es el mismo fallo del nivel Token de Ethernaut, que corre en 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Verificado: SmartBillions, oct 2017, ~400 ETH (~120k USD), aleatoriedad predecible por seed+blockhash legibles (medium SmartBillions, crypto.news). Este es el vector que aparece en el parcial: la respuesta 'usar más variables de bloque' NO puntúa.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El término MEV y su estudio sistemático vienen de 'Flash Boys 2.0' (Daian et al., 2019, arXiv:1904.05234). Se ve a fondo en la Sesión 14 con los flash loans. Aquí basta la intuición: el mempool es público.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Verificado: Mango Markets, 11 oct 2022, &gt;110 M USD, Avraham Eisenberg infló el precio de MNGO 13x en los mercados que alimentaban el oráculo y pidió prestado contra el colateral inflado (CFTC press release 8647-23; condenado en abril 2024). Los flash loans se ven a fondo en la S14.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Verificado: King of the Ether Throne, 6-8 feb 2016, send() con 2300 gas fallaba hacia wallets-contrato y no se comprobaba el retorno; se reembolsaron 98,5 ETH a mano (post-mortem kingoftheether.com/postmortem.html). Enlaza directo con el withdrawal pattern de la S7.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 de verificación del bloque A (parte de taxonomía). No revelar el contrato del parcial. Estos tres ejemplos son genéricos, del mismo tipo que el estudiante deberá reconocer.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Ninguna capa sola es suficiente. The DAO tenía pruebas. Muchos contratos auditados igual fueron robados. Es defensa en profundidad. Las capas 2 y 3 ya las tienen del curso (S8 y hoy).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Salida REAL: se corrió slither 0.11.6 sobre contracts/s09/BancoVulnerable.sol y marcó reentrancy-eth (ALTA) + low-level-calls (informativa): '2 result(s) found'. Sobre BancoSeguro (con --filter-paths node_modules) solo queda low-level-calls informativa: la corrección desaparece el hallazgo alto. Esa corrida fue con solc-select 0.8.28, cuando el curso estaba fijado en esa versión; los contratos ahora fijan 0.8.34, así que hay que hacer 'solc-select install 0.8.34 &amp;&amp; solc-select use 0.8.34' o slither falla con el pragma. ⚠ VERIFICAR ANTES DE DICTAR: la corrida no se repitió con 0.8.34 (los detectores no dependen de la versión de parche, pero el conteo '2 result(s) found' y el número de detectores sí pueden cambiar con la versión de slither). Si la sala no permite Python, hay extensiones de VS Code. Correrlo en vivo si hay tiempo.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Herramientas de fuzzing del ecosistema: Echidna, Foundry (invariant testing), Medusa. No hace falta nombrarlas todas; sí la idea de que se generan miles de casos automáticamente. Immunefi es la mayor plataforma de bug bounties de web3.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Conectar con A.9 (Parity fue un proxy/biblioteca mal protegido) y con la S15 (gobernanza). El mensaje: la actualizabilidad no es gratis, mueve el problema de 'código inmutable' a 'quién controla la llave de actualización'.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del bloque A. Estas seis ideas son las candidatas naturales del parcial y de la auditoría cruzada. Pausa corta antes del bloque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Verificado en el repo oficial: los números de nivel son 1 Fallback, 2 Fal1out, 5 Token, 7 Force, 11 Re-entrancy. Se resuelven en ese orden salvo Force, que conviene dejar al final (requiere desplegar en Remix). Redes soportadas por el juego: Sepolia (por defecto), Optimism/Arbitrum Sepolia, Holesky, Amoy. Usar Sepolia.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Comandos verificados contra la guía oficial (instances.md): player, getBalance(player), help(), ethernaut, contract, contract.abi, await contract.info(), Get New Instance, Submit instance. En la guía en PDF está el método por nivel, con pistas escalonadas SIN la solución. La solución completa está en evaluaciones/ethernaut-SOLUCION-DOCENTE.md (no proyectar).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'Ethernaut + auditoría cruzada #1' que vale 20% del segundo corte. El documento de formato es material/proyecto/auditoria-cruzada.(html|pdf). La entrega del informe puede cerrarse fuera de clase si el tiempo aprieta.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enunciado y el contrato se reparten SOLO al empezar el bloque C. La solución y la rúbrica están en evaluaciones/parcial-s09/ (privado): NO proyectar, NO dar pistas del contenido del contrato. Este deck solo da la logística.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Insistir en la regla de IA: el parcial mide criterio propio, que es justo lo que un asistente taparía. Recordar dónde se guarda el trabajo y cómo se entrega (según el canal del curso). No adelantar nada del contrato.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rúbrica detallada y el solucionario están en evaluaciones/parcial-s09/SOLUCION-DOCENTE.md (privado). NO proyectar. Esta lámina da la estructura de puntos sin revelar cuáles ni cuántas son las vulnerabilidades del contrato.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tutorial de nivelación de React se entrega en esta sesión (material aparte). Es trabajo autónomo de ~4 horas. La pregunta de la semana se retoma en la S10.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0"/>
            <a:ext cx="3749040" cy="6858000"/>
          </a:xfrm>
          <a:prstGeom prst="rect">
            <a:avLst/>
          </a:prstGeom>
          <a:solidFill>
            <a:srgbClr val="F07F06"/>
          </a:solidFill>
          <a:ln w="12700">
            <a:solidFill>
              <a:srgbClr val="333333"/>
            </a:solidFill>
            <a:prstDash val="solid"/>
          </a:ln>
        </p:spPr>
      </p:sp>
      <p:pic>
        <p:nvPicPr>
          <p:cNvPr id="3" name="Image 0" descr="preencoded.png">    </p:cNvPr>
          <p:cNvPicPr>
            <a:picLocks noChangeAspect="1"/>
          </p:cNvPicPr>
          <p:nvPr/>
        </p:nvPicPr>
        <p:blipFill>
          <a:blip r:embed="rId1"/>
          <a:stretch>
            <a:fillRect/>
          </a:stretch>
        </p:blipFill>
        <p:spPr>
          <a:xfrm>
            <a:off x="1234440" y="2331720"/>
            <a:ext cx="1280160" cy="1280160"/>
          </a:xfrm>
          <a:prstGeom prst="rect">
            <a:avLst/>
          </a:prstGeom>
        </p:spPr>
      </p:pic>
      <p:sp>
        <p:nvSpPr>
          <p:cNvPr id="4" name="Text 1"/>
          <p:cNvSpPr/>
          <p:nvPr/>
        </p:nvSpPr>
        <p:spPr>
          <a:xfrm>
            <a:off x="137160" y="3794760"/>
            <a:ext cx="3474720" cy="640080"/>
          </a:xfrm>
          <a:prstGeom prst="rect">
            <a:avLst/>
          </a:prstGeom>
          <a:noFill/>
          <a:ln/>
        </p:spPr>
        <p:txBody>
          <a:bodyPr wrap="square" lIns="0" tIns="0" rIns="0" bIns="0" rtlCol="0" anchor="ctr"/>
          <a:lstStyle/>
          <a:p>
            <a:pPr algn="ctr" indent="0" marL="0">
              <a:buNone/>
            </a:pPr>
            <a:r>
              <a:rPr lang="en-US" sz="2700" dirty="0">
                <a:solidFill>
                  <a:srgbClr val="0F0F11"/>
                </a:solidFill>
                <a:latin typeface="Arial Black" pitchFamily="34" charset="0"/>
                <a:ea typeface="Arial Black" pitchFamily="34" charset="-122"/>
                <a:cs typeface="Arial Black" pitchFamily="34" charset="-120"/>
              </a:rPr>
              <a:t>ATACAR</a:t>
            </a:r>
            <a:endParaRPr lang="en-US" sz="2700" dirty="0"/>
          </a:p>
        </p:txBody>
      </p:sp>
      <p:pic>
        <p:nvPicPr>
          <p:cNvPr id="5" name="Image 1" descr="preencoded.png">    </p:cNvPr>
          <p:cNvPicPr>
            <a:picLocks noChangeAspect="1"/>
          </p:cNvPicPr>
          <p:nvPr/>
        </p:nvPicPr>
        <p:blipFill>
          <a:blip r:embed="rId2"/>
          <a:stretch>
            <a:fillRect/>
          </a:stretch>
        </p:blipFill>
        <p:spPr>
          <a:xfrm>
            <a:off x="4389120" y="1115568"/>
            <a:ext cx="310896" cy="310896"/>
          </a:xfrm>
          <a:prstGeom prst="rect">
            <a:avLst/>
          </a:prstGeom>
        </p:spPr>
      </p:pic>
      <p:sp>
        <p:nvSpPr>
          <p:cNvPr id="6" name="Text 2"/>
          <p:cNvSpPr/>
          <p:nvPr/>
        </p:nvSpPr>
        <p:spPr>
          <a:xfrm>
            <a:off x="4809744" y="1097280"/>
            <a:ext cx="6858000" cy="347472"/>
          </a:xfrm>
          <a:prstGeom prst="rect">
            <a:avLst/>
          </a:prstGeom>
          <a:noFill/>
          <a:ln/>
        </p:spPr>
        <p:txBody>
          <a:bodyPr wrap="square" lIns="0" tIns="0" rIns="0" bIns="0" rtlCol="0" anchor="ctr"/>
          <a:lstStyle/>
          <a:p>
            <a:pPr indent="0" marL="0">
              <a:buNone/>
            </a:pPr>
            <a:r>
              <a:rPr lang="en-US" sz="1050" spc="150" kern="0" dirty="0">
                <a:solidFill>
                  <a:srgbClr val="F07F06"/>
                </a:solidFill>
                <a:latin typeface="Courier New" pitchFamily="34" charset="0"/>
                <a:ea typeface="Courier New" pitchFamily="34" charset="-122"/>
                <a:cs typeface="Courier New" pitchFamily="34" charset="-120"/>
              </a:rPr>
              <a:t>SESIÓN 09 · UNIDAD II · CIERRE</a:t>
            </a:r>
            <a:endParaRPr lang="en-US" sz="1050" dirty="0"/>
          </a:p>
        </p:txBody>
      </p:sp>
      <p:sp>
        <p:nvSpPr>
          <p:cNvPr id="7" name="Text 3"/>
          <p:cNvSpPr/>
          <p:nvPr/>
        </p:nvSpPr>
        <p:spPr>
          <a:xfrm>
            <a:off x="4389120" y="1719072"/>
            <a:ext cx="7269480" cy="2377440"/>
          </a:xfrm>
          <a:prstGeom prst="rect">
            <a:avLst/>
          </a:prstGeom>
          <a:noFill/>
          <a:ln/>
        </p:spPr>
        <p:txBody>
          <a:bodyPr wrap="square" lIns="0" tIns="0" rIns="0" bIns="0" rtlCol="0" anchor="t"/>
          <a:lstStyle/>
          <a:p>
            <a:pPr indent="0" marL="0">
              <a:lnSpc>
                <a:spcPct val="98000"/>
              </a:lnSpc>
              <a:buNone/>
            </a:pPr>
            <a:r>
              <a:rPr lang="en-US" sz="3800" dirty="0">
                <a:solidFill>
                  <a:srgbClr val="FFFFFF"/>
                </a:solidFill>
                <a:latin typeface="Arial Black" pitchFamily="34" charset="0"/>
                <a:ea typeface="Arial Black" pitchFamily="34" charset="-122"/>
                <a:cs typeface="Arial Black" pitchFamily="34" charset="-120"/>
              </a:rPr>
              <a:t>EL CÓDIGO ES</a:t>
            </a:r>
            <a:endParaRPr lang="en-US" sz="3800" dirty="0"/>
          </a:p>
          <a:p>
            <a:pPr indent="0" marL="0">
              <a:lnSpc>
                <a:spcPct val="98000"/>
              </a:lnSpc>
              <a:buNone/>
            </a:pPr>
            <a:r>
              <a:rPr lang="en-US" sz="3800" dirty="0">
                <a:solidFill>
                  <a:srgbClr val="FFFFFF"/>
                </a:solidFill>
                <a:latin typeface="Arial Black" pitchFamily="34" charset="0"/>
                <a:ea typeface="Arial Black" pitchFamily="34" charset="-122"/>
                <a:cs typeface="Arial Black" pitchFamily="34" charset="-120"/>
              </a:rPr>
              <a:t>PÚBLICO, CUSTODIA</a:t>
            </a:r>
            <a:endParaRPr lang="en-US" sz="3800" dirty="0"/>
          </a:p>
          <a:p>
            <a:pPr indent="0" marL="0">
              <a:lnSpc>
                <a:spcPct val="98000"/>
              </a:lnSpc>
              <a:buNone/>
            </a:pPr>
            <a:r>
              <a:rPr lang="en-US" sz="3800" dirty="0">
                <a:solidFill>
                  <a:srgbClr val="FFFFFF"/>
                </a:solidFill>
                <a:latin typeface="Arial Black" pitchFamily="34" charset="0"/>
                <a:ea typeface="Arial Black" pitchFamily="34" charset="-122"/>
                <a:cs typeface="Arial Black" pitchFamily="34" charset="-120"/>
              </a:rPr>
              <a:t>VALOR Y NO SE</a:t>
            </a:r>
            <a:endParaRPr lang="en-US" sz="3800" dirty="0"/>
          </a:p>
          <a:p>
            <a:pPr indent="0" marL="0">
              <a:lnSpc>
                <a:spcPct val="98000"/>
              </a:lnSpc>
              <a:buNone/>
            </a:pPr>
            <a:r>
              <a:rPr lang="en-US" sz="3800" dirty="0">
                <a:solidFill>
                  <a:srgbClr val="FFFFFF"/>
                </a:solidFill>
                <a:latin typeface="Arial Black" pitchFamily="34" charset="0"/>
                <a:ea typeface="Arial Black" pitchFamily="34" charset="-122"/>
                <a:cs typeface="Arial Black" pitchFamily="34" charset="-120"/>
              </a:rPr>
              <a:t>PARCHA</a:t>
            </a:r>
            <a:endParaRPr lang="en-US" sz="3800" dirty="0"/>
          </a:p>
        </p:txBody>
      </p:sp>
      <p:sp>
        <p:nvSpPr>
          <p:cNvPr id="8" name="Text 4"/>
          <p:cNvSpPr/>
          <p:nvPr/>
        </p:nvSpPr>
        <p:spPr>
          <a:xfrm>
            <a:off x="4389120" y="4224528"/>
            <a:ext cx="7269480" cy="685800"/>
          </a:xfrm>
          <a:prstGeom prst="rect">
            <a:avLst/>
          </a:prstGeom>
          <a:noFill/>
          <a:ln/>
        </p:spPr>
        <p:txBody>
          <a:bodyPr wrap="square" lIns="0" tIns="0" rIns="0" bIns="0" rtlCol="0" anchor="t"/>
          <a:lstStyle/>
          <a:p>
            <a:pPr indent="0" marL="0">
              <a:lnSpc>
                <a:spcPct val="120000"/>
              </a:lnSpc>
              <a:buNone/>
            </a:pPr>
            <a:r>
              <a:rPr lang="en-US" sz="1500" dirty="0">
                <a:solidFill>
                  <a:srgbClr val="B9B4C4"/>
                </a:solidFill>
                <a:latin typeface="Arial" pitchFamily="34" charset="0"/>
                <a:ea typeface="Arial" pitchFamily="34" charset="-122"/>
                <a:cs typeface="Arial" pitchFamily="34" charset="-120"/>
              </a:rPr>
              <a:t>Hoy cambiamos de lado: para defender un contrato hay que saber atacarlo. Y al final, un parcial: encontrar, explotar y corregir.</a:t>
            </a:r>
            <a:endParaRPr lang="en-US" sz="1500" dirty="0"/>
          </a:p>
        </p:txBody>
      </p:sp>
      <p:sp>
        <p:nvSpPr>
          <p:cNvPr id="9" name="Text 5"/>
          <p:cNvSpPr/>
          <p:nvPr/>
        </p:nvSpPr>
        <p:spPr>
          <a:xfrm>
            <a:off x="4389120" y="5120640"/>
            <a:ext cx="7269480" cy="731520"/>
          </a:xfrm>
          <a:prstGeom prst="rect">
            <a:avLst/>
          </a:prstGeom>
          <a:noFill/>
          <a:ln/>
        </p:spPr>
        <p:txBody>
          <a:bodyPr wrap="square" lIns="0" tIns="0" rIns="0" bIns="0" rtlCol="0" anchor="t"/>
          <a:lstStyle/>
          <a:p>
            <a:pPr indent="0" marL="0">
              <a:lnSpc>
                <a:spcPct val="125000"/>
              </a:lnSpc>
              <a:buNone/>
            </a:pPr>
            <a:r>
              <a:rPr lang="en-US" sz="1300" dirty="0">
                <a:solidFill>
                  <a:srgbClr val="8B8697"/>
                </a:solidFill>
                <a:latin typeface="Arial" pitchFamily="34" charset="0"/>
                <a:ea typeface="Arial" pitchFamily="34" charset="-122"/>
                <a:cs typeface="Arial" pitchFamily="34" charset="-120"/>
              </a:rPr>
              <a:t>Blockchain y Web 3.0 · Ingeniería de Sistemas</a:t>
            </a:r>
            <a:endParaRPr lang="en-US" sz="1300" dirty="0"/>
          </a:p>
          <a:p>
            <a:pPr indent="0" marL="0">
              <a:lnSpc>
                <a:spcPct val="125000"/>
              </a:lnSpc>
              <a:buNone/>
            </a:pPr>
            <a:r>
              <a:rPr lang="en-US" sz="1300" dirty="0">
                <a:solidFill>
                  <a:srgbClr val="8B8697"/>
                </a:solidFill>
                <a:latin typeface="Arial" pitchFamily="34" charset="0"/>
                <a:ea typeface="Arial" pitchFamily="34" charset="-122"/>
                <a:cs typeface="Arial" pitchFamily="34" charset="-120"/>
              </a:rPr>
              <a:t>Universidad de San Buenaventura Medellín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LO DE HOY</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CÓMO VAMOS A USAR LAS TRES HORAS</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09 · SEGURIDAD DE CONTRATOS INTELIGENTES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02</a:t>
            </a:r>
            <a:endParaRPr lang="en-US" sz="900" dirty="0"/>
          </a:p>
        </p:txBody>
      </p:sp>
      <p:sp>
        <p:nvSpPr>
          <p:cNvPr id="8" name="Text 5"/>
          <p:cNvSpPr/>
          <p:nvPr/>
        </p:nvSpPr>
        <p:spPr>
          <a:xfrm>
            <a:off x="566928" y="1737360"/>
            <a:ext cx="11057839" cy="566928"/>
          </a:xfrm>
          <a:prstGeom prst="rect">
            <a:avLst/>
          </a:prstGeom>
          <a:noFill/>
          <a:ln/>
        </p:spPr>
        <p:txBody>
          <a:bodyPr wrap="square" lIns="0" tIns="0" rIns="0" bIns="0" rtlCol="0" anchor="t"/>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Cierra la Unidad II. Primero la taxonomía completa y un robo en vivo; después el CTF Ethernaut y la auditoría cruzada; y de últimas, 90 minutos de parcial individual.</a:t>
            </a:r>
            <a:endParaRPr lang="en-US" sz="1450" dirty="0"/>
          </a:p>
        </p:txBody>
      </p:sp>
      <p:sp>
        <p:nvSpPr>
          <p:cNvPr id="9" name="Shape 6"/>
          <p:cNvSpPr/>
          <p:nvPr/>
        </p:nvSpPr>
        <p:spPr>
          <a:xfrm>
            <a:off x="566928" y="2468880"/>
            <a:ext cx="11057839" cy="1024128"/>
          </a:xfrm>
          <a:prstGeom prst="rect">
            <a:avLst/>
          </a:prstGeom>
          <a:solidFill>
            <a:srgbClr val="FFFFFF"/>
          </a:solidFill>
          <a:ln w="22225">
            <a:solidFill>
              <a:srgbClr val="0F0F11"/>
            </a:solidFill>
            <a:prstDash val="solid"/>
          </a:ln>
          <a:effectLst>
            <a:outerShdw sx="100000" sy="100000" kx="0" ky="0" algn="bl" rotWithShape="0" blurRad="101600" dist="63500" dir="2700000">
              <a:srgbClr val="0F0F11">
                <a:alpha val="100000"/>
              </a:srgbClr>
            </a:outerShdw>
          </a:effectLst>
        </p:spPr>
      </p:sp>
      <p:sp>
        <p:nvSpPr>
          <p:cNvPr id="10" name="Shape 7"/>
          <p:cNvSpPr/>
          <p:nvPr/>
        </p:nvSpPr>
        <p:spPr>
          <a:xfrm>
            <a:off x="566928" y="2468880"/>
            <a:ext cx="777240" cy="1024128"/>
          </a:xfrm>
          <a:prstGeom prst="rect">
            <a:avLst/>
          </a:prstGeom>
          <a:solidFill>
            <a:srgbClr val="F07F06"/>
          </a:solidFill>
          <a:ln w="12700">
            <a:solidFill>
              <a:srgbClr val="333333"/>
            </a:solidFill>
            <a:prstDash val="solid"/>
          </a:ln>
        </p:spPr>
      </p:sp>
      <p:sp>
        <p:nvSpPr>
          <p:cNvPr id="11" name="Text 8"/>
          <p:cNvSpPr/>
          <p:nvPr/>
        </p:nvSpPr>
        <p:spPr>
          <a:xfrm>
            <a:off x="566928" y="2468880"/>
            <a:ext cx="777240" cy="1024128"/>
          </a:xfrm>
          <a:prstGeom prst="rect">
            <a:avLst/>
          </a:prstGeom>
          <a:noFill/>
          <a:ln/>
        </p:spPr>
        <p:txBody>
          <a:bodyPr wrap="square" lIns="0" tIns="0" rIns="0" bIns="0" rtlCol="0" anchor="ctr"/>
          <a:lstStyle/>
          <a:p>
            <a:pPr algn="ctr" indent="0" marL="0">
              <a:buNone/>
            </a:pPr>
            <a:r>
              <a:rPr lang="en-US" sz="2800" dirty="0">
                <a:solidFill>
                  <a:srgbClr val="0F0F11"/>
                </a:solidFill>
                <a:latin typeface="Arial Black" pitchFamily="34" charset="0"/>
                <a:ea typeface="Arial Black" pitchFamily="34" charset="-122"/>
                <a:cs typeface="Arial Black" pitchFamily="34" charset="-120"/>
              </a:rPr>
              <a:t>A</a:t>
            </a:r>
            <a:endParaRPr lang="en-US" sz="2800" dirty="0"/>
          </a:p>
        </p:txBody>
      </p:sp>
      <p:sp>
        <p:nvSpPr>
          <p:cNvPr id="12" name="Text 9"/>
          <p:cNvSpPr/>
          <p:nvPr/>
        </p:nvSpPr>
        <p:spPr>
          <a:xfrm>
            <a:off x="1572768" y="2596896"/>
            <a:ext cx="7772400" cy="292608"/>
          </a:xfrm>
          <a:prstGeom prst="rect">
            <a:avLst/>
          </a:prstGeom>
          <a:noFill/>
          <a:ln/>
        </p:spPr>
        <p:txBody>
          <a:bodyPr wrap="square" lIns="0" tIns="0" rIns="0" bIns="0" rtlCol="0" anchor="ctr"/>
          <a:lstStyle/>
          <a:p>
            <a:pPr indent="0" marL="0">
              <a:buNone/>
            </a:pPr>
            <a:r>
              <a:rPr lang="en-US" sz="1100" b="1" spc="130" kern="0" dirty="0">
                <a:solidFill>
                  <a:srgbClr val="0F0F11"/>
                </a:solidFill>
                <a:latin typeface="Courier New" pitchFamily="34" charset="0"/>
                <a:ea typeface="Courier New" pitchFamily="34" charset="-122"/>
                <a:cs typeface="Courier New" pitchFamily="34" charset="-120"/>
              </a:rPr>
              <a:t>TAXONOMÍA Y DEFENSAS</a:t>
            </a:r>
            <a:endParaRPr lang="en-US" sz="1100" dirty="0"/>
          </a:p>
        </p:txBody>
      </p:sp>
      <p:sp>
        <p:nvSpPr>
          <p:cNvPr id="13" name="Text 10"/>
          <p:cNvSpPr/>
          <p:nvPr/>
        </p:nvSpPr>
        <p:spPr>
          <a:xfrm>
            <a:off x="1572768" y="2926080"/>
            <a:ext cx="7863840" cy="512064"/>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Las vulnerabilidades más caras de la historia, una explotada en vivo, y el ciclo de vida seguro.</a:t>
            </a:r>
            <a:endParaRPr lang="en-US" sz="1250" dirty="0"/>
          </a:p>
        </p:txBody>
      </p:sp>
      <p:sp>
        <p:nvSpPr>
          <p:cNvPr id="14" name="Text 11"/>
          <p:cNvSpPr/>
          <p:nvPr/>
        </p:nvSpPr>
        <p:spPr>
          <a:xfrm>
            <a:off x="9704527" y="2468880"/>
            <a:ext cx="1691640" cy="1024128"/>
          </a:xfrm>
          <a:prstGeom prst="rect">
            <a:avLst/>
          </a:prstGeom>
          <a:noFill/>
          <a:ln/>
        </p:spPr>
        <p:txBody>
          <a:bodyPr wrap="square" lIns="0" tIns="0" rIns="0" bIns="0" rtlCol="0" anchor="ctr"/>
          <a:lstStyle/>
          <a:p>
            <a:pPr algn="r" indent="0" marL="0">
              <a:buNone/>
            </a:pPr>
            <a:r>
              <a:rPr lang="en-US" sz="1200" b="1" dirty="0">
                <a:solidFill>
                  <a:srgbClr val="A35604"/>
                </a:solidFill>
                <a:latin typeface="Courier New" pitchFamily="34" charset="0"/>
                <a:ea typeface="Courier New" pitchFamily="34" charset="-122"/>
                <a:cs typeface="Courier New" pitchFamily="34" charset="-120"/>
              </a:rPr>
              <a:t>~55 min</a:t>
            </a:r>
            <a:endParaRPr lang="en-US" sz="1200" dirty="0"/>
          </a:p>
        </p:txBody>
      </p:sp>
      <p:sp>
        <p:nvSpPr>
          <p:cNvPr id="15" name="Shape 12"/>
          <p:cNvSpPr/>
          <p:nvPr/>
        </p:nvSpPr>
        <p:spPr>
          <a:xfrm>
            <a:off x="566928" y="3675888"/>
            <a:ext cx="11057839" cy="1024128"/>
          </a:xfrm>
          <a:prstGeom prst="rect">
            <a:avLst/>
          </a:prstGeom>
          <a:solidFill>
            <a:srgbClr val="FAF9FB"/>
          </a:solidFill>
          <a:ln w="22225">
            <a:solidFill>
              <a:srgbClr val="0F0F11"/>
            </a:solidFill>
            <a:prstDash val="solid"/>
          </a:ln>
        </p:spPr>
      </p:sp>
      <p:sp>
        <p:nvSpPr>
          <p:cNvPr id="16" name="Shape 13"/>
          <p:cNvSpPr/>
          <p:nvPr/>
        </p:nvSpPr>
        <p:spPr>
          <a:xfrm>
            <a:off x="566928" y="3675888"/>
            <a:ext cx="777240" cy="1024128"/>
          </a:xfrm>
          <a:prstGeom prst="rect">
            <a:avLst/>
          </a:prstGeom>
          <a:solidFill>
            <a:srgbClr val="D9D6E0"/>
          </a:solidFill>
          <a:ln w="12700">
            <a:solidFill>
              <a:srgbClr val="333333"/>
            </a:solidFill>
            <a:prstDash val="solid"/>
          </a:ln>
        </p:spPr>
      </p:sp>
      <p:sp>
        <p:nvSpPr>
          <p:cNvPr id="17" name="Text 14"/>
          <p:cNvSpPr/>
          <p:nvPr/>
        </p:nvSpPr>
        <p:spPr>
          <a:xfrm>
            <a:off x="566928" y="3675888"/>
            <a:ext cx="777240" cy="1024128"/>
          </a:xfrm>
          <a:prstGeom prst="rect">
            <a:avLst/>
          </a:prstGeom>
          <a:noFill/>
          <a:ln/>
        </p:spPr>
        <p:txBody>
          <a:bodyPr wrap="square" lIns="0" tIns="0" rIns="0" bIns="0" rtlCol="0" anchor="ctr"/>
          <a:lstStyle/>
          <a:p>
            <a:pPr algn="ctr" indent="0" marL="0">
              <a:buNone/>
            </a:pPr>
            <a:r>
              <a:rPr lang="en-US" sz="2800" dirty="0">
                <a:solidFill>
                  <a:srgbClr val="0F0F11"/>
                </a:solidFill>
                <a:latin typeface="Arial Black" pitchFamily="34" charset="0"/>
                <a:ea typeface="Arial Black" pitchFamily="34" charset="-122"/>
                <a:cs typeface="Arial Black" pitchFamily="34" charset="-120"/>
              </a:rPr>
              <a:t>B</a:t>
            </a:r>
            <a:endParaRPr lang="en-US" sz="2800" dirty="0"/>
          </a:p>
        </p:txBody>
      </p:sp>
      <p:sp>
        <p:nvSpPr>
          <p:cNvPr id="18" name="Text 15"/>
          <p:cNvSpPr/>
          <p:nvPr/>
        </p:nvSpPr>
        <p:spPr>
          <a:xfrm>
            <a:off x="1572768" y="3803904"/>
            <a:ext cx="7772400" cy="292608"/>
          </a:xfrm>
          <a:prstGeom prst="rect">
            <a:avLst/>
          </a:prstGeom>
          <a:noFill/>
          <a:ln/>
        </p:spPr>
        <p:txBody>
          <a:bodyPr wrap="square" lIns="0" tIns="0" rIns="0" bIns="0" rtlCol="0" anchor="ctr"/>
          <a:lstStyle/>
          <a:p>
            <a:pPr indent="0" marL="0">
              <a:buNone/>
            </a:pPr>
            <a:r>
              <a:rPr lang="en-US" sz="1100" b="1" spc="130" kern="0" dirty="0">
                <a:solidFill>
                  <a:srgbClr val="0F0F11"/>
                </a:solidFill>
                <a:latin typeface="Courier New" pitchFamily="34" charset="0"/>
                <a:ea typeface="Courier New" pitchFamily="34" charset="-122"/>
                <a:cs typeface="Courier New" pitchFamily="34" charset="-120"/>
              </a:rPr>
              <a:t>ETHERNAUT + AUDITORÍA</a:t>
            </a:r>
            <a:endParaRPr lang="en-US" sz="1100" dirty="0"/>
          </a:p>
        </p:txBody>
      </p:sp>
      <p:sp>
        <p:nvSpPr>
          <p:cNvPr id="19" name="Text 16"/>
          <p:cNvSpPr/>
          <p:nvPr/>
        </p:nvSpPr>
        <p:spPr>
          <a:xfrm>
            <a:off x="1572768" y="4133088"/>
            <a:ext cx="7863840" cy="512064"/>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Cinco niveles del CTF y auditoría cruzada #1 entre equipos.</a:t>
            </a:r>
            <a:endParaRPr lang="en-US" sz="1250" dirty="0"/>
          </a:p>
        </p:txBody>
      </p:sp>
      <p:sp>
        <p:nvSpPr>
          <p:cNvPr id="20" name="Text 17"/>
          <p:cNvSpPr/>
          <p:nvPr/>
        </p:nvSpPr>
        <p:spPr>
          <a:xfrm>
            <a:off x="9704527" y="3675888"/>
            <a:ext cx="1691640" cy="1024128"/>
          </a:xfrm>
          <a:prstGeom prst="rect">
            <a:avLst/>
          </a:prstGeom>
          <a:noFill/>
          <a:ln/>
        </p:spPr>
        <p:txBody>
          <a:bodyPr wrap="square" lIns="0" tIns="0" rIns="0" bIns="0" rtlCol="0" anchor="ctr"/>
          <a:lstStyle/>
          <a:p>
            <a:pPr algn="r" indent="0" marL="0">
              <a:buNone/>
            </a:pPr>
            <a:r>
              <a:rPr lang="en-US" sz="1200" b="1" dirty="0">
                <a:solidFill>
                  <a:srgbClr val="A35604"/>
                </a:solidFill>
                <a:latin typeface="Courier New" pitchFamily="34" charset="0"/>
                <a:ea typeface="Courier New" pitchFamily="34" charset="-122"/>
                <a:cs typeface="Courier New" pitchFamily="34" charset="-120"/>
              </a:rPr>
              <a:t>~35 min</a:t>
            </a:r>
            <a:endParaRPr lang="en-US" sz="1200" dirty="0"/>
          </a:p>
        </p:txBody>
      </p:sp>
      <p:sp>
        <p:nvSpPr>
          <p:cNvPr id="21" name="Shape 18"/>
          <p:cNvSpPr/>
          <p:nvPr/>
        </p:nvSpPr>
        <p:spPr>
          <a:xfrm>
            <a:off x="566928" y="4882896"/>
            <a:ext cx="11057839" cy="1024128"/>
          </a:xfrm>
          <a:prstGeom prst="rect">
            <a:avLst/>
          </a:prstGeom>
          <a:solidFill>
            <a:srgbClr val="FAF9FB"/>
          </a:solidFill>
          <a:ln w="22225">
            <a:solidFill>
              <a:srgbClr val="0F0F11"/>
            </a:solidFill>
            <a:prstDash val="solid"/>
          </a:ln>
        </p:spPr>
      </p:sp>
      <p:sp>
        <p:nvSpPr>
          <p:cNvPr id="22" name="Shape 19"/>
          <p:cNvSpPr/>
          <p:nvPr/>
        </p:nvSpPr>
        <p:spPr>
          <a:xfrm>
            <a:off x="566928" y="4882896"/>
            <a:ext cx="777240" cy="1024128"/>
          </a:xfrm>
          <a:prstGeom prst="rect">
            <a:avLst/>
          </a:prstGeom>
          <a:solidFill>
            <a:srgbClr val="D9D6E0"/>
          </a:solidFill>
          <a:ln w="12700">
            <a:solidFill>
              <a:srgbClr val="333333"/>
            </a:solidFill>
            <a:prstDash val="solid"/>
          </a:ln>
        </p:spPr>
      </p:sp>
      <p:sp>
        <p:nvSpPr>
          <p:cNvPr id="23" name="Text 20"/>
          <p:cNvSpPr/>
          <p:nvPr/>
        </p:nvSpPr>
        <p:spPr>
          <a:xfrm>
            <a:off x="566928" y="4882896"/>
            <a:ext cx="777240" cy="1024128"/>
          </a:xfrm>
          <a:prstGeom prst="rect">
            <a:avLst/>
          </a:prstGeom>
          <a:noFill/>
          <a:ln/>
        </p:spPr>
        <p:txBody>
          <a:bodyPr wrap="square" lIns="0" tIns="0" rIns="0" bIns="0" rtlCol="0" anchor="ctr"/>
          <a:lstStyle/>
          <a:p>
            <a:pPr algn="ctr" indent="0" marL="0">
              <a:buNone/>
            </a:pPr>
            <a:r>
              <a:rPr lang="en-US" sz="2800" dirty="0">
                <a:solidFill>
                  <a:srgbClr val="0F0F11"/>
                </a:solidFill>
                <a:latin typeface="Arial Black" pitchFamily="34" charset="0"/>
                <a:ea typeface="Arial Black" pitchFamily="34" charset="-122"/>
                <a:cs typeface="Arial Black" pitchFamily="34" charset="-120"/>
              </a:rPr>
              <a:t>C</a:t>
            </a:r>
            <a:endParaRPr lang="en-US" sz="2800" dirty="0"/>
          </a:p>
        </p:txBody>
      </p:sp>
      <p:sp>
        <p:nvSpPr>
          <p:cNvPr id="24" name="Text 21"/>
          <p:cNvSpPr/>
          <p:nvPr/>
        </p:nvSpPr>
        <p:spPr>
          <a:xfrm>
            <a:off x="1572768" y="5010912"/>
            <a:ext cx="7772400" cy="292608"/>
          </a:xfrm>
          <a:prstGeom prst="rect">
            <a:avLst/>
          </a:prstGeom>
          <a:noFill/>
          <a:ln/>
        </p:spPr>
        <p:txBody>
          <a:bodyPr wrap="square" lIns="0" tIns="0" rIns="0" bIns="0" rtlCol="0" anchor="ctr"/>
          <a:lstStyle/>
          <a:p>
            <a:pPr indent="0" marL="0">
              <a:buNone/>
            </a:pPr>
            <a:r>
              <a:rPr lang="en-US" sz="1100" b="1" spc="130" kern="0" dirty="0">
                <a:solidFill>
                  <a:srgbClr val="0F0F11"/>
                </a:solidFill>
                <a:latin typeface="Courier New" pitchFamily="34" charset="0"/>
                <a:ea typeface="Courier New" pitchFamily="34" charset="-122"/>
                <a:cs typeface="Courier New" pitchFamily="34" charset="-120"/>
              </a:rPr>
              <a:t>PARCIAL PRÁCTICO</a:t>
            </a:r>
            <a:endParaRPr lang="en-US" sz="1100" dirty="0"/>
          </a:p>
        </p:txBody>
      </p:sp>
      <p:sp>
        <p:nvSpPr>
          <p:cNvPr id="25" name="Text 22"/>
          <p:cNvSpPr/>
          <p:nvPr/>
        </p:nvSpPr>
        <p:spPr>
          <a:xfrm>
            <a:off x="1572768" y="5340096"/>
            <a:ext cx="7863840" cy="512064"/>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Encontrar, explotar y corregir. Individual, libro abierto.</a:t>
            </a:r>
            <a:endParaRPr lang="en-US" sz="1250" dirty="0"/>
          </a:p>
        </p:txBody>
      </p:sp>
      <p:sp>
        <p:nvSpPr>
          <p:cNvPr id="26" name="Text 23"/>
          <p:cNvSpPr/>
          <p:nvPr/>
        </p:nvSpPr>
        <p:spPr>
          <a:xfrm>
            <a:off x="9704527" y="4882896"/>
            <a:ext cx="1691640" cy="1024128"/>
          </a:xfrm>
          <a:prstGeom prst="rect">
            <a:avLst/>
          </a:prstGeom>
          <a:noFill/>
          <a:ln/>
        </p:spPr>
        <p:txBody>
          <a:bodyPr wrap="square" lIns="0" tIns="0" rIns="0" bIns="0" rtlCol="0" anchor="ctr"/>
          <a:lstStyle/>
          <a:p>
            <a:pPr algn="r" indent="0" marL="0">
              <a:buNone/>
            </a:pPr>
            <a:r>
              <a:rPr lang="en-US" sz="1200" b="1" dirty="0">
                <a:solidFill>
                  <a:srgbClr val="A35604"/>
                </a:solidFill>
                <a:latin typeface="Courier New" pitchFamily="34" charset="0"/>
                <a:ea typeface="Courier New" pitchFamily="34" charset="-122"/>
                <a:cs typeface="Courier New" pitchFamily="34" charset="-120"/>
              </a:rPr>
              <a:t>90 min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EL PROPÓSITO DE LA SESIÓN</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000" dirty="0">
                <a:solidFill>
                  <a:srgbClr val="0F0F11"/>
                </a:solidFill>
                <a:latin typeface="Arial Black" pitchFamily="34" charset="0"/>
                <a:ea typeface="Arial Black" pitchFamily="34" charset="-122"/>
                <a:cs typeface="Arial Black" pitchFamily="34" charset="-120"/>
              </a:rPr>
              <a:t>AL SALIR DE AQUÍ</a:t>
            </a:r>
            <a:endParaRPr lang="en-US" sz="30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09 · SEGURIDAD DE CONTRATOS INTELIGENTES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03</a:t>
            </a:r>
            <a:endParaRPr lang="en-US" sz="900" dirty="0"/>
          </a:p>
        </p:txBody>
      </p:sp>
      <p:sp>
        <p:nvSpPr>
          <p:cNvPr id="8" name="Shape 5"/>
          <p:cNvSpPr/>
          <p:nvPr/>
        </p:nvSpPr>
        <p:spPr>
          <a:xfrm>
            <a:off x="566928" y="1737360"/>
            <a:ext cx="11057839" cy="118872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sp>
        <p:nvSpPr>
          <p:cNvPr id="9" name="Text 6"/>
          <p:cNvSpPr/>
          <p:nvPr/>
        </p:nvSpPr>
        <p:spPr>
          <a:xfrm>
            <a:off x="950976" y="1920240"/>
            <a:ext cx="10289743" cy="822960"/>
          </a:xfrm>
          <a:prstGeom prst="rect">
            <a:avLst/>
          </a:prstGeom>
          <a:noFill/>
          <a:ln/>
        </p:spPr>
        <p:txBody>
          <a:bodyPr wrap="square" lIns="0" tIns="0" rIns="0" bIns="0" rtlCol="0" anchor="ctr"/>
          <a:lstStyle/>
          <a:p>
            <a:pPr indent="0" marL="0">
              <a:lnSpc>
                <a:spcPct val="106000"/>
              </a:lnSpc>
              <a:buNone/>
            </a:pPr>
            <a:r>
              <a:rPr lang="en-US" sz="1900" dirty="0">
                <a:solidFill>
                  <a:srgbClr val="0F0F11"/>
                </a:solidFill>
                <a:latin typeface="Arial Black" pitchFamily="34" charset="0"/>
                <a:ea typeface="Arial Black" pitchFamily="34" charset="-122"/>
                <a:cs typeface="Arial Black" pitchFamily="34" charset="-120"/>
              </a:rPr>
              <a:t>Identificar, explotar y remediar las vulnerabilidades más frecuentes de los contratos inteligentes.</a:t>
            </a:r>
            <a:endParaRPr lang="en-US" sz="1900" dirty="0"/>
          </a:p>
        </p:txBody>
      </p:sp>
      <p:sp>
        <p:nvSpPr>
          <p:cNvPr id="10" name="Text 7"/>
          <p:cNvSpPr/>
          <p:nvPr/>
        </p:nvSpPr>
        <p:spPr>
          <a:xfrm>
            <a:off x="566928" y="3154680"/>
            <a:ext cx="7315200" cy="292608"/>
          </a:xfrm>
          <a:prstGeom prst="rect">
            <a:avLst/>
          </a:prstGeom>
          <a:noFill/>
          <a:ln/>
        </p:spPr>
        <p:txBody>
          <a:bodyPr wrap="square" lIns="0" tIns="0" rIns="0" bIns="0" rtlCol="0" anchor="ctr"/>
          <a:lstStyle/>
          <a:p>
            <a:pPr indent="0" marL="0">
              <a:buNone/>
            </a:pPr>
            <a:r>
              <a:rPr lang="en-US" sz="1050" b="1" spc="130" kern="0" dirty="0">
                <a:solidFill>
                  <a:srgbClr val="6F6B80"/>
                </a:solidFill>
                <a:latin typeface="Courier New" pitchFamily="34" charset="0"/>
                <a:ea typeface="Courier New" pitchFamily="34" charset="-122"/>
                <a:cs typeface="Courier New" pitchFamily="34" charset="-120"/>
              </a:rPr>
              <a:t>LAS PREGUNTAS QUE LA SESIÓN RESPONDE</a:t>
            </a:r>
            <a:endParaRPr lang="en-US" sz="1050" dirty="0"/>
          </a:p>
        </p:txBody>
      </p:sp>
      <p:sp>
        <p:nvSpPr>
          <p:cNvPr id="11" name="Text 8"/>
          <p:cNvSpPr/>
          <p:nvPr/>
        </p:nvSpPr>
        <p:spPr>
          <a:xfrm>
            <a:off x="566928" y="3566160"/>
            <a:ext cx="548640" cy="45720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2" name="Text 9"/>
          <p:cNvSpPr/>
          <p:nvPr/>
        </p:nvSpPr>
        <p:spPr>
          <a:xfrm>
            <a:off x="1225296" y="3630168"/>
            <a:ext cx="10399471" cy="45720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¿Por qué la seguridad aquí es distinta de la de una aplicación web?</a:t>
            </a:r>
            <a:endParaRPr lang="en-US" sz="1400" dirty="0"/>
          </a:p>
        </p:txBody>
      </p:sp>
      <p:sp>
        <p:nvSpPr>
          <p:cNvPr id="13" name="Text 10"/>
          <p:cNvSpPr/>
          <p:nvPr/>
        </p:nvSpPr>
        <p:spPr>
          <a:xfrm>
            <a:off x="566928" y="4133088"/>
            <a:ext cx="548640" cy="45720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4" name="Text 11"/>
          <p:cNvSpPr/>
          <p:nvPr/>
        </p:nvSpPr>
        <p:spPr>
          <a:xfrm>
            <a:off x="1225296" y="4197096"/>
            <a:ext cx="10399471" cy="45720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¿Cómo se roba un contrato con reentrancy, línea por línea?</a:t>
            </a:r>
            <a:endParaRPr lang="en-US" sz="1400" dirty="0"/>
          </a:p>
        </p:txBody>
      </p:sp>
      <p:sp>
        <p:nvSpPr>
          <p:cNvPr id="15" name="Text 12"/>
          <p:cNvSpPr/>
          <p:nvPr/>
        </p:nvSpPr>
        <p:spPr>
          <a:xfrm>
            <a:off x="566928" y="4700016"/>
            <a:ext cx="548640" cy="45720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6" name="Text 13"/>
          <p:cNvSpPr/>
          <p:nvPr/>
        </p:nvSpPr>
        <p:spPr>
          <a:xfrm>
            <a:off x="1225296" y="4764024"/>
            <a:ext cx="10399471" cy="45720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¿Qué defensas existen, y por qué ninguna sola basta?</a:t>
            </a:r>
            <a:endParaRPr lang="en-US" sz="1400" dirty="0"/>
          </a:p>
        </p:txBody>
      </p:sp>
      <p:sp>
        <p:nvSpPr>
          <p:cNvPr id="17" name="Text 14"/>
          <p:cNvSpPr/>
          <p:nvPr/>
        </p:nvSpPr>
        <p:spPr>
          <a:xfrm>
            <a:off x="566928" y="5266944"/>
            <a:ext cx="548640" cy="45720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04</a:t>
            </a:r>
            <a:endParaRPr lang="en-US" sz="1600" dirty="0"/>
          </a:p>
        </p:txBody>
      </p:sp>
      <p:sp>
        <p:nvSpPr>
          <p:cNvPr id="18" name="Text 15"/>
          <p:cNvSpPr/>
          <p:nvPr/>
        </p:nvSpPr>
        <p:spPr>
          <a:xfrm>
            <a:off x="1225296" y="5330952"/>
            <a:ext cx="10399471" cy="45720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¿Cómo se lee un contrato ajeno buscando el fallo?</a:t>
            </a:r>
            <a:endParaRPr lang="en-US" sz="1400" dirty="0"/>
          </a:p>
        </p:txBody>
      </p:sp>
      <p:sp>
        <p:nvSpPr>
          <p:cNvPr id="19" name="Shape 16"/>
          <p:cNvSpPr/>
          <p:nvPr/>
        </p:nvSpPr>
        <p:spPr>
          <a:xfrm>
            <a:off x="566928" y="5943600"/>
            <a:ext cx="11057839" cy="457200"/>
          </a:xfrm>
          <a:prstGeom prst="rect">
            <a:avLst/>
          </a:prstGeom>
          <a:solidFill>
            <a:srgbClr val="F2F0F5"/>
          </a:solidFill>
          <a:ln w="12700">
            <a:solidFill>
              <a:srgbClr val="7152E9"/>
            </a:solidFill>
            <a:prstDash val="solid"/>
          </a:ln>
        </p:spPr>
      </p:sp>
      <p:sp>
        <p:nvSpPr>
          <p:cNvPr id="20" name="Text 17"/>
          <p:cNvSpPr/>
          <p:nvPr/>
        </p:nvSpPr>
        <p:spPr>
          <a:xfrm>
            <a:off x="731520" y="6016752"/>
            <a:ext cx="10728655" cy="310896"/>
          </a:xfrm>
          <a:prstGeom prst="rect">
            <a:avLst/>
          </a:prstGeom>
          <a:noFill/>
          <a:ln/>
        </p:spPr>
        <p:txBody>
          <a:bodyPr wrap="square" lIns="0" tIns="0" rIns="0" bIns="0" rtlCol="0" anchor="ctr"/>
          <a:lstStyle/>
          <a:p>
            <a:pPr indent="0" marL="0">
              <a:lnSpc>
                <a:spcPct val="120000"/>
              </a:lnSpc>
              <a:buNone/>
            </a:pPr>
            <a:r>
              <a:rPr lang="en-US" sz="1050" dirty="0">
                <a:solidFill>
                  <a:srgbClr val="3A3844"/>
                </a:solidFill>
                <a:latin typeface="Courier New" pitchFamily="34" charset="0"/>
                <a:ea typeface="Courier New" pitchFamily="34" charset="-122"/>
                <a:cs typeface="Courier New" pitchFamily="34" charset="-120"/>
              </a:rPr>
              <a:t>RA5 · Identificar y remediar vulnerabilidades típicas mediante análisis manual y herramientas automáticas.</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VOCABULARIO DE LA SESIÓN</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SIGLAS Y TÉRMINOS DE HOY</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09 · SEGURIDAD DE CONTRATOS INTELIGENTES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04</a:t>
            </a:r>
            <a:endParaRPr lang="en-US" sz="900" dirty="0"/>
          </a:p>
        </p:txBody>
      </p:sp>
      <p:sp>
        <p:nvSpPr>
          <p:cNvPr id="8" name="Shape 5"/>
          <p:cNvSpPr/>
          <p:nvPr/>
        </p:nvSpPr>
        <p:spPr>
          <a:xfrm>
            <a:off x="566928" y="1737360"/>
            <a:ext cx="5419192" cy="1014984"/>
          </a:xfrm>
          <a:prstGeom prst="rect">
            <a:avLst/>
          </a:prstGeom>
          <a:solidFill>
            <a:srgbClr val="FFFFFF"/>
          </a:solidFill>
          <a:ln w="15875">
            <a:solidFill>
              <a:srgbClr val="7152E9"/>
            </a:solidFill>
            <a:prstDash val="solid"/>
          </a:ln>
        </p:spPr>
      </p:sp>
      <p:sp>
        <p:nvSpPr>
          <p:cNvPr id="9" name="Shape 6"/>
          <p:cNvSpPr/>
          <p:nvPr/>
        </p:nvSpPr>
        <p:spPr>
          <a:xfrm>
            <a:off x="566928" y="1737360"/>
            <a:ext cx="82296" cy="1014984"/>
          </a:xfrm>
          <a:prstGeom prst="rect">
            <a:avLst/>
          </a:prstGeom>
          <a:solidFill>
            <a:srgbClr val="7152E9"/>
          </a:solidFill>
          <a:ln w="12700">
            <a:solidFill>
              <a:srgbClr val="333333"/>
            </a:solidFill>
            <a:prstDash val="solid"/>
          </a:ln>
        </p:spPr>
      </p:sp>
      <p:sp>
        <p:nvSpPr>
          <p:cNvPr id="10" name="Text 7"/>
          <p:cNvSpPr/>
          <p:nvPr/>
        </p:nvSpPr>
        <p:spPr>
          <a:xfrm>
            <a:off x="822960" y="1810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REENTRANCY</a:t>
            </a:r>
            <a:endParaRPr lang="en-US" sz="1100" dirty="0"/>
          </a:p>
        </p:txBody>
      </p:sp>
      <p:sp>
        <p:nvSpPr>
          <p:cNvPr id="11" name="Text 8"/>
          <p:cNvSpPr/>
          <p:nvPr/>
        </p:nvSpPr>
        <p:spPr>
          <a:xfrm>
            <a:off x="2898648" y="1810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reentrada</a:t>
            </a:r>
            <a:endParaRPr lang="en-US" sz="1050" dirty="0"/>
          </a:p>
        </p:txBody>
      </p:sp>
      <p:sp>
        <p:nvSpPr>
          <p:cNvPr id="12" name="Text 9"/>
          <p:cNvSpPr/>
          <p:nvPr/>
        </p:nvSpPr>
        <p:spPr>
          <a:xfrm>
            <a:off x="822960" y="2121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Un contrato externo vuelve a llamar antes de que el primero termine de actualizar su estado.</a:t>
            </a:r>
            <a:endParaRPr lang="en-US" sz="1100" dirty="0"/>
          </a:p>
        </p:txBody>
      </p:sp>
      <p:sp>
        <p:nvSpPr>
          <p:cNvPr id="13" name="Shape 10"/>
          <p:cNvSpPr/>
          <p:nvPr/>
        </p:nvSpPr>
        <p:spPr>
          <a:xfrm>
            <a:off x="6205576" y="1737360"/>
            <a:ext cx="5419192" cy="1014984"/>
          </a:xfrm>
          <a:prstGeom prst="rect">
            <a:avLst/>
          </a:prstGeom>
          <a:solidFill>
            <a:srgbClr val="FFFFFF"/>
          </a:solidFill>
          <a:ln w="15875">
            <a:solidFill>
              <a:srgbClr val="7152E9"/>
            </a:solidFill>
            <a:prstDash val="solid"/>
          </a:ln>
        </p:spPr>
      </p:sp>
      <p:sp>
        <p:nvSpPr>
          <p:cNvPr id="14" name="Shape 11"/>
          <p:cNvSpPr/>
          <p:nvPr/>
        </p:nvSpPr>
        <p:spPr>
          <a:xfrm>
            <a:off x="6205576" y="1737360"/>
            <a:ext cx="82296" cy="1014984"/>
          </a:xfrm>
          <a:prstGeom prst="rect">
            <a:avLst/>
          </a:prstGeom>
          <a:solidFill>
            <a:srgbClr val="7152E9"/>
          </a:solidFill>
          <a:ln w="12700">
            <a:solidFill>
              <a:srgbClr val="333333"/>
            </a:solidFill>
            <a:prstDash val="solid"/>
          </a:ln>
        </p:spPr>
      </p:sp>
      <p:sp>
        <p:nvSpPr>
          <p:cNvPr id="15" name="Text 12"/>
          <p:cNvSpPr/>
          <p:nvPr/>
        </p:nvSpPr>
        <p:spPr>
          <a:xfrm>
            <a:off x="6461608" y="1810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CEI</a:t>
            </a:r>
            <a:endParaRPr lang="en-US" sz="1100" dirty="0"/>
          </a:p>
        </p:txBody>
      </p:sp>
      <p:sp>
        <p:nvSpPr>
          <p:cNvPr id="16" name="Text 13"/>
          <p:cNvSpPr/>
          <p:nvPr/>
        </p:nvSpPr>
        <p:spPr>
          <a:xfrm>
            <a:off x="8537296" y="1810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Checks-Effects-Interactions</a:t>
            </a:r>
            <a:endParaRPr lang="en-US" sz="1050" dirty="0"/>
          </a:p>
        </p:txBody>
      </p:sp>
      <p:sp>
        <p:nvSpPr>
          <p:cNvPr id="17" name="Text 14"/>
          <p:cNvSpPr/>
          <p:nvPr/>
        </p:nvSpPr>
        <p:spPr>
          <a:xfrm>
            <a:off x="6461608" y="2121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Validar, actualizar el estado propio y solo al final llamar hacia afuera.</a:t>
            </a:r>
            <a:endParaRPr lang="en-US" sz="1100" dirty="0"/>
          </a:p>
        </p:txBody>
      </p:sp>
      <p:sp>
        <p:nvSpPr>
          <p:cNvPr id="18" name="Shape 15"/>
          <p:cNvSpPr/>
          <p:nvPr/>
        </p:nvSpPr>
        <p:spPr>
          <a:xfrm>
            <a:off x="566928" y="2880360"/>
            <a:ext cx="5419192" cy="1014984"/>
          </a:xfrm>
          <a:prstGeom prst="rect">
            <a:avLst/>
          </a:prstGeom>
          <a:solidFill>
            <a:srgbClr val="FFFFFF"/>
          </a:solidFill>
          <a:ln w="15875">
            <a:solidFill>
              <a:srgbClr val="7152E9"/>
            </a:solidFill>
            <a:prstDash val="solid"/>
          </a:ln>
        </p:spPr>
      </p:sp>
      <p:sp>
        <p:nvSpPr>
          <p:cNvPr id="19" name="Shape 16"/>
          <p:cNvSpPr/>
          <p:nvPr/>
        </p:nvSpPr>
        <p:spPr>
          <a:xfrm>
            <a:off x="566928" y="2880360"/>
            <a:ext cx="82296" cy="1014984"/>
          </a:xfrm>
          <a:prstGeom prst="rect">
            <a:avLst/>
          </a:prstGeom>
          <a:solidFill>
            <a:srgbClr val="7152E9"/>
          </a:solidFill>
          <a:ln w="12700">
            <a:solidFill>
              <a:srgbClr val="333333"/>
            </a:solidFill>
            <a:prstDash val="solid"/>
          </a:ln>
        </p:spPr>
      </p:sp>
      <p:sp>
        <p:nvSpPr>
          <p:cNvPr id="20" name="Text 17"/>
          <p:cNvSpPr/>
          <p:nvPr/>
        </p:nvSpPr>
        <p:spPr>
          <a:xfrm>
            <a:off x="822960" y="2953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TX.ORIGIN</a:t>
            </a:r>
            <a:endParaRPr lang="en-US" sz="1100" dirty="0"/>
          </a:p>
        </p:txBody>
      </p:sp>
      <p:sp>
        <p:nvSpPr>
          <p:cNvPr id="21" name="Text 18"/>
          <p:cNvSpPr/>
          <p:nvPr/>
        </p:nvSpPr>
        <p:spPr>
          <a:xfrm>
            <a:off x="2898648" y="2953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origen de la transacción</a:t>
            </a:r>
            <a:endParaRPr lang="en-US" sz="1050" dirty="0"/>
          </a:p>
        </p:txBody>
      </p:sp>
      <p:sp>
        <p:nvSpPr>
          <p:cNvPr id="22" name="Text 19"/>
          <p:cNvSpPr/>
          <p:nvPr/>
        </p:nvSpPr>
        <p:spPr>
          <a:xfrm>
            <a:off x="822960" y="3264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La cuenta que firmó. NUNCA para permisos: quien llama directo es msg.sender.</a:t>
            </a:r>
            <a:endParaRPr lang="en-US" sz="1100" dirty="0"/>
          </a:p>
        </p:txBody>
      </p:sp>
      <p:sp>
        <p:nvSpPr>
          <p:cNvPr id="23" name="Shape 20"/>
          <p:cNvSpPr/>
          <p:nvPr/>
        </p:nvSpPr>
        <p:spPr>
          <a:xfrm>
            <a:off x="6205576" y="2880360"/>
            <a:ext cx="5419192" cy="1014984"/>
          </a:xfrm>
          <a:prstGeom prst="rect">
            <a:avLst/>
          </a:prstGeom>
          <a:solidFill>
            <a:srgbClr val="FFFFFF"/>
          </a:solidFill>
          <a:ln w="15875">
            <a:solidFill>
              <a:srgbClr val="7152E9"/>
            </a:solidFill>
            <a:prstDash val="solid"/>
          </a:ln>
        </p:spPr>
      </p:sp>
      <p:sp>
        <p:nvSpPr>
          <p:cNvPr id="24" name="Shape 21"/>
          <p:cNvSpPr/>
          <p:nvPr/>
        </p:nvSpPr>
        <p:spPr>
          <a:xfrm>
            <a:off x="6205576" y="2880360"/>
            <a:ext cx="82296" cy="1014984"/>
          </a:xfrm>
          <a:prstGeom prst="rect">
            <a:avLst/>
          </a:prstGeom>
          <a:solidFill>
            <a:srgbClr val="7152E9"/>
          </a:solidFill>
          <a:ln w="12700">
            <a:solidFill>
              <a:srgbClr val="333333"/>
            </a:solidFill>
            <a:prstDash val="solid"/>
          </a:ln>
        </p:spPr>
      </p:sp>
      <p:sp>
        <p:nvSpPr>
          <p:cNvPr id="25" name="Text 22"/>
          <p:cNvSpPr/>
          <p:nvPr/>
        </p:nvSpPr>
        <p:spPr>
          <a:xfrm>
            <a:off x="6461608" y="2953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DELEGATECALL</a:t>
            </a:r>
            <a:endParaRPr lang="en-US" sz="1100" dirty="0"/>
          </a:p>
        </p:txBody>
      </p:sp>
      <p:sp>
        <p:nvSpPr>
          <p:cNvPr id="26" name="Text 23"/>
          <p:cNvSpPr/>
          <p:nvPr/>
        </p:nvSpPr>
        <p:spPr>
          <a:xfrm>
            <a:off x="8537296" y="2953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llamada delegada</a:t>
            </a:r>
            <a:endParaRPr lang="en-US" sz="1050" dirty="0"/>
          </a:p>
        </p:txBody>
      </p:sp>
      <p:sp>
        <p:nvSpPr>
          <p:cNvPr id="27" name="Text 24"/>
          <p:cNvSpPr/>
          <p:nvPr/>
        </p:nvSpPr>
        <p:spPr>
          <a:xfrm>
            <a:off x="6461608" y="3264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Ejecuta el código de otro contrato con el almacenamiento del propio. Poderosa y peligrosa.</a:t>
            </a:r>
            <a:endParaRPr lang="en-US" sz="1100" dirty="0"/>
          </a:p>
        </p:txBody>
      </p:sp>
      <p:sp>
        <p:nvSpPr>
          <p:cNvPr id="28" name="Shape 25"/>
          <p:cNvSpPr/>
          <p:nvPr/>
        </p:nvSpPr>
        <p:spPr>
          <a:xfrm>
            <a:off x="566928" y="4023360"/>
            <a:ext cx="5419192" cy="1014984"/>
          </a:xfrm>
          <a:prstGeom prst="rect">
            <a:avLst/>
          </a:prstGeom>
          <a:solidFill>
            <a:srgbClr val="FFFFFF"/>
          </a:solidFill>
          <a:ln w="15875">
            <a:solidFill>
              <a:srgbClr val="7152E9"/>
            </a:solidFill>
            <a:prstDash val="solid"/>
          </a:ln>
        </p:spPr>
      </p:sp>
      <p:sp>
        <p:nvSpPr>
          <p:cNvPr id="29" name="Shape 26"/>
          <p:cNvSpPr/>
          <p:nvPr/>
        </p:nvSpPr>
        <p:spPr>
          <a:xfrm>
            <a:off x="566928" y="4023360"/>
            <a:ext cx="82296" cy="1014984"/>
          </a:xfrm>
          <a:prstGeom prst="rect">
            <a:avLst/>
          </a:prstGeom>
          <a:solidFill>
            <a:srgbClr val="7152E9"/>
          </a:solidFill>
          <a:ln w="12700">
            <a:solidFill>
              <a:srgbClr val="333333"/>
            </a:solidFill>
            <a:prstDash val="solid"/>
          </a:ln>
        </p:spPr>
      </p:sp>
      <p:sp>
        <p:nvSpPr>
          <p:cNvPr id="30" name="Text 27"/>
          <p:cNvSpPr/>
          <p:nvPr/>
        </p:nvSpPr>
        <p:spPr>
          <a:xfrm>
            <a:off x="822960" y="4096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MEV</a:t>
            </a:r>
            <a:endParaRPr lang="en-US" sz="1100" dirty="0"/>
          </a:p>
        </p:txBody>
      </p:sp>
      <p:sp>
        <p:nvSpPr>
          <p:cNvPr id="31" name="Text 28"/>
          <p:cNvSpPr/>
          <p:nvPr/>
        </p:nvSpPr>
        <p:spPr>
          <a:xfrm>
            <a:off x="2898648" y="4096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Maximal Extractable Value</a:t>
            </a:r>
            <a:endParaRPr lang="en-US" sz="1050" dirty="0"/>
          </a:p>
        </p:txBody>
      </p:sp>
      <p:sp>
        <p:nvSpPr>
          <p:cNvPr id="32" name="Text 29"/>
          <p:cNvSpPr/>
          <p:nvPr/>
        </p:nvSpPr>
        <p:spPr>
          <a:xfrm>
            <a:off x="822960" y="4407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Ganancia que un productor de bloques extrae reordenando, insertando o censurando transacciones.</a:t>
            </a:r>
            <a:endParaRPr lang="en-US" sz="1100" dirty="0"/>
          </a:p>
        </p:txBody>
      </p:sp>
      <p:sp>
        <p:nvSpPr>
          <p:cNvPr id="33" name="Shape 30"/>
          <p:cNvSpPr/>
          <p:nvPr/>
        </p:nvSpPr>
        <p:spPr>
          <a:xfrm>
            <a:off x="6205576" y="4023360"/>
            <a:ext cx="5419192" cy="1014984"/>
          </a:xfrm>
          <a:prstGeom prst="rect">
            <a:avLst/>
          </a:prstGeom>
          <a:solidFill>
            <a:srgbClr val="FFFFFF"/>
          </a:solidFill>
          <a:ln w="15875">
            <a:solidFill>
              <a:srgbClr val="7152E9"/>
            </a:solidFill>
            <a:prstDash val="solid"/>
          </a:ln>
        </p:spPr>
      </p:sp>
      <p:sp>
        <p:nvSpPr>
          <p:cNvPr id="34" name="Shape 31"/>
          <p:cNvSpPr/>
          <p:nvPr/>
        </p:nvSpPr>
        <p:spPr>
          <a:xfrm>
            <a:off x="6205576" y="4023360"/>
            <a:ext cx="82296" cy="1014984"/>
          </a:xfrm>
          <a:prstGeom prst="rect">
            <a:avLst/>
          </a:prstGeom>
          <a:solidFill>
            <a:srgbClr val="7152E9"/>
          </a:solidFill>
          <a:ln w="12700">
            <a:solidFill>
              <a:srgbClr val="333333"/>
            </a:solidFill>
            <a:prstDash val="solid"/>
          </a:ln>
        </p:spPr>
      </p:sp>
      <p:sp>
        <p:nvSpPr>
          <p:cNvPr id="35" name="Text 32"/>
          <p:cNvSpPr/>
          <p:nvPr/>
        </p:nvSpPr>
        <p:spPr>
          <a:xfrm>
            <a:off x="6461608" y="4096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ORÁCULO</a:t>
            </a:r>
            <a:endParaRPr lang="en-US" sz="1100" dirty="0"/>
          </a:p>
        </p:txBody>
      </p:sp>
      <p:sp>
        <p:nvSpPr>
          <p:cNvPr id="36" name="Text 33"/>
          <p:cNvSpPr/>
          <p:nvPr/>
        </p:nvSpPr>
        <p:spPr>
          <a:xfrm>
            <a:off x="8537296" y="4096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oracle</a:t>
            </a:r>
            <a:endParaRPr lang="en-US" sz="1050" dirty="0"/>
          </a:p>
        </p:txBody>
      </p:sp>
      <p:sp>
        <p:nvSpPr>
          <p:cNvPr id="37" name="Text 34"/>
          <p:cNvSpPr/>
          <p:nvPr/>
        </p:nvSpPr>
        <p:spPr>
          <a:xfrm>
            <a:off x="6461608" y="4407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Servicio que trae datos externos a la cadena. Su manipulación es un vector de ataque frecuente.</a:t>
            </a:r>
            <a:endParaRPr lang="en-US" sz="1100" dirty="0"/>
          </a:p>
        </p:txBody>
      </p:sp>
      <p:sp>
        <p:nvSpPr>
          <p:cNvPr id="38" name="Shape 35"/>
          <p:cNvSpPr/>
          <p:nvPr/>
        </p:nvSpPr>
        <p:spPr>
          <a:xfrm>
            <a:off x="566928" y="5166360"/>
            <a:ext cx="5419192" cy="1014984"/>
          </a:xfrm>
          <a:prstGeom prst="rect">
            <a:avLst/>
          </a:prstGeom>
          <a:solidFill>
            <a:srgbClr val="FFFFFF"/>
          </a:solidFill>
          <a:ln w="15875">
            <a:solidFill>
              <a:srgbClr val="7152E9"/>
            </a:solidFill>
            <a:prstDash val="solid"/>
          </a:ln>
        </p:spPr>
      </p:sp>
      <p:sp>
        <p:nvSpPr>
          <p:cNvPr id="39" name="Shape 36"/>
          <p:cNvSpPr/>
          <p:nvPr/>
        </p:nvSpPr>
        <p:spPr>
          <a:xfrm>
            <a:off x="566928" y="5166360"/>
            <a:ext cx="82296" cy="1014984"/>
          </a:xfrm>
          <a:prstGeom prst="rect">
            <a:avLst/>
          </a:prstGeom>
          <a:solidFill>
            <a:srgbClr val="7152E9"/>
          </a:solidFill>
          <a:ln w="12700">
            <a:solidFill>
              <a:srgbClr val="333333"/>
            </a:solidFill>
            <a:prstDash val="solid"/>
          </a:ln>
        </p:spPr>
      </p:sp>
      <p:sp>
        <p:nvSpPr>
          <p:cNvPr id="40" name="Text 37"/>
          <p:cNvSpPr/>
          <p:nvPr/>
        </p:nvSpPr>
        <p:spPr>
          <a:xfrm>
            <a:off x="822960" y="5239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SLITHER</a:t>
            </a:r>
            <a:endParaRPr lang="en-US" sz="1100" dirty="0"/>
          </a:p>
        </p:txBody>
      </p:sp>
      <p:sp>
        <p:nvSpPr>
          <p:cNvPr id="41" name="Text 38"/>
          <p:cNvSpPr/>
          <p:nvPr/>
        </p:nvSpPr>
        <p:spPr>
          <a:xfrm>
            <a:off x="2898648" y="5239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analizador estático</a:t>
            </a:r>
            <a:endParaRPr lang="en-US" sz="1050" dirty="0"/>
          </a:p>
        </p:txBody>
      </p:sp>
      <p:sp>
        <p:nvSpPr>
          <p:cNvPr id="42" name="Text 39"/>
          <p:cNvSpPr/>
          <p:nvPr/>
        </p:nvSpPr>
        <p:spPr>
          <a:xfrm>
            <a:off x="822960" y="5550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Herramienta que revisa el código sin ejecutarlo y marca patrones peligrosos.</a:t>
            </a:r>
            <a:endParaRPr lang="en-US" sz="1100" dirty="0"/>
          </a:p>
        </p:txBody>
      </p:sp>
      <p:sp>
        <p:nvSpPr>
          <p:cNvPr id="43" name="Shape 40"/>
          <p:cNvSpPr/>
          <p:nvPr/>
        </p:nvSpPr>
        <p:spPr>
          <a:xfrm>
            <a:off x="6205576" y="5166360"/>
            <a:ext cx="5419192" cy="1014984"/>
          </a:xfrm>
          <a:prstGeom prst="rect">
            <a:avLst/>
          </a:prstGeom>
          <a:solidFill>
            <a:srgbClr val="FFFFFF"/>
          </a:solidFill>
          <a:ln w="15875">
            <a:solidFill>
              <a:srgbClr val="7152E9"/>
            </a:solidFill>
            <a:prstDash val="solid"/>
          </a:ln>
        </p:spPr>
      </p:sp>
      <p:sp>
        <p:nvSpPr>
          <p:cNvPr id="44" name="Shape 41"/>
          <p:cNvSpPr/>
          <p:nvPr/>
        </p:nvSpPr>
        <p:spPr>
          <a:xfrm>
            <a:off x="6205576" y="5166360"/>
            <a:ext cx="82296" cy="1014984"/>
          </a:xfrm>
          <a:prstGeom prst="rect">
            <a:avLst/>
          </a:prstGeom>
          <a:solidFill>
            <a:srgbClr val="7152E9"/>
          </a:solidFill>
          <a:ln w="12700">
            <a:solidFill>
              <a:srgbClr val="333333"/>
            </a:solidFill>
            <a:prstDash val="solid"/>
          </a:ln>
        </p:spPr>
      </p:sp>
      <p:sp>
        <p:nvSpPr>
          <p:cNvPr id="45" name="Text 42"/>
          <p:cNvSpPr/>
          <p:nvPr/>
        </p:nvSpPr>
        <p:spPr>
          <a:xfrm>
            <a:off x="6461608" y="5239512"/>
            <a:ext cx="2103120" cy="274320"/>
          </a:xfrm>
          <a:prstGeom prst="rect">
            <a:avLst/>
          </a:prstGeom>
          <a:noFill/>
          <a:ln/>
        </p:spPr>
        <p:txBody>
          <a:bodyPr wrap="square" lIns="0" tIns="0" rIns="0" bIns="0" rtlCol="0" anchor="ctr"/>
          <a:lstStyle/>
          <a:p>
            <a:pPr indent="0" marL="0">
              <a:buNone/>
            </a:pPr>
            <a:r>
              <a:rPr lang="en-US" sz="1100" b="1" spc="60" kern="0" dirty="0">
                <a:solidFill>
                  <a:srgbClr val="5638C9"/>
                </a:solidFill>
                <a:latin typeface="Courier New" pitchFamily="34" charset="0"/>
                <a:ea typeface="Courier New" pitchFamily="34" charset="-122"/>
                <a:cs typeface="Courier New" pitchFamily="34" charset="-120"/>
              </a:rPr>
              <a:t>PROXY</a:t>
            </a:r>
            <a:endParaRPr lang="en-US" sz="1100" dirty="0"/>
          </a:p>
        </p:txBody>
      </p:sp>
      <p:sp>
        <p:nvSpPr>
          <p:cNvPr id="46" name="Text 43"/>
          <p:cNvSpPr/>
          <p:nvPr/>
        </p:nvSpPr>
        <p:spPr>
          <a:xfrm>
            <a:off x="8537296" y="5239512"/>
            <a:ext cx="2904592" cy="274320"/>
          </a:xfrm>
          <a:prstGeom prst="rect">
            <a:avLst/>
          </a:prstGeom>
          <a:noFill/>
          <a:ln/>
        </p:spPr>
        <p:txBody>
          <a:bodyPr wrap="square" lIns="0" tIns="0" rIns="0" bIns="0" rtlCol="0" anchor="ctr"/>
          <a:lstStyle/>
          <a:p>
            <a:pPr indent="0" marL="0">
              <a:buNone/>
            </a:pPr>
            <a:r>
              <a:rPr lang="en-US" sz="1050" i="1" dirty="0">
                <a:solidFill>
                  <a:srgbClr val="6F6B80"/>
                </a:solidFill>
                <a:latin typeface="Arial" pitchFamily="34" charset="0"/>
                <a:ea typeface="Arial" pitchFamily="34" charset="-122"/>
                <a:cs typeface="Arial" pitchFamily="34" charset="-120"/>
              </a:rPr>
              <a:t>contrato actualizable</a:t>
            </a:r>
            <a:endParaRPr lang="en-US" sz="1050" dirty="0"/>
          </a:p>
        </p:txBody>
      </p:sp>
      <p:sp>
        <p:nvSpPr>
          <p:cNvPr id="47" name="Text 44"/>
          <p:cNvSpPr/>
          <p:nvPr/>
        </p:nvSpPr>
        <p:spPr>
          <a:xfrm>
            <a:off x="6461608" y="5550408"/>
            <a:ext cx="5007712" cy="557784"/>
          </a:xfrm>
          <a:prstGeom prst="rect">
            <a:avLst/>
          </a:prstGeom>
          <a:noFill/>
          <a:ln/>
        </p:spPr>
        <p:txBody>
          <a:bodyPr wrap="square" lIns="0" tIns="0" rIns="0" bIns="0" rtlCol="0" anchor="t"/>
          <a:lstStyle/>
          <a:p>
            <a:pPr indent="0" marL="0">
              <a:lnSpc>
                <a:spcPct val="115000"/>
              </a:lnSpc>
              <a:buNone/>
            </a:pPr>
            <a:r>
              <a:rPr lang="en-US" sz="1100" dirty="0">
                <a:solidFill>
                  <a:srgbClr val="3A3844"/>
                </a:solidFill>
                <a:latin typeface="Arial" pitchFamily="34" charset="0"/>
                <a:ea typeface="Arial" pitchFamily="34" charset="-122"/>
                <a:cs typeface="Arial" pitchFamily="34" charset="-120"/>
              </a:rPr>
              <a:t>Separa el almacenamiento (proxy) de la lógica (implementación) vía delegatecall, para poder cambiar el código.</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2240280"/>
            <a:ext cx="3017520" cy="2377440"/>
          </a:xfrm>
          <a:prstGeom prst="rect">
            <a:avLst/>
          </a:prstGeom>
          <a:solidFill>
            <a:srgbClr val="F07F06"/>
          </a:solidFill>
          <a:ln w="12700">
            <a:solidFill>
              <a:srgbClr val="F07F06"/>
            </a:solidFill>
            <a:prstDash val="solid"/>
          </a:ln>
        </p:spPr>
      </p:sp>
      <p:sp>
        <p:nvSpPr>
          <p:cNvPr id="3" name="Text 1"/>
          <p:cNvSpPr/>
          <p:nvPr/>
        </p:nvSpPr>
        <p:spPr>
          <a:xfrm>
            <a:off x="0" y="2240280"/>
            <a:ext cx="3017520" cy="2377440"/>
          </a:xfrm>
          <a:prstGeom prst="rect">
            <a:avLst/>
          </a:prstGeom>
          <a:noFill/>
          <a:ln/>
        </p:spPr>
        <p:txBody>
          <a:bodyPr wrap="square" lIns="0" tIns="0" rIns="0" bIns="0" rtlCol="0" anchor="ctr"/>
          <a:lstStyle/>
          <a:p>
            <a:pPr algn="ctr" indent="0" marL="0">
              <a:buNone/>
            </a:pPr>
            <a:r>
              <a:rPr lang="en-US" sz="11800" dirty="0">
                <a:solidFill>
                  <a:srgbClr val="0F0F11"/>
                </a:solidFill>
                <a:latin typeface="Arial Black" pitchFamily="34" charset="0"/>
                <a:ea typeface="Arial Black" pitchFamily="34" charset="-122"/>
                <a:cs typeface="Arial Black" pitchFamily="34" charset="-120"/>
              </a:rPr>
              <a:t>A</a:t>
            </a:r>
            <a:endParaRPr lang="en-US" sz="11800" dirty="0"/>
          </a:p>
        </p:txBody>
      </p:sp>
      <p:pic>
        <p:nvPicPr>
          <p:cNvPr id="4" name="Image 0" descr="preencoded.png">    </p:cNvPr>
          <p:cNvPicPr>
            <a:picLocks noChangeAspect="1"/>
          </p:cNvPicPr>
          <p:nvPr/>
        </p:nvPicPr>
        <p:blipFill>
          <a:blip r:embed="rId1"/>
          <a:stretch>
            <a:fillRect/>
          </a:stretch>
        </p:blipFill>
        <p:spPr>
          <a:xfrm>
            <a:off x="3611880" y="2286000"/>
            <a:ext cx="329184" cy="329184"/>
          </a:xfrm>
          <a:prstGeom prst="rect">
            <a:avLst/>
          </a:prstGeom>
        </p:spPr>
      </p:pic>
      <p:sp>
        <p:nvSpPr>
          <p:cNvPr id="5" name="Text 2"/>
          <p:cNvSpPr/>
          <p:nvPr/>
        </p:nvSpPr>
        <p:spPr>
          <a:xfrm>
            <a:off x="4069080" y="2258568"/>
            <a:ext cx="7223760" cy="365760"/>
          </a:xfrm>
          <a:prstGeom prst="rect">
            <a:avLst/>
          </a:prstGeom>
          <a:noFill/>
          <a:ln/>
        </p:spPr>
        <p:txBody>
          <a:bodyPr wrap="square" lIns="0" tIns="0" rIns="0" bIns="0" rtlCol="0" anchor="ctr"/>
          <a:lstStyle/>
          <a:p>
            <a:pPr indent="0" marL="0">
              <a:buNone/>
            </a:pPr>
            <a:r>
              <a:rPr lang="en-US" sz="1100" spc="180" kern="0" dirty="0">
                <a:solidFill>
                  <a:srgbClr val="F07F06"/>
                </a:solidFill>
                <a:latin typeface="Courier New" pitchFamily="34" charset="0"/>
                <a:ea typeface="Courier New" pitchFamily="34" charset="-122"/>
                <a:cs typeface="Courier New" pitchFamily="34" charset="-120"/>
              </a:rPr>
              <a:t>APROXIMADAMENTE 55 MINUTOS</a:t>
            </a:r>
            <a:endParaRPr lang="en-US" sz="1100" dirty="0"/>
          </a:p>
        </p:txBody>
      </p:sp>
      <p:sp>
        <p:nvSpPr>
          <p:cNvPr id="6" name="Text 3"/>
          <p:cNvSpPr/>
          <p:nvPr/>
        </p:nvSpPr>
        <p:spPr>
          <a:xfrm>
            <a:off x="3611880" y="2724912"/>
            <a:ext cx="7955280" cy="1325880"/>
          </a:xfrm>
          <a:prstGeom prst="rect">
            <a:avLst/>
          </a:prstGeom>
          <a:noFill/>
          <a:ln/>
        </p:spPr>
        <p:txBody>
          <a:bodyPr wrap="square" lIns="0" tIns="0" rIns="0" bIns="0" rtlCol="0" anchor="t"/>
          <a:lstStyle/>
          <a:p>
            <a:pPr indent="0" marL="0">
              <a:lnSpc>
                <a:spcPct val="98000"/>
              </a:lnSpc>
              <a:buNone/>
            </a:pPr>
            <a:r>
              <a:rPr lang="en-US" sz="3400" dirty="0">
                <a:solidFill>
                  <a:srgbClr val="FFFFFF"/>
                </a:solidFill>
                <a:latin typeface="Arial Black" pitchFamily="34" charset="0"/>
                <a:ea typeface="Arial Black" pitchFamily="34" charset="-122"/>
                <a:cs typeface="Arial Black" pitchFamily="34" charset="-120"/>
              </a:rPr>
              <a:t>TAXONOMÍA Y DEFENSAS</a:t>
            </a:r>
            <a:endParaRPr lang="en-US" sz="3400" dirty="0"/>
          </a:p>
        </p:txBody>
      </p:sp>
      <p:sp>
        <p:nvSpPr>
          <p:cNvPr id="7" name="Text 4"/>
          <p:cNvSpPr/>
          <p:nvPr/>
        </p:nvSpPr>
        <p:spPr>
          <a:xfrm>
            <a:off x="3611880" y="4133088"/>
            <a:ext cx="7680960" cy="1051560"/>
          </a:xfrm>
          <a:prstGeom prst="rect">
            <a:avLst/>
          </a:prstGeom>
          <a:noFill/>
          <a:ln/>
        </p:spPr>
        <p:txBody>
          <a:bodyPr wrap="square" lIns="0" tIns="0" rIns="0" bIns="0" rtlCol="0" anchor="t"/>
          <a:lstStyle/>
          <a:p>
            <a:pPr indent="0" marL="0">
              <a:lnSpc>
                <a:spcPct val="125000"/>
              </a:lnSpc>
              <a:buNone/>
            </a:pPr>
            <a:r>
              <a:rPr lang="en-US" sz="1400" dirty="0">
                <a:solidFill>
                  <a:srgbClr val="B9B4C4"/>
                </a:solidFill>
                <a:latin typeface="Arial" pitchFamily="34" charset="0"/>
                <a:ea typeface="Arial" pitchFamily="34" charset="-122"/>
                <a:cs typeface="Arial" pitchFamily="34" charset="-120"/>
              </a:rPr>
              <a:t>Cada vulnerabilidad de esta lista costó dinero real. Varias, cientos de millones. Ninguna era código roto: era código que hacía exactamente lo que decía.</a:t>
            </a:r>
            <a:endParaRPr lang="en-US" sz="1400" dirty="0"/>
          </a:p>
        </p:txBody>
      </p:sp>
      <p:sp>
        <p:nvSpPr>
          <p:cNvPr id="8" name="Text 5"/>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E6A7C"/>
                </a:solidFill>
                <a:latin typeface="Courier New" pitchFamily="34" charset="0"/>
                <a:ea typeface="Courier New" pitchFamily="34" charset="-122"/>
                <a:cs typeface="Courier New" pitchFamily="34" charset="-120"/>
              </a:rPr>
              <a:t>SESIÓN 09 · SEGURIDAD DE CONTRATOS INTELIGENTES</a:t>
            </a:r>
            <a:endParaRPr lang="en-US" sz="800" dirty="0"/>
          </a:p>
        </p:txBody>
      </p:sp>
      <p:sp>
        <p:nvSpPr>
          <p:cNvPr id="9" name="Text 6"/>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E6A7C"/>
                </a:solidFill>
                <a:latin typeface="Courier New" pitchFamily="34" charset="0"/>
                <a:ea typeface="Courier New" pitchFamily="34" charset="-122"/>
                <a:cs typeface="Courier New" pitchFamily="34" charset="-120"/>
              </a:rPr>
              <a:t>USB MEDELLÍN</a:t>
            </a:r>
            <a:endParaRPr lang="en-US" sz="800" dirty="0"/>
          </a:p>
        </p:txBody>
      </p:sp>
      <p:sp>
        <p:nvSpPr>
          <p:cNvPr id="10" name="Text 7"/>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F07F06"/>
                </a:solidFill>
                <a:latin typeface="Courier New" pitchFamily="34" charset="0"/>
                <a:ea typeface="Courier New" pitchFamily="34" charset="-122"/>
                <a:cs typeface="Courier New" pitchFamily="34" charset="-120"/>
              </a:rPr>
              <a:t>05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 · POR QUÉ ES DIFERENTE</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TRES COSAS QUE NO PASAN EN UNA APP NORMAL</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09 · SEGURIDAD DE CONTRATOS INTELIGENTES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06</a:t>
            </a:r>
            <a:endParaRPr lang="en-US" sz="900" dirty="0"/>
          </a:p>
        </p:txBody>
      </p:sp>
      <p:sp>
        <p:nvSpPr>
          <p:cNvPr id="8" name="Shape 5"/>
          <p:cNvSpPr/>
          <p:nvPr/>
        </p:nvSpPr>
        <p:spPr>
          <a:xfrm>
            <a:off x="566928" y="1737360"/>
            <a:ext cx="5391760" cy="237744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sp>
        <p:nvSpPr>
          <p:cNvPr id="9" name="Text 6"/>
          <p:cNvSpPr/>
          <p:nvPr/>
        </p:nvSpPr>
        <p:spPr>
          <a:xfrm>
            <a:off x="841248" y="1920240"/>
            <a:ext cx="4843120"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UNA APLICACIÓN WEB</a:t>
            </a:r>
            <a:endParaRPr lang="en-US" sz="1050" dirty="0"/>
          </a:p>
        </p:txBody>
      </p:sp>
      <p:sp>
        <p:nvSpPr>
          <p:cNvPr id="10" name="Text 7"/>
          <p:cNvSpPr/>
          <p:nvPr/>
        </p:nvSpPr>
        <p:spPr>
          <a:xfrm>
            <a:off x="841248" y="2304288"/>
            <a:ext cx="4843120" cy="1645920"/>
          </a:xfrm>
          <a:prstGeom prst="rect">
            <a:avLst/>
          </a:prstGeom>
          <a:noFill/>
          <a:ln/>
        </p:spPr>
        <p:txBody>
          <a:bodyPr wrap="square" lIns="0" tIns="0" rIns="0" bIns="0" rtlCol="0" anchor="t"/>
          <a:lstStyle/>
          <a:p>
            <a:pPr marL="203200" indent="-203200">
              <a:lnSpc>
                <a:spcPct val="118000"/>
              </a:lnSpc>
              <a:spcAft>
                <a:spcPts val="500"/>
              </a:spcAft>
              <a:buSzPct val="100000"/>
              <a:buChar char="■"/>
            </a:pPr>
            <a:r>
              <a:rPr lang="en-US" sz="1300" dirty="0">
                <a:solidFill>
                  <a:srgbClr val="3A3844"/>
                </a:solidFill>
                <a:latin typeface="Arial" pitchFamily="34" charset="0"/>
                <a:ea typeface="Arial" pitchFamily="34" charset="-122"/>
                <a:cs typeface="Arial" pitchFamily="34" charset="-120"/>
              </a:rPr>
              <a:t>Si hay un error, se publica un parche.</a:t>
            </a:r>
            <a:endParaRPr lang="en-US" sz="1300" dirty="0"/>
          </a:p>
          <a:p>
            <a:pPr marL="203200" indent="-203200">
              <a:lnSpc>
                <a:spcPct val="118000"/>
              </a:lnSpc>
              <a:spcAft>
                <a:spcPts val="500"/>
              </a:spcAft>
              <a:buSzPct val="100000"/>
              <a:buChar char="■"/>
            </a:pPr>
            <a:r>
              <a:rPr lang="en-US" sz="1300" dirty="0">
                <a:solidFill>
                  <a:srgbClr val="3A3844"/>
                </a:solidFill>
                <a:latin typeface="Arial" pitchFamily="34" charset="0"/>
                <a:ea typeface="Arial" pitchFamily="34" charset="-122"/>
                <a:cs typeface="Arial" pitchFamily="34" charset="-120"/>
              </a:rPr>
              <a:t>El código corre en un servidor privado.</a:t>
            </a:r>
            <a:endParaRPr lang="en-US" sz="1300" dirty="0"/>
          </a:p>
          <a:p>
            <a:pPr marL="203200" indent="-203200">
              <a:lnSpc>
                <a:spcPct val="118000"/>
              </a:lnSpc>
              <a:spcAft>
                <a:spcPts val="500"/>
              </a:spcAft>
              <a:buSzPct val="100000"/>
              <a:buChar char="■"/>
            </a:pPr>
            <a:r>
              <a:rPr lang="en-US" sz="1300" dirty="0">
                <a:solidFill>
                  <a:srgbClr val="3A3844"/>
                </a:solidFill>
                <a:latin typeface="Arial" pitchFamily="34" charset="0"/>
                <a:ea typeface="Arial" pitchFamily="34" charset="-122"/>
                <a:cs typeface="Arial" pitchFamily="34" charset="-120"/>
              </a:rPr>
              <a:t>El dinero está en un banco con reversos y soporte.</a:t>
            </a:r>
            <a:endParaRPr lang="en-US" sz="1300" dirty="0"/>
          </a:p>
        </p:txBody>
      </p:sp>
      <p:sp>
        <p:nvSpPr>
          <p:cNvPr id="11" name="Shape 8"/>
          <p:cNvSpPr/>
          <p:nvPr/>
        </p:nvSpPr>
        <p:spPr>
          <a:xfrm>
            <a:off x="6233008" y="1737360"/>
            <a:ext cx="5391760" cy="2377440"/>
          </a:xfrm>
          <a:prstGeom prst="rect">
            <a:avLst/>
          </a:prstGeom>
          <a:solidFill>
            <a:srgbClr val="FFFFFF"/>
          </a:solidFill>
          <a:ln w="22225">
            <a:solidFill>
              <a:srgbClr val="B3261E"/>
            </a:solidFill>
            <a:prstDash val="solid"/>
          </a:ln>
          <a:effectLst>
            <a:outerShdw sx="100000" sy="100000" kx="0" ky="0" algn="bl" rotWithShape="0" blurRad="101600" dist="63500" dir="2700000">
              <a:srgbClr val="B3261E">
                <a:alpha val="100000"/>
              </a:srgbClr>
            </a:outerShdw>
          </a:effectLst>
        </p:spPr>
      </p:sp>
      <p:sp>
        <p:nvSpPr>
          <p:cNvPr id="12" name="Text 9"/>
          <p:cNvSpPr/>
          <p:nvPr/>
        </p:nvSpPr>
        <p:spPr>
          <a:xfrm>
            <a:off x="6507328" y="1920240"/>
            <a:ext cx="4843120" cy="292608"/>
          </a:xfrm>
          <a:prstGeom prst="rect">
            <a:avLst/>
          </a:prstGeom>
          <a:noFill/>
          <a:ln/>
        </p:spPr>
        <p:txBody>
          <a:bodyPr wrap="square" lIns="0" tIns="0" rIns="0" bIns="0" rtlCol="0" anchor="ctr"/>
          <a:lstStyle/>
          <a:p>
            <a:pPr indent="0" marL="0">
              <a:buNone/>
            </a:pPr>
            <a:r>
              <a:rPr lang="en-US" sz="1050" b="1" spc="130" kern="0" dirty="0">
                <a:solidFill>
                  <a:srgbClr val="B3261E"/>
                </a:solidFill>
                <a:latin typeface="Courier New" pitchFamily="34" charset="0"/>
                <a:ea typeface="Courier New" pitchFamily="34" charset="-122"/>
                <a:cs typeface="Courier New" pitchFamily="34" charset="-120"/>
              </a:rPr>
              <a:t>UN CONTRATO</a:t>
            </a:r>
            <a:endParaRPr lang="en-US" sz="1050" dirty="0"/>
          </a:p>
        </p:txBody>
      </p:sp>
      <p:sp>
        <p:nvSpPr>
          <p:cNvPr id="13" name="Text 10"/>
          <p:cNvSpPr/>
          <p:nvPr/>
        </p:nvSpPr>
        <p:spPr>
          <a:xfrm>
            <a:off x="6507328" y="2304288"/>
            <a:ext cx="4843120" cy="1645920"/>
          </a:xfrm>
          <a:prstGeom prst="rect">
            <a:avLst/>
          </a:prstGeom>
          <a:noFill/>
          <a:ln/>
        </p:spPr>
        <p:txBody>
          <a:bodyPr wrap="square" lIns="0" tIns="0" rIns="0" bIns="0" rtlCol="0" anchor="t"/>
          <a:lstStyle/>
          <a:p>
            <a:pPr marL="203200" indent="-203200">
              <a:lnSpc>
                <a:spcPct val="118000"/>
              </a:lnSpc>
              <a:spcAft>
                <a:spcPts val="500"/>
              </a:spcAft>
              <a:buSzPct val="100000"/>
              <a:buChar char="■"/>
            </a:pPr>
            <a:r>
              <a:rPr lang="en-US" sz="1300" dirty="0">
                <a:solidFill>
                  <a:srgbClr val="3A3844"/>
                </a:solidFill>
                <a:latin typeface="Arial" pitchFamily="34" charset="0"/>
                <a:ea typeface="Arial" pitchFamily="34" charset="-122"/>
                <a:cs typeface="Arial" pitchFamily="34" charset="-120"/>
              </a:rPr>
              <a:t>El código desplegado es inmutable: no hay parche.</a:t>
            </a:r>
            <a:endParaRPr lang="en-US" sz="1300" dirty="0"/>
          </a:p>
          <a:p>
            <a:pPr marL="203200" indent="-203200">
              <a:lnSpc>
                <a:spcPct val="118000"/>
              </a:lnSpc>
              <a:spcAft>
                <a:spcPts val="500"/>
              </a:spcAft>
              <a:buSzPct val="100000"/>
              <a:buChar char="■"/>
            </a:pPr>
            <a:r>
              <a:rPr lang="en-US" sz="1300" dirty="0">
                <a:solidFill>
                  <a:srgbClr val="3A3844"/>
                </a:solidFill>
                <a:latin typeface="Arial" pitchFamily="34" charset="0"/>
                <a:ea typeface="Arial" pitchFamily="34" charset="-122"/>
                <a:cs typeface="Arial" pitchFamily="34" charset="-120"/>
              </a:rPr>
              <a:t>Es público: cualquiera lo lee y lo estudia.</a:t>
            </a:r>
            <a:endParaRPr lang="en-US" sz="1300" dirty="0"/>
          </a:p>
          <a:p>
            <a:pPr marL="203200" indent="-203200">
              <a:lnSpc>
                <a:spcPct val="118000"/>
              </a:lnSpc>
              <a:spcAft>
                <a:spcPts val="500"/>
              </a:spcAft>
              <a:buSzPct val="100000"/>
              <a:buChar char="■"/>
            </a:pPr>
            <a:r>
              <a:rPr lang="en-US" sz="1300" dirty="0">
                <a:solidFill>
                  <a:srgbClr val="3A3844"/>
                </a:solidFill>
                <a:latin typeface="Arial" pitchFamily="34" charset="0"/>
                <a:ea typeface="Arial" pitchFamily="34" charset="-122"/>
                <a:cs typeface="Arial" pitchFamily="34" charset="-120"/>
              </a:rPr>
              <a:t>Custodia valor directamente, y las transferencias no se revierten.</a:t>
            </a:r>
            <a:endParaRPr lang="en-US" sz="1300" dirty="0"/>
          </a:p>
        </p:txBody>
      </p:sp>
      <p:sp>
        <p:nvSpPr>
          <p:cNvPr id="14" name="Shape 11"/>
          <p:cNvSpPr/>
          <p:nvPr/>
        </p:nvSpPr>
        <p:spPr>
          <a:xfrm>
            <a:off x="566928" y="4297680"/>
            <a:ext cx="11057839" cy="128016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sp>
        <p:nvSpPr>
          <p:cNvPr id="15" name="Text 12"/>
          <p:cNvSpPr/>
          <p:nvPr/>
        </p:nvSpPr>
        <p:spPr>
          <a:xfrm>
            <a:off x="950976" y="4480560"/>
            <a:ext cx="10289743" cy="914400"/>
          </a:xfrm>
          <a:prstGeom prst="rect">
            <a:avLst/>
          </a:prstGeom>
          <a:noFill/>
          <a:ln/>
        </p:spPr>
        <p:txBody>
          <a:bodyPr wrap="square" lIns="0" tIns="0" rIns="0" bIns="0" rtlCol="0" anchor="ctr"/>
          <a:lstStyle/>
          <a:p>
            <a:pPr indent="0" marL="0">
              <a:lnSpc>
                <a:spcPct val="106000"/>
              </a:lnSpc>
              <a:buNone/>
            </a:pPr>
            <a:r>
              <a:rPr lang="en-US" sz="1700" dirty="0">
                <a:solidFill>
                  <a:srgbClr val="0F0F11"/>
                </a:solidFill>
                <a:latin typeface="Arial Black" pitchFamily="34" charset="0"/>
                <a:ea typeface="Arial Black" pitchFamily="34" charset="-122"/>
                <a:cs typeface="Arial Black" pitchFamily="34" charset="-120"/>
              </a:rPr>
              <a:t>En la web, un atacante busca una puerta mal cerrada. Aquí tiene los planos del edificio, tiempo ilimitado, y si entra se lleva la caja fuerte sin que nadie pueda perseguirlo.</a:t>
            </a:r>
            <a:endParaRPr lang="en-US" sz="1700" dirty="0"/>
          </a:p>
        </p:txBody>
      </p:sp>
      <p:sp>
        <p:nvSpPr>
          <p:cNvPr id="16" name="Text 13"/>
          <p:cNvSpPr/>
          <p:nvPr/>
        </p:nvSpPr>
        <p:spPr>
          <a:xfrm>
            <a:off x="566928" y="5715000"/>
            <a:ext cx="11057839" cy="457200"/>
          </a:xfrm>
          <a:prstGeom prst="rect">
            <a:avLst/>
          </a:prstGeom>
          <a:noFill/>
          <a:ln/>
        </p:spPr>
        <p:txBody>
          <a:bodyPr wrap="square" lIns="0" tIns="0" rIns="0" bIns="0" rtlCol="0" anchor="t"/>
          <a:lstStyle/>
          <a:p>
            <a:pPr indent="0" marL="0">
              <a:lnSpc>
                <a:spcPct val="124000"/>
              </a:lnSpc>
              <a:buNone/>
            </a:pPr>
            <a:r>
              <a:rPr lang="en-US" sz="1300" dirty="0">
                <a:solidFill>
                  <a:srgbClr val="A35604"/>
                </a:solidFill>
                <a:latin typeface="Arial" pitchFamily="34" charset="0"/>
                <a:ea typeface="Arial" pitchFamily="34" charset="-122"/>
                <a:cs typeface="Arial" pitchFamily="34" charset="-120"/>
              </a:rPr>
              <a:t>Por eso el orden es: escribir menos, reutilizar código auditado, probar los bordes (Sesión 8) y auditar antes de tocar dinero.</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A.2 · EL MAPA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LA TAXONOMÍA DE HOY: OCHO VECTORES</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09 · SEGURIDAD DE CONTRATOS INTELIGENTES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07</a:t>
            </a:r>
            <a:endParaRPr lang="en-US" sz="9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2743200"/>
                <a:gridCol w="4572000"/>
                <a:gridCol w="374263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VULNERABILIDAD</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EN UNA FRASE</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CASO CÉLEBRE (VERIFICADO)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481203">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Reentrancy</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Vuelven a entrar antes de que actualices el estado.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The DAO, jun 2016 · ~3,6 M ETH</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81203">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Control de acceso</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Falta un permiso, o se comprueba mal (tx.origin).</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Parity multisig, jul 2017</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481203">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delegatecall no protegido</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Código ajeno escribe en tu almacenamiento.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Parity, nov 2017 · 513.774 ETH congelados</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81203">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Desbordamiento aritmético</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Un número da la vuelta. Resuelto en 0.8.</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BeautyChain (BEC), abr 2018</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481203">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Aleatoriedad on-chain</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El azar es predecible o influenciable.</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SmartBillions, oct 2017 · ~400 ETH</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81203">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Front-running / MEV</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Ven tu transacción y se adelantan.</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DEX, a diario · «Flash Boys 2.0»</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481203">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Manipulación de oráculos</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Falsean el precio del que dependes.</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Mango Markets, oct 2022 · &gt;110 M USD</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81203">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DoS por bucle o receptor</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Un dato o una cuenta bloquean a todos.</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King of the Ether, feb 2016</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9" name="Shape 5"/>
          <p:cNvSpPr/>
          <p:nvPr/>
        </p:nvSpPr>
        <p:spPr>
          <a:xfrm>
            <a:off x="548640" y="1719072"/>
            <a:ext cx="11094415" cy="4197096"/>
          </a:xfrm>
          <a:prstGeom prst="rect">
            <a:avLst/>
          </a:prstGeom>
          <a:ln w="22225">
            <a:solidFill>
              <a:srgbClr val="0F0F11"/>
            </a:solidFill>
            <a:prstDash val="solid"/>
          </a:ln>
        </p:spPr>
      </p:sp>
      <p:sp>
        <p:nvSpPr>
          <p:cNvPr id="10" name="Text 6"/>
          <p:cNvSpPr/>
          <p:nvPr/>
        </p:nvSpPr>
        <p:spPr>
          <a:xfrm>
            <a:off x="566928" y="5989320"/>
            <a:ext cx="11057839" cy="320040"/>
          </a:xfrm>
          <a:prstGeom prst="rect">
            <a:avLst/>
          </a:prstGeom>
          <a:noFill/>
          <a:ln/>
        </p:spPr>
        <p:txBody>
          <a:bodyPr wrap="square" lIns="0" tIns="0" rIns="0" bIns="0" rtlCol="0" anchor="t"/>
          <a:lstStyle/>
          <a:p>
            <a:pPr indent="0" marL="0">
              <a:lnSpc>
                <a:spcPct val="124000"/>
              </a:lnSpc>
              <a:buNone/>
            </a:pPr>
            <a:r>
              <a:rPr lang="en-US" sz="1250" dirty="0">
                <a:solidFill>
                  <a:srgbClr val="A35604"/>
                </a:solidFill>
                <a:latin typeface="Arial" pitchFamily="34" charset="0"/>
                <a:ea typeface="Arial" pitchFamily="34" charset="-122"/>
                <a:cs typeface="Arial" pitchFamily="34" charset="-120"/>
              </a:rPr>
              <a:t>Reentrancy la explotamos en vivo. Las demás, con su caso real. Todas pueden salir en el parcial.</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A.3 · EL CONTRATO QUE VAMOS A ROBAR</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UN BANCO QUE PARECE CORRECTO</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09 · SEGURIDAD DE CONTRATOS INTELIGENTES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08</a:t>
            </a:r>
            <a:endParaRPr lang="en-US" sz="900" dirty="0"/>
          </a:p>
        </p:txBody>
      </p:sp>
      <p:sp>
        <p:nvSpPr>
          <p:cNvPr id="8" name="Shape 5"/>
          <p:cNvSpPr/>
          <p:nvPr/>
        </p:nvSpPr>
        <p:spPr>
          <a:xfrm>
            <a:off x="566928" y="1737360"/>
            <a:ext cx="6766560" cy="4434840"/>
          </a:xfrm>
          <a:prstGeom prst="rect">
            <a:avLst/>
          </a:prstGeom>
          <a:solidFill>
            <a:srgbClr val="16151B"/>
          </a:solidFill>
          <a:ln w="22225">
            <a:solidFill>
              <a:srgbClr val="16151B"/>
            </a:solidFill>
            <a:prstDash val="solid"/>
          </a:ln>
        </p:spPr>
      </p:sp>
      <p:sp>
        <p:nvSpPr>
          <p:cNvPr id="9" name="Text 6"/>
          <p:cNvSpPr/>
          <p:nvPr/>
        </p:nvSpPr>
        <p:spPr>
          <a:xfrm>
            <a:off x="768096" y="1883664"/>
            <a:ext cx="6364224" cy="4178808"/>
          </a:xfrm>
          <a:prstGeom prst="rect">
            <a:avLst/>
          </a:prstGeom>
          <a:noFill/>
          <a:ln/>
        </p:spPr>
        <p:txBody>
          <a:bodyPr wrap="square" lIns="0" tIns="0" rIns="0" bIns="0" rtlCol="0" anchor="t"/>
          <a:lstStyle/>
          <a:p>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contract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BancoVulnerable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mapping</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A897FF"/>
                </a:solidFill>
                <a:latin typeface="Courier New" pitchFamily="34" charset="0"/>
                <a:ea typeface="Courier New" pitchFamily="34" charset="-122"/>
                <a:cs typeface="Courier New" pitchFamily="34" charset="-120"/>
              </a:rPr>
              <a:t>address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&gt;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public</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saldos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function</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depositar</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external</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payable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saldos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sender</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value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function</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retirar</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external</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monto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saldos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sender</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require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monto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&gt;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0</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"sin saldo"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A897FF"/>
                </a:solidFill>
                <a:latin typeface="Courier New" pitchFamily="34" charset="0"/>
                <a:ea typeface="Courier New" pitchFamily="34" charset="-122"/>
                <a:cs typeface="Courier New" pitchFamily="34" charset="-120"/>
              </a:rPr>
              <a:t>bool</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ok</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payable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sender</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call</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value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monto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require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ok</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"envio fallido"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saldos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sender</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0</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8B8697"/>
                </a:solidFill>
                <a:latin typeface="Courier New" pitchFamily="34" charset="0"/>
                <a:ea typeface="Courier New" pitchFamily="34" charset="-122"/>
                <a:cs typeface="Courier New" pitchFamily="34" charset="-120"/>
              </a:rPr>
              <a:t>// &lt;-- el saldo se limpia AL FINAL</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p:txBody>
      </p:sp>
      <p:sp>
        <p:nvSpPr>
          <p:cNvPr id="10" name="Text 7"/>
          <p:cNvSpPr/>
          <p:nvPr/>
        </p:nvSpPr>
        <p:spPr>
          <a:xfrm>
            <a:off x="7607808" y="1737360"/>
            <a:ext cx="4016959" cy="2194560"/>
          </a:xfrm>
          <a:prstGeom prst="rect">
            <a:avLst/>
          </a:prstGeom>
          <a:noFill/>
          <a:ln/>
        </p:spPr>
        <p:txBody>
          <a:bodyPr wrap="square" lIns="0" tIns="0" rIns="0" bIns="0" rtlCol="0" anchor="t"/>
          <a:lstStyle/>
          <a:p>
            <a:pPr marL="203200" indent="-203200">
              <a:lnSpc>
                <a:spcPct val="118000"/>
              </a:lnSpc>
              <a:spcAft>
                <a:spcPts val="800"/>
              </a:spcAft>
              <a:buSzPct val="100000"/>
              <a:buChar char="■"/>
            </a:pPr>
            <a:r>
              <a:rPr lang="en-US" sz="1300" dirty="0">
                <a:solidFill>
                  <a:srgbClr val="3A3844"/>
                </a:solidFill>
                <a:latin typeface="Arial" pitchFamily="34" charset="0"/>
                <a:ea typeface="Arial" pitchFamily="34" charset="-122"/>
                <a:cs typeface="Arial" pitchFamily="34" charset="-120"/>
              </a:rPr>
              <a:t>Lleva la cuenta de cada depósito.</a:t>
            </a:r>
            <a:endParaRPr lang="en-US" sz="1300" dirty="0"/>
          </a:p>
          <a:p>
            <a:pPr marL="203200" indent="-203200">
              <a:lnSpc>
                <a:spcPct val="118000"/>
              </a:lnSpc>
              <a:spcAft>
                <a:spcPts val="800"/>
              </a:spcAft>
              <a:buSzPct val="100000"/>
              <a:buChar char="■"/>
            </a:pPr>
            <a:r>
              <a:rPr lang="en-US" sz="1300" dirty="0">
                <a:solidFill>
                  <a:srgbClr val="3A3844"/>
                </a:solidFill>
                <a:latin typeface="Arial" pitchFamily="34" charset="0"/>
                <a:ea typeface="Arial" pitchFamily="34" charset="-122"/>
                <a:cs typeface="Arial" pitchFamily="34" charset="-120"/>
              </a:rPr>
              <a:t>Solo deja retirar lo propio.</a:t>
            </a:r>
            <a:endParaRPr lang="en-US" sz="1300" dirty="0"/>
          </a:p>
          <a:p>
            <a:pPr marL="203200" indent="-203200">
              <a:lnSpc>
                <a:spcPct val="118000"/>
              </a:lnSpc>
              <a:spcAft>
                <a:spcPts val="800"/>
              </a:spcAft>
              <a:buSzPct val="100000"/>
              <a:buChar char="■"/>
            </a:pPr>
            <a:r>
              <a:rPr lang="en-US" sz="1300" dirty="0">
                <a:solidFill>
                  <a:srgbClr val="3A3844"/>
                </a:solidFill>
                <a:latin typeface="Arial" pitchFamily="34" charset="0"/>
                <a:ea typeface="Arial" pitchFamily="34" charset="-122"/>
                <a:cs typeface="Arial" pitchFamily="34" charset="-120"/>
              </a:rPr>
              <a:t>Comprueba que el envío no falle.</a:t>
            </a:r>
            <a:endParaRPr lang="en-US" sz="1300" dirty="0"/>
          </a:p>
          <a:p>
            <a:pPr marL="203200" indent="-203200">
              <a:lnSpc>
                <a:spcPct val="118000"/>
              </a:lnSpc>
              <a:spcAft>
                <a:spcPts val="800"/>
              </a:spcAft>
              <a:buSzPct val="100000"/>
              <a:buChar char="■"/>
            </a:pPr>
            <a:r>
              <a:rPr lang="en-US" sz="1300" dirty="0">
                <a:solidFill>
                  <a:srgbClr val="3A3844"/>
                </a:solidFill>
                <a:latin typeface="Arial" pitchFamily="34" charset="0"/>
                <a:ea typeface="Arial" pitchFamily="34" charset="-122"/>
                <a:cs typeface="Arial" pitchFamily="34" charset="-120"/>
              </a:rPr>
              <a:t>Pone el saldo en cero.</a:t>
            </a:r>
            <a:endParaRPr lang="en-US" sz="1300" dirty="0"/>
          </a:p>
        </p:txBody>
      </p:sp>
      <p:sp>
        <p:nvSpPr>
          <p:cNvPr id="11" name="Shape 8"/>
          <p:cNvSpPr/>
          <p:nvPr/>
        </p:nvSpPr>
        <p:spPr>
          <a:xfrm>
            <a:off x="7607808" y="4114800"/>
            <a:ext cx="4016959" cy="201168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pic>
        <p:nvPicPr>
          <p:cNvPr id="12" name="Image 1" descr="preencoded.png">    </p:cNvPr>
          <p:cNvPicPr>
            <a:picLocks noChangeAspect="1"/>
          </p:cNvPicPr>
          <p:nvPr/>
        </p:nvPicPr>
        <p:blipFill>
          <a:blip r:embed="rId2"/>
          <a:stretch>
            <a:fillRect/>
          </a:stretch>
        </p:blipFill>
        <p:spPr>
          <a:xfrm>
            <a:off x="7845552" y="4334256"/>
            <a:ext cx="237744" cy="237744"/>
          </a:xfrm>
          <a:prstGeom prst="rect">
            <a:avLst/>
          </a:prstGeom>
        </p:spPr>
      </p:pic>
      <p:sp>
        <p:nvSpPr>
          <p:cNvPr id="13" name="Text 9"/>
          <p:cNvSpPr/>
          <p:nvPr/>
        </p:nvSpPr>
        <p:spPr>
          <a:xfrm>
            <a:off x="8174736" y="4306824"/>
            <a:ext cx="3193999" cy="292608"/>
          </a:xfrm>
          <a:prstGeom prst="rect">
            <a:avLst/>
          </a:prstGeom>
          <a:noFill/>
          <a:ln/>
        </p:spPr>
        <p:txBody>
          <a:bodyPr wrap="square" lIns="0" tIns="0" rIns="0" bIns="0" rtlCol="0" anchor="ctr"/>
          <a:lstStyle/>
          <a:p>
            <a:pPr indent="0" marL="0">
              <a:buNone/>
            </a:pPr>
            <a:r>
              <a:rPr lang="en-US" sz="950" b="1" spc="150" kern="0" dirty="0">
                <a:solidFill>
                  <a:srgbClr val="0F0F11"/>
                </a:solidFill>
                <a:latin typeface="Courier New" pitchFamily="34" charset="0"/>
                <a:ea typeface="Courier New" pitchFamily="34" charset="-122"/>
                <a:cs typeface="Courier New" pitchFamily="34" charset="-120"/>
              </a:rPr>
              <a:t>LA PREGUNTA ANTES DE SEGUIR</a:t>
            </a:r>
            <a:endParaRPr lang="en-US" sz="950" dirty="0"/>
          </a:p>
        </p:txBody>
      </p:sp>
      <p:sp>
        <p:nvSpPr>
          <p:cNvPr id="14" name="Text 10"/>
          <p:cNvSpPr/>
          <p:nvPr/>
        </p:nvSpPr>
        <p:spPr>
          <a:xfrm>
            <a:off x="7845552" y="4626864"/>
            <a:ext cx="3541471" cy="1408176"/>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Todo parece bien. ¿En qué línea está el fallo? Pista: piensen qué pasa DURANTE el call, antes de la última línea.</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A.4 · EL FALLO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EL ENVÍO CEDE EL CONTROL AL ATACANTE</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09 · SEGURIDAD DE CONTRATOS INTELIGENTES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09</a:t>
            </a:r>
            <a:endParaRPr lang="en-US" sz="900" dirty="0"/>
          </a:p>
        </p:txBody>
      </p:sp>
      <p:sp>
        <p:nvSpPr>
          <p:cNvPr id="8" name="Text 5"/>
          <p:cNvSpPr/>
          <p:nvPr/>
        </p:nvSpPr>
        <p:spPr>
          <a:xfrm>
            <a:off x="566928" y="1737360"/>
            <a:ext cx="11057839" cy="868680"/>
          </a:xfrm>
          <a:prstGeom prst="rect">
            <a:avLst/>
          </a:prstGeom>
          <a:noFill/>
          <a:ln/>
        </p:spPr>
        <p:txBody>
          <a:bodyPr wrap="square" lIns="0" tIns="0" rIns="0" bIns="0" rtlCol="0" anchor="t"/>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call{value: monto} no es solo mover ETH. Si el receptor es un contrato, EJECUTA su función receive(). Y ahí, el atacante toma el control con el saldo todavía sin limpiar.</a:t>
            </a:r>
            <a:endParaRPr lang="en-US" sz="1450" dirty="0"/>
          </a:p>
        </p:txBody>
      </p:sp>
      <p:sp>
        <p:nvSpPr>
          <p:cNvPr id="9" name="Shape 6"/>
          <p:cNvSpPr/>
          <p:nvPr/>
        </p:nvSpPr>
        <p:spPr>
          <a:xfrm>
            <a:off x="566928" y="2743200"/>
            <a:ext cx="11057839" cy="749808"/>
          </a:xfrm>
          <a:prstGeom prst="rect">
            <a:avLst/>
          </a:prstGeom>
          <a:solidFill>
            <a:srgbClr val="FFFFFF"/>
          </a:solidFill>
          <a:ln w="15875">
            <a:solidFill>
              <a:srgbClr val="D9D6E0"/>
            </a:solidFill>
            <a:prstDash val="solid"/>
          </a:ln>
        </p:spPr>
      </p:sp>
      <p:sp>
        <p:nvSpPr>
          <p:cNvPr id="10" name="Text 7"/>
          <p:cNvSpPr/>
          <p:nvPr/>
        </p:nvSpPr>
        <p:spPr>
          <a:xfrm>
            <a:off x="694944" y="2743200"/>
            <a:ext cx="548640" cy="74980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1" name="Text 8"/>
          <p:cNvSpPr/>
          <p:nvPr/>
        </p:nvSpPr>
        <p:spPr>
          <a:xfrm>
            <a:off x="1280160" y="2971800"/>
            <a:ext cx="24688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LÍNEA 1 DEL ATAQUE</a:t>
            </a:r>
            <a:endParaRPr lang="en-US" sz="1000" dirty="0"/>
          </a:p>
        </p:txBody>
      </p:sp>
      <p:sp>
        <p:nvSpPr>
          <p:cNvPr id="12" name="Text 9"/>
          <p:cNvSpPr/>
          <p:nvPr/>
        </p:nvSpPr>
        <p:spPr>
          <a:xfrm>
            <a:off x="4023360" y="2834640"/>
            <a:ext cx="7491679" cy="603504"/>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El banco ejecuta call y le envía el ETH al contrato atacante.</a:t>
            </a:r>
            <a:endParaRPr lang="en-US" sz="1250" dirty="0"/>
          </a:p>
        </p:txBody>
      </p:sp>
      <p:sp>
        <p:nvSpPr>
          <p:cNvPr id="13" name="Shape 10"/>
          <p:cNvSpPr/>
          <p:nvPr/>
        </p:nvSpPr>
        <p:spPr>
          <a:xfrm>
            <a:off x="566928" y="3602736"/>
            <a:ext cx="11057839" cy="749808"/>
          </a:xfrm>
          <a:prstGeom prst="rect">
            <a:avLst/>
          </a:prstGeom>
          <a:solidFill>
            <a:srgbClr val="FAF9FB"/>
          </a:solidFill>
          <a:ln w="15875">
            <a:solidFill>
              <a:srgbClr val="D9D6E0"/>
            </a:solidFill>
            <a:prstDash val="solid"/>
          </a:ln>
        </p:spPr>
      </p:sp>
      <p:sp>
        <p:nvSpPr>
          <p:cNvPr id="14" name="Text 11"/>
          <p:cNvSpPr/>
          <p:nvPr/>
        </p:nvSpPr>
        <p:spPr>
          <a:xfrm>
            <a:off x="694944" y="3602736"/>
            <a:ext cx="548640" cy="74980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5" name="Text 12"/>
          <p:cNvSpPr/>
          <p:nvPr/>
        </p:nvSpPr>
        <p:spPr>
          <a:xfrm>
            <a:off x="1280160" y="3831336"/>
            <a:ext cx="24688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EL CONTROL SALTA</a:t>
            </a:r>
            <a:endParaRPr lang="en-US" sz="1000" dirty="0"/>
          </a:p>
        </p:txBody>
      </p:sp>
      <p:sp>
        <p:nvSpPr>
          <p:cNvPr id="16" name="Text 13"/>
          <p:cNvSpPr/>
          <p:nvPr/>
        </p:nvSpPr>
        <p:spPr>
          <a:xfrm>
            <a:off x="4023360" y="3694176"/>
            <a:ext cx="7491679" cy="603504"/>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Se ejecuta receive() del atacante — antes de que el banco llegue a saldos = 0.</a:t>
            </a:r>
            <a:endParaRPr lang="en-US" sz="1250" dirty="0"/>
          </a:p>
        </p:txBody>
      </p:sp>
      <p:sp>
        <p:nvSpPr>
          <p:cNvPr id="17" name="Shape 14"/>
          <p:cNvSpPr/>
          <p:nvPr/>
        </p:nvSpPr>
        <p:spPr>
          <a:xfrm>
            <a:off x="566928" y="4462272"/>
            <a:ext cx="11057839" cy="749808"/>
          </a:xfrm>
          <a:prstGeom prst="rect">
            <a:avLst/>
          </a:prstGeom>
          <a:solidFill>
            <a:srgbClr val="FFFFFF"/>
          </a:solidFill>
          <a:ln w="15875">
            <a:solidFill>
              <a:srgbClr val="D9D6E0"/>
            </a:solidFill>
            <a:prstDash val="solid"/>
          </a:ln>
        </p:spPr>
      </p:sp>
      <p:sp>
        <p:nvSpPr>
          <p:cNvPr id="18" name="Text 15"/>
          <p:cNvSpPr/>
          <p:nvPr/>
        </p:nvSpPr>
        <p:spPr>
          <a:xfrm>
            <a:off x="694944" y="4462272"/>
            <a:ext cx="548640" cy="74980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9" name="Text 16"/>
          <p:cNvSpPr/>
          <p:nvPr/>
        </p:nvSpPr>
        <p:spPr>
          <a:xfrm>
            <a:off x="1280160" y="4690872"/>
            <a:ext cx="24688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EL ATACANTE REENTRA</a:t>
            </a:r>
            <a:endParaRPr lang="en-US" sz="1000" dirty="0"/>
          </a:p>
        </p:txBody>
      </p:sp>
      <p:sp>
        <p:nvSpPr>
          <p:cNvPr id="20" name="Text 17"/>
          <p:cNvSpPr/>
          <p:nvPr/>
        </p:nvSpPr>
        <p:spPr>
          <a:xfrm>
            <a:off x="4023360" y="4553712"/>
            <a:ext cx="7491679" cy="603504"/>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Desde receive() vuelve a llamar retirar(). El banco aún cree que tiene saldo.</a:t>
            </a:r>
            <a:endParaRPr lang="en-US" sz="1250" dirty="0"/>
          </a:p>
        </p:txBody>
      </p:sp>
      <p:sp>
        <p:nvSpPr>
          <p:cNvPr id="21" name="Shape 18"/>
          <p:cNvSpPr/>
          <p:nvPr/>
        </p:nvSpPr>
        <p:spPr>
          <a:xfrm>
            <a:off x="566928" y="5321808"/>
            <a:ext cx="11057839" cy="749808"/>
          </a:xfrm>
          <a:prstGeom prst="rect">
            <a:avLst/>
          </a:prstGeom>
          <a:solidFill>
            <a:srgbClr val="FAF9FB"/>
          </a:solidFill>
          <a:ln w="15875">
            <a:solidFill>
              <a:srgbClr val="D9D6E0"/>
            </a:solidFill>
            <a:prstDash val="solid"/>
          </a:ln>
        </p:spPr>
      </p:sp>
      <p:sp>
        <p:nvSpPr>
          <p:cNvPr id="22" name="Text 19"/>
          <p:cNvSpPr/>
          <p:nvPr/>
        </p:nvSpPr>
        <p:spPr>
          <a:xfrm>
            <a:off x="694944" y="5321808"/>
            <a:ext cx="548640" cy="749808"/>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04</a:t>
            </a:r>
            <a:endParaRPr lang="en-US" sz="1600" dirty="0"/>
          </a:p>
        </p:txBody>
      </p:sp>
      <p:sp>
        <p:nvSpPr>
          <p:cNvPr id="23" name="Text 20"/>
          <p:cNvSpPr/>
          <p:nvPr/>
        </p:nvSpPr>
        <p:spPr>
          <a:xfrm>
            <a:off x="1280160" y="5550408"/>
            <a:ext cx="24688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SE REPITE</a:t>
            </a:r>
            <a:endParaRPr lang="en-US" sz="1000" dirty="0"/>
          </a:p>
        </p:txBody>
      </p:sp>
      <p:sp>
        <p:nvSpPr>
          <p:cNvPr id="24" name="Text 21"/>
          <p:cNvSpPr/>
          <p:nvPr/>
        </p:nvSpPr>
        <p:spPr>
          <a:xfrm>
            <a:off x="4023360" y="5413248"/>
            <a:ext cx="7491679" cy="603504"/>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El banco vuelve a enviar. Y otra vez. Hasta que se queda sin fondos.</a:t>
            </a:r>
            <a:endParaRPr lang="en-US" sz="1250" dirty="0"/>
          </a:p>
        </p:txBody>
      </p:sp>
      <p:sp>
        <p:nvSpPr>
          <p:cNvPr id="25" name="Shape 22"/>
          <p:cNvSpPr/>
          <p:nvPr/>
        </p:nvSpPr>
        <p:spPr>
          <a:xfrm>
            <a:off x="566928" y="5413248"/>
            <a:ext cx="11057839" cy="786384"/>
          </a:xfrm>
          <a:prstGeom prst="rect">
            <a:avLst/>
          </a:prstGeom>
          <a:solidFill>
            <a:srgbClr val="FFFFFF"/>
          </a:solidFill>
          <a:ln w="22225">
            <a:solidFill>
              <a:srgbClr val="B3261E"/>
            </a:solidFill>
            <a:prstDash val="solid"/>
          </a:ln>
          <a:effectLst>
            <a:outerShdw sx="100000" sy="100000" kx="0" ky="0" algn="bl" rotWithShape="0" blurRad="101600" dist="63500" dir="2700000">
              <a:srgbClr val="B3261E">
                <a:alpha val="100000"/>
              </a:srgbClr>
            </a:outerShdw>
          </a:effectLst>
        </p:spPr>
      </p:sp>
      <p:pic>
        <p:nvPicPr>
          <p:cNvPr id="26" name="Image 1" descr="preencoded.png">    </p:cNvPr>
          <p:cNvPicPr>
            <a:picLocks noChangeAspect="1"/>
          </p:cNvPicPr>
          <p:nvPr/>
        </p:nvPicPr>
        <p:blipFill>
          <a:blip r:embed="rId2"/>
          <a:stretch>
            <a:fillRect/>
          </a:stretch>
        </p:blipFill>
        <p:spPr>
          <a:xfrm>
            <a:off x="804672" y="5632704"/>
            <a:ext cx="237744" cy="237744"/>
          </a:xfrm>
          <a:prstGeom prst="rect">
            <a:avLst/>
          </a:prstGeom>
        </p:spPr>
      </p:pic>
      <p:sp>
        <p:nvSpPr>
          <p:cNvPr id="27" name="Text 23"/>
          <p:cNvSpPr/>
          <p:nvPr/>
        </p:nvSpPr>
        <p:spPr>
          <a:xfrm>
            <a:off x="1133856" y="5605272"/>
            <a:ext cx="10234879" cy="292608"/>
          </a:xfrm>
          <a:prstGeom prst="rect">
            <a:avLst/>
          </a:prstGeom>
          <a:noFill/>
          <a:ln/>
        </p:spPr>
        <p:txBody>
          <a:bodyPr wrap="square" lIns="0" tIns="0" rIns="0" bIns="0" rtlCol="0" anchor="ctr"/>
          <a:lstStyle/>
          <a:p>
            <a:pPr indent="0" marL="0">
              <a:buNone/>
            </a:pPr>
            <a:r>
              <a:rPr lang="en-US" sz="950" b="1" spc="150" kern="0" dirty="0">
                <a:solidFill>
                  <a:srgbClr val="B3261E"/>
                </a:solidFill>
                <a:latin typeface="Courier New" pitchFamily="34" charset="0"/>
                <a:ea typeface="Courier New" pitchFamily="34" charset="-122"/>
                <a:cs typeface="Courier New" pitchFamily="34" charset="-120"/>
              </a:rPr>
              <a:t>LA REGLA QUE SE VIOLÓ</a:t>
            </a:r>
            <a:endParaRPr lang="en-US" sz="950" dirty="0"/>
          </a:p>
        </p:txBody>
      </p:sp>
      <p:sp>
        <p:nvSpPr>
          <p:cNvPr id="28" name="Text 24"/>
          <p:cNvSpPr/>
          <p:nvPr/>
        </p:nvSpPr>
        <p:spPr>
          <a:xfrm>
            <a:off x="804672" y="5925312"/>
            <a:ext cx="10582351" cy="18288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Interacción (enviar) antes que efecto (limpiar el saldo). Es exactamente al revés de Checks-Effects-Interactions.</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A.5 · EL EXPLOIT</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TRECE LÍNEAS QUE VACÍAN EL BANCO</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09 · SEGURIDAD DE CONTRATOS INTELIGENTES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10</a:t>
            </a:r>
            <a:endParaRPr lang="en-US" sz="900" dirty="0"/>
          </a:p>
        </p:txBody>
      </p:sp>
      <p:sp>
        <p:nvSpPr>
          <p:cNvPr id="8" name="Shape 5"/>
          <p:cNvSpPr/>
          <p:nvPr/>
        </p:nvSpPr>
        <p:spPr>
          <a:xfrm>
            <a:off x="566928" y="1737360"/>
            <a:ext cx="6949440" cy="4114800"/>
          </a:xfrm>
          <a:prstGeom prst="rect">
            <a:avLst/>
          </a:prstGeom>
          <a:solidFill>
            <a:srgbClr val="16151B"/>
          </a:solidFill>
          <a:ln w="22225">
            <a:solidFill>
              <a:srgbClr val="16151B"/>
            </a:solidFill>
            <a:prstDash val="solid"/>
          </a:ln>
        </p:spPr>
      </p:sp>
      <p:sp>
        <p:nvSpPr>
          <p:cNvPr id="9" name="Text 6"/>
          <p:cNvSpPr/>
          <p:nvPr/>
        </p:nvSpPr>
        <p:spPr>
          <a:xfrm>
            <a:off x="768096" y="1883664"/>
            <a:ext cx="6547104" cy="3858768"/>
          </a:xfrm>
          <a:prstGeom prst="rect">
            <a:avLst/>
          </a:prstGeom>
          <a:noFill/>
          <a:ln/>
        </p:spPr>
        <p:txBody>
          <a:bodyPr wrap="square" lIns="0" tIns="0" rIns="0" bIns="0" rtlCol="0" anchor="t"/>
          <a:lstStyle/>
          <a:p>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contract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Atacante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IBanco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banco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cebo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function</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atacar</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external</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payable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cebo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value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banco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depositar</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value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value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8B8697"/>
                </a:solidFill>
                <a:latin typeface="Courier New" pitchFamily="34" charset="0"/>
                <a:ea typeface="Courier New" pitchFamily="34" charset="-122"/>
                <a:cs typeface="Courier New" pitchFamily="34" charset="-120"/>
              </a:rPr>
              <a:t>// deposita 1</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banco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retirar</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8B8697"/>
                </a:solidFill>
                <a:latin typeface="Courier New" pitchFamily="34" charset="0"/>
                <a:ea typeface="Courier New" pitchFamily="34" charset="-122"/>
                <a:cs typeface="Courier New" pitchFamily="34" charset="-120"/>
              </a:rPr>
              <a:t>// pide su retiro</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receive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external</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payable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8B8697"/>
                </a:solidFill>
                <a:latin typeface="Courier New" pitchFamily="34" charset="0"/>
                <a:ea typeface="Courier New" pitchFamily="34" charset="-122"/>
                <a:cs typeface="Courier New" pitchFamily="34" charset="-120"/>
              </a:rPr>
              <a:t>// el banco le paga...</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07F06"/>
                </a:solidFill>
                <a:latin typeface="Courier New" pitchFamily="34" charset="0"/>
                <a:ea typeface="Courier New" pitchFamily="34" charset="-122"/>
                <a:cs typeface="Courier New" pitchFamily="34" charset="-120"/>
              </a:rPr>
              <a:t>if</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A897FF"/>
                </a:solidFill>
                <a:latin typeface="Courier New" pitchFamily="34" charset="0"/>
                <a:ea typeface="Courier New" pitchFamily="34" charset="-122"/>
                <a:cs typeface="Courier New" pitchFamily="34" charset="-120"/>
              </a:rPr>
              <a:t>address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banco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balance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&gt;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cebo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banco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retirar</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8B8697"/>
                </a:solidFill>
                <a:latin typeface="Courier New" pitchFamily="34" charset="0"/>
                <a:ea typeface="Courier New" pitchFamily="34" charset="-122"/>
                <a:cs typeface="Courier New" pitchFamily="34" charset="-120"/>
              </a:rPr>
              <a:t>// ...y vuelve a entrar</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p:txBody>
      </p:sp>
      <p:sp>
        <p:nvSpPr>
          <p:cNvPr id="10" name="Shape 7"/>
          <p:cNvSpPr/>
          <p:nvPr/>
        </p:nvSpPr>
        <p:spPr>
          <a:xfrm>
            <a:off x="7790688" y="1737360"/>
            <a:ext cx="3834079" cy="1737360"/>
          </a:xfrm>
          <a:prstGeom prst="rect">
            <a:avLst/>
          </a:prstGeom>
          <a:solidFill>
            <a:srgbClr val="FFFFFF"/>
          </a:solidFill>
          <a:ln w="22225">
            <a:solidFill>
              <a:srgbClr val="0F0F11"/>
            </a:solidFill>
            <a:prstDash val="solid"/>
          </a:ln>
          <a:effectLst>
            <a:outerShdw sx="100000" sy="100000" kx="0" ky="0" algn="bl" rotWithShape="0" blurRad="101600" dist="63500" dir="2700000">
              <a:srgbClr val="0F0F11">
                <a:alpha val="100000"/>
              </a:srgbClr>
            </a:outerShdw>
          </a:effectLst>
        </p:spPr>
      </p:sp>
      <p:sp>
        <p:nvSpPr>
          <p:cNvPr id="11" name="Text 8"/>
          <p:cNvSpPr/>
          <p:nvPr/>
        </p:nvSpPr>
        <p:spPr>
          <a:xfrm>
            <a:off x="7973568" y="1901952"/>
            <a:ext cx="3468319" cy="799186"/>
          </a:xfrm>
          <a:prstGeom prst="rect">
            <a:avLst/>
          </a:prstGeom>
          <a:noFill/>
          <a:ln/>
        </p:spPr>
        <p:txBody>
          <a:bodyPr wrap="square" lIns="0" tIns="0" rIns="0" bIns="0" rtlCol="0" anchor="ctr"/>
          <a:lstStyle/>
          <a:p>
            <a:pPr indent="0" marL="0">
              <a:buNone/>
            </a:pPr>
            <a:r>
              <a:rPr lang="en-US" sz="3000" dirty="0">
                <a:solidFill>
                  <a:srgbClr val="B3261E"/>
                </a:solidFill>
                <a:latin typeface="Arial Black" pitchFamily="34" charset="0"/>
                <a:ea typeface="Arial Black" pitchFamily="34" charset="-122"/>
                <a:cs typeface="Arial Black" pitchFamily="34" charset="-120"/>
              </a:rPr>
              <a:t>1 → 11</a:t>
            </a:r>
            <a:endParaRPr lang="en-US" sz="3000" dirty="0"/>
          </a:p>
        </p:txBody>
      </p:sp>
      <p:sp>
        <p:nvSpPr>
          <p:cNvPr id="12" name="Text 9"/>
          <p:cNvSpPr/>
          <p:nvPr/>
        </p:nvSpPr>
        <p:spPr>
          <a:xfrm>
            <a:off x="7973568" y="2745029"/>
            <a:ext cx="3468319" cy="660197"/>
          </a:xfrm>
          <a:prstGeom prst="rect">
            <a:avLst/>
          </a:prstGeom>
          <a:noFill/>
          <a:ln/>
        </p:spPr>
        <p:txBody>
          <a:bodyPr wrap="square" lIns="0" tIns="0" rIns="0" bIns="0" rtlCol="0" anchor="t"/>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deposita 1 ETH, se lleva los 11 del banco</a:t>
            </a:r>
            <a:endParaRPr lang="en-US" sz="1200" dirty="0"/>
          </a:p>
        </p:txBody>
      </p:sp>
      <p:sp>
        <p:nvSpPr>
          <p:cNvPr id="13" name="Text 10"/>
          <p:cNvSpPr/>
          <p:nvPr/>
        </p:nvSpPr>
        <p:spPr>
          <a:xfrm>
            <a:off x="7790688" y="3611880"/>
            <a:ext cx="3834079" cy="164592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Verificado en test/s09: tres clientes honestos tenían 10 ETH; el atacante depositó 1 y salió con 11. El banco quedó en cero, y los saldos honestos quedaron impagables.</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A.6 · EL ROBO REAL</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000" dirty="0">
                <a:solidFill>
                  <a:srgbClr val="0F0F11"/>
                </a:solidFill>
                <a:latin typeface="Arial Black" pitchFamily="34" charset="0"/>
                <a:ea typeface="Arial Black" pitchFamily="34" charset="-122"/>
                <a:cs typeface="Arial Black" pitchFamily="34" charset="-120"/>
              </a:rPr>
              <a:t>THE DAO, JUNIO DE 2016</a:t>
            </a:r>
            <a:endParaRPr lang="en-US" sz="30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09 · SEGURIDAD DE CONTRATOS INTELIGENTES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11</a:t>
            </a:r>
            <a:endParaRPr lang="en-US" sz="900" dirty="0"/>
          </a:p>
        </p:txBody>
      </p:sp>
      <p:sp>
        <p:nvSpPr>
          <p:cNvPr id="8" name="Text 5"/>
          <p:cNvSpPr/>
          <p:nvPr/>
        </p:nvSpPr>
        <p:spPr>
          <a:xfrm>
            <a:off x="566928" y="1737360"/>
            <a:ext cx="11057839" cy="822960"/>
          </a:xfrm>
          <a:prstGeom prst="rect">
            <a:avLst/>
          </a:prstGeom>
          <a:noFill/>
          <a:ln/>
        </p:spPr>
        <p:txBody>
          <a:bodyPr wrap="square" lIns="0" tIns="0" rIns="0" bIns="0" rtlCol="0" anchor="t"/>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The DAO era un fondo de inversión colectivo gobernado por contrato. Recaudó una de las mayores sumas de su tiempo (del orden de 150 millones de dólares). Tenía exactamente este error.</a:t>
            </a:r>
            <a:endParaRPr lang="en-US" sz="1450" dirty="0"/>
          </a:p>
        </p:txBody>
      </p:sp>
      <p:sp>
        <p:nvSpPr>
          <p:cNvPr id="9" name="Shape 6"/>
          <p:cNvSpPr/>
          <p:nvPr/>
        </p:nvSpPr>
        <p:spPr>
          <a:xfrm>
            <a:off x="566928" y="2743200"/>
            <a:ext cx="3566160" cy="1554480"/>
          </a:xfrm>
          <a:prstGeom prst="rect">
            <a:avLst/>
          </a:prstGeom>
          <a:solidFill>
            <a:srgbClr val="FFFFFF"/>
          </a:solidFill>
          <a:ln w="22225">
            <a:solidFill>
              <a:srgbClr val="0F0F11"/>
            </a:solidFill>
            <a:prstDash val="solid"/>
          </a:ln>
          <a:effectLst>
            <a:outerShdw sx="100000" sy="100000" kx="0" ky="0" algn="bl" rotWithShape="0" blurRad="101600" dist="63500" dir="2700000">
              <a:srgbClr val="0F0F11">
                <a:alpha val="100000"/>
              </a:srgbClr>
            </a:outerShdw>
          </a:effectLst>
        </p:spPr>
      </p:sp>
      <p:sp>
        <p:nvSpPr>
          <p:cNvPr id="10" name="Text 7"/>
          <p:cNvSpPr/>
          <p:nvPr/>
        </p:nvSpPr>
        <p:spPr>
          <a:xfrm>
            <a:off x="749808" y="2907792"/>
            <a:ext cx="3200400" cy="715061"/>
          </a:xfrm>
          <a:prstGeom prst="rect">
            <a:avLst/>
          </a:prstGeom>
          <a:noFill/>
          <a:ln/>
        </p:spPr>
        <p:txBody>
          <a:bodyPr wrap="square" lIns="0" tIns="0" rIns="0" bIns="0" rtlCol="0" anchor="ctr"/>
          <a:lstStyle/>
          <a:p>
            <a:pPr indent="0" marL="0">
              <a:buNone/>
            </a:pPr>
            <a:r>
              <a:rPr lang="en-US" sz="2600" dirty="0">
                <a:solidFill>
                  <a:srgbClr val="B3261E"/>
                </a:solidFill>
                <a:latin typeface="Arial Black" pitchFamily="34" charset="0"/>
                <a:ea typeface="Arial Black" pitchFamily="34" charset="-122"/>
                <a:cs typeface="Arial Black" pitchFamily="34" charset="-120"/>
              </a:rPr>
              <a:t>~3,6 M ETH</a:t>
            </a:r>
            <a:endParaRPr lang="en-US" sz="2600" dirty="0"/>
          </a:p>
        </p:txBody>
      </p:sp>
      <p:sp>
        <p:nvSpPr>
          <p:cNvPr id="11" name="Text 8"/>
          <p:cNvSpPr/>
          <p:nvPr/>
        </p:nvSpPr>
        <p:spPr>
          <a:xfrm>
            <a:off x="749808" y="3644798"/>
            <a:ext cx="3200400" cy="590702"/>
          </a:xfrm>
          <a:prstGeom prst="rect">
            <a:avLst/>
          </a:prstGeom>
          <a:noFill/>
          <a:ln/>
        </p:spPr>
        <p:txBody>
          <a:bodyPr wrap="square" lIns="0" tIns="0" rIns="0" bIns="0" rtlCol="0" anchor="t"/>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drenados por reentrancy en unas horas</a:t>
            </a:r>
            <a:endParaRPr lang="en-US" sz="1200" dirty="0"/>
          </a:p>
        </p:txBody>
      </p:sp>
      <p:sp>
        <p:nvSpPr>
          <p:cNvPr id="12" name="Shape 9"/>
          <p:cNvSpPr/>
          <p:nvPr/>
        </p:nvSpPr>
        <p:spPr>
          <a:xfrm>
            <a:off x="4315968" y="2743200"/>
            <a:ext cx="3566160" cy="1554480"/>
          </a:xfrm>
          <a:prstGeom prst="rect">
            <a:avLst/>
          </a:prstGeom>
          <a:solidFill>
            <a:srgbClr val="FFFFFF"/>
          </a:solidFill>
          <a:ln w="22225">
            <a:solidFill>
              <a:srgbClr val="0F0F11"/>
            </a:solidFill>
            <a:prstDash val="solid"/>
          </a:ln>
          <a:effectLst>
            <a:outerShdw sx="100000" sy="100000" kx="0" ky="0" algn="bl" rotWithShape="0" blurRad="101600" dist="63500" dir="2700000">
              <a:srgbClr val="0F0F11">
                <a:alpha val="100000"/>
              </a:srgbClr>
            </a:outerShdw>
          </a:effectLst>
        </p:spPr>
      </p:sp>
      <p:sp>
        <p:nvSpPr>
          <p:cNvPr id="13" name="Text 10"/>
          <p:cNvSpPr/>
          <p:nvPr/>
        </p:nvSpPr>
        <p:spPr>
          <a:xfrm>
            <a:off x="4498848" y="2907792"/>
            <a:ext cx="3200400" cy="715061"/>
          </a:xfrm>
          <a:prstGeom prst="rect">
            <a:avLst/>
          </a:prstGeom>
          <a:noFill/>
          <a:ln/>
        </p:spPr>
        <p:txBody>
          <a:bodyPr wrap="square" lIns="0" tIns="0" rIns="0" bIns="0" rtlCol="0" anchor="ctr"/>
          <a:lstStyle/>
          <a:p>
            <a:pPr indent="0" marL="0">
              <a:buNone/>
            </a:pPr>
            <a:r>
              <a:rPr lang="en-US" sz="3000" dirty="0">
                <a:solidFill>
                  <a:srgbClr val="7152E9"/>
                </a:solidFill>
                <a:latin typeface="Arial Black" pitchFamily="34" charset="0"/>
                <a:ea typeface="Arial Black" pitchFamily="34" charset="-122"/>
                <a:cs typeface="Arial Black" pitchFamily="34" charset="-120"/>
              </a:rPr>
              <a:t>≈ 5 %</a:t>
            </a:r>
            <a:endParaRPr lang="en-US" sz="3000" dirty="0"/>
          </a:p>
        </p:txBody>
      </p:sp>
      <p:sp>
        <p:nvSpPr>
          <p:cNvPr id="14" name="Text 11"/>
          <p:cNvSpPr/>
          <p:nvPr/>
        </p:nvSpPr>
        <p:spPr>
          <a:xfrm>
            <a:off x="4498848" y="3644798"/>
            <a:ext cx="3200400" cy="590702"/>
          </a:xfrm>
          <a:prstGeom prst="rect">
            <a:avLst/>
          </a:prstGeom>
          <a:noFill/>
          <a:ln/>
        </p:spPr>
        <p:txBody>
          <a:bodyPr wrap="square" lIns="0" tIns="0" rIns="0" bIns="0" rtlCol="0" anchor="t"/>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de todo el ETH que existía entonces</a:t>
            </a:r>
            <a:endParaRPr lang="en-US" sz="1200" dirty="0"/>
          </a:p>
        </p:txBody>
      </p:sp>
      <p:sp>
        <p:nvSpPr>
          <p:cNvPr id="15" name="Shape 12"/>
          <p:cNvSpPr/>
          <p:nvPr/>
        </p:nvSpPr>
        <p:spPr>
          <a:xfrm>
            <a:off x="8065008" y="2743200"/>
            <a:ext cx="3559759" cy="1554480"/>
          </a:xfrm>
          <a:prstGeom prst="rect">
            <a:avLst/>
          </a:prstGeom>
          <a:solidFill>
            <a:srgbClr val="FFFFFF"/>
          </a:solidFill>
          <a:ln w="22225">
            <a:solidFill>
              <a:srgbClr val="0F0F11"/>
            </a:solidFill>
            <a:prstDash val="solid"/>
          </a:ln>
          <a:effectLst>
            <a:outerShdw sx="100000" sy="100000" kx="0" ky="0" algn="bl" rotWithShape="0" blurRad="101600" dist="63500" dir="2700000">
              <a:srgbClr val="0F0F11">
                <a:alpha val="100000"/>
              </a:srgbClr>
            </a:outerShdw>
          </a:effectLst>
        </p:spPr>
      </p:sp>
      <p:sp>
        <p:nvSpPr>
          <p:cNvPr id="16" name="Text 13"/>
          <p:cNvSpPr/>
          <p:nvPr/>
        </p:nvSpPr>
        <p:spPr>
          <a:xfrm>
            <a:off x="8247888" y="2907792"/>
            <a:ext cx="3193999" cy="715061"/>
          </a:xfrm>
          <a:prstGeom prst="rect">
            <a:avLst/>
          </a:prstGeom>
          <a:noFill/>
          <a:ln/>
        </p:spPr>
        <p:txBody>
          <a:bodyPr wrap="square" lIns="0" tIns="0" rIns="0" bIns="0" rtlCol="0" anchor="ctr"/>
          <a:lstStyle/>
          <a:p>
            <a:pPr indent="0" marL="0">
              <a:buNone/>
            </a:pPr>
            <a:r>
              <a:rPr lang="en-US" sz="2600" dirty="0">
                <a:solidFill>
                  <a:srgbClr val="F07F06"/>
                </a:solidFill>
                <a:latin typeface="Arial Black" pitchFamily="34" charset="0"/>
                <a:ea typeface="Arial Black" pitchFamily="34" charset="-122"/>
                <a:cs typeface="Arial Black" pitchFamily="34" charset="-120"/>
              </a:rPr>
              <a:t>1 línea</a:t>
            </a:r>
            <a:endParaRPr lang="en-US" sz="2600" dirty="0"/>
          </a:p>
        </p:txBody>
      </p:sp>
      <p:sp>
        <p:nvSpPr>
          <p:cNvPr id="17" name="Text 14"/>
          <p:cNvSpPr/>
          <p:nvPr/>
        </p:nvSpPr>
        <p:spPr>
          <a:xfrm>
            <a:off x="8247888" y="3644798"/>
            <a:ext cx="3193999" cy="590702"/>
          </a:xfrm>
          <a:prstGeom prst="rect">
            <a:avLst/>
          </a:prstGeom>
          <a:noFill/>
          <a:ln/>
        </p:spPr>
        <p:txBody>
          <a:bodyPr wrap="square" lIns="0" tIns="0" rIns="0" bIns="0" rtlCol="0" anchor="t"/>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el orden invertido de dos instrucciones</a:t>
            </a:r>
            <a:endParaRPr lang="en-US" sz="1200" dirty="0"/>
          </a:p>
        </p:txBody>
      </p:sp>
      <p:sp>
        <p:nvSpPr>
          <p:cNvPr id="18" name="Text 15"/>
          <p:cNvSpPr/>
          <p:nvPr/>
        </p:nvSpPr>
        <p:spPr>
          <a:xfrm>
            <a:off x="566928" y="4572000"/>
            <a:ext cx="11057839" cy="1463040"/>
          </a:xfrm>
          <a:prstGeom prst="rect">
            <a:avLst/>
          </a:prstGeom>
          <a:noFill/>
          <a:ln/>
        </p:spPr>
        <p:txBody>
          <a:bodyPr wrap="square" lIns="0" tIns="0" rIns="0" bIns="0" rtlCol="0" anchor="t"/>
          <a:lstStyle/>
          <a:p>
            <a:pPr indent="0" marL="0">
              <a:lnSpc>
                <a:spcPct val="124000"/>
              </a:lnSpc>
              <a:buNone/>
            </a:pPr>
            <a:r>
              <a:rPr lang="en-US" sz="1350" dirty="0">
                <a:solidFill>
                  <a:srgbClr val="3A3844"/>
                </a:solidFill>
                <a:latin typeface="Arial" pitchFamily="34" charset="0"/>
                <a:ea typeface="Arial" pitchFamily="34" charset="-122"/>
                <a:cs typeface="Arial" pitchFamily="34" charset="-120"/>
              </a:rPr>
              <a:t>La respuesta partió a Ethereum en dos: la mayoría hizo una bifurcación dura para revertir el robo (la cadena que hoy llamamos Ethereum); una minoría se negó por principio y siguió en la cadena original (Ethereum Classic). Es el ejemplo de la Sesión 4 sobre que la inmutabilidad también es una convención social.</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A.7 · LA DEFENSA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DOS CINTURONES PARA EL MISMO RIESGO</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09 · SEGURIDAD DE CONTRATOS INTELIGENTES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12</a:t>
            </a:r>
            <a:endParaRPr lang="en-US" sz="900" dirty="0"/>
          </a:p>
        </p:txBody>
      </p:sp>
      <p:sp>
        <p:nvSpPr>
          <p:cNvPr id="8" name="Shape 5"/>
          <p:cNvSpPr/>
          <p:nvPr/>
        </p:nvSpPr>
        <p:spPr>
          <a:xfrm>
            <a:off x="566928" y="1737360"/>
            <a:ext cx="5391760" cy="251460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sp>
        <p:nvSpPr>
          <p:cNvPr id="9" name="Text 6"/>
          <p:cNvSpPr/>
          <p:nvPr/>
        </p:nvSpPr>
        <p:spPr>
          <a:xfrm>
            <a:off x="841248" y="1920240"/>
            <a:ext cx="4843120" cy="292608"/>
          </a:xfrm>
          <a:prstGeom prst="rect">
            <a:avLst/>
          </a:prstGeom>
          <a:noFill/>
          <a:ln/>
        </p:spPr>
        <p:txBody>
          <a:bodyPr wrap="square" lIns="0" tIns="0" rIns="0" bIns="0" rtlCol="0" anchor="ctr"/>
          <a:lstStyle/>
          <a:p>
            <a:pPr indent="0" marL="0">
              <a:buNone/>
            </a:pPr>
            <a:r>
              <a:rPr lang="en-US" sz="1050" b="1" spc="130" kern="0" dirty="0">
                <a:solidFill>
                  <a:srgbClr val="A35604"/>
                </a:solidFill>
                <a:latin typeface="Courier New" pitchFamily="34" charset="0"/>
                <a:ea typeface="Courier New" pitchFamily="34" charset="-122"/>
                <a:cs typeface="Courier New" pitchFamily="34" charset="-120"/>
              </a:rPr>
              <a:t>1 · CHECKS-EFFECTS-INTERACTIONS</a:t>
            </a:r>
            <a:endParaRPr lang="en-US" sz="1050" dirty="0"/>
          </a:p>
        </p:txBody>
      </p:sp>
      <p:sp>
        <p:nvSpPr>
          <p:cNvPr id="10" name="Text 7"/>
          <p:cNvSpPr/>
          <p:nvPr/>
        </p:nvSpPr>
        <p:spPr>
          <a:xfrm>
            <a:off x="841248" y="2304288"/>
            <a:ext cx="4843120" cy="178308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saldos[msg.sender] = 0;   // primero</a:t>
            </a:r>
            <a:endParaRPr lang="en-US" sz="1250" dirty="0"/>
          </a:p>
          <a:p>
            <a:pPr indent="0" marL="0">
              <a:lnSpc>
                <a:spcPct val="124000"/>
              </a:lnSpc>
              <a:buNone/>
            </a:pPr>
            <a:r>
              <a:rPr lang="en-US" sz="1250" dirty="0">
                <a:solidFill>
                  <a:srgbClr val="3A3844"/>
                </a:solidFill>
                <a:latin typeface="Arial" pitchFamily="34" charset="0"/>
                <a:ea typeface="Arial" pitchFamily="34" charset="-122"/>
                <a:cs typeface="Arial" pitchFamily="34" charset="-120"/>
              </a:rPr>
              <a:t>(bool ok, ) = ...call{value: monto}("");</a:t>
            </a:r>
            <a:endParaRPr lang="en-US" sz="1250" dirty="0"/>
          </a:p>
          <a:p>
            <a:pPr indent="0" marL="0">
              <a:lnSpc>
                <a:spcPct val="124000"/>
              </a:lnSpc>
              <a:buNone/>
            </a:pPr>
            <a:endParaRPr lang="en-US" sz="1250" dirty="0"/>
          </a:p>
          <a:p>
            <a:pPr indent="0" marL="0">
              <a:lnSpc>
                <a:spcPct val="124000"/>
              </a:lnSpc>
              <a:buNone/>
            </a:pPr>
            <a:r>
              <a:rPr lang="en-US" sz="1250" dirty="0">
                <a:solidFill>
                  <a:srgbClr val="3A3844"/>
                </a:solidFill>
                <a:latin typeface="Arial" pitchFamily="34" charset="0"/>
                <a:ea typeface="Arial" pitchFamily="34" charset="-122"/>
                <a:cs typeface="Arial" pitchFamily="34" charset="-120"/>
              </a:rPr>
              <a:t>Cuando el atacante recibe el control, su saldo ya es cero. Reentrar no sirve: no hay nada que cobrar.</a:t>
            </a:r>
            <a:endParaRPr lang="en-US" sz="1250" dirty="0"/>
          </a:p>
        </p:txBody>
      </p:sp>
      <p:sp>
        <p:nvSpPr>
          <p:cNvPr id="11" name="Shape 8"/>
          <p:cNvSpPr/>
          <p:nvPr/>
        </p:nvSpPr>
        <p:spPr>
          <a:xfrm>
            <a:off x="6233008" y="1737360"/>
            <a:ext cx="5391760" cy="251460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12" name="Text 9"/>
          <p:cNvSpPr/>
          <p:nvPr/>
        </p:nvSpPr>
        <p:spPr>
          <a:xfrm>
            <a:off x="6507328" y="1920240"/>
            <a:ext cx="4843120" cy="292608"/>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2 · REENTRANCYGUARD</a:t>
            </a:r>
            <a:endParaRPr lang="en-US" sz="1050" dirty="0"/>
          </a:p>
        </p:txBody>
      </p:sp>
      <p:sp>
        <p:nvSpPr>
          <p:cNvPr id="13" name="Text 10"/>
          <p:cNvSpPr/>
          <p:nvPr/>
        </p:nvSpPr>
        <p:spPr>
          <a:xfrm>
            <a:off x="6507328" y="2304288"/>
            <a:ext cx="4843120" cy="178308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function retirar() external nonReentrant { ... }</a:t>
            </a:r>
            <a:endParaRPr lang="en-US" sz="1250" dirty="0"/>
          </a:p>
          <a:p>
            <a:pPr indent="0" marL="0">
              <a:lnSpc>
                <a:spcPct val="124000"/>
              </a:lnSpc>
              <a:buNone/>
            </a:pPr>
            <a:endParaRPr lang="en-US" sz="1250" dirty="0"/>
          </a:p>
          <a:p>
            <a:pPr indent="0" marL="0">
              <a:lnSpc>
                <a:spcPct val="124000"/>
              </a:lnSpc>
              <a:buNone/>
            </a:pPr>
            <a:r>
              <a:rPr lang="en-US" sz="1250" dirty="0">
                <a:solidFill>
                  <a:srgbClr val="3A3844"/>
                </a:solidFill>
                <a:latin typeface="Arial" pitchFamily="34" charset="0"/>
                <a:ea typeface="Arial" pitchFamily="34" charset="-122"/>
                <a:cs typeface="Arial" pitchFamily="34" charset="-120"/>
              </a:rPr>
              <a:t>Un cerrojo que se cierra al entrar y se abre al salir. La segunda entrada revierte, aunque alguien olvide el orden.</a:t>
            </a:r>
            <a:endParaRPr lang="en-US" sz="1250" dirty="0"/>
          </a:p>
        </p:txBody>
      </p:sp>
      <p:sp>
        <p:nvSpPr>
          <p:cNvPr id="14" name="Shape 11"/>
          <p:cNvSpPr/>
          <p:nvPr/>
        </p:nvSpPr>
        <p:spPr>
          <a:xfrm>
            <a:off x="566928" y="4434840"/>
            <a:ext cx="11057839" cy="169164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pic>
        <p:nvPicPr>
          <p:cNvPr id="15" name="Image 1" descr="preencoded.png">    </p:cNvPr>
          <p:cNvPicPr>
            <a:picLocks noChangeAspect="1"/>
          </p:cNvPicPr>
          <p:nvPr/>
        </p:nvPicPr>
        <p:blipFill>
          <a:blip r:embed="rId2"/>
          <a:stretch>
            <a:fillRect/>
          </a:stretch>
        </p:blipFill>
        <p:spPr>
          <a:xfrm>
            <a:off x="804672" y="4654296"/>
            <a:ext cx="237744" cy="237744"/>
          </a:xfrm>
          <a:prstGeom prst="rect">
            <a:avLst/>
          </a:prstGeom>
        </p:spPr>
      </p:pic>
      <p:sp>
        <p:nvSpPr>
          <p:cNvPr id="16" name="Text 12"/>
          <p:cNvSpPr/>
          <p:nvPr/>
        </p:nvSpPr>
        <p:spPr>
          <a:xfrm>
            <a:off x="1133856" y="4626864"/>
            <a:ext cx="10234879" cy="292608"/>
          </a:xfrm>
          <a:prstGeom prst="rect">
            <a:avLst/>
          </a:prstGeom>
          <a:noFill/>
          <a:ln/>
        </p:spPr>
        <p:txBody>
          <a:bodyPr wrap="square" lIns="0" tIns="0" rIns="0" bIns="0" rtlCol="0" anchor="ctr"/>
          <a:lstStyle/>
          <a:p>
            <a:pPr indent="0" marL="0">
              <a:buNone/>
            </a:pPr>
            <a:r>
              <a:rPr lang="en-US" sz="950" b="1" spc="150" kern="0" dirty="0">
                <a:solidFill>
                  <a:srgbClr val="5638C9"/>
                </a:solidFill>
                <a:latin typeface="Courier New" pitchFamily="34" charset="0"/>
                <a:ea typeface="Courier New" pitchFamily="34" charset="-122"/>
                <a:cs typeface="Courier New" pitchFamily="34" charset="-120"/>
              </a:rPr>
              <a:t>POR QUÉ AMBAS, SI UNA BASTA</a:t>
            </a:r>
            <a:endParaRPr lang="en-US" sz="950" dirty="0"/>
          </a:p>
        </p:txBody>
      </p:sp>
      <p:sp>
        <p:nvSpPr>
          <p:cNvPr id="17" name="Text 13"/>
          <p:cNvSpPr/>
          <p:nvPr/>
        </p:nvSpPr>
        <p:spPr>
          <a:xfrm>
            <a:off x="804672" y="4946904"/>
            <a:ext cx="10582351" cy="1088136"/>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CEI es la corrección de fondo y no cuesta gas extra. El guard es defensa en profundidad: protege del error humano futuro, cuando alguien modifique la función dentro de seis meses y rompa el orden sin darse cuenta. En seguridad no se apuesta todo a una sola barrera.</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A.7B · VERIFICACIÓN · REENTRANCY</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000" dirty="0">
                <a:solidFill>
                  <a:srgbClr val="0F0F11"/>
                </a:solidFill>
                <a:latin typeface="Arial Black" pitchFamily="34" charset="0"/>
                <a:ea typeface="Arial Black" pitchFamily="34" charset="-122"/>
                <a:cs typeface="Arial Black" pitchFamily="34" charset="-120"/>
              </a:rPr>
              <a:t>¿ENTENDIERON EL PATRÓN?</a:t>
            </a:r>
            <a:endParaRPr lang="en-US" sz="30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09 · SEGURIDAD DE CONTRATOS INTELIGENTES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13</a:t>
            </a:r>
            <a:endParaRPr lang="en-US" sz="900" dirty="0"/>
          </a:p>
        </p:txBody>
      </p:sp>
      <p:sp>
        <p:nvSpPr>
          <p:cNvPr id="8" name="Shape 5"/>
          <p:cNvSpPr/>
          <p:nvPr/>
        </p:nvSpPr>
        <p:spPr>
          <a:xfrm>
            <a:off x="566928" y="1783080"/>
            <a:ext cx="11057839" cy="1691640"/>
          </a:xfrm>
          <a:prstGeom prst="rect">
            <a:avLst/>
          </a:prstGeom>
          <a:solidFill>
            <a:srgbClr val="FFFFFF"/>
          </a:solidFill>
          <a:ln w="34925">
            <a:solidFill>
              <a:srgbClr val="F07F06"/>
            </a:solidFill>
            <a:prstDash val="solid"/>
          </a:ln>
          <a:effectLst>
            <a:outerShdw sx="100000" sy="100000" kx="0" ky="0" algn="bl" rotWithShape="0" blurRad="101600" dist="63500" dir="2700000">
              <a:srgbClr val="F07F06">
                <a:alpha val="100000"/>
              </a:srgbClr>
            </a:outerShdw>
          </a:effectLst>
        </p:spPr>
      </p:sp>
      <p:sp>
        <p:nvSpPr>
          <p:cNvPr id="9" name="Text 6"/>
          <p:cNvSpPr/>
          <p:nvPr/>
        </p:nvSpPr>
        <p:spPr>
          <a:xfrm>
            <a:off x="950976" y="1965960"/>
            <a:ext cx="10289743" cy="1325880"/>
          </a:xfrm>
          <a:prstGeom prst="rect">
            <a:avLst/>
          </a:prstGeom>
          <a:noFill/>
          <a:ln/>
        </p:spPr>
        <p:txBody>
          <a:bodyPr wrap="square" lIns="0" tIns="0" rIns="0" bIns="0" rtlCol="0" anchor="ctr"/>
          <a:lstStyle/>
          <a:p>
            <a:pPr indent="0" marL="0">
              <a:lnSpc>
                <a:spcPct val="106000"/>
              </a:lnSpc>
              <a:buNone/>
            </a:pPr>
            <a:r>
              <a:rPr lang="en-US" sz="1900" dirty="0">
                <a:solidFill>
                  <a:srgbClr val="0F0F11"/>
                </a:solidFill>
                <a:latin typeface="Arial Black" pitchFamily="34" charset="0"/>
                <a:ea typeface="Arial Black" pitchFamily="34" charset="-122"/>
                <a:cs typeface="Arial Black" pitchFamily="34" charset="-120"/>
              </a:rPr>
              <a:t>Un compañero dice: «lo arreglo poniendo require(msg.sender == tx.origin) para que solo entren personas, no contratos». ¿Resuelve la reentrancy?</a:t>
            </a:r>
            <a:endParaRPr lang="en-US" sz="1900" dirty="0"/>
          </a:p>
        </p:txBody>
      </p:sp>
      <p:sp>
        <p:nvSpPr>
          <p:cNvPr id="10" name="Shape 7"/>
          <p:cNvSpPr/>
          <p:nvPr/>
        </p:nvSpPr>
        <p:spPr>
          <a:xfrm>
            <a:off x="566928" y="3657600"/>
            <a:ext cx="5391760" cy="1737360"/>
          </a:xfrm>
          <a:prstGeom prst="rect">
            <a:avLst/>
          </a:prstGeom>
          <a:solidFill>
            <a:srgbClr val="FFFFFF"/>
          </a:solidFill>
          <a:ln w="22225">
            <a:solidFill>
              <a:srgbClr val="B3261E"/>
            </a:solidFill>
            <a:prstDash val="solid"/>
          </a:ln>
          <a:effectLst>
            <a:outerShdw sx="100000" sy="100000" kx="0" ky="0" algn="bl" rotWithShape="0" blurRad="101600" dist="63500" dir="2700000">
              <a:srgbClr val="B3261E">
                <a:alpha val="100000"/>
              </a:srgbClr>
            </a:outerShdw>
          </a:effectLst>
        </p:spPr>
      </p:sp>
      <p:sp>
        <p:nvSpPr>
          <p:cNvPr id="11" name="Text 8"/>
          <p:cNvSpPr/>
          <p:nvPr/>
        </p:nvSpPr>
        <p:spPr>
          <a:xfrm>
            <a:off x="841248" y="3840480"/>
            <a:ext cx="4843120" cy="292608"/>
          </a:xfrm>
          <a:prstGeom prst="rect">
            <a:avLst/>
          </a:prstGeom>
          <a:noFill/>
          <a:ln/>
        </p:spPr>
        <p:txBody>
          <a:bodyPr wrap="square" lIns="0" tIns="0" rIns="0" bIns="0" rtlCol="0" anchor="ctr"/>
          <a:lstStyle/>
          <a:p>
            <a:pPr indent="0" marL="0">
              <a:buNone/>
            </a:pPr>
            <a:r>
              <a:rPr lang="en-US" sz="1050" b="1" spc="130" kern="0" dirty="0">
                <a:solidFill>
                  <a:srgbClr val="B3261E"/>
                </a:solidFill>
                <a:latin typeface="Courier New" pitchFamily="34" charset="0"/>
                <a:ea typeface="Courier New" pitchFamily="34" charset="-122"/>
                <a:cs typeface="Courier New" pitchFamily="34" charset="-120"/>
              </a:rPr>
              <a:t>LA RESPUESTA CORTA</a:t>
            </a:r>
            <a:endParaRPr lang="en-US" sz="1050" dirty="0"/>
          </a:p>
        </p:txBody>
      </p:sp>
      <p:sp>
        <p:nvSpPr>
          <p:cNvPr id="12" name="Text 9"/>
          <p:cNvSpPr/>
          <p:nvPr/>
        </p:nvSpPr>
        <p:spPr>
          <a:xfrm>
            <a:off x="841248" y="4224528"/>
            <a:ext cx="4843120" cy="100584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No. Y además introduce OTRO problema: rompe la compatibilidad con billeteras-contrato (multisig, smart accounts) y usa tx.origin, que es justo lo que veremos que nunca se debe usar para lógica.</a:t>
            </a:r>
            <a:endParaRPr lang="en-US" sz="1250" dirty="0"/>
          </a:p>
        </p:txBody>
      </p:sp>
      <p:sp>
        <p:nvSpPr>
          <p:cNvPr id="13" name="Shape 10"/>
          <p:cNvSpPr/>
          <p:nvPr/>
        </p:nvSpPr>
        <p:spPr>
          <a:xfrm>
            <a:off x="6233008" y="3657600"/>
            <a:ext cx="5391760" cy="173736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14" name="Text 11"/>
          <p:cNvSpPr/>
          <p:nvPr/>
        </p:nvSpPr>
        <p:spPr>
          <a:xfrm>
            <a:off x="6507328" y="3840480"/>
            <a:ext cx="4843120" cy="292608"/>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LO QUE SÍ RESUELVE</a:t>
            </a:r>
            <a:endParaRPr lang="en-US" sz="1050" dirty="0"/>
          </a:p>
        </p:txBody>
      </p:sp>
      <p:sp>
        <p:nvSpPr>
          <p:cNvPr id="15" name="Text 12"/>
          <p:cNvSpPr/>
          <p:nvPr/>
        </p:nvSpPr>
        <p:spPr>
          <a:xfrm>
            <a:off x="6507328" y="4224528"/>
            <a:ext cx="4843120" cy="100584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Poner el efecto antes de la interacción (CEI). El guard es el refuerzo. La reentrancy es un problema de ORDEN, no de quién llama.</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A.8 · CONTROL DE ACCESO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600" dirty="0">
                <a:solidFill>
                  <a:srgbClr val="0F0F11"/>
                </a:solidFill>
                <a:latin typeface="Arial Black" pitchFamily="34" charset="0"/>
                <a:ea typeface="Arial Black" pitchFamily="34" charset="-122"/>
                <a:cs typeface="Arial Black" pitchFamily="34" charset="-120"/>
              </a:rPr>
              <a:t>EL PERMISO QUE MIRA A LA CUENTA EQUIVOCADA</a:t>
            </a:r>
            <a:endParaRPr lang="en-US" sz="26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09 · SEGURIDAD DE CONTRATOS INTELIGENTES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14</a:t>
            </a:r>
            <a:endParaRPr lang="en-US" sz="900" dirty="0"/>
          </a:p>
        </p:txBody>
      </p:sp>
      <p:sp>
        <p:nvSpPr>
          <p:cNvPr id="8" name="Shape 5"/>
          <p:cNvSpPr/>
          <p:nvPr/>
        </p:nvSpPr>
        <p:spPr>
          <a:xfrm>
            <a:off x="566928" y="1737360"/>
            <a:ext cx="11057839" cy="1097280"/>
          </a:xfrm>
          <a:prstGeom prst="rect">
            <a:avLst/>
          </a:prstGeom>
          <a:solidFill>
            <a:srgbClr val="16151B"/>
          </a:solidFill>
          <a:ln w="22225">
            <a:solidFill>
              <a:srgbClr val="16151B"/>
            </a:solidFill>
            <a:prstDash val="solid"/>
          </a:ln>
        </p:spPr>
      </p:sp>
      <p:sp>
        <p:nvSpPr>
          <p:cNvPr id="9" name="Text 6"/>
          <p:cNvSpPr/>
          <p:nvPr/>
        </p:nvSpPr>
        <p:spPr>
          <a:xfrm>
            <a:off x="768096" y="1883664"/>
            <a:ext cx="10655503" cy="841248"/>
          </a:xfrm>
          <a:prstGeom prst="rect">
            <a:avLst/>
          </a:prstGeom>
          <a:noFill/>
          <a:ln/>
        </p:spPr>
        <p:txBody>
          <a:bodyPr wrap="square" lIns="0" tIns="0" rIns="0" bIns="0" rtlCol="0" anchor="t"/>
          <a:lstStyle/>
          <a:p>
            <a:pPr indent="0" marL="0">
              <a:lnSpc>
                <a:spcPct val="112000"/>
              </a:lnSpc>
              <a:buNone/>
            </a:pPr>
            <a:r>
              <a:rPr lang="en-US" sz="1250" dirty="0">
                <a:solidFill>
                  <a:srgbClr val="F07F06"/>
                </a:solidFill>
                <a:latin typeface="Courier New" pitchFamily="34" charset="0"/>
                <a:ea typeface="Courier New" pitchFamily="34" charset="-122"/>
                <a:cs typeface="Courier New" pitchFamily="34" charset="-120"/>
              </a:rPr>
              <a:t>require</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tx</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origin</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admin</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FA41B"/>
                </a:solidFill>
                <a:latin typeface="Courier New" pitchFamily="34" charset="0"/>
                <a:ea typeface="Courier New" pitchFamily="34" charset="-122"/>
                <a:cs typeface="Courier New" pitchFamily="34" charset="-120"/>
              </a:rPr>
              <a:t>"solo admin"</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8B8697"/>
                </a:solidFill>
                <a:latin typeface="Courier New" pitchFamily="34" charset="0"/>
                <a:ea typeface="Courier New" pitchFamily="34" charset="-122"/>
                <a:cs typeface="Courier New" pitchFamily="34" charset="-120"/>
              </a:rPr>
              <a:t>// MAL</a:t>
            </a:r>
            <a:endParaRPr lang="en-US" sz="1250" dirty="0"/>
          </a:p>
          <a:p>
            <a:pPr indent="0" marL="0">
              <a:lnSpc>
                <a:spcPct val="112000"/>
              </a:lnSpc>
              <a:buNone/>
            </a:pPr>
            <a:r>
              <a:rPr lang="en-US" sz="1250" dirty="0">
                <a:solidFill>
                  <a:srgbClr val="F07F06"/>
                </a:solidFill>
                <a:latin typeface="Courier New" pitchFamily="34" charset="0"/>
                <a:ea typeface="Courier New" pitchFamily="34" charset="-122"/>
                <a:cs typeface="Courier New" pitchFamily="34" charset="-120"/>
              </a:rPr>
              <a:t>require</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sender</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admin</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FFA41B"/>
                </a:solidFill>
                <a:latin typeface="Courier New" pitchFamily="34" charset="0"/>
                <a:ea typeface="Courier New" pitchFamily="34" charset="-122"/>
                <a:cs typeface="Courier New" pitchFamily="34" charset="-120"/>
              </a:rPr>
              <a:t>"solo admin"</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50" dirty="0">
                <a:solidFill>
                  <a:srgbClr val="8B8697"/>
                </a:solidFill>
                <a:latin typeface="Courier New" pitchFamily="34" charset="0"/>
                <a:ea typeface="Courier New" pitchFamily="34" charset="-122"/>
                <a:cs typeface="Courier New" pitchFamily="34" charset="-120"/>
              </a:rPr>
              <a:t>// BIEN</a:t>
            </a:r>
            <a:endParaRPr lang="en-US" sz="1250" dirty="0"/>
          </a:p>
        </p:txBody>
      </p:sp>
      <p:sp>
        <p:nvSpPr>
          <p:cNvPr id="10" name="Shape 7"/>
          <p:cNvSpPr/>
          <p:nvPr/>
        </p:nvSpPr>
        <p:spPr>
          <a:xfrm>
            <a:off x="566928" y="3017520"/>
            <a:ext cx="5391760" cy="1965960"/>
          </a:xfrm>
          <a:prstGeom prst="rect">
            <a:avLst/>
          </a:prstGeom>
          <a:solidFill>
            <a:srgbClr val="FFFFFF"/>
          </a:solidFill>
          <a:ln w="22225">
            <a:solidFill>
              <a:srgbClr val="B3261E"/>
            </a:solidFill>
            <a:prstDash val="solid"/>
          </a:ln>
          <a:effectLst>
            <a:outerShdw sx="100000" sy="100000" kx="0" ky="0" algn="bl" rotWithShape="0" blurRad="101600" dist="63500" dir="2700000">
              <a:srgbClr val="B3261E">
                <a:alpha val="100000"/>
              </a:srgbClr>
            </a:outerShdw>
          </a:effectLst>
        </p:spPr>
      </p:sp>
      <p:sp>
        <p:nvSpPr>
          <p:cNvPr id="11" name="Text 8"/>
          <p:cNvSpPr/>
          <p:nvPr/>
        </p:nvSpPr>
        <p:spPr>
          <a:xfrm>
            <a:off x="841248" y="3200400"/>
            <a:ext cx="4843120" cy="292608"/>
          </a:xfrm>
          <a:prstGeom prst="rect">
            <a:avLst/>
          </a:prstGeom>
          <a:noFill/>
          <a:ln/>
        </p:spPr>
        <p:txBody>
          <a:bodyPr wrap="square" lIns="0" tIns="0" rIns="0" bIns="0" rtlCol="0" anchor="ctr"/>
          <a:lstStyle/>
          <a:p>
            <a:pPr indent="0" marL="0">
              <a:buNone/>
            </a:pPr>
            <a:r>
              <a:rPr lang="en-US" sz="1050" b="1" spc="130" kern="0" dirty="0">
                <a:solidFill>
                  <a:srgbClr val="B3261E"/>
                </a:solidFill>
                <a:latin typeface="Courier New" pitchFamily="34" charset="0"/>
                <a:ea typeface="Courier New" pitchFamily="34" charset="-122"/>
                <a:cs typeface="Courier New" pitchFamily="34" charset="-120"/>
              </a:rPr>
              <a:t>TX.ORIGIN</a:t>
            </a:r>
            <a:endParaRPr lang="en-US" sz="1050" dirty="0"/>
          </a:p>
        </p:txBody>
      </p:sp>
      <p:sp>
        <p:nvSpPr>
          <p:cNvPr id="12" name="Text 9"/>
          <p:cNvSpPr/>
          <p:nvPr/>
        </p:nvSpPr>
        <p:spPr>
          <a:xfrm>
            <a:off x="841248" y="3584448"/>
            <a:ext cx="4843120" cy="123444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La cuenta que FIRMÓ la transacción, al principio de toda la cadena de llamadas. Si el admin firma una transacción a un contrato malicioso, ese contrato llama al vault y tx.origin sigue siendo el admin: la comprobación pasa.</a:t>
            </a:r>
            <a:endParaRPr lang="en-US" sz="1300" dirty="0"/>
          </a:p>
        </p:txBody>
      </p:sp>
      <p:sp>
        <p:nvSpPr>
          <p:cNvPr id="13" name="Shape 10"/>
          <p:cNvSpPr/>
          <p:nvPr/>
        </p:nvSpPr>
        <p:spPr>
          <a:xfrm>
            <a:off x="6233008" y="3017520"/>
            <a:ext cx="5391760" cy="196596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14" name="Text 11"/>
          <p:cNvSpPr/>
          <p:nvPr/>
        </p:nvSpPr>
        <p:spPr>
          <a:xfrm>
            <a:off x="6507328" y="3200400"/>
            <a:ext cx="4843120" cy="292608"/>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MSG.SENDER</a:t>
            </a:r>
            <a:endParaRPr lang="en-US" sz="1050" dirty="0"/>
          </a:p>
        </p:txBody>
      </p:sp>
      <p:sp>
        <p:nvSpPr>
          <p:cNvPr id="15" name="Text 12"/>
          <p:cNvSpPr/>
          <p:nvPr/>
        </p:nvSpPr>
        <p:spPr>
          <a:xfrm>
            <a:off x="6507328" y="3584448"/>
            <a:ext cx="4843120" cy="1234440"/>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Quien llama DIRECTAMENTE a esta función. Si el contrato malicioso llama al vault, msg.sender es el contrato malicioso, no el admin: la comprobación falla, como debe ser.</a:t>
            </a:r>
            <a:endParaRPr lang="en-US" sz="1300" dirty="0"/>
          </a:p>
        </p:txBody>
      </p:sp>
      <p:sp>
        <p:nvSpPr>
          <p:cNvPr id="16" name="Shape 13"/>
          <p:cNvSpPr/>
          <p:nvPr/>
        </p:nvSpPr>
        <p:spPr>
          <a:xfrm>
            <a:off x="566928" y="5120640"/>
            <a:ext cx="11057839" cy="1097280"/>
          </a:xfrm>
          <a:prstGeom prst="rect">
            <a:avLst/>
          </a:prstGeom>
          <a:solidFill>
            <a:srgbClr val="FFFFFF"/>
          </a:solidFill>
          <a:ln w="22225">
            <a:solidFill>
              <a:srgbClr val="B3261E"/>
            </a:solidFill>
            <a:prstDash val="solid"/>
          </a:ln>
          <a:effectLst>
            <a:outerShdw sx="100000" sy="100000" kx="0" ky="0" algn="bl" rotWithShape="0" blurRad="101600" dist="63500" dir="2700000">
              <a:srgbClr val="B3261E">
                <a:alpha val="100000"/>
              </a:srgbClr>
            </a:outerShdw>
          </a:effectLst>
        </p:spPr>
      </p:sp>
      <p:pic>
        <p:nvPicPr>
          <p:cNvPr id="17" name="Image 1" descr="preencoded.png">    </p:cNvPr>
          <p:cNvPicPr>
            <a:picLocks noChangeAspect="1"/>
          </p:cNvPicPr>
          <p:nvPr/>
        </p:nvPicPr>
        <p:blipFill>
          <a:blip r:embed="rId2"/>
          <a:stretch>
            <a:fillRect/>
          </a:stretch>
        </p:blipFill>
        <p:spPr>
          <a:xfrm>
            <a:off x="804672" y="5340096"/>
            <a:ext cx="237744" cy="237744"/>
          </a:xfrm>
          <a:prstGeom prst="rect">
            <a:avLst/>
          </a:prstGeom>
        </p:spPr>
      </p:pic>
      <p:sp>
        <p:nvSpPr>
          <p:cNvPr id="18" name="Text 14"/>
          <p:cNvSpPr/>
          <p:nvPr/>
        </p:nvSpPr>
        <p:spPr>
          <a:xfrm>
            <a:off x="1133856" y="5312664"/>
            <a:ext cx="10234879" cy="292608"/>
          </a:xfrm>
          <a:prstGeom prst="rect">
            <a:avLst/>
          </a:prstGeom>
          <a:noFill/>
          <a:ln/>
        </p:spPr>
        <p:txBody>
          <a:bodyPr wrap="square" lIns="0" tIns="0" rIns="0" bIns="0" rtlCol="0" anchor="ctr"/>
          <a:lstStyle/>
          <a:p>
            <a:pPr indent="0" marL="0">
              <a:buNone/>
            </a:pPr>
            <a:r>
              <a:rPr lang="en-US" sz="950" b="1" spc="150" kern="0" dirty="0">
                <a:solidFill>
                  <a:srgbClr val="B3261E"/>
                </a:solidFill>
                <a:latin typeface="Courier New" pitchFamily="34" charset="0"/>
                <a:ea typeface="Courier New" pitchFamily="34" charset="-122"/>
                <a:cs typeface="Courier New" pitchFamily="34" charset="-120"/>
              </a:rPr>
              <a:t>REGLA SIN EXCEPCIONES</a:t>
            </a:r>
            <a:endParaRPr lang="en-US" sz="950" dirty="0"/>
          </a:p>
        </p:txBody>
      </p:sp>
      <p:sp>
        <p:nvSpPr>
          <p:cNvPr id="19" name="Text 15"/>
          <p:cNvSpPr/>
          <p:nvPr/>
        </p:nvSpPr>
        <p:spPr>
          <a:xfrm>
            <a:off x="804672" y="5632704"/>
            <a:ext cx="10582351" cy="493776"/>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tx.origin nunca se usa para autorizar. Ante la duda, msg.sender — o mejor, Ownable / AccessControl de OpenZeppelin.</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A.9 · DELEGATECALL NO PROTEGIDO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600" dirty="0">
                <a:solidFill>
                  <a:srgbClr val="0F0F11"/>
                </a:solidFill>
                <a:latin typeface="Arial Black" pitchFamily="34" charset="0"/>
                <a:ea typeface="Arial Black" pitchFamily="34" charset="-122"/>
                <a:cs typeface="Arial Black" pitchFamily="34" charset="-120"/>
              </a:rPr>
              <a:t>EL CÓDIGO AJENO QUE ESCRIBE EN TU CASA</a:t>
            </a:r>
            <a:endParaRPr lang="en-US" sz="26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09 · SEGURIDAD DE CONTRATOS INTELIGENTES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15</a:t>
            </a:r>
            <a:endParaRPr lang="en-US" sz="900" dirty="0"/>
          </a:p>
        </p:txBody>
      </p:sp>
      <p:sp>
        <p:nvSpPr>
          <p:cNvPr id="8" name="Text 5"/>
          <p:cNvSpPr/>
          <p:nvPr/>
        </p:nvSpPr>
        <p:spPr>
          <a:xfrm>
            <a:off x="566928" y="1691640"/>
            <a:ext cx="11057839" cy="86868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delegatecall ejecuta el código de OTRO contrato pero con TU almacenamiento y TU saldo. Es lo que hace posibles los proxies (A.20). Sin protección, es una de las llaves maestras más peligrosas de la EVM.</a:t>
            </a:r>
            <a:endParaRPr lang="en-US" sz="1400" dirty="0"/>
          </a:p>
        </p:txBody>
      </p:sp>
      <p:sp>
        <p:nvSpPr>
          <p:cNvPr id="9" name="Shape 6"/>
          <p:cNvSpPr/>
          <p:nvPr/>
        </p:nvSpPr>
        <p:spPr>
          <a:xfrm>
            <a:off x="566928" y="2560320"/>
            <a:ext cx="11057839" cy="548640"/>
          </a:xfrm>
          <a:prstGeom prst="rect">
            <a:avLst/>
          </a:prstGeom>
          <a:solidFill>
            <a:srgbClr val="FFFFFF"/>
          </a:solidFill>
          <a:ln w="15875">
            <a:solidFill>
              <a:srgbClr val="D9D6E0"/>
            </a:solidFill>
            <a:prstDash val="solid"/>
          </a:ln>
        </p:spPr>
      </p:sp>
      <p:sp>
        <p:nvSpPr>
          <p:cNvPr id="10" name="Text 7"/>
          <p:cNvSpPr/>
          <p:nvPr/>
        </p:nvSpPr>
        <p:spPr>
          <a:xfrm>
            <a:off x="694944" y="2560320"/>
            <a:ext cx="548640" cy="54864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1" name="Text 8"/>
          <p:cNvSpPr/>
          <p:nvPr/>
        </p:nvSpPr>
        <p:spPr>
          <a:xfrm>
            <a:off x="1280160" y="2688336"/>
            <a:ext cx="256032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LA BIBLIOTECA COMPARTIDA</a:t>
            </a:r>
            <a:endParaRPr lang="en-US" sz="1000" dirty="0"/>
          </a:p>
        </p:txBody>
      </p:sp>
      <p:sp>
        <p:nvSpPr>
          <p:cNvPr id="12" name="Text 9"/>
          <p:cNvSpPr/>
          <p:nvPr/>
        </p:nvSpPr>
        <p:spPr>
          <a:xfrm>
            <a:off x="4114800" y="2651760"/>
            <a:ext cx="7400239" cy="402336"/>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Cientos de multisigs delegaban su lógica en una única biblioteca de código. Esa biblioteca quedó sin inicializar.</a:t>
            </a:r>
            <a:endParaRPr lang="en-US" sz="1200" dirty="0"/>
          </a:p>
        </p:txBody>
      </p:sp>
      <p:sp>
        <p:nvSpPr>
          <p:cNvPr id="13" name="Shape 10"/>
          <p:cNvSpPr/>
          <p:nvPr/>
        </p:nvSpPr>
        <p:spPr>
          <a:xfrm>
            <a:off x="566928" y="3200400"/>
            <a:ext cx="11057839" cy="548640"/>
          </a:xfrm>
          <a:prstGeom prst="rect">
            <a:avLst/>
          </a:prstGeom>
          <a:solidFill>
            <a:srgbClr val="FAF9FB"/>
          </a:solidFill>
          <a:ln w="15875">
            <a:solidFill>
              <a:srgbClr val="D9D6E0"/>
            </a:solidFill>
            <a:prstDash val="solid"/>
          </a:ln>
        </p:spPr>
      </p:sp>
      <p:sp>
        <p:nvSpPr>
          <p:cNvPr id="14" name="Text 11"/>
          <p:cNvSpPr/>
          <p:nvPr/>
        </p:nvSpPr>
        <p:spPr>
          <a:xfrm>
            <a:off x="694944" y="3200400"/>
            <a:ext cx="548640" cy="54864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5" name="Text 12"/>
          <p:cNvSpPr/>
          <p:nvPr/>
        </p:nvSpPr>
        <p:spPr>
          <a:xfrm>
            <a:off x="1280160" y="3328416"/>
            <a:ext cx="256032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CUALQUIERA LA INICIALIZA</a:t>
            </a:r>
            <a:endParaRPr lang="en-US" sz="1000" dirty="0"/>
          </a:p>
        </p:txBody>
      </p:sp>
      <p:sp>
        <p:nvSpPr>
          <p:cNvPr id="16" name="Text 13"/>
          <p:cNvSpPr/>
          <p:nvPr/>
        </p:nvSpPr>
        <p:spPr>
          <a:xfrm>
            <a:off x="4114800" y="3291840"/>
            <a:ext cx="7400239" cy="402336"/>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Una función de inicialización sin control de acceso permitió a un desconocido declararse dueño de la biblioteca.</a:t>
            </a:r>
            <a:endParaRPr lang="en-US" sz="1200" dirty="0"/>
          </a:p>
        </p:txBody>
      </p:sp>
      <p:sp>
        <p:nvSpPr>
          <p:cNvPr id="17" name="Shape 14"/>
          <p:cNvSpPr/>
          <p:nvPr/>
        </p:nvSpPr>
        <p:spPr>
          <a:xfrm>
            <a:off x="566928" y="3840480"/>
            <a:ext cx="11057839" cy="548640"/>
          </a:xfrm>
          <a:prstGeom prst="rect">
            <a:avLst/>
          </a:prstGeom>
          <a:solidFill>
            <a:srgbClr val="FFFFFF"/>
          </a:solidFill>
          <a:ln w="15875">
            <a:solidFill>
              <a:srgbClr val="D9D6E0"/>
            </a:solidFill>
            <a:prstDash val="solid"/>
          </a:ln>
        </p:spPr>
      </p:sp>
      <p:sp>
        <p:nvSpPr>
          <p:cNvPr id="18" name="Text 15"/>
          <p:cNvSpPr/>
          <p:nvPr/>
        </p:nvSpPr>
        <p:spPr>
          <a:xfrm>
            <a:off x="694944" y="3840480"/>
            <a:ext cx="548640" cy="54864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9" name="Text 16"/>
          <p:cNvSpPr/>
          <p:nvPr/>
        </p:nvSpPr>
        <p:spPr>
          <a:xfrm>
            <a:off x="1280160" y="3968496"/>
            <a:ext cx="256032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Y LUEGO LA MATA</a:t>
            </a:r>
            <a:endParaRPr lang="en-US" sz="1000" dirty="0"/>
          </a:p>
        </p:txBody>
      </p:sp>
      <p:sp>
        <p:nvSpPr>
          <p:cNvPr id="20" name="Text 17"/>
          <p:cNvSpPr/>
          <p:nvPr/>
        </p:nvSpPr>
        <p:spPr>
          <a:xfrm>
            <a:off x="4114800" y="3931920"/>
            <a:ext cx="7400239" cy="402336"/>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Siendo dueño, invocó selfdestruct sobre la biblioteca. Al destruirse el código del que TODOS dependían por delegatecall...</a:t>
            </a:r>
            <a:endParaRPr lang="en-US" sz="1200" dirty="0"/>
          </a:p>
        </p:txBody>
      </p:sp>
      <p:sp>
        <p:nvSpPr>
          <p:cNvPr id="21" name="Shape 18"/>
          <p:cNvSpPr/>
          <p:nvPr/>
        </p:nvSpPr>
        <p:spPr>
          <a:xfrm>
            <a:off x="566928" y="4480560"/>
            <a:ext cx="11057839" cy="548640"/>
          </a:xfrm>
          <a:prstGeom prst="rect">
            <a:avLst/>
          </a:prstGeom>
          <a:solidFill>
            <a:srgbClr val="FAF9FB"/>
          </a:solidFill>
          <a:ln w="15875">
            <a:solidFill>
              <a:srgbClr val="D9D6E0"/>
            </a:solidFill>
            <a:prstDash val="solid"/>
          </a:ln>
        </p:spPr>
      </p:sp>
      <p:sp>
        <p:nvSpPr>
          <p:cNvPr id="22" name="Text 19"/>
          <p:cNvSpPr/>
          <p:nvPr/>
        </p:nvSpPr>
        <p:spPr>
          <a:xfrm>
            <a:off x="694944" y="4480560"/>
            <a:ext cx="548640" cy="54864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04</a:t>
            </a:r>
            <a:endParaRPr lang="en-US" sz="1600" dirty="0"/>
          </a:p>
        </p:txBody>
      </p:sp>
      <p:sp>
        <p:nvSpPr>
          <p:cNvPr id="23" name="Text 20"/>
          <p:cNvSpPr/>
          <p:nvPr/>
        </p:nvSpPr>
        <p:spPr>
          <a:xfrm>
            <a:off x="1280160" y="4608576"/>
            <a:ext cx="256032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513.774 ETH CONGELADOS</a:t>
            </a:r>
            <a:endParaRPr lang="en-US" sz="1000" dirty="0"/>
          </a:p>
        </p:txBody>
      </p:sp>
      <p:sp>
        <p:nvSpPr>
          <p:cNvPr id="24" name="Text 21"/>
          <p:cNvSpPr/>
          <p:nvPr/>
        </p:nvSpPr>
        <p:spPr>
          <a:xfrm>
            <a:off x="4114800" y="4572000"/>
            <a:ext cx="7400239" cy="402336"/>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...los 587 monederos que la usaban quedaron sin lógica: nadie pudo volver a mover sus fondos. No fue robo: fue un ladrillo.</a:t>
            </a:r>
            <a:endParaRPr lang="en-US" sz="1200" dirty="0"/>
          </a:p>
        </p:txBody>
      </p:sp>
      <p:sp>
        <p:nvSpPr>
          <p:cNvPr id="25" name="Shape 22"/>
          <p:cNvSpPr/>
          <p:nvPr/>
        </p:nvSpPr>
        <p:spPr>
          <a:xfrm>
            <a:off x="566928" y="5120640"/>
            <a:ext cx="11057839" cy="1097280"/>
          </a:xfrm>
          <a:prstGeom prst="rect">
            <a:avLst/>
          </a:prstGeom>
          <a:solidFill>
            <a:srgbClr val="FFFFFF"/>
          </a:solidFill>
          <a:ln w="22225">
            <a:solidFill>
              <a:srgbClr val="B3261E"/>
            </a:solidFill>
            <a:prstDash val="solid"/>
          </a:ln>
          <a:effectLst>
            <a:outerShdw sx="100000" sy="100000" kx="0" ky="0" algn="bl" rotWithShape="0" blurRad="101600" dist="63500" dir="2700000">
              <a:srgbClr val="B3261E">
                <a:alpha val="100000"/>
              </a:srgbClr>
            </a:outerShdw>
          </a:effectLst>
        </p:spPr>
      </p:sp>
      <p:pic>
        <p:nvPicPr>
          <p:cNvPr id="26" name="Image 1" descr="preencoded.png">    </p:cNvPr>
          <p:cNvPicPr>
            <a:picLocks noChangeAspect="1"/>
          </p:cNvPicPr>
          <p:nvPr/>
        </p:nvPicPr>
        <p:blipFill>
          <a:blip r:embed="rId2"/>
          <a:stretch>
            <a:fillRect/>
          </a:stretch>
        </p:blipFill>
        <p:spPr>
          <a:xfrm>
            <a:off x="804672" y="5340096"/>
            <a:ext cx="237744" cy="237744"/>
          </a:xfrm>
          <a:prstGeom prst="rect">
            <a:avLst/>
          </a:prstGeom>
        </p:spPr>
      </p:pic>
      <p:sp>
        <p:nvSpPr>
          <p:cNvPr id="27" name="Text 23"/>
          <p:cNvSpPr/>
          <p:nvPr/>
        </p:nvSpPr>
        <p:spPr>
          <a:xfrm>
            <a:off x="1133856" y="5312664"/>
            <a:ext cx="10234879" cy="292608"/>
          </a:xfrm>
          <a:prstGeom prst="rect">
            <a:avLst/>
          </a:prstGeom>
          <a:noFill/>
          <a:ln/>
        </p:spPr>
        <p:txBody>
          <a:bodyPr wrap="square" lIns="0" tIns="0" rIns="0" bIns="0" rtlCol="0" anchor="ctr"/>
          <a:lstStyle/>
          <a:p>
            <a:pPr indent="0" marL="0">
              <a:buNone/>
            </a:pPr>
            <a:r>
              <a:rPr lang="en-US" sz="950" b="1" spc="150" kern="0" dirty="0">
                <a:solidFill>
                  <a:srgbClr val="B3261E"/>
                </a:solidFill>
                <a:latin typeface="Courier New" pitchFamily="34" charset="0"/>
                <a:ea typeface="Courier New" pitchFamily="34" charset="-122"/>
                <a:cs typeface="Courier New" pitchFamily="34" charset="-120"/>
              </a:rPr>
              <a:t>LA DEFENSA</a:t>
            </a:r>
            <a:endParaRPr lang="en-US" sz="950" dirty="0"/>
          </a:p>
        </p:txBody>
      </p:sp>
      <p:sp>
        <p:nvSpPr>
          <p:cNvPr id="28" name="Text 24"/>
          <p:cNvSpPr/>
          <p:nvPr/>
        </p:nvSpPr>
        <p:spPr>
          <a:xfrm>
            <a:off x="804672" y="5632704"/>
            <a:ext cx="10582351" cy="493776"/>
          </a:xfrm>
          <a:prstGeom prst="rect">
            <a:avLst/>
          </a:prstGeom>
          <a:noFill/>
          <a:ln/>
        </p:spPr>
        <p:txBody>
          <a:bodyPr wrap="square" lIns="0" tIns="0" rIns="0" bIns="0" rtlCol="0" anchor="t"/>
          <a:lstStyle/>
          <a:p>
            <a:pPr indent="0" marL="0">
              <a:lnSpc>
                <a:spcPct val="124000"/>
              </a:lnSpc>
              <a:buNone/>
            </a:pPr>
            <a:r>
              <a:rPr lang="en-US" sz="1200" dirty="0">
                <a:solidFill>
                  <a:srgbClr val="3A3844"/>
                </a:solidFill>
                <a:latin typeface="Arial" pitchFamily="34" charset="0"/>
                <a:ea typeface="Arial" pitchFamily="34" charset="-122"/>
                <a:cs typeface="Arial" pitchFamily="34" charset="-120"/>
              </a:rPr>
              <a:t>No usar delegatecall salvo para proxies bien entendidos. Nunca hacia una dirección que un usuario elija. Inicializar con un initializer protegido.</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A.10 · DESBORDAMIENTO ARITMÉTICO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UN NÚMERO QUE DA LA VUELTA</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09 · SEGURIDAD DE CONTRATOS INTELIGENTES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16</a:t>
            </a:r>
            <a:endParaRPr lang="en-US" sz="900" dirty="0"/>
          </a:p>
        </p:txBody>
      </p:sp>
      <p:sp>
        <p:nvSpPr>
          <p:cNvPr id="8" name="Shape 5"/>
          <p:cNvSpPr/>
          <p:nvPr/>
        </p:nvSpPr>
        <p:spPr>
          <a:xfrm>
            <a:off x="566928" y="1691640"/>
            <a:ext cx="11057839" cy="1463040"/>
          </a:xfrm>
          <a:prstGeom prst="rect">
            <a:avLst/>
          </a:prstGeom>
          <a:solidFill>
            <a:srgbClr val="16151B"/>
          </a:solidFill>
          <a:ln w="22225">
            <a:solidFill>
              <a:srgbClr val="16151B"/>
            </a:solidFill>
            <a:prstDash val="solid"/>
          </a:ln>
        </p:spPr>
      </p:sp>
      <p:sp>
        <p:nvSpPr>
          <p:cNvPr id="9" name="Text 6"/>
          <p:cNvSpPr/>
          <p:nvPr/>
        </p:nvSpPr>
        <p:spPr>
          <a:xfrm>
            <a:off x="768096" y="1837944"/>
            <a:ext cx="10655503" cy="1207008"/>
          </a:xfrm>
          <a:prstGeom prst="rect">
            <a:avLst/>
          </a:prstGeom>
          <a:noFill/>
          <a:ln/>
        </p:spPr>
        <p:txBody>
          <a:bodyPr wrap="square" lIns="0" tIns="0" rIns="0" bIns="0" rtlCol="0" anchor="t"/>
          <a:lstStyle/>
          <a:p>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Solidity &lt; 0.8, sin SafeMath:</a:t>
            </a:r>
            <a:endParaRPr lang="en-US" sz="1200" dirty="0"/>
          </a:p>
          <a:p>
            <a:pPr indent="0" marL="0">
              <a:lnSpc>
                <a:spcPct val="112000"/>
              </a:lnSpc>
              <a:buNone/>
            </a:pPr>
            <a:r>
              <a:rPr lang="en-US" sz="1200" dirty="0">
                <a:solidFill>
                  <a:srgbClr val="A897FF"/>
                </a:solidFill>
                <a:latin typeface="Courier New" pitchFamily="34" charset="0"/>
                <a:ea typeface="Courier New" pitchFamily="34" charset="-122"/>
                <a:cs typeface="Courier New" pitchFamily="34" charset="-120"/>
              </a:rPr>
              <a:t>uint8</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x</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255</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x</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x</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1</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-&gt; 0   (envolvente, en silencio)</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endParaRPr lang="en-US" sz="1200" dirty="0"/>
          </a:p>
          <a:p>
            <a:pPr indent="0" marL="0">
              <a:lnSpc>
                <a:spcPct val="112000"/>
              </a:lnSpc>
              <a:buNone/>
            </a:pPr>
            <a:r>
              <a:rPr lang="en-US" sz="120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saldo</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20</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endParaRPr lang="en-US" sz="1200" dirty="0"/>
          </a:p>
          <a:p>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saldo</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saldo</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FFA41B"/>
                </a:solidFill>
                <a:latin typeface="Courier New" pitchFamily="34" charset="0"/>
                <a:ea typeface="Courier New" pitchFamily="34" charset="-122"/>
                <a:cs typeface="Courier New" pitchFamily="34" charset="-120"/>
              </a:rPr>
              <a:t>21</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20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200" dirty="0">
                <a:solidFill>
                  <a:srgbClr val="8B8697"/>
                </a:solidFill>
                <a:latin typeface="Courier New" pitchFamily="34" charset="0"/>
                <a:ea typeface="Courier New" pitchFamily="34" charset="-122"/>
                <a:cs typeface="Courier New" pitchFamily="34" charset="-120"/>
              </a:rPr>
              <a:t>// -&gt; 2^256 - 1  (underflow gigante)</a:t>
            </a:r>
            <a:endParaRPr lang="en-US" sz="1200" dirty="0"/>
          </a:p>
        </p:txBody>
      </p:sp>
      <p:sp>
        <p:nvSpPr>
          <p:cNvPr id="10" name="Shape 7"/>
          <p:cNvSpPr/>
          <p:nvPr/>
        </p:nvSpPr>
        <p:spPr>
          <a:xfrm>
            <a:off x="566928" y="3246120"/>
            <a:ext cx="5391760" cy="1783080"/>
          </a:xfrm>
          <a:prstGeom prst="rect">
            <a:avLst/>
          </a:prstGeom>
          <a:solidFill>
            <a:srgbClr val="FFFFFF"/>
          </a:solidFill>
          <a:ln w="22225">
            <a:solidFill>
              <a:srgbClr val="B3261E"/>
            </a:solidFill>
            <a:prstDash val="solid"/>
          </a:ln>
          <a:effectLst>
            <a:outerShdw sx="100000" sy="100000" kx="0" ky="0" algn="bl" rotWithShape="0" blurRad="101600" dist="63500" dir="2700000">
              <a:srgbClr val="B3261E">
                <a:alpha val="100000"/>
              </a:srgbClr>
            </a:outerShdw>
          </a:effectLst>
        </p:spPr>
      </p:sp>
      <p:sp>
        <p:nvSpPr>
          <p:cNvPr id="11" name="Text 8"/>
          <p:cNvSpPr/>
          <p:nvPr/>
        </p:nvSpPr>
        <p:spPr>
          <a:xfrm>
            <a:off x="841248" y="3429000"/>
            <a:ext cx="4843120" cy="292608"/>
          </a:xfrm>
          <a:prstGeom prst="rect">
            <a:avLst/>
          </a:prstGeom>
          <a:noFill/>
          <a:ln/>
        </p:spPr>
        <p:txBody>
          <a:bodyPr wrap="square" lIns="0" tIns="0" rIns="0" bIns="0" rtlCol="0" anchor="ctr"/>
          <a:lstStyle/>
          <a:p>
            <a:pPr indent="0" marL="0">
              <a:buNone/>
            </a:pPr>
            <a:r>
              <a:rPr lang="en-US" sz="1050" b="1" spc="130" kern="0" dirty="0">
                <a:solidFill>
                  <a:srgbClr val="B3261E"/>
                </a:solidFill>
                <a:latin typeface="Courier New" pitchFamily="34" charset="0"/>
                <a:ea typeface="Courier New" pitchFamily="34" charset="-122"/>
                <a:cs typeface="Courier New" pitchFamily="34" charset="-120"/>
              </a:rPr>
              <a:t>QUÉ PASABA ANTES DE 0.8</a:t>
            </a:r>
            <a:endParaRPr lang="en-US" sz="1050" dirty="0"/>
          </a:p>
        </p:txBody>
      </p:sp>
      <p:sp>
        <p:nvSpPr>
          <p:cNvPr id="12" name="Text 9"/>
          <p:cNvSpPr/>
          <p:nvPr/>
        </p:nvSpPr>
        <p:spPr>
          <a:xfrm>
            <a:off x="841248" y="3813048"/>
            <a:ext cx="4843120" cy="105156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La aritmética envolvía sin avisar. Un require(saldo - monto &gt;= 0) con uint es SIEMPRE cierto: una resta de uint nunca es negativa. Así se saltaban chequeos de saldo.</a:t>
            </a:r>
            <a:endParaRPr lang="en-US" sz="1250" dirty="0"/>
          </a:p>
        </p:txBody>
      </p:sp>
      <p:sp>
        <p:nvSpPr>
          <p:cNvPr id="13" name="Shape 10"/>
          <p:cNvSpPr/>
          <p:nvPr/>
        </p:nvSpPr>
        <p:spPr>
          <a:xfrm>
            <a:off x="6233008" y="3246120"/>
            <a:ext cx="5391760" cy="178308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14" name="Text 11"/>
          <p:cNvSpPr/>
          <p:nvPr/>
        </p:nvSpPr>
        <p:spPr>
          <a:xfrm>
            <a:off x="6507328" y="3429000"/>
            <a:ext cx="4843120" cy="292608"/>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QUÉ CAMBIÓ EN SOLIDITY 0.8</a:t>
            </a:r>
            <a:endParaRPr lang="en-US" sz="1050" dirty="0"/>
          </a:p>
        </p:txBody>
      </p:sp>
      <p:sp>
        <p:nvSpPr>
          <p:cNvPr id="15" name="Text 12"/>
          <p:cNvSpPr/>
          <p:nvPr/>
        </p:nvSpPr>
        <p:spPr>
          <a:xfrm>
            <a:off x="6507328" y="3813048"/>
            <a:ext cx="4843120" cy="105156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Desde 0.8.0 (dic 2020) se verifica por defecto: over/underflow REVIERTEN. El riesgo hoy vive en los bloques unchecked { ... }, para ahorrar gas.</a:t>
            </a:r>
            <a:endParaRPr lang="en-US" sz="1250" dirty="0"/>
          </a:p>
        </p:txBody>
      </p:sp>
      <p:sp>
        <p:nvSpPr>
          <p:cNvPr id="16" name="Shape 13"/>
          <p:cNvSpPr/>
          <p:nvPr/>
        </p:nvSpPr>
        <p:spPr>
          <a:xfrm>
            <a:off x="566928" y="5120640"/>
            <a:ext cx="11057839" cy="109728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pic>
        <p:nvPicPr>
          <p:cNvPr id="17" name="Image 1" descr="preencoded.png">    </p:cNvPr>
          <p:cNvPicPr>
            <a:picLocks noChangeAspect="1"/>
          </p:cNvPicPr>
          <p:nvPr/>
        </p:nvPicPr>
        <p:blipFill>
          <a:blip r:embed="rId2"/>
          <a:stretch>
            <a:fillRect/>
          </a:stretch>
        </p:blipFill>
        <p:spPr>
          <a:xfrm>
            <a:off x="804672" y="5340096"/>
            <a:ext cx="237744" cy="237744"/>
          </a:xfrm>
          <a:prstGeom prst="rect">
            <a:avLst/>
          </a:prstGeom>
        </p:spPr>
      </p:pic>
      <p:sp>
        <p:nvSpPr>
          <p:cNvPr id="18" name="Text 14"/>
          <p:cNvSpPr/>
          <p:nvPr/>
        </p:nvSpPr>
        <p:spPr>
          <a:xfrm>
            <a:off x="1133856" y="5312664"/>
            <a:ext cx="10234879" cy="292608"/>
          </a:xfrm>
          <a:prstGeom prst="rect">
            <a:avLst/>
          </a:prstGeom>
          <a:noFill/>
          <a:ln/>
        </p:spPr>
        <p:txBody>
          <a:bodyPr wrap="square" lIns="0" tIns="0" rIns="0" bIns="0" rtlCol="0" anchor="ctr"/>
          <a:lstStyle/>
          <a:p>
            <a:pPr indent="0" marL="0">
              <a:buNone/>
            </a:pPr>
            <a:r>
              <a:rPr lang="en-US" sz="950" b="1" spc="150" kern="0" dirty="0">
                <a:solidFill>
                  <a:srgbClr val="A35604"/>
                </a:solidFill>
                <a:latin typeface="Courier New" pitchFamily="34" charset="0"/>
                <a:ea typeface="Courier New" pitchFamily="34" charset="-122"/>
                <a:cs typeface="Courier New" pitchFamily="34" charset="-120"/>
              </a:rPr>
              <a:t>EL CASO · BEAUTYCHAIN (BEC)</a:t>
            </a:r>
            <a:endParaRPr lang="en-US" sz="950" dirty="0"/>
          </a:p>
        </p:txBody>
      </p:sp>
      <p:sp>
        <p:nvSpPr>
          <p:cNvPr id="19" name="Text 15"/>
          <p:cNvSpPr/>
          <p:nvPr/>
        </p:nvSpPr>
        <p:spPr>
          <a:xfrm>
            <a:off x="804672" y="5632704"/>
            <a:ext cx="10582351" cy="493776"/>
          </a:xfrm>
          <a:prstGeom prst="rect">
            <a:avLst/>
          </a:prstGeom>
          <a:noFill/>
          <a:ln/>
        </p:spPr>
        <p:txBody>
          <a:bodyPr wrap="square" lIns="0" tIns="0" rIns="0" bIns="0" rtlCol="0" anchor="t"/>
          <a:lstStyle/>
          <a:p>
            <a:pPr indent="0" marL="0">
              <a:lnSpc>
                <a:spcPct val="124000"/>
              </a:lnSpc>
              <a:buNone/>
            </a:pPr>
            <a:r>
              <a:rPr lang="en-US" sz="1200" dirty="0">
                <a:solidFill>
                  <a:srgbClr val="3A3844"/>
                </a:solidFill>
                <a:latin typeface="Arial" pitchFamily="34" charset="0"/>
                <a:ea typeface="Arial" pitchFamily="34" charset="-122"/>
                <a:cs typeface="Arial" pitchFamily="34" charset="-120"/>
              </a:rPr>
              <a:t>En abril de 2018, el «batchOverflow» (CVE-2018-10299) acuñó tokens astronómicos de la nada por un overflow en batchTransfer. Es una de las razones por las que 0.8 revierte solo.</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A.11 · ALEATORIEDAD ON-CHAIN</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NO HAY AZAR DENTRO DE LA CADENA</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09 · SEGURIDAD DE CONTRATOS INTELIGENTES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17</a:t>
            </a:r>
            <a:endParaRPr lang="en-US" sz="900" dirty="0"/>
          </a:p>
        </p:txBody>
      </p:sp>
      <p:sp>
        <p:nvSpPr>
          <p:cNvPr id="8" name="Text 5"/>
          <p:cNvSpPr/>
          <p:nvPr/>
        </p:nvSpPr>
        <p:spPr>
          <a:xfrm>
            <a:off x="566928" y="1737360"/>
            <a:ext cx="11057839" cy="91440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Todo lo que un contrato puede leer —block.timestamp, block.prevrandao, blockhash— es público y, en parte, influenciable por el proponente del bloque. Un contrato atacante calcula el mismo «azar» en la misma transacción antes de apostar.</a:t>
            </a:r>
            <a:endParaRPr lang="en-US" sz="1400" dirty="0"/>
          </a:p>
        </p:txBody>
      </p:sp>
      <p:sp>
        <p:nvSpPr>
          <p:cNvPr id="9" name="Shape 6"/>
          <p:cNvSpPr/>
          <p:nvPr/>
        </p:nvSpPr>
        <p:spPr>
          <a:xfrm>
            <a:off x="566928" y="2788920"/>
            <a:ext cx="11057839" cy="1600200"/>
          </a:xfrm>
          <a:prstGeom prst="rect">
            <a:avLst/>
          </a:prstGeom>
          <a:solidFill>
            <a:srgbClr val="16151B"/>
          </a:solidFill>
          <a:ln w="22225">
            <a:solidFill>
              <a:srgbClr val="16151B"/>
            </a:solidFill>
            <a:prstDash val="solid"/>
          </a:ln>
        </p:spPr>
      </p:sp>
      <p:sp>
        <p:nvSpPr>
          <p:cNvPr id="10" name="Text 7"/>
          <p:cNvSpPr/>
          <p:nvPr/>
        </p:nvSpPr>
        <p:spPr>
          <a:xfrm>
            <a:off x="768096" y="2935224"/>
            <a:ext cx="10655503" cy="1344168"/>
          </a:xfrm>
          <a:prstGeom prst="rect">
            <a:avLst/>
          </a:prstGeom>
          <a:noFill/>
          <a:ln/>
        </p:spPr>
        <p:txBody>
          <a:bodyPr wrap="square" lIns="0" tIns="0" rIns="0" bIns="0" rtlCol="0" anchor="t"/>
          <a:lstStyle/>
          <a:p>
            <a:pPr indent="0" marL="0">
              <a:lnSpc>
                <a:spcPct val="112000"/>
              </a:lnSpc>
              <a:buNone/>
            </a:pPr>
            <a:r>
              <a:rPr lang="en-US" sz="1150" dirty="0">
                <a:solidFill>
                  <a:srgbClr val="8B8697"/>
                </a:solidFill>
                <a:latin typeface="Courier New" pitchFamily="34" charset="0"/>
                <a:ea typeface="Courier New" pitchFamily="34" charset="-122"/>
                <a:cs typeface="Courier New" pitchFamily="34" charset="-120"/>
              </a:rPr>
              <a:t>// Loteria ingenua: el "azar" es una cuenta pública</a:t>
            </a:r>
            <a:endParaRPr lang="en-US" sz="1150" dirty="0"/>
          </a:p>
          <a:p>
            <a:pPr indent="0" marL="0">
              <a:lnSpc>
                <a:spcPct val="112000"/>
              </a:lnSpc>
              <a:buNone/>
            </a:pPr>
            <a:r>
              <a:rPr lang="en-US" sz="115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premio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A897FF"/>
                </a:solidFill>
                <a:latin typeface="Courier New" pitchFamily="34" charset="0"/>
                <a:ea typeface="Courier New" pitchFamily="34" charset="-122"/>
                <a:cs typeface="Courier New" pitchFamily="34" charset="-120"/>
              </a:rPr>
              <a:t>uint256</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keccak256</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abi</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encodePacked</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block</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timestamp</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block</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prevrandao</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10</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8B8697"/>
                </a:solidFill>
                <a:latin typeface="Courier New" pitchFamily="34" charset="0"/>
                <a:ea typeface="Courier New" pitchFamily="34" charset="-122"/>
                <a:cs typeface="Courier New" pitchFamily="34" charset="-120"/>
              </a:rPr>
              <a:t>// El atacante ejecuta el MISMO cálculo en su contrato y</a:t>
            </a:r>
            <a:endParaRPr lang="en-US" sz="1150" dirty="0"/>
          </a:p>
          <a:p>
            <a:pPr indent="0" marL="0">
              <a:lnSpc>
                <a:spcPct val="112000"/>
              </a:lnSpc>
              <a:buNone/>
            </a:pPr>
            <a:r>
              <a:rPr lang="en-US" sz="1150" dirty="0">
                <a:solidFill>
                  <a:srgbClr val="8B8697"/>
                </a:solidFill>
                <a:latin typeface="Courier New" pitchFamily="34" charset="0"/>
                <a:ea typeface="Courier New" pitchFamily="34" charset="-122"/>
                <a:cs typeface="Courier New" pitchFamily="34" charset="-120"/>
              </a:rPr>
              <a:t>// solo juega cuando premio le favorece.</a:t>
            </a:r>
            <a:endParaRPr lang="en-US" sz="1150" dirty="0"/>
          </a:p>
        </p:txBody>
      </p:sp>
      <p:sp>
        <p:nvSpPr>
          <p:cNvPr id="11" name="Shape 8"/>
          <p:cNvSpPr/>
          <p:nvPr/>
        </p:nvSpPr>
        <p:spPr>
          <a:xfrm>
            <a:off x="566928" y="4572000"/>
            <a:ext cx="11057839" cy="1600200"/>
          </a:xfrm>
          <a:prstGeom prst="rect">
            <a:avLst/>
          </a:prstGeom>
          <a:solidFill>
            <a:srgbClr val="FFFFFF"/>
          </a:solidFill>
          <a:ln w="22225">
            <a:solidFill>
              <a:srgbClr val="B3261E"/>
            </a:solidFill>
            <a:prstDash val="solid"/>
          </a:ln>
          <a:effectLst>
            <a:outerShdw sx="100000" sy="100000" kx="0" ky="0" algn="bl" rotWithShape="0" blurRad="101600" dist="63500" dir="2700000">
              <a:srgbClr val="B3261E">
                <a:alpha val="100000"/>
              </a:srgbClr>
            </a:outerShdw>
          </a:effectLst>
        </p:spPr>
      </p:sp>
      <p:pic>
        <p:nvPicPr>
          <p:cNvPr id="12" name="Image 1" descr="preencoded.png">    </p:cNvPr>
          <p:cNvPicPr>
            <a:picLocks noChangeAspect="1"/>
          </p:cNvPicPr>
          <p:nvPr/>
        </p:nvPicPr>
        <p:blipFill>
          <a:blip r:embed="rId2"/>
          <a:stretch>
            <a:fillRect/>
          </a:stretch>
        </p:blipFill>
        <p:spPr>
          <a:xfrm>
            <a:off x="804672" y="4791456"/>
            <a:ext cx="237744" cy="237744"/>
          </a:xfrm>
          <a:prstGeom prst="rect">
            <a:avLst/>
          </a:prstGeom>
        </p:spPr>
      </p:pic>
      <p:sp>
        <p:nvSpPr>
          <p:cNvPr id="13" name="Text 9"/>
          <p:cNvSpPr/>
          <p:nvPr/>
        </p:nvSpPr>
        <p:spPr>
          <a:xfrm>
            <a:off x="1133856" y="4764024"/>
            <a:ext cx="10234879" cy="292608"/>
          </a:xfrm>
          <a:prstGeom prst="rect">
            <a:avLst/>
          </a:prstGeom>
          <a:noFill/>
          <a:ln/>
        </p:spPr>
        <p:txBody>
          <a:bodyPr wrap="square" lIns="0" tIns="0" rIns="0" bIns="0" rtlCol="0" anchor="ctr"/>
          <a:lstStyle/>
          <a:p>
            <a:pPr indent="0" marL="0">
              <a:buNone/>
            </a:pPr>
            <a:r>
              <a:rPr lang="en-US" sz="950" b="1" spc="150" kern="0" dirty="0">
                <a:solidFill>
                  <a:srgbClr val="B3261E"/>
                </a:solidFill>
                <a:latin typeface="Courier New" pitchFamily="34" charset="0"/>
                <a:ea typeface="Courier New" pitchFamily="34" charset="-122"/>
                <a:cs typeface="Courier New" pitchFamily="34" charset="-120"/>
              </a:rPr>
              <a:t>EL CASO · SMARTBILLIONS, Y LA DEFENSA</a:t>
            </a:r>
            <a:endParaRPr lang="en-US" sz="950" dirty="0"/>
          </a:p>
        </p:txBody>
      </p:sp>
      <p:sp>
        <p:nvSpPr>
          <p:cNvPr id="14" name="Text 10"/>
          <p:cNvSpPr/>
          <p:nvPr/>
        </p:nvSpPr>
        <p:spPr>
          <a:xfrm>
            <a:off x="804672" y="5084064"/>
            <a:ext cx="10582351" cy="996696"/>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Una lotería on-chain perdió ~400 ETH (oct 2017) porque su «azar» se leía del estado y se podía predecir. Solución: un oráculo de aleatoriedad verificable (Chainlink VRF) o un esquema commit-reveal (comprometer un valor cifrado y revelarlo después). Nunca variables de bloque. «Poner más variables de bloque» NO arregla nada.</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A.12 · FRONT-RUNNING / MEV</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TODAS TUS INTENCIONES SON PÚBLICAS</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09 · SEGURIDAD DE CONTRATOS INTELIGENTES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18</a:t>
            </a:r>
            <a:endParaRPr lang="en-US" sz="900" dirty="0"/>
          </a:p>
        </p:txBody>
      </p:sp>
      <p:sp>
        <p:nvSpPr>
          <p:cNvPr id="8" name="Text 5"/>
          <p:cNvSpPr/>
          <p:nvPr/>
        </p:nvSpPr>
        <p:spPr>
          <a:xfrm>
            <a:off x="566928" y="1737360"/>
            <a:ext cx="11057839" cy="868680"/>
          </a:xfrm>
          <a:prstGeom prst="rect">
            <a:avLst/>
          </a:prstGeom>
          <a:noFill/>
          <a:ln/>
        </p:spPr>
        <p:txBody>
          <a:bodyPr wrap="square" lIns="0" tIns="0" rIns="0" bIns="0" rtlCol="0" anchor="t"/>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Antes de confirmarse, tu transacción vive en el mempool a la vista de todos. Quien arma el bloque puede colar la suya antes, después, o reordenar, para ganar a tu costa. Es el «valor máximo extraíble» (MEV).</a:t>
            </a:r>
            <a:endParaRPr lang="en-US" sz="1450" dirty="0"/>
          </a:p>
        </p:txBody>
      </p:sp>
      <p:sp>
        <p:nvSpPr>
          <p:cNvPr id="9" name="Shape 6"/>
          <p:cNvSpPr/>
          <p:nvPr/>
        </p:nvSpPr>
        <p:spPr>
          <a:xfrm>
            <a:off x="566928" y="2743200"/>
            <a:ext cx="5391760" cy="2286000"/>
          </a:xfrm>
          <a:prstGeom prst="rect">
            <a:avLst/>
          </a:prstGeom>
          <a:solidFill>
            <a:srgbClr val="FFFFFF"/>
          </a:solidFill>
          <a:ln w="22225">
            <a:solidFill>
              <a:srgbClr val="B3261E"/>
            </a:solidFill>
            <a:prstDash val="solid"/>
          </a:ln>
          <a:effectLst>
            <a:outerShdw sx="100000" sy="100000" kx="0" ky="0" algn="bl" rotWithShape="0" blurRad="101600" dist="63500" dir="2700000">
              <a:srgbClr val="B3261E">
                <a:alpha val="100000"/>
              </a:srgbClr>
            </a:outerShdw>
          </a:effectLst>
        </p:spPr>
      </p:sp>
      <p:sp>
        <p:nvSpPr>
          <p:cNvPr id="10" name="Text 7"/>
          <p:cNvSpPr/>
          <p:nvPr/>
        </p:nvSpPr>
        <p:spPr>
          <a:xfrm>
            <a:off x="841248" y="2926080"/>
            <a:ext cx="4843120" cy="292608"/>
          </a:xfrm>
          <a:prstGeom prst="rect">
            <a:avLst/>
          </a:prstGeom>
          <a:noFill/>
          <a:ln/>
        </p:spPr>
        <p:txBody>
          <a:bodyPr wrap="square" lIns="0" tIns="0" rIns="0" bIns="0" rtlCol="0" anchor="ctr"/>
          <a:lstStyle/>
          <a:p>
            <a:pPr indent="0" marL="0">
              <a:buNone/>
            </a:pPr>
            <a:r>
              <a:rPr lang="en-US" sz="1050" b="1" spc="130" kern="0" dirty="0">
                <a:solidFill>
                  <a:srgbClr val="B3261E"/>
                </a:solidFill>
                <a:latin typeface="Courier New" pitchFamily="34" charset="0"/>
                <a:ea typeface="Courier New" pitchFamily="34" charset="-122"/>
                <a:cs typeface="Courier New" pitchFamily="34" charset="-120"/>
              </a:rPr>
              <a:t>CÓMO TE AFECTA</a:t>
            </a:r>
            <a:endParaRPr lang="en-US" sz="1050" dirty="0"/>
          </a:p>
        </p:txBody>
      </p:sp>
      <p:sp>
        <p:nvSpPr>
          <p:cNvPr id="11" name="Text 8"/>
          <p:cNvSpPr/>
          <p:nvPr/>
        </p:nvSpPr>
        <p:spPr>
          <a:xfrm>
            <a:off x="841248" y="3310128"/>
            <a:ext cx="4843120" cy="1554480"/>
          </a:xfrm>
          <a:prstGeom prst="rect">
            <a:avLst/>
          </a:prstGeom>
          <a:noFill/>
          <a:ln/>
        </p:spPr>
        <p:txBody>
          <a:bodyPr wrap="square" lIns="0" tIns="0" rIns="0" bIns="0" rtlCol="0" anchor="t"/>
          <a:lstStyle/>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Un bot ve tu compra grande en un DEX y compra antes para venderte más caro (sandwich).</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Ve tu solución a un puzzle premiado y la copia con más gas.</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Reordena liquidaciones para quedarse el bono.</a:t>
            </a:r>
            <a:endParaRPr lang="en-US" sz="1250" dirty="0"/>
          </a:p>
        </p:txBody>
      </p:sp>
      <p:sp>
        <p:nvSpPr>
          <p:cNvPr id="12" name="Shape 9"/>
          <p:cNvSpPr/>
          <p:nvPr/>
        </p:nvSpPr>
        <p:spPr>
          <a:xfrm>
            <a:off x="6233008" y="2743200"/>
            <a:ext cx="5391760" cy="228600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13" name="Text 10"/>
          <p:cNvSpPr/>
          <p:nvPr/>
        </p:nvSpPr>
        <p:spPr>
          <a:xfrm>
            <a:off x="6507328" y="2926080"/>
            <a:ext cx="4843120" cy="292608"/>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LAS DEFENSAS</a:t>
            </a:r>
            <a:endParaRPr lang="en-US" sz="1050" dirty="0"/>
          </a:p>
        </p:txBody>
      </p:sp>
      <p:sp>
        <p:nvSpPr>
          <p:cNvPr id="14" name="Text 11"/>
          <p:cNvSpPr/>
          <p:nvPr/>
        </p:nvSpPr>
        <p:spPr>
          <a:xfrm>
            <a:off x="6507328" y="3310128"/>
            <a:ext cx="4843120" cy="1554480"/>
          </a:xfrm>
          <a:prstGeom prst="rect">
            <a:avLst/>
          </a:prstGeom>
          <a:noFill/>
          <a:ln/>
        </p:spPr>
        <p:txBody>
          <a:bodyPr wrap="square" lIns="0" tIns="0" rIns="0" bIns="0" rtlCol="0" anchor="t"/>
          <a:lstStyle/>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Límites de deslizamiento (slippage) en cada swap.</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Revelar en dos pasos (commit-reveal) lo que no debe verse antes.</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Subastas por lotes; mempools privados.</a:t>
            </a:r>
            <a:endParaRPr lang="en-US" sz="1250" dirty="0"/>
          </a:p>
          <a:p>
            <a:pPr marL="203200" indent="-203200">
              <a:lnSpc>
                <a:spcPct val="118000"/>
              </a:lnSpc>
              <a:spcAft>
                <a:spcPts val="500"/>
              </a:spcAft>
              <a:buSzPct val="100000"/>
              <a:buChar char="■"/>
            </a:pPr>
            <a:r>
              <a:rPr lang="en-US" sz="1250" dirty="0">
                <a:solidFill>
                  <a:srgbClr val="3A3844"/>
                </a:solidFill>
                <a:latin typeface="Arial" pitchFamily="34" charset="0"/>
                <a:ea typeface="Arial" pitchFamily="34" charset="-122"/>
                <a:cs typeface="Arial" pitchFamily="34" charset="-120"/>
              </a:rPr>
              <a:t>Nunca suponer el orden de llegada.</a:t>
            </a:r>
            <a:endParaRPr lang="en-US" sz="1250" dirty="0"/>
          </a:p>
        </p:txBody>
      </p:sp>
      <p:sp>
        <p:nvSpPr>
          <p:cNvPr id="15" name="Text 12"/>
          <p:cNvSpPr/>
          <p:nvPr/>
        </p:nvSpPr>
        <p:spPr>
          <a:xfrm>
            <a:off x="566928" y="5212080"/>
            <a:ext cx="11057839" cy="457200"/>
          </a:xfrm>
          <a:prstGeom prst="rect">
            <a:avLst/>
          </a:prstGeom>
          <a:noFill/>
          <a:ln/>
        </p:spPr>
        <p:txBody>
          <a:bodyPr wrap="square" lIns="0" tIns="0" rIns="0" bIns="0" rtlCol="0" anchor="t"/>
          <a:lstStyle/>
          <a:p>
            <a:pPr indent="0" marL="0">
              <a:lnSpc>
                <a:spcPct val="124000"/>
              </a:lnSpc>
              <a:buNone/>
            </a:pPr>
            <a:r>
              <a:rPr lang="en-US" sz="1300" dirty="0">
                <a:solidFill>
                  <a:srgbClr val="A35604"/>
                </a:solidFill>
                <a:latin typeface="Arial" pitchFamily="34" charset="0"/>
                <a:ea typeface="Arial" pitchFamily="34" charset="-122"/>
                <a:cs typeface="Arial" pitchFamily="34" charset="-120"/>
              </a:rPr>
              <a:t>No es un bug de tu contrato: es una propiedad del sistema. Se diseña PARA él, no contra él.</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A.13 · MANIPULACIÓN DE ORÁCULOS</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600" dirty="0">
                <a:solidFill>
                  <a:srgbClr val="0F0F11"/>
                </a:solidFill>
                <a:latin typeface="Arial Black" pitchFamily="34" charset="0"/>
                <a:ea typeface="Arial Black" pitchFamily="34" charset="-122"/>
                <a:cs typeface="Arial Black" pitchFamily="34" charset="-120"/>
              </a:rPr>
              <a:t>SI DEPENDES DE UN PRECIO, PUEDEN MOVERLO</a:t>
            </a:r>
            <a:endParaRPr lang="en-US" sz="26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09 · SEGURIDAD DE CONTRATOS INTELIGENTES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19</a:t>
            </a:r>
            <a:endParaRPr lang="en-US" sz="900" dirty="0"/>
          </a:p>
        </p:txBody>
      </p:sp>
      <p:sp>
        <p:nvSpPr>
          <p:cNvPr id="8" name="Text 5"/>
          <p:cNvSpPr/>
          <p:nvPr/>
        </p:nvSpPr>
        <p:spPr>
          <a:xfrm>
            <a:off x="566928" y="1737360"/>
            <a:ext cx="11057839" cy="86868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Un contrato que lee el precio «spot» de un solo mercado (un DEX) se puede engañar moviendo ese precio, aunque sea por un instante, con un préstamo relámpago dentro de la misma transacción.</a:t>
            </a:r>
            <a:endParaRPr lang="en-US" sz="1400" dirty="0"/>
          </a:p>
        </p:txBody>
      </p:sp>
      <p:sp>
        <p:nvSpPr>
          <p:cNvPr id="9" name="Shape 6"/>
          <p:cNvSpPr/>
          <p:nvPr/>
        </p:nvSpPr>
        <p:spPr>
          <a:xfrm>
            <a:off x="566928" y="2606040"/>
            <a:ext cx="11057839" cy="548640"/>
          </a:xfrm>
          <a:prstGeom prst="rect">
            <a:avLst/>
          </a:prstGeom>
          <a:solidFill>
            <a:srgbClr val="FFFFFF"/>
          </a:solidFill>
          <a:ln w="15875">
            <a:solidFill>
              <a:srgbClr val="D9D6E0"/>
            </a:solidFill>
            <a:prstDash val="solid"/>
          </a:ln>
        </p:spPr>
      </p:sp>
      <p:sp>
        <p:nvSpPr>
          <p:cNvPr id="10" name="Text 7"/>
          <p:cNvSpPr/>
          <p:nvPr/>
        </p:nvSpPr>
        <p:spPr>
          <a:xfrm>
            <a:off x="694944" y="2606040"/>
            <a:ext cx="548640" cy="54864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1" name="Text 8"/>
          <p:cNvSpPr/>
          <p:nvPr/>
        </p:nvSpPr>
        <p:spPr>
          <a:xfrm>
            <a:off x="1280160" y="2734056"/>
            <a:ext cx="24688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PIDE PRESTADO ENORME</a:t>
            </a:r>
            <a:endParaRPr lang="en-US" sz="1000" dirty="0"/>
          </a:p>
        </p:txBody>
      </p:sp>
      <p:sp>
        <p:nvSpPr>
          <p:cNvPr id="12" name="Text 9"/>
          <p:cNvSpPr/>
          <p:nvPr/>
        </p:nvSpPr>
        <p:spPr>
          <a:xfrm>
            <a:off x="4023360" y="2697480"/>
            <a:ext cx="7491679" cy="402336"/>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Un flash loan le da millones sin garantía, a devolver en la misma transacción.</a:t>
            </a:r>
            <a:endParaRPr lang="en-US" sz="1200" dirty="0"/>
          </a:p>
        </p:txBody>
      </p:sp>
      <p:sp>
        <p:nvSpPr>
          <p:cNvPr id="13" name="Shape 10"/>
          <p:cNvSpPr/>
          <p:nvPr/>
        </p:nvSpPr>
        <p:spPr>
          <a:xfrm>
            <a:off x="566928" y="3246120"/>
            <a:ext cx="11057839" cy="548640"/>
          </a:xfrm>
          <a:prstGeom prst="rect">
            <a:avLst/>
          </a:prstGeom>
          <a:solidFill>
            <a:srgbClr val="FAF9FB"/>
          </a:solidFill>
          <a:ln w="15875">
            <a:solidFill>
              <a:srgbClr val="D9D6E0"/>
            </a:solidFill>
            <a:prstDash val="solid"/>
          </a:ln>
        </p:spPr>
      </p:sp>
      <p:sp>
        <p:nvSpPr>
          <p:cNvPr id="14" name="Text 11"/>
          <p:cNvSpPr/>
          <p:nvPr/>
        </p:nvSpPr>
        <p:spPr>
          <a:xfrm>
            <a:off x="694944" y="3246120"/>
            <a:ext cx="548640" cy="54864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5" name="Text 12"/>
          <p:cNvSpPr/>
          <p:nvPr/>
        </p:nvSpPr>
        <p:spPr>
          <a:xfrm>
            <a:off x="1280160" y="3374136"/>
            <a:ext cx="24688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MUEVE EL PRECIO SPOT</a:t>
            </a:r>
            <a:endParaRPr lang="en-US" sz="1000" dirty="0"/>
          </a:p>
        </p:txBody>
      </p:sp>
      <p:sp>
        <p:nvSpPr>
          <p:cNvPr id="16" name="Text 13"/>
          <p:cNvSpPr/>
          <p:nvPr/>
        </p:nvSpPr>
        <p:spPr>
          <a:xfrm>
            <a:off x="4023360" y="3337560"/>
            <a:ext cx="7491679" cy="402336"/>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Compra masivamente el activo en el mercado que el oráculo lee: el precio se dispara.</a:t>
            </a:r>
            <a:endParaRPr lang="en-US" sz="1200" dirty="0"/>
          </a:p>
        </p:txBody>
      </p:sp>
      <p:sp>
        <p:nvSpPr>
          <p:cNvPr id="17" name="Shape 14"/>
          <p:cNvSpPr/>
          <p:nvPr/>
        </p:nvSpPr>
        <p:spPr>
          <a:xfrm>
            <a:off x="566928" y="3886200"/>
            <a:ext cx="11057839" cy="548640"/>
          </a:xfrm>
          <a:prstGeom prst="rect">
            <a:avLst/>
          </a:prstGeom>
          <a:solidFill>
            <a:srgbClr val="FFFFFF"/>
          </a:solidFill>
          <a:ln w="15875">
            <a:solidFill>
              <a:srgbClr val="D9D6E0"/>
            </a:solidFill>
            <a:prstDash val="solid"/>
          </a:ln>
        </p:spPr>
      </p:sp>
      <p:sp>
        <p:nvSpPr>
          <p:cNvPr id="18" name="Text 15"/>
          <p:cNvSpPr/>
          <p:nvPr/>
        </p:nvSpPr>
        <p:spPr>
          <a:xfrm>
            <a:off x="694944" y="3886200"/>
            <a:ext cx="548640" cy="54864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9" name="Text 16"/>
          <p:cNvSpPr/>
          <p:nvPr/>
        </p:nvSpPr>
        <p:spPr>
          <a:xfrm>
            <a:off x="1280160" y="4014216"/>
            <a:ext cx="24688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EXPLOTA AL QUE LO LEE</a:t>
            </a:r>
            <a:endParaRPr lang="en-US" sz="1000" dirty="0"/>
          </a:p>
        </p:txBody>
      </p:sp>
      <p:sp>
        <p:nvSpPr>
          <p:cNvPr id="20" name="Text 17"/>
          <p:cNvSpPr/>
          <p:nvPr/>
        </p:nvSpPr>
        <p:spPr>
          <a:xfrm>
            <a:off x="4023360" y="3977640"/>
            <a:ext cx="7491679" cy="402336"/>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El contrato-víctima ve ese precio inflado y le presta o le paga de más contra ese valor.</a:t>
            </a:r>
            <a:endParaRPr lang="en-US" sz="1200" dirty="0"/>
          </a:p>
        </p:txBody>
      </p:sp>
      <p:sp>
        <p:nvSpPr>
          <p:cNvPr id="21" name="Shape 18"/>
          <p:cNvSpPr/>
          <p:nvPr/>
        </p:nvSpPr>
        <p:spPr>
          <a:xfrm>
            <a:off x="566928" y="4526280"/>
            <a:ext cx="11057839" cy="548640"/>
          </a:xfrm>
          <a:prstGeom prst="rect">
            <a:avLst/>
          </a:prstGeom>
          <a:solidFill>
            <a:srgbClr val="FAF9FB"/>
          </a:solidFill>
          <a:ln w="15875">
            <a:solidFill>
              <a:srgbClr val="D9D6E0"/>
            </a:solidFill>
            <a:prstDash val="solid"/>
          </a:ln>
        </p:spPr>
      </p:sp>
      <p:sp>
        <p:nvSpPr>
          <p:cNvPr id="22" name="Text 19"/>
          <p:cNvSpPr/>
          <p:nvPr/>
        </p:nvSpPr>
        <p:spPr>
          <a:xfrm>
            <a:off x="694944" y="4526280"/>
            <a:ext cx="548640" cy="54864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04</a:t>
            </a:r>
            <a:endParaRPr lang="en-US" sz="1600" dirty="0"/>
          </a:p>
        </p:txBody>
      </p:sp>
      <p:sp>
        <p:nvSpPr>
          <p:cNvPr id="23" name="Text 20"/>
          <p:cNvSpPr/>
          <p:nvPr/>
        </p:nvSpPr>
        <p:spPr>
          <a:xfrm>
            <a:off x="1280160" y="4654296"/>
            <a:ext cx="246888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DEVUELVE Y SE VA</a:t>
            </a:r>
            <a:endParaRPr lang="en-US" sz="1000" dirty="0"/>
          </a:p>
        </p:txBody>
      </p:sp>
      <p:sp>
        <p:nvSpPr>
          <p:cNvPr id="24" name="Text 21"/>
          <p:cNvSpPr/>
          <p:nvPr/>
        </p:nvSpPr>
        <p:spPr>
          <a:xfrm>
            <a:off x="4023360" y="4617720"/>
            <a:ext cx="7491679" cy="402336"/>
          </a:xfrm>
          <a:prstGeom prst="rect">
            <a:avLst/>
          </a:prstGeom>
          <a:noFill/>
          <a:ln/>
        </p:spPr>
        <p:txBody>
          <a:bodyPr wrap="square" lIns="0" tIns="0" rIns="0" bIns="0" rtlCol="0" anchor="ctr"/>
          <a:lstStyle/>
          <a:p>
            <a:pPr indent="0" marL="0">
              <a:lnSpc>
                <a:spcPct val="115000"/>
              </a:lnSpc>
              <a:buNone/>
            </a:pPr>
            <a:r>
              <a:rPr lang="en-US" sz="1200" dirty="0">
                <a:solidFill>
                  <a:srgbClr val="3A3844"/>
                </a:solidFill>
                <a:latin typeface="Arial" pitchFamily="34" charset="0"/>
                <a:ea typeface="Arial" pitchFamily="34" charset="-122"/>
                <a:cs typeface="Arial" pitchFamily="34" charset="-120"/>
              </a:rPr>
              <a:t>Devuelve el préstamo, deshace la posición y se queda la diferencia. Todo en un bloque.</a:t>
            </a:r>
            <a:endParaRPr lang="en-US" sz="1200" dirty="0"/>
          </a:p>
        </p:txBody>
      </p:sp>
      <p:sp>
        <p:nvSpPr>
          <p:cNvPr id="25" name="Shape 22"/>
          <p:cNvSpPr/>
          <p:nvPr/>
        </p:nvSpPr>
        <p:spPr>
          <a:xfrm>
            <a:off x="566928" y="5074920"/>
            <a:ext cx="11057839" cy="1143000"/>
          </a:xfrm>
          <a:prstGeom prst="rect">
            <a:avLst/>
          </a:prstGeom>
          <a:solidFill>
            <a:srgbClr val="FFFFFF"/>
          </a:solidFill>
          <a:ln w="22225">
            <a:solidFill>
              <a:srgbClr val="B3261E"/>
            </a:solidFill>
            <a:prstDash val="solid"/>
          </a:ln>
          <a:effectLst>
            <a:outerShdw sx="100000" sy="100000" kx="0" ky="0" algn="bl" rotWithShape="0" blurRad="101600" dist="63500" dir="2700000">
              <a:srgbClr val="B3261E">
                <a:alpha val="100000"/>
              </a:srgbClr>
            </a:outerShdw>
          </a:effectLst>
        </p:spPr>
      </p:sp>
      <p:pic>
        <p:nvPicPr>
          <p:cNvPr id="26" name="Image 1" descr="preencoded.png">    </p:cNvPr>
          <p:cNvPicPr>
            <a:picLocks noChangeAspect="1"/>
          </p:cNvPicPr>
          <p:nvPr/>
        </p:nvPicPr>
        <p:blipFill>
          <a:blip r:embed="rId2"/>
          <a:stretch>
            <a:fillRect/>
          </a:stretch>
        </p:blipFill>
        <p:spPr>
          <a:xfrm>
            <a:off x="804672" y="5294376"/>
            <a:ext cx="237744" cy="237744"/>
          </a:xfrm>
          <a:prstGeom prst="rect">
            <a:avLst/>
          </a:prstGeom>
        </p:spPr>
      </p:pic>
      <p:sp>
        <p:nvSpPr>
          <p:cNvPr id="27" name="Text 23"/>
          <p:cNvSpPr/>
          <p:nvPr/>
        </p:nvSpPr>
        <p:spPr>
          <a:xfrm>
            <a:off x="1133856" y="5266944"/>
            <a:ext cx="10234879" cy="292608"/>
          </a:xfrm>
          <a:prstGeom prst="rect">
            <a:avLst/>
          </a:prstGeom>
          <a:noFill/>
          <a:ln/>
        </p:spPr>
        <p:txBody>
          <a:bodyPr wrap="square" lIns="0" tIns="0" rIns="0" bIns="0" rtlCol="0" anchor="ctr"/>
          <a:lstStyle/>
          <a:p>
            <a:pPr indent="0" marL="0">
              <a:buNone/>
            </a:pPr>
            <a:r>
              <a:rPr lang="en-US" sz="950" b="1" spc="150" kern="0" dirty="0">
                <a:solidFill>
                  <a:srgbClr val="B3261E"/>
                </a:solidFill>
                <a:latin typeface="Courier New" pitchFamily="34" charset="0"/>
                <a:ea typeface="Courier New" pitchFamily="34" charset="-122"/>
                <a:cs typeface="Courier New" pitchFamily="34" charset="-120"/>
              </a:rPr>
              <a:t>EL CASO · MANGO MARKETS, Y LA DEFENSA</a:t>
            </a:r>
            <a:endParaRPr lang="en-US" sz="950" dirty="0"/>
          </a:p>
        </p:txBody>
      </p:sp>
      <p:sp>
        <p:nvSpPr>
          <p:cNvPr id="28" name="Text 24"/>
          <p:cNvSpPr/>
          <p:nvPr/>
        </p:nvSpPr>
        <p:spPr>
          <a:xfrm>
            <a:off x="804672" y="5586984"/>
            <a:ext cx="10582351" cy="539496"/>
          </a:xfrm>
          <a:prstGeom prst="rect">
            <a:avLst/>
          </a:prstGeom>
          <a:noFill/>
          <a:ln/>
        </p:spPr>
        <p:txBody>
          <a:bodyPr wrap="square" lIns="0" tIns="0" rIns="0" bIns="0" rtlCol="0" anchor="t"/>
          <a:lstStyle/>
          <a:p>
            <a:pPr indent="0" marL="0">
              <a:lnSpc>
                <a:spcPct val="124000"/>
              </a:lnSpc>
              <a:buNone/>
            </a:pPr>
            <a:r>
              <a:rPr lang="en-US" sz="1200" dirty="0">
                <a:solidFill>
                  <a:srgbClr val="3A3844"/>
                </a:solidFill>
                <a:latin typeface="Arial" pitchFamily="34" charset="0"/>
                <a:ea typeface="Arial" pitchFamily="34" charset="-122"/>
                <a:cs typeface="Arial" pitchFamily="34" charset="-120"/>
              </a:rPr>
              <a:t>Mango Markets perdió más de 110 M USD (oct 2022) por manipulación de su oráculo de precio. Defensa: precios promediados en el tiempo (TWAP), varios oráculos independientes, servicios como Chainlink. Nunca un solo precio spot.</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A.14 · DENEGACIÓN DE SERVICIO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UN SOLO DATO PUEDE BLOQUEAR A TODOS</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09 · SEGURIDAD DE CONTRATOS INTELIGENTES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20</a:t>
            </a:r>
            <a:endParaRPr lang="en-US" sz="900" dirty="0"/>
          </a:p>
        </p:txBody>
      </p:sp>
      <p:sp>
        <p:nvSpPr>
          <p:cNvPr id="8" name="Shape 5"/>
          <p:cNvSpPr/>
          <p:nvPr/>
        </p:nvSpPr>
        <p:spPr>
          <a:xfrm>
            <a:off x="566928" y="1737360"/>
            <a:ext cx="5391760" cy="2468880"/>
          </a:xfrm>
          <a:prstGeom prst="rect">
            <a:avLst/>
          </a:prstGeom>
          <a:solidFill>
            <a:srgbClr val="FFFFFF"/>
          </a:solidFill>
          <a:ln w="22225">
            <a:solidFill>
              <a:srgbClr val="B3261E"/>
            </a:solidFill>
            <a:prstDash val="solid"/>
          </a:ln>
          <a:effectLst>
            <a:outerShdw sx="100000" sy="100000" kx="0" ky="0" algn="bl" rotWithShape="0" blurRad="101600" dist="63500" dir="2700000">
              <a:srgbClr val="B3261E">
                <a:alpha val="100000"/>
              </a:srgbClr>
            </a:outerShdw>
          </a:effectLst>
        </p:spPr>
      </p:sp>
      <p:sp>
        <p:nvSpPr>
          <p:cNvPr id="9" name="Text 6"/>
          <p:cNvSpPr/>
          <p:nvPr/>
        </p:nvSpPr>
        <p:spPr>
          <a:xfrm>
            <a:off x="841248" y="1920240"/>
            <a:ext cx="4843120" cy="292608"/>
          </a:xfrm>
          <a:prstGeom prst="rect">
            <a:avLst/>
          </a:prstGeom>
          <a:noFill/>
          <a:ln/>
        </p:spPr>
        <p:txBody>
          <a:bodyPr wrap="square" lIns="0" tIns="0" rIns="0" bIns="0" rtlCol="0" anchor="ctr"/>
          <a:lstStyle/>
          <a:p>
            <a:pPr indent="0" marL="0">
              <a:buNone/>
            </a:pPr>
            <a:r>
              <a:rPr lang="en-US" sz="1050" b="1" spc="130" kern="0" dirty="0">
                <a:solidFill>
                  <a:srgbClr val="B3261E"/>
                </a:solidFill>
                <a:latin typeface="Courier New" pitchFamily="34" charset="0"/>
                <a:ea typeface="Courier New" pitchFamily="34" charset="-122"/>
                <a:cs typeface="Courier New" pitchFamily="34" charset="-120"/>
              </a:rPr>
              <a:t>DOS POR RECEPTOR QUE REVIERTE</a:t>
            </a:r>
            <a:endParaRPr lang="en-US" sz="1050" dirty="0"/>
          </a:p>
        </p:txBody>
      </p:sp>
      <p:sp>
        <p:nvSpPr>
          <p:cNvPr id="10" name="Text 7"/>
          <p:cNvSpPr/>
          <p:nvPr/>
        </p:nvSpPr>
        <p:spPr>
          <a:xfrm>
            <a:off x="841248" y="2304288"/>
            <a:ext cx="4843120" cy="173736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Si el contrato PAGA en un bucle y una de las cuentas es un contrato que revierte al recibir (o consume todo el gas), el pago a TODOS los demás falla. King of the Ether (feb 2016) se atascó así: send() a una wallet-contrato falló y el retorno no se comprobó.</a:t>
            </a:r>
            <a:endParaRPr lang="en-US" sz="1250" dirty="0"/>
          </a:p>
        </p:txBody>
      </p:sp>
      <p:sp>
        <p:nvSpPr>
          <p:cNvPr id="11" name="Shape 8"/>
          <p:cNvSpPr/>
          <p:nvPr/>
        </p:nvSpPr>
        <p:spPr>
          <a:xfrm>
            <a:off x="6233008" y="1737360"/>
            <a:ext cx="5391760" cy="246888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12" name="Text 9"/>
          <p:cNvSpPr/>
          <p:nvPr/>
        </p:nvSpPr>
        <p:spPr>
          <a:xfrm>
            <a:off x="6507328" y="1920240"/>
            <a:ext cx="4843120" cy="292608"/>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DOS POR BUCLE NO ACOTADO</a:t>
            </a:r>
            <a:endParaRPr lang="en-US" sz="1050" dirty="0"/>
          </a:p>
        </p:txBody>
      </p:sp>
      <p:sp>
        <p:nvSpPr>
          <p:cNvPr id="13" name="Text 10"/>
          <p:cNvSpPr/>
          <p:nvPr/>
        </p:nvSpPr>
        <p:spPr>
          <a:xfrm>
            <a:off x="6507328" y="2304288"/>
            <a:ext cx="4843120" cy="1737360"/>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Recorrer un arreglo que crece sin límite (la lista de participantes de la S7) puede superar el límite de gas de un bloque: la función se vuelve imposible de ejecutar. El contrato queda vivo pero inútil.</a:t>
            </a:r>
            <a:endParaRPr lang="en-US" sz="1250" dirty="0"/>
          </a:p>
        </p:txBody>
      </p:sp>
      <p:sp>
        <p:nvSpPr>
          <p:cNvPr id="14" name="Shape 11"/>
          <p:cNvSpPr/>
          <p:nvPr/>
        </p:nvSpPr>
        <p:spPr>
          <a:xfrm>
            <a:off x="566928" y="4389120"/>
            <a:ext cx="11057839" cy="178308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pic>
        <p:nvPicPr>
          <p:cNvPr id="15" name="Image 1" descr="preencoded.png">    </p:cNvPr>
          <p:cNvPicPr>
            <a:picLocks noChangeAspect="1"/>
          </p:cNvPicPr>
          <p:nvPr/>
        </p:nvPicPr>
        <p:blipFill>
          <a:blip r:embed="rId2"/>
          <a:stretch>
            <a:fillRect/>
          </a:stretch>
        </p:blipFill>
        <p:spPr>
          <a:xfrm>
            <a:off x="804672" y="4608576"/>
            <a:ext cx="237744" cy="237744"/>
          </a:xfrm>
          <a:prstGeom prst="rect">
            <a:avLst/>
          </a:prstGeom>
        </p:spPr>
      </p:pic>
      <p:sp>
        <p:nvSpPr>
          <p:cNvPr id="16" name="Text 12"/>
          <p:cNvSpPr/>
          <p:nvPr/>
        </p:nvSpPr>
        <p:spPr>
          <a:xfrm>
            <a:off x="1133856" y="4581144"/>
            <a:ext cx="10234879" cy="292608"/>
          </a:xfrm>
          <a:prstGeom prst="rect">
            <a:avLst/>
          </a:prstGeom>
          <a:noFill/>
          <a:ln/>
        </p:spPr>
        <p:txBody>
          <a:bodyPr wrap="square" lIns="0" tIns="0" rIns="0" bIns="0" rtlCol="0" anchor="ctr"/>
          <a:lstStyle/>
          <a:p>
            <a:pPr indent="0" marL="0">
              <a:buNone/>
            </a:pPr>
            <a:r>
              <a:rPr lang="en-US" sz="950" b="1" spc="150" kern="0" dirty="0">
                <a:solidFill>
                  <a:srgbClr val="5638C9"/>
                </a:solidFill>
                <a:latin typeface="Courier New" pitchFamily="34" charset="0"/>
                <a:ea typeface="Courier New" pitchFamily="34" charset="-122"/>
                <a:cs typeface="Courier New" pitchFamily="34" charset="-120"/>
              </a:rPr>
              <a:t>LA DEFENSA: EL PATRÓN DE RETIRO (S7)</a:t>
            </a:r>
            <a:endParaRPr lang="en-US" sz="950" dirty="0"/>
          </a:p>
        </p:txBody>
      </p:sp>
      <p:sp>
        <p:nvSpPr>
          <p:cNvPr id="17" name="Text 13"/>
          <p:cNvSpPr/>
          <p:nvPr/>
        </p:nvSpPr>
        <p:spPr>
          <a:xfrm>
            <a:off x="804672" y="4901184"/>
            <a:ext cx="10582351" cy="1179576"/>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No EMPUJES los pagos (push): deja que cada quien RETIRE lo suyo (pull). Así un receptor que revierte solo se afecta a sí mismo. No recorras arreglos ilimitados; no dependas de que un envío externo funcione. Es el mismo patrón «pull over push» de la Sesión 7.</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A.15 · VERIFICACIÓN DE LA TAXONOMÍA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CLASIFIQUEN ESTOS TRES FALLOS</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09 · SEGURIDAD DE CONTRATOS INTELIGENTES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21</a:t>
            </a:r>
            <a:endParaRPr lang="en-US" sz="9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6675120"/>
                <a:gridCol w="438271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SÍNTOMA EN EL CÓDIGO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VULNERABILIDAD ES?</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627888">
                <a:tc>
                  <a:txBody>
                    <a:bodyPr/>
                    <a:lstStyle/>
                    <a:p>
                      <a:pPr indent="0" marL="0">
                        <a:buNone/>
                      </a:pPr>
                      <a:r>
                        <a:rPr lang="en-US" sz="1250" b="1" dirty="0">
                          <a:solidFill>
                            <a:srgbClr val="0F0F11"/>
                          </a:solidFill>
                          <a:latin typeface="Courier New" pitchFamily="34" charset="0"/>
                          <a:ea typeface="Courier New" pitchFamily="34" charset="-122"/>
                          <a:cs typeface="Courier New" pitchFamily="34" charset="-120"/>
                        </a:rPr>
                        <a:t>Una función de retiro que envía ETH y después descuenta el saldo.</a:t>
                      </a:r>
                      <a:endParaRPr lang="en-US" sz="12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Reentrancy (orden CEI violado).</a:t>
                      </a:r>
                      <a:endParaRPr lang="en-US" sz="12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627888">
                <a:tc>
                  <a:txBody>
                    <a:bodyPr/>
                    <a:lstStyle/>
                    <a:p>
                      <a:pPr indent="0" marL="0">
                        <a:buNone/>
                      </a:pPr>
                      <a:r>
                        <a:rPr lang="en-US" sz="1250" b="1" dirty="0">
                          <a:solidFill>
                            <a:srgbClr val="0F0F11"/>
                          </a:solidFill>
                          <a:latin typeface="Courier New" pitchFamily="34" charset="0"/>
                          <a:ea typeface="Courier New" pitchFamily="34" charset="-122"/>
                          <a:cs typeface="Courier New" pitchFamily="34" charset="-120"/>
                        </a:rPr>
                        <a:t>require(tx.origin == owner) para autorizar una función crítica.</a:t>
                      </a:r>
                      <a:endParaRPr lang="en-US" sz="12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Control de acceso mal implementado.</a:t>
                      </a:r>
                      <a:endParaRPr lang="en-US" sz="12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627888">
                <a:tc>
                  <a:txBody>
                    <a:bodyPr/>
                    <a:lstStyle/>
                    <a:p>
                      <a:pPr indent="0" marL="0">
                        <a:buNone/>
                      </a:pPr>
                      <a:r>
                        <a:rPr lang="en-US" sz="1250" b="1" dirty="0">
                          <a:solidFill>
                            <a:srgbClr val="0F0F11"/>
                          </a:solidFill>
                          <a:latin typeface="Courier New" pitchFamily="34" charset="0"/>
                          <a:ea typeface="Courier New" pitchFamily="34" charset="-122"/>
                          <a:cs typeface="Courier New" pitchFamily="34" charset="-120"/>
                        </a:rPr>
                        <a:t>Un ganador elegido con keccak256(block.timestamp) % n.</a:t>
                      </a:r>
                      <a:endParaRPr lang="en-US" sz="12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50" dirty="0">
                          <a:solidFill>
                            <a:srgbClr val="3A3844"/>
                          </a:solidFill>
                          <a:latin typeface="Arial" pitchFamily="34" charset="0"/>
                          <a:ea typeface="Arial" pitchFamily="34" charset="-122"/>
                          <a:cs typeface="Arial" pitchFamily="34" charset="-120"/>
                        </a:rPr>
                        <a:t>Aleatoriedad on-chain manipulable.</a:t>
                      </a:r>
                      <a:endParaRPr lang="en-US" sz="12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9" name="Shape 5"/>
          <p:cNvSpPr/>
          <p:nvPr/>
        </p:nvSpPr>
        <p:spPr>
          <a:xfrm>
            <a:off x="548640" y="1719072"/>
            <a:ext cx="11094415" cy="2231136"/>
          </a:xfrm>
          <a:prstGeom prst="rect">
            <a:avLst/>
          </a:prstGeom>
          <a:ln w="22225">
            <a:solidFill>
              <a:srgbClr val="0F0F11"/>
            </a:solidFill>
            <a:prstDash val="solid"/>
          </a:ln>
        </p:spPr>
      </p:sp>
      <p:sp>
        <p:nvSpPr>
          <p:cNvPr id="10" name="Shape 6"/>
          <p:cNvSpPr/>
          <p:nvPr/>
        </p:nvSpPr>
        <p:spPr>
          <a:xfrm>
            <a:off x="566928" y="4114800"/>
            <a:ext cx="11057839" cy="201168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pic>
        <p:nvPicPr>
          <p:cNvPr id="11" name="Image 1" descr="preencoded.png">    </p:cNvPr>
          <p:cNvPicPr>
            <a:picLocks noChangeAspect="1"/>
          </p:cNvPicPr>
          <p:nvPr/>
        </p:nvPicPr>
        <p:blipFill>
          <a:blip r:embed="rId2"/>
          <a:stretch>
            <a:fillRect/>
          </a:stretch>
        </p:blipFill>
        <p:spPr>
          <a:xfrm>
            <a:off x="804672" y="4334256"/>
            <a:ext cx="237744" cy="237744"/>
          </a:xfrm>
          <a:prstGeom prst="rect">
            <a:avLst/>
          </a:prstGeom>
        </p:spPr>
      </p:pic>
      <p:sp>
        <p:nvSpPr>
          <p:cNvPr id="12" name="Text 7"/>
          <p:cNvSpPr/>
          <p:nvPr/>
        </p:nvSpPr>
        <p:spPr>
          <a:xfrm>
            <a:off x="1133856" y="4306824"/>
            <a:ext cx="10234879" cy="292608"/>
          </a:xfrm>
          <a:prstGeom prst="rect">
            <a:avLst/>
          </a:prstGeom>
          <a:noFill/>
          <a:ln/>
        </p:spPr>
        <p:txBody>
          <a:bodyPr wrap="square" lIns="0" tIns="0" rIns="0" bIns="0" rtlCol="0" anchor="ctr"/>
          <a:lstStyle/>
          <a:p>
            <a:pPr indent="0" marL="0">
              <a:buNone/>
            </a:pPr>
            <a:r>
              <a:rPr lang="en-US" sz="950" b="1" spc="150" kern="0" dirty="0">
                <a:solidFill>
                  <a:srgbClr val="0F0F11"/>
                </a:solidFill>
                <a:latin typeface="Courier New" pitchFamily="34" charset="0"/>
                <a:ea typeface="Courier New" pitchFamily="34" charset="-122"/>
                <a:cs typeface="Courier New" pitchFamily="34" charset="-120"/>
              </a:rPr>
              <a:t>CÓMO SE RESPONDE EN EL PARCIAL</a:t>
            </a:r>
            <a:endParaRPr lang="en-US" sz="950" dirty="0"/>
          </a:p>
        </p:txBody>
      </p:sp>
      <p:sp>
        <p:nvSpPr>
          <p:cNvPr id="13" name="Text 8"/>
          <p:cNvSpPr/>
          <p:nvPr/>
        </p:nvSpPr>
        <p:spPr>
          <a:xfrm>
            <a:off x="804672" y="4626864"/>
            <a:ext cx="10582351" cy="1408176"/>
          </a:xfrm>
          <a:prstGeom prst="rect">
            <a:avLst/>
          </a:prstGeom>
          <a:noFill/>
          <a:ln/>
        </p:spPr>
        <p:txBody>
          <a:bodyPr wrap="square" lIns="0" tIns="0" rIns="0" bIns="0" rtlCol="0" anchor="t"/>
          <a:lstStyle/>
          <a:p>
            <a:pPr indent="0" marL="0">
              <a:lnSpc>
                <a:spcPct val="124000"/>
              </a:lnSpc>
              <a:buNone/>
            </a:pPr>
            <a:r>
              <a:rPr lang="en-US" sz="1300" dirty="0">
                <a:solidFill>
                  <a:srgbClr val="3A3844"/>
                </a:solidFill>
                <a:latin typeface="Arial" pitchFamily="34" charset="0"/>
                <a:ea typeface="Arial" pitchFamily="34" charset="-122"/>
                <a:cs typeface="Arial" pitchFamily="34" charset="-120"/>
              </a:rPr>
              <a:t>Tapen la segunda columna y pídanle a la clase nombrarlas en voz alta, con la LÍNEA exacta. En el parcial se pide justo esto: nombre + severidad + ubicación. Nombrar sin ubicar vale la mitad. Estos tres son ejemplos de método; el contrato del parcial es otro.</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A.16 · EL CICLO DE VIDA SEGURO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600" dirty="0">
                <a:solidFill>
                  <a:srgbClr val="0F0F11"/>
                </a:solidFill>
                <a:latin typeface="Arial Black" pitchFamily="34" charset="0"/>
                <a:ea typeface="Arial Black" pitchFamily="34" charset="-122"/>
                <a:cs typeface="Arial Black" pitchFamily="34" charset="-120"/>
              </a:rPr>
              <a:t>LA SEGURIDAD NO ES UN PASO: ES UNA CADENA</a:t>
            </a:r>
            <a:endParaRPr lang="en-US" sz="26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09 · SEGURIDAD DE CONTRATOS INTELIGENTES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22</a:t>
            </a:r>
            <a:endParaRPr lang="en-US" sz="900" dirty="0"/>
          </a:p>
        </p:txBody>
      </p:sp>
      <p:sp>
        <p:nvSpPr>
          <p:cNvPr id="8" name="Text 5"/>
          <p:cNvSpPr/>
          <p:nvPr/>
        </p:nvSpPr>
        <p:spPr>
          <a:xfrm>
            <a:off x="566928" y="1737360"/>
            <a:ext cx="548640" cy="594360"/>
          </a:xfrm>
          <a:prstGeom prst="rect">
            <a:avLst/>
          </a:prstGeom>
          <a:noFill/>
          <a:ln/>
        </p:spPr>
        <p:txBody>
          <a:bodyPr wrap="square" lIns="0" tIns="0" rIns="0" bIns="0" rtlCol="0" anchor="ctr"/>
          <a:lstStyle/>
          <a:p>
            <a:pPr indent="0" marL="0">
              <a:buNone/>
            </a:pPr>
            <a:r>
              <a:rPr lang="en-US" sz="1700" dirty="0">
                <a:solidFill>
                  <a:srgbClr val="F07F06"/>
                </a:solidFill>
                <a:latin typeface="Arial Black" pitchFamily="34" charset="0"/>
                <a:ea typeface="Arial Black" pitchFamily="34" charset="-122"/>
                <a:cs typeface="Arial Black" pitchFamily="34" charset="-120"/>
              </a:rPr>
              <a:t>01</a:t>
            </a:r>
            <a:endParaRPr lang="en-US" sz="1700" dirty="0"/>
          </a:p>
        </p:txBody>
      </p:sp>
      <p:sp>
        <p:nvSpPr>
          <p:cNvPr id="9" name="Text 6"/>
          <p:cNvSpPr/>
          <p:nvPr/>
        </p:nvSpPr>
        <p:spPr>
          <a:xfrm>
            <a:off x="1207008" y="1792224"/>
            <a:ext cx="3200400" cy="292608"/>
          </a:xfrm>
          <a:prstGeom prst="rect">
            <a:avLst/>
          </a:prstGeom>
          <a:noFill/>
          <a:ln/>
        </p:spPr>
        <p:txBody>
          <a:bodyPr wrap="square" lIns="0" tIns="0" rIns="0" bIns="0" rtlCol="0" anchor="ctr"/>
          <a:lstStyle/>
          <a:p>
            <a:pPr indent="0" marL="0">
              <a:buNone/>
            </a:pPr>
            <a:r>
              <a:rPr lang="en-US" sz="1050" b="1" spc="130" kern="0" dirty="0">
                <a:solidFill>
                  <a:srgbClr val="0F0F11"/>
                </a:solidFill>
                <a:latin typeface="Courier New" pitchFamily="34" charset="0"/>
                <a:ea typeface="Courier New" pitchFamily="34" charset="-122"/>
                <a:cs typeface="Courier New" pitchFamily="34" charset="-120"/>
              </a:rPr>
              <a:t>ESCRIBIR MENOS</a:t>
            </a:r>
            <a:endParaRPr lang="en-US" sz="1050" dirty="0"/>
          </a:p>
        </p:txBody>
      </p:sp>
      <p:sp>
        <p:nvSpPr>
          <p:cNvPr id="10" name="Text 7"/>
          <p:cNvSpPr/>
          <p:nvPr/>
        </p:nvSpPr>
        <p:spPr>
          <a:xfrm>
            <a:off x="4544568" y="1773936"/>
            <a:ext cx="7080199" cy="548640"/>
          </a:xfrm>
          <a:prstGeom prst="rect">
            <a:avLst/>
          </a:prstGeom>
          <a:noFill/>
          <a:ln/>
        </p:spPr>
        <p:txBody>
          <a:bodyPr wrap="square" lIns="0" tIns="0" rIns="0" bIns="0" rtlCol="0" anchor="ctr"/>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Cada línea propia es superficie de ataque. Reutilizar OpenZeppelin auditado en lugar de reescribir.</a:t>
            </a:r>
            <a:endParaRPr lang="en-US" sz="1250" dirty="0"/>
          </a:p>
        </p:txBody>
      </p:sp>
      <p:sp>
        <p:nvSpPr>
          <p:cNvPr id="11" name="Shape 8"/>
          <p:cNvSpPr/>
          <p:nvPr/>
        </p:nvSpPr>
        <p:spPr>
          <a:xfrm>
            <a:off x="566928" y="2404872"/>
            <a:ext cx="11057839" cy="914"/>
          </a:xfrm>
          <a:prstGeom prst="line">
            <a:avLst/>
          </a:prstGeom>
          <a:noFill/>
          <a:ln w="12700">
            <a:solidFill>
              <a:srgbClr val="D9D6E0"/>
            </a:solidFill>
            <a:prstDash val="solid"/>
          </a:ln>
        </p:spPr>
      </p:sp>
      <p:sp>
        <p:nvSpPr>
          <p:cNvPr id="12" name="Text 9"/>
          <p:cNvSpPr/>
          <p:nvPr/>
        </p:nvSpPr>
        <p:spPr>
          <a:xfrm>
            <a:off x="566928" y="2468880"/>
            <a:ext cx="548640" cy="594360"/>
          </a:xfrm>
          <a:prstGeom prst="rect">
            <a:avLst/>
          </a:prstGeom>
          <a:noFill/>
          <a:ln/>
        </p:spPr>
        <p:txBody>
          <a:bodyPr wrap="square" lIns="0" tIns="0" rIns="0" bIns="0" rtlCol="0" anchor="ctr"/>
          <a:lstStyle/>
          <a:p>
            <a:pPr indent="0" marL="0">
              <a:buNone/>
            </a:pPr>
            <a:r>
              <a:rPr lang="en-US" sz="1700" dirty="0">
                <a:solidFill>
                  <a:srgbClr val="F07F06"/>
                </a:solidFill>
                <a:latin typeface="Arial Black" pitchFamily="34" charset="0"/>
                <a:ea typeface="Arial Black" pitchFamily="34" charset="-122"/>
                <a:cs typeface="Arial Black" pitchFamily="34" charset="-120"/>
              </a:rPr>
              <a:t>02</a:t>
            </a:r>
            <a:endParaRPr lang="en-US" sz="1700" dirty="0"/>
          </a:p>
        </p:txBody>
      </p:sp>
      <p:sp>
        <p:nvSpPr>
          <p:cNvPr id="13" name="Text 10"/>
          <p:cNvSpPr/>
          <p:nvPr/>
        </p:nvSpPr>
        <p:spPr>
          <a:xfrm>
            <a:off x="1207008" y="2523744"/>
            <a:ext cx="3200400" cy="292608"/>
          </a:xfrm>
          <a:prstGeom prst="rect">
            <a:avLst/>
          </a:prstGeom>
          <a:noFill/>
          <a:ln/>
        </p:spPr>
        <p:txBody>
          <a:bodyPr wrap="square" lIns="0" tIns="0" rIns="0" bIns="0" rtlCol="0" anchor="ctr"/>
          <a:lstStyle/>
          <a:p>
            <a:pPr indent="0" marL="0">
              <a:buNone/>
            </a:pPr>
            <a:r>
              <a:rPr lang="en-US" sz="1050" b="1" spc="130" kern="0" dirty="0">
                <a:solidFill>
                  <a:srgbClr val="0F0F11"/>
                </a:solidFill>
                <a:latin typeface="Courier New" pitchFamily="34" charset="0"/>
                <a:ea typeface="Courier New" pitchFamily="34" charset="-122"/>
                <a:cs typeface="Courier New" pitchFamily="34" charset="-120"/>
              </a:rPr>
              <a:t>PROBAR LOS BORDES</a:t>
            </a:r>
            <a:endParaRPr lang="en-US" sz="1050" dirty="0"/>
          </a:p>
        </p:txBody>
      </p:sp>
      <p:sp>
        <p:nvSpPr>
          <p:cNvPr id="14" name="Text 11"/>
          <p:cNvSpPr/>
          <p:nvPr/>
        </p:nvSpPr>
        <p:spPr>
          <a:xfrm>
            <a:off x="4544568" y="2505456"/>
            <a:ext cx="7080199" cy="548640"/>
          </a:xfrm>
          <a:prstGeom prst="rect">
            <a:avLst/>
          </a:prstGeom>
          <a:noFill/>
          <a:ln/>
        </p:spPr>
        <p:txBody>
          <a:bodyPr wrap="square" lIns="0" tIns="0" rIns="0" bIns="0" rtlCol="0" anchor="ctr"/>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La suite de la Sesión 8, con pruebas que atrapan errores, no solo que dan cobertura.</a:t>
            </a:r>
            <a:endParaRPr lang="en-US" sz="1250" dirty="0"/>
          </a:p>
        </p:txBody>
      </p:sp>
      <p:sp>
        <p:nvSpPr>
          <p:cNvPr id="15" name="Shape 12"/>
          <p:cNvSpPr/>
          <p:nvPr/>
        </p:nvSpPr>
        <p:spPr>
          <a:xfrm>
            <a:off x="566928" y="3136392"/>
            <a:ext cx="11057839" cy="914"/>
          </a:xfrm>
          <a:prstGeom prst="line">
            <a:avLst/>
          </a:prstGeom>
          <a:noFill/>
          <a:ln w="12700">
            <a:solidFill>
              <a:srgbClr val="D9D6E0"/>
            </a:solidFill>
            <a:prstDash val="solid"/>
          </a:ln>
        </p:spPr>
      </p:sp>
      <p:sp>
        <p:nvSpPr>
          <p:cNvPr id="16" name="Text 13"/>
          <p:cNvSpPr/>
          <p:nvPr/>
        </p:nvSpPr>
        <p:spPr>
          <a:xfrm>
            <a:off x="566928" y="3200400"/>
            <a:ext cx="548640" cy="594360"/>
          </a:xfrm>
          <a:prstGeom prst="rect">
            <a:avLst/>
          </a:prstGeom>
          <a:noFill/>
          <a:ln/>
        </p:spPr>
        <p:txBody>
          <a:bodyPr wrap="square" lIns="0" tIns="0" rIns="0" bIns="0" rtlCol="0" anchor="ctr"/>
          <a:lstStyle/>
          <a:p>
            <a:pPr indent="0" marL="0">
              <a:buNone/>
            </a:pPr>
            <a:r>
              <a:rPr lang="en-US" sz="1700" dirty="0">
                <a:solidFill>
                  <a:srgbClr val="F07F06"/>
                </a:solidFill>
                <a:latin typeface="Arial Black" pitchFamily="34" charset="0"/>
                <a:ea typeface="Arial Black" pitchFamily="34" charset="-122"/>
                <a:cs typeface="Arial Black" pitchFamily="34" charset="-120"/>
              </a:rPr>
              <a:t>03</a:t>
            </a:r>
            <a:endParaRPr lang="en-US" sz="1700" dirty="0"/>
          </a:p>
        </p:txBody>
      </p:sp>
      <p:sp>
        <p:nvSpPr>
          <p:cNvPr id="17" name="Text 14"/>
          <p:cNvSpPr/>
          <p:nvPr/>
        </p:nvSpPr>
        <p:spPr>
          <a:xfrm>
            <a:off x="1207008" y="3255264"/>
            <a:ext cx="3200400" cy="292608"/>
          </a:xfrm>
          <a:prstGeom prst="rect">
            <a:avLst/>
          </a:prstGeom>
          <a:noFill/>
          <a:ln/>
        </p:spPr>
        <p:txBody>
          <a:bodyPr wrap="square" lIns="0" tIns="0" rIns="0" bIns="0" rtlCol="0" anchor="ctr"/>
          <a:lstStyle/>
          <a:p>
            <a:pPr indent="0" marL="0">
              <a:buNone/>
            </a:pPr>
            <a:r>
              <a:rPr lang="en-US" sz="1050" b="1" spc="130" kern="0" dirty="0">
                <a:solidFill>
                  <a:srgbClr val="0F0F11"/>
                </a:solidFill>
                <a:latin typeface="Courier New" pitchFamily="34" charset="0"/>
                <a:ea typeface="Courier New" pitchFamily="34" charset="-122"/>
                <a:cs typeface="Courier New" pitchFamily="34" charset="-120"/>
              </a:rPr>
              <a:t>ANÁLISIS ESTÁTICO</a:t>
            </a:r>
            <a:endParaRPr lang="en-US" sz="1050" dirty="0"/>
          </a:p>
        </p:txBody>
      </p:sp>
      <p:sp>
        <p:nvSpPr>
          <p:cNvPr id="18" name="Text 15"/>
          <p:cNvSpPr/>
          <p:nvPr/>
        </p:nvSpPr>
        <p:spPr>
          <a:xfrm>
            <a:off x="4544568" y="3236976"/>
            <a:ext cx="7080199" cy="548640"/>
          </a:xfrm>
          <a:prstGeom prst="rect">
            <a:avLst/>
          </a:prstGeom>
          <a:noFill/>
          <a:ln/>
        </p:spPr>
        <p:txBody>
          <a:bodyPr wrap="square" lIns="0" tIns="0" rIns="0" bIns="0" rtlCol="0" anchor="ctr"/>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Slither revisa el código sin ejecutarlo y marca patrones peligrosos en segundos.</a:t>
            </a:r>
            <a:endParaRPr lang="en-US" sz="1250" dirty="0"/>
          </a:p>
        </p:txBody>
      </p:sp>
      <p:sp>
        <p:nvSpPr>
          <p:cNvPr id="19" name="Shape 16"/>
          <p:cNvSpPr/>
          <p:nvPr/>
        </p:nvSpPr>
        <p:spPr>
          <a:xfrm>
            <a:off x="566928" y="3867912"/>
            <a:ext cx="11057839" cy="914"/>
          </a:xfrm>
          <a:prstGeom prst="line">
            <a:avLst/>
          </a:prstGeom>
          <a:noFill/>
          <a:ln w="12700">
            <a:solidFill>
              <a:srgbClr val="D9D6E0"/>
            </a:solidFill>
            <a:prstDash val="solid"/>
          </a:ln>
        </p:spPr>
      </p:sp>
      <p:sp>
        <p:nvSpPr>
          <p:cNvPr id="20" name="Text 17"/>
          <p:cNvSpPr/>
          <p:nvPr/>
        </p:nvSpPr>
        <p:spPr>
          <a:xfrm>
            <a:off x="566928" y="3931920"/>
            <a:ext cx="548640" cy="594360"/>
          </a:xfrm>
          <a:prstGeom prst="rect">
            <a:avLst/>
          </a:prstGeom>
          <a:noFill/>
          <a:ln/>
        </p:spPr>
        <p:txBody>
          <a:bodyPr wrap="square" lIns="0" tIns="0" rIns="0" bIns="0" rtlCol="0" anchor="ctr"/>
          <a:lstStyle/>
          <a:p>
            <a:pPr indent="0" marL="0">
              <a:buNone/>
            </a:pPr>
            <a:r>
              <a:rPr lang="en-US" sz="1700" dirty="0">
                <a:solidFill>
                  <a:srgbClr val="F07F06"/>
                </a:solidFill>
                <a:latin typeface="Arial Black" pitchFamily="34" charset="0"/>
                <a:ea typeface="Arial Black" pitchFamily="34" charset="-122"/>
                <a:cs typeface="Arial Black" pitchFamily="34" charset="-120"/>
              </a:rPr>
              <a:t>04</a:t>
            </a:r>
            <a:endParaRPr lang="en-US" sz="1700" dirty="0"/>
          </a:p>
        </p:txBody>
      </p:sp>
      <p:sp>
        <p:nvSpPr>
          <p:cNvPr id="21" name="Text 18"/>
          <p:cNvSpPr/>
          <p:nvPr/>
        </p:nvSpPr>
        <p:spPr>
          <a:xfrm>
            <a:off x="1207008" y="3986784"/>
            <a:ext cx="3200400" cy="292608"/>
          </a:xfrm>
          <a:prstGeom prst="rect">
            <a:avLst/>
          </a:prstGeom>
          <a:noFill/>
          <a:ln/>
        </p:spPr>
        <p:txBody>
          <a:bodyPr wrap="square" lIns="0" tIns="0" rIns="0" bIns="0" rtlCol="0" anchor="ctr"/>
          <a:lstStyle/>
          <a:p>
            <a:pPr indent="0" marL="0">
              <a:buNone/>
            </a:pPr>
            <a:r>
              <a:rPr lang="en-US" sz="1050" b="1" spc="130" kern="0" dirty="0">
                <a:solidFill>
                  <a:srgbClr val="0F0F11"/>
                </a:solidFill>
                <a:latin typeface="Courier New" pitchFamily="34" charset="0"/>
                <a:ea typeface="Courier New" pitchFamily="34" charset="-122"/>
                <a:cs typeface="Courier New" pitchFamily="34" charset="-120"/>
              </a:rPr>
              <a:t>FUZZING E INVARIANTES</a:t>
            </a:r>
            <a:endParaRPr lang="en-US" sz="1050" dirty="0"/>
          </a:p>
        </p:txBody>
      </p:sp>
      <p:sp>
        <p:nvSpPr>
          <p:cNvPr id="22" name="Text 19"/>
          <p:cNvSpPr/>
          <p:nvPr/>
        </p:nvSpPr>
        <p:spPr>
          <a:xfrm>
            <a:off x="4544568" y="3968496"/>
            <a:ext cx="7080199" cy="548640"/>
          </a:xfrm>
          <a:prstGeom prst="rect">
            <a:avLst/>
          </a:prstGeom>
          <a:noFill/>
          <a:ln/>
        </p:spPr>
        <p:txBody>
          <a:bodyPr wrap="square" lIns="0" tIns="0" rIns="0" bIns="0" rtlCol="0" anchor="ctr"/>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Miles de entradas al azar buscando romper una invariante que uno afirma siempre cierta.</a:t>
            </a:r>
            <a:endParaRPr lang="en-US" sz="1250" dirty="0"/>
          </a:p>
        </p:txBody>
      </p:sp>
      <p:sp>
        <p:nvSpPr>
          <p:cNvPr id="23" name="Shape 20"/>
          <p:cNvSpPr/>
          <p:nvPr/>
        </p:nvSpPr>
        <p:spPr>
          <a:xfrm>
            <a:off x="566928" y="4599432"/>
            <a:ext cx="11057839" cy="914"/>
          </a:xfrm>
          <a:prstGeom prst="line">
            <a:avLst/>
          </a:prstGeom>
          <a:noFill/>
          <a:ln w="12700">
            <a:solidFill>
              <a:srgbClr val="D9D6E0"/>
            </a:solidFill>
            <a:prstDash val="solid"/>
          </a:ln>
        </p:spPr>
      </p:sp>
      <p:sp>
        <p:nvSpPr>
          <p:cNvPr id="24" name="Text 21"/>
          <p:cNvSpPr/>
          <p:nvPr/>
        </p:nvSpPr>
        <p:spPr>
          <a:xfrm>
            <a:off x="566928" y="4663440"/>
            <a:ext cx="548640" cy="594360"/>
          </a:xfrm>
          <a:prstGeom prst="rect">
            <a:avLst/>
          </a:prstGeom>
          <a:noFill/>
          <a:ln/>
        </p:spPr>
        <p:txBody>
          <a:bodyPr wrap="square" lIns="0" tIns="0" rIns="0" bIns="0" rtlCol="0" anchor="ctr"/>
          <a:lstStyle/>
          <a:p>
            <a:pPr indent="0" marL="0">
              <a:buNone/>
            </a:pPr>
            <a:r>
              <a:rPr lang="en-US" sz="1700" dirty="0">
                <a:solidFill>
                  <a:srgbClr val="F07F06"/>
                </a:solidFill>
                <a:latin typeface="Arial Black" pitchFamily="34" charset="0"/>
                <a:ea typeface="Arial Black" pitchFamily="34" charset="-122"/>
                <a:cs typeface="Arial Black" pitchFamily="34" charset="-120"/>
              </a:rPr>
              <a:t>05</a:t>
            </a:r>
            <a:endParaRPr lang="en-US" sz="1700" dirty="0"/>
          </a:p>
        </p:txBody>
      </p:sp>
      <p:sp>
        <p:nvSpPr>
          <p:cNvPr id="25" name="Text 22"/>
          <p:cNvSpPr/>
          <p:nvPr/>
        </p:nvSpPr>
        <p:spPr>
          <a:xfrm>
            <a:off x="1207008" y="4718304"/>
            <a:ext cx="3200400" cy="292608"/>
          </a:xfrm>
          <a:prstGeom prst="rect">
            <a:avLst/>
          </a:prstGeom>
          <a:noFill/>
          <a:ln/>
        </p:spPr>
        <p:txBody>
          <a:bodyPr wrap="square" lIns="0" tIns="0" rIns="0" bIns="0" rtlCol="0" anchor="ctr"/>
          <a:lstStyle/>
          <a:p>
            <a:pPr indent="0" marL="0">
              <a:buNone/>
            </a:pPr>
            <a:r>
              <a:rPr lang="en-US" sz="1050" b="1" spc="130" kern="0" dirty="0">
                <a:solidFill>
                  <a:srgbClr val="0F0F11"/>
                </a:solidFill>
                <a:latin typeface="Courier New" pitchFamily="34" charset="0"/>
                <a:ea typeface="Courier New" pitchFamily="34" charset="-122"/>
                <a:cs typeface="Courier New" pitchFamily="34" charset="-120"/>
              </a:rPr>
              <a:t>AUDITORÍA EXTERNA</a:t>
            </a:r>
            <a:endParaRPr lang="en-US" sz="1050" dirty="0"/>
          </a:p>
        </p:txBody>
      </p:sp>
      <p:sp>
        <p:nvSpPr>
          <p:cNvPr id="26" name="Text 23"/>
          <p:cNvSpPr/>
          <p:nvPr/>
        </p:nvSpPr>
        <p:spPr>
          <a:xfrm>
            <a:off x="4544568" y="4700016"/>
            <a:ext cx="7080199" cy="548640"/>
          </a:xfrm>
          <a:prstGeom prst="rect">
            <a:avLst/>
          </a:prstGeom>
          <a:noFill/>
          <a:ln/>
        </p:spPr>
        <p:txBody>
          <a:bodyPr wrap="square" lIns="0" tIns="0" rIns="0" bIns="0" rtlCol="0" anchor="ctr"/>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Ojos que no escribieron el código. Cuesta, pero es la última red antes de custodiar valor.</a:t>
            </a:r>
            <a:endParaRPr lang="en-US" sz="1250" dirty="0"/>
          </a:p>
        </p:txBody>
      </p:sp>
      <p:sp>
        <p:nvSpPr>
          <p:cNvPr id="27" name="Shape 24"/>
          <p:cNvSpPr/>
          <p:nvPr/>
        </p:nvSpPr>
        <p:spPr>
          <a:xfrm>
            <a:off x="566928" y="5330952"/>
            <a:ext cx="11057839" cy="914"/>
          </a:xfrm>
          <a:prstGeom prst="line">
            <a:avLst/>
          </a:prstGeom>
          <a:noFill/>
          <a:ln w="12700">
            <a:solidFill>
              <a:srgbClr val="D9D6E0"/>
            </a:solidFill>
            <a:prstDash val="solid"/>
          </a:ln>
        </p:spPr>
      </p:sp>
      <p:sp>
        <p:nvSpPr>
          <p:cNvPr id="28" name="Text 25"/>
          <p:cNvSpPr/>
          <p:nvPr/>
        </p:nvSpPr>
        <p:spPr>
          <a:xfrm>
            <a:off x="566928" y="5394960"/>
            <a:ext cx="548640" cy="594360"/>
          </a:xfrm>
          <a:prstGeom prst="rect">
            <a:avLst/>
          </a:prstGeom>
          <a:noFill/>
          <a:ln/>
        </p:spPr>
        <p:txBody>
          <a:bodyPr wrap="square" lIns="0" tIns="0" rIns="0" bIns="0" rtlCol="0" anchor="ctr"/>
          <a:lstStyle/>
          <a:p>
            <a:pPr indent="0" marL="0">
              <a:buNone/>
            </a:pPr>
            <a:r>
              <a:rPr lang="en-US" sz="1700" dirty="0">
                <a:solidFill>
                  <a:srgbClr val="F07F06"/>
                </a:solidFill>
                <a:latin typeface="Arial Black" pitchFamily="34" charset="0"/>
                <a:ea typeface="Arial Black" pitchFamily="34" charset="-122"/>
                <a:cs typeface="Arial Black" pitchFamily="34" charset="-120"/>
              </a:rPr>
              <a:t>06</a:t>
            </a:r>
            <a:endParaRPr lang="en-US" sz="1700" dirty="0"/>
          </a:p>
        </p:txBody>
      </p:sp>
      <p:sp>
        <p:nvSpPr>
          <p:cNvPr id="29" name="Text 26"/>
          <p:cNvSpPr/>
          <p:nvPr/>
        </p:nvSpPr>
        <p:spPr>
          <a:xfrm>
            <a:off x="1207008" y="5449824"/>
            <a:ext cx="3200400" cy="292608"/>
          </a:xfrm>
          <a:prstGeom prst="rect">
            <a:avLst/>
          </a:prstGeom>
          <a:noFill/>
          <a:ln/>
        </p:spPr>
        <p:txBody>
          <a:bodyPr wrap="square" lIns="0" tIns="0" rIns="0" bIns="0" rtlCol="0" anchor="ctr"/>
          <a:lstStyle/>
          <a:p>
            <a:pPr indent="0" marL="0">
              <a:buNone/>
            </a:pPr>
            <a:r>
              <a:rPr lang="en-US" sz="1050" b="1" spc="130" kern="0" dirty="0">
                <a:solidFill>
                  <a:srgbClr val="0F0F11"/>
                </a:solidFill>
                <a:latin typeface="Courier New" pitchFamily="34" charset="0"/>
                <a:ea typeface="Courier New" pitchFamily="34" charset="-122"/>
                <a:cs typeface="Courier New" pitchFamily="34" charset="-120"/>
              </a:rPr>
              <a:t>RECOMPENSAS Y MONITOREO</a:t>
            </a:r>
            <a:endParaRPr lang="en-US" sz="1050" dirty="0"/>
          </a:p>
        </p:txBody>
      </p:sp>
      <p:sp>
        <p:nvSpPr>
          <p:cNvPr id="30" name="Text 27"/>
          <p:cNvSpPr/>
          <p:nvPr/>
        </p:nvSpPr>
        <p:spPr>
          <a:xfrm>
            <a:off x="4544568" y="5431536"/>
            <a:ext cx="7080199" cy="548640"/>
          </a:xfrm>
          <a:prstGeom prst="rect">
            <a:avLst/>
          </a:prstGeom>
          <a:noFill/>
          <a:ln/>
        </p:spPr>
        <p:txBody>
          <a:bodyPr wrap="square" lIns="0" tIns="0" rIns="0" bIns="0" rtlCol="0" anchor="ctr"/>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Bug bounties (Immunefi y otros) y vigilancia del contrato ya desplegado.</a:t>
            </a:r>
            <a:endParaRPr lang="en-US" sz="1250" dirty="0"/>
          </a:p>
        </p:txBody>
      </p:sp>
      <p:sp>
        <p:nvSpPr>
          <p:cNvPr id="31" name="Shape 28"/>
          <p:cNvSpPr/>
          <p:nvPr/>
        </p:nvSpPr>
        <p:spPr>
          <a:xfrm>
            <a:off x="566928" y="6062472"/>
            <a:ext cx="11057839" cy="914"/>
          </a:xfrm>
          <a:prstGeom prst="line">
            <a:avLst/>
          </a:prstGeom>
          <a:noFill/>
          <a:ln w="12700">
            <a:solidFill>
              <a:srgbClr val="D9D6E0"/>
            </a:solidFill>
            <a:prstDash val="solid"/>
          </a:ln>
        </p:spPr>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A.17 · UNA HERRAMIENTA CONCRETA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SLITHER: SALIDA REAL SOBRE EL BANCO</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09 · SEGURIDAD DE CONTRATOS INTELIGENTES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23</a:t>
            </a:r>
            <a:endParaRPr lang="en-US" sz="900" dirty="0"/>
          </a:p>
        </p:txBody>
      </p:sp>
      <p:sp>
        <p:nvSpPr>
          <p:cNvPr id="8" name="Shape 5"/>
          <p:cNvSpPr/>
          <p:nvPr/>
        </p:nvSpPr>
        <p:spPr>
          <a:xfrm>
            <a:off x="566928" y="1691640"/>
            <a:ext cx="11057839" cy="914400"/>
          </a:xfrm>
          <a:prstGeom prst="rect">
            <a:avLst/>
          </a:prstGeom>
          <a:solidFill>
            <a:srgbClr val="16151B"/>
          </a:solidFill>
          <a:ln w="22225">
            <a:solidFill>
              <a:srgbClr val="16151B"/>
            </a:solidFill>
            <a:prstDash val="solid"/>
          </a:ln>
        </p:spPr>
      </p:sp>
      <p:sp>
        <p:nvSpPr>
          <p:cNvPr id="9" name="Text 6"/>
          <p:cNvSpPr/>
          <p:nvPr/>
        </p:nvSpPr>
        <p:spPr>
          <a:xfrm>
            <a:off x="768096" y="1837944"/>
            <a:ext cx="10655503" cy="658368"/>
          </a:xfrm>
          <a:prstGeom prst="rect">
            <a:avLst/>
          </a:prstGeom>
          <a:noFill/>
          <a:ln/>
        </p:spPr>
        <p:txBody>
          <a:bodyPr wrap="square" lIns="0" tIns="0" rIns="0" bIns="0" rtlCol="0" anchor="t"/>
          <a:lstStyle/>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pip</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install</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slither</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analyzer</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requiere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Python</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FA41B"/>
                </a:solidFill>
                <a:latin typeface="Courier New" pitchFamily="34" charset="0"/>
                <a:ea typeface="Courier New" pitchFamily="34" charset="-122"/>
                <a:cs typeface="Courier New" pitchFamily="34" charset="-120"/>
              </a:rPr>
              <a:t>3.10</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endParaRPr lang="en-US" sz="1150" dirty="0"/>
          </a:p>
          <a:p>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slither</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contracts</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s09</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BancoVulnerable</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150" dirty="0">
                <a:solidFill>
                  <a:srgbClr val="F4F2F7"/>
                </a:solidFill>
                <a:latin typeface="Courier New" pitchFamily="34" charset="0"/>
                <a:ea typeface="Courier New" pitchFamily="34" charset="-122"/>
                <a:cs typeface="Courier New" pitchFamily="34" charset="-120"/>
              </a:rPr>
              <a:t>sol</a:t>
            </a:r>
            <a:endParaRPr lang="en-US" sz="1150" dirty="0"/>
          </a:p>
        </p:txBody>
      </p:sp>
      <p:sp>
        <p:nvSpPr>
          <p:cNvPr id="10" name="Shape 7"/>
          <p:cNvSpPr/>
          <p:nvPr/>
        </p:nvSpPr>
        <p:spPr>
          <a:xfrm>
            <a:off x="566928" y="2743200"/>
            <a:ext cx="11057839" cy="2148840"/>
          </a:xfrm>
          <a:prstGeom prst="rect">
            <a:avLst/>
          </a:prstGeom>
          <a:solidFill>
            <a:srgbClr val="16151B"/>
          </a:solidFill>
          <a:ln w="22225">
            <a:solidFill>
              <a:srgbClr val="16151B"/>
            </a:solidFill>
            <a:prstDash val="solid"/>
          </a:ln>
        </p:spPr>
      </p:sp>
      <p:sp>
        <p:nvSpPr>
          <p:cNvPr id="11" name="Text 8"/>
          <p:cNvSpPr/>
          <p:nvPr/>
        </p:nvSpPr>
        <p:spPr>
          <a:xfrm>
            <a:off x="768096" y="2816352"/>
            <a:ext cx="10655503" cy="274320"/>
          </a:xfrm>
          <a:prstGeom prst="rect">
            <a:avLst/>
          </a:prstGeom>
          <a:noFill/>
          <a:ln/>
        </p:spPr>
        <p:txBody>
          <a:bodyPr wrap="square" lIns="0" tIns="0" rIns="0" bIns="0" rtlCol="0" anchor="ctr"/>
          <a:lstStyle/>
          <a:p>
            <a:pPr indent="0" marL="0">
              <a:buNone/>
            </a:pPr>
            <a:r>
              <a:rPr lang="en-US" sz="850" b="1" spc="140" kern="0" dirty="0">
                <a:solidFill>
                  <a:srgbClr val="8B8697"/>
                </a:solidFill>
                <a:latin typeface="Courier New" pitchFamily="34" charset="0"/>
                <a:ea typeface="Courier New" pitchFamily="34" charset="-122"/>
                <a:cs typeface="Courier New" pitchFamily="34" charset="-120"/>
              </a:rPr>
              <a:t>SALIDA REAL (REENTRANCY-ETH · SEVERIDAD ALTA)</a:t>
            </a:r>
            <a:endParaRPr lang="en-US" sz="850" dirty="0"/>
          </a:p>
        </p:txBody>
      </p:sp>
      <p:sp>
        <p:nvSpPr>
          <p:cNvPr id="12" name="Text 9"/>
          <p:cNvSpPr/>
          <p:nvPr/>
        </p:nvSpPr>
        <p:spPr>
          <a:xfrm>
            <a:off x="768096" y="3127248"/>
            <a:ext cx="10655503" cy="1655064"/>
          </a:xfrm>
          <a:prstGeom prst="rect">
            <a:avLst/>
          </a:prstGeom>
          <a:noFill/>
          <a:ln/>
        </p:spPr>
        <p:txBody>
          <a:bodyPr wrap="square" lIns="0" tIns="0" rIns="0" bIns="0" rtlCol="0" anchor="t"/>
          <a:lstStyle/>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Reentrancy</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in</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BancoVulnerable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retirar</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BancoVulnerable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sol</a:t>
            </a:r>
            <a:pPr indent="0" marL="0">
              <a:lnSpc>
                <a:spcPct val="112000"/>
              </a:lnSpc>
              <a:buNone/>
            </a:pPr>
            <a:r>
              <a:rPr lang="en-US" sz="1050" dirty="0">
                <a:solidFill>
                  <a:srgbClr val="8B8697"/>
                </a:solidFill>
                <a:latin typeface="Courier New" pitchFamily="34" charset="0"/>
                <a:ea typeface="Courier New" pitchFamily="34" charset="-122"/>
                <a:cs typeface="Courier New" pitchFamily="34" charset="-120"/>
              </a:rPr>
              <a:t>#21-30):</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External</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calls</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ok</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None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address</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sender</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call</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value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monto</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8B8697"/>
                </a:solidFill>
                <a:latin typeface="Courier New" pitchFamily="34" charset="0"/>
                <a:ea typeface="Courier New" pitchFamily="34" charset="-122"/>
                <a:cs typeface="Courier New" pitchFamily="34" charset="-120"/>
              </a:rPr>
              <a:t>#26)</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State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variables</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written</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after</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the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call</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s</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saldos</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msg</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sender</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FA41B"/>
                </a:solidFill>
                <a:latin typeface="Courier New" pitchFamily="34" charset="0"/>
                <a:ea typeface="Courier New" pitchFamily="34" charset="-122"/>
                <a:cs typeface="Courier New" pitchFamily="34" charset="-120"/>
              </a:rPr>
              <a:t>0</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8B8697"/>
                </a:solidFill>
                <a:latin typeface="Courier New" pitchFamily="34" charset="0"/>
                <a:ea typeface="Courier New" pitchFamily="34" charset="-122"/>
                <a:cs typeface="Courier New" pitchFamily="34" charset="-120"/>
              </a:rPr>
              <a:t>#29)</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Reference</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Detector</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Documentation</a:t>
            </a:r>
            <a:pPr indent="0" marL="0">
              <a:lnSpc>
                <a:spcPct val="112000"/>
              </a:lnSpc>
              <a:buNone/>
            </a:pPr>
            <a:r>
              <a:rPr lang="en-US" sz="1050" dirty="0">
                <a:solidFill>
                  <a:srgbClr val="8B8697"/>
                </a:solidFill>
                <a:latin typeface="Courier New" pitchFamily="34" charset="0"/>
                <a:ea typeface="Courier New" pitchFamily="34" charset="-122"/>
                <a:cs typeface="Courier New" pitchFamily="34" charset="-120"/>
              </a:rPr>
              <a:t>#reentrancy-vulnerabilities-1</a:t>
            </a:r>
            <a:endParaRPr lang="en-US" sz="1050" dirty="0"/>
          </a:p>
          <a:p>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analyzed</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FA41B"/>
                </a:solidFill>
                <a:latin typeface="Courier New" pitchFamily="34" charset="0"/>
                <a:ea typeface="Courier New" pitchFamily="34" charset="-122"/>
                <a:cs typeface="Courier New" pitchFamily="34" charset="-120"/>
              </a:rPr>
              <a:t>1</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contracts</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07F06"/>
                </a:solidFill>
                <a:latin typeface="Courier New" pitchFamily="34" charset="0"/>
                <a:ea typeface="Courier New" pitchFamily="34" charset="-122"/>
                <a:cs typeface="Courier New" pitchFamily="34" charset="-120"/>
              </a:rPr>
              <a:t>with</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FA41B"/>
                </a:solidFill>
                <a:latin typeface="Courier New" pitchFamily="34" charset="0"/>
                <a:ea typeface="Courier New" pitchFamily="34" charset="-122"/>
                <a:cs typeface="Courier New" pitchFamily="34" charset="-120"/>
              </a:rPr>
              <a:t>102</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detectors</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FA41B"/>
                </a:solidFill>
                <a:latin typeface="Courier New" pitchFamily="34" charset="0"/>
                <a:ea typeface="Courier New" pitchFamily="34" charset="-122"/>
                <a:cs typeface="Courier New" pitchFamily="34" charset="-120"/>
              </a:rPr>
              <a:t>2</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result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s</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 </a:t>
            </a:r>
            <a:pPr indent="0" marL="0">
              <a:lnSpc>
                <a:spcPct val="112000"/>
              </a:lnSpc>
              <a:buNone/>
            </a:pPr>
            <a:r>
              <a:rPr lang="en-US" sz="1050" dirty="0">
                <a:solidFill>
                  <a:srgbClr val="F4F2F7"/>
                </a:solidFill>
                <a:latin typeface="Courier New" pitchFamily="34" charset="0"/>
                <a:ea typeface="Courier New" pitchFamily="34" charset="-122"/>
                <a:cs typeface="Courier New" pitchFamily="34" charset="-120"/>
              </a:rPr>
              <a:t>found</a:t>
            </a:r>
            <a:endParaRPr lang="en-US" sz="1050" dirty="0"/>
          </a:p>
        </p:txBody>
      </p:sp>
      <p:sp>
        <p:nvSpPr>
          <p:cNvPr id="13" name="Shape 10"/>
          <p:cNvSpPr/>
          <p:nvPr/>
        </p:nvSpPr>
        <p:spPr>
          <a:xfrm>
            <a:off x="566928" y="5074920"/>
            <a:ext cx="11057839" cy="1115568"/>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pic>
        <p:nvPicPr>
          <p:cNvPr id="14" name="Image 1" descr="preencoded.png">    </p:cNvPr>
          <p:cNvPicPr>
            <a:picLocks noChangeAspect="1"/>
          </p:cNvPicPr>
          <p:nvPr/>
        </p:nvPicPr>
        <p:blipFill>
          <a:blip r:embed="rId2"/>
          <a:stretch>
            <a:fillRect/>
          </a:stretch>
        </p:blipFill>
        <p:spPr>
          <a:xfrm>
            <a:off x="804672" y="5294376"/>
            <a:ext cx="237744" cy="237744"/>
          </a:xfrm>
          <a:prstGeom prst="rect">
            <a:avLst/>
          </a:prstGeom>
        </p:spPr>
      </p:pic>
      <p:sp>
        <p:nvSpPr>
          <p:cNvPr id="15" name="Text 11"/>
          <p:cNvSpPr/>
          <p:nvPr/>
        </p:nvSpPr>
        <p:spPr>
          <a:xfrm>
            <a:off x="1133856" y="5266944"/>
            <a:ext cx="10234879" cy="292608"/>
          </a:xfrm>
          <a:prstGeom prst="rect">
            <a:avLst/>
          </a:prstGeom>
          <a:noFill/>
          <a:ln/>
        </p:spPr>
        <p:txBody>
          <a:bodyPr wrap="square" lIns="0" tIns="0" rIns="0" bIns="0" rtlCol="0" anchor="ctr"/>
          <a:lstStyle/>
          <a:p>
            <a:pPr indent="0" marL="0">
              <a:buNone/>
            </a:pPr>
            <a:r>
              <a:rPr lang="en-US" sz="950" b="1" spc="150" kern="0" dirty="0">
                <a:solidFill>
                  <a:srgbClr val="A35604"/>
                </a:solidFill>
                <a:latin typeface="Courier New" pitchFamily="34" charset="0"/>
                <a:ea typeface="Courier New" pitchFamily="34" charset="-122"/>
                <a:cs typeface="Courier New" pitchFamily="34" charset="-120"/>
              </a:rPr>
              <a:t>QUÉ NO PUEDE HACER</a:t>
            </a:r>
            <a:endParaRPr lang="en-US" sz="950" dirty="0"/>
          </a:p>
        </p:txBody>
      </p:sp>
      <p:sp>
        <p:nvSpPr>
          <p:cNvPr id="16" name="Text 12"/>
          <p:cNvSpPr/>
          <p:nvPr/>
        </p:nvSpPr>
        <p:spPr>
          <a:xfrm>
            <a:off x="804672" y="5586984"/>
            <a:ext cx="10582351" cy="512064"/>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Slither encontró la reentrancy en segundos y sin ejecutar nada. Pero no entiende la lógica de negocio, no sabe qué DEBERÍA hacer el contrato, y no encuentra fallos de diseño nuevos. Es el primer filtro, no el último; no reemplaza al auditor humano.</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A.18 · MÁS ALLÁ DEL ANÁLISIS ESTÁTICO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500" dirty="0">
                <a:solidFill>
                  <a:srgbClr val="0F0F11"/>
                </a:solidFill>
                <a:latin typeface="Arial Black" pitchFamily="34" charset="0"/>
                <a:ea typeface="Arial Black" pitchFamily="34" charset="-122"/>
                <a:cs typeface="Arial Black" pitchFamily="34" charset="-120"/>
              </a:rPr>
              <a:t>FUZZING, INVARIANTES Y AUDITORÍA EXTERNA</a:t>
            </a:r>
            <a:endParaRPr lang="en-US" sz="25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09 · SEGURIDAD DE CONTRATOS INTELIGENTES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24</a:t>
            </a:r>
            <a:endParaRPr lang="en-US" sz="9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2286000"/>
                <a:gridCol w="4572000"/>
                <a:gridCol w="419983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TÉCNICA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HACE</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ATRAPA QUE LO ANTERIOR NO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733806">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Fuzzing</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Lanza miles de entradas aleatorias contra el contrato buscando romper algo.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Combinaciones raras de valores que ningún test escrito a mano previó.</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733806">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Invariantes</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Afirmas algo que SIEMPRE debe ser cierto (p. ej. suma de saldos = balance) y se pone a prueba.</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Errores de contabilidad y de diseño que no violan una función suelta.</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733806">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Auditoría externa</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Personas expertas que no escribieron el código lo revisan a fondo.</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Fallos de lógica de negocio y de arquitectura; lo que ninguna herramienta ve.</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733806">
                <a:tc>
                  <a:txBody>
                    <a:bodyPr/>
                    <a:lstStyle/>
                    <a:p>
                      <a:pPr indent="0" marL="0">
                        <a:buNone/>
                      </a:pPr>
                      <a:r>
                        <a:rPr lang="en-US" sz="1100" b="1" dirty="0">
                          <a:solidFill>
                            <a:srgbClr val="0F0F11"/>
                          </a:solidFill>
                          <a:latin typeface="Courier New" pitchFamily="34" charset="0"/>
                          <a:ea typeface="Courier New" pitchFamily="34" charset="-122"/>
                          <a:cs typeface="Courier New" pitchFamily="34" charset="-120"/>
                        </a:rPr>
                        <a:t>Bug bounty</a:t>
                      </a:r>
                      <a:endParaRPr lang="en-US" sz="11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Se paga a quien encuentre fallos en el contrato YA desplegado (Immunefi y otros).</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00" dirty="0">
                          <a:solidFill>
                            <a:srgbClr val="3A3844"/>
                          </a:solidFill>
                          <a:latin typeface="Arial" pitchFamily="34" charset="0"/>
                          <a:ea typeface="Arial" pitchFamily="34" charset="-122"/>
                          <a:cs typeface="Arial" pitchFamily="34" charset="-120"/>
                        </a:rPr>
                        <a:t>Lo que se escapó de todo lo anterior, antes de que lo use un atacante.</a:t>
                      </a:r>
                      <a:endParaRPr lang="en-US" sz="11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9" name="Shape 5"/>
          <p:cNvSpPr/>
          <p:nvPr/>
        </p:nvSpPr>
        <p:spPr>
          <a:xfrm>
            <a:off x="548640" y="1719072"/>
            <a:ext cx="11094415" cy="3282696"/>
          </a:xfrm>
          <a:prstGeom prst="rect">
            <a:avLst/>
          </a:prstGeom>
          <a:ln w="22225">
            <a:solidFill>
              <a:srgbClr val="0F0F11"/>
            </a:solidFill>
            <a:prstDash val="solid"/>
          </a:ln>
        </p:spPr>
      </p:sp>
      <p:sp>
        <p:nvSpPr>
          <p:cNvPr id="10" name="Shape 6"/>
          <p:cNvSpPr/>
          <p:nvPr/>
        </p:nvSpPr>
        <p:spPr>
          <a:xfrm>
            <a:off x="566928" y="5074920"/>
            <a:ext cx="11057839" cy="1143000"/>
          </a:xfrm>
          <a:prstGeom prst="rect">
            <a:avLst/>
          </a:prstGeom>
          <a:solidFill>
            <a:srgbClr val="F2F0F5"/>
          </a:solidFill>
          <a:ln w="22225">
            <a:solidFill>
              <a:srgbClr val="0F0F11"/>
            </a:solidFill>
            <a:prstDash val="solid"/>
          </a:ln>
        </p:spPr>
      </p:sp>
      <p:pic>
        <p:nvPicPr>
          <p:cNvPr id="11" name="Image 1" descr="preencoded.png">    </p:cNvPr>
          <p:cNvPicPr>
            <a:picLocks noChangeAspect="1"/>
          </p:cNvPicPr>
          <p:nvPr/>
        </p:nvPicPr>
        <p:blipFill>
          <a:blip r:embed="rId2"/>
          <a:stretch>
            <a:fillRect/>
          </a:stretch>
        </p:blipFill>
        <p:spPr>
          <a:xfrm>
            <a:off x="804672" y="5294376"/>
            <a:ext cx="237744" cy="237744"/>
          </a:xfrm>
          <a:prstGeom prst="rect">
            <a:avLst/>
          </a:prstGeom>
        </p:spPr>
      </p:pic>
      <p:sp>
        <p:nvSpPr>
          <p:cNvPr id="12" name="Text 7"/>
          <p:cNvSpPr/>
          <p:nvPr/>
        </p:nvSpPr>
        <p:spPr>
          <a:xfrm>
            <a:off x="1133856" y="5266944"/>
            <a:ext cx="10234879" cy="292608"/>
          </a:xfrm>
          <a:prstGeom prst="rect">
            <a:avLst/>
          </a:prstGeom>
          <a:noFill/>
          <a:ln/>
        </p:spPr>
        <p:txBody>
          <a:bodyPr wrap="square" lIns="0" tIns="0" rIns="0" bIns="0" rtlCol="0" anchor="ctr"/>
          <a:lstStyle/>
          <a:p>
            <a:pPr indent="0" marL="0">
              <a:buNone/>
            </a:pPr>
            <a:r>
              <a:rPr lang="en-US" sz="950" b="1" spc="150" kern="0" dirty="0">
                <a:solidFill>
                  <a:srgbClr val="6F6B80"/>
                </a:solidFill>
                <a:latin typeface="Courier New" pitchFamily="34" charset="0"/>
                <a:ea typeface="Courier New" pitchFamily="34" charset="-122"/>
                <a:cs typeface="Courier New" pitchFamily="34" charset="-120"/>
              </a:rPr>
              <a:t>EL ORDEN IMPORTA</a:t>
            </a:r>
            <a:endParaRPr lang="en-US" sz="950" dirty="0"/>
          </a:p>
        </p:txBody>
      </p:sp>
      <p:sp>
        <p:nvSpPr>
          <p:cNvPr id="13" name="Text 8"/>
          <p:cNvSpPr/>
          <p:nvPr/>
        </p:nvSpPr>
        <p:spPr>
          <a:xfrm>
            <a:off x="804672" y="5586984"/>
            <a:ext cx="10582351" cy="539496"/>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Cada capa es más cara que la anterior. Se sube en orden: no se paga una auditoría de un código que ni siquiera pasa Slither. La auditoría no es un sello: es una foto en un momento, sobre una versión concreta.</a:t>
            </a:r>
            <a:endParaRPr lang="en-US" sz="12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A.19 · ACTUALIZAR LO INMUTABLE</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500" dirty="0">
                <a:solidFill>
                  <a:srgbClr val="0F0F11"/>
                </a:solidFill>
                <a:latin typeface="Arial Black" pitchFamily="34" charset="0"/>
                <a:ea typeface="Arial Black" pitchFamily="34" charset="-122"/>
                <a:cs typeface="Arial Black" pitchFamily="34" charset="-120"/>
              </a:rPr>
              <a:t>PROXIES: PODER CAMBIAR EL CÓDIGO, Y SU PRECIO</a:t>
            </a:r>
            <a:endParaRPr lang="en-US" sz="25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09 · SEGURIDAD DE CONTRATOS INTELIGENTES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25</a:t>
            </a:r>
            <a:endParaRPr lang="en-US" sz="900" dirty="0"/>
          </a:p>
        </p:txBody>
      </p:sp>
      <p:sp>
        <p:nvSpPr>
          <p:cNvPr id="8" name="Text 5"/>
          <p:cNvSpPr/>
          <p:nvPr/>
        </p:nvSpPr>
        <p:spPr>
          <a:xfrm>
            <a:off x="566928" y="1691640"/>
            <a:ext cx="11057839" cy="868680"/>
          </a:xfrm>
          <a:prstGeom prst="rect">
            <a:avLst/>
          </a:prstGeom>
          <a:noFill/>
          <a:ln/>
        </p:spPr>
        <p:txBody>
          <a:bodyPr wrap="square" lIns="0" tIns="0" rIns="0" bIns="0" rtlCol="0" anchor="t"/>
          <a:lstStyle/>
          <a:p>
            <a:pPr indent="0" marL="0">
              <a:lnSpc>
                <a:spcPct val="124000"/>
              </a:lnSpc>
              <a:buNone/>
            </a:pPr>
            <a:r>
              <a:rPr lang="en-US" sz="1400" dirty="0">
                <a:solidFill>
                  <a:srgbClr val="3A3844"/>
                </a:solidFill>
                <a:latin typeface="Arial" pitchFamily="34" charset="0"/>
                <a:ea typeface="Arial" pitchFamily="34" charset="-122"/>
                <a:cs typeface="Arial" pitchFamily="34" charset="-120"/>
              </a:rPr>
              <a:t>Si el código es inmutable, ¿cómo se corrige un bug? Con un proxy: un contrato «fachada» que guarda el estado y, vía delegatecall, ejecuta la lógica de OTRO contrato que sí se puede reemplazar.</a:t>
            </a:r>
            <a:endParaRPr lang="en-US" sz="1400" dirty="0"/>
          </a:p>
        </p:txBody>
      </p:sp>
      <p:sp>
        <p:nvSpPr>
          <p:cNvPr id="9" name="Shape 6"/>
          <p:cNvSpPr/>
          <p:nvPr/>
        </p:nvSpPr>
        <p:spPr>
          <a:xfrm>
            <a:off x="566928" y="2743200"/>
            <a:ext cx="3108960" cy="914400"/>
          </a:xfrm>
          <a:prstGeom prst="rect">
            <a:avLst/>
          </a:prstGeom>
          <a:solidFill>
            <a:srgbClr val="FFFFFF"/>
          </a:solidFill>
          <a:ln w="22225">
            <a:solidFill>
              <a:srgbClr val="7152E9"/>
            </a:solidFill>
            <a:prstDash val="solid"/>
          </a:ln>
        </p:spPr>
      </p:sp>
      <p:sp>
        <p:nvSpPr>
          <p:cNvPr id="10" name="Text 7"/>
          <p:cNvSpPr/>
          <p:nvPr/>
        </p:nvSpPr>
        <p:spPr>
          <a:xfrm>
            <a:off x="658368" y="2834640"/>
            <a:ext cx="2926080" cy="292608"/>
          </a:xfrm>
          <a:prstGeom prst="rect">
            <a:avLst/>
          </a:prstGeom>
          <a:noFill/>
          <a:ln/>
        </p:spPr>
        <p:txBody>
          <a:bodyPr wrap="square" lIns="0" tIns="0" rIns="0" bIns="0" rtlCol="0" anchor="ctr"/>
          <a:lstStyle/>
          <a:p>
            <a:pPr algn="ctr" indent="0" marL="0">
              <a:buNone/>
            </a:pPr>
            <a:r>
              <a:rPr lang="en-US" sz="1100" b="1" spc="80" kern="0" dirty="0">
                <a:solidFill>
                  <a:srgbClr val="0F0F11"/>
                </a:solidFill>
                <a:latin typeface="Courier New" pitchFamily="34" charset="0"/>
                <a:ea typeface="Courier New" pitchFamily="34" charset="-122"/>
                <a:cs typeface="Courier New" pitchFamily="34" charset="-120"/>
              </a:rPr>
              <a:t>PROXY</a:t>
            </a:r>
            <a:endParaRPr lang="en-US" sz="1100" dirty="0"/>
          </a:p>
        </p:txBody>
      </p:sp>
      <p:sp>
        <p:nvSpPr>
          <p:cNvPr id="11" name="Text 8"/>
          <p:cNvSpPr/>
          <p:nvPr/>
        </p:nvSpPr>
        <p:spPr>
          <a:xfrm>
            <a:off x="658368" y="3145536"/>
            <a:ext cx="2926080" cy="438912"/>
          </a:xfrm>
          <a:prstGeom prst="rect">
            <a:avLst/>
          </a:prstGeom>
          <a:noFill/>
          <a:ln/>
        </p:spPr>
        <p:txBody>
          <a:bodyPr wrap="square" lIns="0" tIns="0" rIns="0" bIns="0" rtlCol="0" anchor="t"/>
          <a:lstStyle/>
          <a:p>
            <a:pPr algn="ctr" indent="0" marL="0">
              <a:lnSpc>
                <a:spcPct val="110000"/>
              </a:lnSpc>
              <a:buNone/>
            </a:pPr>
            <a:r>
              <a:rPr lang="en-US" sz="1050" dirty="0">
                <a:solidFill>
                  <a:srgbClr val="6F6B80"/>
                </a:solidFill>
                <a:latin typeface="Arial" pitchFamily="34" charset="0"/>
                <a:ea typeface="Arial" pitchFamily="34" charset="-122"/>
                <a:cs typeface="Arial" pitchFamily="34" charset="-120"/>
              </a:rPr>
              <a:t>guarda el estado</a:t>
            </a:r>
            <a:endParaRPr lang="en-US" sz="1050" dirty="0"/>
          </a:p>
          <a:p>
            <a:pPr algn="ctr" indent="0" marL="0">
              <a:lnSpc>
                <a:spcPct val="110000"/>
              </a:lnSpc>
              <a:buNone/>
            </a:pPr>
            <a:r>
              <a:rPr lang="en-US" sz="1050" dirty="0">
                <a:solidFill>
                  <a:srgbClr val="6F6B80"/>
                </a:solidFill>
                <a:latin typeface="Arial" pitchFamily="34" charset="0"/>
                <a:ea typeface="Arial" pitchFamily="34" charset="-122"/>
                <a:cs typeface="Arial" pitchFamily="34" charset="-120"/>
              </a:rPr>
              <a:t>y la dirección de la lógica</a:t>
            </a:r>
            <a:endParaRPr lang="en-US" sz="1050" dirty="0"/>
          </a:p>
        </p:txBody>
      </p:sp>
      <p:sp>
        <p:nvSpPr>
          <p:cNvPr id="12" name="Shape 9"/>
          <p:cNvSpPr/>
          <p:nvPr/>
        </p:nvSpPr>
        <p:spPr>
          <a:xfrm>
            <a:off x="3675888" y="3200400"/>
            <a:ext cx="731520" cy="914"/>
          </a:xfrm>
          <a:prstGeom prst="line">
            <a:avLst/>
          </a:prstGeom>
          <a:noFill/>
          <a:ln w="25400">
            <a:solidFill>
              <a:srgbClr val="0F0F11"/>
            </a:solidFill>
            <a:prstDash val="solid"/>
            <a:tailEnd type="triangle"/>
          </a:ln>
        </p:spPr>
      </p:sp>
      <p:sp>
        <p:nvSpPr>
          <p:cNvPr id="13" name="Shape 10"/>
          <p:cNvSpPr/>
          <p:nvPr/>
        </p:nvSpPr>
        <p:spPr>
          <a:xfrm>
            <a:off x="4407408" y="2743200"/>
            <a:ext cx="3291840" cy="914400"/>
          </a:xfrm>
          <a:prstGeom prst="rect">
            <a:avLst/>
          </a:prstGeom>
          <a:solidFill>
            <a:srgbClr val="FFFFFF"/>
          </a:solidFill>
          <a:ln w="22225">
            <a:solidFill>
              <a:srgbClr val="F07F06"/>
            </a:solidFill>
            <a:prstDash val="solid"/>
          </a:ln>
        </p:spPr>
      </p:sp>
      <p:sp>
        <p:nvSpPr>
          <p:cNvPr id="14" name="Text 11"/>
          <p:cNvSpPr/>
          <p:nvPr/>
        </p:nvSpPr>
        <p:spPr>
          <a:xfrm>
            <a:off x="4498848" y="2834640"/>
            <a:ext cx="3108960" cy="292608"/>
          </a:xfrm>
          <a:prstGeom prst="rect">
            <a:avLst/>
          </a:prstGeom>
          <a:noFill/>
          <a:ln/>
        </p:spPr>
        <p:txBody>
          <a:bodyPr wrap="square" lIns="0" tIns="0" rIns="0" bIns="0" rtlCol="0" anchor="ctr"/>
          <a:lstStyle/>
          <a:p>
            <a:pPr algn="ctr" indent="0" marL="0">
              <a:buNone/>
            </a:pPr>
            <a:r>
              <a:rPr lang="en-US" sz="1100" b="1" spc="80" kern="0" dirty="0">
                <a:solidFill>
                  <a:srgbClr val="0F0F11"/>
                </a:solidFill>
                <a:latin typeface="Courier New" pitchFamily="34" charset="0"/>
                <a:ea typeface="Courier New" pitchFamily="34" charset="-122"/>
                <a:cs typeface="Courier New" pitchFamily="34" charset="-120"/>
              </a:rPr>
              <a:t>LÓGICA v1 → v2</a:t>
            </a:r>
            <a:endParaRPr lang="en-US" sz="1100" dirty="0"/>
          </a:p>
        </p:txBody>
      </p:sp>
      <p:sp>
        <p:nvSpPr>
          <p:cNvPr id="15" name="Text 12"/>
          <p:cNvSpPr/>
          <p:nvPr/>
        </p:nvSpPr>
        <p:spPr>
          <a:xfrm>
            <a:off x="4498848" y="3145536"/>
            <a:ext cx="3108960" cy="438912"/>
          </a:xfrm>
          <a:prstGeom prst="rect">
            <a:avLst/>
          </a:prstGeom>
          <a:noFill/>
          <a:ln/>
        </p:spPr>
        <p:txBody>
          <a:bodyPr wrap="square" lIns="0" tIns="0" rIns="0" bIns="0" rtlCol="0" anchor="t"/>
          <a:lstStyle/>
          <a:p>
            <a:pPr algn="ctr" indent="0" marL="0">
              <a:lnSpc>
                <a:spcPct val="110000"/>
              </a:lnSpc>
              <a:buNone/>
            </a:pPr>
            <a:r>
              <a:rPr lang="en-US" sz="1050" dirty="0">
                <a:solidFill>
                  <a:srgbClr val="6F6B80"/>
                </a:solidFill>
                <a:latin typeface="Arial" pitchFamily="34" charset="0"/>
                <a:ea typeface="Arial" pitchFamily="34" charset="-122"/>
                <a:cs typeface="Arial" pitchFamily="34" charset="-120"/>
              </a:rPr>
              <a:t>delegatecall:</a:t>
            </a:r>
            <a:endParaRPr lang="en-US" sz="1050" dirty="0"/>
          </a:p>
          <a:p>
            <a:pPr algn="ctr" indent="0" marL="0">
              <a:lnSpc>
                <a:spcPct val="110000"/>
              </a:lnSpc>
              <a:buNone/>
            </a:pPr>
            <a:r>
              <a:rPr lang="en-US" sz="1050" dirty="0">
                <a:solidFill>
                  <a:srgbClr val="6F6B80"/>
                </a:solidFill>
                <a:latin typeface="Arial" pitchFamily="34" charset="0"/>
                <a:ea typeface="Arial" pitchFamily="34" charset="-122"/>
                <a:cs typeface="Arial" pitchFamily="34" charset="-120"/>
              </a:rPr>
              <a:t>se puede reemplazar</a:t>
            </a:r>
            <a:endParaRPr lang="en-US" sz="1050" dirty="0"/>
          </a:p>
        </p:txBody>
      </p:sp>
      <p:sp>
        <p:nvSpPr>
          <p:cNvPr id="16" name="Shape 13"/>
          <p:cNvSpPr/>
          <p:nvPr/>
        </p:nvSpPr>
        <p:spPr>
          <a:xfrm>
            <a:off x="7882128" y="2743200"/>
            <a:ext cx="3742639" cy="914400"/>
          </a:xfrm>
          <a:prstGeom prst="rect">
            <a:avLst/>
          </a:prstGeom>
          <a:solidFill>
            <a:srgbClr val="FFFFFF"/>
          </a:solidFill>
          <a:ln w="22225">
            <a:solidFill>
              <a:srgbClr val="B3261E"/>
            </a:solidFill>
            <a:prstDash val="solid"/>
          </a:ln>
          <a:effectLst>
            <a:outerShdw sx="100000" sy="100000" kx="0" ky="0" algn="bl" rotWithShape="0" blurRad="101600" dist="63500" dir="2700000">
              <a:srgbClr val="B3261E">
                <a:alpha val="100000"/>
              </a:srgbClr>
            </a:outerShdw>
          </a:effectLst>
        </p:spPr>
      </p:sp>
      <p:pic>
        <p:nvPicPr>
          <p:cNvPr id="17" name="Image 1" descr="preencoded.png">    </p:cNvPr>
          <p:cNvPicPr>
            <a:picLocks noChangeAspect="1"/>
          </p:cNvPicPr>
          <p:nvPr/>
        </p:nvPicPr>
        <p:blipFill>
          <a:blip r:embed="rId2"/>
          <a:stretch>
            <a:fillRect/>
          </a:stretch>
        </p:blipFill>
        <p:spPr>
          <a:xfrm>
            <a:off x="8119872" y="2962656"/>
            <a:ext cx="237744" cy="237744"/>
          </a:xfrm>
          <a:prstGeom prst="rect">
            <a:avLst/>
          </a:prstGeom>
        </p:spPr>
      </p:pic>
      <p:sp>
        <p:nvSpPr>
          <p:cNvPr id="18" name="Text 14"/>
          <p:cNvSpPr/>
          <p:nvPr/>
        </p:nvSpPr>
        <p:spPr>
          <a:xfrm>
            <a:off x="8449056" y="2935224"/>
            <a:ext cx="2919679" cy="292608"/>
          </a:xfrm>
          <a:prstGeom prst="rect">
            <a:avLst/>
          </a:prstGeom>
          <a:noFill/>
          <a:ln/>
        </p:spPr>
        <p:txBody>
          <a:bodyPr wrap="square" lIns="0" tIns="0" rIns="0" bIns="0" rtlCol="0" anchor="ctr"/>
          <a:lstStyle/>
          <a:p>
            <a:pPr indent="0" marL="0">
              <a:buNone/>
            </a:pPr>
            <a:r>
              <a:rPr lang="en-US" sz="950" b="1" spc="150" kern="0" dirty="0">
                <a:solidFill>
                  <a:srgbClr val="B3261E"/>
                </a:solidFill>
                <a:latin typeface="Courier New" pitchFamily="34" charset="0"/>
                <a:ea typeface="Courier New" pitchFamily="34" charset="-122"/>
                <a:cs typeface="Courier New" pitchFamily="34" charset="-120"/>
              </a:rPr>
              <a:t>EL PODER ES EL RIESGO</a:t>
            </a:r>
            <a:endParaRPr lang="en-US" sz="950" dirty="0"/>
          </a:p>
        </p:txBody>
      </p:sp>
      <p:sp>
        <p:nvSpPr>
          <p:cNvPr id="19" name="Text 15"/>
          <p:cNvSpPr/>
          <p:nvPr/>
        </p:nvSpPr>
        <p:spPr>
          <a:xfrm>
            <a:off x="8119872" y="3255264"/>
            <a:ext cx="3267151" cy="310896"/>
          </a:xfrm>
          <a:prstGeom prst="rect">
            <a:avLst/>
          </a:prstGeom>
          <a:noFill/>
          <a:ln/>
        </p:spPr>
        <p:txBody>
          <a:bodyPr wrap="square" lIns="0" tIns="0" rIns="0" bIns="0" rtlCol="0" anchor="t"/>
          <a:lstStyle/>
          <a:p>
            <a:pPr indent="0" marL="0">
              <a:lnSpc>
                <a:spcPct val="124000"/>
              </a:lnSpc>
              <a:buNone/>
            </a:pPr>
            <a:r>
              <a:rPr lang="en-US" sz="1100" dirty="0">
                <a:solidFill>
                  <a:srgbClr val="3A3844"/>
                </a:solidFill>
                <a:latin typeface="Arial" pitchFamily="34" charset="0"/>
                <a:ea typeface="Arial" pitchFamily="34" charset="-122"/>
                <a:cs typeface="Arial" pitchFamily="34" charset="-120"/>
              </a:rPr>
              <a:t>Cambiar la lógica cambia el dinero de todos.</a:t>
            </a:r>
            <a:endParaRPr lang="en-US" sz="1100" dirty="0"/>
          </a:p>
        </p:txBody>
      </p:sp>
      <p:sp>
        <p:nvSpPr>
          <p:cNvPr id="20" name="Shape 16"/>
          <p:cNvSpPr/>
          <p:nvPr/>
        </p:nvSpPr>
        <p:spPr>
          <a:xfrm>
            <a:off x="566928" y="3931920"/>
            <a:ext cx="5391760" cy="1828800"/>
          </a:xfrm>
          <a:prstGeom prst="rect">
            <a:avLst/>
          </a:prstGeom>
          <a:solidFill>
            <a:srgbClr val="FFFFFF"/>
          </a:solidFill>
          <a:ln w="22225">
            <a:solidFill>
              <a:srgbClr val="B3261E"/>
            </a:solidFill>
            <a:prstDash val="solid"/>
          </a:ln>
          <a:effectLst>
            <a:outerShdw sx="100000" sy="100000" kx="0" ky="0" algn="bl" rotWithShape="0" blurRad="101600" dist="63500" dir="2700000">
              <a:srgbClr val="B3261E">
                <a:alpha val="100000"/>
              </a:srgbClr>
            </a:outerShdw>
          </a:effectLst>
        </p:spPr>
      </p:sp>
      <p:sp>
        <p:nvSpPr>
          <p:cNvPr id="21" name="Text 17"/>
          <p:cNvSpPr/>
          <p:nvPr/>
        </p:nvSpPr>
        <p:spPr>
          <a:xfrm>
            <a:off x="841248" y="4114800"/>
            <a:ext cx="4843120" cy="292608"/>
          </a:xfrm>
          <a:prstGeom prst="rect">
            <a:avLst/>
          </a:prstGeom>
          <a:noFill/>
          <a:ln/>
        </p:spPr>
        <p:txBody>
          <a:bodyPr wrap="square" lIns="0" tIns="0" rIns="0" bIns="0" rtlCol="0" anchor="ctr"/>
          <a:lstStyle/>
          <a:p>
            <a:pPr indent="0" marL="0">
              <a:buNone/>
            </a:pPr>
            <a:r>
              <a:rPr lang="en-US" sz="1050" b="1" spc="130" kern="0" dirty="0">
                <a:solidFill>
                  <a:srgbClr val="B3261E"/>
                </a:solidFill>
                <a:latin typeface="Courier New" pitchFamily="34" charset="0"/>
                <a:ea typeface="Courier New" pitchFamily="34" charset="-122"/>
                <a:cs typeface="Courier New" pitchFamily="34" charset="-120"/>
              </a:rPr>
              <a:t>LOS RIESGOS PROPIOS DEL PROXY</a:t>
            </a:r>
            <a:endParaRPr lang="en-US" sz="1050" dirty="0"/>
          </a:p>
        </p:txBody>
      </p:sp>
      <p:sp>
        <p:nvSpPr>
          <p:cNvPr id="22" name="Text 18"/>
          <p:cNvSpPr/>
          <p:nvPr/>
        </p:nvSpPr>
        <p:spPr>
          <a:xfrm>
            <a:off x="841248" y="4498848"/>
            <a:ext cx="4843120" cy="1097280"/>
          </a:xfrm>
          <a:prstGeom prst="rect">
            <a:avLst/>
          </a:prstGeom>
          <a:noFill/>
          <a:ln/>
        </p:spPr>
        <p:txBody>
          <a:bodyPr wrap="square" lIns="0" tIns="0" rIns="0" bIns="0" rtlCol="0" anchor="t"/>
          <a:lstStyle/>
          <a:p>
            <a:pPr marL="203200" indent="-203200">
              <a:lnSpc>
                <a:spcPct val="118000"/>
              </a:lnSpc>
              <a:spcAft>
                <a:spcPts val="500"/>
              </a:spcAft>
              <a:buSzPct val="100000"/>
              <a:buChar char="■"/>
            </a:pPr>
            <a:r>
              <a:rPr lang="en-US" sz="1200" dirty="0">
                <a:solidFill>
                  <a:srgbClr val="3A3844"/>
                </a:solidFill>
                <a:latin typeface="Arial" pitchFamily="34" charset="0"/>
                <a:ea typeface="Arial" pitchFamily="34" charset="-122"/>
                <a:cs typeface="Arial" pitchFamily="34" charset="-120"/>
              </a:rPr>
              <a:t>Colisión de almacenamiento entre proxy y lógica.</a:t>
            </a:r>
            <a:endParaRPr lang="en-US" sz="1200" dirty="0"/>
          </a:p>
          <a:p>
            <a:pPr marL="203200" indent="-203200">
              <a:lnSpc>
                <a:spcPct val="118000"/>
              </a:lnSpc>
              <a:spcAft>
                <a:spcPts val="500"/>
              </a:spcAft>
              <a:buSzPct val="100000"/>
              <a:buChar char="■"/>
            </a:pPr>
            <a:r>
              <a:rPr lang="en-US" sz="1200" dirty="0">
                <a:solidFill>
                  <a:srgbClr val="3A3844"/>
                </a:solidFill>
                <a:latin typeface="Arial" pitchFamily="34" charset="0"/>
                <a:ea typeface="Arial" pitchFamily="34" charset="-122"/>
                <a:cs typeface="Arial" pitchFamily="34" charset="-120"/>
              </a:rPr>
              <a:t>Un initializer sin proteger: como Parity (A.9).</a:t>
            </a:r>
            <a:endParaRPr lang="en-US" sz="1200" dirty="0"/>
          </a:p>
          <a:p>
            <a:pPr marL="203200" indent="-203200">
              <a:lnSpc>
                <a:spcPct val="118000"/>
              </a:lnSpc>
              <a:spcAft>
                <a:spcPts val="500"/>
              </a:spcAft>
              <a:buSzPct val="100000"/>
              <a:buChar char="■"/>
            </a:pPr>
            <a:r>
              <a:rPr lang="en-US" sz="1200" dirty="0">
                <a:solidFill>
                  <a:srgbClr val="3A3844"/>
                </a:solidFill>
                <a:latin typeface="Arial" pitchFamily="34" charset="0"/>
                <a:ea typeface="Arial" pitchFamily="34" charset="-122"/>
                <a:cs typeface="Arial" pitchFamily="34" charset="-120"/>
              </a:rPr>
              <a:t>La clave de administración: si se filtra, se acabó.</a:t>
            </a:r>
            <a:endParaRPr lang="en-US" sz="1200" dirty="0"/>
          </a:p>
        </p:txBody>
      </p:sp>
      <p:sp>
        <p:nvSpPr>
          <p:cNvPr id="23" name="Shape 19"/>
          <p:cNvSpPr/>
          <p:nvPr/>
        </p:nvSpPr>
        <p:spPr>
          <a:xfrm>
            <a:off x="6233008" y="3931920"/>
            <a:ext cx="5391760" cy="182880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sp>
        <p:nvSpPr>
          <p:cNvPr id="24" name="Text 20"/>
          <p:cNvSpPr/>
          <p:nvPr/>
        </p:nvSpPr>
        <p:spPr>
          <a:xfrm>
            <a:off x="6507328" y="4114800"/>
            <a:ext cx="4843120" cy="292608"/>
          </a:xfrm>
          <a:prstGeom prst="rect">
            <a:avLst/>
          </a:prstGeom>
          <a:noFill/>
          <a:ln/>
        </p:spPr>
        <p:txBody>
          <a:bodyPr wrap="square" lIns="0" tIns="0" rIns="0" bIns="0" rtlCol="0" anchor="ctr"/>
          <a:lstStyle/>
          <a:p>
            <a:pPr indent="0" marL="0">
              <a:buNone/>
            </a:pPr>
            <a:r>
              <a:rPr lang="en-US" sz="1050" b="1" spc="130" kern="0" dirty="0">
                <a:solidFill>
                  <a:srgbClr val="5638C9"/>
                </a:solidFill>
                <a:latin typeface="Courier New" pitchFamily="34" charset="0"/>
                <a:ea typeface="Courier New" pitchFamily="34" charset="-122"/>
                <a:cs typeface="Courier New" pitchFamily="34" charset="-120"/>
              </a:rPr>
              <a:t>CÓMO SE MITIGA</a:t>
            </a:r>
            <a:endParaRPr lang="en-US" sz="1050" dirty="0"/>
          </a:p>
        </p:txBody>
      </p:sp>
      <p:sp>
        <p:nvSpPr>
          <p:cNvPr id="25" name="Text 21"/>
          <p:cNvSpPr/>
          <p:nvPr/>
        </p:nvSpPr>
        <p:spPr>
          <a:xfrm>
            <a:off x="6507328" y="4498848"/>
            <a:ext cx="4843120" cy="1097280"/>
          </a:xfrm>
          <a:prstGeom prst="rect">
            <a:avLst/>
          </a:prstGeom>
          <a:noFill/>
          <a:ln/>
        </p:spPr>
        <p:txBody>
          <a:bodyPr wrap="square" lIns="0" tIns="0" rIns="0" bIns="0" rtlCol="0" anchor="t"/>
          <a:lstStyle/>
          <a:p>
            <a:pPr marL="203200" indent="-203200">
              <a:lnSpc>
                <a:spcPct val="118000"/>
              </a:lnSpc>
              <a:spcAft>
                <a:spcPts val="500"/>
              </a:spcAft>
              <a:buSzPct val="100000"/>
              <a:buChar char="■"/>
            </a:pPr>
            <a:r>
              <a:rPr lang="en-US" sz="1200" dirty="0">
                <a:solidFill>
                  <a:srgbClr val="3A3844"/>
                </a:solidFill>
                <a:latin typeface="Arial" pitchFamily="34" charset="0"/>
                <a:ea typeface="Arial" pitchFamily="34" charset="-122"/>
                <a:cs typeface="Arial" pitchFamily="34" charset="-120"/>
              </a:rPr>
              <a:t>Patrones probados de OpenZeppelin (UUPS, Transparent).</a:t>
            </a:r>
            <a:endParaRPr lang="en-US" sz="1200" dirty="0"/>
          </a:p>
          <a:p>
            <a:pPr marL="203200" indent="-203200">
              <a:lnSpc>
                <a:spcPct val="118000"/>
              </a:lnSpc>
              <a:spcAft>
                <a:spcPts val="500"/>
              </a:spcAft>
              <a:buSzPct val="100000"/>
              <a:buChar char="■"/>
            </a:pPr>
            <a:r>
              <a:rPr lang="en-US" sz="1200" dirty="0">
                <a:solidFill>
                  <a:srgbClr val="3A3844"/>
                </a:solidFill>
                <a:latin typeface="Arial" pitchFamily="34" charset="0"/>
                <a:ea typeface="Arial" pitchFamily="34" charset="-122"/>
                <a:cs typeface="Arial" pitchFamily="34" charset="-120"/>
              </a:rPr>
              <a:t>El admin es un multisig o una DAO, no una sola llave.</a:t>
            </a:r>
            <a:endParaRPr lang="en-US" sz="1200" dirty="0"/>
          </a:p>
          <a:p>
            <a:pPr marL="203200" indent="-203200">
              <a:lnSpc>
                <a:spcPct val="118000"/>
              </a:lnSpc>
              <a:spcAft>
                <a:spcPts val="500"/>
              </a:spcAft>
              <a:buSzPct val="100000"/>
              <a:buChar char="■"/>
            </a:pPr>
            <a:r>
              <a:rPr lang="en-US" sz="1200" dirty="0">
                <a:solidFill>
                  <a:srgbClr val="3A3844"/>
                </a:solidFill>
                <a:latin typeface="Arial" pitchFamily="34" charset="0"/>
                <a:ea typeface="Arial" pitchFamily="34" charset="-122"/>
                <a:cs typeface="Arial" pitchFamily="34" charset="-120"/>
              </a:rPr>
              <a:t>Un timelock: los cambios se anuncian antes de aplicarse.</a:t>
            </a:r>
            <a:endParaRPr lang="en-US" sz="1200" dirty="0"/>
          </a:p>
        </p:txBody>
      </p:sp>
      <p:sp>
        <p:nvSpPr>
          <p:cNvPr id="26" name="Text 22"/>
          <p:cNvSpPr/>
          <p:nvPr/>
        </p:nvSpPr>
        <p:spPr>
          <a:xfrm>
            <a:off x="566928" y="5897880"/>
            <a:ext cx="11057839" cy="365760"/>
          </a:xfrm>
          <a:prstGeom prst="rect">
            <a:avLst/>
          </a:prstGeom>
          <a:noFill/>
          <a:ln/>
        </p:spPr>
        <p:txBody>
          <a:bodyPr wrap="square" lIns="0" tIns="0" rIns="0" bIns="0" rtlCol="0" anchor="t"/>
          <a:lstStyle/>
          <a:p>
            <a:pPr indent="0" marL="0">
              <a:lnSpc>
                <a:spcPct val="124000"/>
              </a:lnSpc>
              <a:buNone/>
            </a:pPr>
            <a:r>
              <a:rPr lang="en-US" sz="1150" dirty="0">
                <a:solidFill>
                  <a:srgbClr val="A35604"/>
                </a:solidFill>
                <a:latin typeface="Arial" pitchFamily="34" charset="0"/>
                <a:ea typeface="Arial" pitchFamily="34" charset="-122"/>
                <a:cs typeface="Arial" pitchFamily="34" charset="-120"/>
              </a:rPr>
              <a:t>«Actualizable» y «descentralizado» están en tensión: cada mecanismo de actualización es un poder que alguien concentra.</a:t>
            </a:r>
            <a:endParaRPr lang="en-US" sz="11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A.20 · LO QUE HAY QUE LLEVARSE DEL BLOQUE 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SEIS IDEAS ANTES DE ATACAR</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09 · SEGURIDAD DE CONTRATOS INTELIGENTES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26</a:t>
            </a:r>
            <a:endParaRPr lang="en-US" sz="900" dirty="0"/>
          </a:p>
        </p:txBody>
      </p:sp>
      <p:sp>
        <p:nvSpPr>
          <p:cNvPr id="8" name="Text 5"/>
          <p:cNvSpPr/>
          <p:nvPr/>
        </p:nvSpPr>
        <p:spPr>
          <a:xfrm>
            <a:off x="566928" y="1737360"/>
            <a:ext cx="640080" cy="594360"/>
          </a:xfrm>
          <a:prstGeom prst="rect">
            <a:avLst/>
          </a:prstGeom>
          <a:noFill/>
          <a:ln/>
        </p:spPr>
        <p:txBody>
          <a:bodyPr wrap="square" lIns="0" tIns="0" rIns="0" bIns="0" rtlCol="0" anchor="ctr"/>
          <a:lstStyle/>
          <a:p>
            <a:pPr indent="0" marL="0">
              <a:buNone/>
            </a:pPr>
            <a:r>
              <a:rPr lang="en-US" sz="2000" dirty="0">
                <a:solidFill>
                  <a:srgbClr val="F07F06"/>
                </a:solidFill>
                <a:latin typeface="Arial Black" pitchFamily="34" charset="0"/>
                <a:ea typeface="Arial Black" pitchFamily="34" charset="-122"/>
                <a:cs typeface="Arial Black" pitchFamily="34" charset="-120"/>
              </a:rPr>
              <a:t>01</a:t>
            </a:r>
            <a:endParaRPr lang="en-US" sz="2000" dirty="0"/>
          </a:p>
        </p:txBody>
      </p:sp>
      <p:sp>
        <p:nvSpPr>
          <p:cNvPr id="9" name="Text 6"/>
          <p:cNvSpPr/>
          <p:nvPr/>
        </p:nvSpPr>
        <p:spPr>
          <a:xfrm>
            <a:off x="1344168" y="1810512"/>
            <a:ext cx="10280599" cy="548640"/>
          </a:xfrm>
          <a:prstGeom prst="rect">
            <a:avLst/>
          </a:prstGeom>
          <a:noFill/>
          <a:ln/>
        </p:spPr>
        <p:txBody>
          <a:bodyPr wrap="square" lIns="0" tIns="0" rIns="0" bIns="0" rtlCol="0" anchor="ctr"/>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El código es inmutable, público y custodia valor: no hay parche ni reverso.</a:t>
            </a:r>
            <a:endParaRPr lang="en-US" sz="1450" dirty="0"/>
          </a:p>
        </p:txBody>
      </p:sp>
      <p:sp>
        <p:nvSpPr>
          <p:cNvPr id="10" name="Shape 7"/>
          <p:cNvSpPr/>
          <p:nvPr/>
        </p:nvSpPr>
        <p:spPr>
          <a:xfrm>
            <a:off x="566928" y="2414016"/>
            <a:ext cx="11057839" cy="914"/>
          </a:xfrm>
          <a:prstGeom prst="line">
            <a:avLst/>
          </a:prstGeom>
          <a:noFill/>
          <a:ln w="12700">
            <a:solidFill>
              <a:srgbClr val="D9D6E0"/>
            </a:solidFill>
            <a:prstDash val="solid"/>
          </a:ln>
        </p:spPr>
      </p:sp>
      <p:sp>
        <p:nvSpPr>
          <p:cNvPr id="11" name="Text 8"/>
          <p:cNvSpPr/>
          <p:nvPr/>
        </p:nvSpPr>
        <p:spPr>
          <a:xfrm>
            <a:off x="566928" y="2468880"/>
            <a:ext cx="640080" cy="594360"/>
          </a:xfrm>
          <a:prstGeom prst="rect">
            <a:avLst/>
          </a:prstGeom>
          <a:noFill/>
          <a:ln/>
        </p:spPr>
        <p:txBody>
          <a:bodyPr wrap="square" lIns="0" tIns="0" rIns="0" bIns="0" rtlCol="0" anchor="ctr"/>
          <a:lstStyle/>
          <a:p>
            <a:pPr indent="0" marL="0">
              <a:buNone/>
            </a:pPr>
            <a:r>
              <a:rPr lang="en-US" sz="2000" dirty="0">
                <a:solidFill>
                  <a:srgbClr val="F07F06"/>
                </a:solidFill>
                <a:latin typeface="Arial Black" pitchFamily="34" charset="0"/>
                <a:ea typeface="Arial Black" pitchFamily="34" charset="-122"/>
                <a:cs typeface="Arial Black" pitchFamily="34" charset="-120"/>
              </a:rPr>
              <a:t>02</a:t>
            </a:r>
            <a:endParaRPr lang="en-US" sz="2000" dirty="0"/>
          </a:p>
        </p:txBody>
      </p:sp>
      <p:sp>
        <p:nvSpPr>
          <p:cNvPr id="12" name="Text 9"/>
          <p:cNvSpPr/>
          <p:nvPr/>
        </p:nvSpPr>
        <p:spPr>
          <a:xfrm>
            <a:off x="1344168" y="2542032"/>
            <a:ext cx="10280599" cy="548640"/>
          </a:xfrm>
          <a:prstGeom prst="rect">
            <a:avLst/>
          </a:prstGeom>
          <a:noFill/>
          <a:ln/>
        </p:spPr>
        <p:txBody>
          <a:bodyPr wrap="square" lIns="0" tIns="0" rIns="0" bIns="0" rtlCol="0" anchor="ctr"/>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call a un contrato le cede el control: puede reentrar antes de que actualices el estado.</a:t>
            </a:r>
            <a:endParaRPr lang="en-US" sz="1450" dirty="0"/>
          </a:p>
        </p:txBody>
      </p:sp>
      <p:sp>
        <p:nvSpPr>
          <p:cNvPr id="13" name="Shape 10"/>
          <p:cNvSpPr/>
          <p:nvPr/>
        </p:nvSpPr>
        <p:spPr>
          <a:xfrm>
            <a:off x="566928" y="3145536"/>
            <a:ext cx="11057839" cy="914"/>
          </a:xfrm>
          <a:prstGeom prst="line">
            <a:avLst/>
          </a:prstGeom>
          <a:noFill/>
          <a:ln w="12700">
            <a:solidFill>
              <a:srgbClr val="D9D6E0"/>
            </a:solidFill>
            <a:prstDash val="solid"/>
          </a:ln>
        </p:spPr>
      </p:sp>
      <p:sp>
        <p:nvSpPr>
          <p:cNvPr id="14" name="Text 11"/>
          <p:cNvSpPr/>
          <p:nvPr/>
        </p:nvSpPr>
        <p:spPr>
          <a:xfrm>
            <a:off x="566928" y="3200400"/>
            <a:ext cx="640080" cy="594360"/>
          </a:xfrm>
          <a:prstGeom prst="rect">
            <a:avLst/>
          </a:prstGeom>
          <a:noFill/>
          <a:ln/>
        </p:spPr>
        <p:txBody>
          <a:bodyPr wrap="square" lIns="0" tIns="0" rIns="0" bIns="0" rtlCol="0" anchor="ctr"/>
          <a:lstStyle/>
          <a:p>
            <a:pPr indent="0" marL="0">
              <a:buNone/>
            </a:pPr>
            <a:r>
              <a:rPr lang="en-US" sz="2000" dirty="0">
                <a:solidFill>
                  <a:srgbClr val="F07F06"/>
                </a:solidFill>
                <a:latin typeface="Arial Black" pitchFamily="34" charset="0"/>
                <a:ea typeface="Arial Black" pitchFamily="34" charset="-122"/>
                <a:cs typeface="Arial Black" pitchFamily="34" charset="-120"/>
              </a:rPr>
              <a:t>03</a:t>
            </a:r>
            <a:endParaRPr lang="en-US" sz="2000" dirty="0"/>
          </a:p>
        </p:txBody>
      </p:sp>
      <p:sp>
        <p:nvSpPr>
          <p:cNvPr id="15" name="Text 12"/>
          <p:cNvSpPr/>
          <p:nvPr/>
        </p:nvSpPr>
        <p:spPr>
          <a:xfrm>
            <a:off x="1344168" y="3273552"/>
            <a:ext cx="10280599" cy="548640"/>
          </a:xfrm>
          <a:prstGeom prst="rect">
            <a:avLst/>
          </a:prstGeom>
          <a:noFill/>
          <a:ln/>
        </p:spPr>
        <p:txBody>
          <a:bodyPr wrap="square" lIns="0" tIns="0" rIns="0" bIns="0" rtlCol="0" anchor="ctr"/>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Reentrancy se cierra con CEI, y se blinda con un guard. Ambos.</a:t>
            </a:r>
            <a:endParaRPr lang="en-US" sz="1450" dirty="0"/>
          </a:p>
        </p:txBody>
      </p:sp>
      <p:sp>
        <p:nvSpPr>
          <p:cNvPr id="16" name="Shape 13"/>
          <p:cNvSpPr/>
          <p:nvPr/>
        </p:nvSpPr>
        <p:spPr>
          <a:xfrm>
            <a:off x="566928" y="3877056"/>
            <a:ext cx="11057839" cy="914"/>
          </a:xfrm>
          <a:prstGeom prst="line">
            <a:avLst/>
          </a:prstGeom>
          <a:noFill/>
          <a:ln w="12700">
            <a:solidFill>
              <a:srgbClr val="D9D6E0"/>
            </a:solidFill>
            <a:prstDash val="solid"/>
          </a:ln>
        </p:spPr>
      </p:sp>
      <p:sp>
        <p:nvSpPr>
          <p:cNvPr id="17" name="Text 14"/>
          <p:cNvSpPr/>
          <p:nvPr/>
        </p:nvSpPr>
        <p:spPr>
          <a:xfrm>
            <a:off x="566928" y="3931920"/>
            <a:ext cx="640080" cy="594360"/>
          </a:xfrm>
          <a:prstGeom prst="rect">
            <a:avLst/>
          </a:prstGeom>
          <a:noFill/>
          <a:ln/>
        </p:spPr>
        <p:txBody>
          <a:bodyPr wrap="square" lIns="0" tIns="0" rIns="0" bIns="0" rtlCol="0" anchor="ctr"/>
          <a:lstStyle/>
          <a:p>
            <a:pPr indent="0" marL="0">
              <a:buNone/>
            </a:pPr>
            <a:r>
              <a:rPr lang="en-US" sz="2000" dirty="0">
                <a:solidFill>
                  <a:srgbClr val="F07F06"/>
                </a:solidFill>
                <a:latin typeface="Arial Black" pitchFamily="34" charset="0"/>
                <a:ea typeface="Arial Black" pitchFamily="34" charset="-122"/>
                <a:cs typeface="Arial Black" pitchFamily="34" charset="-120"/>
              </a:rPr>
              <a:t>04</a:t>
            </a:r>
            <a:endParaRPr lang="en-US" sz="2000" dirty="0"/>
          </a:p>
        </p:txBody>
      </p:sp>
      <p:sp>
        <p:nvSpPr>
          <p:cNvPr id="18" name="Text 15"/>
          <p:cNvSpPr/>
          <p:nvPr/>
        </p:nvSpPr>
        <p:spPr>
          <a:xfrm>
            <a:off x="1344168" y="4005072"/>
            <a:ext cx="10280599" cy="548640"/>
          </a:xfrm>
          <a:prstGeom prst="rect">
            <a:avLst/>
          </a:prstGeom>
          <a:noFill/>
          <a:ln/>
        </p:spPr>
        <p:txBody>
          <a:bodyPr wrap="square" lIns="0" tIns="0" rIns="0" bIns="0" rtlCol="0" anchor="ctr"/>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Los permisos van con msg.sender, jamás con tx.origin.</a:t>
            </a:r>
            <a:endParaRPr lang="en-US" sz="1450" dirty="0"/>
          </a:p>
        </p:txBody>
      </p:sp>
      <p:sp>
        <p:nvSpPr>
          <p:cNvPr id="19" name="Shape 16"/>
          <p:cNvSpPr/>
          <p:nvPr/>
        </p:nvSpPr>
        <p:spPr>
          <a:xfrm>
            <a:off x="566928" y="4608576"/>
            <a:ext cx="11057839" cy="914"/>
          </a:xfrm>
          <a:prstGeom prst="line">
            <a:avLst/>
          </a:prstGeom>
          <a:noFill/>
          <a:ln w="12700">
            <a:solidFill>
              <a:srgbClr val="D9D6E0"/>
            </a:solidFill>
            <a:prstDash val="solid"/>
          </a:ln>
        </p:spPr>
      </p:sp>
      <p:sp>
        <p:nvSpPr>
          <p:cNvPr id="20" name="Text 17"/>
          <p:cNvSpPr/>
          <p:nvPr/>
        </p:nvSpPr>
        <p:spPr>
          <a:xfrm>
            <a:off x="566928" y="4663440"/>
            <a:ext cx="640080" cy="594360"/>
          </a:xfrm>
          <a:prstGeom prst="rect">
            <a:avLst/>
          </a:prstGeom>
          <a:noFill/>
          <a:ln/>
        </p:spPr>
        <p:txBody>
          <a:bodyPr wrap="square" lIns="0" tIns="0" rIns="0" bIns="0" rtlCol="0" anchor="ctr"/>
          <a:lstStyle/>
          <a:p>
            <a:pPr indent="0" marL="0">
              <a:buNone/>
            </a:pPr>
            <a:r>
              <a:rPr lang="en-US" sz="2000" dirty="0">
                <a:solidFill>
                  <a:srgbClr val="F07F06"/>
                </a:solidFill>
                <a:latin typeface="Arial Black" pitchFamily="34" charset="0"/>
                <a:ea typeface="Arial Black" pitchFamily="34" charset="-122"/>
                <a:cs typeface="Arial Black" pitchFamily="34" charset="-120"/>
              </a:rPr>
              <a:t>05</a:t>
            </a:r>
            <a:endParaRPr lang="en-US" sz="2000" dirty="0"/>
          </a:p>
        </p:txBody>
      </p:sp>
      <p:sp>
        <p:nvSpPr>
          <p:cNvPr id="21" name="Text 18"/>
          <p:cNvSpPr/>
          <p:nvPr/>
        </p:nvSpPr>
        <p:spPr>
          <a:xfrm>
            <a:off x="1344168" y="4736592"/>
            <a:ext cx="10280599" cy="548640"/>
          </a:xfrm>
          <a:prstGeom prst="rect">
            <a:avLst/>
          </a:prstGeom>
          <a:noFill/>
          <a:ln/>
        </p:spPr>
        <p:txBody>
          <a:bodyPr wrap="square" lIns="0" tIns="0" rIns="0" bIns="0" rtlCol="0" anchor="ctr"/>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El azar seguro no existe on-chain: se necesita un oráculo o commit-reveal.</a:t>
            </a:r>
            <a:endParaRPr lang="en-US" sz="1450" dirty="0"/>
          </a:p>
        </p:txBody>
      </p:sp>
      <p:sp>
        <p:nvSpPr>
          <p:cNvPr id="22" name="Shape 19"/>
          <p:cNvSpPr/>
          <p:nvPr/>
        </p:nvSpPr>
        <p:spPr>
          <a:xfrm>
            <a:off x="566928" y="5340096"/>
            <a:ext cx="11057839" cy="914"/>
          </a:xfrm>
          <a:prstGeom prst="line">
            <a:avLst/>
          </a:prstGeom>
          <a:noFill/>
          <a:ln w="12700">
            <a:solidFill>
              <a:srgbClr val="D9D6E0"/>
            </a:solidFill>
            <a:prstDash val="solid"/>
          </a:ln>
        </p:spPr>
      </p:sp>
      <p:sp>
        <p:nvSpPr>
          <p:cNvPr id="23" name="Text 20"/>
          <p:cNvSpPr/>
          <p:nvPr/>
        </p:nvSpPr>
        <p:spPr>
          <a:xfrm>
            <a:off x="566928" y="5394960"/>
            <a:ext cx="640080" cy="594360"/>
          </a:xfrm>
          <a:prstGeom prst="rect">
            <a:avLst/>
          </a:prstGeom>
          <a:noFill/>
          <a:ln/>
        </p:spPr>
        <p:txBody>
          <a:bodyPr wrap="square" lIns="0" tIns="0" rIns="0" bIns="0" rtlCol="0" anchor="ctr"/>
          <a:lstStyle/>
          <a:p>
            <a:pPr indent="0" marL="0">
              <a:buNone/>
            </a:pPr>
            <a:r>
              <a:rPr lang="en-US" sz="2000" dirty="0">
                <a:solidFill>
                  <a:srgbClr val="F07F06"/>
                </a:solidFill>
                <a:latin typeface="Arial Black" pitchFamily="34" charset="0"/>
                <a:ea typeface="Arial Black" pitchFamily="34" charset="-122"/>
                <a:cs typeface="Arial Black" pitchFamily="34" charset="-120"/>
              </a:rPr>
              <a:t>06</a:t>
            </a:r>
            <a:endParaRPr lang="en-US" sz="2000" dirty="0"/>
          </a:p>
        </p:txBody>
      </p:sp>
      <p:sp>
        <p:nvSpPr>
          <p:cNvPr id="24" name="Text 21"/>
          <p:cNvSpPr/>
          <p:nvPr/>
        </p:nvSpPr>
        <p:spPr>
          <a:xfrm>
            <a:off x="1344168" y="5468112"/>
            <a:ext cx="10280599" cy="548640"/>
          </a:xfrm>
          <a:prstGeom prst="rect">
            <a:avLst/>
          </a:prstGeom>
          <a:noFill/>
          <a:ln/>
        </p:spPr>
        <p:txBody>
          <a:bodyPr wrap="square" lIns="0" tIns="0" rIns="0" bIns="0" rtlCol="0" anchor="ctr"/>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La seguridad es una cadena de capas —Slither, fuzzing, auditoría, bounties—; ninguna sola basta.</a:t>
            </a:r>
            <a:endParaRPr lang="en-US" sz="1450" dirty="0"/>
          </a:p>
        </p:txBody>
      </p:sp>
      <p:sp>
        <p:nvSpPr>
          <p:cNvPr id="25" name="Shape 22"/>
          <p:cNvSpPr/>
          <p:nvPr/>
        </p:nvSpPr>
        <p:spPr>
          <a:xfrm>
            <a:off x="566928" y="6071616"/>
            <a:ext cx="11057839" cy="914"/>
          </a:xfrm>
          <a:prstGeom prst="line">
            <a:avLst/>
          </a:prstGeom>
          <a:noFill/>
          <a:ln w="12700">
            <a:solidFill>
              <a:srgbClr val="D9D6E0"/>
            </a:solidFill>
            <a:prstDash val="solid"/>
          </a:ln>
        </p:spPr>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2240280"/>
            <a:ext cx="3017520" cy="2377440"/>
          </a:xfrm>
          <a:prstGeom prst="rect">
            <a:avLst/>
          </a:prstGeom>
          <a:solidFill>
            <a:srgbClr val="F07F06"/>
          </a:solidFill>
          <a:ln w="12700">
            <a:solidFill>
              <a:srgbClr val="F07F06"/>
            </a:solidFill>
            <a:prstDash val="solid"/>
          </a:ln>
        </p:spPr>
      </p:sp>
      <p:sp>
        <p:nvSpPr>
          <p:cNvPr id="3" name="Text 1"/>
          <p:cNvSpPr/>
          <p:nvPr/>
        </p:nvSpPr>
        <p:spPr>
          <a:xfrm>
            <a:off x="0" y="2240280"/>
            <a:ext cx="3017520" cy="2377440"/>
          </a:xfrm>
          <a:prstGeom prst="rect">
            <a:avLst/>
          </a:prstGeom>
          <a:noFill/>
          <a:ln/>
        </p:spPr>
        <p:txBody>
          <a:bodyPr wrap="square" lIns="0" tIns="0" rIns="0" bIns="0" rtlCol="0" anchor="ctr"/>
          <a:lstStyle/>
          <a:p>
            <a:pPr algn="ctr" indent="0" marL="0">
              <a:buNone/>
            </a:pPr>
            <a:r>
              <a:rPr lang="en-US" sz="11800" dirty="0">
                <a:solidFill>
                  <a:srgbClr val="0F0F11"/>
                </a:solidFill>
                <a:latin typeface="Arial Black" pitchFamily="34" charset="0"/>
                <a:ea typeface="Arial Black" pitchFamily="34" charset="-122"/>
                <a:cs typeface="Arial Black" pitchFamily="34" charset="-120"/>
              </a:rPr>
              <a:t>B</a:t>
            </a:r>
            <a:endParaRPr lang="en-US" sz="11800" dirty="0"/>
          </a:p>
        </p:txBody>
      </p:sp>
      <p:pic>
        <p:nvPicPr>
          <p:cNvPr id="4" name="Image 0" descr="preencoded.png">    </p:cNvPr>
          <p:cNvPicPr>
            <a:picLocks noChangeAspect="1"/>
          </p:cNvPicPr>
          <p:nvPr/>
        </p:nvPicPr>
        <p:blipFill>
          <a:blip r:embed="rId1"/>
          <a:stretch>
            <a:fillRect/>
          </a:stretch>
        </p:blipFill>
        <p:spPr>
          <a:xfrm>
            <a:off x="3611880" y="2286000"/>
            <a:ext cx="329184" cy="329184"/>
          </a:xfrm>
          <a:prstGeom prst="rect">
            <a:avLst/>
          </a:prstGeom>
        </p:spPr>
      </p:pic>
      <p:sp>
        <p:nvSpPr>
          <p:cNvPr id="5" name="Text 2"/>
          <p:cNvSpPr/>
          <p:nvPr/>
        </p:nvSpPr>
        <p:spPr>
          <a:xfrm>
            <a:off x="4069080" y="2258568"/>
            <a:ext cx="7223760" cy="365760"/>
          </a:xfrm>
          <a:prstGeom prst="rect">
            <a:avLst/>
          </a:prstGeom>
          <a:noFill/>
          <a:ln/>
        </p:spPr>
        <p:txBody>
          <a:bodyPr wrap="square" lIns="0" tIns="0" rIns="0" bIns="0" rtlCol="0" anchor="ctr"/>
          <a:lstStyle/>
          <a:p>
            <a:pPr indent="0" marL="0">
              <a:buNone/>
            </a:pPr>
            <a:r>
              <a:rPr lang="en-US" sz="1100" spc="180" kern="0" dirty="0">
                <a:solidFill>
                  <a:srgbClr val="F07F06"/>
                </a:solidFill>
                <a:latin typeface="Courier New" pitchFamily="34" charset="0"/>
                <a:ea typeface="Courier New" pitchFamily="34" charset="-122"/>
                <a:cs typeface="Courier New" pitchFamily="34" charset="-120"/>
              </a:rPr>
              <a:t>APROXIMADAMENTE 35 MINUTOS</a:t>
            </a:r>
            <a:endParaRPr lang="en-US" sz="1100" dirty="0"/>
          </a:p>
        </p:txBody>
      </p:sp>
      <p:sp>
        <p:nvSpPr>
          <p:cNvPr id="6" name="Text 3"/>
          <p:cNvSpPr/>
          <p:nvPr/>
        </p:nvSpPr>
        <p:spPr>
          <a:xfrm>
            <a:off x="3611880" y="2724912"/>
            <a:ext cx="7955280" cy="1325880"/>
          </a:xfrm>
          <a:prstGeom prst="rect">
            <a:avLst/>
          </a:prstGeom>
          <a:noFill/>
          <a:ln/>
        </p:spPr>
        <p:txBody>
          <a:bodyPr wrap="square" lIns="0" tIns="0" rIns="0" bIns="0" rtlCol="0" anchor="t"/>
          <a:lstStyle/>
          <a:p>
            <a:pPr indent="0" marL="0">
              <a:lnSpc>
                <a:spcPct val="98000"/>
              </a:lnSpc>
              <a:buNone/>
            </a:pPr>
            <a:r>
              <a:rPr lang="en-US" sz="3400" dirty="0">
                <a:solidFill>
                  <a:srgbClr val="FFFFFF"/>
                </a:solidFill>
                <a:latin typeface="Arial Black" pitchFamily="34" charset="0"/>
                <a:ea typeface="Arial Black" pitchFamily="34" charset="-122"/>
                <a:cs typeface="Arial Black" pitchFamily="34" charset="-120"/>
              </a:rPr>
              <a:t>ETHERNAUT + AUDITORÍA CRUZADA</a:t>
            </a:r>
            <a:endParaRPr lang="en-US" sz="3400" dirty="0"/>
          </a:p>
        </p:txBody>
      </p:sp>
      <p:sp>
        <p:nvSpPr>
          <p:cNvPr id="7" name="Text 4"/>
          <p:cNvSpPr/>
          <p:nvPr/>
        </p:nvSpPr>
        <p:spPr>
          <a:xfrm>
            <a:off x="3611880" y="4133088"/>
            <a:ext cx="7680960" cy="1051560"/>
          </a:xfrm>
          <a:prstGeom prst="rect">
            <a:avLst/>
          </a:prstGeom>
          <a:noFill/>
          <a:ln/>
        </p:spPr>
        <p:txBody>
          <a:bodyPr wrap="square" lIns="0" tIns="0" rIns="0" bIns="0" rtlCol="0" anchor="t"/>
          <a:lstStyle/>
          <a:p>
            <a:pPr indent="0" marL="0">
              <a:lnSpc>
                <a:spcPct val="125000"/>
              </a:lnSpc>
              <a:buNone/>
            </a:pPr>
            <a:r>
              <a:rPr lang="en-US" sz="1400" dirty="0">
                <a:solidFill>
                  <a:srgbClr val="B9B4C4"/>
                </a:solidFill>
                <a:latin typeface="Arial" pitchFamily="34" charset="0"/>
                <a:ea typeface="Arial" pitchFamily="34" charset="-122"/>
                <a:cs typeface="Arial" pitchFamily="34" charset="-120"/>
              </a:rPr>
              <a:t>Jugar a romper contratos, y después leer el de otro equipo con la mirada de quien busca la grieta.</a:t>
            </a:r>
            <a:endParaRPr lang="en-US" sz="1400" dirty="0"/>
          </a:p>
        </p:txBody>
      </p:sp>
      <p:sp>
        <p:nvSpPr>
          <p:cNvPr id="8" name="Text 5"/>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E6A7C"/>
                </a:solidFill>
                <a:latin typeface="Courier New" pitchFamily="34" charset="0"/>
                <a:ea typeface="Courier New" pitchFamily="34" charset="-122"/>
                <a:cs typeface="Courier New" pitchFamily="34" charset="-120"/>
              </a:rPr>
              <a:t>SESIÓN 09 · SEGURIDAD DE CONTRATOS INTELIGENTES</a:t>
            </a:r>
            <a:endParaRPr lang="en-US" sz="800" dirty="0"/>
          </a:p>
        </p:txBody>
      </p:sp>
      <p:sp>
        <p:nvSpPr>
          <p:cNvPr id="9" name="Text 6"/>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E6A7C"/>
                </a:solidFill>
                <a:latin typeface="Courier New" pitchFamily="34" charset="0"/>
                <a:ea typeface="Courier New" pitchFamily="34" charset="-122"/>
                <a:cs typeface="Courier New" pitchFamily="34" charset="-120"/>
              </a:rPr>
              <a:t>USB MEDELLÍN</a:t>
            </a:r>
            <a:endParaRPr lang="en-US" sz="800" dirty="0"/>
          </a:p>
        </p:txBody>
      </p:sp>
      <p:sp>
        <p:nvSpPr>
          <p:cNvPr id="10" name="Text 7"/>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F07F06"/>
                </a:solidFill>
                <a:latin typeface="Courier New" pitchFamily="34" charset="0"/>
                <a:ea typeface="Courier New" pitchFamily="34" charset="-122"/>
                <a:cs typeface="Courier New"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B.1 · QUÉ ES ETHERNAUT</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UN CTF DONDE GANAR ES HACKEAR</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09 · SEGURIDAD DE CONTRATOS INTELIGENTES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28</a:t>
            </a:r>
            <a:endParaRPr lang="en-US" sz="900" dirty="0"/>
          </a:p>
        </p:txBody>
      </p:sp>
      <p:sp>
        <p:nvSpPr>
          <p:cNvPr id="8" name="Text 5"/>
          <p:cNvSpPr/>
          <p:nvPr/>
        </p:nvSpPr>
        <p:spPr>
          <a:xfrm>
            <a:off x="566928" y="1737360"/>
            <a:ext cx="11057839" cy="868680"/>
          </a:xfrm>
          <a:prstGeom prst="rect">
            <a:avLst/>
          </a:prstGeom>
          <a:noFill/>
          <a:ln/>
        </p:spPr>
        <p:txBody>
          <a:bodyPr wrap="square" lIns="0" tIns="0" rIns="0" bIns="0" rtlCol="0" anchor="t"/>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Ethernaut, de OpenZeppelin, es una serie de contratos con una vulnerabilidad cada uno. Se «gana» un nivel explotándolo desde la consola del navegador. Es la mejor forma de fijar lo del bloque A.</a:t>
            </a:r>
            <a:endParaRPr lang="en-US" sz="14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66928" y="2743200"/>
          <a:ext cx="11057839" cy="914400"/>
        </p:xfrm>
        <a:graphic>
          <a:graphicData uri="http://schemas.openxmlformats.org/drawingml/2006/table">
            <a:tbl>
              <a:tblPr/>
              <a:tblGrid>
                <a:gridCol w="2194560"/>
                <a:gridCol w="5029200"/>
                <a:gridCol w="383407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NIVEL</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VULNERABILIDAD</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CON QUÉ SE CONECTA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486461">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1 · Fallback</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Control de acceso por receive/fallback mal puestos.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S7 receive/fallback · A.8</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86461">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2 · Fal1out</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Un «constructor» que en realidad es una función pública.</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S6 constructor</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486461">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5 · Token</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Desbordamiento aritmético (contrato en versión 0.6).</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A.10 de hoy</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486461">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11 · Re-entrancy</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El robo que acabamos de ver, para explotar con las manos.</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A.3 a A.7</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486461">
                <a:tc>
                  <a:txBody>
                    <a:bodyPr/>
                    <a:lstStyle/>
                    <a:p>
                      <a:pPr indent="0" marL="0">
                        <a:buNone/>
                      </a:pPr>
                      <a:r>
                        <a:rPr lang="en-US" sz="1150" b="1" dirty="0">
                          <a:solidFill>
                            <a:srgbClr val="0F0F11"/>
                          </a:solidFill>
                          <a:latin typeface="Courier New" pitchFamily="34" charset="0"/>
                          <a:ea typeface="Courier New" pitchFamily="34" charset="-122"/>
                          <a:cs typeface="Courier New" pitchFamily="34" charset="-120"/>
                        </a:rPr>
                        <a:t>7 · Force</a:t>
                      </a:r>
                      <a:endParaRPr lang="en-US" sz="115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Enviar ETH a un contrato sin receive, con selfdestruct.</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150" dirty="0">
                          <a:solidFill>
                            <a:srgbClr val="3A3844"/>
                          </a:solidFill>
                          <a:latin typeface="Arial" pitchFamily="34" charset="0"/>
                          <a:ea typeface="Arial" pitchFamily="34" charset="-122"/>
                          <a:cs typeface="Arial" pitchFamily="34" charset="-120"/>
                        </a:rPr>
                        <a:t>Suposiciones falsas sobre el saldo</a:t>
                      </a:r>
                      <a:endParaRPr lang="en-US" sz="115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10" name="Shape 6"/>
          <p:cNvSpPr/>
          <p:nvPr/>
        </p:nvSpPr>
        <p:spPr>
          <a:xfrm>
            <a:off x="548640" y="2724912"/>
            <a:ext cx="11094415" cy="2779776"/>
          </a:xfrm>
          <a:prstGeom prst="rect">
            <a:avLst/>
          </a:prstGeom>
          <a:ln w="22225">
            <a:solidFill>
              <a:srgbClr val="0F0F11"/>
            </a:solidFill>
            <a:prstDash val="solid"/>
          </a:ln>
        </p:spPr>
      </p:sp>
      <p:sp>
        <p:nvSpPr>
          <p:cNvPr id="11" name="Text 7"/>
          <p:cNvSpPr/>
          <p:nvPr/>
        </p:nvSpPr>
        <p:spPr>
          <a:xfrm>
            <a:off x="566928" y="5669280"/>
            <a:ext cx="11057839" cy="457200"/>
          </a:xfrm>
          <a:prstGeom prst="rect">
            <a:avLst/>
          </a:prstGeom>
          <a:noFill/>
          <a:ln/>
        </p:spPr>
        <p:txBody>
          <a:bodyPr wrap="square" lIns="0" tIns="0" rIns="0" bIns="0" rtlCol="0" anchor="t"/>
          <a:lstStyle/>
          <a:p>
            <a:pPr indent="0" marL="0">
              <a:lnSpc>
                <a:spcPct val="124000"/>
              </a:lnSpc>
              <a:buNone/>
            </a:pPr>
            <a:r>
              <a:rPr lang="en-US" sz="1250" dirty="0">
                <a:solidFill>
                  <a:srgbClr val="A35604"/>
                </a:solidFill>
                <a:latin typeface="Arial" pitchFamily="34" charset="0"/>
                <a:ea typeface="Arial" pitchFamily="34" charset="-122"/>
                <a:cs typeface="Arial" pitchFamily="34" charset="-120"/>
              </a:rPr>
              <a:t>Prerrequisito: el nivel 0 (Hello Ethernaut) quedó de trabajo de la Sesión 8. Hoy se empieza en Fallback. La guía en PDF trae el método de cada nivel.</a:t>
            </a:r>
            <a:endParaRPr lang="en-US" sz="12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B.2 · CÓMO SE JUEGA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700" dirty="0">
                <a:solidFill>
                  <a:srgbClr val="0F0F11"/>
                </a:solidFill>
                <a:latin typeface="Arial Black" pitchFamily="34" charset="0"/>
                <a:ea typeface="Arial Black" pitchFamily="34" charset="-122"/>
                <a:cs typeface="Arial Black" pitchFamily="34" charset="-120"/>
              </a:rPr>
              <a:t>LA CONSOLA DEL NAVEGADOR ES TU TERMINAL</a:t>
            </a:r>
            <a:endParaRPr lang="en-US" sz="27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09 · SEGURIDAD DE CONTRATOS INTELIGENTES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29</a:t>
            </a:r>
            <a:endParaRPr lang="en-US" sz="900" dirty="0"/>
          </a:p>
        </p:txBody>
      </p:sp>
      <p:sp>
        <p:nvSpPr>
          <p:cNvPr id="8" name="Shape 5"/>
          <p:cNvSpPr/>
          <p:nvPr/>
        </p:nvSpPr>
        <p:spPr>
          <a:xfrm>
            <a:off x="566928" y="1737360"/>
            <a:ext cx="11057839" cy="640080"/>
          </a:xfrm>
          <a:prstGeom prst="rect">
            <a:avLst/>
          </a:prstGeom>
          <a:solidFill>
            <a:srgbClr val="FFFFFF"/>
          </a:solidFill>
          <a:ln w="15875">
            <a:solidFill>
              <a:srgbClr val="D9D6E0"/>
            </a:solidFill>
            <a:prstDash val="solid"/>
          </a:ln>
        </p:spPr>
      </p:sp>
      <p:sp>
        <p:nvSpPr>
          <p:cNvPr id="9" name="Text 6"/>
          <p:cNvSpPr/>
          <p:nvPr/>
        </p:nvSpPr>
        <p:spPr>
          <a:xfrm>
            <a:off x="694944" y="1737360"/>
            <a:ext cx="548640" cy="64008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0" name="Text 7"/>
          <p:cNvSpPr/>
          <p:nvPr/>
        </p:nvSpPr>
        <p:spPr>
          <a:xfrm>
            <a:off x="1280160" y="1911096"/>
            <a:ext cx="210312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CONECTAR</a:t>
            </a:r>
            <a:endParaRPr lang="en-US" sz="1000" dirty="0"/>
          </a:p>
        </p:txBody>
      </p:sp>
      <p:sp>
        <p:nvSpPr>
          <p:cNvPr id="11" name="Text 8"/>
          <p:cNvSpPr/>
          <p:nvPr/>
        </p:nvSpPr>
        <p:spPr>
          <a:xfrm>
            <a:off x="3657600" y="1828800"/>
            <a:ext cx="7857439" cy="493776"/>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MetaMask del curso en Sepolia. Abrir la consola del navegador (F12 → Console).</a:t>
            </a:r>
            <a:endParaRPr lang="en-US" sz="1250" dirty="0"/>
          </a:p>
        </p:txBody>
      </p:sp>
      <p:sp>
        <p:nvSpPr>
          <p:cNvPr id="12" name="Shape 9"/>
          <p:cNvSpPr/>
          <p:nvPr/>
        </p:nvSpPr>
        <p:spPr>
          <a:xfrm>
            <a:off x="566928" y="2468880"/>
            <a:ext cx="11057839" cy="640080"/>
          </a:xfrm>
          <a:prstGeom prst="rect">
            <a:avLst/>
          </a:prstGeom>
          <a:solidFill>
            <a:srgbClr val="FAF9FB"/>
          </a:solidFill>
          <a:ln w="15875">
            <a:solidFill>
              <a:srgbClr val="D9D6E0"/>
            </a:solidFill>
            <a:prstDash val="solid"/>
          </a:ln>
        </p:spPr>
      </p:sp>
      <p:sp>
        <p:nvSpPr>
          <p:cNvPr id="13" name="Text 10"/>
          <p:cNvSpPr/>
          <p:nvPr/>
        </p:nvSpPr>
        <p:spPr>
          <a:xfrm>
            <a:off x="694944" y="2468880"/>
            <a:ext cx="548640" cy="64008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4" name="Text 11"/>
          <p:cNvSpPr/>
          <p:nvPr/>
        </p:nvSpPr>
        <p:spPr>
          <a:xfrm>
            <a:off x="1280160" y="2642616"/>
            <a:ext cx="210312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OBTENER INSTANCIA</a:t>
            </a:r>
            <a:endParaRPr lang="en-US" sz="1000" dirty="0"/>
          </a:p>
        </p:txBody>
      </p:sp>
      <p:sp>
        <p:nvSpPr>
          <p:cNvPr id="15" name="Text 12"/>
          <p:cNvSpPr/>
          <p:nvPr/>
        </p:nvSpPr>
        <p:spPr>
          <a:xfrm>
            <a:off x="3657600" y="2560320"/>
            <a:ext cx="7857439" cy="493776"/>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Botón «Get New Instance»: Ethernaut despliega un contrato solo para ti y lo expone como `contract`.</a:t>
            </a:r>
            <a:endParaRPr lang="en-US" sz="1250" dirty="0"/>
          </a:p>
        </p:txBody>
      </p:sp>
      <p:sp>
        <p:nvSpPr>
          <p:cNvPr id="16" name="Shape 13"/>
          <p:cNvSpPr/>
          <p:nvPr/>
        </p:nvSpPr>
        <p:spPr>
          <a:xfrm>
            <a:off x="566928" y="3200400"/>
            <a:ext cx="11057839" cy="640080"/>
          </a:xfrm>
          <a:prstGeom prst="rect">
            <a:avLst/>
          </a:prstGeom>
          <a:solidFill>
            <a:srgbClr val="FFFFFF"/>
          </a:solidFill>
          <a:ln w="15875">
            <a:solidFill>
              <a:srgbClr val="D9D6E0"/>
            </a:solidFill>
            <a:prstDash val="solid"/>
          </a:ln>
        </p:spPr>
      </p:sp>
      <p:sp>
        <p:nvSpPr>
          <p:cNvPr id="17" name="Text 14"/>
          <p:cNvSpPr/>
          <p:nvPr/>
        </p:nvSpPr>
        <p:spPr>
          <a:xfrm>
            <a:off x="694944" y="3200400"/>
            <a:ext cx="548640" cy="64008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8" name="Text 15"/>
          <p:cNvSpPr/>
          <p:nvPr/>
        </p:nvSpPr>
        <p:spPr>
          <a:xfrm>
            <a:off x="1280160" y="3374136"/>
            <a:ext cx="210312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INSPECCIONAR</a:t>
            </a:r>
            <a:endParaRPr lang="en-US" sz="1000" dirty="0"/>
          </a:p>
        </p:txBody>
      </p:sp>
      <p:sp>
        <p:nvSpPr>
          <p:cNvPr id="19" name="Text 16"/>
          <p:cNvSpPr/>
          <p:nvPr/>
        </p:nvSpPr>
        <p:spPr>
          <a:xfrm>
            <a:off x="3657600" y="3291840"/>
            <a:ext cx="7857439" cy="493776"/>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`player`, `await contract.info()`, y sobre todo `contract.abi`: ahí están TODAS las funciones que puedes llamar.</a:t>
            </a:r>
            <a:endParaRPr lang="en-US" sz="1250" dirty="0"/>
          </a:p>
        </p:txBody>
      </p:sp>
      <p:sp>
        <p:nvSpPr>
          <p:cNvPr id="20" name="Shape 17"/>
          <p:cNvSpPr/>
          <p:nvPr/>
        </p:nvSpPr>
        <p:spPr>
          <a:xfrm>
            <a:off x="566928" y="3931920"/>
            <a:ext cx="11057839" cy="640080"/>
          </a:xfrm>
          <a:prstGeom prst="rect">
            <a:avLst/>
          </a:prstGeom>
          <a:solidFill>
            <a:srgbClr val="FAF9FB"/>
          </a:solidFill>
          <a:ln w="15875">
            <a:solidFill>
              <a:srgbClr val="D9D6E0"/>
            </a:solidFill>
            <a:prstDash val="solid"/>
          </a:ln>
        </p:spPr>
      </p:sp>
      <p:sp>
        <p:nvSpPr>
          <p:cNvPr id="21" name="Text 18"/>
          <p:cNvSpPr/>
          <p:nvPr/>
        </p:nvSpPr>
        <p:spPr>
          <a:xfrm>
            <a:off x="694944" y="3931920"/>
            <a:ext cx="548640" cy="64008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04</a:t>
            </a:r>
            <a:endParaRPr lang="en-US" sz="1600" dirty="0"/>
          </a:p>
        </p:txBody>
      </p:sp>
      <p:sp>
        <p:nvSpPr>
          <p:cNvPr id="22" name="Text 19"/>
          <p:cNvSpPr/>
          <p:nvPr/>
        </p:nvSpPr>
        <p:spPr>
          <a:xfrm>
            <a:off x="1280160" y="4105656"/>
            <a:ext cx="210312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INTERACTUAR</a:t>
            </a:r>
            <a:endParaRPr lang="en-US" sz="1000" dirty="0"/>
          </a:p>
        </p:txBody>
      </p:sp>
      <p:sp>
        <p:nvSpPr>
          <p:cNvPr id="23" name="Text 20"/>
          <p:cNvSpPr/>
          <p:nvPr/>
        </p:nvSpPr>
        <p:spPr>
          <a:xfrm>
            <a:off x="3657600" y="4023360"/>
            <a:ext cx="7857439" cy="493776"/>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`await contract.metodo(args)` o `contract.sendTransaction({value: ...})` para enviar ETH.</a:t>
            </a:r>
            <a:endParaRPr lang="en-US" sz="1250" dirty="0"/>
          </a:p>
        </p:txBody>
      </p:sp>
      <p:sp>
        <p:nvSpPr>
          <p:cNvPr id="24" name="Shape 21"/>
          <p:cNvSpPr/>
          <p:nvPr/>
        </p:nvSpPr>
        <p:spPr>
          <a:xfrm>
            <a:off x="566928" y="4663440"/>
            <a:ext cx="11057839" cy="640080"/>
          </a:xfrm>
          <a:prstGeom prst="rect">
            <a:avLst/>
          </a:prstGeom>
          <a:solidFill>
            <a:srgbClr val="FFFFFF"/>
          </a:solidFill>
          <a:ln w="15875">
            <a:solidFill>
              <a:srgbClr val="D9D6E0"/>
            </a:solidFill>
            <a:prstDash val="solid"/>
          </a:ln>
        </p:spPr>
      </p:sp>
      <p:sp>
        <p:nvSpPr>
          <p:cNvPr id="25" name="Text 22"/>
          <p:cNvSpPr/>
          <p:nvPr/>
        </p:nvSpPr>
        <p:spPr>
          <a:xfrm>
            <a:off x="694944" y="4663440"/>
            <a:ext cx="548640" cy="640080"/>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05</a:t>
            </a:r>
            <a:endParaRPr lang="en-US" sz="1600" dirty="0"/>
          </a:p>
        </p:txBody>
      </p:sp>
      <p:sp>
        <p:nvSpPr>
          <p:cNvPr id="26" name="Text 23"/>
          <p:cNvSpPr/>
          <p:nvPr/>
        </p:nvSpPr>
        <p:spPr>
          <a:xfrm>
            <a:off x="1280160" y="4837176"/>
            <a:ext cx="210312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ENVIAR</a:t>
            </a:r>
            <a:endParaRPr lang="en-US" sz="1000" dirty="0"/>
          </a:p>
        </p:txBody>
      </p:sp>
      <p:sp>
        <p:nvSpPr>
          <p:cNvPr id="27" name="Text 24"/>
          <p:cNvSpPr/>
          <p:nvPr/>
        </p:nvSpPr>
        <p:spPr>
          <a:xfrm>
            <a:off x="3657600" y="4754880"/>
            <a:ext cx="7857439" cy="493776"/>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Botón «Submit instance»: Ethernaut comprueba si cumpliste el objetivo del nivel.</a:t>
            </a:r>
            <a:endParaRPr lang="en-US" sz="1250" dirty="0"/>
          </a:p>
        </p:txBody>
      </p:sp>
      <p:sp>
        <p:nvSpPr>
          <p:cNvPr id="28" name="Shape 25"/>
          <p:cNvSpPr/>
          <p:nvPr/>
        </p:nvSpPr>
        <p:spPr>
          <a:xfrm>
            <a:off x="566928" y="5349240"/>
            <a:ext cx="11057839" cy="86868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pic>
        <p:nvPicPr>
          <p:cNvPr id="29" name="Image 1" descr="preencoded.png">    </p:cNvPr>
          <p:cNvPicPr>
            <a:picLocks noChangeAspect="1"/>
          </p:cNvPicPr>
          <p:nvPr/>
        </p:nvPicPr>
        <p:blipFill>
          <a:blip r:embed="rId2"/>
          <a:stretch>
            <a:fillRect/>
          </a:stretch>
        </p:blipFill>
        <p:spPr>
          <a:xfrm>
            <a:off x="804672" y="5568696"/>
            <a:ext cx="237744" cy="237744"/>
          </a:xfrm>
          <a:prstGeom prst="rect">
            <a:avLst/>
          </a:prstGeom>
        </p:spPr>
      </p:pic>
      <p:sp>
        <p:nvSpPr>
          <p:cNvPr id="30" name="Text 26"/>
          <p:cNvSpPr/>
          <p:nvPr/>
        </p:nvSpPr>
        <p:spPr>
          <a:xfrm>
            <a:off x="1133856" y="5541264"/>
            <a:ext cx="10234879" cy="292608"/>
          </a:xfrm>
          <a:prstGeom prst="rect">
            <a:avLst/>
          </a:prstGeom>
          <a:noFill/>
          <a:ln/>
        </p:spPr>
        <p:txBody>
          <a:bodyPr wrap="square" lIns="0" tIns="0" rIns="0" bIns="0" rtlCol="0" anchor="ctr"/>
          <a:lstStyle/>
          <a:p>
            <a:pPr indent="0" marL="0">
              <a:buNone/>
            </a:pPr>
            <a:r>
              <a:rPr lang="en-US" sz="950" b="1" spc="150" kern="0" dirty="0">
                <a:solidFill>
                  <a:srgbClr val="5638C9"/>
                </a:solidFill>
                <a:latin typeface="Courier New" pitchFamily="34" charset="0"/>
                <a:ea typeface="Courier New" pitchFamily="34" charset="-122"/>
                <a:cs typeface="Courier New" pitchFamily="34" charset="-120"/>
              </a:rPr>
              <a:t>EL REFLEJO QUE HAY QUE ADQUIRIR</a:t>
            </a:r>
            <a:endParaRPr lang="en-US" sz="950" dirty="0"/>
          </a:p>
        </p:txBody>
      </p:sp>
      <p:sp>
        <p:nvSpPr>
          <p:cNvPr id="31" name="Text 27"/>
          <p:cNvSpPr/>
          <p:nvPr/>
        </p:nvSpPr>
        <p:spPr>
          <a:xfrm>
            <a:off x="804672" y="5861304"/>
            <a:ext cx="10582351" cy="265176"/>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Ante cualquier nivel: mirar primero contract.abi y el código fuente. La vulnerabilidad casi siempre salta leyendo.</a:t>
            </a:r>
            <a:endParaRPr lang="en-US" sz="12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B.3 · AUDITORÍA CRUZADA #1</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LEER EL CONTRATO DE OTRO EQUIPO</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09 · SEGURIDAD DE CONTRATOS INTELIGENTES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30</a:t>
            </a:r>
            <a:endParaRPr lang="en-US" sz="900" dirty="0"/>
          </a:p>
        </p:txBody>
      </p:sp>
      <p:sp>
        <p:nvSpPr>
          <p:cNvPr id="8" name="Text 5"/>
          <p:cNvSpPr/>
          <p:nvPr/>
        </p:nvSpPr>
        <p:spPr>
          <a:xfrm>
            <a:off x="566928" y="1737360"/>
            <a:ext cx="11057839" cy="594360"/>
          </a:xfrm>
          <a:prstGeom prst="rect">
            <a:avLst/>
          </a:prstGeom>
          <a:noFill/>
          <a:ln/>
        </p:spPr>
        <p:txBody>
          <a:bodyPr wrap="square" lIns="0" tIns="0" rIns="0" bIns="0" rtlCol="0" anchor="t"/>
          <a:lstStyle/>
          <a:p>
            <a:pPr indent="0" marL="0">
              <a:lnSpc>
                <a:spcPct val="124000"/>
              </a:lnSpc>
              <a:buNone/>
            </a:pPr>
            <a:r>
              <a:rPr lang="en-US" sz="1450" dirty="0">
                <a:solidFill>
                  <a:srgbClr val="3A3844"/>
                </a:solidFill>
                <a:latin typeface="Arial" pitchFamily="34" charset="0"/>
                <a:ea typeface="Arial" pitchFamily="34" charset="-122"/>
                <a:cs typeface="Arial" pitchFamily="34" charset="-120"/>
              </a:rPr>
              <a:t>Cada equipo entrega el contrato principal de su proyecto y recibe el de otro. Media hora para auditarlo con una lista concreta. Leer código ajeno es parte de la competencia.</a:t>
            </a:r>
            <a:endParaRPr lang="en-US" sz="1450" dirty="0"/>
          </a:p>
        </p:txBody>
      </p:sp>
      <p:sp>
        <p:nvSpPr>
          <p:cNvPr id="9" name="Shape 6"/>
          <p:cNvSpPr/>
          <p:nvPr/>
        </p:nvSpPr>
        <p:spPr>
          <a:xfrm>
            <a:off x="566928" y="2423160"/>
            <a:ext cx="11057839" cy="621792"/>
          </a:xfrm>
          <a:prstGeom prst="rect">
            <a:avLst/>
          </a:prstGeom>
          <a:solidFill>
            <a:srgbClr val="FFFFFF"/>
          </a:solidFill>
          <a:ln w="15875">
            <a:solidFill>
              <a:srgbClr val="D9D6E0"/>
            </a:solidFill>
            <a:prstDash val="solid"/>
          </a:ln>
        </p:spPr>
      </p:sp>
      <p:sp>
        <p:nvSpPr>
          <p:cNvPr id="10" name="Text 7"/>
          <p:cNvSpPr/>
          <p:nvPr/>
        </p:nvSpPr>
        <p:spPr>
          <a:xfrm>
            <a:off x="694944" y="2423160"/>
            <a:ext cx="548640" cy="621792"/>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01</a:t>
            </a:r>
            <a:endParaRPr lang="en-US" sz="1600" dirty="0"/>
          </a:p>
        </p:txBody>
      </p:sp>
      <p:sp>
        <p:nvSpPr>
          <p:cNvPr id="11" name="Text 8"/>
          <p:cNvSpPr/>
          <p:nvPr/>
        </p:nvSpPr>
        <p:spPr>
          <a:xfrm>
            <a:off x="1280160" y="2587752"/>
            <a:ext cx="265176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RECORRER LA TAXONOMÍA</a:t>
            </a:r>
            <a:endParaRPr lang="en-US" sz="1000" dirty="0"/>
          </a:p>
        </p:txBody>
      </p:sp>
      <p:sp>
        <p:nvSpPr>
          <p:cNvPr id="12" name="Text 9"/>
          <p:cNvSpPr/>
          <p:nvPr/>
        </p:nvSpPr>
        <p:spPr>
          <a:xfrm>
            <a:off x="4206240" y="2514600"/>
            <a:ext cx="7308799" cy="475488"/>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Las ocho vulnerabilidades de A.2, una por una, contra el contrato recibido.</a:t>
            </a:r>
            <a:endParaRPr lang="en-US" sz="1250" dirty="0"/>
          </a:p>
        </p:txBody>
      </p:sp>
      <p:sp>
        <p:nvSpPr>
          <p:cNvPr id="13" name="Shape 10"/>
          <p:cNvSpPr/>
          <p:nvPr/>
        </p:nvSpPr>
        <p:spPr>
          <a:xfrm>
            <a:off x="566928" y="3136392"/>
            <a:ext cx="11057839" cy="621792"/>
          </a:xfrm>
          <a:prstGeom prst="rect">
            <a:avLst/>
          </a:prstGeom>
          <a:solidFill>
            <a:srgbClr val="FAF9FB"/>
          </a:solidFill>
          <a:ln w="15875">
            <a:solidFill>
              <a:srgbClr val="D9D6E0"/>
            </a:solidFill>
            <a:prstDash val="solid"/>
          </a:ln>
        </p:spPr>
      </p:sp>
      <p:sp>
        <p:nvSpPr>
          <p:cNvPr id="14" name="Text 11"/>
          <p:cNvSpPr/>
          <p:nvPr/>
        </p:nvSpPr>
        <p:spPr>
          <a:xfrm>
            <a:off x="694944" y="3136392"/>
            <a:ext cx="548640" cy="621792"/>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02</a:t>
            </a:r>
            <a:endParaRPr lang="en-US" sz="1600" dirty="0"/>
          </a:p>
        </p:txBody>
      </p:sp>
      <p:sp>
        <p:nvSpPr>
          <p:cNvPr id="15" name="Text 12"/>
          <p:cNvSpPr/>
          <p:nvPr/>
        </p:nvSpPr>
        <p:spPr>
          <a:xfrm>
            <a:off x="1280160" y="3300984"/>
            <a:ext cx="265176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PASAR SLITHER</a:t>
            </a:r>
            <a:endParaRPr lang="en-US" sz="1000" dirty="0"/>
          </a:p>
        </p:txBody>
      </p:sp>
      <p:sp>
        <p:nvSpPr>
          <p:cNvPr id="16" name="Text 13"/>
          <p:cNvSpPr/>
          <p:nvPr/>
        </p:nvSpPr>
        <p:spPr>
          <a:xfrm>
            <a:off x="4206240" y="3227832"/>
            <a:ext cx="7308799" cy="475488"/>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Correrlo y leer los hallazgos: separar los reales de los falsos positivos.</a:t>
            </a:r>
            <a:endParaRPr lang="en-US" sz="1250" dirty="0"/>
          </a:p>
        </p:txBody>
      </p:sp>
      <p:sp>
        <p:nvSpPr>
          <p:cNvPr id="17" name="Shape 14"/>
          <p:cNvSpPr/>
          <p:nvPr/>
        </p:nvSpPr>
        <p:spPr>
          <a:xfrm>
            <a:off x="566928" y="3849624"/>
            <a:ext cx="11057839" cy="621792"/>
          </a:xfrm>
          <a:prstGeom prst="rect">
            <a:avLst/>
          </a:prstGeom>
          <a:solidFill>
            <a:srgbClr val="FFFFFF"/>
          </a:solidFill>
          <a:ln w="15875">
            <a:solidFill>
              <a:srgbClr val="D9D6E0"/>
            </a:solidFill>
            <a:prstDash val="solid"/>
          </a:ln>
        </p:spPr>
      </p:sp>
      <p:sp>
        <p:nvSpPr>
          <p:cNvPr id="18" name="Text 15"/>
          <p:cNvSpPr/>
          <p:nvPr/>
        </p:nvSpPr>
        <p:spPr>
          <a:xfrm>
            <a:off x="694944" y="3849624"/>
            <a:ext cx="548640" cy="621792"/>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03</a:t>
            </a:r>
            <a:endParaRPr lang="en-US" sz="1600" dirty="0"/>
          </a:p>
        </p:txBody>
      </p:sp>
      <p:sp>
        <p:nvSpPr>
          <p:cNvPr id="19" name="Text 16"/>
          <p:cNvSpPr/>
          <p:nvPr/>
        </p:nvSpPr>
        <p:spPr>
          <a:xfrm>
            <a:off x="1280160" y="4014216"/>
            <a:ext cx="265176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CLASIFICAR</a:t>
            </a:r>
            <a:endParaRPr lang="en-US" sz="1000" dirty="0"/>
          </a:p>
        </p:txBody>
      </p:sp>
      <p:sp>
        <p:nvSpPr>
          <p:cNvPr id="20" name="Text 17"/>
          <p:cNvSpPr/>
          <p:nvPr/>
        </p:nvSpPr>
        <p:spPr>
          <a:xfrm>
            <a:off x="4206240" y="3941064"/>
            <a:ext cx="7308799" cy="475488"/>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Cada hallazgo con severidad —crítica, alta, media, baja, informativa— y la línea exacta.</a:t>
            </a:r>
            <a:endParaRPr lang="en-US" sz="1250" dirty="0"/>
          </a:p>
        </p:txBody>
      </p:sp>
      <p:sp>
        <p:nvSpPr>
          <p:cNvPr id="21" name="Shape 18"/>
          <p:cNvSpPr/>
          <p:nvPr/>
        </p:nvSpPr>
        <p:spPr>
          <a:xfrm>
            <a:off x="566928" y="4562856"/>
            <a:ext cx="11057839" cy="621792"/>
          </a:xfrm>
          <a:prstGeom prst="rect">
            <a:avLst/>
          </a:prstGeom>
          <a:solidFill>
            <a:srgbClr val="FAF9FB"/>
          </a:solidFill>
          <a:ln w="15875">
            <a:solidFill>
              <a:srgbClr val="D9D6E0"/>
            </a:solidFill>
            <a:prstDash val="solid"/>
          </a:ln>
        </p:spPr>
      </p:sp>
      <p:sp>
        <p:nvSpPr>
          <p:cNvPr id="22" name="Text 19"/>
          <p:cNvSpPr/>
          <p:nvPr/>
        </p:nvSpPr>
        <p:spPr>
          <a:xfrm>
            <a:off x="694944" y="4562856"/>
            <a:ext cx="548640" cy="621792"/>
          </a:xfrm>
          <a:prstGeom prst="rect">
            <a:avLst/>
          </a:prstGeom>
          <a:noFill/>
          <a:ln/>
        </p:spPr>
        <p:txBody>
          <a:bodyPr wrap="square" lIns="0" tIns="0" rIns="0" bIns="0" rtlCol="0" anchor="ctr"/>
          <a:lstStyle/>
          <a:p>
            <a:pPr indent="0" marL="0">
              <a:buNone/>
            </a:pPr>
            <a:r>
              <a:rPr lang="en-US" sz="1600" dirty="0">
                <a:solidFill>
                  <a:srgbClr val="F07F06"/>
                </a:solidFill>
                <a:latin typeface="Arial Black" pitchFamily="34" charset="0"/>
                <a:ea typeface="Arial Black" pitchFamily="34" charset="-122"/>
                <a:cs typeface="Arial Black" pitchFamily="34" charset="-120"/>
              </a:rPr>
              <a:t>04</a:t>
            </a:r>
            <a:endParaRPr lang="en-US" sz="1600" dirty="0"/>
          </a:p>
        </p:txBody>
      </p:sp>
      <p:sp>
        <p:nvSpPr>
          <p:cNvPr id="23" name="Text 20"/>
          <p:cNvSpPr/>
          <p:nvPr/>
        </p:nvSpPr>
        <p:spPr>
          <a:xfrm>
            <a:off x="1280160" y="4727448"/>
            <a:ext cx="2651760" cy="292608"/>
          </a:xfrm>
          <a:prstGeom prst="rect">
            <a:avLst/>
          </a:prstGeom>
          <a:noFill/>
          <a:ln/>
        </p:spPr>
        <p:txBody>
          <a:bodyPr wrap="square" lIns="0" tIns="0" rIns="0" bIns="0" rtlCol="0" anchor="ctr"/>
          <a:lstStyle/>
          <a:p>
            <a:pPr indent="0" marL="0">
              <a:buNone/>
            </a:pPr>
            <a:r>
              <a:rPr lang="en-US" sz="1000" b="1" spc="100" kern="0" dirty="0">
                <a:solidFill>
                  <a:srgbClr val="0F0F11"/>
                </a:solidFill>
                <a:latin typeface="Courier New" pitchFamily="34" charset="0"/>
                <a:ea typeface="Courier New" pitchFamily="34" charset="-122"/>
                <a:cs typeface="Courier New" pitchFamily="34" charset="-120"/>
              </a:rPr>
              <a:t>PROPONER</a:t>
            </a:r>
            <a:endParaRPr lang="en-US" sz="1000" dirty="0"/>
          </a:p>
        </p:txBody>
      </p:sp>
      <p:sp>
        <p:nvSpPr>
          <p:cNvPr id="24" name="Text 21"/>
          <p:cNvSpPr/>
          <p:nvPr/>
        </p:nvSpPr>
        <p:spPr>
          <a:xfrm>
            <a:off x="4206240" y="4654296"/>
            <a:ext cx="7308799" cy="475488"/>
          </a:xfrm>
          <a:prstGeom prst="rect">
            <a:avLst/>
          </a:prstGeom>
          <a:noFill/>
          <a:ln/>
        </p:spPr>
        <p:txBody>
          <a:bodyPr wrap="square" lIns="0" tIns="0" rIns="0" bIns="0" rtlCol="0" anchor="ctr"/>
          <a:lstStyle/>
          <a:p>
            <a:pPr indent="0" marL="0">
              <a:lnSpc>
                <a:spcPct val="115000"/>
              </a:lnSpc>
              <a:buNone/>
            </a:pPr>
            <a:r>
              <a:rPr lang="en-US" sz="1250" dirty="0">
                <a:solidFill>
                  <a:srgbClr val="3A3844"/>
                </a:solidFill>
                <a:latin typeface="Arial" pitchFamily="34" charset="0"/>
                <a:ea typeface="Arial" pitchFamily="34" charset="-122"/>
                <a:cs typeface="Arial" pitchFamily="34" charset="-120"/>
              </a:rPr>
              <a:t>Para cada uno, la corrección mínima. No reescribir el contrato ajeno.</a:t>
            </a:r>
            <a:endParaRPr lang="en-US" sz="1250" dirty="0"/>
          </a:p>
        </p:txBody>
      </p:sp>
      <p:sp>
        <p:nvSpPr>
          <p:cNvPr id="25" name="Shape 22"/>
          <p:cNvSpPr/>
          <p:nvPr/>
        </p:nvSpPr>
        <p:spPr>
          <a:xfrm>
            <a:off x="566928" y="5074920"/>
            <a:ext cx="11057839" cy="1143000"/>
          </a:xfrm>
          <a:prstGeom prst="rect">
            <a:avLst/>
          </a:prstGeom>
          <a:solidFill>
            <a:srgbClr val="FFFFFF"/>
          </a:solidFill>
          <a:ln w="34925">
            <a:solidFill>
              <a:srgbClr val="0F0F11"/>
            </a:solidFill>
            <a:prstDash val="solid"/>
          </a:ln>
          <a:effectLst>
            <a:outerShdw sx="100000" sy="100000" kx="0" ky="0" algn="bl" rotWithShape="0" blurRad="101600" dist="63500" dir="2700000">
              <a:srgbClr val="0F0F11">
                <a:alpha val="100000"/>
              </a:srgbClr>
            </a:outerShdw>
          </a:effectLst>
        </p:spPr>
      </p:sp>
      <p:pic>
        <p:nvPicPr>
          <p:cNvPr id="26" name="Image 1" descr="preencoded.png">    </p:cNvPr>
          <p:cNvPicPr>
            <a:picLocks noChangeAspect="1"/>
          </p:cNvPicPr>
          <p:nvPr/>
        </p:nvPicPr>
        <p:blipFill>
          <a:blip r:embed="rId2"/>
          <a:stretch>
            <a:fillRect/>
          </a:stretch>
        </p:blipFill>
        <p:spPr>
          <a:xfrm>
            <a:off x="804672" y="5294376"/>
            <a:ext cx="237744" cy="237744"/>
          </a:xfrm>
          <a:prstGeom prst="rect">
            <a:avLst/>
          </a:prstGeom>
        </p:spPr>
      </p:pic>
      <p:sp>
        <p:nvSpPr>
          <p:cNvPr id="27" name="Text 23"/>
          <p:cNvSpPr/>
          <p:nvPr/>
        </p:nvSpPr>
        <p:spPr>
          <a:xfrm>
            <a:off x="1133856" y="5266944"/>
            <a:ext cx="10234879" cy="292608"/>
          </a:xfrm>
          <a:prstGeom prst="rect">
            <a:avLst/>
          </a:prstGeom>
          <a:noFill/>
          <a:ln/>
        </p:spPr>
        <p:txBody>
          <a:bodyPr wrap="square" lIns="0" tIns="0" rIns="0" bIns="0" rtlCol="0" anchor="ctr"/>
          <a:lstStyle/>
          <a:p>
            <a:pPr indent="0" marL="0">
              <a:buNone/>
            </a:pPr>
            <a:r>
              <a:rPr lang="en-US" sz="950" b="1" spc="150" kern="0" dirty="0">
                <a:solidFill>
                  <a:srgbClr val="0F0F11"/>
                </a:solidFill>
                <a:latin typeface="Courier New" pitchFamily="34" charset="0"/>
                <a:ea typeface="Courier New" pitchFamily="34" charset="-122"/>
                <a:cs typeface="Courier New" pitchFamily="34" charset="-120"/>
              </a:rPr>
              <a:t>EL FORMATO Y LA RÚBRICA ESTÁN EN EL MATERIAL DEL PROYECTO</a:t>
            </a:r>
            <a:endParaRPr lang="en-US" sz="950" dirty="0"/>
          </a:p>
        </p:txBody>
      </p:sp>
      <p:sp>
        <p:nvSpPr>
          <p:cNvPr id="28" name="Text 24"/>
          <p:cNvSpPr/>
          <p:nvPr/>
        </p:nvSpPr>
        <p:spPr>
          <a:xfrm>
            <a:off x="804672" y="5586984"/>
            <a:ext cx="10582351" cy="539496"/>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«Auditoría cruzada» (HTML + PDF, público) trae el formato de hallazgo, cómo se asignan los equipos, qué se entrega y la rúbrica. Se califica la calidad de la auditoría, no cuántos fallos tenga el otro.</a:t>
            </a:r>
            <a:endParaRPr lang="en-US" sz="12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2240280"/>
            <a:ext cx="3017520" cy="2377440"/>
          </a:xfrm>
          <a:prstGeom prst="rect">
            <a:avLst/>
          </a:prstGeom>
          <a:solidFill>
            <a:srgbClr val="F07F06"/>
          </a:solidFill>
          <a:ln w="12700">
            <a:solidFill>
              <a:srgbClr val="F07F06"/>
            </a:solidFill>
            <a:prstDash val="solid"/>
          </a:ln>
        </p:spPr>
      </p:sp>
      <p:sp>
        <p:nvSpPr>
          <p:cNvPr id="3" name="Text 1"/>
          <p:cNvSpPr/>
          <p:nvPr/>
        </p:nvSpPr>
        <p:spPr>
          <a:xfrm>
            <a:off x="0" y="2240280"/>
            <a:ext cx="3017520" cy="2377440"/>
          </a:xfrm>
          <a:prstGeom prst="rect">
            <a:avLst/>
          </a:prstGeom>
          <a:noFill/>
          <a:ln/>
        </p:spPr>
        <p:txBody>
          <a:bodyPr wrap="square" lIns="0" tIns="0" rIns="0" bIns="0" rtlCol="0" anchor="ctr"/>
          <a:lstStyle/>
          <a:p>
            <a:pPr algn="ctr" indent="0" marL="0">
              <a:buNone/>
            </a:pPr>
            <a:r>
              <a:rPr lang="en-US" sz="11800" dirty="0">
                <a:solidFill>
                  <a:srgbClr val="0F0F11"/>
                </a:solidFill>
                <a:latin typeface="Arial Black" pitchFamily="34" charset="0"/>
                <a:ea typeface="Arial Black" pitchFamily="34" charset="-122"/>
                <a:cs typeface="Arial Black" pitchFamily="34" charset="-120"/>
              </a:rPr>
              <a:t>C</a:t>
            </a:r>
            <a:endParaRPr lang="en-US" sz="11800" dirty="0"/>
          </a:p>
        </p:txBody>
      </p:sp>
      <p:pic>
        <p:nvPicPr>
          <p:cNvPr id="4" name="Image 0" descr="preencoded.png">    </p:cNvPr>
          <p:cNvPicPr>
            <a:picLocks noChangeAspect="1"/>
          </p:cNvPicPr>
          <p:nvPr/>
        </p:nvPicPr>
        <p:blipFill>
          <a:blip r:embed="rId1"/>
          <a:stretch>
            <a:fillRect/>
          </a:stretch>
        </p:blipFill>
        <p:spPr>
          <a:xfrm>
            <a:off x="3611880" y="2286000"/>
            <a:ext cx="329184" cy="329184"/>
          </a:xfrm>
          <a:prstGeom prst="rect">
            <a:avLst/>
          </a:prstGeom>
        </p:spPr>
      </p:pic>
      <p:sp>
        <p:nvSpPr>
          <p:cNvPr id="5" name="Text 2"/>
          <p:cNvSpPr/>
          <p:nvPr/>
        </p:nvSpPr>
        <p:spPr>
          <a:xfrm>
            <a:off x="4069080" y="2258568"/>
            <a:ext cx="7223760" cy="365760"/>
          </a:xfrm>
          <a:prstGeom prst="rect">
            <a:avLst/>
          </a:prstGeom>
          <a:noFill/>
          <a:ln/>
        </p:spPr>
        <p:txBody>
          <a:bodyPr wrap="square" lIns="0" tIns="0" rIns="0" bIns="0" rtlCol="0" anchor="ctr"/>
          <a:lstStyle/>
          <a:p>
            <a:pPr indent="0" marL="0">
              <a:buNone/>
            </a:pPr>
            <a:r>
              <a:rPr lang="en-US" sz="1100" spc="180" kern="0" dirty="0">
                <a:solidFill>
                  <a:srgbClr val="F07F06"/>
                </a:solidFill>
                <a:latin typeface="Courier New" pitchFamily="34" charset="0"/>
                <a:ea typeface="Courier New" pitchFamily="34" charset="-122"/>
                <a:cs typeface="Courier New" pitchFamily="34" charset="-120"/>
              </a:rPr>
              <a:t>90 MINUTOS · 45 % DEL SEGUNDO CORTE</a:t>
            </a:r>
            <a:endParaRPr lang="en-US" sz="1100" dirty="0"/>
          </a:p>
        </p:txBody>
      </p:sp>
      <p:sp>
        <p:nvSpPr>
          <p:cNvPr id="6" name="Text 3"/>
          <p:cNvSpPr/>
          <p:nvPr/>
        </p:nvSpPr>
        <p:spPr>
          <a:xfrm>
            <a:off x="3611880" y="2724912"/>
            <a:ext cx="7955280" cy="1325880"/>
          </a:xfrm>
          <a:prstGeom prst="rect">
            <a:avLst/>
          </a:prstGeom>
          <a:noFill/>
          <a:ln/>
        </p:spPr>
        <p:txBody>
          <a:bodyPr wrap="square" lIns="0" tIns="0" rIns="0" bIns="0" rtlCol="0" anchor="t"/>
          <a:lstStyle/>
          <a:p>
            <a:pPr indent="0" marL="0">
              <a:lnSpc>
                <a:spcPct val="98000"/>
              </a:lnSpc>
              <a:buNone/>
            </a:pPr>
            <a:r>
              <a:rPr lang="en-US" sz="3400" dirty="0">
                <a:solidFill>
                  <a:srgbClr val="FFFFFF"/>
                </a:solidFill>
                <a:latin typeface="Arial Black" pitchFamily="34" charset="0"/>
                <a:ea typeface="Arial Black" pitchFamily="34" charset="-122"/>
                <a:cs typeface="Arial Black" pitchFamily="34" charset="-120"/>
              </a:rPr>
              <a:t>PARCIAL PRÁCTICO</a:t>
            </a:r>
            <a:endParaRPr lang="en-US" sz="3400" dirty="0"/>
          </a:p>
        </p:txBody>
      </p:sp>
      <p:sp>
        <p:nvSpPr>
          <p:cNvPr id="7" name="Text 4"/>
          <p:cNvSpPr/>
          <p:nvPr/>
        </p:nvSpPr>
        <p:spPr>
          <a:xfrm>
            <a:off x="3611880" y="4133088"/>
            <a:ext cx="7680960" cy="1051560"/>
          </a:xfrm>
          <a:prstGeom prst="rect">
            <a:avLst/>
          </a:prstGeom>
          <a:noFill/>
          <a:ln/>
        </p:spPr>
        <p:txBody>
          <a:bodyPr wrap="square" lIns="0" tIns="0" rIns="0" bIns="0" rtlCol="0" anchor="t"/>
          <a:lstStyle/>
          <a:p>
            <a:pPr indent="0" marL="0">
              <a:lnSpc>
                <a:spcPct val="125000"/>
              </a:lnSpc>
              <a:buNone/>
            </a:pPr>
            <a:r>
              <a:rPr lang="en-US" sz="1400" dirty="0">
                <a:solidFill>
                  <a:srgbClr val="B9B4C4"/>
                </a:solidFill>
                <a:latin typeface="Arial" pitchFamily="34" charset="0"/>
                <a:ea typeface="Arial" pitchFamily="34" charset="-122"/>
                <a:cs typeface="Arial" pitchFamily="34" charset="-120"/>
              </a:rPr>
              <a:t>Un contrato vulnerable. Encontrar los fallos, explotar al menos uno y entregar la versión corregida. 90 minutos, individual, libro abierto.</a:t>
            </a:r>
            <a:endParaRPr lang="en-US" sz="1400" dirty="0"/>
          </a:p>
        </p:txBody>
      </p:sp>
      <p:sp>
        <p:nvSpPr>
          <p:cNvPr id="8" name="Text 5"/>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E6A7C"/>
                </a:solidFill>
                <a:latin typeface="Courier New" pitchFamily="34" charset="0"/>
                <a:ea typeface="Courier New" pitchFamily="34" charset="-122"/>
                <a:cs typeface="Courier New" pitchFamily="34" charset="-120"/>
              </a:rPr>
              <a:t>SESIÓN 09 · SEGURIDAD DE CONTRATOS INTELIGENTES</a:t>
            </a:r>
            <a:endParaRPr lang="en-US" sz="800" dirty="0"/>
          </a:p>
        </p:txBody>
      </p:sp>
      <p:sp>
        <p:nvSpPr>
          <p:cNvPr id="9" name="Text 6"/>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E6A7C"/>
                </a:solidFill>
                <a:latin typeface="Courier New" pitchFamily="34" charset="0"/>
                <a:ea typeface="Courier New" pitchFamily="34" charset="-122"/>
                <a:cs typeface="Courier New" pitchFamily="34" charset="-120"/>
              </a:rPr>
              <a:t>USB MEDELLÍN</a:t>
            </a:r>
            <a:endParaRPr lang="en-US" sz="800" dirty="0"/>
          </a:p>
        </p:txBody>
      </p:sp>
      <p:sp>
        <p:nvSpPr>
          <p:cNvPr id="10" name="Text 7"/>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F07F06"/>
                </a:solidFill>
                <a:latin typeface="Courier New" pitchFamily="34" charset="0"/>
                <a:ea typeface="Courier New" pitchFamily="34" charset="-122"/>
                <a:cs typeface="Courier New"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C.1 · QUÉ SE ENTREGA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LAS TRES TAREAS DEL PARCIAL</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09 · SEGURIDAD DE CONTRATOS INTELIGENTES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32</a:t>
            </a:r>
            <a:endParaRPr lang="en-US" sz="9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2377440"/>
                <a:gridCol w="8680399"/>
              </a:tblGrid>
              <a:tr h="310896">
                <a:tc>
                  <a:txBody>
                    <a:bodyPr/>
                    <a:lstStyle/>
                    <a:p>
                      <a:pPr indent="0" marL="0">
                        <a:buNone/>
                      </a:pP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DETALLE</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59613">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El insumo</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Un contrato vulnerable, entregado al empezar el bloque, con vulnerabilidades de la taxonomía de hoy.</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59613">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Tarea 1 · identificar</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Nombrar cada fallo, con su severidad y su línea exacta.</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59613">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Tarea 2 · explotar</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Una prueba en Hardhat que demuestre al menos un abuso.</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59613">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Tarea 3 · corregir</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La versión corregida, sin romper lo legítimo y sin reescribir el contrato entero.</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59613">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Se entrega</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El contrato corregido, la prueba del exploit y media página con los hallazgos y sus correcciones.</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9" name="Shape 5"/>
          <p:cNvSpPr/>
          <p:nvPr/>
        </p:nvSpPr>
        <p:spPr>
          <a:xfrm>
            <a:off x="548640" y="1719072"/>
            <a:ext cx="11094415" cy="3145536"/>
          </a:xfrm>
          <a:prstGeom prst="rect">
            <a:avLst/>
          </a:prstGeom>
          <a:ln w="22225">
            <a:solidFill>
              <a:srgbClr val="0F0F11"/>
            </a:solidFill>
            <a:prstDash val="solid"/>
          </a:ln>
        </p:spPr>
      </p:sp>
      <p:sp>
        <p:nvSpPr>
          <p:cNvPr id="10" name="Shape 6"/>
          <p:cNvSpPr/>
          <p:nvPr/>
        </p:nvSpPr>
        <p:spPr>
          <a:xfrm>
            <a:off x="566928" y="4983480"/>
            <a:ext cx="11057839" cy="1188720"/>
          </a:xfrm>
          <a:prstGeom prst="rect">
            <a:avLst/>
          </a:prstGeom>
          <a:solidFill>
            <a:srgbClr val="FFFFFF"/>
          </a:solidFill>
          <a:ln w="22225">
            <a:solidFill>
              <a:srgbClr val="F07F06"/>
            </a:solidFill>
            <a:prstDash val="solid"/>
          </a:ln>
          <a:effectLst>
            <a:outerShdw sx="100000" sy="100000" kx="0" ky="0" algn="bl" rotWithShape="0" blurRad="101600" dist="63500" dir="2700000">
              <a:srgbClr val="F07F06">
                <a:alpha val="100000"/>
              </a:srgbClr>
            </a:outerShdw>
          </a:effectLst>
        </p:spPr>
      </p:sp>
      <p:pic>
        <p:nvPicPr>
          <p:cNvPr id="11" name="Image 1" descr="preencoded.png">    </p:cNvPr>
          <p:cNvPicPr>
            <a:picLocks noChangeAspect="1"/>
          </p:cNvPicPr>
          <p:nvPr/>
        </p:nvPicPr>
        <p:blipFill>
          <a:blip r:embed="rId2"/>
          <a:stretch>
            <a:fillRect/>
          </a:stretch>
        </p:blipFill>
        <p:spPr>
          <a:xfrm>
            <a:off x="804672" y="5202936"/>
            <a:ext cx="237744" cy="237744"/>
          </a:xfrm>
          <a:prstGeom prst="rect">
            <a:avLst/>
          </a:prstGeom>
        </p:spPr>
      </p:pic>
      <p:sp>
        <p:nvSpPr>
          <p:cNvPr id="12" name="Text 7"/>
          <p:cNvSpPr/>
          <p:nvPr/>
        </p:nvSpPr>
        <p:spPr>
          <a:xfrm>
            <a:off x="1133856" y="5175504"/>
            <a:ext cx="10234879" cy="292608"/>
          </a:xfrm>
          <a:prstGeom prst="rect">
            <a:avLst/>
          </a:prstGeom>
          <a:noFill/>
          <a:ln/>
        </p:spPr>
        <p:txBody>
          <a:bodyPr wrap="square" lIns="0" tIns="0" rIns="0" bIns="0" rtlCol="0" anchor="ctr"/>
          <a:lstStyle/>
          <a:p>
            <a:pPr indent="0" marL="0">
              <a:buNone/>
            </a:pPr>
            <a:r>
              <a:rPr lang="en-US" sz="950" b="1" spc="150" kern="0" dirty="0">
                <a:solidFill>
                  <a:srgbClr val="A35604"/>
                </a:solidFill>
                <a:latin typeface="Courier New" pitchFamily="34" charset="0"/>
                <a:ea typeface="Courier New" pitchFamily="34" charset="-122"/>
                <a:cs typeface="Courier New" pitchFamily="34" charset="-120"/>
              </a:rPr>
              <a:t>UNA RESTRICCIÓN IMPORTANTE</a:t>
            </a:r>
            <a:endParaRPr lang="en-US" sz="950" dirty="0"/>
          </a:p>
        </p:txBody>
      </p:sp>
      <p:sp>
        <p:nvSpPr>
          <p:cNvPr id="13" name="Text 8"/>
          <p:cNvSpPr/>
          <p:nvPr/>
        </p:nvSpPr>
        <p:spPr>
          <a:xfrm>
            <a:off x="804672" y="5495544"/>
            <a:ext cx="10582351" cy="585216"/>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Corregir lo MÍNIMO necesario: reescribir el contrato entero cuesta puntos. Un evento que falta, una pausa ausente o una contabilidad que no cuadra son mejoras o bugs, no vulnerabilidades de seguridad: no cuentan como hallazgo.</a:t>
            </a:r>
            <a:endParaRPr lang="en-US" sz="12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C.2 · CÓMO SE TRABAJA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800" dirty="0">
                <a:solidFill>
                  <a:srgbClr val="0F0F11"/>
                </a:solidFill>
                <a:latin typeface="Arial Black" pitchFamily="34" charset="0"/>
                <a:ea typeface="Arial Black" pitchFamily="34" charset="-122"/>
                <a:cs typeface="Arial Black" pitchFamily="34" charset="-120"/>
              </a:rPr>
              <a:t>TIEMPOS, REGLAS Y USO DE IA</a:t>
            </a:r>
            <a:endParaRPr lang="en-US" sz="28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09 · SEGURIDAD DE CONTRATOS INTELIGENTES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33</a:t>
            </a:r>
            <a:endParaRPr lang="en-US" sz="9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2103120"/>
                <a:gridCol w="8954719"/>
              </a:tblGrid>
              <a:tr h="310896">
                <a:tc>
                  <a:txBody>
                    <a:bodyPr/>
                    <a:lstStyle/>
                    <a:p>
                      <a:pPr indent="0" marL="0">
                        <a:buNone/>
                      </a:pP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DETALLE</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73024">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Duración</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90 minutos exactos, en máquina, en el repositorio de laboratorios del curso.</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73024">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Modalidad</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Individual. Cada quien entrega lo suyo.</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73024">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Libro abierto</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Material del curso, documentación oficial y el repositorio. Todo lo escrito está permitido.</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73024">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Sobre la IA</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Sin asistentes de IA (Copilot, ChatGPT y similares) ni ayuda de otra persona. El objetivo es evaluar TU criterio de seguridad.</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73024">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Peso</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45 % del segundo corte.</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73024">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Integridad</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Una sospecha fundada anula el parcial. Se revisa el historial de escritura si hace falta.</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bl>
          </a:graphicData>
        </a:graphic>
      </p:graphicFrame>
      <p:sp>
        <p:nvSpPr>
          <p:cNvPr id="9" name="Shape 5"/>
          <p:cNvSpPr/>
          <p:nvPr/>
        </p:nvSpPr>
        <p:spPr>
          <a:xfrm>
            <a:off x="548640" y="1719072"/>
            <a:ext cx="11094415" cy="3785616"/>
          </a:xfrm>
          <a:prstGeom prst="rect">
            <a:avLst/>
          </a:prstGeom>
          <a:ln w="22225">
            <a:solidFill>
              <a:srgbClr val="0F0F11"/>
            </a:solidFill>
            <a:prstDash val="solid"/>
          </a:ln>
        </p:spPr>
      </p:sp>
      <p:sp>
        <p:nvSpPr>
          <p:cNvPr id="10" name="Text 6"/>
          <p:cNvSpPr/>
          <p:nvPr/>
        </p:nvSpPr>
        <p:spPr>
          <a:xfrm>
            <a:off x="566928" y="5623560"/>
            <a:ext cx="11057839" cy="548640"/>
          </a:xfrm>
          <a:prstGeom prst="rect">
            <a:avLst/>
          </a:prstGeom>
          <a:noFill/>
          <a:ln/>
        </p:spPr>
        <p:txBody>
          <a:bodyPr wrap="square" lIns="0" tIns="0" rIns="0" bIns="0" rtlCol="0" anchor="t"/>
          <a:lstStyle/>
          <a:p>
            <a:pPr indent="0" marL="0">
              <a:lnSpc>
                <a:spcPct val="124000"/>
              </a:lnSpc>
              <a:buNone/>
            </a:pPr>
            <a:r>
              <a:rPr lang="en-US" sz="1300" dirty="0">
                <a:solidFill>
                  <a:srgbClr val="A35604"/>
                </a:solidFill>
                <a:latin typeface="Arial" pitchFamily="34" charset="0"/>
                <a:ea typeface="Arial" pitchFamily="34" charset="-122"/>
                <a:cs typeface="Arial" pitchFamily="34" charset="-120"/>
              </a:rPr>
              <a:t>Sugerencia de reparto: ~25 min leer e identificar, ~35 min escribir el exploit, ~25 min corregir, ~5 min redactar la media página.</a:t>
            </a:r>
            <a:endParaRPr lang="en-US" sz="13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C.3 · CÓMO SE CALIFICA</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3000" dirty="0">
                <a:solidFill>
                  <a:srgbClr val="0F0F11"/>
                </a:solidFill>
                <a:latin typeface="Arial Black" pitchFamily="34" charset="0"/>
                <a:ea typeface="Arial Black" pitchFamily="34" charset="-122"/>
                <a:cs typeface="Arial Black" pitchFamily="34" charset="-120"/>
              </a:rPr>
              <a:t>RÚBRICA SOBRE 20 PUNTOS</a:t>
            </a:r>
            <a:endParaRPr lang="en-US" sz="30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09 · SEGURIDAD DE CONTRATOS INTELIGENTES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34</a:t>
            </a:r>
            <a:endParaRPr lang="en-US" sz="9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66928" y="1737360"/>
          <a:ext cx="11057839" cy="914400"/>
        </p:xfrm>
        <a:graphic>
          <a:graphicData uri="http://schemas.openxmlformats.org/drawingml/2006/table">
            <a:tbl>
              <a:tblPr/>
              <a:tblGrid>
                <a:gridCol w="3291840"/>
                <a:gridCol w="1463040"/>
                <a:gridCol w="6302959"/>
              </a:tblGrid>
              <a:tr h="310896">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CRITERIO</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PUNTOS</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c>
                  <a:txBody>
                    <a:bodyPr/>
                    <a:lstStyle/>
                    <a:p>
                      <a:pPr indent="0" marL="0">
                        <a:buNone/>
                      </a:pPr>
                      <a:r>
                        <a:rPr lang="en-US" sz="900" b="1" spc="110" kern="0" dirty="0">
                          <a:solidFill>
                            <a:srgbClr val="FFFFFF"/>
                          </a:solidFill>
                          <a:latin typeface="Courier New" pitchFamily="34" charset="0"/>
                          <a:ea typeface="Courier New" pitchFamily="34" charset="-122"/>
                          <a:cs typeface="Courier New" pitchFamily="34" charset="-120"/>
                        </a:rPr>
                        <a:t>QUÉ SE ESPERA</a:t>
                      </a:r>
                      <a:endParaRPr lang="en-US" sz="900" dirty="0">
                        <a:latin typeface="Courier New" charset="0"/>
                        <a:ea typeface="Courier New" charset="0"/>
                        <a:cs typeface="Courier New" charset="0"/>
                      </a:endParaRPr>
                    </a:p>
                  </a:txBody>
                  <a:tcPr marL="101600" marR="101600" marT="76200" marB="76200" anchor="ctr">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0F0F11"/>
                    </a:solidFill>
                  </a:tcPr>
                </a:tc>
              </a:tr>
              <a:tr h="504749">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Identificar los fallos</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6</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Nombre correcto y línea. Media si nombra sin ubicar.</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04749">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Severidad justificada</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3</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Coherente con el impacto real de cada una.</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04749">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Exploit funcional</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5</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Una prueba que demuestra el abuso. Más si roba fondos.</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r h="504749">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Corregir los fallos</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4</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Todos, sin romper la funcionalidad legítima.</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AF9FB"/>
                    </a:solidFill>
                  </a:tcPr>
                </a:tc>
              </a:tr>
              <a:tr h="504749">
                <a:tc>
                  <a:txBody>
                    <a:bodyPr/>
                    <a:lstStyle/>
                    <a:p>
                      <a:pPr indent="0" marL="0">
                        <a:buNone/>
                      </a:pPr>
                      <a:r>
                        <a:rPr lang="en-US" sz="1200" b="1" dirty="0">
                          <a:solidFill>
                            <a:srgbClr val="0F0F11"/>
                          </a:solidFill>
                          <a:latin typeface="Courier New" pitchFamily="34" charset="0"/>
                          <a:ea typeface="Courier New" pitchFamily="34" charset="-122"/>
                          <a:cs typeface="Courier New" pitchFamily="34" charset="-120"/>
                        </a:rPr>
                        <a:t>No romper lo legítimo</a:t>
                      </a:r>
                      <a:endParaRPr lang="en-US" sz="1200" dirty="0">
                        <a:latin typeface="Courier New" charset="0"/>
                        <a:ea typeface="Courier New" charset="0"/>
                        <a:cs typeface="Courier New"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c>
                  <a:txBody>
                    <a:bodyPr/>
                    <a:lstStyle/>
                    <a:p>
                      <a:pPr indent="0" marL="0">
                        <a:buNone/>
                      </a:pPr>
                      <a:r>
                        <a:rPr lang="en-US" sz="1200" dirty="0">
                          <a:solidFill>
                            <a:srgbClr val="3A3844"/>
                          </a:solidFill>
                          <a:latin typeface="Arial" pitchFamily="34" charset="0"/>
                          <a:ea typeface="Arial" pitchFamily="34" charset="-122"/>
                          <a:cs typeface="Arial" pitchFamily="34" charset="-120"/>
                        </a:rPr>
                        <a:t>Prueba de humo del docente sobre el contrato corregido.</a:t>
                      </a:r>
                      <a:endParaRPr lang="en-US" sz="1200" dirty="0">
                        <a:latin typeface="Arial" charset="0"/>
                        <a:ea typeface="Arial" charset="0"/>
                        <a:cs typeface="Arial" charset="0"/>
                      </a:endParaRPr>
                    </a:p>
                  </a:txBody>
                  <a:tcPr marL="101600" marR="101600" marT="76200" marB="76200" anchor="t">
                    <a:lnL w="12700" cap="flat" cmpd="sng" algn="ctr">
                      <a:solidFill>
                        <a:srgbClr val="D9D6E0"/>
                      </a:solidFill>
                      <a:prstDash val="solid"/>
                      <a:round/>
                      <a:headEnd type="none" w="med" len="med"/>
                      <a:tailEnd type="none" w="med" len="med"/>
                    </a:lnL>
                    <a:lnR w="12700" cap="flat" cmpd="sng" algn="ctr">
                      <a:solidFill>
                        <a:srgbClr val="D9D6E0"/>
                      </a:solidFill>
                      <a:prstDash val="solid"/>
                      <a:round/>
                      <a:headEnd type="none" w="med" len="med"/>
                      <a:tailEnd type="none" w="med" len="med"/>
                    </a:lnR>
                    <a:lnT w="12700" cap="flat" cmpd="sng" algn="ctr">
                      <a:solidFill>
                        <a:srgbClr val="D9D6E0"/>
                      </a:solidFill>
                      <a:prstDash val="solid"/>
                      <a:round/>
                      <a:headEnd type="none" w="med" len="med"/>
                      <a:tailEnd type="none" w="med" len="med"/>
                    </a:lnT>
                    <a:lnB w="12700" cap="flat" cmpd="sng" algn="ctr">
                      <a:solidFill>
                        <a:srgbClr val="D9D6E0"/>
                      </a:solidFill>
                      <a:prstDash val="solid"/>
                      <a:round/>
                      <a:headEnd type="none" w="med" len="med"/>
                      <a:tailEnd type="none" w="med" len="med"/>
                    </a:lnB>
                    <a:solidFill>
                      <a:srgbClr val="FFFFFF"/>
                    </a:solidFill>
                  </a:tcPr>
                </a:tc>
              </a:tr>
            </a:tbl>
          </a:graphicData>
        </a:graphic>
      </p:graphicFrame>
      <p:sp>
        <p:nvSpPr>
          <p:cNvPr id="9" name="Shape 5"/>
          <p:cNvSpPr/>
          <p:nvPr/>
        </p:nvSpPr>
        <p:spPr>
          <a:xfrm>
            <a:off x="548640" y="1719072"/>
            <a:ext cx="11094415" cy="2871216"/>
          </a:xfrm>
          <a:prstGeom prst="rect">
            <a:avLst/>
          </a:prstGeom>
          <a:ln w="22225">
            <a:solidFill>
              <a:srgbClr val="0F0F11"/>
            </a:solidFill>
            <a:prstDash val="solid"/>
          </a:ln>
        </p:spPr>
      </p:sp>
      <p:sp>
        <p:nvSpPr>
          <p:cNvPr id="10" name="Shape 6"/>
          <p:cNvSpPr/>
          <p:nvPr/>
        </p:nvSpPr>
        <p:spPr>
          <a:xfrm>
            <a:off x="566928" y="4754880"/>
            <a:ext cx="11057839" cy="1417320"/>
          </a:xfrm>
          <a:prstGeom prst="rect">
            <a:avLst/>
          </a:prstGeom>
          <a:solidFill>
            <a:srgbClr val="FFFFFF"/>
          </a:solidFill>
          <a:ln w="22225">
            <a:solidFill>
              <a:srgbClr val="7152E9"/>
            </a:solidFill>
            <a:prstDash val="solid"/>
          </a:ln>
          <a:effectLst>
            <a:outerShdw sx="100000" sy="100000" kx="0" ky="0" algn="bl" rotWithShape="0" blurRad="101600" dist="63500" dir="2700000">
              <a:srgbClr val="7152E9">
                <a:alpha val="100000"/>
              </a:srgbClr>
            </a:outerShdw>
          </a:effectLst>
        </p:spPr>
      </p:sp>
      <p:pic>
        <p:nvPicPr>
          <p:cNvPr id="11" name="Image 1" descr="preencoded.png">    </p:cNvPr>
          <p:cNvPicPr>
            <a:picLocks noChangeAspect="1"/>
          </p:cNvPicPr>
          <p:nvPr/>
        </p:nvPicPr>
        <p:blipFill>
          <a:blip r:embed="rId2"/>
          <a:stretch>
            <a:fillRect/>
          </a:stretch>
        </p:blipFill>
        <p:spPr>
          <a:xfrm>
            <a:off x="804672" y="4974336"/>
            <a:ext cx="237744" cy="237744"/>
          </a:xfrm>
          <a:prstGeom prst="rect">
            <a:avLst/>
          </a:prstGeom>
        </p:spPr>
      </p:pic>
      <p:sp>
        <p:nvSpPr>
          <p:cNvPr id="12" name="Text 7"/>
          <p:cNvSpPr/>
          <p:nvPr/>
        </p:nvSpPr>
        <p:spPr>
          <a:xfrm>
            <a:off x="1133856" y="4946904"/>
            <a:ext cx="10234879" cy="292608"/>
          </a:xfrm>
          <a:prstGeom prst="rect">
            <a:avLst/>
          </a:prstGeom>
          <a:noFill/>
          <a:ln/>
        </p:spPr>
        <p:txBody>
          <a:bodyPr wrap="square" lIns="0" tIns="0" rIns="0" bIns="0" rtlCol="0" anchor="ctr"/>
          <a:lstStyle/>
          <a:p>
            <a:pPr indent="0" marL="0">
              <a:buNone/>
            </a:pPr>
            <a:r>
              <a:rPr lang="en-US" sz="950" b="1" spc="150" kern="0" dirty="0">
                <a:solidFill>
                  <a:srgbClr val="5638C9"/>
                </a:solidFill>
                <a:latin typeface="Courier New" pitchFamily="34" charset="0"/>
                <a:ea typeface="Courier New" pitchFamily="34" charset="-122"/>
                <a:cs typeface="Courier New" pitchFamily="34" charset="-120"/>
              </a:rPr>
              <a:t>CÓMO SUBIR LA NOTA</a:t>
            </a:r>
            <a:endParaRPr lang="en-US" sz="950" dirty="0"/>
          </a:p>
        </p:txBody>
      </p:sp>
      <p:sp>
        <p:nvSpPr>
          <p:cNvPr id="13" name="Text 8"/>
          <p:cNvSpPr/>
          <p:nvPr/>
        </p:nvSpPr>
        <p:spPr>
          <a:xfrm>
            <a:off x="804672" y="5266944"/>
            <a:ext cx="10582351" cy="813816"/>
          </a:xfrm>
          <a:prstGeom prst="rect">
            <a:avLst/>
          </a:prstGeom>
          <a:noFill/>
          <a:ln/>
        </p:spPr>
        <p:txBody>
          <a:bodyPr wrap="square" lIns="0" tIns="0" rIns="0" bIns="0" rtlCol="0" anchor="t"/>
          <a:lstStyle/>
          <a:p>
            <a:pPr indent="0" marL="0">
              <a:lnSpc>
                <a:spcPct val="124000"/>
              </a:lnSpc>
              <a:buNone/>
            </a:pPr>
            <a:r>
              <a:rPr lang="en-US" sz="1250" dirty="0">
                <a:solidFill>
                  <a:srgbClr val="3A3844"/>
                </a:solidFill>
                <a:latin typeface="Arial" pitchFamily="34" charset="0"/>
                <a:ea typeface="Arial" pitchFamily="34" charset="-122"/>
                <a:cs typeface="Arial" pitchFamily="34" charset="-120"/>
              </a:rPr>
              <a:t>La severidad se justifica con el impacto: ¿se roban fondos, se bloquea el contrato, o solo es una molestia? Un exploit que efectivamente MUEVE dinero vale más que uno que solo describe el abuso. Y la corrección mínima que conserva depositar/retirar honestos es la mitad de la nota de corrección.</a:t>
            </a:r>
            <a:endParaRPr lang="en-US" sz="12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66928" y="402336"/>
            <a:ext cx="274320" cy="274320"/>
          </a:xfrm>
          <a:prstGeom prst="rect">
            <a:avLst/>
          </a:prstGeom>
        </p:spPr>
      </p:pic>
      <p:sp>
        <p:nvSpPr>
          <p:cNvPr id="3" name="Text 0"/>
          <p:cNvSpPr/>
          <p:nvPr/>
        </p:nvSpPr>
        <p:spPr>
          <a:xfrm>
            <a:off x="969264" y="384048"/>
            <a:ext cx="10655503" cy="310896"/>
          </a:xfrm>
          <a:prstGeom prst="rect">
            <a:avLst/>
          </a:prstGeom>
          <a:noFill/>
          <a:ln/>
        </p:spPr>
        <p:txBody>
          <a:bodyPr wrap="square" lIns="0" tIns="0" rIns="0" bIns="0" rtlCol="0" anchor="ctr"/>
          <a:lstStyle/>
          <a:p>
            <a:pPr indent="0" marL="0">
              <a:buNone/>
            </a:pPr>
            <a:r>
              <a:rPr lang="en-US" sz="950" spc="160" kern="0" dirty="0">
                <a:solidFill>
                  <a:srgbClr val="6F6B80"/>
                </a:solidFill>
                <a:latin typeface="Courier New" pitchFamily="34" charset="0"/>
                <a:ea typeface="Courier New" pitchFamily="34" charset="-122"/>
                <a:cs typeface="Courier New" pitchFamily="34" charset="-120"/>
              </a:rPr>
              <a:t>TRABAJO AUTÓNOMO</a:t>
            </a:r>
            <a:endParaRPr lang="en-US" sz="950" dirty="0"/>
          </a:p>
        </p:txBody>
      </p:sp>
      <p:sp>
        <p:nvSpPr>
          <p:cNvPr id="4" name="Text 1"/>
          <p:cNvSpPr/>
          <p:nvPr/>
        </p:nvSpPr>
        <p:spPr>
          <a:xfrm>
            <a:off x="566928" y="777240"/>
            <a:ext cx="11057839" cy="777240"/>
          </a:xfrm>
          <a:prstGeom prst="rect">
            <a:avLst/>
          </a:prstGeom>
          <a:noFill/>
          <a:ln/>
        </p:spPr>
        <p:txBody>
          <a:bodyPr wrap="square" lIns="0" tIns="0" rIns="0" bIns="0" rtlCol="0" anchor="t"/>
          <a:lstStyle/>
          <a:p>
            <a:pPr indent="0" marL="0">
              <a:lnSpc>
                <a:spcPct val="92000"/>
              </a:lnSpc>
              <a:buNone/>
            </a:pPr>
            <a:r>
              <a:rPr lang="en-US" sz="2900" dirty="0">
                <a:solidFill>
                  <a:srgbClr val="0F0F11"/>
                </a:solidFill>
                <a:latin typeface="Arial Black" pitchFamily="34" charset="0"/>
                <a:ea typeface="Arial Black" pitchFamily="34" charset="-122"/>
                <a:cs typeface="Arial Black" pitchFamily="34" charset="-120"/>
              </a:rPr>
              <a:t>LA PREGUNTA DE LA SEMANA</a:t>
            </a:r>
            <a:endParaRPr lang="en-US" sz="2900" dirty="0"/>
          </a:p>
        </p:txBody>
      </p:sp>
      <p:sp>
        <p:nvSpPr>
          <p:cNvPr id="5" name="Text 2"/>
          <p:cNvSpPr/>
          <p:nvPr/>
        </p:nvSpPr>
        <p:spPr>
          <a:xfrm>
            <a:off x="566928" y="6291072"/>
            <a:ext cx="8412480" cy="274320"/>
          </a:xfrm>
          <a:prstGeom prst="rect">
            <a:avLst/>
          </a:prstGeom>
          <a:noFill/>
          <a:ln/>
        </p:spPr>
        <p:txBody>
          <a:bodyPr wrap="square" lIns="0" tIns="0" rIns="0" bIns="0" rtlCol="0" anchor="ctr"/>
          <a:lstStyle/>
          <a:p>
            <a:pPr indent="0" marL="0">
              <a:buNone/>
            </a:pPr>
            <a:r>
              <a:rPr lang="en-US" sz="800" spc="120" kern="0" dirty="0">
                <a:solidFill>
                  <a:srgbClr val="6F6B80"/>
                </a:solidFill>
                <a:latin typeface="Courier New" pitchFamily="34" charset="0"/>
                <a:ea typeface="Courier New" pitchFamily="34" charset="-122"/>
                <a:cs typeface="Courier New" pitchFamily="34" charset="-120"/>
              </a:rPr>
              <a:t>SESIÓN 09 · SEGURIDAD DE CONTRATOS INTELIGENTES</a:t>
            </a:r>
            <a:endParaRPr lang="en-US" sz="800" dirty="0"/>
          </a:p>
        </p:txBody>
      </p:sp>
      <p:sp>
        <p:nvSpPr>
          <p:cNvPr id="6" name="Text 3"/>
          <p:cNvSpPr/>
          <p:nvPr/>
        </p:nvSpPr>
        <p:spPr>
          <a:xfrm>
            <a:off x="9052560" y="6291072"/>
            <a:ext cx="1828800" cy="274320"/>
          </a:xfrm>
          <a:prstGeom prst="rect">
            <a:avLst/>
          </a:prstGeom>
          <a:noFill/>
          <a:ln/>
        </p:spPr>
        <p:txBody>
          <a:bodyPr wrap="square" lIns="0" tIns="0" rIns="0" bIns="0" rtlCol="0" anchor="ctr"/>
          <a:lstStyle/>
          <a:p>
            <a:pPr algn="r" indent="0" marL="0">
              <a:buNone/>
            </a:pPr>
            <a:r>
              <a:rPr lang="en-US" sz="800" spc="120" kern="0" dirty="0">
                <a:solidFill>
                  <a:srgbClr val="6F6B80"/>
                </a:solidFill>
                <a:latin typeface="Courier New" pitchFamily="34" charset="0"/>
                <a:ea typeface="Courier New" pitchFamily="34" charset="-122"/>
                <a:cs typeface="Courier New" pitchFamily="34" charset="-120"/>
              </a:rPr>
              <a:t>USB MEDELLÍN</a:t>
            </a:r>
            <a:endParaRPr lang="en-US" sz="800" dirty="0"/>
          </a:p>
        </p:txBody>
      </p:sp>
      <p:sp>
        <p:nvSpPr>
          <p:cNvPr id="7" name="Text 4"/>
          <p:cNvSpPr/>
          <p:nvPr/>
        </p:nvSpPr>
        <p:spPr>
          <a:xfrm>
            <a:off x="11018520" y="6291072"/>
            <a:ext cx="603504" cy="274320"/>
          </a:xfrm>
          <a:prstGeom prst="rect">
            <a:avLst/>
          </a:prstGeom>
          <a:noFill/>
          <a:ln/>
        </p:spPr>
        <p:txBody>
          <a:bodyPr wrap="square" lIns="0" tIns="0" rIns="0" bIns="0" rtlCol="0" anchor="ctr"/>
          <a:lstStyle/>
          <a:p>
            <a:pPr algn="r" indent="0" marL="0">
              <a:buNone/>
            </a:pPr>
            <a:r>
              <a:rPr lang="en-US" sz="900" b="1" dirty="0">
                <a:solidFill>
                  <a:srgbClr val="0F0F11"/>
                </a:solidFill>
                <a:latin typeface="Courier New" pitchFamily="34" charset="0"/>
                <a:ea typeface="Courier New" pitchFamily="34" charset="-122"/>
                <a:cs typeface="Courier New" pitchFamily="34" charset="-120"/>
              </a:rPr>
              <a:t>35</a:t>
            </a:r>
            <a:endParaRPr lang="en-US" sz="900" dirty="0"/>
          </a:p>
        </p:txBody>
      </p:sp>
      <p:sp>
        <p:nvSpPr>
          <p:cNvPr id="8" name="Shape 5"/>
          <p:cNvSpPr/>
          <p:nvPr/>
        </p:nvSpPr>
        <p:spPr>
          <a:xfrm>
            <a:off x="566928" y="1737360"/>
            <a:ext cx="11057839" cy="1600200"/>
          </a:xfrm>
          <a:prstGeom prst="rect">
            <a:avLst/>
          </a:prstGeom>
          <a:solidFill>
            <a:srgbClr val="FFFFFF"/>
          </a:solidFill>
          <a:ln w="34925">
            <a:solidFill>
              <a:srgbClr val="F07F06"/>
            </a:solidFill>
            <a:prstDash val="solid"/>
          </a:ln>
          <a:effectLst>
            <a:outerShdw sx="100000" sy="100000" kx="0" ky="0" algn="bl" rotWithShape="0" blurRad="101600" dist="63500" dir="2700000">
              <a:srgbClr val="F07F06">
                <a:alpha val="100000"/>
              </a:srgbClr>
            </a:outerShdw>
          </a:effectLst>
        </p:spPr>
      </p:sp>
      <p:sp>
        <p:nvSpPr>
          <p:cNvPr id="9" name="Text 6"/>
          <p:cNvSpPr/>
          <p:nvPr/>
        </p:nvSpPr>
        <p:spPr>
          <a:xfrm>
            <a:off x="950976" y="1920240"/>
            <a:ext cx="10289743" cy="1234440"/>
          </a:xfrm>
          <a:prstGeom prst="rect">
            <a:avLst/>
          </a:prstGeom>
          <a:noFill/>
          <a:ln/>
        </p:spPr>
        <p:txBody>
          <a:bodyPr wrap="square" lIns="0" tIns="0" rIns="0" bIns="0" rtlCol="0" anchor="ctr"/>
          <a:lstStyle/>
          <a:p>
            <a:pPr indent="0" marL="0">
              <a:lnSpc>
                <a:spcPct val="106000"/>
              </a:lnSpc>
              <a:buNone/>
            </a:pPr>
            <a:r>
              <a:rPr lang="en-US" sz="2000" dirty="0">
                <a:solidFill>
                  <a:srgbClr val="0F0F11"/>
                </a:solidFill>
                <a:latin typeface="Arial Black" pitchFamily="34" charset="0"/>
                <a:ea typeface="Arial Black" pitchFamily="34" charset="-122"/>
                <a:cs typeface="Arial Black" pitchFamily="34" charset="-120"/>
              </a:rPr>
              <a:t>De las ocho vulnerabilidades de hoy, ¿cuáles podría tener SU proyecto? Revísenlo con la lista en la mano antes del Avance 1.</a:t>
            </a:r>
            <a:endParaRPr lang="en-US" sz="2000" dirty="0"/>
          </a:p>
        </p:txBody>
      </p:sp>
      <p:sp>
        <p:nvSpPr>
          <p:cNvPr id="10" name="Text 7"/>
          <p:cNvSpPr/>
          <p:nvPr/>
        </p:nvSpPr>
        <p:spPr>
          <a:xfrm>
            <a:off x="566928" y="3611880"/>
            <a:ext cx="7315200" cy="292608"/>
          </a:xfrm>
          <a:prstGeom prst="rect">
            <a:avLst/>
          </a:prstGeom>
          <a:noFill/>
          <a:ln/>
        </p:spPr>
        <p:txBody>
          <a:bodyPr wrap="square" lIns="0" tIns="0" rIns="0" bIns="0" rtlCol="0" anchor="ctr"/>
          <a:lstStyle/>
          <a:p>
            <a:pPr indent="0" marL="0">
              <a:buNone/>
            </a:pPr>
            <a:r>
              <a:rPr lang="en-US" sz="1050" b="1" spc="130" kern="0" dirty="0">
                <a:solidFill>
                  <a:srgbClr val="6F6B80"/>
                </a:solidFill>
                <a:latin typeface="Courier New" pitchFamily="34" charset="0"/>
                <a:ea typeface="Courier New" pitchFamily="34" charset="-122"/>
                <a:cs typeface="Courier New" pitchFamily="34" charset="-120"/>
              </a:rPr>
              <a:t>PARA LA PRÓXIMA SESIÓN</a:t>
            </a:r>
            <a:endParaRPr lang="en-US" sz="1050" dirty="0"/>
          </a:p>
        </p:txBody>
      </p:sp>
      <p:sp>
        <p:nvSpPr>
          <p:cNvPr id="11" name="Text 8"/>
          <p:cNvSpPr/>
          <p:nvPr/>
        </p:nvSpPr>
        <p:spPr>
          <a:xfrm>
            <a:off x="566928" y="3977640"/>
            <a:ext cx="11057839" cy="2148840"/>
          </a:xfrm>
          <a:prstGeom prst="rect">
            <a:avLst/>
          </a:prstGeom>
          <a:noFill/>
          <a:ln/>
        </p:spPr>
        <p:txBody>
          <a:bodyPr wrap="square" lIns="0" tIns="0" rIns="0" bIns="0" rtlCol="0" anchor="t"/>
          <a:lstStyle/>
          <a:p>
            <a:pPr marL="203200" indent="-203200">
              <a:lnSpc>
                <a:spcPct val="118000"/>
              </a:lnSpc>
              <a:spcAft>
                <a:spcPts val="600"/>
              </a:spcAft>
              <a:buSzPct val="100000"/>
              <a:buChar char="■"/>
            </a:pPr>
            <a:r>
              <a:rPr lang="en-US" sz="1350" dirty="0">
                <a:solidFill>
                  <a:srgbClr val="3A3844"/>
                </a:solidFill>
                <a:latin typeface="Arial" pitchFamily="34" charset="0"/>
                <a:ea typeface="Arial" pitchFamily="34" charset="-122"/>
                <a:cs typeface="Arial" pitchFamily="34" charset="-120"/>
              </a:rPr>
              <a:t>Terminar los cinco niveles de Ethernaut si no se alcanzaron en clase.</a:t>
            </a:r>
            <a:endParaRPr lang="en-US" sz="1350" dirty="0"/>
          </a:p>
          <a:p>
            <a:pPr marL="203200" indent="-203200">
              <a:lnSpc>
                <a:spcPct val="118000"/>
              </a:lnSpc>
              <a:spcAft>
                <a:spcPts val="600"/>
              </a:spcAft>
              <a:buSzPct val="100000"/>
              <a:buChar char="■"/>
            </a:pPr>
            <a:r>
              <a:rPr lang="en-US" sz="1350" dirty="0">
                <a:solidFill>
                  <a:srgbClr val="3A3844"/>
                </a:solidFill>
                <a:latin typeface="Arial" pitchFamily="34" charset="0"/>
                <a:ea typeface="Arial" pitchFamily="34" charset="-122"/>
                <a:cs typeface="Arial" pitchFamily="34" charset="-120"/>
              </a:rPr>
              <a:t>Entregar el informe de la auditoría cruzada #1 con el formato del material del proyecto.</a:t>
            </a:r>
            <a:endParaRPr lang="en-US" sz="1350" dirty="0"/>
          </a:p>
          <a:p>
            <a:pPr marL="203200" indent="-203200">
              <a:lnSpc>
                <a:spcPct val="118000"/>
              </a:lnSpc>
              <a:spcAft>
                <a:spcPts val="600"/>
              </a:spcAft>
              <a:buSzPct val="100000"/>
              <a:buChar char="■"/>
            </a:pPr>
            <a:r>
              <a:rPr lang="en-US" sz="1350" dirty="0">
                <a:solidFill>
                  <a:srgbClr val="3A3844"/>
                </a:solidFill>
                <a:latin typeface="Arial" pitchFamily="34" charset="0"/>
                <a:ea typeface="Arial" pitchFamily="34" charset="-122"/>
                <a:cs typeface="Arial" pitchFamily="34" charset="-120"/>
              </a:rPr>
              <a:t>Pasar Slither al contrato del proyecto y anotar los hallazgos.</a:t>
            </a:r>
            <a:endParaRPr lang="en-US" sz="1350" dirty="0"/>
          </a:p>
          <a:p>
            <a:pPr marL="203200" indent="-203200">
              <a:lnSpc>
                <a:spcPct val="118000"/>
              </a:lnSpc>
              <a:spcAft>
                <a:spcPts val="600"/>
              </a:spcAft>
              <a:buSzPct val="100000"/>
              <a:buChar char="■"/>
            </a:pPr>
            <a:r>
              <a:rPr lang="en-US" sz="1350" dirty="0">
                <a:solidFill>
                  <a:srgbClr val="3A3844"/>
                </a:solidFill>
                <a:latin typeface="Arial" pitchFamily="34" charset="0"/>
                <a:ea typeface="Arial" pitchFamily="34" charset="-122"/>
                <a:cs typeface="Arial" pitchFamily="34" charset="-120"/>
              </a:rPr>
              <a:t>Empezar la Unidad III: leer sobre el estándar ERC-20 para la Sesión 10.</a:t>
            </a:r>
            <a:endParaRPr lang="en-US" sz="1350" dirty="0"/>
          </a:p>
          <a:p>
            <a:pPr marL="203200" indent="-203200">
              <a:lnSpc>
                <a:spcPct val="118000"/>
              </a:lnSpc>
              <a:spcAft>
                <a:spcPts val="600"/>
              </a:spcAft>
              <a:buSzPct val="100000"/>
              <a:buChar char="■"/>
            </a:pPr>
            <a:r>
              <a:rPr lang="en-US" sz="1350" dirty="0">
                <a:solidFill>
                  <a:srgbClr val="3A3844"/>
                </a:solidFill>
                <a:latin typeface="Arial" pitchFamily="34" charset="0"/>
                <a:ea typeface="Arial" pitchFamily="34" charset="-122"/>
                <a:cs typeface="Arial" pitchFamily="34" charset="-120"/>
              </a:rPr>
              <a:t>Nivelación de React: quien no lo haya visto, empezar el tutorial entregado. La Sesión 12 lo asume.</a:t>
            </a:r>
            <a:endParaRPr lang="en-US" sz="13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F0F11"/>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F07F06"/>
          </a:solidFill>
          <a:ln w="12700">
            <a:solidFill>
              <a:srgbClr val="333333"/>
            </a:solidFill>
            <a:prstDash val="solid"/>
          </a:ln>
        </p:spPr>
      </p:sp>
      <p:pic>
        <p:nvPicPr>
          <p:cNvPr id="3" name="Image 0" descr="preencoded.png">    </p:cNvPr>
          <p:cNvPicPr>
            <a:picLocks noChangeAspect="1"/>
          </p:cNvPicPr>
          <p:nvPr/>
        </p:nvPicPr>
        <p:blipFill>
          <a:blip r:embed="rId1"/>
          <a:stretch>
            <a:fillRect/>
          </a:stretch>
        </p:blipFill>
        <p:spPr>
          <a:xfrm>
            <a:off x="566928" y="1234440"/>
            <a:ext cx="457200" cy="457200"/>
          </a:xfrm>
          <a:prstGeom prst="rect">
            <a:avLst/>
          </a:prstGeom>
        </p:spPr>
      </p:pic>
      <p:sp>
        <p:nvSpPr>
          <p:cNvPr id="4" name="Text 1"/>
          <p:cNvSpPr/>
          <p:nvPr/>
        </p:nvSpPr>
        <p:spPr>
          <a:xfrm>
            <a:off x="566928" y="1874520"/>
            <a:ext cx="11057839" cy="457200"/>
          </a:xfrm>
          <a:prstGeom prst="rect">
            <a:avLst/>
          </a:prstGeom>
          <a:noFill/>
          <a:ln/>
        </p:spPr>
        <p:txBody>
          <a:bodyPr wrap="square" lIns="0" tIns="0" rIns="0" bIns="0" rtlCol="0" anchor="ctr"/>
          <a:lstStyle/>
          <a:p>
            <a:pPr indent="0" marL="0">
              <a:buNone/>
            </a:pPr>
            <a:r>
              <a:rPr lang="en-US" sz="1150" spc="180" kern="0" dirty="0">
                <a:solidFill>
                  <a:srgbClr val="F07F06"/>
                </a:solidFill>
                <a:latin typeface="Courier New" pitchFamily="34" charset="0"/>
                <a:ea typeface="Courier New" pitchFamily="34" charset="-122"/>
                <a:cs typeface="Courier New" pitchFamily="34" charset="-120"/>
              </a:rPr>
              <a:t>LO QUE SE LLEVAN DE HOY</a:t>
            </a:r>
            <a:endParaRPr lang="en-US" sz="1150" dirty="0"/>
          </a:p>
        </p:txBody>
      </p:sp>
      <p:sp>
        <p:nvSpPr>
          <p:cNvPr id="5" name="Text 2"/>
          <p:cNvSpPr/>
          <p:nvPr/>
        </p:nvSpPr>
        <p:spPr>
          <a:xfrm>
            <a:off x="566928" y="2377440"/>
            <a:ext cx="11057839" cy="1874520"/>
          </a:xfrm>
          <a:prstGeom prst="rect">
            <a:avLst/>
          </a:prstGeom>
          <a:noFill/>
          <a:ln/>
        </p:spPr>
        <p:txBody>
          <a:bodyPr wrap="square" lIns="0" tIns="0" rIns="0" bIns="0" rtlCol="0" anchor="t"/>
          <a:lstStyle/>
          <a:p>
            <a:pPr indent="0" marL="0">
              <a:lnSpc>
                <a:spcPct val="100000"/>
              </a:lnSpc>
              <a:buNone/>
            </a:pPr>
            <a:r>
              <a:rPr lang="en-US" sz="3600" dirty="0">
                <a:solidFill>
                  <a:srgbClr val="FFFFFF"/>
                </a:solidFill>
                <a:latin typeface="Arial Black" pitchFamily="34" charset="0"/>
                <a:ea typeface="Arial Black" pitchFamily="34" charset="-122"/>
                <a:cs typeface="Arial Black" pitchFamily="34" charset="-120"/>
              </a:rPr>
              <a:t>Para escribir un contrato que nadie pueda robar, primero hay que aprender a robarlo.</a:t>
            </a:r>
            <a:endParaRPr lang="en-US" sz="3600" dirty="0"/>
          </a:p>
        </p:txBody>
      </p:sp>
      <p:sp>
        <p:nvSpPr>
          <p:cNvPr id="6" name="Text 3"/>
          <p:cNvSpPr/>
          <p:nvPr/>
        </p:nvSpPr>
        <p:spPr>
          <a:xfrm>
            <a:off x="566928" y="4343400"/>
            <a:ext cx="9960559" cy="822960"/>
          </a:xfrm>
          <a:prstGeom prst="rect">
            <a:avLst/>
          </a:prstGeom>
          <a:noFill/>
          <a:ln/>
        </p:spPr>
        <p:txBody>
          <a:bodyPr wrap="square" lIns="0" tIns="0" rIns="0" bIns="0" rtlCol="0" anchor="t"/>
          <a:lstStyle/>
          <a:p>
            <a:pPr indent="0" marL="0">
              <a:lnSpc>
                <a:spcPct val="125000"/>
              </a:lnSpc>
              <a:buNone/>
            </a:pPr>
            <a:r>
              <a:rPr lang="en-US" sz="1500" dirty="0">
                <a:solidFill>
                  <a:srgbClr val="B9B4C4"/>
                </a:solidFill>
                <a:latin typeface="Arial" pitchFamily="34" charset="0"/>
                <a:ea typeface="Arial" pitchFamily="34" charset="-122"/>
                <a:cs typeface="Arial" pitchFamily="34" charset="-120"/>
              </a:rPr>
              <a:t>Con esto cierra la Unidad II: ya saben escribir, probar, desplegar y auditar. La Unidad III construye cosas que la gente usa: tokens, NFTs y una interfaz de verdad.</a:t>
            </a:r>
            <a:endParaRPr lang="en-US" sz="1500" dirty="0"/>
          </a:p>
        </p:txBody>
      </p:sp>
      <p:sp>
        <p:nvSpPr>
          <p:cNvPr id="7" name="Shape 4"/>
          <p:cNvSpPr/>
          <p:nvPr/>
        </p:nvSpPr>
        <p:spPr>
          <a:xfrm>
            <a:off x="566928" y="5349240"/>
            <a:ext cx="11057839" cy="685800"/>
          </a:xfrm>
          <a:prstGeom prst="rect">
            <a:avLst/>
          </a:prstGeom>
          <a:solidFill>
            <a:srgbClr val="1C1B21"/>
          </a:solidFill>
          <a:ln w="12700">
            <a:solidFill>
              <a:srgbClr val="343240"/>
            </a:solidFill>
            <a:prstDash val="solid"/>
          </a:ln>
        </p:spPr>
      </p:sp>
      <p:sp>
        <p:nvSpPr>
          <p:cNvPr id="8" name="Text 5"/>
          <p:cNvSpPr/>
          <p:nvPr/>
        </p:nvSpPr>
        <p:spPr>
          <a:xfrm>
            <a:off x="841248" y="5349240"/>
            <a:ext cx="10509199" cy="685800"/>
          </a:xfrm>
          <a:prstGeom prst="rect">
            <a:avLst/>
          </a:prstGeom>
          <a:noFill/>
          <a:ln/>
        </p:spPr>
        <p:txBody>
          <a:bodyPr wrap="square" lIns="0" tIns="0" rIns="0" bIns="0" rtlCol="0" anchor="ctr"/>
          <a:lstStyle/>
          <a:p>
            <a:pPr indent="0" marL="0">
              <a:buNone/>
            </a:pPr>
            <a:r>
              <a:rPr lang="en-US" sz="1100" spc="120" kern="0" dirty="0">
                <a:solidFill>
                  <a:srgbClr val="F07F06"/>
                </a:solidFill>
                <a:latin typeface="Courier New" pitchFamily="34" charset="0"/>
                <a:ea typeface="Courier New" pitchFamily="34" charset="-122"/>
                <a:cs typeface="Courier New" pitchFamily="34" charset="-120"/>
              </a:rPr>
              <a:t>SESIÓN 10 · TOKENS FUNGIBLES · EL ESTÁNDAR ERC-20</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Sesión 09 · Seguridad de contratos</dc:title>
  <dc:subject>Sesión 09 · Seguridad de contratos</dc:subject>
  <dc:creator>Universidad de San Buenaventura Medellín</dc:creator>
  <cp:lastModifiedBy>Universidad de San Buenaventura Medellín</cp:lastModifiedBy>
  <cp:revision>1</cp:revision>
  <dcterms:created xsi:type="dcterms:W3CDTF">2026-10-01T19:33:03Z</dcterms:created>
  <dcterms:modified xsi:type="dcterms:W3CDTF">2026-10-01T19:33:03Z</dcterms:modified>
</cp:coreProperties>
</file>