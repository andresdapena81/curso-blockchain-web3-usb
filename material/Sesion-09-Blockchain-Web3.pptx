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más intensa del curso. El bloque A termina con reentrancy explotada en vivo; B es Ethernaut + auditoría cruzada; C es el parcial calificado de 90 minutos. Ser MUY estricto con el reloj: A y B tienen que caber en 90 minutos porque el parcial es intocable.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el parcial de 90 min, A y B tienen que caber en 90. Hay una pausa corta entre B y C. Repartir el enunciado del parcial impreso o por el canal solo al empezar el bloque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una pregunta: '¿cuántos de ustedes han publicado un hotfix en producción?'. Aquí eso no existe. El error mental típico del estudiante: creer que un contrato es un backend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Cifras verificadas (2026-09): The DAO 3,6 M ETH (coindesk, withsecure). Parity jul-2017 ~153.037 ETH robados; nov-2017 513.774,16 ETH congelados en 587 wallets (openzeppelin blog, parity postmortem). BEC = CVE-2018-10299 (NVD). SmartBillions ~400 ETH (~120k USD). Mango &gt;110 M USD (CFTC 8647-23). King of the Ether feb 2016 (post-mortem kingoftheether.com). No dictar cifras que no estén aquí sin volver a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 60 segundos para que lo encuentren antes de pasar. Muchos verán que el orden está invertido. El contrato real está en contracts/s09/BancoVulnerable.sol.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detalle fino: el saldo se pone en CERO al final, no se resta. Si fuera saldos[...] -= monto, el underflow chequeado de 0.8 cortaría la cascada. Con = 0 el ataque drena hasta vaciar. Vale mencionarlo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Correr la prueba en vivo: npx hardhat test test/s09/Reentrancy.test.js. Ver el balance del banco caer a 0 y el atacante quedar con 11 ETH. Es la prueba con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17 jun 2016, ~3,6 M ETH (≈ un tercio del fondo; ≈ 5% del ETH existente). Hard fork en el bloque 1.920.000, 20 jul 2016 → ETH / ETC. Fuentes: coindesk 'How the DAO hack changed Ethereum', withsecure labs, wikipedia Ethereum Classic. Conectar con S4 (hard fork) y S6 (el código hace lo que dice, no lo que se quería).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Verificado en test/s09: contra BancoSeguro el mismo atacante revierte y el banco conserva sus 10 ETH. Detalle: revierte con EnvioFallido (la reentrada choca con el guard dentro del receive del atacante, ese receive revierte, y el envío del banco falla). ReentrancyGuard vive en @openzeppelin/contracts/utils/.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cierre del primer tramo del bloque A. Dar 30 segundos de discusión en parejas. El error 'msg.sender == tx.origin' es un antipatrón real que aparece en foros: sirve para lo contrario de lo que la gente cree y se rompe con account abstraction.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Parity de julio 2017 (~153.037 ETH robados) fue en el fondo control de acceso: la función de inicialización quedó pública y sin protección. Se ve en detalle en A.9.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Parity multisig. Robo del 19 jul 2017 (~153.037 ETH ≈ 30 M USD) por initWallet sin protección vía delegatecall. Congelación del 6 nov 2017: 'devops199' llamó initWallet en la LIBRERÍA no inicializada y luego kill() → 513.774,16 ETH en 587 wallets, congelados para siempre (EIP-999 no se adoptó). Fuentes: openzeppelin blog 'On the parity wallet multisig hack', parity postmortem, github openethereum/parity-ethereum#6995, theregister. Esta lámina cuenta la CONGELACIÓN de noviembre.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CVE-2018-10299, 22 abr 2018, BeautyChain/BEC, overflow en batchTransfer (NVD, peckshield). Solidity 0.8.0 salió el 16 dic 2020 (soliditylang blog). Es el mismo fallo del nivel Token de Ethernaut, que corre en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SmartBillions, oct 2017, ~400 ETH (~120k USD), aleatoriedad predecible por seed+blockhash legibles (medium SmartBillions, crypto.news). Este es el vector que aparece en el parcial: la respuesta 'usar más variables de bloque' NO puntúa.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El término MEV y su estudio sistemático vienen de 'Flash Boys 2.0' (Daian et al., 2019, arXiv:1904.05234). Se ve a fondo en la Sesión 14 con los flash loans. Aquí basta la intuición: el mempool es público.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Mango Markets, 11 oct 2022, &gt;110 M USD, Avraham Eisenberg infló el precio de MNGO 13x en los mercados que alimentaban el oráculo y pidió prestado contra el colateral inflado (CFTC press release 8647-23; condenado en abril 2024). Los flash loans se ven a fondo en la S14.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King of the Ether Throne, 6-8 feb 2016, send() con 2300 gas fallaba hacia wallets-contrato y no se comprobaba el retorno; se reembolsaron 98,5 ETH a mano (post-mortem kingoftheether.com/postmortem.html). Enlaza directo con el withdrawal pattern de la S7.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verificación del bloque A (parte de taxonomía). No revelar el contrato del parcial. Estos tres ejemplos son genéricos, del mismo tipo que el estudiante deberá reconocer.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capa sola es suficiente. The DAO tenía pruebas. Muchos contratos auditados igual fueron robados. Es defensa en profundidad. Las capas 2 y 3 ya las tienen del curso (S8 y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REAL, verificada el 21-oct-2026 con slither 0.11.6 y solc 0.8.34, la versión congelada del curso: sobre BancoVulnerable marca reentrancy-eth (ALTA) + low-level-calls (informativa) y cierra con '2 result(s) found'. Sobre BancoSeguro queda '1 result(s) found': solo la informativa, porque la corrección hace desaparecer el hallazgo alto. Ese antes y después es lo que conviene proyectar. Dos trampas comprobadas al correrlo: (1) hay que fijar el compilador con 'solc-select install 0.8.34 &amp;&amp; solc-select use 0.8.34', o slither falla con el pragma; (2) si el contrato importa OpenZeppelin —como BancoSeguro— hay que decirle dónde buscar: 'slither contracts/s09/BancoSeguro.sol --solc-remaps "@openzeppelin=node_modules/@openzeppelin"', si no, se cae con 'Source not found'. Si la sala no permite Python, hay extensiones de VS Code. Correrlo en vivo si hay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Herramientas de fuzzing del ecosistema: Echidna, Foundry (invariant testing), Medusa. No hace falta nombrarlas todas; sí la idea de que se generan miles de casos automáticamente. Immunefi es la mayor plataforma de bug bounties de web3.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A.9 (Parity fue un proxy/biblioteca mal protegido) y con la S15 (gobernanza). El mensaje: la actualizabilidad no es gratis, mueve el problema de 'código inmutable' a 'quién controla la llave de actualización'.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A. Estas seis ideas son las candidatas naturales del parcial y de la auditoría cruzada. Pausa corta antes del bloque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en el repo oficial: los números de nivel son 1 Fallback, 2 Fal1out, 5 Token, 7 Force, 11 Re-entrancy. Se resuelven en ese orden salvo Force, que conviene dejar al final (requiere desplegar en Remix). Redes soportadas por el juego: Sepolia (por defecto), Optimism/Arbitrum Sepolia, Holesky, Amoy. Usar Sepolia.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Comandos verificados contra la guía oficial (instances.md): player, getBalance(player), help(), ethernaut, contract, contract.abi, await contract.info(), Get New Instance, Submit instance. En la guía en PDF está el método por nivel, con pistas escalonadas SIN la solución. La solución completa está en evaluaciones/ethernaut-SOLUCION-DOCENTE.md (no proyectar).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'Ethernaut + auditoría cruzada #1' que vale 20% del segundo corte. El documento de formato es material/proyecto/auditoria-cruzada.(html|pdf). La entrega del informe puede cerrarse fuera de clase si el tiempo aprieta.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enunciado y el contrato se reparten SOLO al empezar el bloque C. La solución y la rúbrica están en evaluaciones/parcial-s09/ (privado): NO proyectar, NO dar pistas del contenido del contrato. Este deck solo da la logística.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regla de IA: el parcial mide criterio propio, que es justo lo que un asistente taparía. Recordar dónde se guarda el trabajo y cómo se entrega (según el canal del curso). No adelantar nada del contrato.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rúbrica detallada y el solucionario están en evaluaciones/parcial-s09/SOLUCION-DOCENTE.md (privado). NO proyectar. Esta lámina da la estructura de puntos sin revelar cuáles ni cuántas son las vulnerabilidades del contrato.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tutorial de nivelación de React se entrega en esta sesión (material aparte). Es trabajo autónomo de ~4 horas. La pregunta de la semana se retoma en la S10.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ATACAR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09 · UNIDAD II · CIERRE</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EL CÓDIGO ES</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PÚBLICO, CUSTODIA</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VALOR Y NO SE</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PARCHA</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Hoy cambiamos de lado: para defender un contrato hay que saber atacarlo. Y al final, un parcial: encontrar, explotar y corregir.</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Cierra la Unidad II. Primero la taxonomía completa y un robo en vivo; después el CTF Ethernaut y la auditoría cruzada; y de últimas, 90 minutos de parcial individual.</a:t>
            </a:r>
            <a:endParaRPr lang="en-US" sz="1450" dirty="0"/>
          </a:p>
        </p:txBody>
      </p:sp>
      <p:sp>
        <p:nvSpPr>
          <p:cNvPr id="9" name="Shape 6"/>
          <p:cNvSpPr/>
          <p:nvPr/>
        </p:nvSpPr>
        <p:spPr>
          <a:xfrm>
            <a:off x="566928" y="2468880"/>
            <a:ext cx="11057839" cy="10241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468880"/>
            <a:ext cx="777240" cy="1024128"/>
          </a:xfrm>
          <a:prstGeom prst="rect">
            <a:avLst/>
          </a:prstGeom>
          <a:solidFill>
            <a:srgbClr val="F07F06"/>
          </a:solidFill>
          <a:ln w="12700">
            <a:solidFill>
              <a:srgbClr val="333333"/>
            </a:solidFill>
            <a:prstDash val="solid"/>
          </a:ln>
        </p:spPr>
      </p:sp>
      <p:sp>
        <p:nvSpPr>
          <p:cNvPr id="11" name="Text 8"/>
          <p:cNvSpPr/>
          <p:nvPr/>
        </p:nvSpPr>
        <p:spPr>
          <a:xfrm>
            <a:off x="566928" y="2468880"/>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9689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TAXONOMÍA Y DEFENSAS</a:t>
            </a:r>
            <a:endParaRPr lang="en-US" sz="1100" dirty="0"/>
          </a:p>
        </p:txBody>
      </p:sp>
      <p:sp>
        <p:nvSpPr>
          <p:cNvPr id="13" name="Text 10"/>
          <p:cNvSpPr/>
          <p:nvPr/>
        </p:nvSpPr>
        <p:spPr>
          <a:xfrm>
            <a:off x="1572768" y="2926080"/>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Las vulnerabilidades más caras de la historia, una explotada en vivo, y el ciclo de vida seguro.</a:t>
            </a:r>
            <a:endParaRPr lang="en-US" sz="1250" dirty="0"/>
          </a:p>
        </p:txBody>
      </p:sp>
      <p:sp>
        <p:nvSpPr>
          <p:cNvPr id="14" name="Text 11"/>
          <p:cNvSpPr/>
          <p:nvPr/>
        </p:nvSpPr>
        <p:spPr>
          <a:xfrm>
            <a:off x="9704527" y="2468880"/>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~55 min</a:t>
            </a:r>
            <a:endParaRPr lang="en-US" sz="1200" dirty="0"/>
          </a:p>
        </p:txBody>
      </p:sp>
      <p:sp>
        <p:nvSpPr>
          <p:cNvPr id="15" name="Shape 12"/>
          <p:cNvSpPr/>
          <p:nvPr/>
        </p:nvSpPr>
        <p:spPr>
          <a:xfrm>
            <a:off x="566928" y="3675888"/>
            <a:ext cx="11057839" cy="1024128"/>
          </a:xfrm>
          <a:prstGeom prst="rect">
            <a:avLst/>
          </a:prstGeom>
          <a:solidFill>
            <a:srgbClr val="FAF9FB"/>
          </a:solidFill>
          <a:ln w="22225">
            <a:solidFill>
              <a:srgbClr val="0F0F11"/>
            </a:solidFill>
            <a:prstDash val="solid"/>
          </a:ln>
        </p:spPr>
      </p:sp>
      <p:sp>
        <p:nvSpPr>
          <p:cNvPr id="16" name="Shape 13"/>
          <p:cNvSpPr/>
          <p:nvPr/>
        </p:nvSpPr>
        <p:spPr>
          <a:xfrm>
            <a:off x="566928" y="3675888"/>
            <a:ext cx="777240" cy="1024128"/>
          </a:xfrm>
          <a:prstGeom prst="rect">
            <a:avLst/>
          </a:prstGeom>
          <a:solidFill>
            <a:srgbClr val="D9D6E0"/>
          </a:solidFill>
          <a:ln w="12700">
            <a:solidFill>
              <a:srgbClr val="333333"/>
            </a:solidFill>
            <a:prstDash val="solid"/>
          </a:ln>
        </p:spPr>
      </p:sp>
      <p:sp>
        <p:nvSpPr>
          <p:cNvPr id="17" name="Text 14"/>
          <p:cNvSpPr/>
          <p:nvPr/>
        </p:nvSpPr>
        <p:spPr>
          <a:xfrm>
            <a:off x="566928" y="3675888"/>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80390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ETHERNAUT + AUDITORÍA</a:t>
            </a:r>
            <a:endParaRPr lang="en-US" sz="1100" dirty="0"/>
          </a:p>
        </p:txBody>
      </p:sp>
      <p:sp>
        <p:nvSpPr>
          <p:cNvPr id="19" name="Text 16"/>
          <p:cNvSpPr/>
          <p:nvPr/>
        </p:nvSpPr>
        <p:spPr>
          <a:xfrm>
            <a:off x="1572768" y="4133088"/>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Cinco niveles del CTF y auditoría cruzada #1 entre equipos.</a:t>
            </a:r>
            <a:endParaRPr lang="en-US" sz="1250" dirty="0"/>
          </a:p>
        </p:txBody>
      </p:sp>
      <p:sp>
        <p:nvSpPr>
          <p:cNvPr id="20" name="Text 17"/>
          <p:cNvSpPr/>
          <p:nvPr/>
        </p:nvSpPr>
        <p:spPr>
          <a:xfrm>
            <a:off x="9704527" y="3675888"/>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~35 min</a:t>
            </a:r>
            <a:endParaRPr lang="en-US" sz="1200" dirty="0"/>
          </a:p>
        </p:txBody>
      </p:sp>
      <p:sp>
        <p:nvSpPr>
          <p:cNvPr id="21" name="Shape 18"/>
          <p:cNvSpPr/>
          <p:nvPr/>
        </p:nvSpPr>
        <p:spPr>
          <a:xfrm>
            <a:off x="566928" y="4882896"/>
            <a:ext cx="11057839" cy="1024128"/>
          </a:xfrm>
          <a:prstGeom prst="rect">
            <a:avLst/>
          </a:prstGeom>
          <a:solidFill>
            <a:srgbClr val="FAF9FB"/>
          </a:solidFill>
          <a:ln w="22225">
            <a:solidFill>
              <a:srgbClr val="0F0F11"/>
            </a:solidFill>
            <a:prstDash val="solid"/>
          </a:ln>
        </p:spPr>
      </p:sp>
      <p:sp>
        <p:nvSpPr>
          <p:cNvPr id="22" name="Shape 19"/>
          <p:cNvSpPr/>
          <p:nvPr/>
        </p:nvSpPr>
        <p:spPr>
          <a:xfrm>
            <a:off x="566928" y="4882896"/>
            <a:ext cx="777240" cy="1024128"/>
          </a:xfrm>
          <a:prstGeom prst="rect">
            <a:avLst/>
          </a:prstGeom>
          <a:solidFill>
            <a:srgbClr val="D9D6E0"/>
          </a:solidFill>
          <a:ln w="12700">
            <a:solidFill>
              <a:srgbClr val="333333"/>
            </a:solidFill>
            <a:prstDash val="solid"/>
          </a:ln>
        </p:spPr>
      </p:sp>
      <p:sp>
        <p:nvSpPr>
          <p:cNvPr id="23" name="Text 20"/>
          <p:cNvSpPr/>
          <p:nvPr/>
        </p:nvSpPr>
        <p:spPr>
          <a:xfrm>
            <a:off x="566928" y="4882896"/>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5010912"/>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PARCIAL PRÁCTICO</a:t>
            </a:r>
            <a:endParaRPr lang="en-US" sz="1100" dirty="0"/>
          </a:p>
        </p:txBody>
      </p:sp>
      <p:sp>
        <p:nvSpPr>
          <p:cNvPr id="25" name="Text 22"/>
          <p:cNvSpPr/>
          <p:nvPr/>
        </p:nvSpPr>
        <p:spPr>
          <a:xfrm>
            <a:off x="1572768" y="5340096"/>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Encontrar, explotar y corregir. Individual, libro abierto.</a:t>
            </a:r>
            <a:endParaRPr lang="en-US" sz="1250" dirty="0"/>
          </a:p>
        </p:txBody>
      </p:sp>
      <p:sp>
        <p:nvSpPr>
          <p:cNvPr id="26" name="Text 23"/>
          <p:cNvSpPr/>
          <p:nvPr/>
        </p:nvSpPr>
        <p:spPr>
          <a:xfrm>
            <a:off x="9704527" y="4882896"/>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90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Identificar, explotar y remediar las vulnerabilidades más frecuentes de los contratos inteligentes.</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la seguridad aquí es distinta de la de una aplicación web?</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¿Cómo se roba un contrato con reentrancy, línea por línea?</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defensas existen, y por qué ninguna sola basta?</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¿Cómo se lee un contrato ajeno buscando el fallo?</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RA5 · Identificar y remediar vulnerabilidades típicas mediante análisis manual y herramientas automáticas.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REENTRANCY</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reentrada</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 contrato externo vuelve a llamar antes de que el primero termine de actualizar su estado.</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CEI</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Checks-Effects-Interactions</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Validar, actualizar el estado propio y solo al final llamar hacia afuera.</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TX.ORIGIN</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origen de la transacción</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La cuenta que firmó. NUNCA para permisos: quien llama directo es msg.sender.</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DELEGATECALL</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llamada delegada</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Ejecuta el código de otro contrato con el almacenamiento del propio. Poderosa y peligrosa.</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MEV</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Maximal Extractable Value</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Ganancia que un productor de bloques extrae reordenando, insertando o censurando transacciones.</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ORÁCULO</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oracle</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Servicio que trae datos externos a la cadena. Su manipulación es un vector de ataque frecuente.</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SLITHER</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analizador estático</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Herramienta que revisa el código sin ejecutarlo y marca patrones peligrosos.</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PROXY</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contrato actualizable</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Separa el almacenamiento (proxy) de la lógica (implementación) vía delegatecall, para poder cambiar el código.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55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TAXONOMÍA Y DEFENSAS</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Cada vulnerabilidad de esta lista costó dinero real. Varias, cientos de millones. Ninguna era código roto: era código que hacía exactamente lo que decía.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POR QUÉ ES DIFERENTE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TRES COSAS QUE NO PASAN EN UNA APP NORMAL</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Shape 5"/>
          <p:cNvSpPr/>
          <p:nvPr/>
        </p:nvSpPr>
        <p:spPr>
          <a:xfrm>
            <a:off x="566928" y="1737360"/>
            <a:ext cx="5391760" cy="23774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UNA APLICACIÓN WEB</a:t>
            </a:r>
            <a:endParaRPr lang="en-US" sz="1050" dirty="0"/>
          </a:p>
        </p:txBody>
      </p:sp>
      <p:sp>
        <p:nvSpPr>
          <p:cNvPr id="10" name="Text 7"/>
          <p:cNvSpPr/>
          <p:nvPr/>
        </p:nvSpPr>
        <p:spPr>
          <a:xfrm>
            <a:off x="841248" y="2304288"/>
            <a:ext cx="4843120" cy="164592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Si hay un error, se publica un parche.</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El código corre en un servidor privado.</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El dinero está en un banco con reversos y soporte.</a:t>
            </a:r>
            <a:endParaRPr lang="en-US" sz="1300" dirty="0"/>
          </a:p>
        </p:txBody>
      </p:sp>
      <p:sp>
        <p:nvSpPr>
          <p:cNvPr id="11" name="Shape 8"/>
          <p:cNvSpPr/>
          <p:nvPr/>
        </p:nvSpPr>
        <p:spPr>
          <a:xfrm>
            <a:off x="6233008" y="1737360"/>
            <a:ext cx="5391760" cy="237744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UN CONTRATO</a:t>
            </a:r>
            <a:endParaRPr lang="en-US" sz="1050" dirty="0"/>
          </a:p>
        </p:txBody>
      </p:sp>
      <p:sp>
        <p:nvSpPr>
          <p:cNvPr id="13" name="Text 10"/>
          <p:cNvSpPr/>
          <p:nvPr/>
        </p:nvSpPr>
        <p:spPr>
          <a:xfrm>
            <a:off x="6507328" y="2304288"/>
            <a:ext cx="4843120" cy="164592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El código desplegado es inmutable: no hay parche.</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Es público: cualquiera lo lee y lo estudia.</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Custodia valor directamente, y las transferencias no se revierten.</a:t>
            </a:r>
            <a:endParaRPr lang="en-US" sz="1300" dirty="0"/>
          </a:p>
        </p:txBody>
      </p:sp>
      <p:sp>
        <p:nvSpPr>
          <p:cNvPr id="14" name="Shape 11"/>
          <p:cNvSpPr/>
          <p:nvPr/>
        </p:nvSpPr>
        <p:spPr>
          <a:xfrm>
            <a:off x="566928" y="4297680"/>
            <a:ext cx="11057839" cy="12801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5" name="Text 12"/>
          <p:cNvSpPr/>
          <p:nvPr/>
        </p:nvSpPr>
        <p:spPr>
          <a:xfrm>
            <a:off x="950976" y="4480560"/>
            <a:ext cx="10289743" cy="91440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En la web, un atacante busca una puerta mal cerrada. Aquí tiene los planos del edificio, tiempo ilimitado, y si entra se lleva la caja fuerte sin que nadie pueda perseguirlo.</a:t>
            </a:r>
            <a:endParaRPr lang="en-US" sz="1700" dirty="0"/>
          </a:p>
        </p:txBody>
      </p:sp>
      <p:sp>
        <p:nvSpPr>
          <p:cNvPr id="16" name="Text 13"/>
          <p:cNvSpPr/>
          <p:nvPr/>
        </p:nvSpPr>
        <p:spPr>
          <a:xfrm>
            <a:off x="566928" y="571500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Por eso el orden es: escribir menos, reutilizar código auditado, probar los bordes (Sesión 8) y auditar antes de tocar dinero.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EL MAPA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 TAXONOMÍA DE HOY: OCHO VECTORES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743200"/>
                <a:gridCol w="4572000"/>
                <a:gridCol w="3742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VULNERABILIDAD</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UNA FRASE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CASO CÉLEBRE (VERIFICADO)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8120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Reentrancy</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Vuelven a entrar antes de que actualices el estado.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The DAO, jun 2016 · ~3,6 M ETH</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120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Control de acceso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Falta un permiso, o se comprueba mal (tx.origin).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Parity multisig, jul 2017</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120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delegatecall no protegido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Código ajeno escribe en tu almacenamiento.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Parity, nov 2017 · 513.774 ETH congelados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120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Desbordamiento aritmético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número da la vuelta. Resuelto en 0.8.</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BeautyChain (BEC), abr 2018</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120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Aleatoriedad on-chain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azar es predecible o influenciable.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SmartBillions, oct 2017 · ~400 ETH</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120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Front-running / MEV</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Ven tu transacción y se adelantan.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DEX, a diario · «Flash Boys 2.0»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120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Manipulación de oráculos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Falsean el precio del que dependes.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Mango Markets, oct 2022 · &gt;110 M USD</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120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DoS por bucle o receptor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dato o una cuenta bloquean a todos.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King of the Ether, feb 2016</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4197096"/>
          </a:xfrm>
          <a:prstGeom prst="rect">
            <a:avLst/>
          </a:prstGeom>
          <a:ln w="22225">
            <a:solidFill>
              <a:srgbClr val="0F0F11"/>
            </a:solidFill>
            <a:prstDash val="solid"/>
          </a:ln>
        </p:spPr>
      </p:sp>
      <p:sp>
        <p:nvSpPr>
          <p:cNvPr id="10" name="Text 6"/>
          <p:cNvSpPr/>
          <p:nvPr/>
        </p:nvSpPr>
        <p:spPr>
          <a:xfrm>
            <a:off x="566928" y="5989320"/>
            <a:ext cx="11057839" cy="3200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Reentrancy la explotamos en vivo. Las demás, con su caso real. Todas pueden salir en el parcial.</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EL CONTRATO QUE VAMOS A ROBAR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UN BANCO QUE PARECE CORRECTO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Shape 5"/>
          <p:cNvSpPr/>
          <p:nvPr/>
        </p:nvSpPr>
        <p:spPr>
          <a:xfrm>
            <a:off x="566928" y="1737360"/>
            <a:ext cx="6766560" cy="4434840"/>
          </a:xfrm>
          <a:prstGeom prst="rect">
            <a:avLst/>
          </a:prstGeom>
          <a:solidFill>
            <a:srgbClr val="16151B"/>
          </a:solidFill>
          <a:ln w="22225">
            <a:solidFill>
              <a:srgbClr val="16151B"/>
            </a:solidFill>
            <a:prstDash val="solid"/>
          </a:ln>
        </p:spPr>
      </p:sp>
      <p:sp>
        <p:nvSpPr>
          <p:cNvPr id="9" name="Text 6"/>
          <p:cNvSpPr/>
          <p:nvPr/>
        </p:nvSpPr>
        <p:spPr>
          <a:xfrm>
            <a:off x="768096" y="1883664"/>
            <a:ext cx="6364224" cy="4178808"/>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contract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BancoVulnerable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mapping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saldos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depositar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saldos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retirar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saldos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require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"sin saldo"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call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require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"envio fallido"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saldos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&lt;-- el saldo se limpia AL FINAL</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Text 7"/>
          <p:cNvSpPr/>
          <p:nvPr/>
        </p:nvSpPr>
        <p:spPr>
          <a:xfrm>
            <a:off x="7607808" y="1737360"/>
            <a:ext cx="4016959" cy="2194560"/>
          </a:xfrm>
          <a:prstGeom prst="rect">
            <a:avLst/>
          </a:prstGeom>
          <a:noFill/>
          <a:ln/>
        </p:spPr>
        <p:txBody>
          <a:bodyPr wrap="square" lIns="0" tIns="0" rIns="0" bIns="0" rtlCol="0" anchor="t"/>
          <a:lstStyle/>
          <a:p>
            <a:pPr marL="203200" indent="-203200">
              <a:lnSpc>
                <a:spcPct val="118000"/>
              </a:lnSpc>
              <a:spcAft>
                <a:spcPts val="800"/>
              </a:spcAft>
              <a:buSzPct val="100000"/>
              <a:buChar char="■"/>
            </a:pPr>
            <a:r>
              <a:rPr lang="en-US" sz="1300" dirty="0">
                <a:solidFill>
                  <a:srgbClr val="3A3844"/>
                </a:solidFill>
                <a:latin typeface="Arial" pitchFamily="34" charset="0"/>
                <a:ea typeface="Arial" pitchFamily="34" charset="-122"/>
                <a:cs typeface="Arial" pitchFamily="34" charset="-120"/>
              </a:rPr>
              <a:t>Lleva la cuenta de cada depósito.</a:t>
            </a:r>
            <a:endParaRPr lang="en-US" sz="1300" dirty="0"/>
          </a:p>
          <a:p>
            <a:pPr marL="203200" indent="-203200">
              <a:lnSpc>
                <a:spcPct val="118000"/>
              </a:lnSpc>
              <a:spcAft>
                <a:spcPts val="800"/>
              </a:spcAft>
              <a:buSzPct val="100000"/>
              <a:buChar char="■"/>
            </a:pPr>
            <a:r>
              <a:rPr lang="en-US" sz="1300" dirty="0">
                <a:solidFill>
                  <a:srgbClr val="3A3844"/>
                </a:solidFill>
                <a:latin typeface="Arial" pitchFamily="34" charset="0"/>
                <a:ea typeface="Arial" pitchFamily="34" charset="-122"/>
                <a:cs typeface="Arial" pitchFamily="34" charset="-120"/>
              </a:rPr>
              <a:t>Solo deja retirar lo propio.</a:t>
            </a:r>
            <a:endParaRPr lang="en-US" sz="1300" dirty="0"/>
          </a:p>
          <a:p>
            <a:pPr marL="203200" indent="-203200">
              <a:lnSpc>
                <a:spcPct val="118000"/>
              </a:lnSpc>
              <a:spcAft>
                <a:spcPts val="800"/>
              </a:spcAft>
              <a:buSzPct val="100000"/>
              <a:buChar char="■"/>
            </a:pPr>
            <a:r>
              <a:rPr lang="en-US" sz="1300" dirty="0">
                <a:solidFill>
                  <a:srgbClr val="3A3844"/>
                </a:solidFill>
                <a:latin typeface="Arial" pitchFamily="34" charset="0"/>
                <a:ea typeface="Arial" pitchFamily="34" charset="-122"/>
                <a:cs typeface="Arial" pitchFamily="34" charset="-120"/>
              </a:rPr>
              <a:t>Comprueba que el envío no falle.</a:t>
            </a:r>
            <a:endParaRPr lang="en-US" sz="1300" dirty="0"/>
          </a:p>
          <a:p>
            <a:pPr marL="203200" indent="-203200">
              <a:lnSpc>
                <a:spcPct val="118000"/>
              </a:lnSpc>
              <a:spcAft>
                <a:spcPts val="800"/>
              </a:spcAft>
              <a:buSzPct val="100000"/>
              <a:buChar char="■"/>
            </a:pPr>
            <a:r>
              <a:rPr lang="en-US" sz="1300" dirty="0">
                <a:solidFill>
                  <a:srgbClr val="3A3844"/>
                </a:solidFill>
                <a:latin typeface="Arial" pitchFamily="34" charset="0"/>
                <a:ea typeface="Arial" pitchFamily="34" charset="-122"/>
                <a:cs typeface="Arial" pitchFamily="34" charset="-120"/>
              </a:rPr>
              <a:t>Pone el saldo en cero.</a:t>
            </a:r>
            <a:endParaRPr lang="en-US" sz="1300" dirty="0"/>
          </a:p>
        </p:txBody>
      </p:sp>
      <p:sp>
        <p:nvSpPr>
          <p:cNvPr id="11" name="Shape 8"/>
          <p:cNvSpPr/>
          <p:nvPr/>
        </p:nvSpPr>
        <p:spPr>
          <a:xfrm>
            <a:off x="7607808" y="4114800"/>
            <a:ext cx="4016959" cy="20116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2" name="Image 1" descr="preencoded.png">    </p:cNvPr>
          <p:cNvPicPr>
            <a:picLocks noChangeAspect="1"/>
          </p:cNvPicPr>
          <p:nvPr/>
        </p:nvPicPr>
        <p:blipFill>
          <a:blip r:embed="rId2"/>
          <a:stretch>
            <a:fillRect/>
          </a:stretch>
        </p:blipFill>
        <p:spPr>
          <a:xfrm>
            <a:off x="7845552" y="4334256"/>
            <a:ext cx="237744" cy="237744"/>
          </a:xfrm>
          <a:prstGeom prst="rect">
            <a:avLst/>
          </a:prstGeom>
        </p:spPr>
      </p:pic>
      <p:sp>
        <p:nvSpPr>
          <p:cNvPr id="13" name="Text 9"/>
          <p:cNvSpPr/>
          <p:nvPr/>
        </p:nvSpPr>
        <p:spPr>
          <a:xfrm>
            <a:off x="8174736" y="4306824"/>
            <a:ext cx="319399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PREGUNTA ANTES DE SEGUIR</a:t>
            </a:r>
            <a:endParaRPr lang="en-US" sz="950" dirty="0"/>
          </a:p>
        </p:txBody>
      </p:sp>
      <p:sp>
        <p:nvSpPr>
          <p:cNvPr id="14" name="Text 10"/>
          <p:cNvSpPr/>
          <p:nvPr/>
        </p:nvSpPr>
        <p:spPr>
          <a:xfrm>
            <a:off x="7845552" y="4626864"/>
            <a:ext cx="3541471" cy="14081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Todo parece bien. ¿En qué línea está el fallo? Pista: piensen qué pasa DURANTE el call, antes de la última línea.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EL FALLO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ENVÍO CEDE EL CONTROL AL ATACANTE</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call{value: monto} no es solo mover ETH. Si el receptor es un contrato, EJECUTA su función receive(). Y ahí, el atacante toma el control con el saldo todavía sin limpiar.</a:t>
            </a:r>
            <a:endParaRPr lang="en-US" sz="1450" dirty="0"/>
          </a:p>
        </p:txBody>
      </p:sp>
      <p:sp>
        <p:nvSpPr>
          <p:cNvPr id="9" name="Shape 6"/>
          <p:cNvSpPr/>
          <p:nvPr/>
        </p:nvSpPr>
        <p:spPr>
          <a:xfrm>
            <a:off x="566928" y="2743200"/>
            <a:ext cx="11057839" cy="749808"/>
          </a:xfrm>
          <a:prstGeom prst="rect">
            <a:avLst/>
          </a:prstGeom>
          <a:solidFill>
            <a:srgbClr val="FFFFFF"/>
          </a:solidFill>
          <a:ln w="15875">
            <a:solidFill>
              <a:srgbClr val="D9D6E0"/>
            </a:solidFill>
            <a:prstDash val="solid"/>
          </a:ln>
        </p:spPr>
      </p:sp>
      <p:sp>
        <p:nvSpPr>
          <p:cNvPr id="10" name="Text 7"/>
          <p:cNvSpPr/>
          <p:nvPr/>
        </p:nvSpPr>
        <p:spPr>
          <a:xfrm>
            <a:off x="694944" y="2743200"/>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971800"/>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LÍNEA 1 DEL ATAQUE</a:t>
            </a:r>
            <a:endParaRPr lang="en-US" sz="1000" dirty="0"/>
          </a:p>
        </p:txBody>
      </p:sp>
      <p:sp>
        <p:nvSpPr>
          <p:cNvPr id="12" name="Text 9"/>
          <p:cNvSpPr/>
          <p:nvPr/>
        </p:nvSpPr>
        <p:spPr>
          <a:xfrm>
            <a:off x="4023360" y="2834640"/>
            <a:ext cx="749167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banco ejecuta call y le envía el ETH al contrato atacante.</a:t>
            </a:r>
            <a:endParaRPr lang="en-US" sz="1250" dirty="0"/>
          </a:p>
        </p:txBody>
      </p:sp>
      <p:sp>
        <p:nvSpPr>
          <p:cNvPr id="13" name="Shape 10"/>
          <p:cNvSpPr/>
          <p:nvPr/>
        </p:nvSpPr>
        <p:spPr>
          <a:xfrm>
            <a:off x="566928" y="3602736"/>
            <a:ext cx="11057839" cy="749808"/>
          </a:xfrm>
          <a:prstGeom prst="rect">
            <a:avLst/>
          </a:prstGeom>
          <a:solidFill>
            <a:srgbClr val="FAF9FB"/>
          </a:solidFill>
          <a:ln w="15875">
            <a:solidFill>
              <a:srgbClr val="D9D6E0"/>
            </a:solidFill>
            <a:prstDash val="solid"/>
          </a:ln>
        </p:spPr>
      </p:sp>
      <p:sp>
        <p:nvSpPr>
          <p:cNvPr id="14" name="Text 11"/>
          <p:cNvSpPr/>
          <p:nvPr/>
        </p:nvSpPr>
        <p:spPr>
          <a:xfrm>
            <a:off x="694944" y="3602736"/>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83133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 CONTROL SALTA</a:t>
            </a:r>
            <a:endParaRPr lang="en-US" sz="1000" dirty="0"/>
          </a:p>
        </p:txBody>
      </p:sp>
      <p:sp>
        <p:nvSpPr>
          <p:cNvPr id="16" name="Text 13"/>
          <p:cNvSpPr/>
          <p:nvPr/>
        </p:nvSpPr>
        <p:spPr>
          <a:xfrm>
            <a:off x="4023360" y="3694176"/>
            <a:ext cx="749167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Se ejecuta receive() del atacante — antes de que el banco llegue a saldos = 0.</a:t>
            </a:r>
            <a:endParaRPr lang="en-US" sz="1250" dirty="0"/>
          </a:p>
        </p:txBody>
      </p:sp>
      <p:sp>
        <p:nvSpPr>
          <p:cNvPr id="17" name="Shape 14"/>
          <p:cNvSpPr/>
          <p:nvPr/>
        </p:nvSpPr>
        <p:spPr>
          <a:xfrm>
            <a:off x="566928" y="4462272"/>
            <a:ext cx="11057839" cy="749808"/>
          </a:xfrm>
          <a:prstGeom prst="rect">
            <a:avLst/>
          </a:prstGeom>
          <a:solidFill>
            <a:srgbClr val="FFFFFF"/>
          </a:solidFill>
          <a:ln w="15875">
            <a:solidFill>
              <a:srgbClr val="D9D6E0"/>
            </a:solidFill>
            <a:prstDash val="solid"/>
          </a:ln>
        </p:spPr>
      </p:sp>
      <p:sp>
        <p:nvSpPr>
          <p:cNvPr id="18" name="Text 15"/>
          <p:cNvSpPr/>
          <p:nvPr/>
        </p:nvSpPr>
        <p:spPr>
          <a:xfrm>
            <a:off x="694944" y="4462272"/>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690872"/>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 ATACANTE REENTRA</a:t>
            </a:r>
            <a:endParaRPr lang="en-US" sz="1000" dirty="0"/>
          </a:p>
        </p:txBody>
      </p:sp>
      <p:sp>
        <p:nvSpPr>
          <p:cNvPr id="20" name="Text 17"/>
          <p:cNvSpPr/>
          <p:nvPr/>
        </p:nvSpPr>
        <p:spPr>
          <a:xfrm>
            <a:off x="4023360" y="4553712"/>
            <a:ext cx="749167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Desde receive() vuelve a llamar retirar(). El banco aún cree que tiene saldo.</a:t>
            </a:r>
            <a:endParaRPr lang="en-US" sz="1250" dirty="0"/>
          </a:p>
        </p:txBody>
      </p:sp>
      <p:sp>
        <p:nvSpPr>
          <p:cNvPr id="21" name="Shape 18"/>
          <p:cNvSpPr/>
          <p:nvPr/>
        </p:nvSpPr>
        <p:spPr>
          <a:xfrm>
            <a:off x="566928" y="5321808"/>
            <a:ext cx="11057839" cy="749808"/>
          </a:xfrm>
          <a:prstGeom prst="rect">
            <a:avLst/>
          </a:prstGeom>
          <a:solidFill>
            <a:srgbClr val="FAF9FB"/>
          </a:solidFill>
          <a:ln w="15875">
            <a:solidFill>
              <a:srgbClr val="D9D6E0"/>
            </a:solidFill>
            <a:prstDash val="solid"/>
          </a:ln>
        </p:spPr>
      </p:sp>
      <p:sp>
        <p:nvSpPr>
          <p:cNvPr id="22" name="Text 19"/>
          <p:cNvSpPr/>
          <p:nvPr/>
        </p:nvSpPr>
        <p:spPr>
          <a:xfrm>
            <a:off x="694944" y="5321808"/>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5550408"/>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 REPITE</a:t>
            </a:r>
            <a:endParaRPr lang="en-US" sz="1000" dirty="0"/>
          </a:p>
        </p:txBody>
      </p:sp>
      <p:sp>
        <p:nvSpPr>
          <p:cNvPr id="24" name="Text 21"/>
          <p:cNvSpPr/>
          <p:nvPr/>
        </p:nvSpPr>
        <p:spPr>
          <a:xfrm>
            <a:off x="4023360" y="5413248"/>
            <a:ext cx="749167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banco vuelve a enviar. Y otra vez. Hasta que se queda sin fondos.</a:t>
            </a:r>
            <a:endParaRPr lang="en-US" sz="1250" dirty="0"/>
          </a:p>
        </p:txBody>
      </p:sp>
      <p:sp>
        <p:nvSpPr>
          <p:cNvPr id="25" name="Shape 22"/>
          <p:cNvSpPr/>
          <p:nvPr/>
        </p:nvSpPr>
        <p:spPr>
          <a:xfrm>
            <a:off x="566928" y="5413248"/>
            <a:ext cx="11057839" cy="786384"/>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26" name="Image 1" descr="preencoded.png">    </p:cNvPr>
          <p:cNvPicPr>
            <a:picLocks noChangeAspect="1"/>
          </p:cNvPicPr>
          <p:nvPr/>
        </p:nvPicPr>
        <p:blipFill>
          <a:blip r:embed="rId2"/>
          <a:stretch>
            <a:fillRect/>
          </a:stretch>
        </p:blipFill>
        <p:spPr>
          <a:xfrm>
            <a:off x="804672" y="5632704"/>
            <a:ext cx="237744" cy="237744"/>
          </a:xfrm>
          <a:prstGeom prst="rect">
            <a:avLst/>
          </a:prstGeom>
        </p:spPr>
      </p:pic>
      <p:sp>
        <p:nvSpPr>
          <p:cNvPr id="27" name="Text 23"/>
          <p:cNvSpPr/>
          <p:nvPr/>
        </p:nvSpPr>
        <p:spPr>
          <a:xfrm>
            <a:off x="1133856" y="5605272"/>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LA REGLA QUE SE VIOLÓ</a:t>
            </a:r>
            <a:endParaRPr lang="en-US" sz="950" dirty="0"/>
          </a:p>
        </p:txBody>
      </p:sp>
      <p:sp>
        <p:nvSpPr>
          <p:cNvPr id="28" name="Text 24"/>
          <p:cNvSpPr/>
          <p:nvPr/>
        </p:nvSpPr>
        <p:spPr>
          <a:xfrm>
            <a:off x="804672" y="5925312"/>
            <a:ext cx="10582351" cy="1828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Interacción (enviar) antes que efecto (limpiar el saldo). Es exactamente al revés de Checks-Effects-Interactions.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EL EXPLOIT</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TRECE LÍNEAS QUE VACÍAN EL BANCO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737360"/>
            <a:ext cx="6949440" cy="4114800"/>
          </a:xfrm>
          <a:prstGeom prst="rect">
            <a:avLst/>
          </a:prstGeom>
          <a:solidFill>
            <a:srgbClr val="16151B"/>
          </a:solidFill>
          <a:ln w="22225">
            <a:solidFill>
              <a:srgbClr val="16151B"/>
            </a:solidFill>
            <a:prstDash val="solid"/>
          </a:ln>
        </p:spPr>
      </p:sp>
      <p:sp>
        <p:nvSpPr>
          <p:cNvPr id="9" name="Text 6"/>
          <p:cNvSpPr/>
          <p:nvPr/>
        </p:nvSpPr>
        <p:spPr>
          <a:xfrm>
            <a:off x="768096" y="1883664"/>
            <a:ext cx="6547104" cy="3858768"/>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contract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Atacante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IBanco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banco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cebo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atacar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cebo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banco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depositar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deposita 1</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banco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retirar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pide su retiro</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receive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el banco le paga...</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banco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balance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cebo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banco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retirar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...y vuelve a entrar</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Shape 7"/>
          <p:cNvSpPr/>
          <p:nvPr/>
        </p:nvSpPr>
        <p:spPr>
          <a:xfrm>
            <a:off x="7790688" y="1737360"/>
            <a:ext cx="3834079" cy="173736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1" name="Text 8"/>
          <p:cNvSpPr/>
          <p:nvPr/>
        </p:nvSpPr>
        <p:spPr>
          <a:xfrm>
            <a:off x="7973568" y="1901952"/>
            <a:ext cx="3468319" cy="799186"/>
          </a:xfrm>
          <a:prstGeom prst="rect">
            <a:avLst/>
          </a:prstGeom>
          <a:noFill/>
          <a:ln/>
        </p:spPr>
        <p:txBody>
          <a:bodyPr wrap="square" lIns="0" tIns="0" rIns="0" bIns="0" rtlCol="0" anchor="ctr"/>
          <a:lstStyle/>
          <a:p>
            <a:pPr indent="0" marL="0">
              <a:buNone/>
            </a:pPr>
            <a:r>
              <a:rPr lang="en-US" sz="3000" dirty="0">
                <a:solidFill>
                  <a:srgbClr val="B3261E"/>
                </a:solidFill>
                <a:latin typeface="Arial Black" pitchFamily="34" charset="0"/>
                <a:ea typeface="Arial Black" pitchFamily="34" charset="-122"/>
                <a:cs typeface="Arial Black" pitchFamily="34" charset="-120"/>
              </a:rPr>
              <a:t>1 → 11</a:t>
            </a:r>
            <a:endParaRPr lang="en-US" sz="3000" dirty="0"/>
          </a:p>
        </p:txBody>
      </p:sp>
      <p:sp>
        <p:nvSpPr>
          <p:cNvPr id="12" name="Text 9"/>
          <p:cNvSpPr/>
          <p:nvPr/>
        </p:nvSpPr>
        <p:spPr>
          <a:xfrm>
            <a:off x="7973568" y="2745029"/>
            <a:ext cx="3468319" cy="660197"/>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deposita 1 ETH, se lleva los 11 del banco</a:t>
            </a:r>
            <a:endParaRPr lang="en-US" sz="1200" dirty="0"/>
          </a:p>
        </p:txBody>
      </p:sp>
      <p:sp>
        <p:nvSpPr>
          <p:cNvPr id="13" name="Text 10"/>
          <p:cNvSpPr/>
          <p:nvPr/>
        </p:nvSpPr>
        <p:spPr>
          <a:xfrm>
            <a:off x="7790688" y="3611880"/>
            <a:ext cx="3834079" cy="16459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Verificado en test/s09: tres clientes honestos tenían 10 ETH; el atacante depositó 1 y salió con 11. El banco quedó en cero, y los saldos honestos quedaron impagables.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EL ROBO REAL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THE DAO, JUNIO DE 2016</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Text 5"/>
          <p:cNvSpPr/>
          <p:nvPr/>
        </p:nvSpPr>
        <p:spPr>
          <a:xfrm>
            <a:off x="566928" y="1737360"/>
            <a:ext cx="11057839" cy="8229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The DAO era un fondo de inversión colectivo gobernado por contrato. Recaudó una de las mayores sumas de su tiempo (del orden de 150 millones de dólares). Tenía exactamente este error.</a:t>
            </a:r>
            <a:endParaRPr lang="en-US" sz="1450" dirty="0"/>
          </a:p>
        </p:txBody>
      </p:sp>
      <p:sp>
        <p:nvSpPr>
          <p:cNvPr id="9" name="Shape 6"/>
          <p:cNvSpPr/>
          <p:nvPr/>
        </p:nvSpPr>
        <p:spPr>
          <a:xfrm>
            <a:off x="566928" y="2743200"/>
            <a:ext cx="3566160" cy="155448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749808" y="2907792"/>
            <a:ext cx="3200400" cy="715061"/>
          </a:xfrm>
          <a:prstGeom prst="rect">
            <a:avLst/>
          </a:prstGeom>
          <a:noFill/>
          <a:ln/>
        </p:spPr>
        <p:txBody>
          <a:bodyPr wrap="square" lIns="0" tIns="0" rIns="0" bIns="0" rtlCol="0" anchor="ctr"/>
          <a:lstStyle/>
          <a:p>
            <a:pPr indent="0" marL="0">
              <a:buNone/>
            </a:pPr>
            <a:r>
              <a:rPr lang="en-US" sz="2600" dirty="0">
                <a:solidFill>
                  <a:srgbClr val="B3261E"/>
                </a:solidFill>
                <a:latin typeface="Arial Black" pitchFamily="34" charset="0"/>
                <a:ea typeface="Arial Black" pitchFamily="34" charset="-122"/>
                <a:cs typeface="Arial Black" pitchFamily="34" charset="-120"/>
              </a:rPr>
              <a:t>~3,6 M ETH</a:t>
            </a:r>
            <a:endParaRPr lang="en-US" sz="2600" dirty="0"/>
          </a:p>
        </p:txBody>
      </p:sp>
      <p:sp>
        <p:nvSpPr>
          <p:cNvPr id="11" name="Text 8"/>
          <p:cNvSpPr/>
          <p:nvPr/>
        </p:nvSpPr>
        <p:spPr>
          <a:xfrm>
            <a:off x="749808" y="3644798"/>
            <a:ext cx="3200400" cy="590702"/>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drenados por reentrancy en unas horas</a:t>
            </a:r>
            <a:endParaRPr lang="en-US" sz="1200" dirty="0"/>
          </a:p>
        </p:txBody>
      </p:sp>
      <p:sp>
        <p:nvSpPr>
          <p:cNvPr id="12" name="Shape 9"/>
          <p:cNvSpPr/>
          <p:nvPr/>
        </p:nvSpPr>
        <p:spPr>
          <a:xfrm>
            <a:off x="4315968" y="2743200"/>
            <a:ext cx="3566160" cy="155448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4498848" y="2907792"/>
            <a:ext cx="3200400" cy="715061"/>
          </a:xfrm>
          <a:prstGeom prst="rect">
            <a:avLst/>
          </a:prstGeom>
          <a:noFill/>
          <a:ln/>
        </p:spPr>
        <p:txBody>
          <a:bodyPr wrap="square" lIns="0" tIns="0" rIns="0" bIns="0" rtlCol="0" anchor="ctr"/>
          <a:lstStyle/>
          <a:p>
            <a:pPr indent="0" marL="0">
              <a:buNone/>
            </a:pPr>
            <a:r>
              <a:rPr lang="en-US" sz="3000" dirty="0">
                <a:solidFill>
                  <a:srgbClr val="7152E9"/>
                </a:solidFill>
                <a:latin typeface="Arial Black" pitchFamily="34" charset="0"/>
                <a:ea typeface="Arial Black" pitchFamily="34" charset="-122"/>
                <a:cs typeface="Arial Black" pitchFamily="34" charset="-120"/>
              </a:rPr>
              <a:t>≈ 5 %</a:t>
            </a:r>
            <a:endParaRPr lang="en-US" sz="3000" dirty="0"/>
          </a:p>
        </p:txBody>
      </p:sp>
      <p:sp>
        <p:nvSpPr>
          <p:cNvPr id="14" name="Text 11"/>
          <p:cNvSpPr/>
          <p:nvPr/>
        </p:nvSpPr>
        <p:spPr>
          <a:xfrm>
            <a:off x="4498848" y="3644798"/>
            <a:ext cx="3200400" cy="590702"/>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 todo el ETH que existía entonces</a:t>
            </a:r>
            <a:endParaRPr lang="en-US" sz="1200" dirty="0"/>
          </a:p>
        </p:txBody>
      </p:sp>
      <p:sp>
        <p:nvSpPr>
          <p:cNvPr id="15" name="Shape 12"/>
          <p:cNvSpPr/>
          <p:nvPr/>
        </p:nvSpPr>
        <p:spPr>
          <a:xfrm>
            <a:off x="8065008" y="2743200"/>
            <a:ext cx="3559759" cy="155448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6" name="Text 13"/>
          <p:cNvSpPr/>
          <p:nvPr/>
        </p:nvSpPr>
        <p:spPr>
          <a:xfrm>
            <a:off x="8247888" y="2907792"/>
            <a:ext cx="3193999" cy="715061"/>
          </a:xfrm>
          <a:prstGeom prst="rect">
            <a:avLst/>
          </a:prstGeom>
          <a:noFill/>
          <a:ln/>
        </p:spPr>
        <p:txBody>
          <a:bodyPr wrap="square" lIns="0" tIns="0" rIns="0" bIns="0" rtlCol="0" anchor="ctr"/>
          <a:lstStyle/>
          <a:p>
            <a:pPr indent="0" marL="0">
              <a:buNone/>
            </a:pPr>
            <a:r>
              <a:rPr lang="en-US" sz="2600" dirty="0">
                <a:solidFill>
                  <a:srgbClr val="F07F06"/>
                </a:solidFill>
                <a:latin typeface="Arial Black" pitchFamily="34" charset="0"/>
                <a:ea typeface="Arial Black" pitchFamily="34" charset="-122"/>
                <a:cs typeface="Arial Black" pitchFamily="34" charset="-120"/>
              </a:rPr>
              <a:t>1 línea</a:t>
            </a:r>
            <a:endParaRPr lang="en-US" sz="2600" dirty="0"/>
          </a:p>
        </p:txBody>
      </p:sp>
      <p:sp>
        <p:nvSpPr>
          <p:cNvPr id="17" name="Text 14"/>
          <p:cNvSpPr/>
          <p:nvPr/>
        </p:nvSpPr>
        <p:spPr>
          <a:xfrm>
            <a:off x="8247888" y="3644798"/>
            <a:ext cx="3193999" cy="590702"/>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el orden invertido de dos instrucciones</a:t>
            </a:r>
            <a:endParaRPr lang="en-US" sz="1200" dirty="0"/>
          </a:p>
        </p:txBody>
      </p:sp>
      <p:sp>
        <p:nvSpPr>
          <p:cNvPr id="18" name="Text 15"/>
          <p:cNvSpPr/>
          <p:nvPr/>
        </p:nvSpPr>
        <p:spPr>
          <a:xfrm>
            <a:off x="566928" y="4572000"/>
            <a:ext cx="11057839" cy="14630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respuesta partió a Ethereum en dos: la mayoría hizo una bifurcación dura para revertir el robo (la cadena que hoy llamamos Ethereum); una minoría se negó por principio y siguió en la cadena original (Ethereum Classic). Es el ejemplo de la Sesión 4 sobre que la inmutabilidad también es una convención social.</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LA DEFENSA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DOS CINTURONES PARA EL MISMO RIESGO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Shape 5"/>
          <p:cNvSpPr/>
          <p:nvPr/>
        </p:nvSpPr>
        <p:spPr>
          <a:xfrm>
            <a:off x="566928" y="1737360"/>
            <a:ext cx="5391760" cy="25146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1 · CHECKS-EFFECTS-INTERACTIONS</a:t>
            </a:r>
            <a:endParaRPr lang="en-US" sz="1050" dirty="0"/>
          </a:p>
        </p:txBody>
      </p:sp>
      <p:sp>
        <p:nvSpPr>
          <p:cNvPr id="10" name="Text 7"/>
          <p:cNvSpPr/>
          <p:nvPr/>
        </p:nvSpPr>
        <p:spPr>
          <a:xfrm>
            <a:off x="841248" y="2304288"/>
            <a:ext cx="4843120" cy="17830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saldos[msg.sender] = 0;   // primero</a:t>
            </a: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(bool ok, ) = ...call{value: monto}("");</a:t>
            </a:r>
            <a:endParaRPr lang="en-US" sz="1250" dirty="0"/>
          </a:p>
          <a:p>
            <a:pPr indent="0" marL="0">
              <a:lnSpc>
                <a:spcPct val="124000"/>
              </a:lnSpc>
              <a:buNone/>
            </a:pP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Cuando el atacante recibe el control, su saldo ya es cero. Reentrar no sirve: no hay nada que cobrar.</a:t>
            </a:r>
            <a:endParaRPr lang="en-US" sz="1250" dirty="0"/>
          </a:p>
        </p:txBody>
      </p:sp>
      <p:sp>
        <p:nvSpPr>
          <p:cNvPr id="11" name="Shape 8"/>
          <p:cNvSpPr/>
          <p:nvPr/>
        </p:nvSpPr>
        <p:spPr>
          <a:xfrm>
            <a:off x="6233008" y="1737360"/>
            <a:ext cx="5391760" cy="25146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2 · REENTRANCYGUARD</a:t>
            </a:r>
            <a:endParaRPr lang="en-US" sz="1050" dirty="0"/>
          </a:p>
        </p:txBody>
      </p:sp>
      <p:sp>
        <p:nvSpPr>
          <p:cNvPr id="13" name="Text 10"/>
          <p:cNvSpPr/>
          <p:nvPr/>
        </p:nvSpPr>
        <p:spPr>
          <a:xfrm>
            <a:off x="6507328" y="2304288"/>
            <a:ext cx="4843120" cy="17830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function retirar() external nonReentrant { ... }</a:t>
            </a:r>
            <a:endParaRPr lang="en-US" sz="1250" dirty="0"/>
          </a:p>
          <a:p>
            <a:pPr indent="0" marL="0">
              <a:lnSpc>
                <a:spcPct val="124000"/>
              </a:lnSpc>
              <a:buNone/>
            </a:pP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cerrojo que se cierra al entrar y se abre al salir. La segunda entrada revierte, aunque alguien olvide el orden.</a:t>
            </a:r>
            <a:endParaRPr lang="en-US" sz="1250" dirty="0"/>
          </a:p>
        </p:txBody>
      </p:sp>
      <p:sp>
        <p:nvSpPr>
          <p:cNvPr id="14" name="Shape 11"/>
          <p:cNvSpPr/>
          <p:nvPr/>
        </p:nvSpPr>
        <p:spPr>
          <a:xfrm>
            <a:off x="566928" y="4434840"/>
            <a:ext cx="11057839" cy="16916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5" name="Image 1" descr="preencoded.png">    </p:cNvPr>
          <p:cNvPicPr>
            <a:picLocks noChangeAspect="1"/>
          </p:cNvPicPr>
          <p:nvPr/>
        </p:nvPicPr>
        <p:blipFill>
          <a:blip r:embed="rId2"/>
          <a:stretch>
            <a:fillRect/>
          </a:stretch>
        </p:blipFill>
        <p:spPr>
          <a:xfrm>
            <a:off x="804672" y="4654296"/>
            <a:ext cx="237744" cy="237744"/>
          </a:xfrm>
          <a:prstGeom prst="rect">
            <a:avLst/>
          </a:prstGeom>
        </p:spPr>
      </p:pic>
      <p:sp>
        <p:nvSpPr>
          <p:cNvPr id="16" name="Text 12"/>
          <p:cNvSpPr/>
          <p:nvPr/>
        </p:nvSpPr>
        <p:spPr>
          <a:xfrm>
            <a:off x="1133856" y="462686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POR QUÉ AMBAS, SI UNA BASTA</a:t>
            </a:r>
            <a:endParaRPr lang="en-US" sz="950" dirty="0"/>
          </a:p>
        </p:txBody>
      </p:sp>
      <p:sp>
        <p:nvSpPr>
          <p:cNvPr id="17" name="Text 13"/>
          <p:cNvSpPr/>
          <p:nvPr/>
        </p:nvSpPr>
        <p:spPr>
          <a:xfrm>
            <a:off x="804672" y="4946904"/>
            <a:ext cx="10582351" cy="108813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CEI es la corrección de fondo y no cuesta gas extra. El guard es defensa en profundidad: protege del error humano futuro, cuando alguien modifique la función dentro de seis meses y rompa el orden sin darse cuenta. En seguridad no se apuesta todo a una sola barrera.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A.7B · VERIFICACIÓN · REENTRANCY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¿ENTENDIERON EL PATRÓN?</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Shape 5"/>
          <p:cNvSpPr/>
          <p:nvPr/>
        </p:nvSpPr>
        <p:spPr>
          <a:xfrm>
            <a:off x="566928" y="1783080"/>
            <a:ext cx="11057839" cy="169164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65960"/>
            <a:ext cx="10289743" cy="132588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Un compañero dice: «lo arreglo poniendo require(msg.sender == tx.origin) para que solo entren personas, no contratos». ¿Resuelve la reentrancy?</a:t>
            </a:r>
            <a:endParaRPr lang="en-US" sz="1900" dirty="0"/>
          </a:p>
        </p:txBody>
      </p:sp>
      <p:sp>
        <p:nvSpPr>
          <p:cNvPr id="10" name="Shape 7"/>
          <p:cNvSpPr/>
          <p:nvPr/>
        </p:nvSpPr>
        <p:spPr>
          <a:xfrm>
            <a:off x="566928" y="3657600"/>
            <a:ext cx="5391760" cy="17373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1" name="Text 8"/>
          <p:cNvSpPr/>
          <p:nvPr/>
        </p:nvSpPr>
        <p:spPr>
          <a:xfrm>
            <a:off x="841248" y="384048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LA RESPUESTA CORTA</a:t>
            </a:r>
            <a:endParaRPr lang="en-US" sz="1050" dirty="0"/>
          </a:p>
        </p:txBody>
      </p:sp>
      <p:sp>
        <p:nvSpPr>
          <p:cNvPr id="12" name="Text 9"/>
          <p:cNvSpPr/>
          <p:nvPr/>
        </p:nvSpPr>
        <p:spPr>
          <a:xfrm>
            <a:off x="841248" y="4224528"/>
            <a:ext cx="4843120" cy="10058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Y además introduce OTRO problema: rompe la compatibilidad con billeteras-contrato (multisig, smart accounts) y usa tx.origin, que es justo lo que veremos que nunca se debe usar para lógica.</a:t>
            </a:r>
            <a:endParaRPr lang="en-US" sz="1250" dirty="0"/>
          </a:p>
        </p:txBody>
      </p:sp>
      <p:sp>
        <p:nvSpPr>
          <p:cNvPr id="13" name="Shape 10"/>
          <p:cNvSpPr/>
          <p:nvPr/>
        </p:nvSpPr>
        <p:spPr>
          <a:xfrm>
            <a:off x="6233008" y="3657600"/>
            <a:ext cx="5391760" cy="17373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84048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 QUE SÍ RESUELVE</a:t>
            </a:r>
            <a:endParaRPr lang="en-US" sz="1050" dirty="0"/>
          </a:p>
        </p:txBody>
      </p:sp>
      <p:sp>
        <p:nvSpPr>
          <p:cNvPr id="15" name="Text 12"/>
          <p:cNvSpPr/>
          <p:nvPr/>
        </p:nvSpPr>
        <p:spPr>
          <a:xfrm>
            <a:off x="6507328" y="4224528"/>
            <a:ext cx="4843120" cy="10058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Poner el efecto antes de la interacción (CEI). El guard es el refuerzo. La reentrancy es un problema de ORDEN, no de quién llama.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 · CONTROL DE ACCESO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EL PERMISO QUE MIRA A LA CUENTA EQUIVOCADA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Shape 5"/>
          <p:cNvSpPr/>
          <p:nvPr/>
        </p:nvSpPr>
        <p:spPr>
          <a:xfrm>
            <a:off x="566928" y="1737360"/>
            <a:ext cx="11057839" cy="1097280"/>
          </a:xfrm>
          <a:prstGeom prst="rect">
            <a:avLst/>
          </a:prstGeom>
          <a:solidFill>
            <a:srgbClr val="16151B"/>
          </a:solidFill>
          <a:ln w="22225">
            <a:solidFill>
              <a:srgbClr val="16151B"/>
            </a:solidFill>
            <a:prstDash val="solid"/>
          </a:ln>
        </p:spPr>
      </p:sp>
      <p:sp>
        <p:nvSpPr>
          <p:cNvPr id="9" name="Text 6"/>
          <p:cNvSpPr/>
          <p:nvPr/>
        </p:nvSpPr>
        <p:spPr>
          <a:xfrm>
            <a:off x="768096" y="1883664"/>
            <a:ext cx="10655503" cy="841248"/>
          </a:xfrm>
          <a:prstGeom prst="rect">
            <a:avLst/>
          </a:prstGeom>
          <a:noFill/>
          <a:ln/>
        </p:spPr>
        <p:txBody>
          <a:bodyPr wrap="square" lIns="0" tIns="0" rIns="0" bIns="0" rtlCol="0" anchor="t"/>
          <a:lstStyle/>
          <a:p>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require</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origin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admin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"solo admin"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MAL</a:t>
            </a:r>
            <a:endParaRPr lang="en-US" sz="1250" dirty="0"/>
          </a:p>
          <a:p>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require</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admin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"solo admin"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BIEN</a:t>
            </a:r>
            <a:endParaRPr lang="en-US" sz="1250" dirty="0"/>
          </a:p>
        </p:txBody>
      </p:sp>
      <p:sp>
        <p:nvSpPr>
          <p:cNvPr id="10" name="Shape 7"/>
          <p:cNvSpPr/>
          <p:nvPr/>
        </p:nvSpPr>
        <p:spPr>
          <a:xfrm>
            <a:off x="566928" y="3017520"/>
            <a:ext cx="5391760" cy="19659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1" name="Text 8"/>
          <p:cNvSpPr/>
          <p:nvPr/>
        </p:nvSpPr>
        <p:spPr>
          <a:xfrm>
            <a:off x="841248" y="32004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TX.ORIGIN</a:t>
            </a:r>
            <a:endParaRPr lang="en-US" sz="1050" dirty="0"/>
          </a:p>
        </p:txBody>
      </p:sp>
      <p:sp>
        <p:nvSpPr>
          <p:cNvPr id="12" name="Text 9"/>
          <p:cNvSpPr/>
          <p:nvPr/>
        </p:nvSpPr>
        <p:spPr>
          <a:xfrm>
            <a:off x="841248" y="3584448"/>
            <a:ext cx="4843120" cy="12344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cuenta que FIRMÓ la transacción, al principio de toda la cadena de llamadas. Si el admin firma una transacción a un contrato malicioso, ese contrato llama al vault y tx.origin sigue siendo el admin: la comprobación pasa.</a:t>
            </a:r>
            <a:endParaRPr lang="en-US" sz="1300" dirty="0"/>
          </a:p>
        </p:txBody>
      </p:sp>
      <p:sp>
        <p:nvSpPr>
          <p:cNvPr id="13" name="Shape 10"/>
          <p:cNvSpPr/>
          <p:nvPr/>
        </p:nvSpPr>
        <p:spPr>
          <a:xfrm>
            <a:off x="6233008" y="3017520"/>
            <a:ext cx="5391760" cy="19659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2004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MSG.SENDER</a:t>
            </a:r>
            <a:endParaRPr lang="en-US" sz="1050" dirty="0"/>
          </a:p>
        </p:txBody>
      </p:sp>
      <p:sp>
        <p:nvSpPr>
          <p:cNvPr id="15" name="Text 12"/>
          <p:cNvSpPr/>
          <p:nvPr/>
        </p:nvSpPr>
        <p:spPr>
          <a:xfrm>
            <a:off x="6507328" y="3584448"/>
            <a:ext cx="4843120" cy="12344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Quien llama DIRECTAMENTE a esta función. Si el contrato malicioso llama al vault, msg.sender es el contrato malicioso, no el admin: la comprobación falla, como debe ser.</a:t>
            </a:r>
            <a:endParaRPr lang="en-US" sz="1300" dirty="0"/>
          </a:p>
        </p:txBody>
      </p:sp>
      <p:sp>
        <p:nvSpPr>
          <p:cNvPr id="16" name="Shape 13"/>
          <p:cNvSpPr/>
          <p:nvPr/>
        </p:nvSpPr>
        <p:spPr>
          <a:xfrm>
            <a:off x="566928" y="5120640"/>
            <a:ext cx="11057839" cy="10972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7"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18" name="Text 14"/>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REGLA SIN EXCEPCIONES</a:t>
            </a:r>
            <a:endParaRPr lang="en-US" sz="950" dirty="0"/>
          </a:p>
        </p:txBody>
      </p:sp>
      <p:sp>
        <p:nvSpPr>
          <p:cNvPr id="19" name="Text 15"/>
          <p:cNvSpPr/>
          <p:nvPr/>
        </p:nvSpPr>
        <p:spPr>
          <a:xfrm>
            <a:off x="804672" y="5632704"/>
            <a:ext cx="10582351" cy="4937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tx.origin nunca se usa para autorizar. Ante la duda, msg.sender — o mejor, Ownable / AccessControl de OpenZeppelin.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 · DELEGATECALL NO PROTEGIDO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EL CÓDIGO AJENO QUE ESCRIBE EN TU CASA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Text 5"/>
          <p:cNvSpPr/>
          <p:nvPr/>
        </p:nvSpPr>
        <p:spPr>
          <a:xfrm>
            <a:off x="566928" y="169164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delegatecall ejecuta el código de OTRO contrato pero con TU almacenamiento y TU saldo. Es lo que hace posibles los proxies (A.20). Sin protección, es una de las llaves maestras más peligrosas de la EVM.</a:t>
            </a:r>
            <a:endParaRPr lang="en-US" sz="1400" dirty="0"/>
          </a:p>
        </p:txBody>
      </p:sp>
      <p:sp>
        <p:nvSpPr>
          <p:cNvPr id="9" name="Shape 6"/>
          <p:cNvSpPr/>
          <p:nvPr/>
        </p:nvSpPr>
        <p:spPr>
          <a:xfrm>
            <a:off x="566928" y="2560320"/>
            <a:ext cx="11057839" cy="548640"/>
          </a:xfrm>
          <a:prstGeom prst="rect">
            <a:avLst/>
          </a:prstGeom>
          <a:solidFill>
            <a:srgbClr val="FFFFFF"/>
          </a:solidFill>
          <a:ln w="15875">
            <a:solidFill>
              <a:srgbClr val="D9D6E0"/>
            </a:solidFill>
            <a:prstDash val="solid"/>
          </a:ln>
        </p:spPr>
      </p:sp>
      <p:sp>
        <p:nvSpPr>
          <p:cNvPr id="10" name="Text 7"/>
          <p:cNvSpPr/>
          <p:nvPr/>
        </p:nvSpPr>
        <p:spPr>
          <a:xfrm>
            <a:off x="694944" y="256032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68833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BIBLIOTECA COMPARTIDA</a:t>
            </a:r>
            <a:endParaRPr lang="en-US" sz="1000" dirty="0"/>
          </a:p>
        </p:txBody>
      </p:sp>
      <p:sp>
        <p:nvSpPr>
          <p:cNvPr id="12" name="Text 9"/>
          <p:cNvSpPr/>
          <p:nvPr/>
        </p:nvSpPr>
        <p:spPr>
          <a:xfrm>
            <a:off x="4114800" y="2651760"/>
            <a:ext cx="7400239" cy="40233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Cientos de multisigs delegaban su lógica en una única biblioteca de código. Esa biblioteca quedó sin inicializar.</a:t>
            </a:r>
            <a:endParaRPr lang="en-US" sz="1200" dirty="0"/>
          </a:p>
        </p:txBody>
      </p:sp>
      <p:sp>
        <p:nvSpPr>
          <p:cNvPr id="13" name="Shape 10"/>
          <p:cNvSpPr/>
          <p:nvPr/>
        </p:nvSpPr>
        <p:spPr>
          <a:xfrm>
            <a:off x="566928" y="3200400"/>
            <a:ext cx="11057839" cy="548640"/>
          </a:xfrm>
          <a:prstGeom prst="rect">
            <a:avLst/>
          </a:prstGeom>
          <a:solidFill>
            <a:srgbClr val="FAF9FB"/>
          </a:solidFill>
          <a:ln w="15875">
            <a:solidFill>
              <a:srgbClr val="D9D6E0"/>
            </a:solidFill>
            <a:prstDash val="solid"/>
          </a:ln>
        </p:spPr>
      </p:sp>
      <p:sp>
        <p:nvSpPr>
          <p:cNvPr id="14" name="Text 11"/>
          <p:cNvSpPr/>
          <p:nvPr/>
        </p:nvSpPr>
        <p:spPr>
          <a:xfrm>
            <a:off x="694944" y="320040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32841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CUALQUIERA LA INICIALIZA</a:t>
            </a:r>
            <a:endParaRPr lang="en-US" sz="1000" dirty="0"/>
          </a:p>
        </p:txBody>
      </p:sp>
      <p:sp>
        <p:nvSpPr>
          <p:cNvPr id="16" name="Text 13"/>
          <p:cNvSpPr/>
          <p:nvPr/>
        </p:nvSpPr>
        <p:spPr>
          <a:xfrm>
            <a:off x="4114800" y="3291840"/>
            <a:ext cx="7400239" cy="40233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Una función de inicialización sin control de acceso permitió a un desconocido declararse dueño de la biblioteca.</a:t>
            </a:r>
            <a:endParaRPr lang="en-US" sz="1200" dirty="0"/>
          </a:p>
        </p:txBody>
      </p:sp>
      <p:sp>
        <p:nvSpPr>
          <p:cNvPr id="17" name="Shape 14"/>
          <p:cNvSpPr/>
          <p:nvPr/>
        </p:nvSpPr>
        <p:spPr>
          <a:xfrm>
            <a:off x="566928" y="3840480"/>
            <a:ext cx="11057839" cy="548640"/>
          </a:xfrm>
          <a:prstGeom prst="rect">
            <a:avLst/>
          </a:prstGeom>
          <a:solidFill>
            <a:srgbClr val="FFFFFF"/>
          </a:solidFill>
          <a:ln w="15875">
            <a:solidFill>
              <a:srgbClr val="D9D6E0"/>
            </a:solidFill>
            <a:prstDash val="solid"/>
          </a:ln>
        </p:spPr>
      </p:sp>
      <p:sp>
        <p:nvSpPr>
          <p:cNvPr id="18" name="Text 15"/>
          <p:cNvSpPr/>
          <p:nvPr/>
        </p:nvSpPr>
        <p:spPr>
          <a:xfrm>
            <a:off x="694944" y="384048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396849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Y LUEGO LA MATA</a:t>
            </a:r>
            <a:endParaRPr lang="en-US" sz="1000" dirty="0"/>
          </a:p>
        </p:txBody>
      </p:sp>
      <p:sp>
        <p:nvSpPr>
          <p:cNvPr id="20" name="Text 17"/>
          <p:cNvSpPr/>
          <p:nvPr/>
        </p:nvSpPr>
        <p:spPr>
          <a:xfrm>
            <a:off x="4114800" y="3931920"/>
            <a:ext cx="7400239" cy="40233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Siendo dueño, invocó selfdestruct sobre la biblioteca. Al destruirse el código del que TODOS dependían por delegatecall...</a:t>
            </a:r>
            <a:endParaRPr lang="en-US" sz="1200" dirty="0"/>
          </a:p>
        </p:txBody>
      </p:sp>
      <p:sp>
        <p:nvSpPr>
          <p:cNvPr id="21" name="Shape 18"/>
          <p:cNvSpPr/>
          <p:nvPr/>
        </p:nvSpPr>
        <p:spPr>
          <a:xfrm>
            <a:off x="566928" y="4480560"/>
            <a:ext cx="11057839" cy="548640"/>
          </a:xfrm>
          <a:prstGeom prst="rect">
            <a:avLst/>
          </a:prstGeom>
          <a:solidFill>
            <a:srgbClr val="FAF9FB"/>
          </a:solidFill>
          <a:ln w="15875">
            <a:solidFill>
              <a:srgbClr val="D9D6E0"/>
            </a:solidFill>
            <a:prstDash val="solid"/>
          </a:ln>
        </p:spPr>
      </p:sp>
      <p:sp>
        <p:nvSpPr>
          <p:cNvPr id="22" name="Text 19"/>
          <p:cNvSpPr/>
          <p:nvPr/>
        </p:nvSpPr>
        <p:spPr>
          <a:xfrm>
            <a:off x="694944" y="448056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460857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513.774 ETH CONGELADOS</a:t>
            </a:r>
            <a:endParaRPr lang="en-US" sz="1000" dirty="0"/>
          </a:p>
        </p:txBody>
      </p:sp>
      <p:sp>
        <p:nvSpPr>
          <p:cNvPr id="24" name="Text 21"/>
          <p:cNvSpPr/>
          <p:nvPr/>
        </p:nvSpPr>
        <p:spPr>
          <a:xfrm>
            <a:off x="4114800" y="4572000"/>
            <a:ext cx="7400239" cy="40233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...los 587 monederos que la usaban quedaron sin lógica: nadie pudo volver a mover sus fondos. No fue robo: fue un ladrillo.</a:t>
            </a:r>
            <a:endParaRPr lang="en-US" sz="1200" dirty="0"/>
          </a:p>
        </p:txBody>
      </p:sp>
      <p:sp>
        <p:nvSpPr>
          <p:cNvPr id="25" name="Shape 22"/>
          <p:cNvSpPr/>
          <p:nvPr/>
        </p:nvSpPr>
        <p:spPr>
          <a:xfrm>
            <a:off x="566928" y="5120640"/>
            <a:ext cx="11057839" cy="10972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26"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27" name="Text 23"/>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LA DEFENSA</a:t>
            </a:r>
            <a:endParaRPr lang="en-US" sz="950" dirty="0"/>
          </a:p>
        </p:txBody>
      </p:sp>
      <p:sp>
        <p:nvSpPr>
          <p:cNvPr id="28" name="Text 24"/>
          <p:cNvSpPr/>
          <p:nvPr/>
        </p:nvSpPr>
        <p:spPr>
          <a:xfrm>
            <a:off x="804672" y="5632704"/>
            <a:ext cx="10582351" cy="49377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No usar delegatecall salvo para proxies bien entendidos. Nunca hacia una dirección que un usuario elija. Inicializar con un initializer protegido.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 · DESBORDAMIENTO ARITMÉTICO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UN NÚMERO QUE DA LA VUELTA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Shape 5"/>
          <p:cNvSpPr/>
          <p:nvPr/>
        </p:nvSpPr>
        <p:spPr>
          <a:xfrm>
            <a:off x="566928" y="1691640"/>
            <a:ext cx="11057839" cy="146304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207008"/>
          </a:xfrm>
          <a:prstGeom prst="rect">
            <a:avLst/>
          </a:prstGeom>
          <a:noFill/>
          <a:ln/>
        </p:spPr>
        <p:txBody>
          <a:bodyPr wrap="square" lIns="0" tIns="0" rIns="0" bIns="0" rtlCol="0" anchor="t"/>
          <a:lstStyle/>
          <a:p>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Solidity &lt; 0.8, sin SafeMath:</a:t>
            </a:r>
            <a:endParaRPr lang="en-US" sz="1200" dirty="0"/>
          </a:p>
          <a:p>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uint8</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x</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255</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x</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x</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-&gt; 0   (envolvente, en silencio)</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20</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21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-&gt; 2^256 - 1  (underflow gigante)</a:t>
            </a:r>
            <a:endParaRPr lang="en-US" sz="1200" dirty="0"/>
          </a:p>
        </p:txBody>
      </p:sp>
      <p:sp>
        <p:nvSpPr>
          <p:cNvPr id="10" name="Shape 7"/>
          <p:cNvSpPr/>
          <p:nvPr/>
        </p:nvSpPr>
        <p:spPr>
          <a:xfrm>
            <a:off x="566928" y="3246120"/>
            <a:ext cx="5391760" cy="17830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1" name="Text 8"/>
          <p:cNvSpPr/>
          <p:nvPr/>
        </p:nvSpPr>
        <p:spPr>
          <a:xfrm>
            <a:off x="841248" y="34290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QUÉ PASABA ANTES DE 0.8</a:t>
            </a:r>
            <a:endParaRPr lang="en-US" sz="1050" dirty="0"/>
          </a:p>
        </p:txBody>
      </p:sp>
      <p:sp>
        <p:nvSpPr>
          <p:cNvPr id="12" name="Text 9"/>
          <p:cNvSpPr/>
          <p:nvPr/>
        </p:nvSpPr>
        <p:spPr>
          <a:xfrm>
            <a:off x="841248" y="3813048"/>
            <a:ext cx="4843120" cy="10515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aritmética envolvía sin avisar. Un require(saldo - monto &gt;= 0) con uint es SIEMPRE cierto: una resta de uint nunca es negativa. Así se saltaban chequeos de saldo.</a:t>
            </a:r>
            <a:endParaRPr lang="en-US" sz="1250" dirty="0"/>
          </a:p>
        </p:txBody>
      </p:sp>
      <p:sp>
        <p:nvSpPr>
          <p:cNvPr id="13" name="Shape 10"/>
          <p:cNvSpPr/>
          <p:nvPr/>
        </p:nvSpPr>
        <p:spPr>
          <a:xfrm>
            <a:off x="6233008" y="3246120"/>
            <a:ext cx="5391760" cy="17830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4290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QUÉ CAMBIÓ EN SOLIDITY 0.8</a:t>
            </a:r>
            <a:endParaRPr lang="en-US" sz="1050" dirty="0"/>
          </a:p>
        </p:txBody>
      </p:sp>
      <p:sp>
        <p:nvSpPr>
          <p:cNvPr id="15" name="Text 12"/>
          <p:cNvSpPr/>
          <p:nvPr/>
        </p:nvSpPr>
        <p:spPr>
          <a:xfrm>
            <a:off x="6507328" y="3813048"/>
            <a:ext cx="4843120" cy="10515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Desde 0.8.0 (dic 2020) se verifica por defecto: over/underflow REVIERTEN. El riesgo hoy vive en los bloques unchecked { ... }, para ahorrar gas.</a:t>
            </a:r>
            <a:endParaRPr lang="en-US" sz="1250" dirty="0"/>
          </a:p>
        </p:txBody>
      </p:sp>
      <p:sp>
        <p:nvSpPr>
          <p:cNvPr id="16" name="Shape 13"/>
          <p:cNvSpPr/>
          <p:nvPr/>
        </p:nvSpPr>
        <p:spPr>
          <a:xfrm>
            <a:off x="566928" y="5120640"/>
            <a:ext cx="11057839" cy="1097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7"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18" name="Text 14"/>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CASO · BEAUTYCHAIN (BEC)</a:t>
            </a:r>
            <a:endParaRPr lang="en-US" sz="950" dirty="0"/>
          </a:p>
        </p:txBody>
      </p:sp>
      <p:sp>
        <p:nvSpPr>
          <p:cNvPr id="19" name="Text 15"/>
          <p:cNvSpPr/>
          <p:nvPr/>
        </p:nvSpPr>
        <p:spPr>
          <a:xfrm>
            <a:off x="804672" y="5632704"/>
            <a:ext cx="10582351" cy="49377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En abril de 2018, el «batchOverflow» (CVE-2018-10299) acuñó tokens astronómicos de la nada por un overflow en batchTransfer. Es una de las razones por las que 0.8 revierte solo.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 · ALEATORIEDAD ON-CHAIN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NO HAY AZAR DENTRO DE LA CADENA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Text 5"/>
          <p:cNvSpPr/>
          <p:nvPr/>
        </p:nvSpPr>
        <p:spPr>
          <a:xfrm>
            <a:off x="566928" y="1737360"/>
            <a:ext cx="11057839" cy="9144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Todo lo que un contrato puede leer —block.timestamp, block.prevrandao, blockhash— es público y, en parte, influenciable por el proponente del bloque. Un contrato atacante calcula el mismo «azar» en la misma transacción antes de apostar.</a:t>
            </a:r>
            <a:endParaRPr lang="en-US" sz="1400" dirty="0"/>
          </a:p>
        </p:txBody>
      </p:sp>
      <p:sp>
        <p:nvSpPr>
          <p:cNvPr id="9" name="Shape 6"/>
          <p:cNvSpPr/>
          <p:nvPr/>
        </p:nvSpPr>
        <p:spPr>
          <a:xfrm>
            <a:off x="566928" y="2788920"/>
            <a:ext cx="11057839" cy="1600200"/>
          </a:xfrm>
          <a:prstGeom prst="rect">
            <a:avLst/>
          </a:prstGeom>
          <a:solidFill>
            <a:srgbClr val="16151B"/>
          </a:solidFill>
          <a:ln w="22225">
            <a:solidFill>
              <a:srgbClr val="16151B"/>
            </a:solidFill>
            <a:prstDash val="solid"/>
          </a:ln>
        </p:spPr>
      </p:sp>
      <p:sp>
        <p:nvSpPr>
          <p:cNvPr id="10" name="Text 7"/>
          <p:cNvSpPr/>
          <p:nvPr/>
        </p:nvSpPr>
        <p:spPr>
          <a:xfrm>
            <a:off x="768096" y="2935224"/>
            <a:ext cx="10655503" cy="1344168"/>
          </a:xfrm>
          <a:prstGeom prst="rect">
            <a:avLst/>
          </a:prstGeom>
          <a:noFill/>
          <a:ln/>
        </p:spPr>
        <p:txBody>
          <a:bodyPr wrap="square" lIns="0" tIns="0" rIns="0" bIns="0" rtlCol="0" anchor="t"/>
          <a:lstStyle/>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Loteria ingenua: el "azar" es una cuenta pública</a:t>
            </a:r>
            <a:endParaRPr lang="en-US" sz="1150" dirty="0"/>
          </a:p>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premio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keccak256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abi</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encodePacked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timestamp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prevrandao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El atacante ejecuta el MISMO cálculo en su contrato y</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solo juega cuando premio le favorece.</a:t>
            </a:r>
            <a:endParaRPr lang="en-US" sz="1150" dirty="0"/>
          </a:p>
        </p:txBody>
      </p:sp>
      <p:sp>
        <p:nvSpPr>
          <p:cNvPr id="11" name="Shape 8"/>
          <p:cNvSpPr/>
          <p:nvPr/>
        </p:nvSpPr>
        <p:spPr>
          <a:xfrm>
            <a:off x="566928" y="4572000"/>
            <a:ext cx="11057839" cy="16002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2" name="Image 1" descr="preencoded.png">    </p:cNvPr>
          <p:cNvPicPr>
            <a:picLocks noChangeAspect="1"/>
          </p:cNvPicPr>
          <p:nvPr/>
        </p:nvPicPr>
        <p:blipFill>
          <a:blip r:embed="rId2"/>
          <a:stretch>
            <a:fillRect/>
          </a:stretch>
        </p:blipFill>
        <p:spPr>
          <a:xfrm>
            <a:off x="804672" y="4791456"/>
            <a:ext cx="237744" cy="237744"/>
          </a:xfrm>
          <a:prstGeom prst="rect">
            <a:avLst/>
          </a:prstGeom>
        </p:spPr>
      </p:pic>
      <p:sp>
        <p:nvSpPr>
          <p:cNvPr id="13" name="Text 9"/>
          <p:cNvSpPr/>
          <p:nvPr/>
        </p:nvSpPr>
        <p:spPr>
          <a:xfrm>
            <a:off x="1133856" y="476402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EL CASO · SMARTBILLIONS, Y LA DEFENSA</a:t>
            </a:r>
            <a:endParaRPr lang="en-US" sz="950" dirty="0"/>
          </a:p>
        </p:txBody>
      </p:sp>
      <p:sp>
        <p:nvSpPr>
          <p:cNvPr id="14" name="Text 10"/>
          <p:cNvSpPr/>
          <p:nvPr/>
        </p:nvSpPr>
        <p:spPr>
          <a:xfrm>
            <a:off x="804672" y="5084064"/>
            <a:ext cx="10582351" cy="9966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lotería on-chain perdió ~400 ETH (oct 2017) porque su «azar» se leía del estado y se podía predecir. Solución: un oráculo de aleatoriedad verificable (Chainlink VRF) o un esquema commit-reveal (comprometer un valor cifrado y revelarlo después). Nunca variables de bloque. «Poner más variables de bloque» NO arregla nada.</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A.12 · FRONT-RUNNING / MEV</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TODAS TUS INTENCIONES SON PÚBLICAS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Antes de confirmarse, tu transacción vive en el mempool a la vista de todos. Quien arma el bloque puede colar la suya antes, después, o reordenar, para ganar a tu costa. Es el «valor máximo extraíble» (MEV).</a:t>
            </a:r>
            <a:endParaRPr lang="en-US" sz="1450" dirty="0"/>
          </a:p>
        </p:txBody>
      </p:sp>
      <p:sp>
        <p:nvSpPr>
          <p:cNvPr id="9" name="Shape 6"/>
          <p:cNvSpPr/>
          <p:nvPr/>
        </p:nvSpPr>
        <p:spPr>
          <a:xfrm>
            <a:off x="566928" y="2743200"/>
            <a:ext cx="5391760" cy="22860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0" name="Text 7"/>
          <p:cNvSpPr/>
          <p:nvPr/>
        </p:nvSpPr>
        <p:spPr>
          <a:xfrm>
            <a:off x="841248" y="292608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CÓMO TE AFECTA</a:t>
            </a:r>
            <a:endParaRPr lang="en-US" sz="1050" dirty="0"/>
          </a:p>
        </p:txBody>
      </p:sp>
      <p:sp>
        <p:nvSpPr>
          <p:cNvPr id="11" name="Text 8"/>
          <p:cNvSpPr/>
          <p:nvPr/>
        </p:nvSpPr>
        <p:spPr>
          <a:xfrm>
            <a:off x="841248" y="3310128"/>
            <a:ext cx="4843120" cy="15544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Un bot ve tu compra grande en un DEX y compra antes para venderte más caro (sandwich).</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Ve tu solución a un puzzle premiado y la copia con más gas.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Reordena liquidaciones para quedarse el bono.</a:t>
            </a:r>
            <a:endParaRPr lang="en-US" sz="1250" dirty="0"/>
          </a:p>
        </p:txBody>
      </p:sp>
      <p:sp>
        <p:nvSpPr>
          <p:cNvPr id="12" name="Shape 9"/>
          <p:cNvSpPr/>
          <p:nvPr/>
        </p:nvSpPr>
        <p:spPr>
          <a:xfrm>
            <a:off x="6233008" y="2743200"/>
            <a:ext cx="5391760" cy="2286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92608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LAS DEFENSAS</a:t>
            </a:r>
            <a:endParaRPr lang="en-US" sz="1050" dirty="0"/>
          </a:p>
        </p:txBody>
      </p:sp>
      <p:sp>
        <p:nvSpPr>
          <p:cNvPr id="14" name="Text 11"/>
          <p:cNvSpPr/>
          <p:nvPr/>
        </p:nvSpPr>
        <p:spPr>
          <a:xfrm>
            <a:off x="6507328" y="3310128"/>
            <a:ext cx="4843120" cy="15544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Límites de deslizamiento (slippage) en cada swap.</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Revelar en dos pasos (commit-reveal) lo que no debe verse antes.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Subastas por lotes; mempools privados.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Nunca suponer el orden de llegada.</a:t>
            </a:r>
            <a:endParaRPr lang="en-US" sz="1250" dirty="0"/>
          </a:p>
        </p:txBody>
      </p:sp>
      <p:sp>
        <p:nvSpPr>
          <p:cNvPr id="15" name="Text 12"/>
          <p:cNvSpPr/>
          <p:nvPr/>
        </p:nvSpPr>
        <p:spPr>
          <a:xfrm>
            <a:off x="566928" y="521208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No es un bug de tu contrato: es una propiedad del sistema. Se diseña PARA él, no contra él.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A.13 · MANIPULACIÓN DE ORÁCULOS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SI DEPENDES DE UN PRECIO, PUEDEN MOVERLO</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 contrato que lee el precio «spot» de un solo mercado (un DEX) se puede engañar moviendo ese precio, aunque sea por un instante, con un préstamo relámpago dentro de la misma transacción.</a:t>
            </a:r>
            <a:endParaRPr lang="en-US" sz="1400" dirty="0"/>
          </a:p>
        </p:txBody>
      </p:sp>
      <p:sp>
        <p:nvSpPr>
          <p:cNvPr id="9" name="Shape 6"/>
          <p:cNvSpPr/>
          <p:nvPr/>
        </p:nvSpPr>
        <p:spPr>
          <a:xfrm>
            <a:off x="566928" y="2606040"/>
            <a:ext cx="11057839" cy="548640"/>
          </a:xfrm>
          <a:prstGeom prst="rect">
            <a:avLst/>
          </a:prstGeom>
          <a:solidFill>
            <a:srgbClr val="FFFFFF"/>
          </a:solidFill>
          <a:ln w="15875">
            <a:solidFill>
              <a:srgbClr val="D9D6E0"/>
            </a:solidFill>
            <a:prstDash val="solid"/>
          </a:ln>
        </p:spPr>
      </p:sp>
      <p:sp>
        <p:nvSpPr>
          <p:cNvPr id="10" name="Text 7"/>
          <p:cNvSpPr/>
          <p:nvPr/>
        </p:nvSpPr>
        <p:spPr>
          <a:xfrm>
            <a:off x="694944" y="260604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73405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PIDE PRESTADO ENORME</a:t>
            </a:r>
            <a:endParaRPr lang="en-US" sz="1000" dirty="0"/>
          </a:p>
        </p:txBody>
      </p:sp>
      <p:sp>
        <p:nvSpPr>
          <p:cNvPr id="12" name="Text 9"/>
          <p:cNvSpPr/>
          <p:nvPr/>
        </p:nvSpPr>
        <p:spPr>
          <a:xfrm>
            <a:off x="4023360" y="2697480"/>
            <a:ext cx="7491679" cy="40233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Un flash loan le da millones sin garantía, a devolver en la misma transacción.</a:t>
            </a:r>
            <a:endParaRPr lang="en-US" sz="1200" dirty="0"/>
          </a:p>
        </p:txBody>
      </p:sp>
      <p:sp>
        <p:nvSpPr>
          <p:cNvPr id="13" name="Shape 10"/>
          <p:cNvSpPr/>
          <p:nvPr/>
        </p:nvSpPr>
        <p:spPr>
          <a:xfrm>
            <a:off x="566928" y="3246120"/>
            <a:ext cx="11057839" cy="548640"/>
          </a:xfrm>
          <a:prstGeom prst="rect">
            <a:avLst/>
          </a:prstGeom>
          <a:solidFill>
            <a:srgbClr val="FAF9FB"/>
          </a:solidFill>
          <a:ln w="15875">
            <a:solidFill>
              <a:srgbClr val="D9D6E0"/>
            </a:solidFill>
            <a:prstDash val="solid"/>
          </a:ln>
        </p:spPr>
      </p:sp>
      <p:sp>
        <p:nvSpPr>
          <p:cNvPr id="14" name="Text 11"/>
          <p:cNvSpPr/>
          <p:nvPr/>
        </p:nvSpPr>
        <p:spPr>
          <a:xfrm>
            <a:off x="694944" y="324612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37413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MUEVE EL PRECIO SPOT</a:t>
            </a:r>
            <a:endParaRPr lang="en-US" sz="1000" dirty="0"/>
          </a:p>
        </p:txBody>
      </p:sp>
      <p:sp>
        <p:nvSpPr>
          <p:cNvPr id="16" name="Text 13"/>
          <p:cNvSpPr/>
          <p:nvPr/>
        </p:nvSpPr>
        <p:spPr>
          <a:xfrm>
            <a:off x="4023360" y="3337560"/>
            <a:ext cx="7491679" cy="40233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Compra masivamente el activo en el mercado que el oráculo lee: el precio se dispara.</a:t>
            </a:r>
            <a:endParaRPr lang="en-US" sz="1200" dirty="0"/>
          </a:p>
        </p:txBody>
      </p:sp>
      <p:sp>
        <p:nvSpPr>
          <p:cNvPr id="17" name="Shape 14"/>
          <p:cNvSpPr/>
          <p:nvPr/>
        </p:nvSpPr>
        <p:spPr>
          <a:xfrm>
            <a:off x="566928" y="3886200"/>
            <a:ext cx="11057839" cy="548640"/>
          </a:xfrm>
          <a:prstGeom prst="rect">
            <a:avLst/>
          </a:prstGeom>
          <a:solidFill>
            <a:srgbClr val="FFFFFF"/>
          </a:solidFill>
          <a:ln w="15875">
            <a:solidFill>
              <a:srgbClr val="D9D6E0"/>
            </a:solidFill>
            <a:prstDash val="solid"/>
          </a:ln>
        </p:spPr>
      </p:sp>
      <p:sp>
        <p:nvSpPr>
          <p:cNvPr id="18" name="Text 15"/>
          <p:cNvSpPr/>
          <p:nvPr/>
        </p:nvSpPr>
        <p:spPr>
          <a:xfrm>
            <a:off x="694944" y="388620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01421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EXPLOTA AL QUE LO LEE</a:t>
            </a:r>
            <a:endParaRPr lang="en-US" sz="1000" dirty="0"/>
          </a:p>
        </p:txBody>
      </p:sp>
      <p:sp>
        <p:nvSpPr>
          <p:cNvPr id="20" name="Text 17"/>
          <p:cNvSpPr/>
          <p:nvPr/>
        </p:nvSpPr>
        <p:spPr>
          <a:xfrm>
            <a:off x="4023360" y="3977640"/>
            <a:ext cx="7491679" cy="40233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El contrato-víctima ve ese precio inflado y le presta o le paga de más contra ese valor.</a:t>
            </a:r>
            <a:endParaRPr lang="en-US" sz="1200" dirty="0"/>
          </a:p>
        </p:txBody>
      </p:sp>
      <p:sp>
        <p:nvSpPr>
          <p:cNvPr id="21" name="Shape 18"/>
          <p:cNvSpPr/>
          <p:nvPr/>
        </p:nvSpPr>
        <p:spPr>
          <a:xfrm>
            <a:off x="566928" y="4526280"/>
            <a:ext cx="11057839" cy="548640"/>
          </a:xfrm>
          <a:prstGeom prst="rect">
            <a:avLst/>
          </a:prstGeom>
          <a:solidFill>
            <a:srgbClr val="FAF9FB"/>
          </a:solidFill>
          <a:ln w="15875">
            <a:solidFill>
              <a:srgbClr val="D9D6E0"/>
            </a:solidFill>
            <a:prstDash val="solid"/>
          </a:ln>
        </p:spPr>
      </p:sp>
      <p:sp>
        <p:nvSpPr>
          <p:cNvPr id="22" name="Text 19"/>
          <p:cNvSpPr/>
          <p:nvPr/>
        </p:nvSpPr>
        <p:spPr>
          <a:xfrm>
            <a:off x="694944" y="452628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465429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DEVUELVE Y SE VA</a:t>
            </a:r>
            <a:endParaRPr lang="en-US" sz="1000" dirty="0"/>
          </a:p>
        </p:txBody>
      </p:sp>
      <p:sp>
        <p:nvSpPr>
          <p:cNvPr id="24" name="Text 21"/>
          <p:cNvSpPr/>
          <p:nvPr/>
        </p:nvSpPr>
        <p:spPr>
          <a:xfrm>
            <a:off x="4023360" y="4617720"/>
            <a:ext cx="7491679" cy="40233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Devuelve el préstamo, deshace la posición y se queda la diferencia. Todo en un bloque.</a:t>
            </a:r>
            <a:endParaRPr lang="en-US" sz="1200" dirty="0"/>
          </a:p>
        </p:txBody>
      </p:sp>
      <p:sp>
        <p:nvSpPr>
          <p:cNvPr id="25" name="Shape 22"/>
          <p:cNvSpPr/>
          <p:nvPr/>
        </p:nvSpPr>
        <p:spPr>
          <a:xfrm>
            <a:off x="566928" y="5074920"/>
            <a:ext cx="11057839" cy="11430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26"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27" name="Text 23"/>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EL CASO · MANGO MARKETS, Y LA DEFENSA</a:t>
            </a:r>
            <a:endParaRPr lang="en-US" sz="950" dirty="0"/>
          </a:p>
        </p:txBody>
      </p:sp>
      <p:sp>
        <p:nvSpPr>
          <p:cNvPr id="28" name="Text 24"/>
          <p:cNvSpPr/>
          <p:nvPr/>
        </p:nvSpPr>
        <p:spPr>
          <a:xfrm>
            <a:off x="804672" y="5586984"/>
            <a:ext cx="10582351" cy="53949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Mango Markets perdió más de 110 M USD (oct 2022) por manipulación de su oráculo de precio. Defensa: precios promediados en el tiempo (TWAP), varios oráculos independientes, servicios como Chainlink. Nunca un solo precio spot.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A.14 · DENEGACIÓN DE SERVICIO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UN SOLO DATO PUEDE BLOQUEAR A TODOS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Shape 5"/>
          <p:cNvSpPr/>
          <p:nvPr/>
        </p:nvSpPr>
        <p:spPr>
          <a:xfrm>
            <a:off x="566928" y="1737360"/>
            <a:ext cx="5391760" cy="24688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DOS POR RECEPTOR QUE REVIERTE</a:t>
            </a:r>
            <a:endParaRPr lang="en-US" sz="1050" dirty="0"/>
          </a:p>
        </p:txBody>
      </p:sp>
      <p:sp>
        <p:nvSpPr>
          <p:cNvPr id="10" name="Text 7"/>
          <p:cNvSpPr/>
          <p:nvPr/>
        </p:nvSpPr>
        <p:spPr>
          <a:xfrm>
            <a:off x="841248" y="2304288"/>
            <a:ext cx="4843120" cy="17373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el contrato PAGA en un bucle y una de las cuentas es un contrato que revierte al recibir (o consume todo el gas), el pago a TODOS los demás falla. King of the Ether (feb 2016) se atascó así: send() a una wallet-contrato falló y el retorno no se comprobó.</a:t>
            </a:r>
            <a:endParaRPr lang="en-US" sz="1250" dirty="0"/>
          </a:p>
        </p:txBody>
      </p:sp>
      <p:sp>
        <p:nvSpPr>
          <p:cNvPr id="11" name="Shape 8"/>
          <p:cNvSpPr/>
          <p:nvPr/>
        </p:nvSpPr>
        <p:spPr>
          <a:xfrm>
            <a:off x="6233008" y="1737360"/>
            <a:ext cx="5391760" cy="24688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DOS POR BUCLE NO ACOTADO</a:t>
            </a:r>
            <a:endParaRPr lang="en-US" sz="1050" dirty="0"/>
          </a:p>
        </p:txBody>
      </p:sp>
      <p:sp>
        <p:nvSpPr>
          <p:cNvPr id="13" name="Text 10"/>
          <p:cNvSpPr/>
          <p:nvPr/>
        </p:nvSpPr>
        <p:spPr>
          <a:xfrm>
            <a:off x="6507328" y="2304288"/>
            <a:ext cx="4843120" cy="17373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Recorrer un arreglo que crece sin límite (la lista de participantes de la S7) puede superar el límite de gas de un bloque: la función se vuelve imposible de ejecutar. El contrato queda vivo pero inútil.</a:t>
            </a:r>
            <a:endParaRPr lang="en-US" sz="1250" dirty="0"/>
          </a:p>
        </p:txBody>
      </p:sp>
      <p:sp>
        <p:nvSpPr>
          <p:cNvPr id="14" name="Shape 11"/>
          <p:cNvSpPr/>
          <p:nvPr/>
        </p:nvSpPr>
        <p:spPr>
          <a:xfrm>
            <a:off x="566928" y="4389120"/>
            <a:ext cx="11057839" cy="17830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5" name="Image 1" descr="preencoded.png">    </p:cNvPr>
          <p:cNvPicPr>
            <a:picLocks noChangeAspect="1"/>
          </p:cNvPicPr>
          <p:nvPr/>
        </p:nvPicPr>
        <p:blipFill>
          <a:blip r:embed="rId2"/>
          <a:stretch>
            <a:fillRect/>
          </a:stretch>
        </p:blipFill>
        <p:spPr>
          <a:xfrm>
            <a:off x="804672" y="4608576"/>
            <a:ext cx="237744" cy="237744"/>
          </a:xfrm>
          <a:prstGeom prst="rect">
            <a:avLst/>
          </a:prstGeom>
        </p:spPr>
      </p:pic>
      <p:sp>
        <p:nvSpPr>
          <p:cNvPr id="16" name="Text 12"/>
          <p:cNvSpPr/>
          <p:nvPr/>
        </p:nvSpPr>
        <p:spPr>
          <a:xfrm>
            <a:off x="1133856" y="458114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DEFENSA: EL PATRÓN DE RETIRO (S7)</a:t>
            </a:r>
            <a:endParaRPr lang="en-US" sz="950" dirty="0"/>
          </a:p>
        </p:txBody>
      </p:sp>
      <p:sp>
        <p:nvSpPr>
          <p:cNvPr id="17" name="Text 13"/>
          <p:cNvSpPr/>
          <p:nvPr/>
        </p:nvSpPr>
        <p:spPr>
          <a:xfrm>
            <a:off x="804672" y="4901184"/>
            <a:ext cx="10582351" cy="11795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No EMPUJES los pagos (push): deja que cada quien RETIRE lo suyo (pull). Así un receptor que revierte solo se afecta a sí mismo. No recorras arreglos ilimitados; no dependas de que un envío externo funcione. Es el mismo patrón «pull over push» de la Sesión 7.</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A.15 · VERIFICACIÓN DE LA TAXONOMÍA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CLASIFIQUEN ESTOS TRES FALLOS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6675120"/>
                <a:gridCol w="43827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SÍNTOMA EN EL CÓDIGO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VULNERABILIDAD 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27888">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Una función de retiro que envía ETH y después descuenta el saldo.</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Reentrancy (orden CEI violado).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27888">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require(tx.origin == owner) para autorizar una función crítica.</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Control de acceso mal implementado.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27888">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Un ganador elegido con keccak256(block.timestamp) % n.</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Aleatoriedad on-chain manipulable.</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231136"/>
          </a:xfrm>
          <a:prstGeom prst="rect">
            <a:avLst/>
          </a:prstGeom>
          <a:ln w="22225">
            <a:solidFill>
              <a:srgbClr val="0F0F11"/>
            </a:solidFill>
            <a:prstDash val="solid"/>
          </a:ln>
        </p:spPr>
      </p:sp>
      <p:sp>
        <p:nvSpPr>
          <p:cNvPr id="10" name="Shape 6"/>
          <p:cNvSpPr/>
          <p:nvPr/>
        </p:nvSpPr>
        <p:spPr>
          <a:xfrm>
            <a:off x="566928" y="4114800"/>
            <a:ext cx="11057839" cy="20116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4334256"/>
            <a:ext cx="237744" cy="237744"/>
          </a:xfrm>
          <a:prstGeom prst="rect">
            <a:avLst/>
          </a:prstGeom>
        </p:spPr>
      </p:pic>
      <p:sp>
        <p:nvSpPr>
          <p:cNvPr id="12" name="Text 7"/>
          <p:cNvSpPr/>
          <p:nvPr/>
        </p:nvSpPr>
        <p:spPr>
          <a:xfrm>
            <a:off x="1133856" y="430682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CÓMO SE RESPONDE EN EL PARCIAL</a:t>
            </a:r>
            <a:endParaRPr lang="en-US" sz="950" dirty="0"/>
          </a:p>
        </p:txBody>
      </p:sp>
      <p:sp>
        <p:nvSpPr>
          <p:cNvPr id="13" name="Text 8"/>
          <p:cNvSpPr/>
          <p:nvPr/>
        </p:nvSpPr>
        <p:spPr>
          <a:xfrm>
            <a:off x="804672" y="4626864"/>
            <a:ext cx="10582351" cy="14081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Tapen la segunda columna y pídanle a la clase nombrarlas en voz alta, con la LÍNEA exacta. En el parcial se pide justo esto: nombre + severidad + ubicación. Nombrar sin ubicar vale la mitad. Estos tres son ejemplos de método; el contrato del parcial es otro.</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A.16 · EL CICLO DE VIDA SEGURO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LA SEGURIDAD NO ES UN PASO: ES UNA CADENA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Text 5"/>
          <p:cNvSpPr/>
          <p:nvPr/>
        </p:nvSpPr>
        <p:spPr>
          <a:xfrm>
            <a:off x="566928" y="1737360"/>
            <a:ext cx="548640" cy="594360"/>
          </a:xfrm>
          <a:prstGeom prst="rect">
            <a:avLst/>
          </a:prstGeom>
          <a:noFill/>
          <a:ln/>
        </p:spPr>
        <p:txBody>
          <a:bodyPr wrap="square" lIns="0" tIns="0" rIns="0" bIns="0" rtlCol="0" anchor="ctr"/>
          <a:lstStyle/>
          <a:p>
            <a:pPr indent="0" marL="0">
              <a:buNone/>
            </a:pPr>
            <a:r>
              <a:rPr lang="en-US" sz="1700" dirty="0">
                <a:solidFill>
                  <a:srgbClr val="F07F06"/>
                </a:solidFill>
                <a:latin typeface="Arial Black" pitchFamily="34" charset="0"/>
                <a:ea typeface="Arial Black" pitchFamily="34" charset="-122"/>
                <a:cs typeface="Arial Black" pitchFamily="34" charset="-120"/>
              </a:rPr>
              <a:t>01</a:t>
            </a:r>
            <a:endParaRPr lang="en-US" sz="1700" dirty="0"/>
          </a:p>
        </p:txBody>
      </p:sp>
      <p:sp>
        <p:nvSpPr>
          <p:cNvPr id="9" name="Text 6"/>
          <p:cNvSpPr/>
          <p:nvPr/>
        </p:nvSpPr>
        <p:spPr>
          <a:xfrm>
            <a:off x="1207008" y="1792224"/>
            <a:ext cx="3200400" cy="292608"/>
          </a:xfrm>
          <a:prstGeom prst="rect">
            <a:avLst/>
          </a:prstGeom>
          <a:noFill/>
          <a:ln/>
        </p:spPr>
        <p:txBody>
          <a:bodyPr wrap="square" lIns="0" tIns="0" rIns="0" bIns="0" rtlCol="0" anchor="ctr"/>
          <a:lstStyle/>
          <a:p>
            <a:pPr indent="0" marL="0">
              <a:buNone/>
            </a:pPr>
            <a:r>
              <a:rPr lang="en-US" sz="1050" b="1" spc="130" kern="0" dirty="0">
                <a:solidFill>
                  <a:srgbClr val="0F0F11"/>
                </a:solidFill>
                <a:latin typeface="Courier New" pitchFamily="34" charset="0"/>
                <a:ea typeface="Courier New" pitchFamily="34" charset="-122"/>
                <a:cs typeface="Courier New" pitchFamily="34" charset="-120"/>
              </a:rPr>
              <a:t>ESCRIBIR MENOS</a:t>
            </a:r>
            <a:endParaRPr lang="en-US" sz="1050" dirty="0"/>
          </a:p>
        </p:txBody>
      </p:sp>
      <p:sp>
        <p:nvSpPr>
          <p:cNvPr id="10" name="Text 7"/>
          <p:cNvSpPr/>
          <p:nvPr/>
        </p:nvSpPr>
        <p:spPr>
          <a:xfrm>
            <a:off x="4544568" y="1773936"/>
            <a:ext cx="708019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Cada línea propia es superficie de ataque. Reutilizar OpenZeppelin auditado en lugar de reescribir.</a:t>
            </a:r>
            <a:endParaRPr lang="en-US" sz="1250" dirty="0"/>
          </a:p>
        </p:txBody>
      </p:sp>
      <p:sp>
        <p:nvSpPr>
          <p:cNvPr id="11" name="Shape 8"/>
          <p:cNvSpPr/>
          <p:nvPr/>
        </p:nvSpPr>
        <p:spPr>
          <a:xfrm>
            <a:off x="566928" y="2404872"/>
            <a:ext cx="11057839" cy="914"/>
          </a:xfrm>
          <a:prstGeom prst="line">
            <a:avLst/>
          </a:prstGeom>
          <a:noFill/>
          <a:ln w="12700">
            <a:solidFill>
              <a:srgbClr val="D9D6E0"/>
            </a:solidFill>
            <a:prstDash val="solid"/>
          </a:ln>
        </p:spPr>
      </p:sp>
      <p:sp>
        <p:nvSpPr>
          <p:cNvPr id="12" name="Text 9"/>
          <p:cNvSpPr/>
          <p:nvPr/>
        </p:nvSpPr>
        <p:spPr>
          <a:xfrm>
            <a:off x="566928" y="2468880"/>
            <a:ext cx="548640" cy="594360"/>
          </a:xfrm>
          <a:prstGeom prst="rect">
            <a:avLst/>
          </a:prstGeom>
          <a:noFill/>
          <a:ln/>
        </p:spPr>
        <p:txBody>
          <a:bodyPr wrap="square" lIns="0" tIns="0" rIns="0" bIns="0" rtlCol="0" anchor="ctr"/>
          <a:lstStyle/>
          <a:p>
            <a:pPr indent="0" marL="0">
              <a:buNone/>
            </a:pPr>
            <a:r>
              <a:rPr lang="en-US" sz="1700" dirty="0">
                <a:solidFill>
                  <a:srgbClr val="F07F06"/>
                </a:solidFill>
                <a:latin typeface="Arial Black" pitchFamily="34" charset="0"/>
                <a:ea typeface="Arial Black" pitchFamily="34" charset="-122"/>
                <a:cs typeface="Arial Black" pitchFamily="34" charset="-120"/>
              </a:rPr>
              <a:t>02</a:t>
            </a:r>
            <a:endParaRPr lang="en-US" sz="1700" dirty="0"/>
          </a:p>
        </p:txBody>
      </p:sp>
      <p:sp>
        <p:nvSpPr>
          <p:cNvPr id="13" name="Text 10"/>
          <p:cNvSpPr/>
          <p:nvPr/>
        </p:nvSpPr>
        <p:spPr>
          <a:xfrm>
            <a:off x="1207008" y="2523744"/>
            <a:ext cx="3200400" cy="292608"/>
          </a:xfrm>
          <a:prstGeom prst="rect">
            <a:avLst/>
          </a:prstGeom>
          <a:noFill/>
          <a:ln/>
        </p:spPr>
        <p:txBody>
          <a:bodyPr wrap="square" lIns="0" tIns="0" rIns="0" bIns="0" rtlCol="0" anchor="ctr"/>
          <a:lstStyle/>
          <a:p>
            <a:pPr indent="0" marL="0">
              <a:buNone/>
            </a:pPr>
            <a:r>
              <a:rPr lang="en-US" sz="1050" b="1" spc="130" kern="0" dirty="0">
                <a:solidFill>
                  <a:srgbClr val="0F0F11"/>
                </a:solidFill>
                <a:latin typeface="Courier New" pitchFamily="34" charset="0"/>
                <a:ea typeface="Courier New" pitchFamily="34" charset="-122"/>
                <a:cs typeface="Courier New" pitchFamily="34" charset="-120"/>
              </a:rPr>
              <a:t>PROBAR LOS BORDES</a:t>
            </a:r>
            <a:endParaRPr lang="en-US" sz="1050" dirty="0"/>
          </a:p>
        </p:txBody>
      </p:sp>
      <p:sp>
        <p:nvSpPr>
          <p:cNvPr id="14" name="Text 11"/>
          <p:cNvSpPr/>
          <p:nvPr/>
        </p:nvSpPr>
        <p:spPr>
          <a:xfrm>
            <a:off x="4544568" y="2505456"/>
            <a:ext cx="708019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suite de la Sesión 8, con pruebas que atrapan errores, no solo que dan cobertura.</a:t>
            </a:r>
            <a:endParaRPr lang="en-US" sz="1250" dirty="0"/>
          </a:p>
        </p:txBody>
      </p:sp>
      <p:sp>
        <p:nvSpPr>
          <p:cNvPr id="15" name="Shape 12"/>
          <p:cNvSpPr/>
          <p:nvPr/>
        </p:nvSpPr>
        <p:spPr>
          <a:xfrm>
            <a:off x="566928" y="3136392"/>
            <a:ext cx="11057839" cy="914"/>
          </a:xfrm>
          <a:prstGeom prst="line">
            <a:avLst/>
          </a:prstGeom>
          <a:noFill/>
          <a:ln w="12700">
            <a:solidFill>
              <a:srgbClr val="D9D6E0"/>
            </a:solidFill>
            <a:prstDash val="solid"/>
          </a:ln>
        </p:spPr>
      </p:sp>
      <p:sp>
        <p:nvSpPr>
          <p:cNvPr id="16" name="Text 13"/>
          <p:cNvSpPr/>
          <p:nvPr/>
        </p:nvSpPr>
        <p:spPr>
          <a:xfrm>
            <a:off x="566928" y="3200400"/>
            <a:ext cx="548640" cy="594360"/>
          </a:xfrm>
          <a:prstGeom prst="rect">
            <a:avLst/>
          </a:prstGeom>
          <a:noFill/>
          <a:ln/>
        </p:spPr>
        <p:txBody>
          <a:bodyPr wrap="square" lIns="0" tIns="0" rIns="0" bIns="0" rtlCol="0" anchor="ctr"/>
          <a:lstStyle/>
          <a:p>
            <a:pPr indent="0" marL="0">
              <a:buNone/>
            </a:pPr>
            <a:r>
              <a:rPr lang="en-US" sz="1700" dirty="0">
                <a:solidFill>
                  <a:srgbClr val="F07F06"/>
                </a:solidFill>
                <a:latin typeface="Arial Black" pitchFamily="34" charset="0"/>
                <a:ea typeface="Arial Black" pitchFamily="34" charset="-122"/>
                <a:cs typeface="Arial Black" pitchFamily="34" charset="-120"/>
              </a:rPr>
              <a:t>03</a:t>
            </a:r>
            <a:endParaRPr lang="en-US" sz="1700" dirty="0"/>
          </a:p>
        </p:txBody>
      </p:sp>
      <p:sp>
        <p:nvSpPr>
          <p:cNvPr id="17" name="Text 14"/>
          <p:cNvSpPr/>
          <p:nvPr/>
        </p:nvSpPr>
        <p:spPr>
          <a:xfrm>
            <a:off x="1207008" y="3255264"/>
            <a:ext cx="3200400" cy="292608"/>
          </a:xfrm>
          <a:prstGeom prst="rect">
            <a:avLst/>
          </a:prstGeom>
          <a:noFill/>
          <a:ln/>
        </p:spPr>
        <p:txBody>
          <a:bodyPr wrap="square" lIns="0" tIns="0" rIns="0" bIns="0" rtlCol="0" anchor="ctr"/>
          <a:lstStyle/>
          <a:p>
            <a:pPr indent="0" marL="0">
              <a:buNone/>
            </a:pPr>
            <a:r>
              <a:rPr lang="en-US" sz="1050" b="1" spc="130" kern="0" dirty="0">
                <a:solidFill>
                  <a:srgbClr val="0F0F11"/>
                </a:solidFill>
                <a:latin typeface="Courier New" pitchFamily="34" charset="0"/>
                <a:ea typeface="Courier New" pitchFamily="34" charset="-122"/>
                <a:cs typeface="Courier New" pitchFamily="34" charset="-120"/>
              </a:rPr>
              <a:t>ANÁLISIS ESTÁTICO</a:t>
            </a:r>
            <a:endParaRPr lang="en-US" sz="1050" dirty="0"/>
          </a:p>
        </p:txBody>
      </p:sp>
      <p:sp>
        <p:nvSpPr>
          <p:cNvPr id="18" name="Text 15"/>
          <p:cNvSpPr/>
          <p:nvPr/>
        </p:nvSpPr>
        <p:spPr>
          <a:xfrm>
            <a:off x="4544568" y="3236976"/>
            <a:ext cx="708019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Slither revisa el código sin ejecutarlo y marca patrones peligrosos en segundos.</a:t>
            </a:r>
            <a:endParaRPr lang="en-US" sz="1250" dirty="0"/>
          </a:p>
        </p:txBody>
      </p:sp>
      <p:sp>
        <p:nvSpPr>
          <p:cNvPr id="19" name="Shape 16"/>
          <p:cNvSpPr/>
          <p:nvPr/>
        </p:nvSpPr>
        <p:spPr>
          <a:xfrm>
            <a:off x="566928" y="3867912"/>
            <a:ext cx="11057839" cy="914"/>
          </a:xfrm>
          <a:prstGeom prst="line">
            <a:avLst/>
          </a:prstGeom>
          <a:noFill/>
          <a:ln w="12700">
            <a:solidFill>
              <a:srgbClr val="D9D6E0"/>
            </a:solidFill>
            <a:prstDash val="solid"/>
          </a:ln>
        </p:spPr>
      </p:sp>
      <p:sp>
        <p:nvSpPr>
          <p:cNvPr id="20" name="Text 17"/>
          <p:cNvSpPr/>
          <p:nvPr/>
        </p:nvSpPr>
        <p:spPr>
          <a:xfrm>
            <a:off x="566928" y="3931920"/>
            <a:ext cx="548640" cy="594360"/>
          </a:xfrm>
          <a:prstGeom prst="rect">
            <a:avLst/>
          </a:prstGeom>
          <a:noFill/>
          <a:ln/>
        </p:spPr>
        <p:txBody>
          <a:bodyPr wrap="square" lIns="0" tIns="0" rIns="0" bIns="0" rtlCol="0" anchor="ctr"/>
          <a:lstStyle/>
          <a:p>
            <a:pPr indent="0" marL="0">
              <a:buNone/>
            </a:pPr>
            <a:r>
              <a:rPr lang="en-US" sz="1700" dirty="0">
                <a:solidFill>
                  <a:srgbClr val="F07F06"/>
                </a:solidFill>
                <a:latin typeface="Arial Black" pitchFamily="34" charset="0"/>
                <a:ea typeface="Arial Black" pitchFamily="34" charset="-122"/>
                <a:cs typeface="Arial Black" pitchFamily="34" charset="-120"/>
              </a:rPr>
              <a:t>04</a:t>
            </a:r>
            <a:endParaRPr lang="en-US" sz="1700" dirty="0"/>
          </a:p>
        </p:txBody>
      </p:sp>
      <p:sp>
        <p:nvSpPr>
          <p:cNvPr id="21" name="Text 18"/>
          <p:cNvSpPr/>
          <p:nvPr/>
        </p:nvSpPr>
        <p:spPr>
          <a:xfrm>
            <a:off x="1207008" y="3986784"/>
            <a:ext cx="3200400" cy="292608"/>
          </a:xfrm>
          <a:prstGeom prst="rect">
            <a:avLst/>
          </a:prstGeom>
          <a:noFill/>
          <a:ln/>
        </p:spPr>
        <p:txBody>
          <a:bodyPr wrap="square" lIns="0" tIns="0" rIns="0" bIns="0" rtlCol="0" anchor="ctr"/>
          <a:lstStyle/>
          <a:p>
            <a:pPr indent="0" marL="0">
              <a:buNone/>
            </a:pPr>
            <a:r>
              <a:rPr lang="en-US" sz="1050" b="1" spc="130" kern="0" dirty="0">
                <a:solidFill>
                  <a:srgbClr val="0F0F11"/>
                </a:solidFill>
                <a:latin typeface="Courier New" pitchFamily="34" charset="0"/>
                <a:ea typeface="Courier New" pitchFamily="34" charset="-122"/>
                <a:cs typeface="Courier New" pitchFamily="34" charset="-120"/>
              </a:rPr>
              <a:t>FUZZING E INVARIANTES</a:t>
            </a:r>
            <a:endParaRPr lang="en-US" sz="1050" dirty="0"/>
          </a:p>
        </p:txBody>
      </p:sp>
      <p:sp>
        <p:nvSpPr>
          <p:cNvPr id="22" name="Text 19"/>
          <p:cNvSpPr/>
          <p:nvPr/>
        </p:nvSpPr>
        <p:spPr>
          <a:xfrm>
            <a:off x="4544568" y="3968496"/>
            <a:ext cx="708019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Miles de entradas al azar buscando romper una invariante que uno afirma siempre cierta.</a:t>
            </a:r>
            <a:endParaRPr lang="en-US" sz="1250" dirty="0"/>
          </a:p>
        </p:txBody>
      </p:sp>
      <p:sp>
        <p:nvSpPr>
          <p:cNvPr id="23" name="Shape 20"/>
          <p:cNvSpPr/>
          <p:nvPr/>
        </p:nvSpPr>
        <p:spPr>
          <a:xfrm>
            <a:off x="566928" y="4599432"/>
            <a:ext cx="11057839" cy="914"/>
          </a:xfrm>
          <a:prstGeom prst="line">
            <a:avLst/>
          </a:prstGeom>
          <a:noFill/>
          <a:ln w="12700">
            <a:solidFill>
              <a:srgbClr val="D9D6E0"/>
            </a:solidFill>
            <a:prstDash val="solid"/>
          </a:ln>
        </p:spPr>
      </p:sp>
      <p:sp>
        <p:nvSpPr>
          <p:cNvPr id="24" name="Text 21"/>
          <p:cNvSpPr/>
          <p:nvPr/>
        </p:nvSpPr>
        <p:spPr>
          <a:xfrm>
            <a:off x="566928" y="4663440"/>
            <a:ext cx="548640" cy="594360"/>
          </a:xfrm>
          <a:prstGeom prst="rect">
            <a:avLst/>
          </a:prstGeom>
          <a:noFill/>
          <a:ln/>
        </p:spPr>
        <p:txBody>
          <a:bodyPr wrap="square" lIns="0" tIns="0" rIns="0" bIns="0" rtlCol="0" anchor="ctr"/>
          <a:lstStyle/>
          <a:p>
            <a:pPr indent="0" marL="0">
              <a:buNone/>
            </a:pPr>
            <a:r>
              <a:rPr lang="en-US" sz="1700" dirty="0">
                <a:solidFill>
                  <a:srgbClr val="F07F06"/>
                </a:solidFill>
                <a:latin typeface="Arial Black" pitchFamily="34" charset="0"/>
                <a:ea typeface="Arial Black" pitchFamily="34" charset="-122"/>
                <a:cs typeface="Arial Black" pitchFamily="34" charset="-120"/>
              </a:rPr>
              <a:t>05</a:t>
            </a:r>
            <a:endParaRPr lang="en-US" sz="1700" dirty="0"/>
          </a:p>
        </p:txBody>
      </p:sp>
      <p:sp>
        <p:nvSpPr>
          <p:cNvPr id="25" name="Text 22"/>
          <p:cNvSpPr/>
          <p:nvPr/>
        </p:nvSpPr>
        <p:spPr>
          <a:xfrm>
            <a:off x="1207008" y="4718304"/>
            <a:ext cx="3200400" cy="292608"/>
          </a:xfrm>
          <a:prstGeom prst="rect">
            <a:avLst/>
          </a:prstGeom>
          <a:noFill/>
          <a:ln/>
        </p:spPr>
        <p:txBody>
          <a:bodyPr wrap="square" lIns="0" tIns="0" rIns="0" bIns="0" rtlCol="0" anchor="ctr"/>
          <a:lstStyle/>
          <a:p>
            <a:pPr indent="0" marL="0">
              <a:buNone/>
            </a:pPr>
            <a:r>
              <a:rPr lang="en-US" sz="1050" b="1" spc="130" kern="0" dirty="0">
                <a:solidFill>
                  <a:srgbClr val="0F0F11"/>
                </a:solidFill>
                <a:latin typeface="Courier New" pitchFamily="34" charset="0"/>
                <a:ea typeface="Courier New" pitchFamily="34" charset="-122"/>
                <a:cs typeface="Courier New" pitchFamily="34" charset="-120"/>
              </a:rPr>
              <a:t>AUDITORÍA EXTERNA</a:t>
            </a:r>
            <a:endParaRPr lang="en-US" sz="1050" dirty="0"/>
          </a:p>
        </p:txBody>
      </p:sp>
      <p:sp>
        <p:nvSpPr>
          <p:cNvPr id="26" name="Text 23"/>
          <p:cNvSpPr/>
          <p:nvPr/>
        </p:nvSpPr>
        <p:spPr>
          <a:xfrm>
            <a:off x="4544568" y="4700016"/>
            <a:ext cx="708019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Ojos que no escribieron el código. Cuesta, pero es la última red antes de custodiar valor.</a:t>
            </a:r>
            <a:endParaRPr lang="en-US" sz="1250" dirty="0"/>
          </a:p>
        </p:txBody>
      </p:sp>
      <p:sp>
        <p:nvSpPr>
          <p:cNvPr id="27" name="Shape 24"/>
          <p:cNvSpPr/>
          <p:nvPr/>
        </p:nvSpPr>
        <p:spPr>
          <a:xfrm>
            <a:off x="566928" y="5330952"/>
            <a:ext cx="11057839" cy="914"/>
          </a:xfrm>
          <a:prstGeom prst="line">
            <a:avLst/>
          </a:prstGeom>
          <a:noFill/>
          <a:ln w="12700">
            <a:solidFill>
              <a:srgbClr val="D9D6E0"/>
            </a:solidFill>
            <a:prstDash val="solid"/>
          </a:ln>
        </p:spPr>
      </p:sp>
      <p:sp>
        <p:nvSpPr>
          <p:cNvPr id="28" name="Text 25"/>
          <p:cNvSpPr/>
          <p:nvPr/>
        </p:nvSpPr>
        <p:spPr>
          <a:xfrm>
            <a:off x="566928" y="5394960"/>
            <a:ext cx="548640" cy="594360"/>
          </a:xfrm>
          <a:prstGeom prst="rect">
            <a:avLst/>
          </a:prstGeom>
          <a:noFill/>
          <a:ln/>
        </p:spPr>
        <p:txBody>
          <a:bodyPr wrap="square" lIns="0" tIns="0" rIns="0" bIns="0" rtlCol="0" anchor="ctr"/>
          <a:lstStyle/>
          <a:p>
            <a:pPr indent="0" marL="0">
              <a:buNone/>
            </a:pPr>
            <a:r>
              <a:rPr lang="en-US" sz="1700" dirty="0">
                <a:solidFill>
                  <a:srgbClr val="F07F06"/>
                </a:solidFill>
                <a:latin typeface="Arial Black" pitchFamily="34" charset="0"/>
                <a:ea typeface="Arial Black" pitchFamily="34" charset="-122"/>
                <a:cs typeface="Arial Black" pitchFamily="34" charset="-120"/>
              </a:rPr>
              <a:t>06</a:t>
            </a:r>
            <a:endParaRPr lang="en-US" sz="1700" dirty="0"/>
          </a:p>
        </p:txBody>
      </p:sp>
      <p:sp>
        <p:nvSpPr>
          <p:cNvPr id="29" name="Text 26"/>
          <p:cNvSpPr/>
          <p:nvPr/>
        </p:nvSpPr>
        <p:spPr>
          <a:xfrm>
            <a:off x="1207008" y="5449824"/>
            <a:ext cx="3200400" cy="292608"/>
          </a:xfrm>
          <a:prstGeom prst="rect">
            <a:avLst/>
          </a:prstGeom>
          <a:noFill/>
          <a:ln/>
        </p:spPr>
        <p:txBody>
          <a:bodyPr wrap="square" lIns="0" tIns="0" rIns="0" bIns="0" rtlCol="0" anchor="ctr"/>
          <a:lstStyle/>
          <a:p>
            <a:pPr indent="0" marL="0">
              <a:buNone/>
            </a:pPr>
            <a:r>
              <a:rPr lang="en-US" sz="1050" b="1" spc="130" kern="0" dirty="0">
                <a:solidFill>
                  <a:srgbClr val="0F0F11"/>
                </a:solidFill>
                <a:latin typeface="Courier New" pitchFamily="34" charset="0"/>
                <a:ea typeface="Courier New" pitchFamily="34" charset="-122"/>
                <a:cs typeface="Courier New" pitchFamily="34" charset="-120"/>
              </a:rPr>
              <a:t>RECOMPENSAS Y MONITOREO</a:t>
            </a:r>
            <a:endParaRPr lang="en-US" sz="1050" dirty="0"/>
          </a:p>
        </p:txBody>
      </p:sp>
      <p:sp>
        <p:nvSpPr>
          <p:cNvPr id="30" name="Text 27"/>
          <p:cNvSpPr/>
          <p:nvPr/>
        </p:nvSpPr>
        <p:spPr>
          <a:xfrm>
            <a:off x="4544568" y="5431536"/>
            <a:ext cx="708019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Bug bounties (Immunefi y otros) y vigilancia del contrato ya desplegado.</a:t>
            </a:r>
            <a:endParaRPr lang="en-US" sz="1250" dirty="0"/>
          </a:p>
        </p:txBody>
      </p:sp>
      <p:sp>
        <p:nvSpPr>
          <p:cNvPr id="31" name="Shape 28"/>
          <p:cNvSpPr/>
          <p:nvPr/>
        </p:nvSpPr>
        <p:spPr>
          <a:xfrm>
            <a:off x="566928" y="6062472"/>
            <a:ext cx="11057839" cy="914"/>
          </a:xfrm>
          <a:prstGeom prst="line">
            <a:avLst/>
          </a:prstGeom>
          <a:noFill/>
          <a:ln w="12700">
            <a:solidFill>
              <a:srgbClr val="D9D6E0"/>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A.17 · UNA HERRAMIENTA CONCRETA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SLITHER: SALIDA REAL SOBRE EL BANCO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sp>
        <p:nvSpPr>
          <p:cNvPr id="8" name="Shape 5"/>
          <p:cNvSpPr/>
          <p:nvPr/>
        </p:nvSpPr>
        <p:spPr>
          <a:xfrm>
            <a:off x="566928" y="1691640"/>
            <a:ext cx="11057839" cy="914400"/>
          </a:xfrm>
          <a:prstGeom prst="rect">
            <a:avLst/>
          </a:prstGeom>
          <a:solidFill>
            <a:srgbClr val="16151B"/>
          </a:solidFill>
          <a:ln w="22225">
            <a:solidFill>
              <a:srgbClr val="16151B"/>
            </a:solidFill>
            <a:prstDash val="solid"/>
          </a:ln>
        </p:spPr>
      </p:sp>
      <p:sp>
        <p:nvSpPr>
          <p:cNvPr id="9" name="Text 6"/>
          <p:cNvSpPr/>
          <p:nvPr/>
        </p:nvSpPr>
        <p:spPr>
          <a:xfrm>
            <a:off x="768096" y="1837944"/>
            <a:ext cx="10655503" cy="658368"/>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pip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install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slither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analyzer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requiere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Python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3.10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slither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contracts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s09</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BancoVulnerable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sol</a:t>
            </a:r>
            <a:endParaRPr lang="en-US" sz="1150" dirty="0"/>
          </a:p>
        </p:txBody>
      </p:sp>
      <p:sp>
        <p:nvSpPr>
          <p:cNvPr id="10" name="Shape 7"/>
          <p:cNvSpPr/>
          <p:nvPr/>
        </p:nvSpPr>
        <p:spPr>
          <a:xfrm>
            <a:off x="566928" y="2743200"/>
            <a:ext cx="11057839" cy="2148840"/>
          </a:xfrm>
          <a:prstGeom prst="rect">
            <a:avLst/>
          </a:prstGeom>
          <a:solidFill>
            <a:srgbClr val="16151B"/>
          </a:solidFill>
          <a:ln w="22225">
            <a:solidFill>
              <a:srgbClr val="16151B"/>
            </a:solidFill>
            <a:prstDash val="solid"/>
          </a:ln>
        </p:spPr>
      </p:sp>
      <p:sp>
        <p:nvSpPr>
          <p:cNvPr id="11" name="Text 8"/>
          <p:cNvSpPr/>
          <p:nvPr/>
        </p:nvSpPr>
        <p:spPr>
          <a:xfrm>
            <a:off x="768096" y="281635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SALIDA REAL (REENTRANCY-ETH · SEVERIDAD ALTA)</a:t>
            </a:r>
            <a:endParaRPr lang="en-US" sz="850" dirty="0"/>
          </a:p>
        </p:txBody>
      </p:sp>
      <p:sp>
        <p:nvSpPr>
          <p:cNvPr id="12" name="Text 9"/>
          <p:cNvSpPr/>
          <p:nvPr/>
        </p:nvSpPr>
        <p:spPr>
          <a:xfrm>
            <a:off x="768096" y="3127248"/>
            <a:ext cx="10655503" cy="1655064"/>
          </a:xfrm>
          <a:prstGeom prst="rect">
            <a:avLst/>
          </a:prstGeom>
          <a:noFill/>
          <a:ln/>
        </p:spPr>
        <p:txBody>
          <a:bodyPr wrap="square" lIns="0" tIns="0" rIns="0" bIns="0" rtlCol="0" anchor="t"/>
          <a:lstStyle/>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Reentrancy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BancoVulnerable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retirar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BancoVulnerable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sol</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#21-30):</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External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calls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None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call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#26)</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State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variables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written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after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the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call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saldos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#29)</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Reference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Detector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Documentation</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#reentrancy-vulnerabilities-1</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analyzed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contracts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with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102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detectors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result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found</a:t>
            </a:r>
            <a:endParaRPr lang="en-US" sz="1050" dirty="0"/>
          </a:p>
        </p:txBody>
      </p:sp>
      <p:sp>
        <p:nvSpPr>
          <p:cNvPr id="13" name="Shape 10"/>
          <p:cNvSpPr/>
          <p:nvPr/>
        </p:nvSpPr>
        <p:spPr>
          <a:xfrm>
            <a:off x="566928" y="5074920"/>
            <a:ext cx="11057839" cy="1115568"/>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4"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5" name="Text 11"/>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QUÉ NO PUEDE HACER</a:t>
            </a:r>
            <a:endParaRPr lang="en-US" sz="950" dirty="0"/>
          </a:p>
        </p:txBody>
      </p:sp>
      <p:sp>
        <p:nvSpPr>
          <p:cNvPr id="16" name="Text 12"/>
          <p:cNvSpPr/>
          <p:nvPr/>
        </p:nvSpPr>
        <p:spPr>
          <a:xfrm>
            <a:off x="804672" y="5586984"/>
            <a:ext cx="10582351"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Slither encontró la reentrancy en segundos y sin ejecutar nada. Pero no entiende la lógica de negocio, no sabe qué DEBERÍA hacer el contrato, y no encuentra fallos de diseño nuevos. Es el primer filtro, no el último; no reemplaza al auditor humano.</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A.18 · MÁS ALLÁ DEL ANÁLISIS ESTÁTICO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FUZZING, INVARIANTES Y AUDITORÍA EXTERNA</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286000"/>
                <a:gridCol w="4572000"/>
                <a:gridCol w="4199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TÉCNICA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HACE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ATRAPA QUE LO ANTERIOR NO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73380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Fuzzing</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Lanza miles de entradas aleatorias contra el contrato buscando romper algo.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Combinaciones raras de valores que ningún test escrito a mano previó.</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3380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Invariantes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Afirmas algo que SIEMPRE debe ser cierto (p. ej. suma de saldos = balance) y se pone a prueba.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Errores de contabilidad y de diseño que no violan una función suelta.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3380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Auditoría externa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Personas expertas que no escribieron el código lo revisan a fondo.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Fallos de lógica de negocio y de arquitectura; lo que ninguna herramienta ve.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3380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Bug bounty</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paga a quien encuentre fallos en el contrato YA desplegado (Immunefi y otros).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 que se escapó de todo lo anterior, antes de que lo use un atacante.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282696"/>
          </a:xfrm>
          <a:prstGeom prst="rect">
            <a:avLst/>
          </a:prstGeom>
          <a:ln w="22225">
            <a:solidFill>
              <a:srgbClr val="0F0F11"/>
            </a:solidFill>
            <a:prstDash val="solid"/>
          </a:ln>
        </p:spPr>
      </p:sp>
      <p:sp>
        <p:nvSpPr>
          <p:cNvPr id="10" name="Shape 6"/>
          <p:cNvSpPr/>
          <p:nvPr/>
        </p:nvSpPr>
        <p:spPr>
          <a:xfrm>
            <a:off x="566928" y="5074920"/>
            <a:ext cx="11057839" cy="1143000"/>
          </a:xfrm>
          <a:prstGeom prst="rect">
            <a:avLst/>
          </a:prstGeom>
          <a:solidFill>
            <a:srgbClr val="F2F0F5"/>
          </a:solidFill>
          <a:ln w="22225">
            <a:solidFill>
              <a:srgbClr val="0F0F11"/>
            </a:solidFill>
            <a:prstDash val="solid"/>
          </a:ln>
        </p:spPr>
      </p:sp>
      <p:pic>
        <p:nvPicPr>
          <p:cNvPr id="11"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2" name="Text 7"/>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EL ORDEN IMPORTA</a:t>
            </a:r>
            <a:endParaRPr lang="en-US" sz="950" dirty="0"/>
          </a:p>
        </p:txBody>
      </p:sp>
      <p:sp>
        <p:nvSpPr>
          <p:cNvPr id="13" name="Text 8"/>
          <p:cNvSpPr/>
          <p:nvPr/>
        </p:nvSpPr>
        <p:spPr>
          <a:xfrm>
            <a:off x="804672" y="5586984"/>
            <a:ext cx="10582351" cy="5394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Cada capa es más cara que la anterior. Se sube en orden: no se paga una auditoría de un código que ni siquiera pasa Slither. La auditoría no es un sello: es una foto en un momento, sobre una versión concreta.</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A.19 · ACTUALIZAR LO INMUTABLE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PROXIES: PODER CAMBIAR EL CÓDIGO, Y SU PRECIO</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Text 5"/>
          <p:cNvSpPr/>
          <p:nvPr/>
        </p:nvSpPr>
        <p:spPr>
          <a:xfrm>
            <a:off x="566928" y="169164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Si el código es inmutable, ¿cómo se corrige un bug? Con un proxy: un contrato «fachada» que guarda el estado y, vía delegatecall, ejecuta la lógica de OTRO contrato que sí se puede reemplazar.</a:t>
            </a:r>
            <a:endParaRPr lang="en-US" sz="1400" dirty="0"/>
          </a:p>
        </p:txBody>
      </p:sp>
      <p:sp>
        <p:nvSpPr>
          <p:cNvPr id="9" name="Shape 6"/>
          <p:cNvSpPr/>
          <p:nvPr/>
        </p:nvSpPr>
        <p:spPr>
          <a:xfrm>
            <a:off x="566928" y="2743200"/>
            <a:ext cx="3108960" cy="914400"/>
          </a:xfrm>
          <a:prstGeom prst="rect">
            <a:avLst/>
          </a:prstGeom>
          <a:solidFill>
            <a:srgbClr val="FFFFFF"/>
          </a:solidFill>
          <a:ln w="22225">
            <a:solidFill>
              <a:srgbClr val="7152E9"/>
            </a:solidFill>
            <a:prstDash val="solid"/>
          </a:ln>
        </p:spPr>
      </p:sp>
      <p:sp>
        <p:nvSpPr>
          <p:cNvPr id="10" name="Text 7"/>
          <p:cNvSpPr/>
          <p:nvPr/>
        </p:nvSpPr>
        <p:spPr>
          <a:xfrm>
            <a:off x="658368" y="2834640"/>
            <a:ext cx="292608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PROXY</a:t>
            </a:r>
            <a:endParaRPr lang="en-US" sz="1100" dirty="0"/>
          </a:p>
        </p:txBody>
      </p:sp>
      <p:sp>
        <p:nvSpPr>
          <p:cNvPr id="11" name="Text 8"/>
          <p:cNvSpPr/>
          <p:nvPr/>
        </p:nvSpPr>
        <p:spPr>
          <a:xfrm>
            <a:off x="658368" y="3145536"/>
            <a:ext cx="2926080" cy="43891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guarda el estado</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y la dirección de la lógica</a:t>
            </a:r>
            <a:endParaRPr lang="en-US" sz="1050" dirty="0"/>
          </a:p>
        </p:txBody>
      </p:sp>
      <p:sp>
        <p:nvSpPr>
          <p:cNvPr id="12" name="Shape 9"/>
          <p:cNvSpPr/>
          <p:nvPr/>
        </p:nvSpPr>
        <p:spPr>
          <a:xfrm>
            <a:off x="3675888" y="3200400"/>
            <a:ext cx="731520" cy="914"/>
          </a:xfrm>
          <a:prstGeom prst="line">
            <a:avLst/>
          </a:prstGeom>
          <a:noFill/>
          <a:ln w="25400">
            <a:solidFill>
              <a:srgbClr val="0F0F11"/>
            </a:solidFill>
            <a:prstDash val="solid"/>
            <a:tailEnd type="triangle"/>
          </a:ln>
        </p:spPr>
      </p:sp>
      <p:sp>
        <p:nvSpPr>
          <p:cNvPr id="13" name="Shape 10"/>
          <p:cNvSpPr/>
          <p:nvPr/>
        </p:nvSpPr>
        <p:spPr>
          <a:xfrm>
            <a:off x="4407408" y="2743200"/>
            <a:ext cx="3291840" cy="914400"/>
          </a:xfrm>
          <a:prstGeom prst="rect">
            <a:avLst/>
          </a:prstGeom>
          <a:solidFill>
            <a:srgbClr val="FFFFFF"/>
          </a:solidFill>
          <a:ln w="22225">
            <a:solidFill>
              <a:srgbClr val="F07F06"/>
            </a:solidFill>
            <a:prstDash val="solid"/>
          </a:ln>
        </p:spPr>
      </p:sp>
      <p:sp>
        <p:nvSpPr>
          <p:cNvPr id="14" name="Text 11"/>
          <p:cNvSpPr/>
          <p:nvPr/>
        </p:nvSpPr>
        <p:spPr>
          <a:xfrm>
            <a:off x="4498848" y="2834640"/>
            <a:ext cx="310896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LÓGICA v1 → v2</a:t>
            </a:r>
            <a:endParaRPr lang="en-US" sz="1100" dirty="0"/>
          </a:p>
        </p:txBody>
      </p:sp>
      <p:sp>
        <p:nvSpPr>
          <p:cNvPr id="15" name="Text 12"/>
          <p:cNvSpPr/>
          <p:nvPr/>
        </p:nvSpPr>
        <p:spPr>
          <a:xfrm>
            <a:off x="4498848" y="3145536"/>
            <a:ext cx="3108960" cy="43891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delegatecall:</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se puede reemplazar</a:t>
            </a:r>
            <a:endParaRPr lang="en-US" sz="1050" dirty="0"/>
          </a:p>
        </p:txBody>
      </p:sp>
      <p:sp>
        <p:nvSpPr>
          <p:cNvPr id="16" name="Shape 13"/>
          <p:cNvSpPr/>
          <p:nvPr/>
        </p:nvSpPr>
        <p:spPr>
          <a:xfrm>
            <a:off x="7882128" y="2743200"/>
            <a:ext cx="3742639" cy="9144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7" name="Image 1" descr="preencoded.png">    </p:cNvPr>
          <p:cNvPicPr>
            <a:picLocks noChangeAspect="1"/>
          </p:cNvPicPr>
          <p:nvPr/>
        </p:nvPicPr>
        <p:blipFill>
          <a:blip r:embed="rId2"/>
          <a:stretch>
            <a:fillRect/>
          </a:stretch>
        </p:blipFill>
        <p:spPr>
          <a:xfrm>
            <a:off x="8119872" y="2962656"/>
            <a:ext cx="237744" cy="237744"/>
          </a:xfrm>
          <a:prstGeom prst="rect">
            <a:avLst/>
          </a:prstGeom>
        </p:spPr>
      </p:pic>
      <p:sp>
        <p:nvSpPr>
          <p:cNvPr id="18" name="Text 14"/>
          <p:cNvSpPr/>
          <p:nvPr/>
        </p:nvSpPr>
        <p:spPr>
          <a:xfrm>
            <a:off x="8449056" y="2935224"/>
            <a:ext cx="29196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EL PODER ES EL RIESGO</a:t>
            </a:r>
            <a:endParaRPr lang="en-US" sz="950" dirty="0"/>
          </a:p>
        </p:txBody>
      </p:sp>
      <p:sp>
        <p:nvSpPr>
          <p:cNvPr id="19" name="Text 15"/>
          <p:cNvSpPr/>
          <p:nvPr/>
        </p:nvSpPr>
        <p:spPr>
          <a:xfrm>
            <a:off x="8119872" y="3255264"/>
            <a:ext cx="3267151" cy="310896"/>
          </a:xfrm>
          <a:prstGeom prst="rect">
            <a:avLst/>
          </a:prstGeom>
          <a:noFill/>
          <a:ln/>
        </p:spPr>
        <p:txBody>
          <a:bodyPr wrap="square" lIns="0" tIns="0" rIns="0" bIns="0" rtlCol="0" anchor="t"/>
          <a:lstStyle/>
          <a:p>
            <a:pPr indent="0" marL="0">
              <a:lnSpc>
                <a:spcPct val="124000"/>
              </a:lnSpc>
              <a:buNone/>
            </a:pPr>
            <a:r>
              <a:rPr lang="en-US" sz="1100" dirty="0">
                <a:solidFill>
                  <a:srgbClr val="3A3844"/>
                </a:solidFill>
                <a:latin typeface="Arial" pitchFamily="34" charset="0"/>
                <a:ea typeface="Arial" pitchFamily="34" charset="-122"/>
                <a:cs typeface="Arial" pitchFamily="34" charset="-120"/>
              </a:rPr>
              <a:t>Cambiar la lógica cambia el dinero de todos.</a:t>
            </a:r>
            <a:endParaRPr lang="en-US" sz="1100" dirty="0"/>
          </a:p>
        </p:txBody>
      </p:sp>
      <p:sp>
        <p:nvSpPr>
          <p:cNvPr id="20" name="Shape 16"/>
          <p:cNvSpPr/>
          <p:nvPr/>
        </p:nvSpPr>
        <p:spPr>
          <a:xfrm>
            <a:off x="566928" y="3931920"/>
            <a:ext cx="5391760" cy="18288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21" name="Text 17"/>
          <p:cNvSpPr/>
          <p:nvPr/>
        </p:nvSpPr>
        <p:spPr>
          <a:xfrm>
            <a:off x="841248" y="41148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LOS RIESGOS PROPIOS DEL PROXY</a:t>
            </a:r>
            <a:endParaRPr lang="en-US" sz="1050" dirty="0"/>
          </a:p>
        </p:txBody>
      </p:sp>
      <p:sp>
        <p:nvSpPr>
          <p:cNvPr id="22" name="Text 18"/>
          <p:cNvSpPr/>
          <p:nvPr/>
        </p:nvSpPr>
        <p:spPr>
          <a:xfrm>
            <a:off x="841248" y="4498848"/>
            <a:ext cx="4843120" cy="10972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00" dirty="0">
                <a:solidFill>
                  <a:srgbClr val="3A3844"/>
                </a:solidFill>
                <a:latin typeface="Arial" pitchFamily="34" charset="0"/>
                <a:ea typeface="Arial" pitchFamily="34" charset="-122"/>
                <a:cs typeface="Arial" pitchFamily="34" charset="-120"/>
              </a:rPr>
              <a:t>Colisión de almacenamiento entre proxy y lógica.</a:t>
            </a:r>
            <a:endParaRPr lang="en-US" sz="1200" dirty="0"/>
          </a:p>
          <a:p>
            <a:pPr marL="203200" indent="-203200">
              <a:lnSpc>
                <a:spcPct val="118000"/>
              </a:lnSpc>
              <a:spcAft>
                <a:spcPts val="500"/>
              </a:spcAft>
              <a:buSzPct val="100000"/>
              <a:buChar char="■"/>
            </a:pPr>
            <a:r>
              <a:rPr lang="en-US" sz="1200" dirty="0">
                <a:solidFill>
                  <a:srgbClr val="3A3844"/>
                </a:solidFill>
                <a:latin typeface="Arial" pitchFamily="34" charset="0"/>
                <a:ea typeface="Arial" pitchFamily="34" charset="-122"/>
                <a:cs typeface="Arial" pitchFamily="34" charset="-120"/>
              </a:rPr>
              <a:t>Un initializer sin proteger: como Parity (A.9).</a:t>
            </a:r>
            <a:endParaRPr lang="en-US" sz="1200" dirty="0"/>
          </a:p>
          <a:p>
            <a:pPr marL="203200" indent="-203200">
              <a:lnSpc>
                <a:spcPct val="118000"/>
              </a:lnSpc>
              <a:spcAft>
                <a:spcPts val="500"/>
              </a:spcAft>
              <a:buSzPct val="100000"/>
              <a:buChar char="■"/>
            </a:pPr>
            <a:r>
              <a:rPr lang="en-US" sz="1200" dirty="0">
                <a:solidFill>
                  <a:srgbClr val="3A3844"/>
                </a:solidFill>
                <a:latin typeface="Arial" pitchFamily="34" charset="0"/>
                <a:ea typeface="Arial" pitchFamily="34" charset="-122"/>
                <a:cs typeface="Arial" pitchFamily="34" charset="-120"/>
              </a:rPr>
              <a:t>La clave de administración: si se filtra, se acabó.</a:t>
            </a:r>
            <a:endParaRPr lang="en-US" sz="1200" dirty="0"/>
          </a:p>
        </p:txBody>
      </p:sp>
      <p:sp>
        <p:nvSpPr>
          <p:cNvPr id="23" name="Shape 19"/>
          <p:cNvSpPr/>
          <p:nvPr/>
        </p:nvSpPr>
        <p:spPr>
          <a:xfrm>
            <a:off x="6233008" y="393192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24" name="Text 20"/>
          <p:cNvSpPr/>
          <p:nvPr/>
        </p:nvSpPr>
        <p:spPr>
          <a:xfrm>
            <a:off x="6507328" y="41148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CÓMO SE MITIGA</a:t>
            </a:r>
            <a:endParaRPr lang="en-US" sz="1050" dirty="0"/>
          </a:p>
        </p:txBody>
      </p:sp>
      <p:sp>
        <p:nvSpPr>
          <p:cNvPr id="25" name="Text 21"/>
          <p:cNvSpPr/>
          <p:nvPr/>
        </p:nvSpPr>
        <p:spPr>
          <a:xfrm>
            <a:off x="6507328" y="4498848"/>
            <a:ext cx="4843120" cy="10972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00" dirty="0">
                <a:solidFill>
                  <a:srgbClr val="3A3844"/>
                </a:solidFill>
                <a:latin typeface="Arial" pitchFamily="34" charset="0"/>
                <a:ea typeface="Arial" pitchFamily="34" charset="-122"/>
                <a:cs typeface="Arial" pitchFamily="34" charset="-120"/>
              </a:rPr>
              <a:t>Patrones probados de OpenZeppelin (UUPS, Transparent).</a:t>
            </a:r>
            <a:endParaRPr lang="en-US" sz="1200" dirty="0"/>
          </a:p>
          <a:p>
            <a:pPr marL="203200" indent="-203200">
              <a:lnSpc>
                <a:spcPct val="118000"/>
              </a:lnSpc>
              <a:spcAft>
                <a:spcPts val="500"/>
              </a:spcAft>
              <a:buSzPct val="100000"/>
              <a:buChar char="■"/>
            </a:pPr>
            <a:r>
              <a:rPr lang="en-US" sz="1200" dirty="0">
                <a:solidFill>
                  <a:srgbClr val="3A3844"/>
                </a:solidFill>
                <a:latin typeface="Arial" pitchFamily="34" charset="0"/>
                <a:ea typeface="Arial" pitchFamily="34" charset="-122"/>
                <a:cs typeface="Arial" pitchFamily="34" charset="-120"/>
              </a:rPr>
              <a:t>El admin es un multisig o una DAO, no una sola llave.</a:t>
            </a:r>
            <a:endParaRPr lang="en-US" sz="1200" dirty="0"/>
          </a:p>
          <a:p>
            <a:pPr marL="203200" indent="-203200">
              <a:lnSpc>
                <a:spcPct val="118000"/>
              </a:lnSpc>
              <a:spcAft>
                <a:spcPts val="500"/>
              </a:spcAft>
              <a:buSzPct val="100000"/>
              <a:buChar char="■"/>
            </a:pPr>
            <a:r>
              <a:rPr lang="en-US" sz="1200" dirty="0">
                <a:solidFill>
                  <a:srgbClr val="3A3844"/>
                </a:solidFill>
                <a:latin typeface="Arial" pitchFamily="34" charset="0"/>
                <a:ea typeface="Arial" pitchFamily="34" charset="-122"/>
                <a:cs typeface="Arial" pitchFamily="34" charset="-120"/>
              </a:rPr>
              <a:t>Un timelock: los cambios se anuncian antes de aplicarse.</a:t>
            </a:r>
            <a:endParaRPr lang="en-US" sz="1200" dirty="0"/>
          </a:p>
        </p:txBody>
      </p:sp>
      <p:sp>
        <p:nvSpPr>
          <p:cNvPr id="26" name="Text 22"/>
          <p:cNvSpPr/>
          <p:nvPr/>
        </p:nvSpPr>
        <p:spPr>
          <a:xfrm>
            <a:off x="566928" y="5897880"/>
            <a:ext cx="11057839" cy="365760"/>
          </a:xfrm>
          <a:prstGeom prst="rect">
            <a:avLst/>
          </a:prstGeom>
          <a:noFill/>
          <a:ln/>
        </p:spPr>
        <p:txBody>
          <a:bodyPr wrap="square" lIns="0" tIns="0" rIns="0" bIns="0" rtlCol="0" anchor="t"/>
          <a:lstStyle/>
          <a:p>
            <a:pPr indent="0" marL="0">
              <a:lnSpc>
                <a:spcPct val="124000"/>
              </a:lnSpc>
              <a:buNone/>
            </a:pPr>
            <a:r>
              <a:rPr lang="en-US" sz="1150" dirty="0">
                <a:solidFill>
                  <a:srgbClr val="A35604"/>
                </a:solidFill>
                <a:latin typeface="Arial" pitchFamily="34" charset="0"/>
                <a:ea typeface="Arial" pitchFamily="34" charset="-122"/>
                <a:cs typeface="Arial" pitchFamily="34" charset="-120"/>
              </a:rPr>
              <a:t>«Actualizable» y «descentralizado» están en tensión: cada mecanismo de actualización es un poder que alguien concentra.</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A.20 · LO QUE HAY QUE LLEVARSE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SEIS IDEAS ANTES DE ATACAR</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Text 5"/>
          <p:cNvSpPr/>
          <p:nvPr/>
        </p:nvSpPr>
        <p:spPr>
          <a:xfrm>
            <a:off x="566928" y="17373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01</a:t>
            </a:r>
            <a:endParaRPr lang="en-US" sz="2000" dirty="0"/>
          </a:p>
        </p:txBody>
      </p:sp>
      <p:sp>
        <p:nvSpPr>
          <p:cNvPr id="9" name="Text 6"/>
          <p:cNvSpPr/>
          <p:nvPr/>
        </p:nvSpPr>
        <p:spPr>
          <a:xfrm>
            <a:off x="1344168" y="1810512"/>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código es inmutable, público y custodia valor: no hay parche ni reverso.</a:t>
            </a:r>
            <a:endParaRPr lang="en-US" sz="1450" dirty="0"/>
          </a:p>
        </p:txBody>
      </p:sp>
      <p:sp>
        <p:nvSpPr>
          <p:cNvPr id="10" name="Shape 7"/>
          <p:cNvSpPr/>
          <p:nvPr/>
        </p:nvSpPr>
        <p:spPr>
          <a:xfrm>
            <a:off x="566928" y="2414016"/>
            <a:ext cx="11057839" cy="914"/>
          </a:xfrm>
          <a:prstGeom prst="line">
            <a:avLst/>
          </a:prstGeom>
          <a:noFill/>
          <a:ln w="12700">
            <a:solidFill>
              <a:srgbClr val="D9D6E0"/>
            </a:solidFill>
            <a:prstDash val="solid"/>
          </a:ln>
        </p:spPr>
      </p:sp>
      <p:sp>
        <p:nvSpPr>
          <p:cNvPr id="11" name="Text 8"/>
          <p:cNvSpPr/>
          <p:nvPr/>
        </p:nvSpPr>
        <p:spPr>
          <a:xfrm>
            <a:off x="566928" y="246888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02</a:t>
            </a:r>
            <a:endParaRPr lang="en-US" sz="2000" dirty="0"/>
          </a:p>
        </p:txBody>
      </p:sp>
      <p:sp>
        <p:nvSpPr>
          <p:cNvPr id="12" name="Text 9"/>
          <p:cNvSpPr/>
          <p:nvPr/>
        </p:nvSpPr>
        <p:spPr>
          <a:xfrm>
            <a:off x="1344168" y="2542032"/>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call a un contrato le cede el control: puede reentrar antes de que actualices el estado.</a:t>
            </a:r>
            <a:endParaRPr lang="en-US" sz="1450" dirty="0"/>
          </a:p>
        </p:txBody>
      </p:sp>
      <p:sp>
        <p:nvSpPr>
          <p:cNvPr id="13" name="Shape 10"/>
          <p:cNvSpPr/>
          <p:nvPr/>
        </p:nvSpPr>
        <p:spPr>
          <a:xfrm>
            <a:off x="566928" y="3145536"/>
            <a:ext cx="11057839" cy="914"/>
          </a:xfrm>
          <a:prstGeom prst="line">
            <a:avLst/>
          </a:prstGeom>
          <a:noFill/>
          <a:ln w="12700">
            <a:solidFill>
              <a:srgbClr val="D9D6E0"/>
            </a:solidFill>
            <a:prstDash val="solid"/>
          </a:ln>
        </p:spPr>
      </p:sp>
      <p:sp>
        <p:nvSpPr>
          <p:cNvPr id="14" name="Text 11"/>
          <p:cNvSpPr/>
          <p:nvPr/>
        </p:nvSpPr>
        <p:spPr>
          <a:xfrm>
            <a:off x="566928" y="320040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03</a:t>
            </a:r>
            <a:endParaRPr lang="en-US" sz="2000" dirty="0"/>
          </a:p>
        </p:txBody>
      </p:sp>
      <p:sp>
        <p:nvSpPr>
          <p:cNvPr id="15" name="Text 12"/>
          <p:cNvSpPr/>
          <p:nvPr/>
        </p:nvSpPr>
        <p:spPr>
          <a:xfrm>
            <a:off x="1344168" y="3273552"/>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Reentrancy se cierra con CEI, y se blinda con un guard. Ambos.</a:t>
            </a:r>
            <a:endParaRPr lang="en-US" sz="1450" dirty="0"/>
          </a:p>
        </p:txBody>
      </p:sp>
      <p:sp>
        <p:nvSpPr>
          <p:cNvPr id="16" name="Shape 13"/>
          <p:cNvSpPr/>
          <p:nvPr/>
        </p:nvSpPr>
        <p:spPr>
          <a:xfrm>
            <a:off x="566928" y="3877056"/>
            <a:ext cx="11057839" cy="914"/>
          </a:xfrm>
          <a:prstGeom prst="line">
            <a:avLst/>
          </a:prstGeom>
          <a:noFill/>
          <a:ln w="12700">
            <a:solidFill>
              <a:srgbClr val="D9D6E0"/>
            </a:solidFill>
            <a:prstDash val="solid"/>
          </a:ln>
        </p:spPr>
      </p:sp>
      <p:sp>
        <p:nvSpPr>
          <p:cNvPr id="17" name="Text 14"/>
          <p:cNvSpPr/>
          <p:nvPr/>
        </p:nvSpPr>
        <p:spPr>
          <a:xfrm>
            <a:off x="566928" y="393192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04</a:t>
            </a:r>
            <a:endParaRPr lang="en-US" sz="2000" dirty="0"/>
          </a:p>
        </p:txBody>
      </p:sp>
      <p:sp>
        <p:nvSpPr>
          <p:cNvPr id="18" name="Text 15"/>
          <p:cNvSpPr/>
          <p:nvPr/>
        </p:nvSpPr>
        <p:spPr>
          <a:xfrm>
            <a:off x="1344168" y="4005072"/>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Los permisos van con msg.sender, jamás con tx.origin.</a:t>
            </a:r>
            <a:endParaRPr lang="en-US" sz="1450" dirty="0"/>
          </a:p>
        </p:txBody>
      </p:sp>
      <p:sp>
        <p:nvSpPr>
          <p:cNvPr id="19" name="Shape 16"/>
          <p:cNvSpPr/>
          <p:nvPr/>
        </p:nvSpPr>
        <p:spPr>
          <a:xfrm>
            <a:off x="566928" y="4608576"/>
            <a:ext cx="11057839" cy="914"/>
          </a:xfrm>
          <a:prstGeom prst="line">
            <a:avLst/>
          </a:prstGeom>
          <a:noFill/>
          <a:ln w="12700">
            <a:solidFill>
              <a:srgbClr val="D9D6E0"/>
            </a:solidFill>
            <a:prstDash val="solid"/>
          </a:ln>
        </p:spPr>
      </p:sp>
      <p:sp>
        <p:nvSpPr>
          <p:cNvPr id="20" name="Text 17"/>
          <p:cNvSpPr/>
          <p:nvPr/>
        </p:nvSpPr>
        <p:spPr>
          <a:xfrm>
            <a:off x="566928" y="466344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05</a:t>
            </a:r>
            <a:endParaRPr lang="en-US" sz="2000" dirty="0"/>
          </a:p>
        </p:txBody>
      </p:sp>
      <p:sp>
        <p:nvSpPr>
          <p:cNvPr id="21" name="Text 18"/>
          <p:cNvSpPr/>
          <p:nvPr/>
        </p:nvSpPr>
        <p:spPr>
          <a:xfrm>
            <a:off x="1344168" y="4736592"/>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azar seguro no existe on-chain: se necesita un oráculo o commit-reveal.</a:t>
            </a:r>
            <a:endParaRPr lang="en-US" sz="1450" dirty="0"/>
          </a:p>
        </p:txBody>
      </p:sp>
      <p:sp>
        <p:nvSpPr>
          <p:cNvPr id="22" name="Shape 19"/>
          <p:cNvSpPr/>
          <p:nvPr/>
        </p:nvSpPr>
        <p:spPr>
          <a:xfrm>
            <a:off x="566928" y="5340096"/>
            <a:ext cx="11057839" cy="914"/>
          </a:xfrm>
          <a:prstGeom prst="line">
            <a:avLst/>
          </a:prstGeom>
          <a:noFill/>
          <a:ln w="12700">
            <a:solidFill>
              <a:srgbClr val="D9D6E0"/>
            </a:solidFill>
            <a:prstDash val="solid"/>
          </a:ln>
        </p:spPr>
      </p:sp>
      <p:sp>
        <p:nvSpPr>
          <p:cNvPr id="23" name="Text 20"/>
          <p:cNvSpPr/>
          <p:nvPr/>
        </p:nvSpPr>
        <p:spPr>
          <a:xfrm>
            <a:off x="566928" y="53949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06</a:t>
            </a:r>
            <a:endParaRPr lang="en-US" sz="2000" dirty="0"/>
          </a:p>
        </p:txBody>
      </p:sp>
      <p:sp>
        <p:nvSpPr>
          <p:cNvPr id="24" name="Text 21"/>
          <p:cNvSpPr/>
          <p:nvPr/>
        </p:nvSpPr>
        <p:spPr>
          <a:xfrm>
            <a:off x="1344168" y="5468112"/>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seguridad es una cadena de capas —Slither, fuzzing, auditoría, bounties—; ninguna sola basta.</a:t>
            </a:r>
            <a:endParaRPr lang="en-US" sz="1450" dirty="0"/>
          </a:p>
        </p:txBody>
      </p:sp>
      <p:sp>
        <p:nvSpPr>
          <p:cNvPr id="25" name="Shape 22"/>
          <p:cNvSpPr/>
          <p:nvPr/>
        </p:nvSpPr>
        <p:spPr>
          <a:xfrm>
            <a:off x="566928" y="6071616"/>
            <a:ext cx="11057839" cy="914"/>
          </a:xfrm>
          <a:prstGeom prst="line">
            <a:avLst/>
          </a:prstGeom>
          <a:noFill/>
          <a:ln w="12700">
            <a:solidFill>
              <a:srgbClr val="D9D6E0"/>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35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ETHERNAUT + AUDITORÍA CRUZADA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Jugar a romper contratos, y después leer el de otro equipo con la mirada de quien busca la grieta.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QUÉ ES ETHERNAUT</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 CTF DONDE GANAR ES HACKEAR</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Ethernaut, de OpenZeppelin, es una serie de contratos con una vulnerabilidad cada uno. Se «gana» un nivel explotándolo desde la consola del navegador. Es la mejor forma de fijar lo del bloque A.</a:t>
            </a:r>
            <a:endParaRPr lang="en-US" sz="14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2743200"/>
          <a:ext cx="11057839" cy="914400"/>
        </p:xfrm>
        <a:graphic>
          <a:graphicData uri="http://schemas.openxmlformats.org/drawingml/2006/table">
            <a:tbl>
              <a:tblPr/>
              <a:tblGrid>
                <a:gridCol w="2194560"/>
                <a:gridCol w="5029200"/>
                <a:gridCol w="38340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NIVEL</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VULNERABILIDAD</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CON QUÉ SE CONECTA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8646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 · Fallback</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Control de acceso por receive/fallback mal puestos.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S7 receive/fallback · A.8</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646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 · Fal1out</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«constructor» que en realidad es una función pública.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S6 constructor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646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5 · Token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Desbordamiento aritmético (contrato en versión 0.6).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A.10 de hoy</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646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11 · Re-entrancy</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robo que acabamos de ver, para explotar con las manos.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A.3 a A.7</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646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7 · Force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Enviar ETH a un contrato sin receive, con selfdestruct.</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Suposiciones falsas sobre el saldo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724912"/>
            <a:ext cx="11094415" cy="2779776"/>
          </a:xfrm>
          <a:prstGeom prst="rect">
            <a:avLst/>
          </a:prstGeom>
          <a:ln w="22225">
            <a:solidFill>
              <a:srgbClr val="0F0F11"/>
            </a:solidFill>
            <a:prstDash val="solid"/>
          </a:ln>
        </p:spPr>
      </p:sp>
      <p:sp>
        <p:nvSpPr>
          <p:cNvPr id="11" name="Text 7"/>
          <p:cNvSpPr/>
          <p:nvPr/>
        </p:nvSpPr>
        <p:spPr>
          <a:xfrm>
            <a:off x="566928" y="5669280"/>
            <a:ext cx="11057839" cy="45720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Prerrequisito: el nivel 0 (Hello Ethernaut) quedó de trabajo de la Sesión 8. Hoy se empieza en Fallback. La guía en PDF trae el método de cada nivel.</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CÓMO SE JUEGA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LA CONSOLA DEL NAVEGADOR ES TU TERMINAL</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Shape 5"/>
          <p:cNvSpPr/>
          <p:nvPr/>
        </p:nvSpPr>
        <p:spPr>
          <a:xfrm>
            <a:off x="566928" y="1737360"/>
            <a:ext cx="11057839" cy="640080"/>
          </a:xfrm>
          <a:prstGeom prst="rect">
            <a:avLst/>
          </a:prstGeom>
          <a:solidFill>
            <a:srgbClr val="FFFFFF"/>
          </a:solidFill>
          <a:ln w="15875">
            <a:solidFill>
              <a:srgbClr val="D9D6E0"/>
            </a:solidFill>
            <a:prstDash val="solid"/>
          </a:ln>
        </p:spPr>
      </p:sp>
      <p:sp>
        <p:nvSpPr>
          <p:cNvPr id="9" name="Text 6"/>
          <p:cNvSpPr/>
          <p:nvPr/>
        </p:nvSpPr>
        <p:spPr>
          <a:xfrm>
            <a:off x="694944" y="173736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1109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CONECTAR</a:t>
            </a:r>
            <a:endParaRPr lang="en-US" sz="1000" dirty="0"/>
          </a:p>
        </p:txBody>
      </p:sp>
      <p:sp>
        <p:nvSpPr>
          <p:cNvPr id="11" name="Text 8"/>
          <p:cNvSpPr/>
          <p:nvPr/>
        </p:nvSpPr>
        <p:spPr>
          <a:xfrm>
            <a:off x="3657600" y="1828800"/>
            <a:ext cx="7857439" cy="4937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MetaMask del curso en Sepolia. Abrir la consola del navegador (F12 → Console).</a:t>
            </a:r>
            <a:endParaRPr lang="en-US" sz="1250" dirty="0"/>
          </a:p>
        </p:txBody>
      </p:sp>
      <p:sp>
        <p:nvSpPr>
          <p:cNvPr id="12" name="Shape 9"/>
          <p:cNvSpPr/>
          <p:nvPr/>
        </p:nvSpPr>
        <p:spPr>
          <a:xfrm>
            <a:off x="566928" y="2468880"/>
            <a:ext cx="11057839" cy="640080"/>
          </a:xfrm>
          <a:prstGeom prst="rect">
            <a:avLst/>
          </a:prstGeom>
          <a:solidFill>
            <a:srgbClr val="FAF9FB"/>
          </a:solidFill>
          <a:ln w="15875">
            <a:solidFill>
              <a:srgbClr val="D9D6E0"/>
            </a:solidFill>
            <a:prstDash val="solid"/>
          </a:ln>
        </p:spPr>
      </p:sp>
      <p:sp>
        <p:nvSpPr>
          <p:cNvPr id="13" name="Text 10"/>
          <p:cNvSpPr/>
          <p:nvPr/>
        </p:nvSpPr>
        <p:spPr>
          <a:xfrm>
            <a:off x="694944" y="246888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64261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OBTENER INSTANCIA</a:t>
            </a:r>
            <a:endParaRPr lang="en-US" sz="1000" dirty="0"/>
          </a:p>
        </p:txBody>
      </p:sp>
      <p:sp>
        <p:nvSpPr>
          <p:cNvPr id="15" name="Text 12"/>
          <p:cNvSpPr/>
          <p:nvPr/>
        </p:nvSpPr>
        <p:spPr>
          <a:xfrm>
            <a:off x="3657600" y="2560320"/>
            <a:ext cx="7857439" cy="4937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Botón «Get New Instance»: Ethernaut despliega un contrato solo para ti y lo expone como `contract`.</a:t>
            </a:r>
            <a:endParaRPr lang="en-US" sz="1250" dirty="0"/>
          </a:p>
        </p:txBody>
      </p:sp>
      <p:sp>
        <p:nvSpPr>
          <p:cNvPr id="16" name="Shape 13"/>
          <p:cNvSpPr/>
          <p:nvPr/>
        </p:nvSpPr>
        <p:spPr>
          <a:xfrm>
            <a:off x="566928" y="3200400"/>
            <a:ext cx="11057839" cy="640080"/>
          </a:xfrm>
          <a:prstGeom prst="rect">
            <a:avLst/>
          </a:prstGeom>
          <a:solidFill>
            <a:srgbClr val="FFFFFF"/>
          </a:solidFill>
          <a:ln w="15875">
            <a:solidFill>
              <a:srgbClr val="D9D6E0"/>
            </a:solidFill>
            <a:prstDash val="solid"/>
          </a:ln>
        </p:spPr>
      </p:sp>
      <p:sp>
        <p:nvSpPr>
          <p:cNvPr id="17" name="Text 14"/>
          <p:cNvSpPr/>
          <p:nvPr/>
        </p:nvSpPr>
        <p:spPr>
          <a:xfrm>
            <a:off x="694944" y="320040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37413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INSPECCIONAR</a:t>
            </a:r>
            <a:endParaRPr lang="en-US" sz="1000" dirty="0"/>
          </a:p>
        </p:txBody>
      </p:sp>
      <p:sp>
        <p:nvSpPr>
          <p:cNvPr id="19" name="Text 16"/>
          <p:cNvSpPr/>
          <p:nvPr/>
        </p:nvSpPr>
        <p:spPr>
          <a:xfrm>
            <a:off x="3657600" y="3291840"/>
            <a:ext cx="7857439" cy="4937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`player`, `await contract.info()`, y sobre todo `contract.abi`: ahí están TODAS las funciones que puedes llamar.</a:t>
            </a:r>
            <a:endParaRPr lang="en-US" sz="1250" dirty="0"/>
          </a:p>
        </p:txBody>
      </p:sp>
      <p:sp>
        <p:nvSpPr>
          <p:cNvPr id="20" name="Shape 17"/>
          <p:cNvSpPr/>
          <p:nvPr/>
        </p:nvSpPr>
        <p:spPr>
          <a:xfrm>
            <a:off x="566928" y="3931920"/>
            <a:ext cx="11057839" cy="640080"/>
          </a:xfrm>
          <a:prstGeom prst="rect">
            <a:avLst/>
          </a:prstGeom>
          <a:solidFill>
            <a:srgbClr val="FAF9FB"/>
          </a:solidFill>
          <a:ln w="15875">
            <a:solidFill>
              <a:srgbClr val="D9D6E0"/>
            </a:solidFill>
            <a:prstDash val="solid"/>
          </a:ln>
        </p:spPr>
      </p:sp>
      <p:sp>
        <p:nvSpPr>
          <p:cNvPr id="21" name="Text 18"/>
          <p:cNvSpPr/>
          <p:nvPr/>
        </p:nvSpPr>
        <p:spPr>
          <a:xfrm>
            <a:off x="694944" y="393192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10565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INTERACTUAR</a:t>
            </a:r>
            <a:endParaRPr lang="en-US" sz="1000" dirty="0"/>
          </a:p>
        </p:txBody>
      </p:sp>
      <p:sp>
        <p:nvSpPr>
          <p:cNvPr id="23" name="Text 20"/>
          <p:cNvSpPr/>
          <p:nvPr/>
        </p:nvSpPr>
        <p:spPr>
          <a:xfrm>
            <a:off x="3657600" y="4023360"/>
            <a:ext cx="7857439" cy="4937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`await contract.metodo(args)` o `contract.sendTransaction({value: ...})` para enviar ETH.</a:t>
            </a:r>
            <a:endParaRPr lang="en-US" sz="1250" dirty="0"/>
          </a:p>
        </p:txBody>
      </p:sp>
      <p:sp>
        <p:nvSpPr>
          <p:cNvPr id="24" name="Shape 21"/>
          <p:cNvSpPr/>
          <p:nvPr/>
        </p:nvSpPr>
        <p:spPr>
          <a:xfrm>
            <a:off x="566928" y="4663440"/>
            <a:ext cx="11057839" cy="640080"/>
          </a:xfrm>
          <a:prstGeom prst="rect">
            <a:avLst/>
          </a:prstGeom>
          <a:solidFill>
            <a:srgbClr val="FFFFFF"/>
          </a:solidFill>
          <a:ln w="15875">
            <a:solidFill>
              <a:srgbClr val="D9D6E0"/>
            </a:solidFill>
            <a:prstDash val="solid"/>
          </a:ln>
        </p:spPr>
      </p:sp>
      <p:sp>
        <p:nvSpPr>
          <p:cNvPr id="25" name="Text 22"/>
          <p:cNvSpPr/>
          <p:nvPr/>
        </p:nvSpPr>
        <p:spPr>
          <a:xfrm>
            <a:off x="694944" y="466344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83717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ENVIAR</a:t>
            </a:r>
            <a:endParaRPr lang="en-US" sz="1000" dirty="0"/>
          </a:p>
        </p:txBody>
      </p:sp>
      <p:sp>
        <p:nvSpPr>
          <p:cNvPr id="27" name="Text 24"/>
          <p:cNvSpPr/>
          <p:nvPr/>
        </p:nvSpPr>
        <p:spPr>
          <a:xfrm>
            <a:off x="3657600" y="4754880"/>
            <a:ext cx="7857439" cy="4937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Botón «Submit instance»: Ethernaut comprueba si cumpliste el objetivo del nivel.</a:t>
            </a:r>
            <a:endParaRPr lang="en-US" sz="1250" dirty="0"/>
          </a:p>
        </p:txBody>
      </p:sp>
      <p:sp>
        <p:nvSpPr>
          <p:cNvPr id="28" name="Shape 25"/>
          <p:cNvSpPr/>
          <p:nvPr/>
        </p:nvSpPr>
        <p:spPr>
          <a:xfrm>
            <a:off x="566928" y="5349240"/>
            <a:ext cx="11057839" cy="8686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29" name="Image 1" descr="preencoded.png">    </p:cNvPr>
          <p:cNvPicPr>
            <a:picLocks noChangeAspect="1"/>
          </p:cNvPicPr>
          <p:nvPr/>
        </p:nvPicPr>
        <p:blipFill>
          <a:blip r:embed="rId2"/>
          <a:stretch>
            <a:fillRect/>
          </a:stretch>
        </p:blipFill>
        <p:spPr>
          <a:xfrm>
            <a:off x="804672" y="5568696"/>
            <a:ext cx="237744" cy="237744"/>
          </a:xfrm>
          <a:prstGeom prst="rect">
            <a:avLst/>
          </a:prstGeom>
        </p:spPr>
      </p:pic>
      <p:sp>
        <p:nvSpPr>
          <p:cNvPr id="30" name="Text 26"/>
          <p:cNvSpPr/>
          <p:nvPr/>
        </p:nvSpPr>
        <p:spPr>
          <a:xfrm>
            <a:off x="1133856" y="554126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EL REFLEJO QUE HAY QUE ADQUIRIR</a:t>
            </a:r>
            <a:endParaRPr lang="en-US" sz="950" dirty="0"/>
          </a:p>
        </p:txBody>
      </p:sp>
      <p:sp>
        <p:nvSpPr>
          <p:cNvPr id="31" name="Text 27"/>
          <p:cNvSpPr/>
          <p:nvPr/>
        </p:nvSpPr>
        <p:spPr>
          <a:xfrm>
            <a:off x="804672" y="5861304"/>
            <a:ext cx="10582351" cy="2651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Ante cualquier nivel: mirar primero contract.abi y el código fuente. La vulnerabilidad casi siempre salta leyendo.</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AUDITORÍA CRUZADA #1</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LEER EL CONTRATO DE OTRO EQUIPO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Cada equipo entrega el contrato principal de su proyecto y recibe el de otro. Media hora para auditarlo con una lista concreta. Leer código ajeno es parte de la competencia.</a:t>
            </a:r>
            <a:endParaRPr lang="en-US" sz="1450" dirty="0"/>
          </a:p>
        </p:txBody>
      </p:sp>
      <p:sp>
        <p:nvSpPr>
          <p:cNvPr id="9" name="Shape 6"/>
          <p:cNvSpPr/>
          <p:nvPr/>
        </p:nvSpPr>
        <p:spPr>
          <a:xfrm>
            <a:off x="566928" y="2423160"/>
            <a:ext cx="11057839" cy="621792"/>
          </a:xfrm>
          <a:prstGeom prst="rect">
            <a:avLst/>
          </a:prstGeom>
          <a:solidFill>
            <a:srgbClr val="FFFFFF"/>
          </a:solidFill>
          <a:ln w="15875">
            <a:solidFill>
              <a:srgbClr val="D9D6E0"/>
            </a:solidFill>
            <a:prstDash val="solid"/>
          </a:ln>
        </p:spPr>
      </p:sp>
      <p:sp>
        <p:nvSpPr>
          <p:cNvPr id="10" name="Text 7"/>
          <p:cNvSpPr/>
          <p:nvPr/>
        </p:nvSpPr>
        <p:spPr>
          <a:xfrm>
            <a:off x="694944" y="2423160"/>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587752"/>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RECORRER LA TAXONOMÍA</a:t>
            </a:r>
            <a:endParaRPr lang="en-US" sz="1000" dirty="0"/>
          </a:p>
        </p:txBody>
      </p:sp>
      <p:sp>
        <p:nvSpPr>
          <p:cNvPr id="12" name="Text 9"/>
          <p:cNvSpPr/>
          <p:nvPr/>
        </p:nvSpPr>
        <p:spPr>
          <a:xfrm>
            <a:off x="4206240" y="2514600"/>
            <a:ext cx="730879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Las ocho vulnerabilidades de A.2, una por una, contra el contrato recibido.</a:t>
            </a:r>
            <a:endParaRPr lang="en-US" sz="1250" dirty="0"/>
          </a:p>
        </p:txBody>
      </p:sp>
      <p:sp>
        <p:nvSpPr>
          <p:cNvPr id="13" name="Shape 10"/>
          <p:cNvSpPr/>
          <p:nvPr/>
        </p:nvSpPr>
        <p:spPr>
          <a:xfrm>
            <a:off x="566928" y="3136392"/>
            <a:ext cx="11057839" cy="621792"/>
          </a:xfrm>
          <a:prstGeom prst="rect">
            <a:avLst/>
          </a:prstGeom>
          <a:solidFill>
            <a:srgbClr val="FAF9FB"/>
          </a:solidFill>
          <a:ln w="15875">
            <a:solidFill>
              <a:srgbClr val="D9D6E0"/>
            </a:solidFill>
            <a:prstDash val="solid"/>
          </a:ln>
        </p:spPr>
      </p:sp>
      <p:sp>
        <p:nvSpPr>
          <p:cNvPr id="14" name="Text 11"/>
          <p:cNvSpPr/>
          <p:nvPr/>
        </p:nvSpPr>
        <p:spPr>
          <a:xfrm>
            <a:off x="694944" y="3136392"/>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300984"/>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PASAR SLITHER</a:t>
            </a:r>
            <a:endParaRPr lang="en-US" sz="1000" dirty="0"/>
          </a:p>
        </p:txBody>
      </p:sp>
      <p:sp>
        <p:nvSpPr>
          <p:cNvPr id="16" name="Text 13"/>
          <p:cNvSpPr/>
          <p:nvPr/>
        </p:nvSpPr>
        <p:spPr>
          <a:xfrm>
            <a:off x="4206240" y="3227832"/>
            <a:ext cx="730879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Correrlo y leer los hallazgos: separar los reales de los falsos positivos.</a:t>
            </a:r>
            <a:endParaRPr lang="en-US" sz="1250" dirty="0"/>
          </a:p>
        </p:txBody>
      </p:sp>
      <p:sp>
        <p:nvSpPr>
          <p:cNvPr id="17" name="Shape 14"/>
          <p:cNvSpPr/>
          <p:nvPr/>
        </p:nvSpPr>
        <p:spPr>
          <a:xfrm>
            <a:off x="566928" y="3849624"/>
            <a:ext cx="11057839" cy="621792"/>
          </a:xfrm>
          <a:prstGeom prst="rect">
            <a:avLst/>
          </a:prstGeom>
          <a:solidFill>
            <a:srgbClr val="FFFFFF"/>
          </a:solidFill>
          <a:ln w="15875">
            <a:solidFill>
              <a:srgbClr val="D9D6E0"/>
            </a:solidFill>
            <a:prstDash val="solid"/>
          </a:ln>
        </p:spPr>
      </p:sp>
      <p:sp>
        <p:nvSpPr>
          <p:cNvPr id="18" name="Text 15"/>
          <p:cNvSpPr/>
          <p:nvPr/>
        </p:nvSpPr>
        <p:spPr>
          <a:xfrm>
            <a:off x="694944" y="3849624"/>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014216"/>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CLASIFICAR</a:t>
            </a:r>
            <a:endParaRPr lang="en-US" sz="1000" dirty="0"/>
          </a:p>
        </p:txBody>
      </p:sp>
      <p:sp>
        <p:nvSpPr>
          <p:cNvPr id="20" name="Text 17"/>
          <p:cNvSpPr/>
          <p:nvPr/>
        </p:nvSpPr>
        <p:spPr>
          <a:xfrm>
            <a:off x="4206240" y="3941064"/>
            <a:ext cx="730879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Cada hallazgo con severidad —crítica, alta, media, baja, informativa— y la línea exacta.</a:t>
            </a:r>
            <a:endParaRPr lang="en-US" sz="1250" dirty="0"/>
          </a:p>
        </p:txBody>
      </p:sp>
      <p:sp>
        <p:nvSpPr>
          <p:cNvPr id="21" name="Shape 18"/>
          <p:cNvSpPr/>
          <p:nvPr/>
        </p:nvSpPr>
        <p:spPr>
          <a:xfrm>
            <a:off x="566928" y="4562856"/>
            <a:ext cx="11057839" cy="621792"/>
          </a:xfrm>
          <a:prstGeom prst="rect">
            <a:avLst/>
          </a:prstGeom>
          <a:solidFill>
            <a:srgbClr val="FAF9FB"/>
          </a:solidFill>
          <a:ln w="15875">
            <a:solidFill>
              <a:srgbClr val="D9D6E0"/>
            </a:solidFill>
            <a:prstDash val="solid"/>
          </a:ln>
        </p:spPr>
      </p:sp>
      <p:sp>
        <p:nvSpPr>
          <p:cNvPr id="22" name="Text 19"/>
          <p:cNvSpPr/>
          <p:nvPr/>
        </p:nvSpPr>
        <p:spPr>
          <a:xfrm>
            <a:off x="694944" y="4562856"/>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4727448"/>
            <a:ext cx="26517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PROPONER</a:t>
            </a:r>
            <a:endParaRPr lang="en-US" sz="1000" dirty="0"/>
          </a:p>
        </p:txBody>
      </p:sp>
      <p:sp>
        <p:nvSpPr>
          <p:cNvPr id="24" name="Text 21"/>
          <p:cNvSpPr/>
          <p:nvPr/>
        </p:nvSpPr>
        <p:spPr>
          <a:xfrm>
            <a:off x="4206240" y="4654296"/>
            <a:ext cx="730879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Para cada uno, la corrección mínima. No reescribir el contrato ajeno.</a:t>
            </a:r>
            <a:endParaRPr lang="en-US" sz="1250" dirty="0"/>
          </a:p>
        </p:txBody>
      </p:sp>
      <p:sp>
        <p:nvSpPr>
          <p:cNvPr id="25" name="Shape 22"/>
          <p:cNvSpPr/>
          <p:nvPr/>
        </p:nvSpPr>
        <p:spPr>
          <a:xfrm>
            <a:off x="566928" y="5074920"/>
            <a:ext cx="11057839" cy="11430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6"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27" name="Text 23"/>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EL FORMATO Y LA RÚBRICA ESTÁN EN EL MATERIAL DEL PROYECTO</a:t>
            </a:r>
            <a:endParaRPr lang="en-US" sz="950" dirty="0"/>
          </a:p>
        </p:txBody>
      </p:sp>
      <p:sp>
        <p:nvSpPr>
          <p:cNvPr id="28" name="Text 24"/>
          <p:cNvSpPr/>
          <p:nvPr/>
        </p:nvSpPr>
        <p:spPr>
          <a:xfrm>
            <a:off x="804672" y="5586984"/>
            <a:ext cx="10582351" cy="5394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«Auditoría cruzada» (HTML + PDF, público) trae el formato de hallazgo, cómo se asignan los equipos, qué se entrega y la rúbrica. Se califica la calidad de la auditoría, no cuántos fallos tenga el otro.</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90 MINUTOS · 45 % DEL SEGUNDO CORTE</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PARCIAL PRÁCTICO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Un contrato vulnerable. Encontrar los fallos, explotar al menos uno y entregar la versión corregida. 90 minutos, individual, libro abierto.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QUÉ SE ENTREGA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LAS TRES TAREAS DEL PARCIAL</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868039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DETALLE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59613">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El insumo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 contrato vulnerable, entregado al empezar el bloque, con vulnerabilidades de la taxonomía de hoy.</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9613">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Tarea 1 · identificar</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Nombrar cada fallo, con su severidad y su línea exacta.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9613">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Tarea 2 · explotar</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Una prueba en Hardhat que demuestre al menos un abuso.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9613">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Tarea 3 · corregir</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La versión corregida, sin romper lo legítimo y sin reescribir el contrato entero.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9613">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Se entrega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contrato corregido, la prueba del exploit y media página con los hallazgos y sus correcciones.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145536"/>
          </a:xfrm>
          <a:prstGeom prst="rect">
            <a:avLst/>
          </a:prstGeom>
          <a:ln w="22225">
            <a:solidFill>
              <a:srgbClr val="0F0F11"/>
            </a:solidFill>
            <a:prstDash val="solid"/>
          </a:ln>
        </p:spPr>
      </p:sp>
      <p:sp>
        <p:nvSpPr>
          <p:cNvPr id="10" name="Shape 6"/>
          <p:cNvSpPr/>
          <p:nvPr/>
        </p:nvSpPr>
        <p:spPr>
          <a:xfrm>
            <a:off x="566928" y="4983480"/>
            <a:ext cx="11057839" cy="11887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2" name="Text 7"/>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UNA RESTRICCIÓN IMPORTANTE</a:t>
            </a:r>
            <a:endParaRPr lang="en-US" sz="950" dirty="0"/>
          </a:p>
        </p:txBody>
      </p:sp>
      <p:sp>
        <p:nvSpPr>
          <p:cNvPr id="13" name="Text 8"/>
          <p:cNvSpPr/>
          <p:nvPr/>
        </p:nvSpPr>
        <p:spPr>
          <a:xfrm>
            <a:off x="804672" y="5495544"/>
            <a:ext cx="10582351" cy="585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Corregir lo MÍNIMO necesario: reescribir el contrato entero cuesta puntos. Un evento que falta, una pausa ausente o una contabilidad que no cuadra son mejoras o bugs, no vulnerabilidades de seguridad: no cuentan como hallazgo.</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CÓMO SE TRABAJA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TIEMPOS, REGLAS Y USO DE IA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103120"/>
                <a:gridCol w="895471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DETALLE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7302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Duración</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90 minutos exactos, en máquina, en el repositorio de laboratorios del curso.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02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Modalidad</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Individual. Cada quien entrega lo suyo.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302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Libro abierto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Material del curso, documentación oficial y el repositorio. Todo lo escrito está permitido.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02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Sobre la IA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Sin asistentes de IA (Copilot, ChatGPT y similares) ni ayuda de otra persona. El objetivo es evaluar TU criterio de seguridad.</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302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Peso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45 % del segundo corte.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024">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Integridad</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Una sospecha fundada anula el parcial. Se revisa el historial de escritura si hace falta.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785616"/>
          </a:xfrm>
          <a:prstGeom prst="rect">
            <a:avLst/>
          </a:prstGeom>
          <a:ln w="22225">
            <a:solidFill>
              <a:srgbClr val="0F0F11"/>
            </a:solidFill>
            <a:prstDash val="solid"/>
          </a:ln>
        </p:spPr>
      </p:sp>
      <p:sp>
        <p:nvSpPr>
          <p:cNvPr id="10" name="Text 6"/>
          <p:cNvSpPr/>
          <p:nvPr/>
        </p:nvSpPr>
        <p:spPr>
          <a:xfrm>
            <a:off x="566928" y="562356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Sugerencia de reparto: ~25 min leer e identificar, ~35 min escribir el exploit, ~25 min corregir, ~5 min redactar la media página.</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C.3 · CÓMO SE CALIFICA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RÚBRICA SOBRE 20 PUNTOS</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291840"/>
                <a:gridCol w="1463040"/>
                <a:gridCol w="63029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PUNTOS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SE ESPERA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474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Identificar los fallos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Nombre correcto y línea. Media si nombra sin ubicar.</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474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Severidad justificada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Coherente con el impacto real de cada una.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474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Exploit funcional</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Una prueba que demuestra el abuso. Más si roba fondos.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474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Corregir los fallos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Todos, sin romper la funcionalidad legítima.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4749">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No romper lo legítimo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Prueba de humo del docente sobre el contrato corregido.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871216"/>
          </a:xfrm>
          <a:prstGeom prst="rect">
            <a:avLst/>
          </a:prstGeom>
          <a:ln w="22225">
            <a:solidFill>
              <a:srgbClr val="0F0F11"/>
            </a:solidFill>
            <a:prstDash val="solid"/>
          </a:ln>
        </p:spPr>
      </p:sp>
      <p:sp>
        <p:nvSpPr>
          <p:cNvPr id="10" name="Shape 6"/>
          <p:cNvSpPr/>
          <p:nvPr/>
        </p:nvSpPr>
        <p:spPr>
          <a:xfrm>
            <a:off x="566928" y="4754880"/>
            <a:ext cx="11057839" cy="14173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2" name="Text 7"/>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CÓMO SUBIR LA NOTA</a:t>
            </a:r>
            <a:endParaRPr lang="en-US" sz="950" dirty="0"/>
          </a:p>
        </p:txBody>
      </p:sp>
      <p:sp>
        <p:nvSpPr>
          <p:cNvPr id="13" name="Text 8"/>
          <p:cNvSpPr/>
          <p:nvPr/>
        </p:nvSpPr>
        <p:spPr>
          <a:xfrm>
            <a:off x="804672" y="5266944"/>
            <a:ext cx="10582351" cy="8138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severidad se justifica con el impacto: ¿se roban fondos, se bloquea el contrato, o solo es una molestia? Un exploit que efectivamente MUEVE dinero vale más que uno que solo describe el abuso. Y la corrección mínima que conserva depositar/retirar honestos es la mitad de la nota de corrección.</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09 · SEGURIDAD DE CONTRATOS INTELIGENTES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35</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De las ocho vulnerabilidades de hoy, ¿cuáles podría tener SU proyecto? Revísenlo con la lista en la mano antes del Avance 1.</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Terminar los cinco niveles de Ethernaut si no se alcanzaron en clase.</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Entregar el informe de la auditoría cruzada #1 con el formato del material del proyecto.</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Pasar Slither al contrato del proyecto y anotar los hallazgos.</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Empezar la Unidad III: leer sobre el estándar ERC-20 para la Sesión 10.</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Nivelación de React: quien no lo haya visto, empezar el tutorial entregado. La Sesión 12 lo asume.</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Para escribir un contrato que nadie pueda robar, primero hay que aprender a robarlo.</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Con esto cierra la Unidad II: ya saben escribir, probar, desplegar y auditar. La Unidad III construye cosas que la gente usa: tokens, NFTs y una interfaz de verdad.</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10 · TOKENS FUNGIBLES · EL ESTÁNDAR ERC-20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09 · Seguridad de contratos</dc:title>
  <dc:subject>Sesión 09 · Seguridad de contratos</dc:subject>
  <dc:creator>Universidad de San Buenaventura Medellín</dc:creator>
  <cp:lastModifiedBy>Universidad de San Buenaventura Medellín</cp:lastModifiedBy>
  <cp:revision>1</cp:revision>
  <dcterms:created xsi:type="dcterms:W3CDTF">2026-10-21T20:25:43Z</dcterms:created>
  <dcterms:modified xsi:type="dcterms:W3CDTF">2026-10-21T20:25:43Z</dcterms:modified>
</cp:coreProperties>
</file>