
<file path=[Content_Types].xml><?xml version="1.0" encoding="utf-8"?>
<Types xmlns="http://schemas.openxmlformats.org/package/2006/content-types">
  <Default Extension="xml" ContentType="application/xml"/>
  <Default Extension="rels" ContentType="application/vnd.openxmlformats-package.relationships+xml"/>
  <Default Extension="jpeg" ContentType="image/jpeg"/>
  <Default Extension="jpg" ContentType="image/jpg"/>
  <Default Extension="svg" ContentType="image/svg+xml"/>
  <Default Extension="png" ContentType="image/png"/>
  <Default Extension="gif" ContentType="image/gif"/>
  <Default Extension="m4v" ContentType="video/mp4"/>
  <Default Extension="mp4" ContentType="video/mp4"/>
  <Default Extension="vml" ContentType="application/vnd.openxmlformats-officedocument.vmlDrawing"/>
  <Default Extension="xlsx" ContentType="application/vnd.openxmlformats-officedocument.spreadsheetml.sheet"/>
  <Override PartName="/ppt/presentation.xml" ContentType="application/vnd.openxmlformats-officedocument.presentationml.presentation.main+xml"/>
  <Override PartName="/ppt/notesMasters/notesMaster1.xml" ContentType="application/vnd.openxmlformats-officedocument.presentationml.notesMaster+xml"/>
  <Override PartName="/ppt/slideMasters/slideMaster1.xml" ContentType="application/vnd.openxmlformats-officedocument.presentationml.slideMaster+xml"/>
  <Override PartName="/ppt/slides/slide1.xml" ContentType="application/vnd.openxmlformats-officedocument.presentationml.slide+xml"/>
  <Override PartName="/ppt/slideMasters/slideMaster2.xml" ContentType="application/vnd.openxmlformats-officedocument.presentationml.slideMaster+xml"/>
  <Override PartName="/ppt/slides/slide2.xml" ContentType="application/vnd.openxmlformats-officedocument.presentationml.slide+xml"/>
  <Override PartName="/ppt/slideMasters/slideMaster3.xml" ContentType="application/vnd.openxmlformats-officedocument.presentationml.slideMaster+xml"/>
  <Override PartName="/ppt/slides/slide3.xml" ContentType="application/vnd.openxmlformats-officedocument.presentationml.slide+xml"/>
  <Override PartName="/ppt/slideMasters/slideMaster4.xml" ContentType="application/vnd.openxmlformats-officedocument.presentationml.slideMaster+xml"/>
  <Override PartName="/ppt/slides/slide4.xml" ContentType="application/vnd.openxmlformats-officedocument.presentationml.slide+xml"/>
  <Override PartName="/ppt/slideMasters/slideMaster5.xml" ContentType="application/vnd.openxmlformats-officedocument.presentationml.slideMaster+xml"/>
  <Override PartName="/ppt/slides/slide5.xml" ContentType="application/vnd.openxmlformats-officedocument.presentationml.slide+xml"/>
  <Override PartName="/ppt/slideMasters/slideMaster6.xml" ContentType="application/vnd.openxmlformats-officedocument.presentationml.slideMaster+xml"/>
  <Override PartName="/ppt/slides/slide6.xml" ContentType="application/vnd.openxmlformats-officedocument.presentationml.slide+xml"/>
  <Override PartName="/ppt/slideMasters/slideMaster7.xml" ContentType="application/vnd.openxmlformats-officedocument.presentationml.slideMaster+xml"/>
  <Override PartName="/ppt/slides/slide7.xml" ContentType="application/vnd.openxmlformats-officedocument.presentationml.slide+xml"/>
  <Override PartName="/ppt/slideMasters/slideMaster8.xml" ContentType="application/vnd.openxmlformats-officedocument.presentationml.slideMaster+xml"/>
  <Override PartName="/ppt/slides/slide8.xml" ContentType="application/vnd.openxmlformats-officedocument.presentationml.slide+xml"/>
  <Override PartName="/ppt/slideMasters/slideMaster9.xml" ContentType="application/vnd.openxmlformats-officedocument.presentationml.slideMaster+xml"/>
  <Override PartName="/ppt/slides/slide9.xml" ContentType="application/vnd.openxmlformats-officedocument.presentationml.slide+xml"/>
  <Override PartName="/ppt/slideMasters/slideMaster10.xml" ContentType="application/vnd.openxmlformats-officedocument.presentationml.slideMaster+xml"/>
  <Override PartName="/ppt/slides/slide10.xml" ContentType="application/vnd.openxmlformats-officedocument.presentationml.slide+xml"/>
  <Override PartName="/ppt/slideMasters/slideMaster11.xml" ContentType="application/vnd.openxmlformats-officedocument.presentationml.slideMaster+xml"/>
  <Override PartName="/ppt/slides/slide11.xml" ContentType="application/vnd.openxmlformats-officedocument.presentationml.slide+xml"/>
  <Override PartName="/ppt/slideMasters/slideMaster12.xml" ContentType="application/vnd.openxmlformats-officedocument.presentationml.slideMaster+xml"/>
  <Override PartName="/ppt/slides/slide12.xml" ContentType="application/vnd.openxmlformats-officedocument.presentationml.slide+xml"/>
  <Override PartName="/ppt/slideMasters/slideMaster13.xml" ContentType="application/vnd.openxmlformats-officedocument.presentationml.slideMaster+xml"/>
  <Override PartName="/ppt/slides/slide13.xml" ContentType="application/vnd.openxmlformats-officedocument.presentationml.slide+xml"/>
  <Override PartName="/ppt/slideMasters/slideMaster14.xml" ContentType="application/vnd.openxmlformats-officedocument.presentationml.slideMaster+xml"/>
  <Override PartName="/ppt/slides/slide14.xml" ContentType="application/vnd.openxmlformats-officedocument.presentationml.slide+xml"/>
  <Override PartName="/ppt/slideMasters/slideMaster15.xml" ContentType="application/vnd.openxmlformats-officedocument.presentationml.slideMaster+xml"/>
  <Override PartName="/ppt/slides/slide15.xml" ContentType="application/vnd.openxmlformats-officedocument.presentationml.slide+xml"/>
  <Override PartName="/ppt/slideMasters/slideMaster16.xml" ContentType="application/vnd.openxmlformats-officedocument.presentationml.slideMaster+xml"/>
  <Override PartName="/ppt/slides/slide16.xml" ContentType="application/vnd.openxmlformats-officedocument.presentationml.slide+xml"/>
  <Override PartName="/ppt/slideMasters/slideMaster17.xml" ContentType="application/vnd.openxmlformats-officedocument.presentationml.slideMaster+xml"/>
  <Override PartName="/ppt/slides/slide17.xml" ContentType="application/vnd.openxmlformats-officedocument.presentationml.slide+xml"/>
  <Override PartName="/ppt/slideMasters/slideMaster18.xml" ContentType="application/vnd.openxmlformats-officedocument.presentationml.slideMaster+xml"/>
  <Override PartName="/ppt/slides/slide18.xml" ContentType="application/vnd.openxmlformats-officedocument.presentationml.slide+xml"/>
  <Override PartName="/ppt/slideMasters/slideMaster19.xml" ContentType="application/vnd.openxmlformats-officedocument.presentationml.slideMaster+xml"/>
  <Override PartName="/ppt/slides/slide19.xml" ContentType="application/vnd.openxmlformats-officedocument.presentationml.slide+xml"/>
  <Override PartName="/ppt/slideMasters/slideMaster20.xml" ContentType="application/vnd.openxmlformats-officedocument.presentationml.slideMaster+xml"/>
  <Override PartName="/ppt/slides/slide20.xml" ContentType="application/vnd.openxmlformats-officedocument.presentationml.slide+xml"/>
  <Override PartName="/ppt/slideMasters/slideMaster21.xml" ContentType="application/vnd.openxmlformats-officedocument.presentationml.slideMaster+xml"/>
  <Override PartName="/ppt/slides/slide21.xml" ContentType="application/vnd.openxmlformats-officedocument.presentationml.slide+xml"/>
  <Override PartName="/ppt/slideMasters/slideMaster22.xml" ContentType="application/vnd.openxmlformats-officedocument.presentationml.slideMaster+xml"/>
  <Override PartName="/ppt/slides/slide22.xml" ContentType="application/vnd.openxmlformats-officedocument.presentationml.slide+xml"/>
  <Override PartName="/ppt/slideMasters/slideMaster23.xml" ContentType="application/vnd.openxmlformats-officedocument.presentationml.slideMaster+xml"/>
  <Override PartName="/ppt/slides/slide23.xml" ContentType="application/vnd.openxmlformats-officedocument.presentationml.slide+xml"/>
  <Override PartName="/ppt/slideMasters/slideMaster24.xml" ContentType="application/vnd.openxmlformats-officedocument.presentationml.slideMaster+xml"/>
  <Override PartName="/ppt/slides/slide24.xml" ContentType="application/vnd.openxmlformats-officedocument.presentationml.slide+xml"/>
  <Override PartName="/ppt/slideMasters/slideMaster25.xml" ContentType="application/vnd.openxmlformats-officedocument.presentationml.slideMaster+xml"/>
  <Override PartName="/ppt/slides/slide25.xml" ContentType="application/vnd.openxmlformats-officedocument.presentationml.slide+xml"/>
  <Override PartName="/ppt/slideMasters/slideMaster26.xml" ContentType="application/vnd.openxmlformats-officedocument.presentationml.slideMaster+xml"/>
  <Override PartName="/ppt/slides/slide26.xml" ContentType="application/vnd.openxmlformats-officedocument.presentationml.slide+xml"/>
  <Override PartName="/ppt/slideMasters/slideMaster27.xml" ContentType="application/vnd.openxmlformats-officedocument.presentationml.slideMaster+xml"/>
  <Override PartName="/ppt/slides/slide27.xml" ContentType="application/vnd.openxmlformats-officedocument.presentationml.slide+xml"/>
  <Override PartName="/ppt/slideMasters/slideMaster28.xml" ContentType="application/vnd.openxmlformats-officedocument.presentationml.slideMaster+xml"/>
  <Override PartName="/ppt/slides/slide28.xml" ContentType="application/vnd.openxmlformats-officedocument.presentationml.slide+xml"/>
  <Override PartName="/ppt/slideMasters/slideMaster29.xml" ContentType="application/vnd.openxmlformats-officedocument.presentationml.slideMaster+xml"/>
  <Override PartName="/ppt/slides/slide29.xml" ContentType="application/vnd.openxmlformats-officedocument.presentationml.slide+xml"/>
  <Override PartName="/ppt/slideMasters/slideMaster30.xml" ContentType="application/vnd.openxmlformats-officedocument.presentationml.slideMaster+xml"/>
  <Override PartName="/ppt/slides/slide30.xml" ContentType="application/vnd.openxmlformats-officedocument.presentationml.slide+xml"/>
  <Override PartName="/ppt/slideMasters/slideMaster31.xml" ContentType="application/vnd.openxmlformats-officedocument.presentationml.slideMaster+xml"/>
  <Override PartName="/ppt/slides/slide31.xml" ContentType="application/vnd.openxmlformats-officedocument.presentationml.slide+xml"/>
  <Override PartName="/ppt/slideMasters/slideMaster32.xml" ContentType="application/vnd.openxmlformats-officedocument.presentationml.slideMaster+xml"/>
  <Override PartName="/ppt/slides/slide32.xml" ContentType="application/vnd.openxmlformats-officedocument.presentationml.slide+xml"/>
  <Override PartName="/ppt/slideMasters/slideMaster33.xml" ContentType="application/vnd.openxmlformats-officedocument.presentationml.slideMaster+xml"/>
  <Override PartName="/ppt/slides/slide33.xml" ContentType="application/vnd.openxmlformats-officedocument.presentationml.slide+xml"/>
  <Override PartName="/ppt/slideMasters/slideMaster34.xml" ContentType="application/vnd.openxmlformats-officedocument.presentationml.slideMaster+xml"/>
  <Override PartName="/ppt/slides/slide34.xml" ContentType="application/vnd.openxmlformats-officedocument.presentationml.slide+xml"/>
  <Override PartName="/ppt/slideMasters/slideMaster35.xml" ContentType="application/vnd.openxmlformats-officedocument.presentationml.slideMaster+xml"/>
  <Override PartName="/ppt/slides/slide35.xml" ContentType="application/vnd.openxmlformats-officedocument.presentationml.slide+xml"/>
  <Override PartName="/ppt/slideMasters/slideMaster36.xml" ContentType="application/vnd.openxmlformats-officedocument.presentationml.slideMaster+xml"/>
  <Override PartName="/ppt/slides/slide36.xml" ContentType="application/vnd.openxmlformats-officedocument.presentationml.slide+xml"/>
  <Override PartName="/ppt/slideMasters/slideMaster37.xml" ContentType="application/vnd.openxmlformats-officedocument.presentationml.slideMaster+xml"/>
  <Override PartName="/ppt/slides/slide37.xml" ContentType="application/vnd.openxmlformats-officedocument.presentationml.slide+xml"/>
  <Override PartName="/ppt/slideMasters/slideMaster38.xml" ContentType="application/vnd.openxmlformats-officedocument.presentationml.slideMaster+xml"/>
  <Override PartName="/ppt/slides/slide38.xml" ContentType="application/vnd.openxmlformats-officedocument.presentationml.slide+xml"/>
  <Override PartName="/ppt/slideMasters/slideMaster39.xml" ContentType="application/vnd.openxmlformats-officedocument.presentationml.slideMaster+xml"/>
  <Override PartName="/ppt/slides/slide39.xml" ContentType="application/vnd.openxmlformats-officedocument.presentationml.slide+xml"/>
  <Override PartName="/ppt/slideMasters/slideMaster40.xml" ContentType="application/vnd.openxmlformats-officedocument.presentationml.slideMaster+xml"/>
  <Override PartName="/ppt/slides/slide40.xml" ContentType="application/vnd.openxmlformats-officedocument.presentationml.slide+xml"/>
  <Override PartName="/ppt/slideMasters/slideMaster41.xml" ContentType="application/vnd.openxmlformats-officedocument.presentationml.slideMaster+xml"/>
  <Override PartName="/ppt/slides/slide41.xml" ContentType="application/vnd.openxmlformats-officedocument.presentationml.slide+xml"/>
  <Override PartName="/ppt/slideMasters/slideMaster42.xml" ContentType="application/vnd.openxmlformats-officedocument.presentationml.slideMaster+xml"/>
  <Override PartName="/ppt/slides/slide42.xml" ContentType="application/vnd.openxmlformats-officedocument.presentationml.slide+xml"/>
  <Override PartName="/ppt/slideMasters/slideMaster43.xml" ContentType="application/vnd.openxmlformats-officedocument.presentationml.slideMaster+xml"/>
  <Override PartName="/ppt/slides/slide43.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24.xml" ContentType="application/vnd.openxmlformats-officedocument.presentationml.notesSlide+xml"/>
  <Override PartName="/ppt/notesSlides/notesSlide25.xml" ContentType="application/vnd.openxmlformats-officedocument.presentationml.notesSlide+xml"/>
  <Override PartName="/ppt/notesSlides/notesSlide26.xml" ContentType="application/vnd.openxmlformats-officedocument.presentationml.notesSlide+xml"/>
  <Override PartName="/ppt/notesSlides/notesSlide27.xml" ContentType="application/vnd.openxmlformats-officedocument.presentationml.notesSlide+xml"/>
  <Override PartName="/ppt/notesSlides/notesSlide28.xml" ContentType="application/vnd.openxmlformats-officedocument.presentationml.notesSlide+xml"/>
  <Override PartName="/ppt/notesSlides/notesSlide29.xml" ContentType="application/vnd.openxmlformats-officedocument.presentationml.notesSlide+xml"/>
  <Override PartName="/ppt/notesSlides/notesSlide30.xml" ContentType="application/vnd.openxmlformats-officedocument.presentationml.notesSlide+xml"/>
  <Override PartName="/ppt/notesSlides/notesSlide31.xml" ContentType="application/vnd.openxmlformats-officedocument.presentationml.notesSlide+xml"/>
  <Override PartName="/ppt/notesSlides/notesSlide32.xml" ContentType="application/vnd.openxmlformats-officedocument.presentationml.notesSlide+xml"/>
  <Override PartName="/ppt/notesSlides/notesSlide33.xml" ContentType="application/vnd.openxmlformats-officedocument.presentationml.notesSlide+xml"/>
  <Override PartName="/ppt/notesSlides/notesSlide34.xml" ContentType="application/vnd.openxmlformats-officedocument.presentationml.notesSlide+xml"/>
  <Override PartName="/ppt/notesSlides/notesSlide35.xml" ContentType="application/vnd.openxmlformats-officedocument.presentationml.notesSlide+xml"/>
  <Override PartName="/ppt/notesSlides/notesSlide36.xml" ContentType="application/vnd.openxmlformats-officedocument.presentationml.notesSlide+xml"/>
  <Override PartName="/ppt/notesSlides/notesSlide37.xml" ContentType="application/vnd.openxmlformats-officedocument.presentationml.notesSlide+xml"/>
  <Override PartName="/ppt/notesSlides/notesSlide38.xml" ContentType="application/vnd.openxmlformats-officedocument.presentationml.notesSlide+xml"/>
  <Override PartName="/ppt/notesSlides/notesSlide39.xml" ContentType="application/vnd.openxmlformats-officedocument.presentationml.notesSlide+xml"/>
  <Override PartName="/ppt/notesSlides/notesSlide40.xml" ContentType="application/vnd.openxmlformats-officedocument.presentationml.notesSlide+xml"/>
  <Override PartName="/ppt/notesSlides/notesSlide41.xml" ContentType="application/vnd.openxmlformats-officedocument.presentationml.notesSlide+xml"/>
  <Override PartName="/ppt/notesSlides/notesSlide42.xml" ContentType="application/vnd.openxmlformats-officedocument.presentationml.notesSlide+xml"/>
  <Override PartName="/ppt/notesSlides/notesSlide43.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
		<Relationship Id="rId1" Type="http://schemas.openxmlformats.org/officeDocument/2006/relationships/extended-properties" Target="docProps/app.xml"/>
		<Relationship Id="rId2" Type="http://schemas.openxmlformats.org/package/2006/relationships/metadata/core-properties" Target="docProps/core.xml"/>
		<Relationship Id="rId3" Type="http://schemas.openxmlformats.org/officeDocument/2006/relationships/officeDocument" Target="ppt/presentation.xml"/>
		</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 id="268" r:id="rId14"/>
    <p:sldId id="269" r:id="rId15"/>
    <p:sldId id="270" r:id="rId16"/>
    <p:sldId id="271" r:id="rId17"/>
    <p:sldId id="272" r:id="rId18"/>
    <p:sldId id="273" r:id="rId19"/>
    <p:sldId id="274" r:id="rId20"/>
    <p:sldId id="275" r:id="rId21"/>
    <p:sldId id="276" r:id="rId22"/>
    <p:sldId id="277" r:id="rId23"/>
    <p:sldId id="278" r:id="rId24"/>
    <p:sldId id="279" r:id="rId25"/>
    <p:sldId id="280" r:id="rId26"/>
    <p:sldId id="281" r:id="rId27"/>
    <p:sldId id="282" r:id="rId28"/>
    <p:sldId id="283" r:id="rId29"/>
    <p:sldId id="284" r:id="rId30"/>
    <p:sldId id="285" r:id="rId31"/>
    <p:sldId id="286" r:id="rId32"/>
    <p:sldId id="287" r:id="rId33"/>
    <p:sldId id="288" r:id="rId34"/>
    <p:sldId id="289" r:id="rId35"/>
    <p:sldId id="290" r:id="rId36"/>
    <p:sldId id="291" r:id="rId37"/>
    <p:sldId id="292" r:id="rId38"/>
    <p:sldId id="293" r:id="rId39"/>
    <p:sldId id="294" r:id="rId40"/>
    <p:sldId id="295" r:id="rId41"/>
    <p:sldId id="296" r:id="rId42"/>
    <p:sldId id="297" r:id="rId43"/>
    <p:sldId id="298" r:id="rId44"/>
  </p:sldIdLst>
  <p:notesMasterIdLst>
    <p:notesMasterId r:id="rId45"/>
  </p:notesMasterIdLst>
  <p:sldSz cx="12192000" cy="6858000"/>
  <p:notesSz cx="6858000" cy="12192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slide" Target="slides/slide7.xml"/><Relationship Id="rId9" Type="http://schemas.openxmlformats.org/officeDocument/2006/relationships/slide" Target="slides/slide8.xml"/><Relationship Id="rId10" Type="http://schemas.openxmlformats.org/officeDocument/2006/relationships/slide" Target="slides/slide9.xml"/><Relationship Id="rId11" Type="http://schemas.openxmlformats.org/officeDocument/2006/relationships/slide" Target="slides/slide10.xml"/><Relationship Id="rId12" Type="http://schemas.openxmlformats.org/officeDocument/2006/relationships/slide" Target="slides/slide11.xml"/><Relationship Id="rId13" Type="http://schemas.openxmlformats.org/officeDocument/2006/relationships/slide" Target="slides/slide12.xml"/><Relationship Id="rId14" Type="http://schemas.openxmlformats.org/officeDocument/2006/relationships/slide" Target="slides/slide13.xml"/><Relationship Id="rId15" Type="http://schemas.openxmlformats.org/officeDocument/2006/relationships/slide" Target="slides/slide14.xml"/><Relationship Id="rId16" Type="http://schemas.openxmlformats.org/officeDocument/2006/relationships/slide" Target="slides/slide15.xml"/><Relationship Id="rId17" Type="http://schemas.openxmlformats.org/officeDocument/2006/relationships/slide" Target="slides/slide16.xml"/><Relationship Id="rId18" Type="http://schemas.openxmlformats.org/officeDocument/2006/relationships/slide" Target="slides/slide17.xml"/><Relationship Id="rId19" Type="http://schemas.openxmlformats.org/officeDocument/2006/relationships/slide" Target="slides/slide18.xml"/><Relationship Id="rId20" Type="http://schemas.openxmlformats.org/officeDocument/2006/relationships/slide" Target="slides/slide19.xml"/><Relationship Id="rId21" Type="http://schemas.openxmlformats.org/officeDocument/2006/relationships/slide" Target="slides/slide20.xml"/><Relationship Id="rId22" Type="http://schemas.openxmlformats.org/officeDocument/2006/relationships/slide" Target="slides/slide21.xml"/><Relationship Id="rId23" Type="http://schemas.openxmlformats.org/officeDocument/2006/relationships/slide" Target="slides/slide22.xml"/><Relationship Id="rId24" Type="http://schemas.openxmlformats.org/officeDocument/2006/relationships/slide" Target="slides/slide23.xml"/><Relationship Id="rId25" Type="http://schemas.openxmlformats.org/officeDocument/2006/relationships/slide" Target="slides/slide24.xml"/><Relationship Id="rId26" Type="http://schemas.openxmlformats.org/officeDocument/2006/relationships/slide" Target="slides/slide25.xml"/><Relationship Id="rId27" Type="http://schemas.openxmlformats.org/officeDocument/2006/relationships/slide" Target="slides/slide26.xml"/><Relationship Id="rId28" Type="http://schemas.openxmlformats.org/officeDocument/2006/relationships/slide" Target="slides/slide27.xml"/><Relationship Id="rId29" Type="http://schemas.openxmlformats.org/officeDocument/2006/relationships/slide" Target="slides/slide28.xml"/><Relationship Id="rId30" Type="http://schemas.openxmlformats.org/officeDocument/2006/relationships/slide" Target="slides/slide29.xml"/><Relationship Id="rId31" Type="http://schemas.openxmlformats.org/officeDocument/2006/relationships/slide" Target="slides/slide30.xml"/><Relationship Id="rId32" Type="http://schemas.openxmlformats.org/officeDocument/2006/relationships/slide" Target="slides/slide31.xml"/><Relationship Id="rId33" Type="http://schemas.openxmlformats.org/officeDocument/2006/relationships/slide" Target="slides/slide32.xml"/><Relationship Id="rId34" Type="http://schemas.openxmlformats.org/officeDocument/2006/relationships/slide" Target="slides/slide33.xml"/><Relationship Id="rId35" Type="http://schemas.openxmlformats.org/officeDocument/2006/relationships/slide" Target="slides/slide34.xml"/><Relationship Id="rId36" Type="http://schemas.openxmlformats.org/officeDocument/2006/relationships/slide" Target="slides/slide35.xml"/><Relationship Id="rId37" Type="http://schemas.openxmlformats.org/officeDocument/2006/relationships/slide" Target="slides/slide36.xml"/><Relationship Id="rId38" Type="http://schemas.openxmlformats.org/officeDocument/2006/relationships/slide" Target="slides/slide37.xml"/><Relationship Id="rId39" Type="http://schemas.openxmlformats.org/officeDocument/2006/relationships/slide" Target="slides/slide38.xml"/><Relationship Id="rId40" Type="http://schemas.openxmlformats.org/officeDocument/2006/relationships/slide" Target="slides/slide39.xml"/><Relationship Id="rId41" Type="http://schemas.openxmlformats.org/officeDocument/2006/relationships/slide" Target="slides/slide40.xml"/><Relationship Id="rId42" Type="http://schemas.openxmlformats.org/officeDocument/2006/relationships/slide" Target="slides/slide41.xml"/><Relationship Id="rId43" Type="http://schemas.openxmlformats.org/officeDocument/2006/relationships/slide" Target="slides/slide42.xml"/><Relationship Id="rId44" Type="http://schemas.openxmlformats.org/officeDocument/2006/relationships/slide" Target="slides/slide43.xml"/><Relationship Id="rId45" Type="http://schemas.openxmlformats.org/officeDocument/2006/relationships/notesMaster" Target="notesMasters/notesMaster1.xml"/><Relationship Id="rId46" Type="http://schemas.openxmlformats.org/officeDocument/2006/relationships/presProps" Target="presProps.xml"/><Relationship Id="rId47" Type="http://schemas.openxmlformats.org/officeDocument/2006/relationships/viewProps" Target="viewProps.xml"/><Relationship Id="rId48" Type="http://schemas.openxmlformats.org/officeDocument/2006/relationships/theme" Target="theme/theme1.xml"/><Relationship Id="rId49" Type="http://schemas.openxmlformats.org/officeDocument/2006/relationships/tableStyles" Target="tableStyles.xml"/></Relationships>
</file>

<file path=ppt/notesMasters/_rels/notesMaster1.xml.rels><?xml version="1.0" encoding="UTF-8" standalone="yes"?>
<Relationships xmlns="http://schemas.openxmlformats.org/package/2006/relationships">
		<Relationship Id="rId1" Type="http://schemas.openxmlformats.org/officeDocument/2006/relationships/theme" Target="../theme/theme1.xml"/>
		</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7/23/19</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xml"/>
		</Relationships>
</file>

<file path=ppt/notesSlides/_rels/notesSlide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xml"/>
		</Relationships>
</file>

<file path=ppt/notesSlides/_rels/notesSlide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xml"/>
		</Relationships>
</file>

<file path=ppt/notesSlides/_rels/notesSlide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xml"/>
		</Relationships>
</file>

<file path=ppt/notesSlides/_rels/notesSlide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xml"/>
		</Relationships>
</file>

<file path=ppt/notesSlides/_rels/notesSlide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xml"/>
		</Relationships>
</file>

<file path=ppt/notesSlides/_rels/notesSlide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xml"/>
		</Relationships>
</file>

<file path=ppt/notesSlides/_rels/notesSlide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8.xml"/>
		</Relationships>
</file>

<file path=ppt/notesSlides/_rels/notesSlide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9.xml"/>
		</Relationships>
</file>

<file path=ppt/notesSlides/_rels/notesSlide1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0.xml"/>
		</Relationships>
</file>

<file path=ppt/notesSlides/_rels/notesSlide1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1.xml"/>
		</Relationships>
</file>

<file path=ppt/notesSlides/_rels/notesSlide1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2.xml"/>
		</Relationships>
</file>

<file path=ppt/notesSlides/_rels/notesSlide1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3.xml"/>
		</Relationships>
</file>

<file path=ppt/notesSlides/_rels/notesSlide1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4.xml"/>
		</Relationships>
</file>

<file path=ppt/notesSlides/_rels/notesSlide1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5.xml"/>
		</Relationships>
</file>

<file path=ppt/notesSlides/_rels/notesSlide1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6.xml"/>
		</Relationships>
</file>

<file path=ppt/notesSlides/_rels/notesSlide1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7.xml"/>
		</Relationships>
</file>

<file path=ppt/notesSlides/_rels/notesSlide1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8.xml"/>
		</Relationships>
</file>

<file path=ppt/notesSlides/_rels/notesSlide1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9.xml"/>
		</Relationships>
</file>

<file path=ppt/notesSlides/_rels/notesSlide2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0.xml"/>
		</Relationships>
</file>

<file path=ppt/notesSlides/_rels/notesSlide2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1.xml"/>
		</Relationships>
</file>

<file path=ppt/notesSlides/_rels/notesSlide2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2.xml"/>
		</Relationships>
</file>

<file path=ppt/notesSlides/_rels/notesSlide2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3.xml"/>
		</Relationships>
</file>

<file path=ppt/notesSlides/_rels/notesSlide2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4.xml"/>
		</Relationships>
</file>

<file path=ppt/notesSlides/_rels/notesSlide2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5.xml"/>
		</Relationships>
</file>

<file path=ppt/notesSlides/_rels/notesSlide2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6.xml"/>
		</Relationships>
</file>

<file path=ppt/notesSlides/_rels/notesSlide2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7.xml"/>
		</Relationships>
</file>

<file path=ppt/notesSlides/_rels/notesSlide2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8.xml"/>
		</Relationships>
</file>

<file path=ppt/notesSlides/_rels/notesSlide2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9.xml"/>
		</Relationships>
</file>

<file path=ppt/notesSlides/_rels/notesSlide3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0.xml"/>
		</Relationships>
</file>

<file path=ppt/notesSlides/_rels/notesSlide3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1.xml"/>
		</Relationships>
</file>

<file path=ppt/notesSlides/_rels/notesSlide3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2.xml"/>
		</Relationships>
</file>

<file path=ppt/notesSlides/_rels/notesSlide3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3.xml"/>
		</Relationships>
</file>

<file path=ppt/notesSlides/_rels/notesSlide3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4.xml"/>
		</Relationships>
</file>

<file path=ppt/notesSlides/_rels/notesSlide3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5.xml"/>
		</Relationships>
</file>

<file path=ppt/notesSlides/_rels/notesSlide3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6.xml"/>
		</Relationships>
</file>

<file path=ppt/notesSlides/_rels/notesSlide3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7.xml"/>
		</Relationships>
</file>

<file path=ppt/notesSlides/_rels/notesSlide3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8.xml"/>
		</Relationships>
</file>

<file path=ppt/notesSlides/_rels/notesSlide3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9.xml"/>
		</Relationships>
</file>

<file path=ppt/notesSlides/_rels/notesSlide4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0.xml"/>
		</Relationships>
</file>

<file path=ppt/notesSlides/_rels/notesSlide4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1.xml"/>
		</Relationships>
</file>

<file path=ppt/notesSlides/_rels/notesSlide4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2.xml"/>
		</Relationships>
</file>

<file path=ppt/notesSlides/_rels/notesSlide4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3.xml"/>
		</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Cierra la Unidad I. La S3 dejó una cadena que se valida sola, pero no respondió cuál de dos cadenas válidas es la verdadera. Eso es lo que resuelve el consenso.</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Hay una pausa de 10 minutos entre B y C. El Quiz va al final para no cortar la teoría. El bloque D se explica en 5-8 minutos al cierre: el laboratorio se resuelve fuera de clase con su guía en PDF.</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Leer el objetivo en voz alta y las cuatro preguntas. Anunciar que al cierre del bloque A cada una tendrá respuesta, y que las cuatro entran en el Quiz 1. 2 minutos.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No se explica ahora: es el mapa de siglas de hoy. Pedir que la fotografíen o la tengan abierta; cada término se desarrolla en su lámina. Señalar que PoW, PoS y finalidad entran en el Quiz 1. 1 minuto.</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Entrada al bloque A, unos 80 minutos. Recordar la pregunta de la lámina 6 antes de mostrarla: si la S3 dejó una cadena que se valida sola, ¿qué falta? Dejar 30 segundos para respuestas y avanzar. 1 minuto.</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Esta lámina conecta directamente con el doble gasto de la S1: la criptografía no impide el doble gasto, solo impide falsificar firmas. El orden lo decide el consenso.</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Lamport, Shostak y Pease (1982), The Byzantine Generals Problem, ACM TOPLAS. Diferenciar falla por caída (crash) de falla bizantina: la segunda es la que importa en una red abierta.</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No demostrar el teorema. Basta la intuición del caso f=1, n=3: el general leal A recibe 'atacar' de B y 'retirarse' de C y no puede saber cuál es el traidor.</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Es la intuición del teorema de Lamport-Shostak-Pease (1982), sin la demostración. El punto: el traidor gana cuando puede fabricar un empate, y con 3f+1 nunca puede.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Sybil viene del libro sobre una paciente con personalidad múltiple; el término lo introdujo John Douceur (2002). La tercera opción renuncia a la apertura: vuelve a haber una lista de quién puede votar.</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En Bitcoin el objetivo no es exactamente 2^(256-bits) sino un valor codificado en el campo 'bits' del encabezado, pero la idea es idéntica. Se hace con doble SHA-256.</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Valores reales de sha256, reproducibles en vivo con Python. Dificultad 8 bits = objetivo 2^248 = primeros dos dígitos hex en 00. El promedio teórico es 256 intentos; aquí salieron 50 (la varianza es alta con pocos bits). El punto no es el número exacto, sino la asimetría producir/verificar.</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El laboratorio opcional de esta sesión permite variar la dificultad y medir el tiempo por bloque. Ethereum PoW usaba bloques de ~13 s y por eso tenía muchas más bifurcaciones cortas (bloques ommer).</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La expresión 'longest chain' del whitepaper se refiere a la de mayor proof-of-work, lo dice explícitamente en la sección 4.</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El punto pedagógico: el atacante del 51 % reescribe el ORDEN, no la VALIDEZ. Por eso la separación entre validez y consenso de la lámina A.1 importa.</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Vincular con A.1: el atacante no falsificó ninguna firma. Reescribió el ORDEN. El carro se entregó contra una confirmación que resultó reversible.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Valores de la tabla verificados contra el whitepaper, página 8. Nakamoto modela el avance del atacante con una Poisson; el conteo real es binomial negativo, con más varianza, así que el riesgo real es mayor. Con q=0,10 la cifra exacta es 6 y no 5; con q=0,30 es 32 y no 24. Las 6 confirmaciones son una convención, no una regla del protocolo.</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Evitar dar una cifra fija en la lámina: queda desactualizada en semanas. Mostrar el índice de Cambridge en vivo si hay conexión.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Esquema Gasper = Casper FFG (finalidad) + LMD-GHOST (elección de cabeza). No hace falta nombrar los algoritmos en clase; sí el umbral de dos tercios, que conecta con A.3.</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La cadena de igualdades que amarra la sesión: 3f+1 (A.3) -&gt; dos tercios para finalizar (aquí) -&gt; un tercio como umbral de peligro (A.13). Es el mismo número visto desde tres lados.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Aquí la criptografía de la S3 vuelve a ser protagonista: la prueba de la falta son dos firmas. El no repudio de las firmas es lo que hace posible el castigo automático.</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No citar porcentajes exactos de un protocolo concreto: cambian cada mes. Invitar a consultar un tablero público de distribución del stake.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Ninguna columna gana en todo. La pregunta correcta no es cuál es mejor sino qué propiedad valoro más para mi problema. Cifra de energía: ethereum.org, página sobre consumo energético.</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PBFT: Castro y Liskov (1999). Crecimiento cuadrático de mensajes = O(n²). No resolver la pregunta de Estonia: la tienen que trabajar ellos.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Mensaje: el mecanismo es económico. Si cambian los incentivos (por ejemplo, recompensas muy bajas y comisiones muy volátiles), el análisis puede cambiar.</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Bloque huérfano (orphan / stale). En Ethereum PoW se llamaban 'ommer' o 'uncle' y recibían una recompensa parcial para no castigar a mineros mal conectados.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Este es un error real en integraciones: el backend marca 'pagado' al ver la transacción en un bloque y no vuelve a comprobar.</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La división ETH/ETC es el mejor ejemplo de que la inmutabilidad también es una convención social: la mayoría decidió reescribir y una minoría se negó.</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Error típico en anteproyectos: 'la transacción es inmediata e irreversible'. En casi ningún sistema real son las dos cosas a la vez.</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Las capas 2 (Sesión 16) son el intento de romper el trilema sacando la ejecución de la capa base sin perder su seguridad.</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Estas cinco preguntas son las que se exigen en la justificación del anteproyecto (S6). Conectar con el árbol de decisión de la S1: la pregunta 4 es el paso de 'contra quién'.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Pausa de 5 minutos antes del bloque B si el tiempo va justo.</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Aquí se cambia al deck Actividad-04-El-caso-Estonia-DECK. Antes, dar las láminas 34-35 para conectar la actividad con la teoría de hoy. Conformar los equipos de proyecto si no están ya. 1 minuto.</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Aquí se cambia al deck Actividad-04-El-caso-Estonia-DECK.pptx y se reparte el PDF.</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Después de la pausa. Guardar teléfonos y apuntes antes de repartir. Explicar las reglas de la lámina siguiente y arrancar el reloj: 30 minutos exactos.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El quiz y su clave están en material/evaluaciones/. La clave no se proyecta.</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Últimos 5-8 minutos, con el quiz ya recogido. No se resuelve nada aquí: se explica qué hay, dónde está la guía en PDF y cómo saber que terminaron (32 pruebas en verde).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Repartir el PDF de la guía por el canal del curso. Mostrar esta lámina y las tres siguientes en 5-8 minutos: solo explicar el qué y el porqué, no resolverlo en clase.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El laboratorio ya está construido y probado: 32 pruebas en Python. La solución de referencia produce exactamente 6 y 32 confirmaciones para q=10% y q=30% con la fórmula exacta.</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Insistir: si la sala o el equipo no tiene pytest, la guía trae la instrucción de instalación. Solo depende de Python estándar (hashlib), sin librerías criptográficas externas.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El punto extra es sugerencia; ajustar a la política de participación del docente. La gráfica sale de experimento_dificultad() en consenso.py.</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La pregunta de la semana se retoma en la apertura de la S5. Respuesta esperada: puede impedir la finalidad (más de un tercio) y censurar con propuestas; no puede gastar fondos ajenos ni finalizar historia alternativa sin dos tercios, y arriesga slashing.</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Leer la frase en voz alta y cerrar. Recordar: la próxima sesión abre con las exposiciones de Estonia (5 minutos por equipo) y el laboratorio 04 se trae resuelto. 1 minuto.</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43</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image" Target="../media/image-1-1.png"/><Relationship Id="rId2" Type="http://schemas.openxmlformats.org/officeDocument/2006/relationships/image" Target="../media/image-1-2.png"/><Relationship Id="rId3" Type="http://schemas.openxmlformats.org/officeDocument/2006/relationships/slideLayout" Target="../slideLayouts/slideLayout1.xml"/><Relationship Id="rId4"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image" Target="../media/image-2-1.png"/><Relationship Id="rId2" Type="http://schemas.openxmlformats.org/officeDocument/2006/relationships/slideLayout" Target="../slideLayouts/slideLayout1.xml"/><Relationship Id="rId3"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image" Target="../media/image-3-1.png"/><Relationship Id="rId2" Type="http://schemas.openxmlformats.org/officeDocument/2006/relationships/slideLayout" Target="../slideLayouts/slideLayout1.xml"/><Relationship Id="rId3"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image" Target="../media/image-4-1.png"/><Relationship Id="rId2" Type="http://schemas.openxmlformats.org/officeDocument/2006/relationships/slideLayout" Target="../slideLayouts/slideLayout1.xml"/><Relationship Id="rId3"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image" Target="../media/image-5-1.png"/><Relationship Id="rId2" Type="http://schemas.openxmlformats.org/officeDocument/2006/relationships/slideLayout" Target="../slideLayouts/slideLayout1.xml"/><Relationship Id="rId3"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image" Target="../media/image-6-1.png"/><Relationship Id="rId2" Type="http://schemas.openxmlformats.org/officeDocument/2006/relationships/image" Target="../media/image-6-2.png"/><Relationship Id="rId3" Type="http://schemas.openxmlformats.org/officeDocument/2006/relationships/slideLayout" Target="../slideLayouts/slideLayout1.xml"/><Relationship Id="rId4"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image" Target="../media/image-7-1.png"/><Relationship Id="rId2" Type="http://schemas.openxmlformats.org/officeDocument/2006/relationships/slideLayout" Target="../slideLayouts/slideLayout1.xml"/><Relationship Id="rId3"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image" Target="../media/image-8-1.png"/><Relationship Id="rId2" Type="http://schemas.openxmlformats.org/officeDocument/2006/relationships/image" Target="../media/image-8-2.png"/><Relationship Id="rId3" Type="http://schemas.openxmlformats.org/officeDocument/2006/relationships/slideLayout" Target="../slideLayouts/slideLayout1.xml"/><Relationship Id="rId4"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image" Target="../media/image-9-1.png"/><Relationship Id="rId2" Type="http://schemas.openxmlformats.org/officeDocument/2006/relationships/image" Target="../media/image-9-2.png"/><Relationship Id="rId3" Type="http://schemas.openxmlformats.org/officeDocument/2006/relationships/slideLayout" Target="../slideLayouts/slideLayout1.xml"/><Relationship Id="rId4"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image" Target="../media/image-10-1.png"/><Relationship Id="rId2" Type="http://schemas.openxmlformats.org/officeDocument/2006/relationships/slideLayout" Target="../slideLayouts/slideLayout1.xml"/><Relationship Id="rId3"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image" Target="../media/image-11-1.png"/><Relationship Id="rId2" Type="http://schemas.openxmlformats.org/officeDocument/2006/relationships/slideLayout" Target="../slideLayouts/slideLayout1.xml"/><Relationship Id="rId3"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image" Target="../media/image-12-1.png"/><Relationship Id="rId2" Type="http://schemas.openxmlformats.org/officeDocument/2006/relationships/image" Target="../media/image-12-2.png"/><Relationship Id="rId3" Type="http://schemas.openxmlformats.org/officeDocument/2006/relationships/slideLayout" Target="../slideLayouts/slideLayout1.xml"/><Relationship Id="rId4"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image" Target="../media/image-13-1.png"/><Relationship Id="rId2" Type="http://schemas.openxmlformats.org/officeDocument/2006/relationships/slideLayout" Target="../slideLayouts/slideLayout1.xml"/><Relationship Id="rId3"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image" Target="../media/image-14-1.png"/><Relationship Id="rId2" Type="http://schemas.openxmlformats.org/officeDocument/2006/relationships/slideLayout" Target="../slideLayouts/slideLayout1.xml"/><Relationship Id="rId3" Type="http://schemas.openxmlformats.org/officeDocument/2006/relationships/notesSlide" Target="../notesSlides/notesSlide14.xml"/></Relationships>
</file>

<file path=ppt/slides/_rels/slide15.xml.rels><?xml version="1.0" encoding="UTF-8" standalone="yes"?>
<Relationships xmlns="http://schemas.openxmlformats.org/package/2006/relationships"><Relationship Id="rId1" Type="http://schemas.openxmlformats.org/officeDocument/2006/relationships/image" Target="../media/image-15-1.png"/><Relationship Id="rId2" Type="http://schemas.openxmlformats.org/officeDocument/2006/relationships/image" Target="../media/image-15-2.png"/><Relationship Id="rId3" Type="http://schemas.openxmlformats.org/officeDocument/2006/relationships/slideLayout" Target="../slideLayouts/slideLayout1.xml"/><Relationship Id="rId4" Type="http://schemas.openxmlformats.org/officeDocument/2006/relationships/notesSlide" Target="../notesSlides/notesSlide15.xml"/></Relationships>
</file>

<file path=ppt/slides/_rels/slide16.xml.rels><?xml version="1.0" encoding="UTF-8" standalone="yes"?>
<Relationships xmlns="http://schemas.openxmlformats.org/package/2006/relationships"><Relationship Id="rId1" Type="http://schemas.openxmlformats.org/officeDocument/2006/relationships/image" Target="../media/image-16-1.png"/><Relationship Id="rId2" Type="http://schemas.openxmlformats.org/officeDocument/2006/relationships/slideLayout" Target="../slideLayouts/slideLayout1.xml"/><Relationship Id="rId3" Type="http://schemas.openxmlformats.org/officeDocument/2006/relationships/notesSlide" Target="../notesSlides/notesSlide16.xml"/></Relationships>
</file>

<file path=ppt/slides/_rels/slide17.xml.rels><?xml version="1.0" encoding="UTF-8" standalone="yes"?>
<Relationships xmlns="http://schemas.openxmlformats.org/package/2006/relationships"><Relationship Id="rId1" Type="http://schemas.openxmlformats.org/officeDocument/2006/relationships/image" Target="../media/image-17-1.png"/><Relationship Id="rId2" Type="http://schemas.openxmlformats.org/officeDocument/2006/relationships/slideLayout" Target="../slideLayouts/slideLayout1.xml"/><Relationship Id="rId3" Type="http://schemas.openxmlformats.org/officeDocument/2006/relationships/notesSlide" Target="../notesSlides/notesSlide17.xml"/></Relationships>
</file>

<file path=ppt/slides/_rels/slide18.xml.rels><?xml version="1.0" encoding="UTF-8" standalone="yes"?>
<Relationships xmlns="http://schemas.openxmlformats.org/package/2006/relationships"><Relationship Id="rId1" Type="http://schemas.openxmlformats.org/officeDocument/2006/relationships/image" Target="../media/image-18-1.png"/><Relationship Id="rId2" Type="http://schemas.openxmlformats.org/officeDocument/2006/relationships/image" Target="../media/image-18-2.png"/><Relationship Id="rId3" Type="http://schemas.openxmlformats.org/officeDocument/2006/relationships/slideLayout" Target="../slideLayouts/slideLayout1.xml"/><Relationship Id="rId4" Type="http://schemas.openxmlformats.org/officeDocument/2006/relationships/notesSlide" Target="../notesSlides/notesSlide18.xml"/></Relationships>
</file>

<file path=ppt/slides/_rels/slide19.xml.rels><?xml version="1.0" encoding="UTF-8" standalone="yes"?>
<Relationships xmlns="http://schemas.openxmlformats.org/package/2006/relationships"><Relationship Id="rId1" Type="http://schemas.openxmlformats.org/officeDocument/2006/relationships/image" Target="../media/image-19-1.png"/><Relationship Id="rId2" Type="http://schemas.openxmlformats.org/officeDocument/2006/relationships/slideLayout" Target="../slideLayouts/slideLayout1.xml"/><Relationship Id="rId3" Type="http://schemas.openxmlformats.org/officeDocument/2006/relationships/notesSlide" Target="../notesSlides/notesSlide19.xml"/></Relationships>
</file>

<file path=ppt/slides/_rels/slide20.xml.rels><?xml version="1.0" encoding="UTF-8" standalone="yes"?>
<Relationships xmlns="http://schemas.openxmlformats.org/package/2006/relationships"><Relationship Id="rId1" Type="http://schemas.openxmlformats.org/officeDocument/2006/relationships/image" Target="../media/image-20-1.png"/><Relationship Id="rId2" Type="http://schemas.openxmlformats.org/officeDocument/2006/relationships/image" Target="../media/image-20-2.png"/><Relationship Id="rId3" Type="http://schemas.openxmlformats.org/officeDocument/2006/relationships/slideLayout" Target="../slideLayouts/slideLayout1.xml"/><Relationship Id="rId4" Type="http://schemas.openxmlformats.org/officeDocument/2006/relationships/notesSlide" Target="../notesSlides/notesSlide20.xml"/></Relationships>
</file>

<file path=ppt/slides/_rels/slide21.xml.rels><?xml version="1.0" encoding="UTF-8" standalone="yes"?>
<Relationships xmlns="http://schemas.openxmlformats.org/package/2006/relationships"><Relationship Id="rId1" Type="http://schemas.openxmlformats.org/officeDocument/2006/relationships/image" Target="../media/image-21-1.png"/><Relationship Id="rId2" Type="http://schemas.openxmlformats.org/officeDocument/2006/relationships/image" Target="../media/image-21-2.png"/><Relationship Id="rId3" Type="http://schemas.openxmlformats.org/officeDocument/2006/relationships/slideLayout" Target="../slideLayouts/slideLayout1.xml"/><Relationship Id="rId4" Type="http://schemas.openxmlformats.org/officeDocument/2006/relationships/notesSlide" Target="../notesSlides/notesSlide21.xml"/></Relationships>
</file>

<file path=ppt/slides/_rels/slide22.xml.rels><?xml version="1.0" encoding="UTF-8" standalone="yes"?>
<Relationships xmlns="http://schemas.openxmlformats.org/package/2006/relationships"><Relationship Id="rId1" Type="http://schemas.openxmlformats.org/officeDocument/2006/relationships/image" Target="../media/image-22-1.png"/><Relationship Id="rId2" Type="http://schemas.openxmlformats.org/officeDocument/2006/relationships/slideLayout" Target="../slideLayouts/slideLayout1.xml"/><Relationship Id="rId3" Type="http://schemas.openxmlformats.org/officeDocument/2006/relationships/notesSlide" Target="../notesSlides/notesSlide22.xml"/></Relationships>
</file>

<file path=ppt/slides/_rels/slide23.xml.rels><?xml version="1.0" encoding="UTF-8" standalone="yes"?>
<Relationships xmlns="http://schemas.openxmlformats.org/package/2006/relationships"><Relationship Id="rId1" Type="http://schemas.openxmlformats.org/officeDocument/2006/relationships/image" Target="../media/image-23-1.png"/><Relationship Id="rId2" Type="http://schemas.openxmlformats.org/officeDocument/2006/relationships/slideLayout" Target="../slideLayouts/slideLayout1.xml"/><Relationship Id="rId3" Type="http://schemas.openxmlformats.org/officeDocument/2006/relationships/notesSlide" Target="../notesSlides/notesSlide23.xml"/></Relationships>
</file>

<file path=ppt/slides/_rels/slide24.xml.rels><?xml version="1.0" encoding="UTF-8" standalone="yes"?>
<Relationships xmlns="http://schemas.openxmlformats.org/package/2006/relationships"><Relationship Id="rId1" Type="http://schemas.openxmlformats.org/officeDocument/2006/relationships/image" Target="../media/image-24-1.png"/><Relationship Id="rId2" Type="http://schemas.openxmlformats.org/officeDocument/2006/relationships/image" Target="../media/image-24-2.png"/><Relationship Id="rId3" Type="http://schemas.openxmlformats.org/officeDocument/2006/relationships/slideLayout" Target="../slideLayouts/slideLayout1.xml"/><Relationship Id="rId4" Type="http://schemas.openxmlformats.org/officeDocument/2006/relationships/notesSlide" Target="../notesSlides/notesSlide24.xml"/></Relationships>
</file>

<file path=ppt/slides/_rels/slide25.xml.rels><?xml version="1.0" encoding="UTF-8" standalone="yes"?>
<Relationships xmlns="http://schemas.openxmlformats.org/package/2006/relationships"><Relationship Id="rId1" Type="http://schemas.openxmlformats.org/officeDocument/2006/relationships/image" Target="../media/image-25-1.png"/><Relationship Id="rId2" Type="http://schemas.openxmlformats.org/officeDocument/2006/relationships/image" Target="../media/image-25-2.png"/><Relationship Id="rId3" Type="http://schemas.openxmlformats.org/officeDocument/2006/relationships/slideLayout" Target="../slideLayouts/slideLayout1.xml"/><Relationship Id="rId4" Type="http://schemas.openxmlformats.org/officeDocument/2006/relationships/notesSlide" Target="../notesSlides/notesSlide25.xml"/></Relationships>
</file>

<file path=ppt/slides/_rels/slide26.xml.rels><?xml version="1.0" encoding="UTF-8" standalone="yes"?>
<Relationships xmlns="http://schemas.openxmlformats.org/package/2006/relationships"><Relationship Id="rId1" Type="http://schemas.openxmlformats.org/officeDocument/2006/relationships/image" Target="../media/image-26-1.png"/><Relationship Id="rId2" Type="http://schemas.openxmlformats.org/officeDocument/2006/relationships/slideLayout" Target="../slideLayouts/slideLayout1.xml"/><Relationship Id="rId3" Type="http://schemas.openxmlformats.org/officeDocument/2006/relationships/notesSlide" Target="../notesSlides/notesSlide26.xml"/></Relationships>
</file>

<file path=ppt/slides/_rels/slide27.xml.rels><?xml version="1.0" encoding="UTF-8" standalone="yes"?>
<Relationships xmlns="http://schemas.openxmlformats.org/package/2006/relationships"><Relationship Id="rId1" Type="http://schemas.openxmlformats.org/officeDocument/2006/relationships/image" Target="../media/image-27-1.png"/><Relationship Id="rId2" Type="http://schemas.openxmlformats.org/officeDocument/2006/relationships/image" Target="../media/image-27-2.png"/><Relationship Id="rId3" Type="http://schemas.openxmlformats.org/officeDocument/2006/relationships/slideLayout" Target="../slideLayouts/slideLayout1.xml"/><Relationship Id="rId4" Type="http://schemas.openxmlformats.org/officeDocument/2006/relationships/notesSlide" Target="../notesSlides/notesSlide27.xml"/></Relationships>
</file>

<file path=ppt/slides/_rels/slide28.xml.rels><?xml version="1.0" encoding="UTF-8" standalone="yes"?>
<Relationships xmlns="http://schemas.openxmlformats.org/package/2006/relationships"><Relationship Id="rId1" Type="http://schemas.openxmlformats.org/officeDocument/2006/relationships/image" Target="../media/image-28-1.png"/><Relationship Id="rId2" Type="http://schemas.openxmlformats.org/officeDocument/2006/relationships/slideLayout" Target="../slideLayouts/slideLayout1.xml"/><Relationship Id="rId3" Type="http://schemas.openxmlformats.org/officeDocument/2006/relationships/notesSlide" Target="../notesSlides/notesSlide28.xml"/></Relationships>
</file>

<file path=ppt/slides/_rels/slide29.xml.rels><?xml version="1.0" encoding="UTF-8" standalone="yes"?>
<Relationships xmlns="http://schemas.openxmlformats.org/package/2006/relationships"><Relationship Id="rId1" Type="http://schemas.openxmlformats.org/officeDocument/2006/relationships/image" Target="../media/image-29-1.png"/><Relationship Id="rId2" Type="http://schemas.openxmlformats.org/officeDocument/2006/relationships/image" Target="../media/image-29-2.png"/><Relationship Id="rId3" Type="http://schemas.openxmlformats.org/officeDocument/2006/relationships/slideLayout" Target="../slideLayouts/slideLayout1.xml"/><Relationship Id="rId4" Type="http://schemas.openxmlformats.org/officeDocument/2006/relationships/notesSlide" Target="../notesSlides/notesSlide29.xml"/></Relationships>
</file>

<file path=ppt/slides/_rels/slide30.xml.rels><?xml version="1.0" encoding="UTF-8" standalone="yes"?>
<Relationships xmlns="http://schemas.openxmlformats.org/package/2006/relationships"><Relationship Id="rId1" Type="http://schemas.openxmlformats.org/officeDocument/2006/relationships/image" Target="../media/image-30-1.png"/><Relationship Id="rId2" Type="http://schemas.openxmlformats.org/officeDocument/2006/relationships/slideLayout" Target="../slideLayouts/slideLayout1.xml"/><Relationship Id="rId3" Type="http://schemas.openxmlformats.org/officeDocument/2006/relationships/notesSlide" Target="../notesSlides/notesSlide30.xml"/></Relationships>
</file>

<file path=ppt/slides/_rels/slide31.xml.rels><?xml version="1.0" encoding="UTF-8" standalone="yes"?>
<Relationships xmlns="http://schemas.openxmlformats.org/package/2006/relationships"><Relationship Id="rId1" Type="http://schemas.openxmlformats.org/officeDocument/2006/relationships/image" Target="../media/image-31-1.png"/><Relationship Id="rId2" Type="http://schemas.openxmlformats.org/officeDocument/2006/relationships/slideLayout" Target="../slideLayouts/slideLayout1.xml"/><Relationship Id="rId3" Type="http://schemas.openxmlformats.org/officeDocument/2006/relationships/notesSlide" Target="../notesSlides/notesSlide31.xml"/></Relationships>
</file>

<file path=ppt/slides/_rels/slide32.xml.rels><?xml version="1.0" encoding="UTF-8" standalone="yes"?>
<Relationships xmlns="http://schemas.openxmlformats.org/package/2006/relationships"><Relationship Id="rId1" Type="http://schemas.openxmlformats.org/officeDocument/2006/relationships/image" Target="../media/image-32-1.png"/><Relationship Id="rId2" Type="http://schemas.openxmlformats.org/officeDocument/2006/relationships/slideLayout" Target="../slideLayouts/slideLayout1.xml"/><Relationship Id="rId3" Type="http://schemas.openxmlformats.org/officeDocument/2006/relationships/notesSlide" Target="../notesSlides/notesSlide32.xml"/></Relationships>
</file>

<file path=ppt/slides/_rels/slide33.xml.rels><?xml version="1.0" encoding="UTF-8" standalone="yes"?>
<Relationships xmlns="http://schemas.openxmlformats.org/package/2006/relationships"><Relationship Id="rId1" Type="http://schemas.openxmlformats.org/officeDocument/2006/relationships/image" Target="../media/image-33-1.png"/><Relationship Id="rId2" Type="http://schemas.openxmlformats.org/officeDocument/2006/relationships/slideLayout" Target="../slideLayouts/slideLayout1.xml"/><Relationship Id="rId3" Type="http://schemas.openxmlformats.org/officeDocument/2006/relationships/notesSlide" Target="../notesSlides/notesSlide33.xml"/></Relationships>
</file>

<file path=ppt/slides/_rels/slide34.xml.rels><?xml version="1.0" encoding="UTF-8" standalone="yes"?>
<Relationships xmlns="http://schemas.openxmlformats.org/package/2006/relationships"><Relationship Id="rId1" Type="http://schemas.openxmlformats.org/officeDocument/2006/relationships/image" Target="../media/image-34-1.png"/><Relationship Id="rId2" Type="http://schemas.openxmlformats.org/officeDocument/2006/relationships/image" Target="../media/image-34-2.png"/><Relationship Id="rId3" Type="http://schemas.openxmlformats.org/officeDocument/2006/relationships/slideLayout" Target="../slideLayouts/slideLayout1.xml"/><Relationship Id="rId4" Type="http://schemas.openxmlformats.org/officeDocument/2006/relationships/notesSlide" Target="../notesSlides/notesSlide34.xml"/></Relationships>
</file>

<file path=ppt/slides/_rels/slide35.xml.rels><?xml version="1.0" encoding="UTF-8" standalone="yes"?>
<Relationships xmlns="http://schemas.openxmlformats.org/package/2006/relationships"><Relationship Id="rId1" Type="http://schemas.openxmlformats.org/officeDocument/2006/relationships/image" Target="../media/image-35-1.png"/><Relationship Id="rId2" Type="http://schemas.openxmlformats.org/officeDocument/2006/relationships/slideLayout" Target="../slideLayouts/slideLayout1.xml"/><Relationship Id="rId3" Type="http://schemas.openxmlformats.org/officeDocument/2006/relationships/notesSlide" Target="../notesSlides/notesSlide35.xml"/></Relationships>
</file>

<file path=ppt/slides/_rels/slide36.xml.rels><?xml version="1.0" encoding="UTF-8" standalone="yes"?>
<Relationships xmlns="http://schemas.openxmlformats.org/package/2006/relationships"><Relationship Id="rId1" Type="http://schemas.openxmlformats.org/officeDocument/2006/relationships/image" Target="../media/image-36-1.png"/><Relationship Id="rId2" Type="http://schemas.openxmlformats.org/officeDocument/2006/relationships/slideLayout" Target="../slideLayouts/slideLayout1.xml"/><Relationship Id="rId3" Type="http://schemas.openxmlformats.org/officeDocument/2006/relationships/notesSlide" Target="../notesSlides/notesSlide36.xml"/></Relationships>
</file>

<file path=ppt/slides/_rels/slide37.xml.rels><?xml version="1.0" encoding="UTF-8" standalone="yes"?>
<Relationships xmlns="http://schemas.openxmlformats.org/package/2006/relationships"><Relationship Id="rId1" Type="http://schemas.openxmlformats.org/officeDocument/2006/relationships/image" Target="../media/image-37-1.png"/><Relationship Id="rId2" Type="http://schemas.openxmlformats.org/officeDocument/2006/relationships/slideLayout" Target="../slideLayouts/slideLayout1.xml"/><Relationship Id="rId3" Type="http://schemas.openxmlformats.org/officeDocument/2006/relationships/notesSlide" Target="../notesSlides/notesSlide37.xml"/></Relationships>
</file>

<file path=ppt/slides/_rels/slide38.xml.rels><?xml version="1.0" encoding="UTF-8" standalone="yes"?>
<Relationships xmlns="http://schemas.openxmlformats.org/package/2006/relationships"><Relationship Id="rId1" Type="http://schemas.openxmlformats.org/officeDocument/2006/relationships/image" Target="../media/image-38-1.png"/><Relationship Id="rId2" Type="http://schemas.openxmlformats.org/officeDocument/2006/relationships/image" Target="../media/image-38-2.png"/><Relationship Id="rId3" Type="http://schemas.openxmlformats.org/officeDocument/2006/relationships/slideLayout" Target="../slideLayouts/slideLayout1.xml"/><Relationship Id="rId4" Type="http://schemas.openxmlformats.org/officeDocument/2006/relationships/notesSlide" Target="../notesSlides/notesSlide38.xml"/></Relationships>
</file>

<file path=ppt/slides/_rels/slide39.xml.rels><?xml version="1.0" encoding="UTF-8" standalone="yes"?>
<Relationships xmlns="http://schemas.openxmlformats.org/package/2006/relationships"><Relationship Id="rId1" Type="http://schemas.openxmlformats.org/officeDocument/2006/relationships/image" Target="../media/image-39-1.png"/><Relationship Id="rId2" Type="http://schemas.openxmlformats.org/officeDocument/2006/relationships/image" Target="../media/image-39-2.png"/><Relationship Id="rId3" Type="http://schemas.openxmlformats.org/officeDocument/2006/relationships/slideLayout" Target="../slideLayouts/slideLayout1.xml"/><Relationship Id="rId4" Type="http://schemas.openxmlformats.org/officeDocument/2006/relationships/notesSlide" Target="../notesSlides/notesSlide39.xml"/></Relationships>
</file>

<file path=ppt/slides/_rels/slide40.xml.rels><?xml version="1.0" encoding="UTF-8" standalone="yes"?>
<Relationships xmlns="http://schemas.openxmlformats.org/package/2006/relationships"><Relationship Id="rId1" Type="http://schemas.openxmlformats.org/officeDocument/2006/relationships/image" Target="../media/image-40-1.png"/><Relationship Id="rId2" Type="http://schemas.openxmlformats.org/officeDocument/2006/relationships/image" Target="../media/image-40-2.png"/><Relationship Id="rId3" Type="http://schemas.openxmlformats.org/officeDocument/2006/relationships/slideLayout" Target="../slideLayouts/slideLayout1.xml"/><Relationship Id="rId4" Type="http://schemas.openxmlformats.org/officeDocument/2006/relationships/notesSlide" Target="../notesSlides/notesSlide40.xml"/></Relationships>
</file>

<file path=ppt/slides/_rels/slide41.xml.rels><?xml version="1.0" encoding="UTF-8" standalone="yes"?>
<Relationships xmlns="http://schemas.openxmlformats.org/package/2006/relationships"><Relationship Id="rId1" Type="http://schemas.openxmlformats.org/officeDocument/2006/relationships/image" Target="../media/image-41-1.png"/><Relationship Id="rId2" Type="http://schemas.openxmlformats.org/officeDocument/2006/relationships/image" Target="../media/image-41-2.png"/><Relationship Id="rId3" Type="http://schemas.openxmlformats.org/officeDocument/2006/relationships/slideLayout" Target="../slideLayouts/slideLayout1.xml"/><Relationship Id="rId4" Type="http://schemas.openxmlformats.org/officeDocument/2006/relationships/notesSlide" Target="../notesSlides/notesSlide41.xml"/></Relationships>
</file>

<file path=ppt/slides/_rels/slide42.xml.rels><?xml version="1.0" encoding="UTF-8" standalone="yes"?>
<Relationships xmlns="http://schemas.openxmlformats.org/package/2006/relationships"><Relationship Id="rId1" Type="http://schemas.openxmlformats.org/officeDocument/2006/relationships/image" Target="../media/image-42-1.png"/><Relationship Id="rId2" Type="http://schemas.openxmlformats.org/officeDocument/2006/relationships/slideLayout" Target="../slideLayouts/slideLayout1.xml"/><Relationship Id="rId3" Type="http://schemas.openxmlformats.org/officeDocument/2006/relationships/notesSlide" Target="../notesSlides/notesSlide42.xml"/></Relationships>
</file>

<file path=ppt/slides/_rels/slide43.xml.rels><?xml version="1.0" encoding="UTF-8" standalone="yes"?>
<Relationships xmlns="http://schemas.openxmlformats.org/package/2006/relationships"><Relationship Id="rId1" Type="http://schemas.openxmlformats.org/officeDocument/2006/relationships/image" Target="../media/image-43-1.png"/><Relationship Id="rId2" Type="http://schemas.openxmlformats.org/officeDocument/2006/relationships/slideLayout" Target="../slideLayouts/slideLayout1.xml"/><Relationship Id="rId3" Type="http://schemas.openxmlformats.org/officeDocument/2006/relationships/notesSlide" Target="../notesSlides/notesSlide43.xml"/></Relationships>
</file>

<file path=ppt/slides/slide1.xml><?xml version="1.0" encoding="utf-8"?>
<p:sld xmlns:a="http://schemas.openxmlformats.org/drawingml/2006/main" xmlns:r="http://schemas.openxmlformats.org/officeDocument/2006/relationships" xmlns:p="http://schemas.openxmlformats.org/presentationml/2006/main">
  <p:cSld name="Slide 1">
    <p:bg>
      <p:bgPr>
        <a:solidFill>
          <a:srgbClr val="0F0F11"/>
        </a:solidFill>
      </p:bgPr>
    </p:bg>
    <p:spTree>
      <p:nvGrpSpPr>
        <p:cNvPr id="1" name=""/>
        <p:cNvGrpSpPr/>
        <p:nvPr/>
      </p:nvGrpSpPr>
      <p:grpSpPr>
        <a:xfrm>
          <a:off x="0" y="0"/>
          <a:ext cx="0" cy="0"/>
          <a:chOff x="0" y="0"/>
          <a:chExt cx="0" cy="0"/>
        </a:xfrm>
      </p:grpSpPr>
      <p:sp>
        <p:nvSpPr>
          <p:cNvPr id="2" name="Shape 0"/>
          <p:cNvSpPr/>
          <p:nvPr/>
        </p:nvSpPr>
        <p:spPr>
          <a:xfrm>
            <a:off x="0" y="0"/>
            <a:ext cx="3749040" cy="6858000"/>
          </a:xfrm>
          <a:prstGeom prst="rect">
            <a:avLst/>
          </a:prstGeom>
          <a:solidFill>
            <a:srgbClr val="F07F06"/>
          </a:solidFill>
          <a:ln w="12700">
            <a:solidFill>
              <a:srgbClr val="333333"/>
            </a:solidFill>
            <a:prstDash val="solid"/>
          </a:ln>
        </p:spPr>
      </p:sp>
      <p:pic>
        <p:nvPicPr>
          <p:cNvPr id="3" name="Image 0" descr="preencoded.png">    </p:cNvPr>
          <p:cNvPicPr>
            <a:picLocks noChangeAspect="1"/>
          </p:cNvPicPr>
          <p:nvPr/>
        </p:nvPicPr>
        <p:blipFill>
          <a:blip r:embed="rId1"/>
          <a:stretch>
            <a:fillRect/>
          </a:stretch>
        </p:blipFill>
        <p:spPr>
          <a:xfrm>
            <a:off x="1234440" y="2331720"/>
            <a:ext cx="1280160" cy="1280160"/>
          </a:xfrm>
          <a:prstGeom prst="rect">
            <a:avLst/>
          </a:prstGeom>
        </p:spPr>
      </p:pic>
      <p:sp>
        <p:nvSpPr>
          <p:cNvPr id="4" name="Text 1"/>
          <p:cNvSpPr/>
          <p:nvPr/>
        </p:nvSpPr>
        <p:spPr>
          <a:xfrm>
            <a:off x="137160" y="3794760"/>
            <a:ext cx="3474720" cy="640080"/>
          </a:xfrm>
          <a:prstGeom prst="rect">
            <a:avLst/>
          </a:prstGeom>
          <a:noFill/>
          <a:ln/>
        </p:spPr>
        <p:txBody>
          <a:bodyPr wrap="square" lIns="0" tIns="0" rIns="0" bIns="0" rtlCol="0" anchor="ctr"/>
          <a:lstStyle/>
          <a:p>
            <a:pPr algn="ctr" indent="0" marL="0">
              <a:buNone/>
            </a:pPr>
            <a:r>
              <a:rPr lang="en-US" sz="2700" dirty="0">
                <a:solidFill>
                  <a:srgbClr val="0F0F11"/>
                </a:solidFill>
                <a:latin typeface="Arial Black" pitchFamily="34" charset="0"/>
                <a:ea typeface="Arial Black" pitchFamily="34" charset="-122"/>
                <a:cs typeface="Arial Black" pitchFamily="34" charset="-120"/>
              </a:rPr>
              <a:t>ACORDAR</a:t>
            </a:r>
            <a:endParaRPr lang="en-US" sz="2700" dirty="0"/>
          </a:p>
        </p:txBody>
      </p:sp>
      <p:pic>
        <p:nvPicPr>
          <p:cNvPr id="5" name="Image 1" descr="preencoded.png">    </p:cNvPr>
          <p:cNvPicPr>
            <a:picLocks noChangeAspect="1"/>
          </p:cNvPicPr>
          <p:nvPr/>
        </p:nvPicPr>
        <p:blipFill>
          <a:blip r:embed="rId2"/>
          <a:stretch>
            <a:fillRect/>
          </a:stretch>
        </p:blipFill>
        <p:spPr>
          <a:xfrm>
            <a:off x="4389120" y="1115568"/>
            <a:ext cx="310896" cy="310896"/>
          </a:xfrm>
          <a:prstGeom prst="rect">
            <a:avLst/>
          </a:prstGeom>
        </p:spPr>
      </p:pic>
      <p:sp>
        <p:nvSpPr>
          <p:cNvPr id="6" name="Text 2"/>
          <p:cNvSpPr/>
          <p:nvPr/>
        </p:nvSpPr>
        <p:spPr>
          <a:xfrm>
            <a:off x="4809744" y="1097280"/>
            <a:ext cx="6858000" cy="347472"/>
          </a:xfrm>
          <a:prstGeom prst="rect">
            <a:avLst/>
          </a:prstGeom>
          <a:noFill/>
          <a:ln/>
        </p:spPr>
        <p:txBody>
          <a:bodyPr wrap="square" lIns="0" tIns="0" rIns="0" bIns="0" rtlCol="0" anchor="ctr"/>
          <a:lstStyle/>
          <a:p>
            <a:pPr indent="0" marL="0">
              <a:buNone/>
            </a:pPr>
            <a:r>
              <a:rPr lang="en-US" sz="1050" spc="150" kern="0" dirty="0">
                <a:solidFill>
                  <a:srgbClr val="F07F06"/>
                </a:solidFill>
                <a:latin typeface="Courier New" pitchFamily="34" charset="0"/>
                <a:ea typeface="Courier New" pitchFamily="34" charset="-122"/>
                <a:cs typeface="Courier New" pitchFamily="34" charset="-120"/>
              </a:rPr>
              <a:t>SESIÓN 04 · UNIDAD I · FUNDAMENTOS</a:t>
            </a:r>
            <a:endParaRPr lang="en-US" sz="1050" dirty="0"/>
          </a:p>
        </p:txBody>
      </p:sp>
      <p:sp>
        <p:nvSpPr>
          <p:cNvPr id="7" name="Text 3"/>
          <p:cNvSpPr/>
          <p:nvPr/>
        </p:nvSpPr>
        <p:spPr>
          <a:xfrm>
            <a:off x="4389120" y="1719072"/>
            <a:ext cx="7269480" cy="2377440"/>
          </a:xfrm>
          <a:prstGeom prst="rect">
            <a:avLst/>
          </a:prstGeom>
          <a:noFill/>
          <a:ln/>
        </p:spPr>
        <p:txBody>
          <a:bodyPr wrap="square" lIns="0" tIns="0" rIns="0" bIns="0" rtlCol="0" anchor="t"/>
          <a:lstStyle/>
          <a:p>
            <a:pPr indent="0" marL="0">
              <a:lnSpc>
                <a:spcPct val="98000"/>
              </a:lnSpc>
              <a:buNone/>
            </a:pPr>
            <a:r>
              <a:rPr lang="en-US" sz="3800" dirty="0">
                <a:solidFill>
                  <a:srgbClr val="FFFFFF"/>
                </a:solidFill>
                <a:latin typeface="Arial Black" pitchFamily="34" charset="0"/>
                <a:ea typeface="Arial Black" pitchFamily="34" charset="-122"/>
                <a:cs typeface="Arial Black" pitchFamily="34" charset="-120"/>
              </a:rPr>
              <a:t>CONSENSO,</a:t>
            </a:r>
            <a:endParaRPr lang="en-US" sz="3800" dirty="0"/>
          </a:p>
          <a:p>
            <a:pPr indent="0" marL="0">
              <a:lnSpc>
                <a:spcPct val="98000"/>
              </a:lnSpc>
              <a:buNone/>
            </a:pPr>
            <a:r>
              <a:rPr lang="en-US" sz="3800" dirty="0">
                <a:solidFill>
                  <a:srgbClr val="FFFFFF"/>
                </a:solidFill>
                <a:latin typeface="Arial Black" pitchFamily="34" charset="0"/>
                <a:ea typeface="Arial Black" pitchFamily="34" charset="-122"/>
                <a:cs typeface="Arial Black" pitchFamily="34" charset="-120"/>
              </a:rPr>
              <a:t>INCENTIVOS</a:t>
            </a:r>
            <a:endParaRPr lang="en-US" sz="3800" dirty="0"/>
          </a:p>
          <a:p>
            <a:pPr indent="0" marL="0">
              <a:lnSpc>
                <a:spcPct val="98000"/>
              </a:lnSpc>
              <a:buNone/>
            </a:pPr>
            <a:r>
              <a:rPr lang="en-US" sz="3800" dirty="0">
                <a:solidFill>
                  <a:srgbClr val="FFFFFF"/>
                </a:solidFill>
                <a:latin typeface="Arial Black" pitchFamily="34" charset="0"/>
                <a:ea typeface="Arial Black" pitchFamily="34" charset="-122"/>
                <a:cs typeface="Arial Black" pitchFamily="34" charset="-120"/>
              </a:rPr>
              <a:t>Y EL TRILEMA</a:t>
            </a:r>
            <a:endParaRPr lang="en-US" sz="3800" dirty="0"/>
          </a:p>
        </p:txBody>
      </p:sp>
      <p:sp>
        <p:nvSpPr>
          <p:cNvPr id="8" name="Text 4"/>
          <p:cNvSpPr/>
          <p:nvPr/>
        </p:nvSpPr>
        <p:spPr>
          <a:xfrm>
            <a:off x="4389120" y="4224528"/>
            <a:ext cx="7269480" cy="685800"/>
          </a:xfrm>
          <a:prstGeom prst="rect">
            <a:avLst/>
          </a:prstGeom>
          <a:noFill/>
          <a:ln/>
        </p:spPr>
        <p:txBody>
          <a:bodyPr wrap="square" lIns="0" tIns="0" rIns="0" bIns="0" rtlCol="0" anchor="t"/>
          <a:lstStyle/>
          <a:p>
            <a:pPr indent="0" marL="0">
              <a:lnSpc>
                <a:spcPct val="120000"/>
              </a:lnSpc>
              <a:buNone/>
            </a:pPr>
            <a:r>
              <a:rPr lang="en-US" sz="1500" dirty="0">
                <a:solidFill>
                  <a:srgbClr val="B9B4C4"/>
                </a:solidFill>
                <a:latin typeface="Arial" pitchFamily="34" charset="0"/>
                <a:ea typeface="Arial" pitchFamily="34" charset="-122"/>
                <a:cs typeface="Arial" pitchFamily="34" charset="-120"/>
              </a:rPr>
              <a:t>Mil computadores que no se conocen, que no confían entre sí y que tienen que ponerse de acuerdo en un solo orden de los hechos.</a:t>
            </a:r>
            <a:endParaRPr lang="en-US" sz="1500" dirty="0"/>
          </a:p>
        </p:txBody>
      </p:sp>
      <p:sp>
        <p:nvSpPr>
          <p:cNvPr id="9" name="Text 5"/>
          <p:cNvSpPr/>
          <p:nvPr/>
        </p:nvSpPr>
        <p:spPr>
          <a:xfrm>
            <a:off x="4389120" y="5120640"/>
            <a:ext cx="7269480" cy="731520"/>
          </a:xfrm>
          <a:prstGeom prst="rect">
            <a:avLst/>
          </a:prstGeom>
          <a:noFill/>
          <a:ln/>
        </p:spPr>
        <p:txBody>
          <a:bodyPr wrap="square" lIns="0" tIns="0" rIns="0" bIns="0" rtlCol="0" anchor="t"/>
          <a:lstStyle/>
          <a:p>
            <a:pPr indent="0" marL="0">
              <a:lnSpc>
                <a:spcPct val="125000"/>
              </a:lnSpc>
              <a:buNone/>
            </a:pPr>
            <a:r>
              <a:rPr lang="en-US" sz="1300" dirty="0">
                <a:solidFill>
                  <a:srgbClr val="8B8697"/>
                </a:solidFill>
                <a:latin typeface="Arial" pitchFamily="34" charset="0"/>
                <a:ea typeface="Arial" pitchFamily="34" charset="-122"/>
                <a:cs typeface="Arial" pitchFamily="34" charset="-120"/>
              </a:rPr>
              <a:t>Blockchain y Web 3.0 · Ingeniería de Sistemas</a:t>
            </a:r>
            <a:endParaRPr lang="en-US" sz="1300" dirty="0"/>
          </a:p>
          <a:p>
            <a:pPr indent="0" marL="0">
              <a:lnSpc>
                <a:spcPct val="125000"/>
              </a:lnSpc>
              <a:buNone/>
            </a:pPr>
            <a:r>
              <a:rPr lang="en-US" sz="1300" dirty="0">
                <a:solidFill>
                  <a:srgbClr val="8B8697"/>
                </a:solidFill>
                <a:latin typeface="Arial" pitchFamily="34" charset="0"/>
                <a:ea typeface="Arial" pitchFamily="34" charset="-122"/>
                <a:cs typeface="Arial" pitchFamily="34" charset="-120"/>
              </a:rPr>
              <a:t>Universidad de San Buenaventura Medellín</a:t>
            </a:r>
            <a:endParaRPr lang="en-US" sz="130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bg>
      <p:bgPr>
        <a:solidFill>
          <a:srgbClr val="FFFFFF"/>
        </a:solidFill>
      </p:bgPr>
    </p:bg>
    <p:spTree>
      <p:nvGrpSpPr>
        <p:cNvPr id="1" name=""/>
        <p:cNvGrpSpPr/>
        <p:nvPr/>
      </p:nvGrpSpPr>
      <p:grpSpPr>
        <a:xfrm>
          <a:off x="0" y="0"/>
          <a:ext cx="0" cy="0"/>
          <a:chOff x="0" y="0"/>
          <a:chExt cx="0" cy="0"/>
        </a:xfrm>
      </p:grpSpPr>
      <p:pic>
        <p:nvPicPr>
          <p:cNvPr id="2" name="Image 0" descr="preencoded.png">    </p:cNvPr>
          <p:cNvPicPr>
            <a:picLocks noChangeAspect="1"/>
          </p:cNvPicPr>
          <p:nvPr/>
        </p:nvPicPr>
        <p:blipFill>
          <a:blip r:embed="rId1"/>
          <a:stretch>
            <a:fillRect/>
          </a:stretch>
        </p:blipFill>
        <p:spPr>
          <a:xfrm>
            <a:off x="566928" y="402336"/>
            <a:ext cx="274320" cy="274320"/>
          </a:xfrm>
          <a:prstGeom prst="rect">
            <a:avLst/>
          </a:prstGeom>
        </p:spPr>
      </p:pic>
      <p:sp>
        <p:nvSpPr>
          <p:cNvPr id="3" name="Text 0"/>
          <p:cNvSpPr/>
          <p:nvPr/>
        </p:nvSpPr>
        <p:spPr>
          <a:xfrm>
            <a:off x="969264" y="384048"/>
            <a:ext cx="10655503" cy="310896"/>
          </a:xfrm>
          <a:prstGeom prst="rect">
            <a:avLst/>
          </a:prstGeom>
          <a:noFill/>
          <a:ln/>
        </p:spPr>
        <p:txBody>
          <a:bodyPr wrap="square" lIns="0" tIns="0" rIns="0" bIns="0" rtlCol="0" anchor="ctr"/>
          <a:lstStyle/>
          <a:p>
            <a:pPr indent="0" marL="0">
              <a:buNone/>
            </a:pPr>
            <a:r>
              <a:rPr lang="en-US" sz="950" spc="160" kern="0" dirty="0">
                <a:solidFill>
                  <a:srgbClr val="6F6B80"/>
                </a:solidFill>
                <a:latin typeface="Courier New" pitchFamily="34" charset="0"/>
                <a:ea typeface="Courier New" pitchFamily="34" charset="-122"/>
                <a:cs typeface="Courier New" pitchFamily="34" charset="-120"/>
              </a:rPr>
              <a:t>LO DE HOY</a:t>
            </a:r>
            <a:endParaRPr lang="en-US" sz="950" dirty="0"/>
          </a:p>
        </p:txBody>
      </p:sp>
      <p:sp>
        <p:nvSpPr>
          <p:cNvPr id="4" name="Text 1"/>
          <p:cNvSpPr/>
          <p:nvPr/>
        </p:nvSpPr>
        <p:spPr>
          <a:xfrm>
            <a:off x="566928" y="777240"/>
            <a:ext cx="11057839" cy="777240"/>
          </a:xfrm>
          <a:prstGeom prst="rect">
            <a:avLst/>
          </a:prstGeom>
          <a:noFill/>
          <a:ln/>
        </p:spPr>
        <p:txBody>
          <a:bodyPr wrap="square" lIns="0" tIns="0" rIns="0" bIns="0" rtlCol="0" anchor="t"/>
          <a:lstStyle/>
          <a:p>
            <a:pPr indent="0" marL="0">
              <a:lnSpc>
                <a:spcPct val="92000"/>
              </a:lnSpc>
              <a:buNone/>
            </a:pPr>
            <a:r>
              <a:rPr lang="en-US" sz="2800" dirty="0">
                <a:solidFill>
                  <a:srgbClr val="0F0F11"/>
                </a:solidFill>
                <a:latin typeface="Arial Black" pitchFamily="34" charset="0"/>
                <a:ea typeface="Arial Black" pitchFamily="34" charset="-122"/>
                <a:cs typeface="Arial Black" pitchFamily="34" charset="-120"/>
              </a:rPr>
              <a:t>CÓMO VAMOS A USAR LAS TRES HORAS</a:t>
            </a:r>
            <a:endParaRPr lang="en-US" sz="2800" dirty="0"/>
          </a:p>
        </p:txBody>
      </p:sp>
      <p:sp>
        <p:nvSpPr>
          <p:cNvPr id="5" name="Text 2"/>
          <p:cNvSpPr/>
          <p:nvPr/>
        </p:nvSpPr>
        <p:spPr>
          <a:xfrm>
            <a:off x="566928" y="6291072"/>
            <a:ext cx="8412480" cy="274320"/>
          </a:xfrm>
          <a:prstGeom prst="rect">
            <a:avLst/>
          </a:prstGeom>
          <a:noFill/>
          <a:ln/>
        </p:spPr>
        <p:txBody>
          <a:bodyPr wrap="square" lIns="0" tIns="0" rIns="0" bIns="0" rtlCol="0" anchor="ctr"/>
          <a:lstStyle/>
          <a:p>
            <a:pPr indent="0" marL="0">
              <a:buNone/>
            </a:pPr>
            <a:r>
              <a:rPr lang="en-US" sz="800" spc="120" kern="0" dirty="0">
                <a:solidFill>
                  <a:srgbClr val="6F6B80"/>
                </a:solidFill>
                <a:latin typeface="Courier New" pitchFamily="34" charset="0"/>
                <a:ea typeface="Courier New" pitchFamily="34" charset="-122"/>
                <a:cs typeface="Courier New" pitchFamily="34" charset="-120"/>
              </a:rPr>
              <a:t>SESIÓN 04 · CONSENSO, INCENTIVOS Y EL TRILEMA</a:t>
            </a:r>
            <a:endParaRPr lang="en-US" sz="800" dirty="0"/>
          </a:p>
        </p:txBody>
      </p:sp>
      <p:sp>
        <p:nvSpPr>
          <p:cNvPr id="6" name="Text 3"/>
          <p:cNvSpPr/>
          <p:nvPr/>
        </p:nvSpPr>
        <p:spPr>
          <a:xfrm>
            <a:off x="9052560" y="6291072"/>
            <a:ext cx="1828800" cy="274320"/>
          </a:xfrm>
          <a:prstGeom prst="rect">
            <a:avLst/>
          </a:prstGeom>
          <a:noFill/>
          <a:ln/>
        </p:spPr>
        <p:txBody>
          <a:bodyPr wrap="square" lIns="0" tIns="0" rIns="0" bIns="0" rtlCol="0" anchor="ctr"/>
          <a:lstStyle/>
          <a:p>
            <a:pPr algn="r" indent="0" marL="0">
              <a:buNone/>
            </a:pPr>
            <a:r>
              <a:rPr lang="en-US" sz="800" spc="120" kern="0" dirty="0">
                <a:solidFill>
                  <a:srgbClr val="6F6B80"/>
                </a:solidFill>
                <a:latin typeface="Courier New" pitchFamily="34" charset="0"/>
                <a:ea typeface="Courier New" pitchFamily="34" charset="-122"/>
                <a:cs typeface="Courier New" pitchFamily="34" charset="-120"/>
              </a:rPr>
              <a:t>USB MEDELLÍN</a:t>
            </a:r>
            <a:endParaRPr lang="en-US" sz="800" dirty="0"/>
          </a:p>
        </p:txBody>
      </p:sp>
      <p:sp>
        <p:nvSpPr>
          <p:cNvPr id="7" name="Text 4"/>
          <p:cNvSpPr/>
          <p:nvPr/>
        </p:nvSpPr>
        <p:spPr>
          <a:xfrm>
            <a:off x="11018520" y="6291072"/>
            <a:ext cx="603504" cy="274320"/>
          </a:xfrm>
          <a:prstGeom prst="rect">
            <a:avLst/>
          </a:prstGeom>
          <a:noFill/>
          <a:ln/>
        </p:spPr>
        <p:txBody>
          <a:bodyPr wrap="square" lIns="0" tIns="0" rIns="0" bIns="0" rtlCol="0" anchor="ctr"/>
          <a:lstStyle/>
          <a:p>
            <a:pPr algn="r" indent="0" marL="0">
              <a:buNone/>
            </a:pPr>
            <a:r>
              <a:rPr lang="en-US" sz="900" b="1" dirty="0">
                <a:solidFill>
                  <a:srgbClr val="0F0F11"/>
                </a:solidFill>
                <a:latin typeface="Courier New" pitchFamily="34" charset="0"/>
                <a:ea typeface="Courier New" pitchFamily="34" charset="-122"/>
                <a:cs typeface="Courier New" pitchFamily="34" charset="-120"/>
              </a:rPr>
              <a:t>02</a:t>
            </a:r>
            <a:endParaRPr lang="en-US" sz="900" dirty="0"/>
          </a:p>
        </p:txBody>
      </p:sp>
      <p:sp>
        <p:nvSpPr>
          <p:cNvPr id="8" name="Text 5"/>
          <p:cNvSpPr/>
          <p:nvPr/>
        </p:nvSpPr>
        <p:spPr>
          <a:xfrm>
            <a:off x="566928" y="1737360"/>
            <a:ext cx="11057839" cy="566928"/>
          </a:xfrm>
          <a:prstGeom prst="rect">
            <a:avLst/>
          </a:prstGeom>
          <a:noFill/>
          <a:ln/>
        </p:spPr>
        <p:txBody>
          <a:bodyPr wrap="square" lIns="0" tIns="0" rIns="0" bIns="0" rtlCol="0" anchor="t"/>
          <a:lstStyle/>
          <a:p>
            <a:pPr indent="0" marL="0">
              <a:lnSpc>
                <a:spcPct val="124000"/>
              </a:lnSpc>
              <a:buNone/>
            </a:pPr>
            <a:r>
              <a:rPr lang="en-US" sz="1450" dirty="0">
                <a:solidFill>
                  <a:srgbClr val="3A3844"/>
                </a:solidFill>
                <a:latin typeface="Arial" pitchFamily="34" charset="0"/>
                <a:ea typeface="Arial" pitchFamily="34" charset="-122"/>
                <a:cs typeface="Arial" pitchFamily="34" charset="-120"/>
              </a:rPr>
              <a:t>Hoy cierra la Unidad I. Tres momentos en clase, y una cuarta pieza que se lleva para la casa: el laboratorio que convierte la teoría en código.</a:t>
            </a:r>
            <a:endParaRPr lang="en-US" sz="1450" dirty="0"/>
          </a:p>
        </p:txBody>
      </p:sp>
      <p:sp>
        <p:nvSpPr>
          <p:cNvPr id="9" name="Shape 6"/>
          <p:cNvSpPr/>
          <p:nvPr/>
        </p:nvSpPr>
        <p:spPr>
          <a:xfrm>
            <a:off x="566928" y="2395728"/>
            <a:ext cx="11057839" cy="786384"/>
          </a:xfrm>
          <a:prstGeom prst="rect">
            <a:avLst/>
          </a:prstGeom>
          <a:solidFill>
            <a:srgbClr val="FFFFFF"/>
          </a:solidFill>
          <a:ln w="22225">
            <a:solidFill>
              <a:srgbClr val="0F0F11"/>
            </a:solidFill>
            <a:prstDash val="solid"/>
          </a:ln>
          <a:effectLst>
            <a:outerShdw sx="100000" sy="100000" kx="0" ky="0" algn="bl" rotWithShape="0" blurRad="101600" dist="63500" dir="2700000">
              <a:srgbClr val="0F0F11">
                <a:alpha val="100000"/>
              </a:srgbClr>
            </a:outerShdw>
          </a:effectLst>
        </p:spPr>
      </p:sp>
      <p:sp>
        <p:nvSpPr>
          <p:cNvPr id="10" name="Shape 7"/>
          <p:cNvSpPr/>
          <p:nvPr/>
        </p:nvSpPr>
        <p:spPr>
          <a:xfrm>
            <a:off x="566928" y="2395728"/>
            <a:ext cx="777240" cy="786384"/>
          </a:xfrm>
          <a:prstGeom prst="rect">
            <a:avLst/>
          </a:prstGeom>
          <a:solidFill>
            <a:srgbClr val="F07F06"/>
          </a:solidFill>
          <a:ln w="12700">
            <a:solidFill>
              <a:srgbClr val="333333"/>
            </a:solidFill>
            <a:prstDash val="solid"/>
          </a:ln>
        </p:spPr>
      </p:sp>
      <p:sp>
        <p:nvSpPr>
          <p:cNvPr id="11" name="Text 8"/>
          <p:cNvSpPr/>
          <p:nvPr/>
        </p:nvSpPr>
        <p:spPr>
          <a:xfrm>
            <a:off x="566928" y="2395728"/>
            <a:ext cx="777240" cy="786384"/>
          </a:xfrm>
          <a:prstGeom prst="rect">
            <a:avLst/>
          </a:prstGeom>
          <a:noFill/>
          <a:ln/>
        </p:spPr>
        <p:txBody>
          <a:bodyPr wrap="square" lIns="0" tIns="0" rIns="0" bIns="0" rtlCol="0" anchor="ctr"/>
          <a:lstStyle/>
          <a:p>
            <a:pPr algn="ctr" indent="0" marL="0">
              <a:buNone/>
            </a:pPr>
            <a:r>
              <a:rPr lang="en-US" sz="2800" dirty="0">
                <a:solidFill>
                  <a:srgbClr val="0F0F11"/>
                </a:solidFill>
                <a:latin typeface="Arial Black" pitchFamily="34" charset="0"/>
                <a:ea typeface="Arial Black" pitchFamily="34" charset="-122"/>
                <a:cs typeface="Arial Black" pitchFamily="34" charset="-120"/>
              </a:rPr>
              <a:t>A</a:t>
            </a:r>
            <a:endParaRPr lang="en-US" sz="2800" dirty="0"/>
          </a:p>
        </p:txBody>
      </p:sp>
      <p:sp>
        <p:nvSpPr>
          <p:cNvPr id="12" name="Text 9"/>
          <p:cNvSpPr/>
          <p:nvPr/>
        </p:nvSpPr>
        <p:spPr>
          <a:xfrm>
            <a:off x="1572768" y="2523744"/>
            <a:ext cx="7772400" cy="292608"/>
          </a:xfrm>
          <a:prstGeom prst="rect">
            <a:avLst/>
          </a:prstGeom>
          <a:noFill/>
          <a:ln/>
        </p:spPr>
        <p:txBody>
          <a:bodyPr wrap="square" lIns="0" tIns="0" rIns="0" bIns="0" rtlCol="0" anchor="ctr"/>
          <a:lstStyle/>
          <a:p>
            <a:pPr indent="0" marL="0">
              <a:buNone/>
            </a:pPr>
            <a:r>
              <a:rPr lang="en-US" sz="1100" b="1" spc="130" kern="0" dirty="0">
                <a:solidFill>
                  <a:srgbClr val="0F0F11"/>
                </a:solidFill>
                <a:latin typeface="Courier New" pitchFamily="34" charset="0"/>
                <a:ea typeface="Courier New" pitchFamily="34" charset="-122"/>
                <a:cs typeface="Courier New" pitchFamily="34" charset="-120"/>
              </a:rPr>
              <a:t>CONSENSO E INCENTIVOS</a:t>
            </a:r>
            <a:endParaRPr lang="en-US" sz="1100" dirty="0"/>
          </a:p>
        </p:txBody>
      </p:sp>
      <p:sp>
        <p:nvSpPr>
          <p:cNvPr id="13" name="Text 10"/>
          <p:cNvSpPr/>
          <p:nvPr/>
        </p:nvSpPr>
        <p:spPr>
          <a:xfrm>
            <a:off x="1572768" y="2852928"/>
            <a:ext cx="7863840" cy="274320"/>
          </a:xfrm>
          <a:prstGeom prst="rect">
            <a:avLst/>
          </a:prstGeom>
          <a:noFill/>
          <a:ln/>
        </p:spPr>
        <p:txBody>
          <a:bodyPr wrap="square" lIns="0" tIns="0" rIns="0" bIns="0" rtlCol="0" anchor="t"/>
          <a:lstStyle/>
          <a:p>
            <a:pPr indent="0" marL="0">
              <a:lnSpc>
                <a:spcPct val="124000"/>
              </a:lnSpc>
              <a:buNone/>
            </a:pPr>
            <a:r>
              <a:rPr lang="en-US" sz="1250" dirty="0">
                <a:solidFill>
                  <a:srgbClr val="3A3844"/>
                </a:solidFill>
                <a:latin typeface="Arial" pitchFamily="34" charset="0"/>
                <a:ea typeface="Arial" pitchFamily="34" charset="-122"/>
                <a:cs typeface="Arial" pitchFamily="34" charset="-120"/>
              </a:rPr>
              <a:t>Bizantinos, prueba de trabajo y de participación, finalidad y trilema.</a:t>
            </a:r>
            <a:endParaRPr lang="en-US" sz="1250" dirty="0"/>
          </a:p>
        </p:txBody>
      </p:sp>
      <p:sp>
        <p:nvSpPr>
          <p:cNvPr id="14" name="Text 11"/>
          <p:cNvSpPr/>
          <p:nvPr/>
        </p:nvSpPr>
        <p:spPr>
          <a:xfrm>
            <a:off x="9704527" y="2395728"/>
            <a:ext cx="1691640" cy="786384"/>
          </a:xfrm>
          <a:prstGeom prst="rect">
            <a:avLst/>
          </a:prstGeom>
          <a:noFill/>
          <a:ln/>
        </p:spPr>
        <p:txBody>
          <a:bodyPr wrap="square" lIns="0" tIns="0" rIns="0" bIns="0" rtlCol="0" anchor="ctr"/>
          <a:lstStyle/>
          <a:p>
            <a:pPr algn="r" indent="0" marL="0">
              <a:buNone/>
            </a:pPr>
            <a:r>
              <a:rPr lang="en-US" sz="1200" b="1" dirty="0">
                <a:solidFill>
                  <a:srgbClr val="A35604"/>
                </a:solidFill>
                <a:latin typeface="Courier New" pitchFamily="34" charset="0"/>
                <a:ea typeface="Courier New" pitchFamily="34" charset="-122"/>
                <a:cs typeface="Courier New" pitchFamily="34" charset="-120"/>
              </a:rPr>
              <a:t>~80 min</a:t>
            </a:r>
            <a:endParaRPr lang="en-US" sz="1200" dirty="0"/>
          </a:p>
        </p:txBody>
      </p:sp>
      <p:sp>
        <p:nvSpPr>
          <p:cNvPr id="15" name="Shape 12"/>
          <p:cNvSpPr/>
          <p:nvPr/>
        </p:nvSpPr>
        <p:spPr>
          <a:xfrm>
            <a:off x="566928" y="3291840"/>
            <a:ext cx="11057839" cy="786384"/>
          </a:xfrm>
          <a:prstGeom prst="rect">
            <a:avLst/>
          </a:prstGeom>
          <a:solidFill>
            <a:srgbClr val="FAF9FB"/>
          </a:solidFill>
          <a:ln w="22225">
            <a:solidFill>
              <a:srgbClr val="0F0F11"/>
            </a:solidFill>
            <a:prstDash val="solid"/>
          </a:ln>
        </p:spPr>
      </p:sp>
      <p:sp>
        <p:nvSpPr>
          <p:cNvPr id="16" name="Shape 13"/>
          <p:cNvSpPr/>
          <p:nvPr/>
        </p:nvSpPr>
        <p:spPr>
          <a:xfrm>
            <a:off x="566928" y="3291840"/>
            <a:ext cx="777240" cy="786384"/>
          </a:xfrm>
          <a:prstGeom prst="rect">
            <a:avLst/>
          </a:prstGeom>
          <a:solidFill>
            <a:srgbClr val="D9D6E0"/>
          </a:solidFill>
          <a:ln w="12700">
            <a:solidFill>
              <a:srgbClr val="333333"/>
            </a:solidFill>
            <a:prstDash val="solid"/>
          </a:ln>
        </p:spPr>
      </p:sp>
      <p:sp>
        <p:nvSpPr>
          <p:cNvPr id="17" name="Text 14"/>
          <p:cNvSpPr/>
          <p:nvPr/>
        </p:nvSpPr>
        <p:spPr>
          <a:xfrm>
            <a:off x="566928" y="3291840"/>
            <a:ext cx="777240" cy="786384"/>
          </a:xfrm>
          <a:prstGeom prst="rect">
            <a:avLst/>
          </a:prstGeom>
          <a:noFill/>
          <a:ln/>
        </p:spPr>
        <p:txBody>
          <a:bodyPr wrap="square" lIns="0" tIns="0" rIns="0" bIns="0" rtlCol="0" anchor="ctr"/>
          <a:lstStyle/>
          <a:p>
            <a:pPr algn="ctr" indent="0" marL="0">
              <a:buNone/>
            </a:pPr>
            <a:r>
              <a:rPr lang="en-US" sz="2800" dirty="0">
                <a:solidFill>
                  <a:srgbClr val="0F0F11"/>
                </a:solidFill>
                <a:latin typeface="Arial Black" pitchFamily="34" charset="0"/>
                <a:ea typeface="Arial Black" pitchFamily="34" charset="-122"/>
                <a:cs typeface="Arial Black" pitchFamily="34" charset="-120"/>
              </a:rPr>
              <a:t>B</a:t>
            </a:r>
            <a:endParaRPr lang="en-US" sz="2800" dirty="0"/>
          </a:p>
        </p:txBody>
      </p:sp>
      <p:sp>
        <p:nvSpPr>
          <p:cNvPr id="18" name="Text 15"/>
          <p:cNvSpPr/>
          <p:nvPr/>
        </p:nvSpPr>
        <p:spPr>
          <a:xfrm>
            <a:off x="1572768" y="3419856"/>
            <a:ext cx="7772400" cy="292608"/>
          </a:xfrm>
          <a:prstGeom prst="rect">
            <a:avLst/>
          </a:prstGeom>
          <a:noFill/>
          <a:ln/>
        </p:spPr>
        <p:txBody>
          <a:bodyPr wrap="square" lIns="0" tIns="0" rIns="0" bIns="0" rtlCol="0" anchor="ctr"/>
          <a:lstStyle/>
          <a:p>
            <a:pPr indent="0" marL="0">
              <a:buNone/>
            </a:pPr>
            <a:r>
              <a:rPr lang="en-US" sz="1100" b="1" spc="130" kern="0" dirty="0">
                <a:solidFill>
                  <a:srgbClr val="0F0F11"/>
                </a:solidFill>
                <a:latin typeface="Courier New" pitchFamily="34" charset="0"/>
                <a:ea typeface="Courier New" pitchFamily="34" charset="-122"/>
                <a:cs typeface="Courier New" pitchFamily="34" charset="-120"/>
              </a:rPr>
              <a:t>ACTIVIDAD · EL CASO ESTONIA</a:t>
            </a:r>
            <a:endParaRPr lang="en-US" sz="1100" dirty="0"/>
          </a:p>
        </p:txBody>
      </p:sp>
      <p:sp>
        <p:nvSpPr>
          <p:cNvPr id="19" name="Text 16"/>
          <p:cNvSpPr/>
          <p:nvPr/>
        </p:nvSpPr>
        <p:spPr>
          <a:xfrm>
            <a:off x="1572768" y="3749040"/>
            <a:ext cx="7863840" cy="274320"/>
          </a:xfrm>
          <a:prstGeom prst="rect">
            <a:avLst/>
          </a:prstGeom>
          <a:noFill/>
          <a:ln/>
        </p:spPr>
        <p:txBody>
          <a:bodyPr wrap="square" lIns="0" tIns="0" rIns="0" bIns="0" rtlCol="0" anchor="t"/>
          <a:lstStyle/>
          <a:p>
            <a:pPr indent="0" marL="0">
              <a:lnSpc>
                <a:spcPct val="124000"/>
              </a:lnSpc>
              <a:buNone/>
            </a:pPr>
            <a:r>
              <a:rPr lang="en-US" sz="1250" dirty="0">
                <a:solidFill>
                  <a:srgbClr val="3A3844"/>
                </a:solidFill>
                <a:latin typeface="Arial" pitchFamily="34" charset="0"/>
                <a:ea typeface="Arial" pitchFamily="34" charset="-122"/>
                <a:cs typeface="Arial" pitchFamily="34" charset="-120"/>
              </a:rPr>
              <a:t>Presentación del encargo en equipos. Se expone la próxima sesión.</a:t>
            </a:r>
            <a:endParaRPr lang="en-US" sz="1250" dirty="0"/>
          </a:p>
        </p:txBody>
      </p:sp>
      <p:sp>
        <p:nvSpPr>
          <p:cNvPr id="20" name="Text 17"/>
          <p:cNvSpPr/>
          <p:nvPr/>
        </p:nvSpPr>
        <p:spPr>
          <a:xfrm>
            <a:off x="9704527" y="3291840"/>
            <a:ext cx="1691640" cy="786384"/>
          </a:xfrm>
          <a:prstGeom prst="rect">
            <a:avLst/>
          </a:prstGeom>
          <a:noFill/>
          <a:ln/>
        </p:spPr>
        <p:txBody>
          <a:bodyPr wrap="square" lIns="0" tIns="0" rIns="0" bIns="0" rtlCol="0" anchor="ctr"/>
          <a:lstStyle/>
          <a:p>
            <a:pPr algn="r" indent="0" marL="0">
              <a:buNone/>
            </a:pPr>
            <a:r>
              <a:rPr lang="en-US" sz="1200" b="1" dirty="0">
                <a:solidFill>
                  <a:srgbClr val="A35604"/>
                </a:solidFill>
                <a:latin typeface="Courier New" pitchFamily="34" charset="0"/>
                <a:ea typeface="Courier New" pitchFamily="34" charset="-122"/>
                <a:cs typeface="Courier New" pitchFamily="34" charset="-120"/>
              </a:rPr>
              <a:t>~45 min</a:t>
            </a:r>
            <a:endParaRPr lang="en-US" sz="1200" dirty="0"/>
          </a:p>
        </p:txBody>
      </p:sp>
      <p:sp>
        <p:nvSpPr>
          <p:cNvPr id="21" name="Shape 18"/>
          <p:cNvSpPr/>
          <p:nvPr/>
        </p:nvSpPr>
        <p:spPr>
          <a:xfrm>
            <a:off x="566928" y="4187952"/>
            <a:ext cx="11057839" cy="786384"/>
          </a:xfrm>
          <a:prstGeom prst="rect">
            <a:avLst/>
          </a:prstGeom>
          <a:solidFill>
            <a:srgbClr val="FAF9FB"/>
          </a:solidFill>
          <a:ln w="22225">
            <a:solidFill>
              <a:srgbClr val="0F0F11"/>
            </a:solidFill>
            <a:prstDash val="solid"/>
          </a:ln>
        </p:spPr>
      </p:sp>
      <p:sp>
        <p:nvSpPr>
          <p:cNvPr id="22" name="Shape 19"/>
          <p:cNvSpPr/>
          <p:nvPr/>
        </p:nvSpPr>
        <p:spPr>
          <a:xfrm>
            <a:off x="566928" y="4187952"/>
            <a:ext cx="777240" cy="786384"/>
          </a:xfrm>
          <a:prstGeom prst="rect">
            <a:avLst/>
          </a:prstGeom>
          <a:solidFill>
            <a:srgbClr val="D9D6E0"/>
          </a:solidFill>
          <a:ln w="12700">
            <a:solidFill>
              <a:srgbClr val="333333"/>
            </a:solidFill>
            <a:prstDash val="solid"/>
          </a:ln>
        </p:spPr>
      </p:sp>
      <p:sp>
        <p:nvSpPr>
          <p:cNvPr id="23" name="Text 20"/>
          <p:cNvSpPr/>
          <p:nvPr/>
        </p:nvSpPr>
        <p:spPr>
          <a:xfrm>
            <a:off x="566928" y="4187952"/>
            <a:ext cx="777240" cy="786384"/>
          </a:xfrm>
          <a:prstGeom prst="rect">
            <a:avLst/>
          </a:prstGeom>
          <a:noFill/>
          <a:ln/>
        </p:spPr>
        <p:txBody>
          <a:bodyPr wrap="square" lIns="0" tIns="0" rIns="0" bIns="0" rtlCol="0" anchor="ctr"/>
          <a:lstStyle/>
          <a:p>
            <a:pPr algn="ctr" indent="0" marL="0">
              <a:buNone/>
            </a:pPr>
            <a:r>
              <a:rPr lang="en-US" sz="2800" dirty="0">
                <a:solidFill>
                  <a:srgbClr val="0F0F11"/>
                </a:solidFill>
                <a:latin typeface="Arial Black" pitchFamily="34" charset="0"/>
                <a:ea typeface="Arial Black" pitchFamily="34" charset="-122"/>
                <a:cs typeface="Arial Black" pitchFamily="34" charset="-120"/>
              </a:rPr>
              <a:t>C</a:t>
            </a:r>
            <a:endParaRPr lang="en-US" sz="2800" dirty="0"/>
          </a:p>
        </p:txBody>
      </p:sp>
      <p:sp>
        <p:nvSpPr>
          <p:cNvPr id="24" name="Text 21"/>
          <p:cNvSpPr/>
          <p:nvPr/>
        </p:nvSpPr>
        <p:spPr>
          <a:xfrm>
            <a:off x="1572768" y="4315968"/>
            <a:ext cx="7772400" cy="292608"/>
          </a:xfrm>
          <a:prstGeom prst="rect">
            <a:avLst/>
          </a:prstGeom>
          <a:noFill/>
          <a:ln/>
        </p:spPr>
        <p:txBody>
          <a:bodyPr wrap="square" lIns="0" tIns="0" rIns="0" bIns="0" rtlCol="0" anchor="ctr"/>
          <a:lstStyle/>
          <a:p>
            <a:pPr indent="0" marL="0">
              <a:buNone/>
            </a:pPr>
            <a:r>
              <a:rPr lang="en-US" sz="1100" b="1" spc="130" kern="0" dirty="0">
                <a:solidFill>
                  <a:srgbClr val="0F0F11"/>
                </a:solidFill>
                <a:latin typeface="Courier New" pitchFamily="34" charset="0"/>
                <a:ea typeface="Courier New" pitchFamily="34" charset="-122"/>
                <a:cs typeface="Courier New" pitchFamily="34" charset="-120"/>
              </a:rPr>
              <a:t>QUIZ 1 · UNIDAD I</a:t>
            </a:r>
            <a:endParaRPr lang="en-US" sz="1100" dirty="0"/>
          </a:p>
        </p:txBody>
      </p:sp>
      <p:sp>
        <p:nvSpPr>
          <p:cNvPr id="25" name="Text 22"/>
          <p:cNvSpPr/>
          <p:nvPr/>
        </p:nvSpPr>
        <p:spPr>
          <a:xfrm>
            <a:off x="1572768" y="4645152"/>
            <a:ext cx="7863840" cy="274320"/>
          </a:xfrm>
          <a:prstGeom prst="rect">
            <a:avLst/>
          </a:prstGeom>
          <a:noFill/>
          <a:ln/>
        </p:spPr>
        <p:txBody>
          <a:bodyPr wrap="square" lIns="0" tIns="0" rIns="0" bIns="0" rtlCol="0" anchor="t"/>
          <a:lstStyle/>
          <a:p>
            <a:pPr indent="0" marL="0">
              <a:lnSpc>
                <a:spcPct val="124000"/>
              </a:lnSpc>
              <a:buNone/>
            </a:pPr>
            <a:r>
              <a:rPr lang="en-US" sz="1250" dirty="0">
                <a:solidFill>
                  <a:srgbClr val="3A3844"/>
                </a:solidFill>
                <a:latin typeface="Arial" pitchFamily="34" charset="0"/>
                <a:ea typeface="Arial" pitchFamily="34" charset="-122"/>
                <a:cs typeface="Arial" pitchFamily="34" charset="-120"/>
              </a:rPr>
              <a:t>Individual, sin apuntes. Sesiones 1 a 4.</a:t>
            </a:r>
            <a:endParaRPr lang="en-US" sz="1250" dirty="0"/>
          </a:p>
        </p:txBody>
      </p:sp>
      <p:sp>
        <p:nvSpPr>
          <p:cNvPr id="26" name="Text 23"/>
          <p:cNvSpPr/>
          <p:nvPr/>
        </p:nvSpPr>
        <p:spPr>
          <a:xfrm>
            <a:off x="9704527" y="4187952"/>
            <a:ext cx="1691640" cy="786384"/>
          </a:xfrm>
          <a:prstGeom prst="rect">
            <a:avLst/>
          </a:prstGeom>
          <a:noFill/>
          <a:ln/>
        </p:spPr>
        <p:txBody>
          <a:bodyPr wrap="square" lIns="0" tIns="0" rIns="0" bIns="0" rtlCol="0" anchor="ctr"/>
          <a:lstStyle/>
          <a:p>
            <a:pPr algn="r" indent="0" marL="0">
              <a:buNone/>
            </a:pPr>
            <a:r>
              <a:rPr lang="en-US" sz="1200" b="1" dirty="0">
                <a:solidFill>
                  <a:srgbClr val="A35604"/>
                </a:solidFill>
                <a:latin typeface="Courier New" pitchFamily="34" charset="0"/>
                <a:ea typeface="Courier New" pitchFamily="34" charset="-122"/>
                <a:cs typeface="Courier New" pitchFamily="34" charset="-120"/>
              </a:rPr>
              <a:t>30 min</a:t>
            </a:r>
            <a:endParaRPr lang="en-US" sz="1200" dirty="0"/>
          </a:p>
        </p:txBody>
      </p:sp>
      <p:sp>
        <p:nvSpPr>
          <p:cNvPr id="27" name="Shape 24"/>
          <p:cNvSpPr/>
          <p:nvPr/>
        </p:nvSpPr>
        <p:spPr>
          <a:xfrm>
            <a:off x="566928" y="5084064"/>
            <a:ext cx="11057839" cy="786384"/>
          </a:xfrm>
          <a:prstGeom prst="rect">
            <a:avLst/>
          </a:prstGeom>
          <a:solidFill>
            <a:srgbClr val="FAF9FB"/>
          </a:solidFill>
          <a:ln w="22225">
            <a:solidFill>
              <a:srgbClr val="0F0F11"/>
            </a:solidFill>
            <a:prstDash val="solid"/>
          </a:ln>
        </p:spPr>
      </p:sp>
      <p:sp>
        <p:nvSpPr>
          <p:cNvPr id="28" name="Shape 25"/>
          <p:cNvSpPr/>
          <p:nvPr/>
        </p:nvSpPr>
        <p:spPr>
          <a:xfrm>
            <a:off x="566928" y="5084064"/>
            <a:ext cx="777240" cy="786384"/>
          </a:xfrm>
          <a:prstGeom prst="rect">
            <a:avLst/>
          </a:prstGeom>
          <a:solidFill>
            <a:srgbClr val="D9D6E0"/>
          </a:solidFill>
          <a:ln w="12700">
            <a:solidFill>
              <a:srgbClr val="333333"/>
            </a:solidFill>
            <a:prstDash val="solid"/>
          </a:ln>
        </p:spPr>
      </p:sp>
      <p:sp>
        <p:nvSpPr>
          <p:cNvPr id="29" name="Text 26"/>
          <p:cNvSpPr/>
          <p:nvPr/>
        </p:nvSpPr>
        <p:spPr>
          <a:xfrm>
            <a:off x="566928" y="5084064"/>
            <a:ext cx="777240" cy="786384"/>
          </a:xfrm>
          <a:prstGeom prst="rect">
            <a:avLst/>
          </a:prstGeom>
          <a:noFill/>
          <a:ln/>
        </p:spPr>
        <p:txBody>
          <a:bodyPr wrap="square" lIns="0" tIns="0" rIns="0" bIns="0" rtlCol="0" anchor="ctr"/>
          <a:lstStyle/>
          <a:p>
            <a:pPr algn="ctr" indent="0" marL="0">
              <a:buNone/>
            </a:pPr>
            <a:r>
              <a:rPr lang="en-US" sz="2800" dirty="0">
                <a:solidFill>
                  <a:srgbClr val="0F0F11"/>
                </a:solidFill>
                <a:latin typeface="Arial Black" pitchFamily="34" charset="0"/>
                <a:ea typeface="Arial Black" pitchFamily="34" charset="-122"/>
                <a:cs typeface="Arial Black" pitchFamily="34" charset="-120"/>
              </a:rPr>
              <a:t>D</a:t>
            </a:r>
            <a:endParaRPr lang="en-US" sz="2800" dirty="0"/>
          </a:p>
        </p:txBody>
      </p:sp>
      <p:sp>
        <p:nvSpPr>
          <p:cNvPr id="30" name="Text 27"/>
          <p:cNvSpPr/>
          <p:nvPr/>
        </p:nvSpPr>
        <p:spPr>
          <a:xfrm>
            <a:off x="1572768" y="5212080"/>
            <a:ext cx="7772400" cy="292608"/>
          </a:xfrm>
          <a:prstGeom prst="rect">
            <a:avLst/>
          </a:prstGeom>
          <a:noFill/>
          <a:ln/>
        </p:spPr>
        <p:txBody>
          <a:bodyPr wrap="square" lIns="0" tIns="0" rIns="0" bIns="0" rtlCol="0" anchor="ctr"/>
          <a:lstStyle/>
          <a:p>
            <a:pPr indent="0" marL="0">
              <a:buNone/>
            </a:pPr>
            <a:r>
              <a:rPr lang="en-US" sz="1100" b="1" spc="130" kern="0" dirty="0">
                <a:solidFill>
                  <a:srgbClr val="0F0F11"/>
                </a:solidFill>
                <a:latin typeface="Courier New" pitchFamily="34" charset="0"/>
                <a:ea typeface="Courier New" pitchFamily="34" charset="-122"/>
                <a:cs typeface="Courier New" pitchFamily="34" charset="-120"/>
              </a:rPr>
              <a:t>LABORATORIO 04 · PARA LA CASA</a:t>
            </a:r>
            <a:endParaRPr lang="en-US" sz="1100" dirty="0"/>
          </a:p>
        </p:txBody>
      </p:sp>
      <p:sp>
        <p:nvSpPr>
          <p:cNvPr id="31" name="Text 28"/>
          <p:cNvSpPr/>
          <p:nvPr/>
        </p:nvSpPr>
        <p:spPr>
          <a:xfrm>
            <a:off x="1572768" y="5541264"/>
            <a:ext cx="7863840" cy="274320"/>
          </a:xfrm>
          <a:prstGeom prst="rect">
            <a:avLst/>
          </a:prstGeom>
          <a:noFill/>
          <a:ln/>
        </p:spPr>
        <p:txBody>
          <a:bodyPr wrap="square" lIns="0" tIns="0" rIns="0" bIns="0" rtlCol="0" anchor="t"/>
          <a:lstStyle/>
          <a:p>
            <a:pPr indent="0" marL="0">
              <a:lnSpc>
                <a:spcPct val="124000"/>
              </a:lnSpc>
              <a:buNone/>
            </a:pPr>
            <a:r>
              <a:rPr lang="en-US" sz="1250" dirty="0">
                <a:solidFill>
                  <a:srgbClr val="3A3844"/>
                </a:solidFill>
                <a:latin typeface="Arial" pitchFamily="34" charset="0"/>
                <a:ea typeface="Arial" pitchFamily="34" charset="-122"/>
                <a:cs typeface="Arial" pitchFamily="34" charset="-120"/>
              </a:rPr>
              <a:t>Minería y ataque del 51 % en Python.</a:t>
            </a:r>
            <a:endParaRPr lang="en-US" sz="1250" dirty="0"/>
          </a:p>
        </p:txBody>
      </p:sp>
      <p:sp>
        <p:nvSpPr>
          <p:cNvPr id="32" name="Text 29"/>
          <p:cNvSpPr/>
          <p:nvPr/>
        </p:nvSpPr>
        <p:spPr>
          <a:xfrm>
            <a:off x="9704527" y="5084064"/>
            <a:ext cx="1691640" cy="786384"/>
          </a:xfrm>
          <a:prstGeom prst="rect">
            <a:avLst/>
          </a:prstGeom>
          <a:noFill/>
          <a:ln/>
        </p:spPr>
        <p:txBody>
          <a:bodyPr wrap="square" lIns="0" tIns="0" rIns="0" bIns="0" rtlCol="0" anchor="ctr"/>
          <a:lstStyle/>
          <a:p>
            <a:pPr algn="r" indent="0" marL="0">
              <a:buNone/>
            </a:pPr>
            <a:r>
              <a:rPr lang="en-US" sz="1200" b="1" dirty="0">
                <a:solidFill>
                  <a:srgbClr val="A35604"/>
                </a:solidFill>
                <a:latin typeface="Courier New" pitchFamily="34" charset="0"/>
                <a:ea typeface="Courier New" pitchFamily="34" charset="-122"/>
                <a:cs typeface="Courier New" pitchFamily="34" charset="-120"/>
              </a:rPr>
              <a:t>se asigna</a:t>
            </a:r>
            <a:endParaRPr lang="en-US" sz="1200" dirty="0"/>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bg>
      <p:bgPr>
        <a:solidFill>
          <a:srgbClr val="FFFFFF"/>
        </a:solidFill>
      </p:bgPr>
    </p:bg>
    <p:spTree>
      <p:nvGrpSpPr>
        <p:cNvPr id="1" name=""/>
        <p:cNvGrpSpPr/>
        <p:nvPr/>
      </p:nvGrpSpPr>
      <p:grpSpPr>
        <a:xfrm>
          <a:off x="0" y="0"/>
          <a:ext cx="0" cy="0"/>
          <a:chOff x="0" y="0"/>
          <a:chExt cx="0" cy="0"/>
        </a:xfrm>
      </p:grpSpPr>
      <p:pic>
        <p:nvPicPr>
          <p:cNvPr id="2" name="Image 0" descr="preencoded.png">    </p:cNvPr>
          <p:cNvPicPr>
            <a:picLocks noChangeAspect="1"/>
          </p:cNvPicPr>
          <p:nvPr/>
        </p:nvPicPr>
        <p:blipFill>
          <a:blip r:embed="rId1"/>
          <a:stretch>
            <a:fillRect/>
          </a:stretch>
        </p:blipFill>
        <p:spPr>
          <a:xfrm>
            <a:off x="566928" y="402336"/>
            <a:ext cx="274320" cy="274320"/>
          </a:xfrm>
          <a:prstGeom prst="rect">
            <a:avLst/>
          </a:prstGeom>
        </p:spPr>
      </p:pic>
      <p:sp>
        <p:nvSpPr>
          <p:cNvPr id="3" name="Text 0"/>
          <p:cNvSpPr/>
          <p:nvPr/>
        </p:nvSpPr>
        <p:spPr>
          <a:xfrm>
            <a:off x="969264" y="384048"/>
            <a:ext cx="10655503" cy="310896"/>
          </a:xfrm>
          <a:prstGeom prst="rect">
            <a:avLst/>
          </a:prstGeom>
          <a:noFill/>
          <a:ln/>
        </p:spPr>
        <p:txBody>
          <a:bodyPr wrap="square" lIns="0" tIns="0" rIns="0" bIns="0" rtlCol="0" anchor="ctr"/>
          <a:lstStyle/>
          <a:p>
            <a:pPr indent="0" marL="0">
              <a:buNone/>
            </a:pPr>
            <a:r>
              <a:rPr lang="en-US" sz="950" spc="160" kern="0" dirty="0">
                <a:solidFill>
                  <a:srgbClr val="6F6B80"/>
                </a:solidFill>
                <a:latin typeface="Courier New" pitchFamily="34" charset="0"/>
                <a:ea typeface="Courier New" pitchFamily="34" charset="-122"/>
                <a:cs typeface="Courier New" pitchFamily="34" charset="-120"/>
              </a:rPr>
              <a:t>EL PROPÓSITO DE LA SESIÓN</a:t>
            </a:r>
            <a:endParaRPr lang="en-US" sz="950" dirty="0"/>
          </a:p>
        </p:txBody>
      </p:sp>
      <p:sp>
        <p:nvSpPr>
          <p:cNvPr id="4" name="Text 1"/>
          <p:cNvSpPr/>
          <p:nvPr/>
        </p:nvSpPr>
        <p:spPr>
          <a:xfrm>
            <a:off x="566928" y="777240"/>
            <a:ext cx="11057839" cy="777240"/>
          </a:xfrm>
          <a:prstGeom prst="rect">
            <a:avLst/>
          </a:prstGeom>
          <a:noFill/>
          <a:ln/>
        </p:spPr>
        <p:txBody>
          <a:bodyPr wrap="square" lIns="0" tIns="0" rIns="0" bIns="0" rtlCol="0" anchor="t"/>
          <a:lstStyle/>
          <a:p>
            <a:pPr indent="0" marL="0">
              <a:lnSpc>
                <a:spcPct val="92000"/>
              </a:lnSpc>
              <a:buNone/>
            </a:pPr>
            <a:r>
              <a:rPr lang="en-US" sz="3000" dirty="0">
                <a:solidFill>
                  <a:srgbClr val="0F0F11"/>
                </a:solidFill>
                <a:latin typeface="Arial Black" pitchFamily="34" charset="0"/>
                <a:ea typeface="Arial Black" pitchFamily="34" charset="-122"/>
                <a:cs typeface="Arial Black" pitchFamily="34" charset="-120"/>
              </a:rPr>
              <a:t>AL SALIR DE AQUÍ</a:t>
            </a:r>
            <a:endParaRPr lang="en-US" sz="3000" dirty="0"/>
          </a:p>
        </p:txBody>
      </p:sp>
      <p:sp>
        <p:nvSpPr>
          <p:cNvPr id="5" name="Text 2"/>
          <p:cNvSpPr/>
          <p:nvPr/>
        </p:nvSpPr>
        <p:spPr>
          <a:xfrm>
            <a:off x="566928" y="6291072"/>
            <a:ext cx="8412480" cy="274320"/>
          </a:xfrm>
          <a:prstGeom prst="rect">
            <a:avLst/>
          </a:prstGeom>
          <a:noFill/>
          <a:ln/>
        </p:spPr>
        <p:txBody>
          <a:bodyPr wrap="square" lIns="0" tIns="0" rIns="0" bIns="0" rtlCol="0" anchor="ctr"/>
          <a:lstStyle/>
          <a:p>
            <a:pPr indent="0" marL="0">
              <a:buNone/>
            </a:pPr>
            <a:r>
              <a:rPr lang="en-US" sz="800" spc="120" kern="0" dirty="0">
                <a:solidFill>
                  <a:srgbClr val="6F6B80"/>
                </a:solidFill>
                <a:latin typeface="Courier New" pitchFamily="34" charset="0"/>
                <a:ea typeface="Courier New" pitchFamily="34" charset="-122"/>
                <a:cs typeface="Courier New" pitchFamily="34" charset="-120"/>
              </a:rPr>
              <a:t>SESIÓN 04 · CONSENSO, INCENTIVOS Y EL TRILEMA</a:t>
            </a:r>
            <a:endParaRPr lang="en-US" sz="800" dirty="0"/>
          </a:p>
        </p:txBody>
      </p:sp>
      <p:sp>
        <p:nvSpPr>
          <p:cNvPr id="6" name="Text 3"/>
          <p:cNvSpPr/>
          <p:nvPr/>
        </p:nvSpPr>
        <p:spPr>
          <a:xfrm>
            <a:off x="9052560" y="6291072"/>
            <a:ext cx="1828800" cy="274320"/>
          </a:xfrm>
          <a:prstGeom prst="rect">
            <a:avLst/>
          </a:prstGeom>
          <a:noFill/>
          <a:ln/>
        </p:spPr>
        <p:txBody>
          <a:bodyPr wrap="square" lIns="0" tIns="0" rIns="0" bIns="0" rtlCol="0" anchor="ctr"/>
          <a:lstStyle/>
          <a:p>
            <a:pPr algn="r" indent="0" marL="0">
              <a:buNone/>
            </a:pPr>
            <a:r>
              <a:rPr lang="en-US" sz="800" spc="120" kern="0" dirty="0">
                <a:solidFill>
                  <a:srgbClr val="6F6B80"/>
                </a:solidFill>
                <a:latin typeface="Courier New" pitchFamily="34" charset="0"/>
                <a:ea typeface="Courier New" pitchFamily="34" charset="-122"/>
                <a:cs typeface="Courier New" pitchFamily="34" charset="-120"/>
              </a:rPr>
              <a:t>USB MEDELLÍN</a:t>
            </a:r>
            <a:endParaRPr lang="en-US" sz="800" dirty="0"/>
          </a:p>
        </p:txBody>
      </p:sp>
      <p:sp>
        <p:nvSpPr>
          <p:cNvPr id="7" name="Text 4"/>
          <p:cNvSpPr/>
          <p:nvPr/>
        </p:nvSpPr>
        <p:spPr>
          <a:xfrm>
            <a:off x="11018520" y="6291072"/>
            <a:ext cx="603504" cy="274320"/>
          </a:xfrm>
          <a:prstGeom prst="rect">
            <a:avLst/>
          </a:prstGeom>
          <a:noFill/>
          <a:ln/>
        </p:spPr>
        <p:txBody>
          <a:bodyPr wrap="square" lIns="0" tIns="0" rIns="0" bIns="0" rtlCol="0" anchor="ctr"/>
          <a:lstStyle/>
          <a:p>
            <a:pPr algn="r" indent="0" marL="0">
              <a:buNone/>
            </a:pPr>
            <a:r>
              <a:rPr lang="en-US" sz="900" b="1" dirty="0">
                <a:solidFill>
                  <a:srgbClr val="0F0F11"/>
                </a:solidFill>
                <a:latin typeface="Courier New" pitchFamily="34" charset="0"/>
                <a:ea typeface="Courier New" pitchFamily="34" charset="-122"/>
                <a:cs typeface="Courier New" pitchFamily="34" charset="-120"/>
              </a:rPr>
              <a:t>03</a:t>
            </a:r>
            <a:endParaRPr lang="en-US" sz="900" dirty="0"/>
          </a:p>
        </p:txBody>
      </p:sp>
      <p:sp>
        <p:nvSpPr>
          <p:cNvPr id="8" name="Shape 5"/>
          <p:cNvSpPr/>
          <p:nvPr/>
        </p:nvSpPr>
        <p:spPr>
          <a:xfrm>
            <a:off x="566928" y="1737360"/>
            <a:ext cx="11057839" cy="1188720"/>
          </a:xfrm>
          <a:prstGeom prst="rect">
            <a:avLst/>
          </a:prstGeom>
          <a:solidFill>
            <a:srgbClr val="FFFFFF"/>
          </a:solidFill>
          <a:ln w="34925">
            <a:solidFill>
              <a:srgbClr val="0F0F11"/>
            </a:solidFill>
            <a:prstDash val="solid"/>
          </a:ln>
          <a:effectLst>
            <a:outerShdw sx="100000" sy="100000" kx="0" ky="0" algn="bl" rotWithShape="0" blurRad="101600" dist="63500" dir="2700000">
              <a:srgbClr val="0F0F11">
                <a:alpha val="100000"/>
              </a:srgbClr>
            </a:outerShdw>
          </a:effectLst>
        </p:spPr>
      </p:sp>
      <p:sp>
        <p:nvSpPr>
          <p:cNvPr id="9" name="Text 6"/>
          <p:cNvSpPr/>
          <p:nvPr/>
        </p:nvSpPr>
        <p:spPr>
          <a:xfrm>
            <a:off x="950976" y="1920240"/>
            <a:ext cx="10289743" cy="822960"/>
          </a:xfrm>
          <a:prstGeom prst="rect">
            <a:avLst/>
          </a:prstGeom>
          <a:noFill/>
          <a:ln/>
        </p:spPr>
        <p:txBody>
          <a:bodyPr wrap="square" lIns="0" tIns="0" rIns="0" bIns="0" rtlCol="0" anchor="ctr"/>
          <a:lstStyle/>
          <a:p>
            <a:pPr indent="0" marL="0">
              <a:lnSpc>
                <a:spcPct val="106000"/>
              </a:lnSpc>
              <a:buNone/>
            </a:pPr>
            <a:r>
              <a:rPr lang="en-US" sz="1900" dirty="0">
                <a:solidFill>
                  <a:srgbClr val="0F0F11"/>
                </a:solidFill>
                <a:latin typeface="Arial Black" pitchFamily="34" charset="0"/>
                <a:ea typeface="Arial Black" pitchFamily="34" charset="-122"/>
                <a:cs typeface="Arial Black" pitchFamily="34" charset="-120"/>
              </a:rPr>
              <a:t>Comparar mecanismos de consenso y justificar cuál conviene a un problema concreto, con sus costos a la vista.</a:t>
            </a:r>
            <a:endParaRPr lang="en-US" sz="1900" dirty="0"/>
          </a:p>
        </p:txBody>
      </p:sp>
      <p:sp>
        <p:nvSpPr>
          <p:cNvPr id="10" name="Text 7"/>
          <p:cNvSpPr/>
          <p:nvPr/>
        </p:nvSpPr>
        <p:spPr>
          <a:xfrm>
            <a:off x="566928" y="3154680"/>
            <a:ext cx="7315200" cy="292608"/>
          </a:xfrm>
          <a:prstGeom prst="rect">
            <a:avLst/>
          </a:prstGeom>
          <a:noFill/>
          <a:ln/>
        </p:spPr>
        <p:txBody>
          <a:bodyPr wrap="square" lIns="0" tIns="0" rIns="0" bIns="0" rtlCol="0" anchor="ctr"/>
          <a:lstStyle/>
          <a:p>
            <a:pPr indent="0" marL="0">
              <a:buNone/>
            </a:pPr>
            <a:r>
              <a:rPr lang="en-US" sz="1050" b="1" spc="130" kern="0" dirty="0">
                <a:solidFill>
                  <a:srgbClr val="6F6B80"/>
                </a:solidFill>
                <a:latin typeface="Courier New" pitchFamily="34" charset="0"/>
                <a:ea typeface="Courier New" pitchFamily="34" charset="-122"/>
                <a:cs typeface="Courier New" pitchFamily="34" charset="-120"/>
              </a:rPr>
              <a:t>LAS PREGUNTAS QUE LA SESIÓN RESPONDE</a:t>
            </a:r>
            <a:endParaRPr lang="en-US" sz="1050" dirty="0"/>
          </a:p>
        </p:txBody>
      </p:sp>
      <p:sp>
        <p:nvSpPr>
          <p:cNvPr id="11" name="Text 8"/>
          <p:cNvSpPr/>
          <p:nvPr/>
        </p:nvSpPr>
        <p:spPr>
          <a:xfrm>
            <a:off x="566928" y="3566160"/>
            <a:ext cx="548640" cy="457200"/>
          </a:xfrm>
          <a:prstGeom prst="rect">
            <a:avLst/>
          </a:prstGeom>
          <a:noFill/>
          <a:ln/>
        </p:spPr>
        <p:txBody>
          <a:bodyPr wrap="square" lIns="0" tIns="0" rIns="0" bIns="0" rtlCol="0" anchor="ctr"/>
          <a:lstStyle/>
          <a:p>
            <a:pPr indent="0" marL="0">
              <a:buNone/>
            </a:pPr>
            <a:r>
              <a:rPr lang="en-US" sz="1600" dirty="0">
                <a:solidFill>
                  <a:srgbClr val="F07F06"/>
                </a:solidFill>
                <a:latin typeface="Arial Black" pitchFamily="34" charset="0"/>
                <a:ea typeface="Arial Black" pitchFamily="34" charset="-122"/>
                <a:cs typeface="Arial Black" pitchFamily="34" charset="-120"/>
              </a:rPr>
              <a:t>01</a:t>
            </a:r>
            <a:endParaRPr lang="en-US" sz="1600" dirty="0"/>
          </a:p>
        </p:txBody>
      </p:sp>
      <p:sp>
        <p:nvSpPr>
          <p:cNvPr id="12" name="Text 9"/>
          <p:cNvSpPr/>
          <p:nvPr/>
        </p:nvSpPr>
        <p:spPr>
          <a:xfrm>
            <a:off x="1225296" y="3630168"/>
            <a:ext cx="10399471" cy="457200"/>
          </a:xfrm>
          <a:prstGeom prst="rect">
            <a:avLst/>
          </a:prstGeom>
          <a:noFill/>
          <a:ln/>
        </p:spPr>
        <p:txBody>
          <a:bodyPr wrap="square" lIns="0" tIns="0" rIns="0" bIns="0" rtlCol="0" anchor="t"/>
          <a:lstStyle/>
          <a:p>
            <a:pPr indent="0" marL="0">
              <a:lnSpc>
                <a:spcPct val="124000"/>
              </a:lnSpc>
              <a:buNone/>
            </a:pPr>
            <a:r>
              <a:rPr lang="en-US" sz="1400" dirty="0">
                <a:solidFill>
                  <a:srgbClr val="3A3844"/>
                </a:solidFill>
                <a:latin typeface="Arial" pitchFamily="34" charset="0"/>
                <a:ea typeface="Arial" pitchFamily="34" charset="-122"/>
                <a:cs typeface="Arial" pitchFamily="34" charset="-120"/>
              </a:rPr>
              <a:t>¿Cómo se ponen de acuerdo participantes que no confían entre sí y pueden mentir?</a:t>
            </a:r>
            <a:endParaRPr lang="en-US" sz="1400" dirty="0"/>
          </a:p>
        </p:txBody>
      </p:sp>
      <p:sp>
        <p:nvSpPr>
          <p:cNvPr id="13" name="Text 10"/>
          <p:cNvSpPr/>
          <p:nvPr/>
        </p:nvSpPr>
        <p:spPr>
          <a:xfrm>
            <a:off x="566928" y="4133088"/>
            <a:ext cx="548640" cy="457200"/>
          </a:xfrm>
          <a:prstGeom prst="rect">
            <a:avLst/>
          </a:prstGeom>
          <a:noFill/>
          <a:ln/>
        </p:spPr>
        <p:txBody>
          <a:bodyPr wrap="square" lIns="0" tIns="0" rIns="0" bIns="0" rtlCol="0" anchor="ctr"/>
          <a:lstStyle/>
          <a:p>
            <a:pPr indent="0" marL="0">
              <a:buNone/>
            </a:pPr>
            <a:r>
              <a:rPr lang="en-US" sz="1600" dirty="0">
                <a:solidFill>
                  <a:srgbClr val="F07F06"/>
                </a:solidFill>
                <a:latin typeface="Arial Black" pitchFamily="34" charset="0"/>
                <a:ea typeface="Arial Black" pitchFamily="34" charset="-122"/>
                <a:cs typeface="Arial Black" pitchFamily="34" charset="-120"/>
              </a:rPr>
              <a:t>02</a:t>
            </a:r>
            <a:endParaRPr lang="en-US" sz="1600" dirty="0"/>
          </a:p>
        </p:txBody>
      </p:sp>
      <p:sp>
        <p:nvSpPr>
          <p:cNvPr id="14" name="Text 11"/>
          <p:cNvSpPr/>
          <p:nvPr/>
        </p:nvSpPr>
        <p:spPr>
          <a:xfrm>
            <a:off x="1225296" y="4197096"/>
            <a:ext cx="10399471" cy="457200"/>
          </a:xfrm>
          <a:prstGeom prst="rect">
            <a:avLst/>
          </a:prstGeom>
          <a:noFill/>
          <a:ln/>
        </p:spPr>
        <p:txBody>
          <a:bodyPr wrap="square" lIns="0" tIns="0" rIns="0" bIns="0" rtlCol="0" anchor="t"/>
          <a:lstStyle/>
          <a:p>
            <a:pPr indent="0" marL="0">
              <a:lnSpc>
                <a:spcPct val="124000"/>
              </a:lnSpc>
              <a:buNone/>
            </a:pPr>
            <a:r>
              <a:rPr lang="en-US" sz="1400" dirty="0">
                <a:solidFill>
                  <a:srgbClr val="3A3844"/>
                </a:solidFill>
                <a:latin typeface="Arial" pitchFamily="34" charset="0"/>
                <a:ea typeface="Arial" pitchFamily="34" charset="-122"/>
                <a:cs typeface="Arial" pitchFamily="34" charset="-120"/>
              </a:rPr>
              <a:t>¿Por qué hace falta gastar algo escaso —energía o capital— para votar?</a:t>
            </a:r>
            <a:endParaRPr lang="en-US" sz="1400" dirty="0"/>
          </a:p>
        </p:txBody>
      </p:sp>
      <p:sp>
        <p:nvSpPr>
          <p:cNvPr id="15" name="Text 12"/>
          <p:cNvSpPr/>
          <p:nvPr/>
        </p:nvSpPr>
        <p:spPr>
          <a:xfrm>
            <a:off x="566928" y="4700016"/>
            <a:ext cx="548640" cy="457200"/>
          </a:xfrm>
          <a:prstGeom prst="rect">
            <a:avLst/>
          </a:prstGeom>
          <a:noFill/>
          <a:ln/>
        </p:spPr>
        <p:txBody>
          <a:bodyPr wrap="square" lIns="0" tIns="0" rIns="0" bIns="0" rtlCol="0" anchor="ctr"/>
          <a:lstStyle/>
          <a:p>
            <a:pPr indent="0" marL="0">
              <a:buNone/>
            </a:pPr>
            <a:r>
              <a:rPr lang="en-US" sz="1600" dirty="0">
                <a:solidFill>
                  <a:srgbClr val="F07F06"/>
                </a:solidFill>
                <a:latin typeface="Arial Black" pitchFamily="34" charset="0"/>
                <a:ea typeface="Arial Black" pitchFamily="34" charset="-122"/>
                <a:cs typeface="Arial Black" pitchFamily="34" charset="-120"/>
              </a:rPr>
              <a:t>03</a:t>
            </a:r>
            <a:endParaRPr lang="en-US" sz="1600" dirty="0"/>
          </a:p>
        </p:txBody>
      </p:sp>
      <p:sp>
        <p:nvSpPr>
          <p:cNvPr id="16" name="Text 13"/>
          <p:cNvSpPr/>
          <p:nvPr/>
        </p:nvSpPr>
        <p:spPr>
          <a:xfrm>
            <a:off x="1225296" y="4764024"/>
            <a:ext cx="10399471" cy="457200"/>
          </a:xfrm>
          <a:prstGeom prst="rect">
            <a:avLst/>
          </a:prstGeom>
          <a:noFill/>
          <a:ln/>
        </p:spPr>
        <p:txBody>
          <a:bodyPr wrap="square" lIns="0" tIns="0" rIns="0" bIns="0" rtlCol="0" anchor="t"/>
          <a:lstStyle/>
          <a:p>
            <a:pPr indent="0" marL="0">
              <a:lnSpc>
                <a:spcPct val="124000"/>
              </a:lnSpc>
              <a:buNone/>
            </a:pPr>
            <a:r>
              <a:rPr lang="en-US" sz="1400" dirty="0">
                <a:solidFill>
                  <a:srgbClr val="3A3844"/>
                </a:solidFill>
                <a:latin typeface="Arial" pitchFamily="34" charset="0"/>
                <a:ea typeface="Arial" pitchFamily="34" charset="-122"/>
                <a:cs typeface="Arial" pitchFamily="34" charset="-120"/>
              </a:rPr>
              <a:t>¿Qué es exactamente una bifurcación, y cuándo una transacción es definitiva?</a:t>
            </a:r>
            <a:endParaRPr lang="en-US" sz="1400" dirty="0"/>
          </a:p>
        </p:txBody>
      </p:sp>
      <p:sp>
        <p:nvSpPr>
          <p:cNvPr id="17" name="Text 14"/>
          <p:cNvSpPr/>
          <p:nvPr/>
        </p:nvSpPr>
        <p:spPr>
          <a:xfrm>
            <a:off x="566928" y="5266944"/>
            <a:ext cx="548640" cy="457200"/>
          </a:xfrm>
          <a:prstGeom prst="rect">
            <a:avLst/>
          </a:prstGeom>
          <a:noFill/>
          <a:ln/>
        </p:spPr>
        <p:txBody>
          <a:bodyPr wrap="square" lIns="0" tIns="0" rIns="0" bIns="0" rtlCol="0" anchor="ctr"/>
          <a:lstStyle/>
          <a:p>
            <a:pPr indent="0" marL="0">
              <a:buNone/>
            </a:pPr>
            <a:r>
              <a:rPr lang="en-US" sz="1600" dirty="0">
                <a:solidFill>
                  <a:srgbClr val="F07F06"/>
                </a:solidFill>
                <a:latin typeface="Arial Black" pitchFamily="34" charset="0"/>
                <a:ea typeface="Arial Black" pitchFamily="34" charset="-122"/>
                <a:cs typeface="Arial Black" pitchFamily="34" charset="-120"/>
              </a:rPr>
              <a:t>04</a:t>
            </a:r>
            <a:endParaRPr lang="en-US" sz="1600" dirty="0"/>
          </a:p>
        </p:txBody>
      </p:sp>
      <p:sp>
        <p:nvSpPr>
          <p:cNvPr id="18" name="Text 15"/>
          <p:cNvSpPr/>
          <p:nvPr/>
        </p:nvSpPr>
        <p:spPr>
          <a:xfrm>
            <a:off x="1225296" y="5330952"/>
            <a:ext cx="10399471" cy="457200"/>
          </a:xfrm>
          <a:prstGeom prst="rect">
            <a:avLst/>
          </a:prstGeom>
          <a:noFill/>
          <a:ln/>
        </p:spPr>
        <p:txBody>
          <a:bodyPr wrap="square" lIns="0" tIns="0" rIns="0" bIns="0" rtlCol="0" anchor="t"/>
          <a:lstStyle/>
          <a:p>
            <a:pPr indent="0" marL="0">
              <a:lnSpc>
                <a:spcPct val="124000"/>
              </a:lnSpc>
              <a:buNone/>
            </a:pPr>
            <a:r>
              <a:rPr lang="en-US" sz="1400" dirty="0">
                <a:solidFill>
                  <a:srgbClr val="3A3844"/>
                </a:solidFill>
                <a:latin typeface="Arial" pitchFamily="34" charset="0"/>
                <a:ea typeface="Arial" pitchFamily="34" charset="-122"/>
                <a:cs typeface="Arial" pitchFamily="34" charset="-120"/>
              </a:rPr>
              <a:t>¿Por qué ningún diseño consigue a la vez descentralización, seguridad y escala?</a:t>
            </a:r>
            <a:endParaRPr lang="en-US" sz="1400" dirty="0"/>
          </a:p>
        </p:txBody>
      </p:sp>
      <p:sp>
        <p:nvSpPr>
          <p:cNvPr id="20" name="Shape 16"/>
          <p:cNvSpPr/>
          <p:nvPr/>
        </p:nvSpPr>
        <p:spPr>
          <a:xfrm>
            <a:off x="566928" y="5815584"/>
            <a:ext cx="11057839" cy="384048"/>
          </a:xfrm>
          <a:prstGeom prst="rect">
            <a:avLst/>
          </a:prstGeom>
          <a:solidFill>
            <a:srgbClr val="F2F0F5"/>
          </a:solidFill>
          <a:ln w="12700">
            <a:solidFill>
              <a:srgbClr val="7152E9"/>
            </a:solidFill>
            <a:prstDash val="solid"/>
          </a:ln>
        </p:spPr>
      </p:sp>
      <p:sp>
        <p:nvSpPr>
          <p:cNvPr id="21" name="Text 17"/>
          <p:cNvSpPr/>
          <p:nvPr/>
        </p:nvSpPr>
        <p:spPr>
          <a:xfrm>
            <a:off x="731520" y="5888736"/>
            <a:ext cx="10728655" cy="237744"/>
          </a:xfrm>
          <a:prstGeom prst="rect">
            <a:avLst/>
          </a:prstGeom>
          <a:noFill/>
          <a:ln/>
        </p:spPr>
        <p:txBody>
          <a:bodyPr wrap="square" lIns="0" tIns="0" rIns="0" bIns="0" rtlCol="0" anchor="ctr"/>
          <a:lstStyle/>
          <a:p>
            <a:pPr indent="0" marL="0">
              <a:lnSpc>
                <a:spcPct val="120000"/>
              </a:lnSpc>
              <a:buNone/>
            </a:pPr>
            <a:r>
              <a:rPr lang="en-US" sz="1050" dirty="0">
                <a:solidFill>
                  <a:srgbClr val="3A3844"/>
                </a:solidFill>
                <a:latin typeface="Courier New" pitchFamily="34" charset="0"/>
                <a:ea typeface="Courier New" pitchFamily="34" charset="-122"/>
                <a:cs typeface="Courier New" pitchFamily="34" charset="-120"/>
              </a:rPr>
              <a:t>RA2 · Comparar mecanismos de consenso y justificar la elección de una arquitectura frente a un problema concreto.</a:t>
            </a:r>
            <a:endParaRPr lang="en-US" sz="1050" dirty="0"/>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bg>
      <p:bgPr>
        <a:solidFill>
          <a:srgbClr val="FFFFFF"/>
        </a:solidFill>
      </p:bgPr>
    </p:bg>
    <p:spTree>
      <p:nvGrpSpPr>
        <p:cNvPr id="1" name=""/>
        <p:cNvGrpSpPr/>
        <p:nvPr/>
      </p:nvGrpSpPr>
      <p:grpSpPr>
        <a:xfrm>
          <a:off x="0" y="0"/>
          <a:ext cx="0" cy="0"/>
          <a:chOff x="0" y="0"/>
          <a:chExt cx="0" cy="0"/>
        </a:xfrm>
      </p:grpSpPr>
      <p:pic>
        <p:nvPicPr>
          <p:cNvPr id="2" name="Image 0" descr="preencoded.png">    </p:cNvPr>
          <p:cNvPicPr>
            <a:picLocks noChangeAspect="1"/>
          </p:cNvPicPr>
          <p:nvPr/>
        </p:nvPicPr>
        <p:blipFill>
          <a:blip r:embed="rId1"/>
          <a:stretch>
            <a:fillRect/>
          </a:stretch>
        </p:blipFill>
        <p:spPr>
          <a:xfrm>
            <a:off x="566928" y="402336"/>
            <a:ext cx="274320" cy="274320"/>
          </a:xfrm>
          <a:prstGeom prst="rect">
            <a:avLst/>
          </a:prstGeom>
        </p:spPr>
      </p:pic>
      <p:sp>
        <p:nvSpPr>
          <p:cNvPr id="3" name="Text 0"/>
          <p:cNvSpPr/>
          <p:nvPr/>
        </p:nvSpPr>
        <p:spPr>
          <a:xfrm>
            <a:off x="969264" y="384048"/>
            <a:ext cx="10655503" cy="310896"/>
          </a:xfrm>
          <a:prstGeom prst="rect">
            <a:avLst/>
          </a:prstGeom>
          <a:noFill/>
          <a:ln/>
        </p:spPr>
        <p:txBody>
          <a:bodyPr wrap="square" lIns="0" tIns="0" rIns="0" bIns="0" rtlCol="0" anchor="ctr"/>
          <a:lstStyle/>
          <a:p>
            <a:pPr indent="0" marL="0">
              <a:buNone/>
            </a:pPr>
            <a:r>
              <a:rPr lang="en-US" sz="950" spc="160" kern="0" dirty="0">
                <a:solidFill>
                  <a:srgbClr val="6F6B80"/>
                </a:solidFill>
                <a:latin typeface="Courier New" pitchFamily="34" charset="0"/>
                <a:ea typeface="Courier New" pitchFamily="34" charset="-122"/>
                <a:cs typeface="Courier New" pitchFamily="34" charset="-120"/>
              </a:rPr>
              <a:t>VOCABULARIO DE LA SESIÓN</a:t>
            </a:r>
            <a:endParaRPr lang="en-US" sz="950" dirty="0"/>
          </a:p>
        </p:txBody>
      </p:sp>
      <p:sp>
        <p:nvSpPr>
          <p:cNvPr id="4" name="Text 1"/>
          <p:cNvSpPr/>
          <p:nvPr/>
        </p:nvSpPr>
        <p:spPr>
          <a:xfrm>
            <a:off x="566928" y="777240"/>
            <a:ext cx="11057839" cy="777240"/>
          </a:xfrm>
          <a:prstGeom prst="rect">
            <a:avLst/>
          </a:prstGeom>
          <a:noFill/>
          <a:ln/>
        </p:spPr>
        <p:txBody>
          <a:bodyPr wrap="square" lIns="0" tIns="0" rIns="0" bIns="0" rtlCol="0" anchor="t"/>
          <a:lstStyle/>
          <a:p>
            <a:pPr indent="0" marL="0">
              <a:lnSpc>
                <a:spcPct val="92000"/>
              </a:lnSpc>
              <a:buNone/>
            </a:pPr>
            <a:r>
              <a:rPr lang="en-US" sz="2800" dirty="0">
                <a:solidFill>
                  <a:srgbClr val="0F0F11"/>
                </a:solidFill>
                <a:latin typeface="Arial Black" pitchFamily="34" charset="0"/>
                <a:ea typeface="Arial Black" pitchFamily="34" charset="-122"/>
                <a:cs typeface="Arial Black" pitchFamily="34" charset="-120"/>
              </a:rPr>
              <a:t>SIGLAS Y TÉRMINOS DE HOY</a:t>
            </a:r>
            <a:endParaRPr lang="en-US" sz="2800" dirty="0"/>
          </a:p>
        </p:txBody>
      </p:sp>
      <p:sp>
        <p:nvSpPr>
          <p:cNvPr id="5" name="Text 2"/>
          <p:cNvSpPr/>
          <p:nvPr/>
        </p:nvSpPr>
        <p:spPr>
          <a:xfrm>
            <a:off x="566928" y="6291072"/>
            <a:ext cx="8412480" cy="274320"/>
          </a:xfrm>
          <a:prstGeom prst="rect">
            <a:avLst/>
          </a:prstGeom>
          <a:noFill/>
          <a:ln/>
        </p:spPr>
        <p:txBody>
          <a:bodyPr wrap="square" lIns="0" tIns="0" rIns="0" bIns="0" rtlCol="0" anchor="ctr"/>
          <a:lstStyle/>
          <a:p>
            <a:pPr indent="0" marL="0">
              <a:buNone/>
            </a:pPr>
            <a:r>
              <a:rPr lang="en-US" sz="800" spc="120" kern="0" dirty="0">
                <a:solidFill>
                  <a:srgbClr val="6F6B80"/>
                </a:solidFill>
                <a:latin typeface="Courier New" pitchFamily="34" charset="0"/>
                <a:ea typeface="Courier New" pitchFamily="34" charset="-122"/>
                <a:cs typeface="Courier New" pitchFamily="34" charset="-120"/>
              </a:rPr>
              <a:t>SESIÓN 04 · CONSENSO, INCENTIVOS Y EL TRILEMA</a:t>
            </a:r>
            <a:endParaRPr lang="en-US" sz="800" dirty="0"/>
          </a:p>
        </p:txBody>
      </p:sp>
      <p:sp>
        <p:nvSpPr>
          <p:cNvPr id="6" name="Text 3"/>
          <p:cNvSpPr/>
          <p:nvPr/>
        </p:nvSpPr>
        <p:spPr>
          <a:xfrm>
            <a:off x="9052560" y="6291072"/>
            <a:ext cx="1828800" cy="274320"/>
          </a:xfrm>
          <a:prstGeom prst="rect">
            <a:avLst/>
          </a:prstGeom>
          <a:noFill/>
          <a:ln/>
        </p:spPr>
        <p:txBody>
          <a:bodyPr wrap="square" lIns="0" tIns="0" rIns="0" bIns="0" rtlCol="0" anchor="ctr"/>
          <a:lstStyle/>
          <a:p>
            <a:pPr algn="r" indent="0" marL="0">
              <a:buNone/>
            </a:pPr>
            <a:r>
              <a:rPr lang="en-US" sz="800" spc="120" kern="0" dirty="0">
                <a:solidFill>
                  <a:srgbClr val="6F6B80"/>
                </a:solidFill>
                <a:latin typeface="Courier New" pitchFamily="34" charset="0"/>
                <a:ea typeface="Courier New" pitchFamily="34" charset="-122"/>
                <a:cs typeface="Courier New" pitchFamily="34" charset="-120"/>
              </a:rPr>
              <a:t>USB MEDELLÍN</a:t>
            </a:r>
            <a:endParaRPr lang="en-US" sz="800" dirty="0"/>
          </a:p>
        </p:txBody>
      </p:sp>
      <p:sp>
        <p:nvSpPr>
          <p:cNvPr id="7" name="Text 4"/>
          <p:cNvSpPr/>
          <p:nvPr/>
        </p:nvSpPr>
        <p:spPr>
          <a:xfrm>
            <a:off x="11018520" y="6291072"/>
            <a:ext cx="603504" cy="274320"/>
          </a:xfrm>
          <a:prstGeom prst="rect">
            <a:avLst/>
          </a:prstGeom>
          <a:noFill/>
          <a:ln/>
        </p:spPr>
        <p:txBody>
          <a:bodyPr wrap="square" lIns="0" tIns="0" rIns="0" bIns="0" rtlCol="0" anchor="ctr"/>
          <a:lstStyle/>
          <a:p>
            <a:pPr algn="r" indent="0" marL="0">
              <a:buNone/>
            </a:pPr>
            <a:r>
              <a:rPr lang="en-US" sz="900" b="1" dirty="0">
                <a:solidFill>
                  <a:srgbClr val="0F0F11"/>
                </a:solidFill>
                <a:latin typeface="Courier New" pitchFamily="34" charset="0"/>
                <a:ea typeface="Courier New" pitchFamily="34" charset="-122"/>
                <a:cs typeface="Courier New" pitchFamily="34" charset="-120"/>
              </a:rPr>
              <a:t>04</a:t>
            </a:r>
            <a:endParaRPr lang="en-US" sz="900" dirty="0"/>
          </a:p>
        </p:txBody>
      </p:sp>
      <p:sp>
        <p:nvSpPr>
          <p:cNvPr id="8" name="Shape 5"/>
          <p:cNvSpPr/>
          <p:nvPr/>
        </p:nvSpPr>
        <p:spPr>
          <a:xfrm>
            <a:off x="566928" y="1737360"/>
            <a:ext cx="5419192" cy="1014984"/>
          </a:xfrm>
          <a:prstGeom prst="rect">
            <a:avLst/>
          </a:prstGeom>
          <a:solidFill>
            <a:srgbClr val="FFFFFF"/>
          </a:solidFill>
          <a:ln w="15875">
            <a:solidFill>
              <a:srgbClr val="7152E9"/>
            </a:solidFill>
            <a:prstDash val="solid"/>
          </a:ln>
        </p:spPr>
      </p:sp>
      <p:sp>
        <p:nvSpPr>
          <p:cNvPr id="9" name="Shape 6"/>
          <p:cNvSpPr/>
          <p:nvPr/>
        </p:nvSpPr>
        <p:spPr>
          <a:xfrm>
            <a:off x="566928" y="1737360"/>
            <a:ext cx="82296" cy="1014984"/>
          </a:xfrm>
          <a:prstGeom prst="rect">
            <a:avLst/>
          </a:prstGeom>
          <a:solidFill>
            <a:srgbClr val="7152E9"/>
          </a:solidFill>
          <a:ln w="12700">
            <a:solidFill>
              <a:srgbClr val="333333"/>
            </a:solidFill>
            <a:prstDash val="solid"/>
          </a:ln>
        </p:spPr>
      </p:sp>
      <p:sp>
        <p:nvSpPr>
          <p:cNvPr id="10" name="Text 7"/>
          <p:cNvSpPr/>
          <p:nvPr/>
        </p:nvSpPr>
        <p:spPr>
          <a:xfrm>
            <a:off x="822960" y="1810512"/>
            <a:ext cx="2103120" cy="274320"/>
          </a:xfrm>
          <a:prstGeom prst="rect">
            <a:avLst/>
          </a:prstGeom>
          <a:noFill/>
          <a:ln/>
        </p:spPr>
        <p:txBody>
          <a:bodyPr wrap="square" lIns="0" tIns="0" rIns="0" bIns="0" rtlCol="0" anchor="ctr"/>
          <a:lstStyle/>
          <a:p>
            <a:pPr indent="0" marL="0">
              <a:buNone/>
            </a:pPr>
            <a:r>
              <a:rPr lang="en-US" sz="1100" b="1" spc="60" kern="0" dirty="0">
                <a:solidFill>
                  <a:srgbClr val="5638C9"/>
                </a:solidFill>
                <a:latin typeface="Courier New" pitchFamily="34" charset="0"/>
                <a:ea typeface="Courier New" pitchFamily="34" charset="-122"/>
                <a:cs typeface="Courier New" pitchFamily="34" charset="-120"/>
              </a:rPr>
              <a:t>BFT</a:t>
            </a:r>
            <a:endParaRPr lang="en-US" sz="1100" dirty="0"/>
          </a:p>
        </p:txBody>
      </p:sp>
      <p:sp>
        <p:nvSpPr>
          <p:cNvPr id="11" name="Text 8"/>
          <p:cNvSpPr/>
          <p:nvPr/>
        </p:nvSpPr>
        <p:spPr>
          <a:xfrm>
            <a:off x="2898648" y="1810512"/>
            <a:ext cx="2904592" cy="274320"/>
          </a:xfrm>
          <a:prstGeom prst="rect">
            <a:avLst/>
          </a:prstGeom>
          <a:noFill/>
          <a:ln/>
        </p:spPr>
        <p:txBody>
          <a:bodyPr wrap="square" lIns="0" tIns="0" rIns="0" bIns="0" rtlCol="0" anchor="ctr"/>
          <a:lstStyle/>
          <a:p>
            <a:pPr indent="0" marL="0">
              <a:buNone/>
            </a:pPr>
            <a:r>
              <a:rPr lang="en-US" sz="1050" i="1" dirty="0">
                <a:solidFill>
                  <a:srgbClr val="6F6B80"/>
                </a:solidFill>
                <a:latin typeface="Arial" pitchFamily="34" charset="0"/>
                <a:ea typeface="Arial" pitchFamily="34" charset="-122"/>
                <a:cs typeface="Arial" pitchFamily="34" charset="-120"/>
              </a:rPr>
              <a:t>Byzantine Fault Tolerance</a:t>
            </a:r>
            <a:endParaRPr lang="en-US" sz="1050" dirty="0"/>
          </a:p>
        </p:txBody>
      </p:sp>
      <p:sp>
        <p:nvSpPr>
          <p:cNvPr id="12" name="Text 9"/>
          <p:cNvSpPr/>
          <p:nvPr/>
        </p:nvSpPr>
        <p:spPr>
          <a:xfrm>
            <a:off x="822960" y="2121408"/>
            <a:ext cx="5007712" cy="557784"/>
          </a:xfrm>
          <a:prstGeom prst="rect">
            <a:avLst/>
          </a:prstGeom>
          <a:noFill/>
          <a:ln/>
        </p:spPr>
        <p:txBody>
          <a:bodyPr wrap="square" lIns="0" tIns="0" rIns="0" bIns="0" rtlCol="0" anchor="t"/>
          <a:lstStyle/>
          <a:p>
            <a:pPr indent="0" marL="0">
              <a:lnSpc>
                <a:spcPct val="115000"/>
              </a:lnSpc>
              <a:buNone/>
            </a:pPr>
            <a:r>
              <a:rPr lang="en-US" sz="1100" dirty="0">
                <a:solidFill>
                  <a:srgbClr val="3A3844"/>
                </a:solidFill>
                <a:latin typeface="Arial" pitchFamily="34" charset="0"/>
                <a:ea typeface="Arial" pitchFamily="34" charset="-122"/>
                <a:cs typeface="Arial" pitchFamily="34" charset="-120"/>
              </a:rPr>
              <a:t>Tolerancia a fallas bizantinas: el sistema sigue acordando aunque algunos participantes mientan o actúen de forma arbitraria.</a:t>
            </a:r>
            <a:endParaRPr lang="en-US" sz="1100" dirty="0"/>
          </a:p>
        </p:txBody>
      </p:sp>
      <p:sp>
        <p:nvSpPr>
          <p:cNvPr id="13" name="Shape 10"/>
          <p:cNvSpPr/>
          <p:nvPr/>
        </p:nvSpPr>
        <p:spPr>
          <a:xfrm>
            <a:off x="6205576" y="1737360"/>
            <a:ext cx="5419192" cy="1014984"/>
          </a:xfrm>
          <a:prstGeom prst="rect">
            <a:avLst/>
          </a:prstGeom>
          <a:solidFill>
            <a:srgbClr val="FFFFFF"/>
          </a:solidFill>
          <a:ln w="15875">
            <a:solidFill>
              <a:srgbClr val="7152E9"/>
            </a:solidFill>
            <a:prstDash val="solid"/>
          </a:ln>
        </p:spPr>
      </p:sp>
      <p:sp>
        <p:nvSpPr>
          <p:cNvPr id="14" name="Shape 11"/>
          <p:cNvSpPr/>
          <p:nvPr/>
        </p:nvSpPr>
        <p:spPr>
          <a:xfrm>
            <a:off x="6205576" y="1737360"/>
            <a:ext cx="82296" cy="1014984"/>
          </a:xfrm>
          <a:prstGeom prst="rect">
            <a:avLst/>
          </a:prstGeom>
          <a:solidFill>
            <a:srgbClr val="7152E9"/>
          </a:solidFill>
          <a:ln w="12700">
            <a:solidFill>
              <a:srgbClr val="333333"/>
            </a:solidFill>
            <a:prstDash val="solid"/>
          </a:ln>
        </p:spPr>
      </p:sp>
      <p:sp>
        <p:nvSpPr>
          <p:cNvPr id="15" name="Text 12"/>
          <p:cNvSpPr/>
          <p:nvPr/>
        </p:nvSpPr>
        <p:spPr>
          <a:xfrm>
            <a:off x="6461608" y="1810512"/>
            <a:ext cx="2103120" cy="274320"/>
          </a:xfrm>
          <a:prstGeom prst="rect">
            <a:avLst/>
          </a:prstGeom>
          <a:noFill/>
          <a:ln/>
        </p:spPr>
        <p:txBody>
          <a:bodyPr wrap="square" lIns="0" tIns="0" rIns="0" bIns="0" rtlCol="0" anchor="ctr"/>
          <a:lstStyle/>
          <a:p>
            <a:pPr indent="0" marL="0">
              <a:buNone/>
            </a:pPr>
            <a:r>
              <a:rPr lang="en-US" sz="1100" b="1" spc="60" kern="0" dirty="0">
                <a:solidFill>
                  <a:srgbClr val="5638C9"/>
                </a:solidFill>
                <a:latin typeface="Courier New" pitchFamily="34" charset="0"/>
                <a:ea typeface="Courier New" pitchFamily="34" charset="-122"/>
                <a:cs typeface="Courier New" pitchFamily="34" charset="-120"/>
              </a:rPr>
              <a:t>POW</a:t>
            </a:r>
            <a:endParaRPr lang="en-US" sz="1100" dirty="0"/>
          </a:p>
        </p:txBody>
      </p:sp>
      <p:sp>
        <p:nvSpPr>
          <p:cNvPr id="16" name="Text 13"/>
          <p:cNvSpPr/>
          <p:nvPr/>
        </p:nvSpPr>
        <p:spPr>
          <a:xfrm>
            <a:off x="8537296" y="1810512"/>
            <a:ext cx="2904592" cy="274320"/>
          </a:xfrm>
          <a:prstGeom prst="rect">
            <a:avLst/>
          </a:prstGeom>
          <a:noFill/>
          <a:ln/>
        </p:spPr>
        <p:txBody>
          <a:bodyPr wrap="square" lIns="0" tIns="0" rIns="0" bIns="0" rtlCol="0" anchor="ctr"/>
          <a:lstStyle/>
          <a:p>
            <a:pPr indent="0" marL="0">
              <a:buNone/>
            </a:pPr>
            <a:r>
              <a:rPr lang="en-US" sz="1050" i="1" dirty="0">
                <a:solidFill>
                  <a:srgbClr val="6F6B80"/>
                </a:solidFill>
                <a:latin typeface="Arial" pitchFamily="34" charset="0"/>
                <a:ea typeface="Arial" pitchFamily="34" charset="-122"/>
                <a:cs typeface="Arial" pitchFamily="34" charset="-120"/>
              </a:rPr>
              <a:t>Proof of Work · prueba de trabajo</a:t>
            </a:r>
            <a:endParaRPr lang="en-US" sz="1050" dirty="0"/>
          </a:p>
        </p:txBody>
      </p:sp>
      <p:sp>
        <p:nvSpPr>
          <p:cNvPr id="17" name="Text 14"/>
          <p:cNvSpPr/>
          <p:nvPr/>
        </p:nvSpPr>
        <p:spPr>
          <a:xfrm>
            <a:off x="6461608" y="2121408"/>
            <a:ext cx="5007712" cy="557784"/>
          </a:xfrm>
          <a:prstGeom prst="rect">
            <a:avLst/>
          </a:prstGeom>
          <a:noFill/>
          <a:ln/>
        </p:spPr>
        <p:txBody>
          <a:bodyPr wrap="square" lIns="0" tIns="0" rIns="0" bIns="0" rtlCol="0" anchor="t"/>
          <a:lstStyle/>
          <a:p>
            <a:pPr indent="0" marL="0">
              <a:lnSpc>
                <a:spcPct val="115000"/>
              </a:lnSpc>
              <a:buNone/>
            </a:pPr>
            <a:r>
              <a:rPr lang="en-US" sz="1100" dirty="0">
                <a:solidFill>
                  <a:srgbClr val="3A3844"/>
                </a:solidFill>
                <a:latin typeface="Arial" pitchFamily="34" charset="0"/>
                <a:ea typeface="Arial" pitchFamily="34" charset="-122"/>
                <a:cs typeface="Arial" pitchFamily="34" charset="-120"/>
              </a:rPr>
              <a:t>Derecho a proponer el siguiente bloque ganado gastando cómputo verificable. Bitcoin.</a:t>
            </a:r>
            <a:endParaRPr lang="en-US" sz="1100" dirty="0"/>
          </a:p>
        </p:txBody>
      </p:sp>
      <p:sp>
        <p:nvSpPr>
          <p:cNvPr id="18" name="Shape 15"/>
          <p:cNvSpPr/>
          <p:nvPr/>
        </p:nvSpPr>
        <p:spPr>
          <a:xfrm>
            <a:off x="566928" y="2880360"/>
            <a:ext cx="5419192" cy="1014984"/>
          </a:xfrm>
          <a:prstGeom prst="rect">
            <a:avLst/>
          </a:prstGeom>
          <a:solidFill>
            <a:srgbClr val="FFFFFF"/>
          </a:solidFill>
          <a:ln w="15875">
            <a:solidFill>
              <a:srgbClr val="7152E9"/>
            </a:solidFill>
            <a:prstDash val="solid"/>
          </a:ln>
        </p:spPr>
      </p:sp>
      <p:sp>
        <p:nvSpPr>
          <p:cNvPr id="19" name="Shape 16"/>
          <p:cNvSpPr/>
          <p:nvPr/>
        </p:nvSpPr>
        <p:spPr>
          <a:xfrm>
            <a:off x="566928" y="2880360"/>
            <a:ext cx="82296" cy="1014984"/>
          </a:xfrm>
          <a:prstGeom prst="rect">
            <a:avLst/>
          </a:prstGeom>
          <a:solidFill>
            <a:srgbClr val="7152E9"/>
          </a:solidFill>
          <a:ln w="12700">
            <a:solidFill>
              <a:srgbClr val="333333"/>
            </a:solidFill>
            <a:prstDash val="solid"/>
          </a:ln>
        </p:spPr>
      </p:sp>
      <p:sp>
        <p:nvSpPr>
          <p:cNvPr id="20" name="Text 17"/>
          <p:cNvSpPr/>
          <p:nvPr/>
        </p:nvSpPr>
        <p:spPr>
          <a:xfrm>
            <a:off x="822960" y="2953512"/>
            <a:ext cx="2103120" cy="274320"/>
          </a:xfrm>
          <a:prstGeom prst="rect">
            <a:avLst/>
          </a:prstGeom>
          <a:noFill/>
          <a:ln/>
        </p:spPr>
        <p:txBody>
          <a:bodyPr wrap="square" lIns="0" tIns="0" rIns="0" bIns="0" rtlCol="0" anchor="ctr"/>
          <a:lstStyle/>
          <a:p>
            <a:pPr indent="0" marL="0">
              <a:buNone/>
            </a:pPr>
            <a:r>
              <a:rPr lang="en-US" sz="1100" b="1" spc="60" kern="0" dirty="0">
                <a:solidFill>
                  <a:srgbClr val="5638C9"/>
                </a:solidFill>
                <a:latin typeface="Courier New" pitchFamily="34" charset="0"/>
                <a:ea typeface="Courier New" pitchFamily="34" charset="-122"/>
                <a:cs typeface="Courier New" pitchFamily="34" charset="-120"/>
              </a:rPr>
              <a:t>POS</a:t>
            </a:r>
            <a:endParaRPr lang="en-US" sz="1100" dirty="0"/>
          </a:p>
        </p:txBody>
      </p:sp>
      <p:sp>
        <p:nvSpPr>
          <p:cNvPr id="21" name="Text 18"/>
          <p:cNvSpPr/>
          <p:nvPr/>
        </p:nvSpPr>
        <p:spPr>
          <a:xfrm>
            <a:off x="2898648" y="2953512"/>
            <a:ext cx="2904592" cy="274320"/>
          </a:xfrm>
          <a:prstGeom prst="rect">
            <a:avLst/>
          </a:prstGeom>
          <a:noFill/>
          <a:ln/>
        </p:spPr>
        <p:txBody>
          <a:bodyPr wrap="square" lIns="0" tIns="0" rIns="0" bIns="0" rtlCol="0" anchor="ctr"/>
          <a:lstStyle/>
          <a:p>
            <a:pPr indent="0" marL="0">
              <a:buNone/>
            </a:pPr>
            <a:r>
              <a:rPr lang="en-US" sz="1050" i="1" dirty="0">
                <a:solidFill>
                  <a:srgbClr val="6F6B80"/>
                </a:solidFill>
                <a:latin typeface="Arial" pitchFamily="34" charset="0"/>
                <a:ea typeface="Arial" pitchFamily="34" charset="-122"/>
                <a:cs typeface="Arial" pitchFamily="34" charset="-120"/>
              </a:rPr>
              <a:t>Proof of Stake · prueba de participación</a:t>
            </a:r>
            <a:endParaRPr lang="en-US" sz="1050" dirty="0"/>
          </a:p>
        </p:txBody>
      </p:sp>
      <p:sp>
        <p:nvSpPr>
          <p:cNvPr id="22" name="Text 19"/>
          <p:cNvSpPr/>
          <p:nvPr/>
        </p:nvSpPr>
        <p:spPr>
          <a:xfrm>
            <a:off x="822960" y="3264408"/>
            <a:ext cx="5007712" cy="557784"/>
          </a:xfrm>
          <a:prstGeom prst="rect">
            <a:avLst/>
          </a:prstGeom>
          <a:noFill/>
          <a:ln/>
        </p:spPr>
        <p:txBody>
          <a:bodyPr wrap="square" lIns="0" tIns="0" rIns="0" bIns="0" rtlCol="0" anchor="t"/>
          <a:lstStyle/>
          <a:p>
            <a:pPr indent="0" marL="0">
              <a:lnSpc>
                <a:spcPct val="115000"/>
              </a:lnSpc>
              <a:buNone/>
            </a:pPr>
            <a:r>
              <a:rPr lang="en-US" sz="1100" dirty="0">
                <a:solidFill>
                  <a:srgbClr val="3A3844"/>
                </a:solidFill>
                <a:latin typeface="Arial" pitchFamily="34" charset="0"/>
                <a:ea typeface="Arial" pitchFamily="34" charset="-122"/>
                <a:cs typeface="Arial" pitchFamily="34" charset="-120"/>
              </a:rPr>
              <a:t>Derecho a proponer y votar ganado inmovilizando capital que se puede perder. Ethereum desde 2022.</a:t>
            </a:r>
            <a:endParaRPr lang="en-US" sz="1100" dirty="0"/>
          </a:p>
        </p:txBody>
      </p:sp>
      <p:sp>
        <p:nvSpPr>
          <p:cNvPr id="23" name="Shape 20"/>
          <p:cNvSpPr/>
          <p:nvPr/>
        </p:nvSpPr>
        <p:spPr>
          <a:xfrm>
            <a:off x="6205576" y="2880360"/>
            <a:ext cx="5419192" cy="1014984"/>
          </a:xfrm>
          <a:prstGeom prst="rect">
            <a:avLst/>
          </a:prstGeom>
          <a:solidFill>
            <a:srgbClr val="FFFFFF"/>
          </a:solidFill>
          <a:ln w="15875">
            <a:solidFill>
              <a:srgbClr val="7152E9"/>
            </a:solidFill>
            <a:prstDash val="solid"/>
          </a:ln>
        </p:spPr>
      </p:sp>
      <p:sp>
        <p:nvSpPr>
          <p:cNvPr id="24" name="Shape 21"/>
          <p:cNvSpPr/>
          <p:nvPr/>
        </p:nvSpPr>
        <p:spPr>
          <a:xfrm>
            <a:off x="6205576" y="2880360"/>
            <a:ext cx="82296" cy="1014984"/>
          </a:xfrm>
          <a:prstGeom prst="rect">
            <a:avLst/>
          </a:prstGeom>
          <a:solidFill>
            <a:srgbClr val="7152E9"/>
          </a:solidFill>
          <a:ln w="12700">
            <a:solidFill>
              <a:srgbClr val="333333"/>
            </a:solidFill>
            <a:prstDash val="solid"/>
          </a:ln>
        </p:spPr>
      </p:sp>
      <p:sp>
        <p:nvSpPr>
          <p:cNvPr id="25" name="Text 22"/>
          <p:cNvSpPr/>
          <p:nvPr/>
        </p:nvSpPr>
        <p:spPr>
          <a:xfrm>
            <a:off x="6461608" y="2953512"/>
            <a:ext cx="2103120" cy="274320"/>
          </a:xfrm>
          <a:prstGeom prst="rect">
            <a:avLst/>
          </a:prstGeom>
          <a:noFill/>
          <a:ln/>
        </p:spPr>
        <p:txBody>
          <a:bodyPr wrap="square" lIns="0" tIns="0" rIns="0" bIns="0" rtlCol="0" anchor="ctr"/>
          <a:lstStyle/>
          <a:p>
            <a:pPr indent="0" marL="0">
              <a:buNone/>
            </a:pPr>
            <a:r>
              <a:rPr lang="en-US" sz="1100" b="1" spc="60" kern="0" dirty="0">
                <a:solidFill>
                  <a:srgbClr val="5638C9"/>
                </a:solidFill>
                <a:latin typeface="Courier New" pitchFamily="34" charset="0"/>
                <a:ea typeface="Courier New" pitchFamily="34" charset="-122"/>
                <a:cs typeface="Courier New" pitchFamily="34" charset="-120"/>
              </a:rPr>
              <a:t>POA</a:t>
            </a:r>
            <a:endParaRPr lang="en-US" sz="1100" dirty="0"/>
          </a:p>
        </p:txBody>
      </p:sp>
      <p:sp>
        <p:nvSpPr>
          <p:cNvPr id="26" name="Text 23"/>
          <p:cNvSpPr/>
          <p:nvPr/>
        </p:nvSpPr>
        <p:spPr>
          <a:xfrm>
            <a:off x="8537296" y="2953512"/>
            <a:ext cx="2904592" cy="274320"/>
          </a:xfrm>
          <a:prstGeom prst="rect">
            <a:avLst/>
          </a:prstGeom>
          <a:noFill/>
          <a:ln/>
        </p:spPr>
        <p:txBody>
          <a:bodyPr wrap="square" lIns="0" tIns="0" rIns="0" bIns="0" rtlCol="0" anchor="ctr"/>
          <a:lstStyle/>
          <a:p>
            <a:pPr indent="0" marL="0">
              <a:buNone/>
            </a:pPr>
            <a:r>
              <a:rPr lang="en-US" sz="1050" i="1" dirty="0">
                <a:solidFill>
                  <a:srgbClr val="6F6B80"/>
                </a:solidFill>
                <a:latin typeface="Arial" pitchFamily="34" charset="0"/>
                <a:ea typeface="Arial" pitchFamily="34" charset="-122"/>
                <a:cs typeface="Arial" pitchFamily="34" charset="-120"/>
              </a:rPr>
              <a:t>Proof of Authority · prueba de autoridad</a:t>
            </a:r>
            <a:endParaRPr lang="en-US" sz="1050" dirty="0"/>
          </a:p>
        </p:txBody>
      </p:sp>
      <p:sp>
        <p:nvSpPr>
          <p:cNvPr id="27" name="Text 24"/>
          <p:cNvSpPr/>
          <p:nvPr/>
        </p:nvSpPr>
        <p:spPr>
          <a:xfrm>
            <a:off x="6461608" y="3264408"/>
            <a:ext cx="5007712" cy="557784"/>
          </a:xfrm>
          <a:prstGeom prst="rect">
            <a:avLst/>
          </a:prstGeom>
          <a:noFill/>
          <a:ln/>
        </p:spPr>
        <p:txBody>
          <a:bodyPr wrap="square" lIns="0" tIns="0" rIns="0" bIns="0" rtlCol="0" anchor="t"/>
          <a:lstStyle/>
          <a:p>
            <a:pPr indent="0" marL="0">
              <a:lnSpc>
                <a:spcPct val="115000"/>
              </a:lnSpc>
              <a:buNone/>
            </a:pPr>
            <a:r>
              <a:rPr lang="en-US" sz="1100" dirty="0">
                <a:solidFill>
                  <a:srgbClr val="3A3844"/>
                </a:solidFill>
                <a:latin typeface="Arial" pitchFamily="34" charset="0"/>
                <a:ea typeface="Arial" pitchFamily="34" charset="-122"/>
                <a:cs typeface="Arial" pitchFamily="34" charset="-120"/>
              </a:rPr>
              <a:t>Un conjunto conocido y fijo de validadores identificados. Redes permisionadas y de prueba.</a:t>
            </a:r>
            <a:endParaRPr lang="en-US" sz="1100" dirty="0"/>
          </a:p>
        </p:txBody>
      </p:sp>
      <p:sp>
        <p:nvSpPr>
          <p:cNvPr id="28" name="Shape 25"/>
          <p:cNvSpPr/>
          <p:nvPr/>
        </p:nvSpPr>
        <p:spPr>
          <a:xfrm>
            <a:off x="566928" y="4023360"/>
            <a:ext cx="5419192" cy="1014984"/>
          </a:xfrm>
          <a:prstGeom prst="rect">
            <a:avLst/>
          </a:prstGeom>
          <a:solidFill>
            <a:srgbClr val="FFFFFF"/>
          </a:solidFill>
          <a:ln w="15875">
            <a:solidFill>
              <a:srgbClr val="7152E9"/>
            </a:solidFill>
            <a:prstDash val="solid"/>
          </a:ln>
        </p:spPr>
      </p:sp>
      <p:sp>
        <p:nvSpPr>
          <p:cNvPr id="29" name="Shape 26"/>
          <p:cNvSpPr/>
          <p:nvPr/>
        </p:nvSpPr>
        <p:spPr>
          <a:xfrm>
            <a:off x="566928" y="4023360"/>
            <a:ext cx="82296" cy="1014984"/>
          </a:xfrm>
          <a:prstGeom prst="rect">
            <a:avLst/>
          </a:prstGeom>
          <a:solidFill>
            <a:srgbClr val="7152E9"/>
          </a:solidFill>
          <a:ln w="12700">
            <a:solidFill>
              <a:srgbClr val="333333"/>
            </a:solidFill>
            <a:prstDash val="solid"/>
          </a:ln>
        </p:spPr>
      </p:sp>
      <p:sp>
        <p:nvSpPr>
          <p:cNvPr id="30" name="Text 27"/>
          <p:cNvSpPr/>
          <p:nvPr/>
        </p:nvSpPr>
        <p:spPr>
          <a:xfrm>
            <a:off x="822960" y="4096512"/>
            <a:ext cx="2103120" cy="274320"/>
          </a:xfrm>
          <a:prstGeom prst="rect">
            <a:avLst/>
          </a:prstGeom>
          <a:noFill/>
          <a:ln/>
        </p:spPr>
        <p:txBody>
          <a:bodyPr wrap="square" lIns="0" tIns="0" rIns="0" bIns="0" rtlCol="0" anchor="ctr"/>
          <a:lstStyle/>
          <a:p>
            <a:pPr indent="0" marL="0">
              <a:buNone/>
            </a:pPr>
            <a:r>
              <a:rPr lang="en-US" sz="1100" b="1" spc="60" kern="0" dirty="0">
                <a:solidFill>
                  <a:srgbClr val="5638C9"/>
                </a:solidFill>
                <a:latin typeface="Courier New" pitchFamily="34" charset="0"/>
                <a:ea typeface="Courier New" pitchFamily="34" charset="-122"/>
                <a:cs typeface="Courier New" pitchFamily="34" charset="-120"/>
              </a:rPr>
              <a:t>PBFT</a:t>
            </a:r>
            <a:endParaRPr lang="en-US" sz="1100" dirty="0"/>
          </a:p>
        </p:txBody>
      </p:sp>
      <p:sp>
        <p:nvSpPr>
          <p:cNvPr id="31" name="Text 28"/>
          <p:cNvSpPr/>
          <p:nvPr/>
        </p:nvSpPr>
        <p:spPr>
          <a:xfrm>
            <a:off x="2898648" y="4096512"/>
            <a:ext cx="2904592" cy="274320"/>
          </a:xfrm>
          <a:prstGeom prst="rect">
            <a:avLst/>
          </a:prstGeom>
          <a:noFill/>
          <a:ln/>
        </p:spPr>
        <p:txBody>
          <a:bodyPr wrap="square" lIns="0" tIns="0" rIns="0" bIns="0" rtlCol="0" anchor="ctr"/>
          <a:lstStyle/>
          <a:p>
            <a:pPr indent="0" marL="0">
              <a:buNone/>
            </a:pPr>
            <a:r>
              <a:rPr lang="en-US" sz="1050" i="1" dirty="0">
                <a:solidFill>
                  <a:srgbClr val="6F6B80"/>
                </a:solidFill>
                <a:latin typeface="Arial" pitchFamily="34" charset="0"/>
                <a:ea typeface="Arial" pitchFamily="34" charset="-122"/>
                <a:cs typeface="Arial" pitchFamily="34" charset="-120"/>
              </a:rPr>
              <a:t>Practical BFT</a:t>
            </a:r>
            <a:endParaRPr lang="en-US" sz="1050" dirty="0"/>
          </a:p>
        </p:txBody>
      </p:sp>
      <p:sp>
        <p:nvSpPr>
          <p:cNvPr id="32" name="Text 29"/>
          <p:cNvSpPr/>
          <p:nvPr/>
        </p:nvSpPr>
        <p:spPr>
          <a:xfrm>
            <a:off x="822960" y="4407408"/>
            <a:ext cx="5007712" cy="557784"/>
          </a:xfrm>
          <a:prstGeom prst="rect">
            <a:avLst/>
          </a:prstGeom>
          <a:noFill/>
          <a:ln/>
        </p:spPr>
        <p:txBody>
          <a:bodyPr wrap="square" lIns="0" tIns="0" rIns="0" bIns="0" rtlCol="0" anchor="t"/>
          <a:lstStyle/>
          <a:p>
            <a:pPr indent="0" marL="0">
              <a:lnSpc>
                <a:spcPct val="115000"/>
              </a:lnSpc>
              <a:buNone/>
            </a:pPr>
            <a:r>
              <a:rPr lang="en-US" sz="1100" dirty="0">
                <a:solidFill>
                  <a:srgbClr val="3A3844"/>
                </a:solidFill>
                <a:latin typeface="Arial" pitchFamily="34" charset="0"/>
                <a:ea typeface="Arial" pitchFamily="34" charset="-122"/>
                <a:cs typeface="Arial" pitchFamily="34" charset="-120"/>
              </a:rPr>
              <a:t>Protocolo clásico (1999) de acuerdo por rondas de votación entre nodos conocidos. Finalidad inmediata.</a:t>
            </a:r>
            <a:endParaRPr lang="en-US" sz="1100" dirty="0"/>
          </a:p>
        </p:txBody>
      </p:sp>
      <p:sp>
        <p:nvSpPr>
          <p:cNvPr id="33" name="Shape 30"/>
          <p:cNvSpPr/>
          <p:nvPr/>
        </p:nvSpPr>
        <p:spPr>
          <a:xfrm>
            <a:off x="6205576" y="4023360"/>
            <a:ext cx="5419192" cy="1014984"/>
          </a:xfrm>
          <a:prstGeom prst="rect">
            <a:avLst/>
          </a:prstGeom>
          <a:solidFill>
            <a:srgbClr val="FFFFFF"/>
          </a:solidFill>
          <a:ln w="15875">
            <a:solidFill>
              <a:srgbClr val="7152E9"/>
            </a:solidFill>
            <a:prstDash val="solid"/>
          </a:ln>
        </p:spPr>
      </p:sp>
      <p:sp>
        <p:nvSpPr>
          <p:cNvPr id="34" name="Shape 31"/>
          <p:cNvSpPr/>
          <p:nvPr/>
        </p:nvSpPr>
        <p:spPr>
          <a:xfrm>
            <a:off x="6205576" y="4023360"/>
            <a:ext cx="82296" cy="1014984"/>
          </a:xfrm>
          <a:prstGeom prst="rect">
            <a:avLst/>
          </a:prstGeom>
          <a:solidFill>
            <a:srgbClr val="7152E9"/>
          </a:solidFill>
          <a:ln w="12700">
            <a:solidFill>
              <a:srgbClr val="333333"/>
            </a:solidFill>
            <a:prstDash val="solid"/>
          </a:ln>
        </p:spPr>
      </p:sp>
      <p:sp>
        <p:nvSpPr>
          <p:cNvPr id="35" name="Text 32"/>
          <p:cNvSpPr/>
          <p:nvPr/>
        </p:nvSpPr>
        <p:spPr>
          <a:xfrm>
            <a:off x="6461608" y="4096512"/>
            <a:ext cx="2103120" cy="274320"/>
          </a:xfrm>
          <a:prstGeom prst="rect">
            <a:avLst/>
          </a:prstGeom>
          <a:noFill/>
          <a:ln/>
        </p:spPr>
        <p:txBody>
          <a:bodyPr wrap="square" lIns="0" tIns="0" rIns="0" bIns="0" rtlCol="0" anchor="ctr"/>
          <a:lstStyle/>
          <a:p>
            <a:pPr indent="0" marL="0">
              <a:buNone/>
            </a:pPr>
            <a:r>
              <a:rPr lang="en-US" sz="1100" b="1" spc="60" kern="0" dirty="0">
                <a:solidFill>
                  <a:srgbClr val="5638C9"/>
                </a:solidFill>
                <a:latin typeface="Courier New" pitchFamily="34" charset="0"/>
                <a:ea typeface="Courier New" pitchFamily="34" charset="-122"/>
                <a:cs typeface="Courier New" pitchFamily="34" charset="-120"/>
              </a:rPr>
              <a:t>DPOS</a:t>
            </a:r>
            <a:endParaRPr lang="en-US" sz="1100" dirty="0"/>
          </a:p>
        </p:txBody>
      </p:sp>
      <p:sp>
        <p:nvSpPr>
          <p:cNvPr id="36" name="Text 33"/>
          <p:cNvSpPr/>
          <p:nvPr/>
        </p:nvSpPr>
        <p:spPr>
          <a:xfrm>
            <a:off x="8537296" y="4096512"/>
            <a:ext cx="2904592" cy="274320"/>
          </a:xfrm>
          <a:prstGeom prst="rect">
            <a:avLst/>
          </a:prstGeom>
          <a:noFill/>
          <a:ln/>
        </p:spPr>
        <p:txBody>
          <a:bodyPr wrap="square" lIns="0" tIns="0" rIns="0" bIns="0" rtlCol="0" anchor="ctr"/>
          <a:lstStyle/>
          <a:p>
            <a:pPr indent="0" marL="0">
              <a:buNone/>
            </a:pPr>
            <a:r>
              <a:rPr lang="en-US" sz="1050" i="1" dirty="0">
                <a:solidFill>
                  <a:srgbClr val="6F6B80"/>
                </a:solidFill>
                <a:latin typeface="Arial" pitchFamily="34" charset="0"/>
                <a:ea typeface="Arial" pitchFamily="34" charset="-122"/>
                <a:cs typeface="Arial" pitchFamily="34" charset="-120"/>
              </a:rPr>
              <a:t>Delegated Proof of Stake</a:t>
            </a:r>
            <a:endParaRPr lang="en-US" sz="1050" dirty="0"/>
          </a:p>
        </p:txBody>
      </p:sp>
      <p:sp>
        <p:nvSpPr>
          <p:cNvPr id="37" name="Text 34"/>
          <p:cNvSpPr/>
          <p:nvPr/>
        </p:nvSpPr>
        <p:spPr>
          <a:xfrm>
            <a:off x="6461608" y="4407408"/>
            <a:ext cx="5007712" cy="557784"/>
          </a:xfrm>
          <a:prstGeom prst="rect">
            <a:avLst/>
          </a:prstGeom>
          <a:noFill/>
          <a:ln/>
        </p:spPr>
        <p:txBody>
          <a:bodyPr wrap="square" lIns="0" tIns="0" rIns="0" bIns="0" rtlCol="0" anchor="t"/>
          <a:lstStyle/>
          <a:p>
            <a:pPr indent="0" marL="0">
              <a:lnSpc>
                <a:spcPct val="115000"/>
              </a:lnSpc>
              <a:buNone/>
            </a:pPr>
            <a:r>
              <a:rPr lang="en-US" sz="1100" dirty="0">
                <a:solidFill>
                  <a:srgbClr val="3A3844"/>
                </a:solidFill>
                <a:latin typeface="Arial" pitchFamily="34" charset="0"/>
                <a:ea typeface="Arial" pitchFamily="34" charset="-122"/>
                <a:cs typeface="Arial" pitchFamily="34" charset="-120"/>
              </a:rPr>
              <a:t>Los tenedores eligen a un grupo pequeño de productores de bloques que se turnan.</a:t>
            </a:r>
            <a:endParaRPr lang="en-US" sz="1100" dirty="0"/>
          </a:p>
        </p:txBody>
      </p:sp>
      <p:sp>
        <p:nvSpPr>
          <p:cNvPr id="38" name="Shape 35"/>
          <p:cNvSpPr/>
          <p:nvPr/>
        </p:nvSpPr>
        <p:spPr>
          <a:xfrm>
            <a:off x="566928" y="5166360"/>
            <a:ext cx="5419192" cy="1014984"/>
          </a:xfrm>
          <a:prstGeom prst="rect">
            <a:avLst/>
          </a:prstGeom>
          <a:solidFill>
            <a:srgbClr val="FFFFFF"/>
          </a:solidFill>
          <a:ln w="15875">
            <a:solidFill>
              <a:srgbClr val="7152E9"/>
            </a:solidFill>
            <a:prstDash val="solid"/>
          </a:ln>
        </p:spPr>
      </p:sp>
      <p:sp>
        <p:nvSpPr>
          <p:cNvPr id="39" name="Shape 36"/>
          <p:cNvSpPr/>
          <p:nvPr/>
        </p:nvSpPr>
        <p:spPr>
          <a:xfrm>
            <a:off x="566928" y="5166360"/>
            <a:ext cx="82296" cy="1014984"/>
          </a:xfrm>
          <a:prstGeom prst="rect">
            <a:avLst/>
          </a:prstGeom>
          <a:solidFill>
            <a:srgbClr val="7152E9"/>
          </a:solidFill>
          <a:ln w="12700">
            <a:solidFill>
              <a:srgbClr val="333333"/>
            </a:solidFill>
            <a:prstDash val="solid"/>
          </a:ln>
        </p:spPr>
      </p:sp>
      <p:sp>
        <p:nvSpPr>
          <p:cNvPr id="40" name="Text 37"/>
          <p:cNvSpPr/>
          <p:nvPr/>
        </p:nvSpPr>
        <p:spPr>
          <a:xfrm>
            <a:off x="822960" y="5239512"/>
            <a:ext cx="2103120" cy="274320"/>
          </a:xfrm>
          <a:prstGeom prst="rect">
            <a:avLst/>
          </a:prstGeom>
          <a:noFill/>
          <a:ln/>
        </p:spPr>
        <p:txBody>
          <a:bodyPr wrap="square" lIns="0" tIns="0" rIns="0" bIns="0" rtlCol="0" anchor="ctr"/>
          <a:lstStyle/>
          <a:p>
            <a:pPr indent="0" marL="0">
              <a:buNone/>
            </a:pPr>
            <a:r>
              <a:rPr lang="en-US" sz="1100" b="1" spc="60" kern="0" dirty="0">
                <a:solidFill>
                  <a:srgbClr val="5638C9"/>
                </a:solidFill>
                <a:latin typeface="Courier New" pitchFamily="34" charset="0"/>
                <a:ea typeface="Courier New" pitchFamily="34" charset="-122"/>
                <a:cs typeface="Courier New" pitchFamily="34" charset="-120"/>
              </a:rPr>
              <a:t>FINALIDAD</a:t>
            </a:r>
            <a:endParaRPr lang="en-US" sz="1100" dirty="0"/>
          </a:p>
        </p:txBody>
      </p:sp>
      <p:sp>
        <p:nvSpPr>
          <p:cNvPr id="41" name="Text 38"/>
          <p:cNvSpPr/>
          <p:nvPr/>
        </p:nvSpPr>
        <p:spPr>
          <a:xfrm>
            <a:off x="2898648" y="5239512"/>
            <a:ext cx="2904592" cy="274320"/>
          </a:xfrm>
          <a:prstGeom prst="rect">
            <a:avLst/>
          </a:prstGeom>
          <a:noFill/>
          <a:ln/>
        </p:spPr>
        <p:txBody>
          <a:bodyPr wrap="square" lIns="0" tIns="0" rIns="0" bIns="0" rtlCol="0" anchor="ctr"/>
          <a:lstStyle/>
          <a:p>
            <a:pPr indent="0" marL="0">
              <a:buNone/>
            </a:pPr>
            <a:r>
              <a:rPr lang="en-US" sz="1050" i="1" dirty="0">
                <a:solidFill>
                  <a:srgbClr val="6F6B80"/>
                </a:solidFill>
                <a:latin typeface="Arial" pitchFamily="34" charset="0"/>
                <a:ea typeface="Arial" pitchFamily="34" charset="-122"/>
                <a:cs typeface="Arial" pitchFamily="34" charset="-120"/>
              </a:rPr>
              <a:t>Finality</a:t>
            </a:r>
            <a:endParaRPr lang="en-US" sz="1050" dirty="0"/>
          </a:p>
        </p:txBody>
      </p:sp>
      <p:sp>
        <p:nvSpPr>
          <p:cNvPr id="42" name="Text 39"/>
          <p:cNvSpPr/>
          <p:nvPr/>
        </p:nvSpPr>
        <p:spPr>
          <a:xfrm>
            <a:off x="822960" y="5550408"/>
            <a:ext cx="5007712" cy="557784"/>
          </a:xfrm>
          <a:prstGeom prst="rect">
            <a:avLst/>
          </a:prstGeom>
          <a:noFill/>
          <a:ln/>
        </p:spPr>
        <p:txBody>
          <a:bodyPr wrap="square" lIns="0" tIns="0" rIns="0" bIns="0" rtlCol="0" anchor="t"/>
          <a:lstStyle/>
          <a:p>
            <a:pPr indent="0" marL="0">
              <a:lnSpc>
                <a:spcPct val="115000"/>
              </a:lnSpc>
              <a:buNone/>
            </a:pPr>
            <a:r>
              <a:rPr lang="en-US" sz="1100" dirty="0">
                <a:solidFill>
                  <a:srgbClr val="3A3844"/>
                </a:solidFill>
                <a:latin typeface="Arial" pitchFamily="34" charset="0"/>
                <a:ea typeface="Arial" pitchFamily="34" charset="-122"/>
                <a:cs typeface="Arial" pitchFamily="34" charset="-120"/>
              </a:rPr>
              <a:t>El punto a partir del cual revertir una transacción es imposible o prohibitivamente caro.</a:t>
            </a:r>
            <a:endParaRPr lang="en-US" sz="1100" dirty="0"/>
          </a:p>
        </p:txBody>
      </p:sp>
      <p:sp>
        <p:nvSpPr>
          <p:cNvPr id="43" name="Shape 40"/>
          <p:cNvSpPr/>
          <p:nvPr/>
        </p:nvSpPr>
        <p:spPr>
          <a:xfrm>
            <a:off x="6205576" y="5166360"/>
            <a:ext cx="5419192" cy="1014984"/>
          </a:xfrm>
          <a:prstGeom prst="rect">
            <a:avLst/>
          </a:prstGeom>
          <a:solidFill>
            <a:srgbClr val="FFFFFF"/>
          </a:solidFill>
          <a:ln w="15875">
            <a:solidFill>
              <a:srgbClr val="7152E9"/>
            </a:solidFill>
            <a:prstDash val="solid"/>
          </a:ln>
        </p:spPr>
      </p:sp>
      <p:sp>
        <p:nvSpPr>
          <p:cNvPr id="44" name="Shape 41"/>
          <p:cNvSpPr/>
          <p:nvPr/>
        </p:nvSpPr>
        <p:spPr>
          <a:xfrm>
            <a:off x="6205576" y="5166360"/>
            <a:ext cx="82296" cy="1014984"/>
          </a:xfrm>
          <a:prstGeom prst="rect">
            <a:avLst/>
          </a:prstGeom>
          <a:solidFill>
            <a:srgbClr val="7152E9"/>
          </a:solidFill>
          <a:ln w="12700">
            <a:solidFill>
              <a:srgbClr val="333333"/>
            </a:solidFill>
            <a:prstDash val="solid"/>
          </a:ln>
        </p:spPr>
      </p:sp>
      <p:sp>
        <p:nvSpPr>
          <p:cNvPr id="45" name="Text 42"/>
          <p:cNvSpPr/>
          <p:nvPr/>
        </p:nvSpPr>
        <p:spPr>
          <a:xfrm>
            <a:off x="6461608" y="5239512"/>
            <a:ext cx="2103120" cy="274320"/>
          </a:xfrm>
          <a:prstGeom prst="rect">
            <a:avLst/>
          </a:prstGeom>
          <a:noFill/>
          <a:ln/>
        </p:spPr>
        <p:txBody>
          <a:bodyPr wrap="square" lIns="0" tIns="0" rIns="0" bIns="0" rtlCol="0" anchor="ctr"/>
          <a:lstStyle/>
          <a:p>
            <a:pPr indent="0" marL="0">
              <a:buNone/>
            </a:pPr>
            <a:r>
              <a:rPr lang="en-US" sz="1100" b="1" spc="60" kern="0" dirty="0">
                <a:solidFill>
                  <a:srgbClr val="5638C9"/>
                </a:solidFill>
                <a:latin typeface="Courier New" pitchFamily="34" charset="0"/>
                <a:ea typeface="Courier New" pitchFamily="34" charset="-122"/>
                <a:cs typeface="Courier New" pitchFamily="34" charset="-120"/>
              </a:rPr>
              <a:t>REORG</a:t>
            </a:r>
            <a:endParaRPr lang="en-US" sz="1100" dirty="0"/>
          </a:p>
        </p:txBody>
      </p:sp>
      <p:sp>
        <p:nvSpPr>
          <p:cNvPr id="46" name="Text 43"/>
          <p:cNvSpPr/>
          <p:nvPr/>
        </p:nvSpPr>
        <p:spPr>
          <a:xfrm>
            <a:off x="8537296" y="5239512"/>
            <a:ext cx="2904592" cy="274320"/>
          </a:xfrm>
          <a:prstGeom prst="rect">
            <a:avLst/>
          </a:prstGeom>
          <a:noFill/>
          <a:ln/>
        </p:spPr>
        <p:txBody>
          <a:bodyPr wrap="square" lIns="0" tIns="0" rIns="0" bIns="0" rtlCol="0" anchor="ctr"/>
          <a:lstStyle/>
          <a:p>
            <a:pPr indent="0" marL="0">
              <a:buNone/>
            </a:pPr>
            <a:r>
              <a:rPr lang="en-US" sz="1050" i="1" dirty="0">
                <a:solidFill>
                  <a:srgbClr val="6F6B80"/>
                </a:solidFill>
                <a:latin typeface="Arial" pitchFamily="34" charset="0"/>
                <a:ea typeface="Arial" pitchFamily="34" charset="-122"/>
                <a:cs typeface="Arial" pitchFamily="34" charset="-120"/>
              </a:rPr>
              <a:t>Reorganización</a:t>
            </a:r>
            <a:endParaRPr lang="en-US" sz="1050" dirty="0"/>
          </a:p>
        </p:txBody>
      </p:sp>
      <p:sp>
        <p:nvSpPr>
          <p:cNvPr id="47" name="Text 44"/>
          <p:cNvSpPr/>
          <p:nvPr/>
        </p:nvSpPr>
        <p:spPr>
          <a:xfrm>
            <a:off x="6461608" y="5550408"/>
            <a:ext cx="5007712" cy="557784"/>
          </a:xfrm>
          <a:prstGeom prst="rect">
            <a:avLst/>
          </a:prstGeom>
          <a:noFill/>
          <a:ln/>
        </p:spPr>
        <p:txBody>
          <a:bodyPr wrap="square" lIns="0" tIns="0" rIns="0" bIns="0" rtlCol="0" anchor="t"/>
          <a:lstStyle/>
          <a:p>
            <a:pPr indent="0" marL="0">
              <a:lnSpc>
                <a:spcPct val="115000"/>
              </a:lnSpc>
              <a:buNone/>
            </a:pPr>
            <a:r>
              <a:rPr lang="en-US" sz="1100" dirty="0">
                <a:solidFill>
                  <a:srgbClr val="3A3844"/>
                </a:solidFill>
                <a:latin typeface="Arial" pitchFamily="34" charset="0"/>
                <a:ea typeface="Arial" pitchFamily="34" charset="-122"/>
                <a:cs typeface="Arial" pitchFamily="34" charset="-120"/>
              </a:rPr>
              <a:t>La red abandona los últimos bloques de su cadena porque apareció otra con más peso.</a:t>
            </a:r>
            <a:endParaRPr lang="en-US" sz="1100" dirty="0"/>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bg>
      <p:bgPr>
        <a:solidFill>
          <a:srgbClr val="0F0F11"/>
        </a:solidFill>
      </p:bgPr>
    </p:bg>
    <p:spTree>
      <p:nvGrpSpPr>
        <p:cNvPr id="1" name=""/>
        <p:cNvGrpSpPr/>
        <p:nvPr/>
      </p:nvGrpSpPr>
      <p:grpSpPr>
        <a:xfrm>
          <a:off x="0" y="0"/>
          <a:ext cx="0" cy="0"/>
          <a:chOff x="0" y="0"/>
          <a:chExt cx="0" cy="0"/>
        </a:xfrm>
      </p:grpSpPr>
      <p:sp>
        <p:nvSpPr>
          <p:cNvPr id="2" name="Shape 0"/>
          <p:cNvSpPr/>
          <p:nvPr/>
        </p:nvSpPr>
        <p:spPr>
          <a:xfrm>
            <a:off x="0" y="2240280"/>
            <a:ext cx="3017520" cy="2377440"/>
          </a:xfrm>
          <a:prstGeom prst="rect">
            <a:avLst/>
          </a:prstGeom>
          <a:solidFill>
            <a:srgbClr val="F07F06"/>
          </a:solidFill>
          <a:ln w="12700">
            <a:solidFill>
              <a:srgbClr val="F07F06"/>
            </a:solidFill>
            <a:prstDash val="solid"/>
          </a:ln>
        </p:spPr>
      </p:sp>
      <p:sp>
        <p:nvSpPr>
          <p:cNvPr id="3" name="Text 1"/>
          <p:cNvSpPr/>
          <p:nvPr/>
        </p:nvSpPr>
        <p:spPr>
          <a:xfrm>
            <a:off x="0" y="2240280"/>
            <a:ext cx="3017520" cy="2377440"/>
          </a:xfrm>
          <a:prstGeom prst="rect">
            <a:avLst/>
          </a:prstGeom>
          <a:noFill/>
          <a:ln/>
        </p:spPr>
        <p:txBody>
          <a:bodyPr wrap="square" lIns="0" tIns="0" rIns="0" bIns="0" rtlCol="0" anchor="ctr"/>
          <a:lstStyle/>
          <a:p>
            <a:pPr algn="ctr" indent="0" marL="0">
              <a:buNone/>
            </a:pPr>
            <a:r>
              <a:rPr lang="en-US" sz="11800" dirty="0">
                <a:solidFill>
                  <a:srgbClr val="0F0F11"/>
                </a:solidFill>
                <a:latin typeface="Arial Black" pitchFamily="34" charset="0"/>
                <a:ea typeface="Arial Black" pitchFamily="34" charset="-122"/>
                <a:cs typeface="Arial Black" pitchFamily="34" charset="-120"/>
              </a:rPr>
              <a:t>A</a:t>
            </a:r>
            <a:endParaRPr lang="en-US" sz="11800" dirty="0"/>
          </a:p>
        </p:txBody>
      </p:sp>
      <p:pic>
        <p:nvPicPr>
          <p:cNvPr id="4" name="Image 0" descr="preencoded.png">    </p:cNvPr>
          <p:cNvPicPr>
            <a:picLocks noChangeAspect="1"/>
          </p:cNvPicPr>
          <p:nvPr/>
        </p:nvPicPr>
        <p:blipFill>
          <a:blip r:embed="rId1"/>
          <a:stretch>
            <a:fillRect/>
          </a:stretch>
        </p:blipFill>
        <p:spPr>
          <a:xfrm>
            <a:off x="3611880" y="2286000"/>
            <a:ext cx="329184" cy="329184"/>
          </a:xfrm>
          <a:prstGeom prst="rect">
            <a:avLst/>
          </a:prstGeom>
        </p:spPr>
      </p:pic>
      <p:sp>
        <p:nvSpPr>
          <p:cNvPr id="5" name="Text 2"/>
          <p:cNvSpPr/>
          <p:nvPr/>
        </p:nvSpPr>
        <p:spPr>
          <a:xfrm>
            <a:off x="4069080" y="2258568"/>
            <a:ext cx="7223760" cy="365760"/>
          </a:xfrm>
          <a:prstGeom prst="rect">
            <a:avLst/>
          </a:prstGeom>
          <a:noFill/>
          <a:ln/>
        </p:spPr>
        <p:txBody>
          <a:bodyPr wrap="square" lIns="0" tIns="0" rIns="0" bIns="0" rtlCol="0" anchor="ctr"/>
          <a:lstStyle/>
          <a:p>
            <a:pPr indent="0" marL="0">
              <a:buNone/>
            </a:pPr>
            <a:r>
              <a:rPr lang="en-US" sz="1100" spc="180" kern="0" dirty="0">
                <a:solidFill>
                  <a:srgbClr val="F07F06"/>
                </a:solidFill>
                <a:latin typeface="Courier New" pitchFamily="34" charset="0"/>
                <a:ea typeface="Courier New" pitchFamily="34" charset="-122"/>
                <a:cs typeface="Courier New" pitchFamily="34" charset="-120"/>
              </a:rPr>
              <a:t>APROXIMADAMENTE 80 MINUTOS</a:t>
            </a:r>
            <a:endParaRPr lang="en-US" sz="1100" dirty="0"/>
          </a:p>
        </p:txBody>
      </p:sp>
      <p:sp>
        <p:nvSpPr>
          <p:cNvPr id="6" name="Text 3"/>
          <p:cNvSpPr/>
          <p:nvPr/>
        </p:nvSpPr>
        <p:spPr>
          <a:xfrm>
            <a:off x="3611880" y="2724912"/>
            <a:ext cx="7955280" cy="1325880"/>
          </a:xfrm>
          <a:prstGeom prst="rect">
            <a:avLst/>
          </a:prstGeom>
          <a:noFill/>
          <a:ln/>
        </p:spPr>
        <p:txBody>
          <a:bodyPr wrap="square" lIns="0" tIns="0" rIns="0" bIns="0" rtlCol="0" anchor="t"/>
          <a:lstStyle/>
          <a:p>
            <a:pPr indent="0" marL="0">
              <a:lnSpc>
                <a:spcPct val="98000"/>
              </a:lnSpc>
              <a:buNone/>
            </a:pPr>
            <a:r>
              <a:rPr lang="en-US" sz="3400" dirty="0">
                <a:solidFill>
                  <a:srgbClr val="FFFFFF"/>
                </a:solidFill>
                <a:latin typeface="Arial Black" pitchFamily="34" charset="0"/>
                <a:ea typeface="Arial Black" pitchFamily="34" charset="-122"/>
                <a:cs typeface="Arial Black" pitchFamily="34" charset="-120"/>
              </a:rPr>
              <a:t>CONSENSO E INCENTIVOS</a:t>
            </a:r>
            <a:endParaRPr lang="en-US" sz="3400" dirty="0"/>
          </a:p>
        </p:txBody>
      </p:sp>
      <p:sp>
        <p:nvSpPr>
          <p:cNvPr id="7" name="Text 4"/>
          <p:cNvSpPr/>
          <p:nvPr/>
        </p:nvSpPr>
        <p:spPr>
          <a:xfrm>
            <a:off x="3611880" y="4133088"/>
            <a:ext cx="7680960" cy="1051560"/>
          </a:xfrm>
          <a:prstGeom prst="rect">
            <a:avLst/>
          </a:prstGeom>
          <a:noFill/>
          <a:ln/>
        </p:spPr>
        <p:txBody>
          <a:bodyPr wrap="square" lIns="0" tIns="0" rIns="0" bIns="0" rtlCol="0" anchor="t"/>
          <a:lstStyle/>
          <a:p>
            <a:pPr indent="0" marL="0">
              <a:lnSpc>
                <a:spcPct val="125000"/>
              </a:lnSpc>
              <a:buNone/>
            </a:pPr>
            <a:r>
              <a:rPr lang="en-US" sz="1400" dirty="0">
                <a:solidFill>
                  <a:srgbClr val="B9B4C4"/>
                </a:solidFill>
                <a:latin typeface="Arial" pitchFamily="34" charset="0"/>
                <a:ea typeface="Arial" pitchFamily="34" charset="-122"/>
                <a:cs typeface="Arial" pitchFamily="34" charset="-120"/>
              </a:rPr>
              <a:t>El acuerdo entre desconocidos no se consigue con criptografía sola. Se consigue haciendo que mentir salga caro.</a:t>
            </a:r>
            <a:endParaRPr lang="en-US" sz="1400" dirty="0"/>
          </a:p>
        </p:txBody>
      </p:sp>
      <p:sp>
        <p:nvSpPr>
          <p:cNvPr id="8" name="Text 5"/>
          <p:cNvSpPr/>
          <p:nvPr/>
        </p:nvSpPr>
        <p:spPr>
          <a:xfrm>
            <a:off x="566928" y="6291072"/>
            <a:ext cx="8412480" cy="274320"/>
          </a:xfrm>
          <a:prstGeom prst="rect">
            <a:avLst/>
          </a:prstGeom>
          <a:noFill/>
          <a:ln/>
        </p:spPr>
        <p:txBody>
          <a:bodyPr wrap="square" lIns="0" tIns="0" rIns="0" bIns="0" rtlCol="0" anchor="ctr"/>
          <a:lstStyle/>
          <a:p>
            <a:pPr indent="0" marL="0">
              <a:buNone/>
            </a:pPr>
            <a:r>
              <a:rPr lang="en-US" sz="800" spc="120" kern="0" dirty="0">
                <a:solidFill>
                  <a:srgbClr val="6E6A7C"/>
                </a:solidFill>
                <a:latin typeface="Courier New" pitchFamily="34" charset="0"/>
                <a:ea typeface="Courier New" pitchFamily="34" charset="-122"/>
                <a:cs typeface="Courier New" pitchFamily="34" charset="-120"/>
              </a:rPr>
              <a:t>SESIÓN 04 · CONSENSO, INCENTIVOS Y EL TRILEMA</a:t>
            </a:r>
            <a:endParaRPr lang="en-US" sz="800" dirty="0"/>
          </a:p>
        </p:txBody>
      </p:sp>
      <p:sp>
        <p:nvSpPr>
          <p:cNvPr id="9" name="Text 6"/>
          <p:cNvSpPr/>
          <p:nvPr/>
        </p:nvSpPr>
        <p:spPr>
          <a:xfrm>
            <a:off x="9052560" y="6291072"/>
            <a:ext cx="1828800" cy="274320"/>
          </a:xfrm>
          <a:prstGeom prst="rect">
            <a:avLst/>
          </a:prstGeom>
          <a:noFill/>
          <a:ln/>
        </p:spPr>
        <p:txBody>
          <a:bodyPr wrap="square" lIns="0" tIns="0" rIns="0" bIns="0" rtlCol="0" anchor="ctr"/>
          <a:lstStyle/>
          <a:p>
            <a:pPr algn="r" indent="0" marL="0">
              <a:buNone/>
            </a:pPr>
            <a:r>
              <a:rPr lang="en-US" sz="800" spc="120" kern="0" dirty="0">
                <a:solidFill>
                  <a:srgbClr val="6E6A7C"/>
                </a:solidFill>
                <a:latin typeface="Courier New" pitchFamily="34" charset="0"/>
                <a:ea typeface="Courier New" pitchFamily="34" charset="-122"/>
                <a:cs typeface="Courier New" pitchFamily="34" charset="-120"/>
              </a:rPr>
              <a:t>USB MEDELLÍN</a:t>
            </a:r>
            <a:endParaRPr lang="en-US" sz="800" dirty="0"/>
          </a:p>
        </p:txBody>
      </p:sp>
      <p:sp>
        <p:nvSpPr>
          <p:cNvPr id="10" name="Text 7"/>
          <p:cNvSpPr/>
          <p:nvPr/>
        </p:nvSpPr>
        <p:spPr>
          <a:xfrm>
            <a:off x="11018520" y="6291072"/>
            <a:ext cx="603504" cy="274320"/>
          </a:xfrm>
          <a:prstGeom prst="rect">
            <a:avLst/>
          </a:prstGeom>
          <a:noFill/>
          <a:ln/>
        </p:spPr>
        <p:txBody>
          <a:bodyPr wrap="square" lIns="0" tIns="0" rIns="0" bIns="0" rtlCol="0" anchor="ctr"/>
          <a:lstStyle/>
          <a:p>
            <a:pPr algn="r" indent="0" marL="0">
              <a:buNone/>
            </a:pPr>
            <a:r>
              <a:rPr lang="en-US" sz="900" b="1" dirty="0">
                <a:solidFill>
                  <a:srgbClr val="F07F06"/>
                </a:solidFill>
                <a:latin typeface="Courier New" pitchFamily="34" charset="0"/>
                <a:ea typeface="Courier New" pitchFamily="34" charset="-122"/>
                <a:cs typeface="Courier New" pitchFamily="34" charset="-120"/>
              </a:rPr>
              <a:t>05</a:t>
            </a:r>
            <a:endParaRPr lang="en-US" sz="900" dirty="0"/>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bg>
      <p:bgPr>
        <a:solidFill>
          <a:srgbClr val="FFFFFF"/>
        </a:solidFill>
      </p:bgPr>
    </p:bg>
    <p:spTree>
      <p:nvGrpSpPr>
        <p:cNvPr id="1" name=""/>
        <p:cNvGrpSpPr/>
        <p:nvPr/>
      </p:nvGrpSpPr>
      <p:grpSpPr>
        <a:xfrm>
          <a:off x="0" y="0"/>
          <a:ext cx="0" cy="0"/>
          <a:chOff x="0" y="0"/>
          <a:chExt cx="0" cy="0"/>
        </a:xfrm>
      </p:grpSpPr>
      <p:pic>
        <p:nvPicPr>
          <p:cNvPr id="2" name="Image 0" descr="preencoded.png">    </p:cNvPr>
          <p:cNvPicPr>
            <a:picLocks noChangeAspect="1"/>
          </p:cNvPicPr>
          <p:nvPr/>
        </p:nvPicPr>
        <p:blipFill>
          <a:blip r:embed="rId1"/>
          <a:stretch>
            <a:fillRect/>
          </a:stretch>
        </p:blipFill>
        <p:spPr>
          <a:xfrm>
            <a:off x="566928" y="402336"/>
            <a:ext cx="274320" cy="274320"/>
          </a:xfrm>
          <a:prstGeom prst="rect">
            <a:avLst/>
          </a:prstGeom>
        </p:spPr>
      </p:pic>
      <p:sp>
        <p:nvSpPr>
          <p:cNvPr id="3" name="Text 0"/>
          <p:cNvSpPr/>
          <p:nvPr/>
        </p:nvSpPr>
        <p:spPr>
          <a:xfrm>
            <a:off x="969264" y="384048"/>
            <a:ext cx="10655503" cy="310896"/>
          </a:xfrm>
          <a:prstGeom prst="rect">
            <a:avLst/>
          </a:prstGeom>
          <a:noFill/>
          <a:ln/>
        </p:spPr>
        <p:txBody>
          <a:bodyPr wrap="square" lIns="0" tIns="0" rIns="0" bIns="0" rtlCol="0" anchor="ctr"/>
          <a:lstStyle/>
          <a:p>
            <a:pPr indent="0" marL="0">
              <a:buNone/>
            </a:pPr>
            <a:r>
              <a:rPr lang="en-US" sz="950" spc="160" kern="0" dirty="0">
                <a:solidFill>
                  <a:srgbClr val="6F6B80"/>
                </a:solidFill>
                <a:latin typeface="Courier New" pitchFamily="34" charset="0"/>
                <a:ea typeface="Courier New" pitchFamily="34" charset="-122"/>
                <a:cs typeface="Courier New" pitchFamily="34" charset="-120"/>
              </a:rPr>
              <a:t>A.1 · DE DÓNDE VENIMOS</a:t>
            </a:r>
            <a:endParaRPr lang="en-US" sz="950" dirty="0"/>
          </a:p>
        </p:txBody>
      </p:sp>
      <p:sp>
        <p:nvSpPr>
          <p:cNvPr id="4" name="Text 1"/>
          <p:cNvSpPr/>
          <p:nvPr/>
        </p:nvSpPr>
        <p:spPr>
          <a:xfrm>
            <a:off x="566928" y="777240"/>
            <a:ext cx="11057839" cy="777240"/>
          </a:xfrm>
          <a:prstGeom prst="rect">
            <a:avLst/>
          </a:prstGeom>
          <a:noFill/>
          <a:ln/>
        </p:spPr>
        <p:txBody>
          <a:bodyPr wrap="square" lIns="0" tIns="0" rIns="0" bIns="0" rtlCol="0" anchor="t"/>
          <a:lstStyle/>
          <a:p>
            <a:pPr indent="0" marL="0">
              <a:lnSpc>
                <a:spcPct val="92000"/>
              </a:lnSpc>
              <a:buNone/>
            </a:pPr>
            <a:r>
              <a:rPr lang="en-US" sz="2700" dirty="0">
                <a:solidFill>
                  <a:srgbClr val="0F0F11"/>
                </a:solidFill>
                <a:latin typeface="Arial Black" pitchFamily="34" charset="0"/>
                <a:ea typeface="Arial Black" pitchFamily="34" charset="-122"/>
                <a:cs typeface="Arial Black" pitchFamily="34" charset="-120"/>
              </a:rPr>
              <a:t>DOS CADENAS VÁLIDAS. ¿CUÁL ES LA BUENA?</a:t>
            </a:r>
            <a:endParaRPr lang="en-US" sz="2700" dirty="0"/>
          </a:p>
        </p:txBody>
      </p:sp>
      <p:sp>
        <p:nvSpPr>
          <p:cNvPr id="5" name="Text 2"/>
          <p:cNvSpPr/>
          <p:nvPr/>
        </p:nvSpPr>
        <p:spPr>
          <a:xfrm>
            <a:off x="566928" y="6291072"/>
            <a:ext cx="8412480" cy="274320"/>
          </a:xfrm>
          <a:prstGeom prst="rect">
            <a:avLst/>
          </a:prstGeom>
          <a:noFill/>
          <a:ln/>
        </p:spPr>
        <p:txBody>
          <a:bodyPr wrap="square" lIns="0" tIns="0" rIns="0" bIns="0" rtlCol="0" anchor="ctr"/>
          <a:lstStyle/>
          <a:p>
            <a:pPr indent="0" marL="0">
              <a:buNone/>
            </a:pPr>
            <a:r>
              <a:rPr lang="en-US" sz="800" spc="120" kern="0" dirty="0">
                <a:solidFill>
                  <a:srgbClr val="6F6B80"/>
                </a:solidFill>
                <a:latin typeface="Courier New" pitchFamily="34" charset="0"/>
                <a:ea typeface="Courier New" pitchFamily="34" charset="-122"/>
                <a:cs typeface="Courier New" pitchFamily="34" charset="-120"/>
              </a:rPr>
              <a:t>SESIÓN 04 · CONSENSO, INCENTIVOS Y EL TRILEMA</a:t>
            </a:r>
            <a:endParaRPr lang="en-US" sz="800" dirty="0"/>
          </a:p>
        </p:txBody>
      </p:sp>
      <p:sp>
        <p:nvSpPr>
          <p:cNvPr id="6" name="Text 3"/>
          <p:cNvSpPr/>
          <p:nvPr/>
        </p:nvSpPr>
        <p:spPr>
          <a:xfrm>
            <a:off x="9052560" y="6291072"/>
            <a:ext cx="1828800" cy="274320"/>
          </a:xfrm>
          <a:prstGeom prst="rect">
            <a:avLst/>
          </a:prstGeom>
          <a:noFill/>
          <a:ln/>
        </p:spPr>
        <p:txBody>
          <a:bodyPr wrap="square" lIns="0" tIns="0" rIns="0" bIns="0" rtlCol="0" anchor="ctr"/>
          <a:lstStyle/>
          <a:p>
            <a:pPr algn="r" indent="0" marL="0">
              <a:buNone/>
            </a:pPr>
            <a:r>
              <a:rPr lang="en-US" sz="800" spc="120" kern="0" dirty="0">
                <a:solidFill>
                  <a:srgbClr val="6F6B80"/>
                </a:solidFill>
                <a:latin typeface="Courier New" pitchFamily="34" charset="0"/>
                <a:ea typeface="Courier New" pitchFamily="34" charset="-122"/>
                <a:cs typeface="Courier New" pitchFamily="34" charset="-120"/>
              </a:rPr>
              <a:t>USB MEDELLÍN</a:t>
            </a:r>
            <a:endParaRPr lang="en-US" sz="800" dirty="0"/>
          </a:p>
        </p:txBody>
      </p:sp>
      <p:sp>
        <p:nvSpPr>
          <p:cNvPr id="7" name="Text 4"/>
          <p:cNvSpPr/>
          <p:nvPr/>
        </p:nvSpPr>
        <p:spPr>
          <a:xfrm>
            <a:off x="11018520" y="6291072"/>
            <a:ext cx="603504" cy="274320"/>
          </a:xfrm>
          <a:prstGeom prst="rect">
            <a:avLst/>
          </a:prstGeom>
          <a:noFill/>
          <a:ln/>
        </p:spPr>
        <p:txBody>
          <a:bodyPr wrap="square" lIns="0" tIns="0" rIns="0" bIns="0" rtlCol="0" anchor="ctr"/>
          <a:lstStyle/>
          <a:p>
            <a:pPr algn="r" indent="0" marL="0">
              <a:buNone/>
            </a:pPr>
            <a:r>
              <a:rPr lang="en-US" sz="900" b="1" dirty="0">
                <a:solidFill>
                  <a:srgbClr val="0F0F11"/>
                </a:solidFill>
                <a:latin typeface="Courier New" pitchFamily="34" charset="0"/>
                <a:ea typeface="Courier New" pitchFamily="34" charset="-122"/>
                <a:cs typeface="Courier New" pitchFamily="34" charset="-120"/>
              </a:rPr>
              <a:t>06</a:t>
            </a:r>
            <a:endParaRPr lang="en-US" sz="900" dirty="0"/>
          </a:p>
        </p:txBody>
      </p:sp>
      <p:sp>
        <p:nvSpPr>
          <p:cNvPr id="8" name="Text 5"/>
          <p:cNvSpPr/>
          <p:nvPr/>
        </p:nvSpPr>
        <p:spPr>
          <a:xfrm>
            <a:off x="566928" y="1737360"/>
            <a:ext cx="11057839" cy="685800"/>
          </a:xfrm>
          <a:prstGeom prst="rect">
            <a:avLst/>
          </a:prstGeom>
          <a:noFill/>
          <a:ln/>
        </p:spPr>
        <p:txBody>
          <a:bodyPr wrap="square" lIns="0" tIns="0" rIns="0" bIns="0" rtlCol="0" anchor="t"/>
          <a:lstStyle/>
          <a:p>
            <a:pPr indent="0" marL="0">
              <a:lnSpc>
                <a:spcPct val="124000"/>
              </a:lnSpc>
              <a:buNone/>
            </a:pPr>
            <a:r>
              <a:rPr lang="en-US" sz="1450" dirty="0">
                <a:solidFill>
                  <a:srgbClr val="3A3844"/>
                </a:solidFill>
                <a:latin typeface="Arial" pitchFamily="34" charset="0"/>
                <a:ea typeface="Arial" pitchFamily="34" charset="-122"/>
                <a:cs typeface="Arial" pitchFamily="34" charset="-120"/>
              </a:rPr>
              <a:t>En la Sesión 3 construimos una cadena que se valida sola: cada firma verifica, cada bloque apunta al hash del anterior, cada raíz de Merkle coincide. Pero quedó un hueco perfectamente delimitado.</a:t>
            </a:r>
            <a:endParaRPr lang="en-US" sz="1450" dirty="0"/>
          </a:p>
        </p:txBody>
      </p:sp>
      <p:sp>
        <p:nvSpPr>
          <p:cNvPr id="9" name="Shape 6"/>
          <p:cNvSpPr/>
          <p:nvPr/>
        </p:nvSpPr>
        <p:spPr>
          <a:xfrm>
            <a:off x="566928" y="2926080"/>
            <a:ext cx="1463040" cy="640080"/>
          </a:xfrm>
          <a:prstGeom prst="rect">
            <a:avLst/>
          </a:prstGeom>
          <a:solidFill>
            <a:srgbClr val="FAF9FB"/>
          </a:solidFill>
          <a:ln w="22225">
            <a:solidFill>
              <a:srgbClr val="0F0F11"/>
            </a:solidFill>
            <a:prstDash val="solid"/>
          </a:ln>
        </p:spPr>
      </p:sp>
      <p:sp>
        <p:nvSpPr>
          <p:cNvPr id="10" name="Text 7"/>
          <p:cNvSpPr/>
          <p:nvPr/>
        </p:nvSpPr>
        <p:spPr>
          <a:xfrm>
            <a:off x="658368" y="2926080"/>
            <a:ext cx="1280160" cy="640080"/>
          </a:xfrm>
          <a:prstGeom prst="rect">
            <a:avLst/>
          </a:prstGeom>
          <a:noFill/>
          <a:ln/>
        </p:spPr>
        <p:txBody>
          <a:bodyPr wrap="square" lIns="0" tIns="0" rIns="0" bIns="0" rtlCol="0" anchor="ctr"/>
          <a:lstStyle/>
          <a:p>
            <a:pPr algn="ctr" indent="0" marL="0">
              <a:buNone/>
            </a:pPr>
            <a:r>
              <a:rPr lang="en-US" sz="1100" b="1" spc="80" kern="0" dirty="0">
                <a:solidFill>
                  <a:srgbClr val="0F0F11"/>
                </a:solidFill>
                <a:latin typeface="Courier New" pitchFamily="34" charset="0"/>
                <a:ea typeface="Courier New" pitchFamily="34" charset="-122"/>
                <a:cs typeface="Courier New" pitchFamily="34" charset="-120"/>
              </a:rPr>
              <a:t>BLOQUE 99</a:t>
            </a:r>
            <a:endParaRPr lang="en-US" sz="1100" dirty="0"/>
          </a:p>
        </p:txBody>
      </p:sp>
      <p:sp>
        <p:nvSpPr>
          <p:cNvPr id="11" name="Shape 8"/>
          <p:cNvSpPr/>
          <p:nvPr/>
        </p:nvSpPr>
        <p:spPr>
          <a:xfrm>
            <a:off x="2029968" y="3246120"/>
            <a:ext cx="640080" cy="914"/>
          </a:xfrm>
          <a:prstGeom prst="line">
            <a:avLst/>
          </a:prstGeom>
          <a:noFill/>
          <a:ln w="22225">
            <a:solidFill>
              <a:srgbClr val="0F0F11"/>
            </a:solidFill>
            <a:prstDash val="solid"/>
            <a:tailEnd type="triangle"/>
          </a:ln>
        </p:spPr>
      </p:sp>
      <p:sp>
        <p:nvSpPr>
          <p:cNvPr id="12" name="Shape 9"/>
          <p:cNvSpPr/>
          <p:nvPr/>
        </p:nvSpPr>
        <p:spPr>
          <a:xfrm>
            <a:off x="2670048" y="2926080"/>
            <a:ext cx="1463040" cy="640080"/>
          </a:xfrm>
          <a:prstGeom prst="rect">
            <a:avLst/>
          </a:prstGeom>
          <a:solidFill>
            <a:srgbClr val="FAF9FB"/>
          </a:solidFill>
          <a:ln w="22225">
            <a:solidFill>
              <a:srgbClr val="0F0F11"/>
            </a:solidFill>
            <a:prstDash val="solid"/>
          </a:ln>
        </p:spPr>
      </p:sp>
      <p:sp>
        <p:nvSpPr>
          <p:cNvPr id="13" name="Text 10"/>
          <p:cNvSpPr/>
          <p:nvPr/>
        </p:nvSpPr>
        <p:spPr>
          <a:xfrm>
            <a:off x="2761488" y="2926080"/>
            <a:ext cx="1280160" cy="640080"/>
          </a:xfrm>
          <a:prstGeom prst="rect">
            <a:avLst/>
          </a:prstGeom>
          <a:noFill/>
          <a:ln/>
        </p:spPr>
        <p:txBody>
          <a:bodyPr wrap="square" lIns="0" tIns="0" rIns="0" bIns="0" rtlCol="0" anchor="ctr"/>
          <a:lstStyle/>
          <a:p>
            <a:pPr algn="ctr" indent="0" marL="0">
              <a:buNone/>
            </a:pPr>
            <a:r>
              <a:rPr lang="en-US" sz="1100" b="1" spc="80" kern="0" dirty="0">
                <a:solidFill>
                  <a:srgbClr val="0F0F11"/>
                </a:solidFill>
                <a:latin typeface="Courier New" pitchFamily="34" charset="0"/>
                <a:ea typeface="Courier New" pitchFamily="34" charset="-122"/>
                <a:cs typeface="Courier New" pitchFamily="34" charset="-120"/>
              </a:rPr>
              <a:t>BLOQUE 100</a:t>
            </a:r>
            <a:endParaRPr lang="en-US" sz="1100" dirty="0"/>
          </a:p>
        </p:txBody>
      </p:sp>
      <p:sp>
        <p:nvSpPr>
          <p:cNvPr id="14" name="Shape 11"/>
          <p:cNvSpPr/>
          <p:nvPr/>
        </p:nvSpPr>
        <p:spPr>
          <a:xfrm flipV="1">
            <a:off x="4133088" y="2743200"/>
            <a:ext cx="822960" cy="365760"/>
          </a:xfrm>
          <a:prstGeom prst="line">
            <a:avLst/>
          </a:prstGeom>
          <a:noFill/>
          <a:ln w="25400">
            <a:solidFill>
              <a:srgbClr val="F07F06"/>
            </a:solidFill>
            <a:prstDash val="solid"/>
            <a:tailEnd type="triangle"/>
          </a:ln>
        </p:spPr>
      </p:sp>
      <p:sp>
        <p:nvSpPr>
          <p:cNvPr id="15" name="Shape 12"/>
          <p:cNvSpPr/>
          <p:nvPr/>
        </p:nvSpPr>
        <p:spPr>
          <a:xfrm>
            <a:off x="4133088" y="3383280"/>
            <a:ext cx="822960" cy="320040"/>
          </a:xfrm>
          <a:prstGeom prst="line">
            <a:avLst/>
          </a:prstGeom>
          <a:noFill/>
          <a:ln w="25400">
            <a:solidFill>
              <a:srgbClr val="7152E9"/>
            </a:solidFill>
            <a:prstDash val="solid"/>
            <a:tailEnd type="triangle"/>
          </a:ln>
        </p:spPr>
      </p:sp>
      <p:sp>
        <p:nvSpPr>
          <p:cNvPr id="16" name="Shape 13"/>
          <p:cNvSpPr/>
          <p:nvPr/>
        </p:nvSpPr>
        <p:spPr>
          <a:xfrm>
            <a:off x="4956048" y="2487168"/>
            <a:ext cx="2743200" cy="566928"/>
          </a:xfrm>
          <a:prstGeom prst="rect">
            <a:avLst/>
          </a:prstGeom>
          <a:solidFill>
            <a:srgbClr val="FFFFFF"/>
          </a:solidFill>
          <a:ln w="22225">
            <a:solidFill>
              <a:srgbClr val="F07F06"/>
            </a:solidFill>
            <a:prstDash val="solid"/>
          </a:ln>
        </p:spPr>
      </p:sp>
      <p:sp>
        <p:nvSpPr>
          <p:cNvPr id="17" name="Text 14"/>
          <p:cNvSpPr/>
          <p:nvPr/>
        </p:nvSpPr>
        <p:spPr>
          <a:xfrm>
            <a:off x="5047488" y="2487168"/>
            <a:ext cx="2560320" cy="566928"/>
          </a:xfrm>
          <a:prstGeom prst="rect">
            <a:avLst/>
          </a:prstGeom>
          <a:noFill/>
          <a:ln/>
        </p:spPr>
        <p:txBody>
          <a:bodyPr wrap="square" lIns="0" tIns="0" rIns="0" bIns="0" rtlCol="0" anchor="ctr"/>
          <a:lstStyle/>
          <a:p>
            <a:pPr algn="ctr" indent="0" marL="0">
              <a:buNone/>
            </a:pPr>
            <a:r>
              <a:rPr lang="en-US" sz="1100" b="1" spc="80" kern="0" dirty="0">
                <a:solidFill>
                  <a:srgbClr val="0F0F11"/>
                </a:solidFill>
                <a:latin typeface="Courier New" pitchFamily="34" charset="0"/>
                <a:ea typeface="Courier New" pitchFamily="34" charset="-122"/>
                <a:cs typeface="Courier New" pitchFamily="34" charset="-120"/>
              </a:rPr>
              <a:t>101-A · Ana paga a Beto</a:t>
            </a:r>
            <a:endParaRPr lang="en-US" sz="1100" dirty="0"/>
          </a:p>
        </p:txBody>
      </p:sp>
      <p:sp>
        <p:nvSpPr>
          <p:cNvPr id="18" name="Shape 15"/>
          <p:cNvSpPr/>
          <p:nvPr/>
        </p:nvSpPr>
        <p:spPr>
          <a:xfrm>
            <a:off x="4956048" y="3438144"/>
            <a:ext cx="2743200" cy="566928"/>
          </a:xfrm>
          <a:prstGeom prst="rect">
            <a:avLst/>
          </a:prstGeom>
          <a:solidFill>
            <a:srgbClr val="FFFFFF"/>
          </a:solidFill>
          <a:ln w="22225">
            <a:solidFill>
              <a:srgbClr val="7152E9"/>
            </a:solidFill>
            <a:prstDash val="solid"/>
          </a:ln>
        </p:spPr>
      </p:sp>
      <p:sp>
        <p:nvSpPr>
          <p:cNvPr id="19" name="Text 16"/>
          <p:cNvSpPr/>
          <p:nvPr/>
        </p:nvSpPr>
        <p:spPr>
          <a:xfrm>
            <a:off x="5047488" y="3438144"/>
            <a:ext cx="2560320" cy="566928"/>
          </a:xfrm>
          <a:prstGeom prst="rect">
            <a:avLst/>
          </a:prstGeom>
          <a:noFill/>
          <a:ln/>
        </p:spPr>
        <p:txBody>
          <a:bodyPr wrap="square" lIns="0" tIns="0" rIns="0" bIns="0" rtlCol="0" anchor="ctr"/>
          <a:lstStyle/>
          <a:p>
            <a:pPr algn="ctr" indent="0" marL="0">
              <a:buNone/>
            </a:pPr>
            <a:r>
              <a:rPr lang="en-US" sz="1100" b="1" spc="80" kern="0" dirty="0">
                <a:solidFill>
                  <a:srgbClr val="0F0F11"/>
                </a:solidFill>
                <a:latin typeface="Courier New" pitchFamily="34" charset="0"/>
                <a:ea typeface="Courier New" pitchFamily="34" charset="-122"/>
                <a:cs typeface="Courier New" pitchFamily="34" charset="-120"/>
              </a:rPr>
              <a:t>101-B · Ana paga a Carla</a:t>
            </a:r>
            <a:endParaRPr lang="en-US" sz="1100" dirty="0"/>
          </a:p>
        </p:txBody>
      </p:sp>
      <p:sp>
        <p:nvSpPr>
          <p:cNvPr id="20" name="Text 17"/>
          <p:cNvSpPr/>
          <p:nvPr/>
        </p:nvSpPr>
        <p:spPr>
          <a:xfrm>
            <a:off x="7973568" y="2514600"/>
            <a:ext cx="3651199" cy="1554480"/>
          </a:xfrm>
          <a:prstGeom prst="rect">
            <a:avLst/>
          </a:prstGeom>
          <a:noFill/>
          <a:ln/>
        </p:spPr>
        <p:txBody>
          <a:bodyPr wrap="square" lIns="0" tIns="0" rIns="0" bIns="0" rtlCol="0" anchor="t"/>
          <a:lstStyle/>
          <a:p>
            <a:pPr indent="0" marL="0">
              <a:lnSpc>
                <a:spcPct val="124000"/>
              </a:lnSpc>
              <a:buNone/>
            </a:pPr>
            <a:r>
              <a:rPr lang="en-US" sz="1300" dirty="0">
                <a:solidFill>
                  <a:srgbClr val="3A3844"/>
                </a:solidFill>
                <a:latin typeface="Arial" pitchFamily="34" charset="0"/>
                <a:ea typeface="Arial" pitchFamily="34" charset="-122"/>
                <a:cs typeface="Arial" pitchFamily="34" charset="-120"/>
              </a:rPr>
              <a:t>Los dos bloques son impecables. Las dos cadenas pasan todas las validaciones del laboratorio. Pero Ana solo tenía dinero para uno de los dos pagos.</a:t>
            </a:r>
            <a:endParaRPr lang="en-US" sz="1300" dirty="0"/>
          </a:p>
        </p:txBody>
      </p:sp>
      <p:sp>
        <p:nvSpPr>
          <p:cNvPr id="21" name="Shape 18"/>
          <p:cNvSpPr/>
          <p:nvPr/>
        </p:nvSpPr>
        <p:spPr>
          <a:xfrm>
            <a:off x="566928" y="4343400"/>
            <a:ext cx="11057839" cy="1325880"/>
          </a:xfrm>
          <a:prstGeom prst="rect">
            <a:avLst/>
          </a:prstGeom>
          <a:solidFill>
            <a:srgbClr val="FFFFFF"/>
          </a:solidFill>
          <a:ln w="34925">
            <a:solidFill>
              <a:srgbClr val="0F0F11"/>
            </a:solidFill>
            <a:prstDash val="solid"/>
          </a:ln>
          <a:effectLst>
            <a:outerShdw sx="100000" sy="100000" kx="0" ky="0" algn="bl" rotWithShape="0" blurRad="101600" dist="63500" dir="2700000">
              <a:srgbClr val="0F0F11">
                <a:alpha val="100000"/>
              </a:srgbClr>
            </a:outerShdw>
          </a:effectLst>
        </p:spPr>
      </p:sp>
      <p:pic>
        <p:nvPicPr>
          <p:cNvPr id="22" name="Image 1" descr="preencoded.png">    </p:cNvPr>
          <p:cNvPicPr>
            <a:picLocks noChangeAspect="1"/>
          </p:cNvPicPr>
          <p:nvPr/>
        </p:nvPicPr>
        <p:blipFill>
          <a:blip r:embed="rId2"/>
          <a:stretch>
            <a:fillRect/>
          </a:stretch>
        </p:blipFill>
        <p:spPr>
          <a:xfrm>
            <a:off x="804672" y="4562856"/>
            <a:ext cx="237744" cy="237744"/>
          </a:xfrm>
          <a:prstGeom prst="rect">
            <a:avLst/>
          </a:prstGeom>
        </p:spPr>
      </p:pic>
      <p:sp>
        <p:nvSpPr>
          <p:cNvPr id="23" name="Text 19"/>
          <p:cNvSpPr/>
          <p:nvPr/>
        </p:nvSpPr>
        <p:spPr>
          <a:xfrm>
            <a:off x="1133856" y="4535424"/>
            <a:ext cx="10234879" cy="292608"/>
          </a:xfrm>
          <a:prstGeom prst="rect">
            <a:avLst/>
          </a:prstGeom>
          <a:noFill/>
          <a:ln/>
        </p:spPr>
        <p:txBody>
          <a:bodyPr wrap="square" lIns="0" tIns="0" rIns="0" bIns="0" rtlCol="0" anchor="ctr"/>
          <a:lstStyle/>
          <a:p>
            <a:pPr indent="0" marL="0">
              <a:buNone/>
            </a:pPr>
            <a:r>
              <a:rPr lang="en-US" sz="950" b="1" spc="150" kern="0" dirty="0">
                <a:solidFill>
                  <a:srgbClr val="0F0F11"/>
                </a:solidFill>
                <a:latin typeface="Courier New" pitchFamily="34" charset="0"/>
                <a:ea typeface="Courier New" pitchFamily="34" charset="-122"/>
                <a:cs typeface="Courier New" pitchFamily="34" charset="-120"/>
              </a:rPr>
              <a:t>LA PREGUNTA DE HOY</a:t>
            </a:r>
            <a:endParaRPr lang="en-US" sz="950" dirty="0"/>
          </a:p>
        </p:txBody>
      </p:sp>
      <p:sp>
        <p:nvSpPr>
          <p:cNvPr id="24" name="Text 20"/>
          <p:cNvSpPr/>
          <p:nvPr/>
        </p:nvSpPr>
        <p:spPr>
          <a:xfrm>
            <a:off x="804672" y="4855464"/>
            <a:ext cx="10582351" cy="722376"/>
          </a:xfrm>
          <a:prstGeom prst="rect">
            <a:avLst/>
          </a:prstGeom>
          <a:noFill/>
          <a:ln/>
        </p:spPr>
        <p:txBody>
          <a:bodyPr wrap="square" lIns="0" tIns="0" rIns="0" bIns="0" rtlCol="0" anchor="t"/>
          <a:lstStyle/>
          <a:p>
            <a:pPr indent="0" marL="0">
              <a:lnSpc>
                <a:spcPct val="124000"/>
              </a:lnSpc>
              <a:buNone/>
            </a:pPr>
            <a:r>
              <a:rPr lang="en-US" sz="1400" dirty="0">
                <a:solidFill>
                  <a:srgbClr val="3A3844"/>
                </a:solidFill>
                <a:latin typeface="Arial" pitchFamily="34" charset="0"/>
                <a:ea typeface="Arial" pitchFamily="34" charset="-122"/>
                <a:cs typeface="Arial" pitchFamily="34" charset="-120"/>
              </a:rPr>
              <a:t>La validez dice qué cadenas son posibles. El consenso dice cuál de ellas es la historia. Sin consenso vuelve el doble gasto de la Sesión 1 — ahora con criptografía perfecta.</a:t>
            </a:r>
            <a:endParaRPr lang="en-US" sz="1400" dirty="0"/>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bg>
      <p:bgPr>
        <a:solidFill>
          <a:srgbClr val="FFFFFF"/>
        </a:solidFill>
      </p:bgPr>
    </p:bg>
    <p:spTree>
      <p:nvGrpSpPr>
        <p:cNvPr id="1" name=""/>
        <p:cNvGrpSpPr/>
        <p:nvPr/>
      </p:nvGrpSpPr>
      <p:grpSpPr>
        <a:xfrm>
          <a:off x="0" y="0"/>
          <a:ext cx="0" cy="0"/>
          <a:chOff x="0" y="0"/>
          <a:chExt cx="0" cy="0"/>
        </a:xfrm>
      </p:grpSpPr>
      <p:pic>
        <p:nvPicPr>
          <p:cNvPr id="2" name="Image 0" descr="preencoded.png">    </p:cNvPr>
          <p:cNvPicPr>
            <a:picLocks noChangeAspect="1"/>
          </p:cNvPicPr>
          <p:nvPr/>
        </p:nvPicPr>
        <p:blipFill>
          <a:blip r:embed="rId1"/>
          <a:stretch>
            <a:fillRect/>
          </a:stretch>
        </p:blipFill>
        <p:spPr>
          <a:xfrm>
            <a:off x="566928" y="402336"/>
            <a:ext cx="274320" cy="274320"/>
          </a:xfrm>
          <a:prstGeom prst="rect">
            <a:avLst/>
          </a:prstGeom>
        </p:spPr>
      </p:pic>
      <p:sp>
        <p:nvSpPr>
          <p:cNvPr id="3" name="Text 0"/>
          <p:cNvSpPr/>
          <p:nvPr/>
        </p:nvSpPr>
        <p:spPr>
          <a:xfrm>
            <a:off x="969264" y="384048"/>
            <a:ext cx="10655503" cy="310896"/>
          </a:xfrm>
          <a:prstGeom prst="rect">
            <a:avLst/>
          </a:prstGeom>
          <a:noFill/>
          <a:ln/>
        </p:spPr>
        <p:txBody>
          <a:bodyPr wrap="square" lIns="0" tIns="0" rIns="0" bIns="0" rtlCol="0" anchor="ctr"/>
          <a:lstStyle/>
          <a:p>
            <a:pPr indent="0" marL="0">
              <a:buNone/>
            </a:pPr>
            <a:r>
              <a:rPr lang="en-US" sz="950" spc="160" kern="0" dirty="0">
                <a:solidFill>
                  <a:srgbClr val="6F6B80"/>
                </a:solidFill>
                <a:latin typeface="Courier New" pitchFamily="34" charset="0"/>
                <a:ea typeface="Courier New" pitchFamily="34" charset="-122"/>
                <a:cs typeface="Courier New" pitchFamily="34" charset="-120"/>
              </a:rPr>
              <a:t>A.2 · EL PROBLEMA, FORMULADO EN 1982</a:t>
            </a:r>
            <a:endParaRPr lang="en-US" sz="950" dirty="0"/>
          </a:p>
        </p:txBody>
      </p:sp>
      <p:sp>
        <p:nvSpPr>
          <p:cNvPr id="4" name="Text 1"/>
          <p:cNvSpPr/>
          <p:nvPr/>
        </p:nvSpPr>
        <p:spPr>
          <a:xfrm>
            <a:off x="566928" y="777240"/>
            <a:ext cx="11057839" cy="777240"/>
          </a:xfrm>
          <a:prstGeom prst="rect">
            <a:avLst/>
          </a:prstGeom>
          <a:noFill/>
          <a:ln/>
        </p:spPr>
        <p:txBody>
          <a:bodyPr wrap="square" lIns="0" tIns="0" rIns="0" bIns="0" rtlCol="0" anchor="t"/>
          <a:lstStyle/>
          <a:p>
            <a:pPr indent="0" marL="0">
              <a:lnSpc>
                <a:spcPct val="92000"/>
              </a:lnSpc>
              <a:buNone/>
            </a:pPr>
            <a:r>
              <a:rPr lang="en-US" sz="2900" dirty="0">
                <a:solidFill>
                  <a:srgbClr val="0F0F11"/>
                </a:solidFill>
                <a:latin typeface="Arial Black" pitchFamily="34" charset="0"/>
                <a:ea typeface="Arial Black" pitchFamily="34" charset="-122"/>
                <a:cs typeface="Arial Black" pitchFamily="34" charset="-120"/>
              </a:rPr>
              <a:t>LOS GENERALES BIZANTINOS</a:t>
            </a:r>
            <a:endParaRPr lang="en-US" sz="2900" dirty="0"/>
          </a:p>
        </p:txBody>
      </p:sp>
      <p:sp>
        <p:nvSpPr>
          <p:cNvPr id="5" name="Text 2"/>
          <p:cNvSpPr/>
          <p:nvPr/>
        </p:nvSpPr>
        <p:spPr>
          <a:xfrm>
            <a:off x="566928" y="6291072"/>
            <a:ext cx="8412480" cy="274320"/>
          </a:xfrm>
          <a:prstGeom prst="rect">
            <a:avLst/>
          </a:prstGeom>
          <a:noFill/>
          <a:ln/>
        </p:spPr>
        <p:txBody>
          <a:bodyPr wrap="square" lIns="0" tIns="0" rIns="0" bIns="0" rtlCol="0" anchor="ctr"/>
          <a:lstStyle/>
          <a:p>
            <a:pPr indent="0" marL="0">
              <a:buNone/>
            </a:pPr>
            <a:r>
              <a:rPr lang="en-US" sz="800" spc="120" kern="0" dirty="0">
                <a:solidFill>
                  <a:srgbClr val="6F6B80"/>
                </a:solidFill>
                <a:latin typeface="Courier New" pitchFamily="34" charset="0"/>
                <a:ea typeface="Courier New" pitchFamily="34" charset="-122"/>
                <a:cs typeface="Courier New" pitchFamily="34" charset="-120"/>
              </a:rPr>
              <a:t>SESIÓN 04 · CONSENSO, INCENTIVOS Y EL TRILEMA</a:t>
            </a:r>
            <a:endParaRPr lang="en-US" sz="800" dirty="0"/>
          </a:p>
        </p:txBody>
      </p:sp>
      <p:sp>
        <p:nvSpPr>
          <p:cNvPr id="6" name="Text 3"/>
          <p:cNvSpPr/>
          <p:nvPr/>
        </p:nvSpPr>
        <p:spPr>
          <a:xfrm>
            <a:off x="9052560" y="6291072"/>
            <a:ext cx="1828800" cy="274320"/>
          </a:xfrm>
          <a:prstGeom prst="rect">
            <a:avLst/>
          </a:prstGeom>
          <a:noFill/>
          <a:ln/>
        </p:spPr>
        <p:txBody>
          <a:bodyPr wrap="square" lIns="0" tIns="0" rIns="0" bIns="0" rtlCol="0" anchor="ctr"/>
          <a:lstStyle/>
          <a:p>
            <a:pPr algn="r" indent="0" marL="0">
              <a:buNone/>
            </a:pPr>
            <a:r>
              <a:rPr lang="en-US" sz="800" spc="120" kern="0" dirty="0">
                <a:solidFill>
                  <a:srgbClr val="6F6B80"/>
                </a:solidFill>
                <a:latin typeface="Courier New" pitchFamily="34" charset="0"/>
                <a:ea typeface="Courier New" pitchFamily="34" charset="-122"/>
                <a:cs typeface="Courier New" pitchFamily="34" charset="-120"/>
              </a:rPr>
              <a:t>USB MEDELLÍN</a:t>
            </a:r>
            <a:endParaRPr lang="en-US" sz="800" dirty="0"/>
          </a:p>
        </p:txBody>
      </p:sp>
      <p:sp>
        <p:nvSpPr>
          <p:cNvPr id="7" name="Text 4"/>
          <p:cNvSpPr/>
          <p:nvPr/>
        </p:nvSpPr>
        <p:spPr>
          <a:xfrm>
            <a:off x="11018520" y="6291072"/>
            <a:ext cx="603504" cy="274320"/>
          </a:xfrm>
          <a:prstGeom prst="rect">
            <a:avLst/>
          </a:prstGeom>
          <a:noFill/>
          <a:ln/>
        </p:spPr>
        <p:txBody>
          <a:bodyPr wrap="square" lIns="0" tIns="0" rIns="0" bIns="0" rtlCol="0" anchor="ctr"/>
          <a:lstStyle/>
          <a:p>
            <a:pPr algn="r" indent="0" marL="0">
              <a:buNone/>
            </a:pPr>
            <a:r>
              <a:rPr lang="en-US" sz="900" b="1" dirty="0">
                <a:solidFill>
                  <a:srgbClr val="0F0F11"/>
                </a:solidFill>
                <a:latin typeface="Courier New" pitchFamily="34" charset="0"/>
                <a:ea typeface="Courier New" pitchFamily="34" charset="-122"/>
                <a:cs typeface="Courier New" pitchFamily="34" charset="-120"/>
              </a:rPr>
              <a:t>07</a:t>
            </a:r>
            <a:endParaRPr lang="en-US" sz="900" dirty="0"/>
          </a:p>
        </p:txBody>
      </p:sp>
      <p:sp>
        <p:nvSpPr>
          <p:cNvPr id="8" name="Text 5"/>
          <p:cNvSpPr/>
          <p:nvPr/>
        </p:nvSpPr>
        <p:spPr>
          <a:xfrm>
            <a:off x="566928" y="1737360"/>
            <a:ext cx="11057839" cy="868680"/>
          </a:xfrm>
          <a:prstGeom prst="rect">
            <a:avLst/>
          </a:prstGeom>
          <a:noFill/>
          <a:ln/>
        </p:spPr>
        <p:txBody>
          <a:bodyPr wrap="square" lIns="0" tIns="0" rIns="0" bIns="0" rtlCol="0" anchor="t"/>
          <a:lstStyle/>
          <a:p>
            <a:pPr indent="0" marL="0">
              <a:lnSpc>
                <a:spcPct val="124000"/>
              </a:lnSpc>
              <a:buNone/>
            </a:pPr>
            <a:r>
              <a:rPr lang="en-US" sz="1400" dirty="0">
                <a:solidFill>
                  <a:srgbClr val="3A3844"/>
                </a:solidFill>
                <a:latin typeface="Arial" pitchFamily="34" charset="0"/>
                <a:ea typeface="Arial" pitchFamily="34" charset="-122"/>
                <a:cs typeface="Arial" pitchFamily="34" charset="-120"/>
              </a:rPr>
              <a:t>Lamport, Shostak y Pease plantearon el problema como una alegoría militar. Varios generales rodean una ciudad y deben decidir juntos: atacar o retirarse. Solo se comunican por mensajeros. Y algunos generales son traidores.</a:t>
            </a:r>
            <a:endParaRPr lang="en-US" sz="1400" dirty="0"/>
          </a:p>
        </p:txBody>
      </p:sp>
      <p:sp>
        <p:nvSpPr>
          <p:cNvPr id="9" name="Shape 6"/>
          <p:cNvSpPr/>
          <p:nvPr/>
        </p:nvSpPr>
        <p:spPr>
          <a:xfrm>
            <a:off x="566928" y="2788920"/>
            <a:ext cx="5391760" cy="2286000"/>
          </a:xfrm>
          <a:prstGeom prst="rect">
            <a:avLst/>
          </a:prstGeom>
          <a:solidFill>
            <a:srgbClr val="FFFFFF"/>
          </a:solidFill>
          <a:ln w="22225">
            <a:solidFill>
              <a:srgbClr val="F07F06"/>
            </a:solidFill>
            <a:prstDash val="solid"/>
          </a:ln>
          <a:effectLst>
            <a:outerShdw sx="100000" sy="100000" kx="0" ky="0" algn="bl" rotWithShape="0" blurRad="101600" dist="63500" dir="2700000">
              <a:srgbClr val="F07F06">
                <a:alpha val="100000"/>
              </a:srgbClr>
            </a:outerShdw>
          </a:effectLst>
        </p:spPr>
      </p:sp>
      <p:sp>
        <p:nvSpPr>
          <p:cNvPr id="10" name="Text 7"/>
          <p:cNvSpPr/>
          <p:nvPr/>
        </p:nvSpPr>
        <p:spPr>
          <a:xfrm>
            <a:off x="841248" y="2971800"/>
            <a:ext cx="4843120" cy="292608"/>
          </a:xfrm>
          <a:prstGeom prst="rect">
            <a:avLst/>
          </a:prstGeom>
          <a:noFill/>
          <a:ln/>
        </p:spPr>
        <p:txBody>
          <a:bodyPr wrap="square" lIns="0" tIns="0" rIns="0" bIns="0" rtlCol="0" anchor="ctr"/>
          <a:lstStyle/>
          <a:p>
            <a:pPr indent="0" marL="0">
              <a:buNone/>
            </a:pPr>
            <a:r>
              <a:rPr lang="en-US" sz="1050" b="1" spc="130" kern="0" dirty="0">
                <a:solidFill>
                  <a:srgbClr val="A35604"/>
                </a:solidFill>
                <a:latin typeface="Courier New" pitchFamily="34" charset="0"/>
                <a:ea typeface="Courier New" pitchFamily="34" charset="-122"/>
                <a:cs typeface="Courier New" pitchFamily="34" charset="-120"/>
              </a:rPr>
              <a:t>LO QUE HACE DIFÍCIL EL PROBLEMA</a:t>
            </a:r>
            <a:endParaRPr lang="en-US" sz="1050" dirty="0"/>
          </a:p>
        </p:txBody>
      </p:sp>
      <p:sp>
        <p:nvSpPr>
          <p:cNvPr id="11" name="Text 8"/>
          <p:cNvSpPr/>
          <p:nvPr/>
        </p:nvSpPr>
        <p:spPr>
          <a:xfrm>
            <a:off x="841248" y="3355848"/>
            <a:ext cx="4843120" cy="1554480"/>
          </a:xfrm>
          <a:prstGeom prst="rect">
            <a:avLst/>
          </a:prstGeom>
          <a:noFill/>
          <a:ln/>
        </p:spPr>
        <p:txBody>
          <a:bodyPr wrap="square" lIns="0" tIns="0" rIns="0" bIns="0" rtlCol="0" anchor="t"/>
          <a:lstStyle/>
          <a:p>
            <a:pPr marL="203200" indent="-203200">
              <a:lnSpc>
                <a:spcPct val="118000"/>
              </a:lnSpc>
              <a:spcAft>
                <a:spcPts val="500"/>
              </a:spcAft>
              <a:buSzPct val="100000"/>
              <a:buChar char="■"/>
            </a:pPr>
            <a:r>
              <a:rPr lang="en-US" sz="1300" dirty="0">
                <a:solidFill>
                  <a:srgbClr val="3A3844"/>
                </a:solidFill>
                <a:latin typeface="Arial" pitchFamily="34" charset="0"/>
                <a:ea typeface="Arial" pitchFamily="34" charset="-122"/>
                <a:cs typeface="Arial" pitchFamily="34" charset="-120"/>
              </a:rPr>
              <a:t>Un ataque a medias es peor que no atacar: todos los leales deben decidir lo mismo.</a:t>
            </a:r>
            <a:endParaRPr lang="en-US" sz="1300" dirty="0"/>
          </a:p>
          <a:p>
            <a:pPr marL="203200" indent="-203200">
              <a:lnSpc>
                <a:spcPct val="118000"/>
              </a:lnSpc>
              <a:spcAft>
                <a:spcPts val="500"/>
              </a:spcAft>
              <a:buSzPct val="100000"/>
              <a:buChar char="■"/>
            </a:pPr>
            <a:r>
              <a:rPr lang="en-US" sz="1300" dirty="0">
                <a:solidFill>
                  <a:srgbClr val="3A3844"/>
                </a:solidFill>
                <a:latin typeface="Arial" pitchFamily="34" charset="0"/>
                <a:ea typeface="Arial" pitchFamily="34" charset="-122"/>
                <a:cs typeface="Arial" pitchFamily="34" charset="-120"/>
              </a:rPr>
              <a:t>Un traidor puede decirle «ataquemos» a uno y «retirémonos» a otro.</a:t>
            </a:r>
            <a:endParaRPr lang="en-US" sz="1300" dirty="0"/>
          </a:p>
          <a:p>
            <a:pPr marL="203200" indent="-203200">
              <a:lnSpc>
                <a:spcPct val="118000"/>
              </a:lnSpc>
              <a:spcAft>
                <a:spcPts val="500"/>
              </a:spcAft>
              <a:buSzPct val="100000"/>
              <a:buChar char="■"/>
            </a:pPr>
            <a:r>
              <a:rPr lang="en-US" sz="1300" dirty="0">
                <a:solidFill>
                  <a:srgbClr val="3A3844"/>
                </a:solidFill>
                <a:latin typeface="Arial" pitchFamily="34" charset="0"/>
                <a:ea typeface="Arial" pitchFamily="34" charset="-122"/>
                <a:cs typeface="Arial" pitchFamily="34" charset="-120"/>
              </a:rPr>
              <a:t>Nadie puede distinguir, desde fuera, a un leal de un traidor.</a:t>
            </a:r>
            <a:endParaRPr lang="en-US" sz="1300" dirty="0"/>
          </a:p>
        </p:txBody>
      </p:sp>
      <p:sp>
        <p:nvSpPr>
          <p:cNvPr id="12" name="Shape 9"/>
          <p:cNvSpPr/>
          <p:nvPr/>
        </p:nvSpPr>
        <p:spPr>
          <a:xfrm>
            <a:off x="6233008" y="2788920"/>
            <a:ext cx="5391760" cy="2286000"/>
          </a:xfrm>
          <a:prstGeom prst="rect">
            <a:avLst/>
          </a:prstGeom>
          <a:solidFill>
            <a:srgbClr val="FFFFFF"/>
          </a:solidFill>
          <a:ln w="22225">
            <a:solidFill>
              <a:srgbClr val="7152E9"/>
            </a:solidFill>
            <a:prstDash val="solid"/>
          </a:ln>
          <a:effectLst>
            <a:outerShdw sx="100000" sy="100000" kx="0" ky="0" algn="bl" rotWithShape="0" blurRad="101600" dist="63500" dir="2700000">
              <a:srgbClr val="7152E9">
                <a:alpha val="100000"/>
              </a:srgbClr>
            </a:outerShdw>
          </a:effectLst>
        </p:spPr>
      </p:sp>
      <p:sp>
        <p:nvSpPr>
          <p:cNvPr id="13" name="Text 10"/>
          <p:cNvSpPr/>
          <p:nvPr/>
        </p:nvSpPr>
        <p:spPr>
          <a:xfrm>
            <a:off x="6507328" y="2971800"/>
            <a:ext cx="4843120" cy="292608"/>
          </a:xfrm>
          <a:prstGeom prst="rect">
            <a:avLst/>
          </a:prstGeom>
          <a:noFill/>
          <a:ln/>
        </p:spPr>
        <p:txBody>
          <a:bodyPr wrap="square" lIns="0" tIns="0" rIns="0" bIns="0" rtlCol="0" anchor="ctr"/>
          <a:lstStyle/>
          <a:p>
            <a:pPr indent="0" marL="0">
              <a:buNone/>
            </a:pPr>
            <a:r>
              <a:rPr lang="en-US" sz="1050" b="1" spc="130" kern="0" dirty="0">
                <a:solidFill>
                  <a:srgbClr val="5638C9"/>
                </a:solidFill>
                <a:latin typeface="Courier New" pitchFamily="34" charset="0"/>
                <a:ea typeface="Courier New" pitchFamily="34" charset="-122"/>
                <a:cs typeface="Courier New" pitchFamily="34" charset="-120"/>
              </a:rPr>
              <a:t>LO QUE SE EXIGE A UNA SOLUCIÓN</a:t>
            </a:r>
            <a:endParaRPr lang="en-US" sz="1050" dirty="0"/>
          </a:p>
        </p:txBody>
      </p:sp>
      <p:sp>
        <p:nvSpPr>
          <p:cNvPr id="14" name="Text 11"/>
          <p:cNvSpPr/>
          <p:nvPr/>
        </p:nvSpPr>
        <p:spPr>
          <a:xfrm>
            <a:off x="6507328" y="3355848"/>
            <a:ext cx="4843120" cy="1554480"/>
          </a:xfrm>
          <a:prstGeom prst="rect">
            <a:avLst/>
          </a:prstGeom>
          <a:noFill/>
          <a:ln/>
        </p:spPr>
        <p:txBody>
          <a:bodyPr wrap="square" lIns="0" tIns="0" rIns="0" bIns="0" rtlCol="0" anchor="t"/>
          <a:lstStyle/>
          <a:p>
            <a:pPr marL="203200" indent="-203200">
              <a:lnSpc>
                <a:spcPct val="118000"/>
              </a:lnSpc>
              <a:spcAft>
                <a:spcPts val="500"/>
              </a:spcAft>
              <a:buSzPct val="100000"/>
              <a:buChar char="■"/>
            </a:pPr>
            <a:r>
              <a:rPr lang="en-US" sz="1300" dirty="0">
                <a:solidFill>
                  <a:srgbClr val="3A3844"/>
                </a:solidFill>
                <a:latin typeface="Arial" pitchFamily="34" charset="0"/>
                <a:ea typeface="Arial" pitchFamily="34" charset="-122"/>
                <a:cs typeface="Arial" pitchFamily="34" charset="-120"/>
              </a:rPr>
              <a:t>Acuerdo: todos los leales toman la misma decisión.</a:t>
            </a:r>
            <a:endParaRPr lang="en-US" sz="1300" dirty="0"/>
          </a:p>
          <a:p>
            <a:pPr marL="203200" indent="-203200">
              <a:lnSpc>
                <a:spcPct val="118000"/>
              </a:lnSpc>
              <a:spcAft>
                <a:spcPts val="500"/>
              </a:spcAft>
              <a:buSzPct val="100000"/>
              <a:buChar char="■"/>
            </a:pPr>
            <a:r>
              <a:rPr lang="en-US" sz="1300" dirty="0">
                <a:solidFill>
                  <a:srgbClr val="3A3844"/>
                </a:solidFill>
                <a:latin typeface="Arial" pitchFamily="34" charset="0"/>
                <a:ea typeface="Arial" pitchFamily="34" charset="-122"/>
                <a:cs typeface="Arial" pitchFamily="34" charset="-120"/>
              </a:rPr>
              <a:t>Validez: si todos los leales proponían lo mismo, eso se decide.</a:t>
            </a:r>
            <a:endParaRPr lang="en-US" sz="1300" dirty="0"/>
          </a:p>
          <a:p>
            <a:pPr marL="203200" indent="-203200">
              <a:lnSpc>
                <a:spcPct val="118000"/>
              </a:lnSpc>
              <a:spcAft>
                <a:spcPts val="500"/>
              </a:spcAft>
              <a:buSzPct val="100000"/>
              <a:buChar char="■"/>
            </a:pPr>
            <a:r>
              <a:rPr lang="en-US" sz="1300" dirty="0">
                <a:solidFill>
                  <a:srgbClr val="3A3844"/>
                </a:solidFill>
                <a:latin typeface="Arial" pitchFamily="34" charset="0"/>
                <a:ea typeface="Arial" pitchFamily="34" charset="-122"/>
                <a:cs typeface="Arial" pitchFamily="34" charset="-120"/>
              </a:rPr>
              <a:t>Terminación: la decisión llega, no se espera para siempre.</a:t>
            </a:r>
            <a:endParaRPr lang="en-US" sz="1300" dirty="0"/>
          </a:p>
        </p:txBody>
      </p:sp>
      <p:sp>
        <p:nvSpPr>
          <p:cNvPr id="15" name="Text 12"/>
          <p:cNvSpPr/>
          <p:nvPr/>
        </p:nvSpPr>
        <p:spPr>
          <a:xfrm>
            <a:off x="566928" y="5303520"/>
            <a:ext cx="11057839" cy="640080"/>
          </a:xfrm>
          <a:prstGeom prst="rect">
            <a:avLst/>
          </a:prstGeom>
          <a:noFill/>
          <a:ln/>
        </p:spPr>
        <p:txBody>
          <a:bodyPr wrap="square" lIns="0" tIns="0" rIns="0" bIns="0" rtlCol="0" anchor="t"/>
          <a:lstStyle/>
          <a:p>
            <a:pPr indent="0" marL="0">
              <a:lnSpc>
                <a:spcPct val="124000"/>
              </a:lnSpc>
              <a:buNone/>
            </a:pPr>
            <a:r>
              <a:rPr lang="en-US" sz="1300" dirty="0">
                <a:solidFill>
                  <a:srgbClr val="A35604"/>
                </a:solidFill>
                <a:latin typeface="Arial" pitchFamily="34" charset="0"/>
                <a:ea typeface="Arial" pitchFamily="34" charset="-122"/>
                <a:cs typeface="Arial" pitchFamily="34" charset="-120"/>
              </a:rPr>
              <a:t>«Bizantino» significa aquí: un participante que puede fallar de cualquier forma, incluida la mentira deliberada y coordinada. No solo apagarse.</a:t>
            </a:r>
            <a:endParaRPr lang="en-US" sz="1300" dirty="0"/>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bg>
      <p:bgPr>
        <a:solidFill>
          <a:srgbClr val="FFFFFF"/>
        </a:solidFill>
      </p:bgPr>
    </p:bg>
    <p:spTree>
      <p:nvGrpSpPr>
        <p:cNvPr id="1" name=""/>
        <p:cNvGrpSpPr/>
        <p:nvPr/>
      </p:nvGrpSpPr>
      <p:grpSpPr>
        <a:xfrm>
          <a:off x="0" y="0"/>
          <a:ext cx="0" cy="0"/>
          <a:chOff x="0" y="0"/>
          <a:chExt cx="0" cy="0"/>
        </a:xfrm>
      </p:grpSpPr>
      <p:pic>
        <p:nvPicPr>
          <p:cNvPr id="2" name="Image 0" descr="preencoded.png">    </p:cNvPr>
          <p:cNvPicPr>
            <a:picLocks noChangeAspect="1"/>
          </p:cNvPicPr>
          <p:nvPr/>
        </p:nvPicPr>
        <p:blipFill>
          <a:blip r:embed="rId1"/>
          <a:stretch>
            <a:fillRect/>
          </a:stretch>
        </p:blipFill>
        <p:spPr>
          <a:xfrm>
            <a:off x="566928" y="402336"/>
            <a:ext cx="274320" cy="274320"/>
          </a:xfrm>
          <a:prstGeom prst="rect">
            <a:avLst/>
          </a:prstGeom>
        </p:spPr>
      </p:pic>
      <p:sp>
        <p:nvSpPr>
          <p:cNvPr id="3" name="Text 0"/>
          <p:cNvSpPr/>
          <p:nvPr/>
        </p:nvSpPr>
        <p:spPr>
          <a:xfrm>
            <a:off x="969264" y="384048"/>
            <a:ext cx="10655503" cy="310896"/>
          </a:xfrm>
          <a:prstGeom prst="rect">
            <a:avLst/>
          </a:prstGeom>
          <a:noFill/>
          <a:ln/>
        </p:spPr>
        <p:txBody>
          <a:bodyPr wrap="square" lIns="0" tIns="0" rIns="0" bIns="0" rtlCol="0" anchor="ctr"/>
          <a:lstStyle/>
          <a:p>
            <a:pPr indent="0" marL="0">
              <a:buNone/>
            </a:pPr>
            <a:r>
              <a:rPr lang="en-US" sz="950" spc="160" kern="0" dirty="0">
                <a:solidFill>
                  <a:srgbClr val="6F6B80"/>
                </a:solidFill>
                <a:latin typeface="Courier New" pitchFamily="34" charset="0"/>
                <a:ea typeface="Courier New" pitchFamily="34" charset="-122"/>
                <a:cs typeface="Courier New" pitchFamily="34" charset="-120"/>
              </a:rPr>
              <a:t>A.3 · EL LÍMITE MATEMÁTICO</a:t>
            </a:r>
            <a:endParaRPr lang="en-US" sz="950" dirty="0"/>
          </a:p>
        </p:txBody>
      </p:sp>
      <p:sp>
        <p:nvSpPr>
          <p:cNvPr id="4" name="Text 1"/>
          <p:cNvSpPr/>
          <p:nvPr/>
        </p:nvSpPr>
        <p:spPr>
          <a:xfrm>
            <a:off x="566928" y="777240"/>
            <a:ext cx="11057839" cy="777240"/>
          </a:xfrm>
          <a:prstGeom prst="rect">
            <a:avLst/>
          </a:prstGeom>
          <a:noFill/>
          <a:ln/>
        </p:spPr>
        <p:txBody>
          <a:bodyPr wrap="square" lIns="0" tIns="0" rIns="0" bIns="0" rtlCol="0" anchor="t"/>
          <a:lstStyle/>
          <a:p>
            <a:pPr indent="0" marL="0">
              <a:lnSpc>
                <a:spcPct val="92000"/>
              </a:lnSpc>
              <a:buNone/>
            </a:pPr>
            <a:r>
              <a:rPr lang="en-US" sz="2700" dirty="0">
                <a:solidFill>
                  <a:srgbClr val="0F0F11"/>
                </a:solidFill>
                <a:latin typeface="Arial Black" pitchFamily="34" charset="0"/>
                <a:ea typeface="Arial Black" pitchFamily="34" charset="-122"/>
                <a:cs typeface="Arial Black" pitchFamily="34" charset="-120"/>
              </a:rPr>
              <a:t>HACEN FALTA MÁS DE DOS TERCIOS HONESTOS</a:t>
            </a:r>
            <a:endParaRPr lang="en-US" sz="2700" dirty="0"/>
          </a:p>
        </p:txBody>
      </p:sp>
      <p:sp>
        <p:nvSpPr>
          <p:cNvPr id="5" name="Text 2"/>
          <p:cNvSpPr/>
          <p:nvPr/>
        </p:nvSpPr>
        <p:spPr>
          <a:xfrm>
            <a:off x="566928" y="6291072"/>
            <a:ext cx="8412480" cy="274320"/>
          </a:xfrm>
          <a:prstGeom prst="rect">
            <a:avLst/>
          </a:prstGeom>
          <a:noFill/>
          <a:ln/>
        </p:spPr>
        <p:txBody>
          <a:bodyPr wrap="square" lIns="0" tIns="0" rIns="0" bIns="0" rtlCol="0" anchor="ctr"/>
          <a:lstStyle/>
          <a:p>
            <a:pPr indent="0" marL="0">
              <a:buNone/>
            </a:pPr>
            <a:r>
              <a:rPr lang="en-US" sz="800" spc="120" kern="0" dirty="0">
                <a:solidFill>
                  <a:srgbClr val="6F6B80"/>
                </a:solidFill>
                <a:latin typeface="Courier New" pitchFamily="34" charset="0"/>
                <a:ea typeface="Courier New" pitchFamily="34" charset="-122"/>
                <a:cs typeface="Courier New" pitchFamily="34" charset="-120"/>
              </a:rPr>
              <a:t>SESIÓN 04 · CONSENSO, INCENTIVOS Y EL TRILEMA</a:t>
            </a:r>
            <a:endParaRPr lang="en-US" sz="800" dirty="0"/>
          </a:p>
        </p:txBody>
      </p:sp>
      <p:sp>
        <p:nvSpPr>
          <p:cNvPr id="6" name="Text 3"/>
          <p:cNvSpPr/>
          <p:nvPr/>
        </p:nvSpPr>
        <p:spPr>
          <a:xfrm>
            <a:off x="9052560" y="6291072"/>
            <a:ext cx="1828800" cy="274320"/>
          </a:xfrm>
          <a:prstGeom prst="rect">
            <a:avLst/>
          </a:prstGeom>
          <a:noFill/>
          <a:ln/>
        </p:spPr>
        <p:txBody>
          <a:bodyPr wrap="square" lIns="0" tIns="0" rIns="0" bIns="0" rtlCol="0" anchor="ctr"/>
          <a:lstStyle/>
          <a:p>
            <a:pPr algn="r" indent="0" marL="0">
              <a:buNone/>
            </a:pPr>
            <a:r>
              <a:rPr lang="en-US" sz="800" spc="120" kern="0" dirty="0">
                <a:solidFill>
                  <a:srgbClr val="6F6B80"/>
                </a:solidFill>
                <a:latin typeface="Courier New" pitchFamily="34" charset="0"/>
                <a:ea typeface="Courier New" pitchFamily="34" charset="-122"/>
                <a:cs typeface="Courier New" pitchFamily="34" charset="-120"/>
              </a:rPr>
              <a:t>USB MEDELLÍN</a:t>
            </a:r>
            <a:endParaRPr lang="en-US" sz="800" dirty="0"/>
          </a:p>
        </p:txBody>
      </p:sp>
      <p:sp>
        <p:nvSpPr>
          <p:cNvPr id="7" name="Text 4"/>
          <p:cNvSpPr/>
          <p:nvPr/>
        </p:nvSpPr>
        <p:spPr>
          <a:xfrm>
            <a:off x="11018520" y="6291072"/>
            <a:ext cx="603504" cy="274320"/>
          </a:xfrm>
          <a:prstGeom prst="rect">
            <a:avLst/>
          </a:prstGeom>
          <a:noFill/>
          <a:ln/>
        </p:spPr>
        <p:txBody>
          <a:bodyPr wrap="square" lIns="0" tIns="0" rIns="0" bIns="0" rtlCol="0" anchor="ctr"/>
          <a:lstStyle/>
          <a:p>
            <a:pPr algn="r" indent="0" marL="0">
              <a:buNone/>
            </a:pPr>
            <a:r>
              <a:rPr lang="en-US" sz="900" b="1" dirty="0">
                <a:solidFill>
                  <a:srgbClr val="0F0F11"/>
                </a:solidFill>
                <a:latin typeface="Courier New" pitchFamily="34" charset="0"/>
                <a:ea typeface="Courier New" pitchFamily="34" charset="-122"/>
                <a:cs typeface="Courier New" pitchFamily="34" charset="-120"/>
              </a:rPr>
              <a:t>08</a:t>
            </a:r>
            <a:endParaRPr lang="en-US" sz="900" dirty="0"/>
          </a:p>
        </p:txBody>
      </p:sp>
      <p:sp>
        <p:nvSpPr>
          <p:cNvPr id="8" name="Text 5"/>
          <p:cNvSpPr/>
          <p:nvPr/>
        </p:nvSpPr>
        <p:spPr>
          <a:xfrm>
            <a:off x="566928" y="1737360"/>
            <a:ext cx="11057839" cy="822960"/>
          </a:xfrm>
          <a:prstGeom prst="rect">
            <a:avLst/>
          </a:prstGeom>
          <a:noFill/>
          <a:ln/>
        </p:spPr>
        <p:txBody>
          <a:bodyPr wrap="square" lIns="0" tIns="0" rIns="0" bIns="0" rtlCol="0" anchor="t"/>
          <a:lstStyle/>
          <a:p>
            <a:pPr indent="0" marL="0">
              <a:lnSpc>
                <a:spcPct val="124000"/>
              </a:lnSpc>
              <a:buNone/>
            </a:pPr>
            <a:r>
              <a:rPr lang="en-US" sz="1450" dirty="0">
                <a:solidFill>
                  <a:srgbClr val="3A3844"/>
                </a:solidFill>
                <a:latin typeface="Arial" pitchFamily="34" charset="0"/>
                <a:ea typeface="Arial" pitchFamily="34" charset="-122"/>
                <a:cs typeface="Arial" pitchFamily="34" charset="-120"/>
              </a:rPr>
              <a:t>El resultado clásico: con votación entre participantes conocidos, el acuerdo solo es posible si los traidores son menos de un tercio. Con f traidores, se necesitan al menos 3f + 1 participantes.</a:t>
            </a:r>
            <a:endParaRPr lang="en-US" sz="1450" dirty="0"/>
          </a:p>
        </p:txBody>
      </p:sp>
      <p:graphicFrame>
        <p:nvGraphicFramePr>
          <p:cNvPr id="9" name="Table 0"/>
          <p:cNvGraphicFramePr>
            <a:graphicFrameLocks noGrp="1"/>
          </p:cNvGraphicFramePr>
          <p:nvPr>
            <p:extLst>
              <p:ext uri="{D42A27DB-BD31-4B8C-83A1-F6EECF244321}">
                <p14:modId xmlns:p14="http://schemas.microsoft.com/office/powerpoint/2010/main" val="1579011935"/>
              </p:ext>
            </p:extLst>
          </p:nvPr>
        </p:nvGraphicFramePr>
        <p:xfrm>
          <a:off x="566928" y="2743200"/>
          <a:ext cx="11057839" cy="914400"/>
        </p:xfrm>
        <a:graphic>
          <a:graphicData uri="http://schemas.openxmlformats.org/drawingml/2006/table">
            <a:tbl>
              <a:tblPr/>
              <a:tblGrid>
                <a:gridCol w="2011680"/>
                <a:gridCol w="2651760"/>
                <a:gridCol w="6394399"/>
              </a:tblGrid>
              <a:tr h="310896">
                <a:tc>
                  <a:txBody>
                    <a:bodyPr/>
                    <a:lstStyle/>
                    <a:p>
                      <a:pPr indent="0" marL="0">
                        <a:buNone/>
                      </a:pPr>
                      <a:r>
                        <a:rPr lang="en-US" sz="900" b="1" spc="110" kern="0" dirty="0">
                          <a:solidFill>
                            <a:srgbClr val="FFFFFF"/>
                          </a:solidFill>
                          <a:latin typeface="Courier New" pitchFamily="34" charset="0"/>
                          <a:ea typeface="Courier New" pitchFamily="34" charset="-122"/>
                          <a:cs typeface="Courier New" pitchFamily="34" charset="-120"/>
                        </a:rPr>
                        <a:t>TRAIDORES (F)</a:t>
                      </a:r>
                      <a:endParaRPr lang="en-US" sz="900" dirty="0">
                        <a:latin typeface="Courier New" charset="0"/>
                        <a:ea typeface="Courier New" charset="0"/>
                        <a:cs typeface="Courier New" charset="0"/>
                      </a:endParaRPr>
                    </a:p>
                  </a:txBody>
                  <a:tcPr marL="101600" marR="101600" marT="76200" marB="76200" anchor="ctr">
                    <a:lnL w="12700" cap="flat" cmpd="sng" algn="ctr">
                      <a:solidFill>
                        <a:srgbClr val="D9D6E0"/>
                      </a:solidFill>
                      <a:prstDash val="solid"/>
                      <a:round/>
                      <a:headEnd type="none" w="med" len="med"/>
                      <a:tailEnd type="none" w="med" len="med"/>
                    </a:lnL>
                    <a:lnR w="12700" cap="flat" cmpd="sng" algn="ctr">
                      <a:solidFill>
                        <a:srgbClr val="D9D6E0"/>
                      </a:solidFill>
                      <a:prstDash val="solid"/>
                      <a:round/>
                      <a:headEnd type="none" w="med" len="med"/>
                      <a:tailEnd type="none" w="med" len="med"/>
                    </a:lnR>
                    <a:lnT w="12700" cap="flat" cmpd="sng" algn="ctr">
                      <a:solidFill>
                        <a:srgbClr val="D9D6E0"/>
                      </a:solidFill>
                      <a:prstDash val="solid"/>
                      <a:round/>
                      <a:headEnd type="none" w="med" len="med"/>
                      <a:tailEnd type="none" w="med" len="med"/>
                    </a:lnT>
                    <a:lnB w="12700" cap="flat" cmpd="sng" algn="ctr">
                      <a:solidFill>
                        <a:srgbClr val="D9D6E0"/>
                      </a:solidFill>
                      <a:prstDash val="solid"/>
                      <a:round/>
                      <a:headEnd type="none" w="med" len="med"/>
                      <a:tailEnd type="none" w="med" len="med"/>
                    </a:lnB>
                    <a:solidFill>
                      <a:srgbClr val="0F0F11"/>
                    </a:solidFill>
                  </a:tcPr>
                </a:tc>
                <a:tc>
                  <a:txBody>
                    <a:bodyPr/>
                    <a:lstStyle/>
                    <a:p>
                      <a:pPr indent="0" marL="0">
                        <a:buNone/>
                      </a:pPr>
                      <a:r>
                        <a:rPr lang="en-US" sz="900" b="1" spc="110" kern="0" dirty="0">
                          <a:solidFill>
                            <a:srgbClr val="FFFFFF"/>
                          </a:solidFill>
                          <a:latin typeface="Courier New" pitchFamily="34" charset="0"/>
                          <a:ea typeface="Courier New" pitchFamily="34" charset="-122"/>
                          <a:cs typeface="Courier New" pitchFamily="34" charset="-120"/>
                        </a:rPr>
                        <a:t>MÍNIMO DE PARTICIPANTES</a:t>
                      </a:r>
                      <a:endParaRPr lang="en-US" sz="900" dirty="0">
                        <a:latin typeface="Courier New" charset="0"/>
                        <a:ea typeface="Courier New" charset="0"/>
                        <a:cs typeface="Courier New" charset="0"/>
                      </a:endParaRPr>
                    </a:p>
                  </a:txBody>
                  <a:tcPr marL="101600" marR="101600" marT="76200" marB="76200" anchor="ctr">
                    <a:lnL w="12700" cap="flat" cmpd="sng" algn="ctr">
                      <a:solidFill>
                        <a:srgbClr val="D9D6E0"/>
                      </a:solidFill>
                      <a:prstDash val="solid"/>
                      <a:round/>
                      <a:headEnd type="none" w="med" len="med"/>
                      <a:tailEnd type="none" w="med" len="med"/>
                    </a:lnL>
                    <a:lnR w="12700" cap="flat" cmpd="sng" algn="ctr">
                      <a:solidFill>
                        <a:srgbClr val="D9D6E0"/>
                      </a:solidFill>
                      <a:prstDash val="solid"/>
                      <a:round/>
                      <a:headEnd type="none" w="med" len="med"/>
                      <a:tailEnd type="none" w="med" len="med"/>
                    </a:lnR>
                    <a:lnT w="12700" cap="flat" cmpd="sng" algn="ctr">
                      <a:solidFill>
                        <a:srgbClr val="D9D6E0"/>
                      </a:solidFill>
                      <a:prstDash val="solid"/>
                      <a:round/>
                      <a:headEnd type="none" w="med" len="med"/>
                      <a:tailEnd type="none" w="med" len="med"/>
                    </a:lnT>
                    <a:lnB w="12700" cap="flat" cmpd="sng" algn="ctr">
                      <a:solidFill>
                        <a:srgbClr val="D9D6E0"/>
                      </a:solidFill>
                      <a:prstDash val="solid"/>
                      <a:round/>
                      <a:headEnd type="none" w="med" len="med"/>
                      <a:tailEnd type="none" w="med" len="med"/>
                    </a:lnB>
                    <a:solidFill>
                      <a:srgbClr val="0F0F11"/>
                    </a:solidFill>
                  </a:tcPr>
                </a:tc>
                <a:tc>
                  <a:txBody>
                    <a:bodyPr/>
                    <a:lstStyle/>
                    <a:p>
                      <a:pPr indent="0" marL="0">
                        <a:buNone/>
                      </a:pPr>
                      <a:r>
                        <a:rPr lang="en-US" sz="900" b="1" spc="110" kern="0" dirty="0">
                          <a:solidFill>
                            <a:srgbClr val="FFFFFF"/>
                          </a:solidFill>
                          <a:latin typeface="Courier New" pitchFamily="34" charset="0"/>
                          <a:ea typeface="Courier New" pitchFamily="34" charset="-122"/>
                          <a:cs typeface="Courier New" pitchFamily="34" charset="-120"/>
                        </a:rPr>
                        <a:t>POR QUÉ</a:t>
                      </a:r>
                      <a:endParaRPr lang="en-US" sz="900" dirty="0">
                        <a:latin typeface="Courier New" charset="0"/>
                        <a:ea typeface="Courier New" charset="0"/>
                        <a:cs typeface="Courier New" charset="0"/>
                      </a:endParaRPr>
                    </a:p>
                  </a:txBody>
                  <a:tcPr marL="101600" marR="101600" marT="76200" marB="76200" anchor="ctr">
                    <a:lnL w="12700" cap="flat" cmpd="sng" algn="ctr">
                      <a:solidFill>
                        <a:srgbClr val="D9D6E0"/>
                      </a:solidFill>
                      <a:prstDash val="solid"/>
                      <a:round/>
                      <a:headEnd type="none" w="med" len="med"/>
                      <a:tailEnd type="none" w="med" len="med"/>
                    </a:lnL>
                    <a:lnR w="12700" cap="flat" cmpd="sng" algn="ctr">
                      <a:solidFill>
                        <a:srgbClr val="D9D6E0"/>
                      </a:solidFill>
                      <a:prstDash val="solid"/>
                      <a:round/>
                      <a:headEnd type="none" w="med" len="med"/>
                      <a:tailEnd type="none" w="med" len="med"/>
                    </a:lnR>
                    <a:lnT w="12700" cap="flat" cmpd="sng" algn="ctr">
                      <a:solidFill>
                        <a:srgbClr val="D9D6E0"/>
                      </a:solidFill>
                      <a:prstDash val="solid"/>
                      <a:round/>
                      <a:headEnd type="none" w="med" len="med"/>
                      <a:tailEnd type="none" w="med" len="med"/>
                    </a:lnT>
                    <a:lnB w="12700" cap="flat" cmpd="sng" algn="ctr">
                      <a:solidFill>
                        <a:srgbClr val="D9D6E0"/>
                      </a:solidFill>
                      <a:prstDash val="solid"/>
                      <a:round/>
                      <a:headEnd type="none" w="med" len="med"/>
                      <a:tailEnd type="none" w="med" len="med"/>
                    </a:lnB>
                    <a:solidFill>
                      <a:srgbClr val="0F0F11"/>
                    </a:solidFill>
                  </a:tcPr>
                </a:tc>
              </a:tr>
              <a:tr h="505968">
                <a:tc>
                  <a:txBody>
                    <a:bodyPr/>
                    <a:lstStyle/>
                    <a:p>
                      <a:pPr indent="0" marL="0">
                        <a:buNone/>
                      </a:pPr>
                      <a:r>
                        <a:rPr lang="en-US" sz="1200" b="1" dirty="0">
                          <a:solidFill>
                            <a:srgbClr val="0F0F11"/>
                          </a:solidFill>
                          <a:latin typeface="Courier New" pitchFamily="34" charset="0"/>
                          <a:ea typeface="Courier New" pitchFamily="34" charset="-122"/>
                          <a:cs typeface="Courier New" pitchFamily="34" charset="-120"/>
                        </a:rPr>
                        <a:t>1</a:t>
                      </a:r>
                      <a:endParaRPr lang="en-US" sz="1200" dirty="0">
                        <a:latin typeface="Courier New" charset="0"/>
                        <a:ea typeface="Courier New" charset="0"/>
                        <a:cs typeface="Courier New" charset="0"/>
                      </a:endParaRPr>
                    </a:p>
                  </a:txBody>
                  <a:tcPr marL="101600" marR="101600" marT="76200" marB="76200" anchor="t">
                    <a:lnL w="12700" cap="flat" cmpd="sng" algn="ctr">
                      <a:solidFill>
                        <a:srgbClr val="D9D6E0"/>
                      </a:solidFill>
                      <a:prstDash val="solid"/>
                      <a:round/>
                      <a:headEnd type="none" w="med" len="med"/>
                      <a:tailEnd type="none" w="med" len="med"/>
                    </a:lnL>
                    <a:lnR w="12700" cap="flat" cmpd="sng" algn="ctr">
                      <a:solidFill>
                        <a:srgbClr val="D9D6E0"/>
                      </a:solidFill>
                      <a:prstDash val="solid"/>
                      <a:round/>
                      <a:headEnd type="none" w="med" len="med"/>
                      <a:tailEnd type="none" w="med" len="med"/>
                    </a:lnR>
                    <a:lnT w="12700" cap="flat" cmpd="sng" algn="ctr">
                      <a:solidFill>
                        <a:srgbClr val="D9D6E0"/>
                      </a:solidFill>
                      <a:prstDash val="solid"/>
                      <a:round/>
                      <a:headEnd type="none" w="med" len="med"/>
                      <a:tailEnd type="none" w="med" len="med"/>
                    </a:lnT>
                    <a:lnB w="12700" cap="flat" cmpd="sng" algn="ctr">
                      <a:solidFill>
                        <a:srgbClr val="D9D6E0"/>
                      </a:solidFill>
                      <a:prstDash val="solid"/>
                      <a:round/>
                      <a:headEnd type="none" w="med" len="med"/>
                      <a:tailEnd type="none" w="med" len="med"/>
                    </a:lnB>
                    <a:solidFill>
                      <a:srgbClr val="FFFFFF"/>
                    </a:solidFill>
                  </a:tcPr>
                </a:tc>
                <a:tc>
                  <a:txBody>
                    <a:bodyPr/>
                    <a:lstStyle/>
                    <a:p>
                      <a:pPr indent="0" marL="0">
                        <a:buNone/>
                      </a:pPr>
                      <a:r>
                        <a:rPr lang="en-US" sz="1200" dirty="0">
                          <a:solidFill>
                            <a:srgbClr val="3A3844"/>
                          </a:solidFill>
                          <a:latin typeface="Arial" pitchFamily="34" charset="0"/>
                          <a:ea typeface="Arial" pitchFamily="34" charset="-122"/>
                          <a:cs typeface="Arial" pitchFamily="34" charset="-120"/>
                        </a:rPr>
                        <a:t>4</a:t>
                      </a:r>
                      <a:endParaRPr lang="en-US" sz="1200" dirty="0">
                        <a:latin typeface="Arial" charset="0"/>
                        <a:ea typeface="Arial" charset="0"/>
                        <a:cs typeface="Arial" charset="0"/>
                      </a:endParaRPr>
                    </a:p>
                  </a:txBody>
                  <a:tcPr marL="101600" marR="101600" marT="76200" marB="76200" anchor="t">
                    <a:lnL w="12700" cap="flat" cmpd="sng" algn="ctr">
                      <a:solidFill>
                        <a:srgbClr val="D9D6E0"/>
                      </a:solidFill>
                      <a:prstDash val="solid"/>
                      <a:round/>
                      <a:headEnd type="none" w="med" len="med"/>
                      <a:tailEnd type="none" w="med" len="med"/>
                    </a:lnL>
                    <a:lnR w="12700" cap="flat" cmpd="sng" algn="ctr">
                      <a:solidFill>
                        <a:srgbClr val="D9D6E0"/>
                      </a:solidFill>
                      <a:prstDash val="solid"/>
                      <a:round/>
                      <a:headEnd type="none" w="med" len="med"/>
                      <a:tailEnd type="none" w="med" len="med"/>
                    </a:lnR>
                    <a:lnT w="12700" cap="flat" cmpd="sng" algn="ctr">
                      <a:solidFill>
                        <a:srgbClr val="D9D6E0"/>
                      </a:solidFill>
                      <a:prstDash val="solid"/>
                      <a:round/>
                      <a:headEnd type="none" w="med" len="med"/>
                      <a:tailEnd type="none" w="med" len="med"/>
                    </a:lnT>
                    <a:lnB w="12700" cap="flat" cmpd="sng" algn="ctr">
                      <a:solidFill>
                        <a:srgbClr val="D9D6E0"/>
                      </a:solidFill>
                      <a:prstDash val="solid"/>
                      <a:round/>
                      <a:headEnd type="none" w="med" len="med"/>
                      <a:tailEnd type="none" w="med" len="med"/>
                    </a:lnB>
                    <a:solidFill>
                      <a:srgbClr val="FFFFFF"/>
                    </a:solidFill>
                  </a:tcPr>
                </a:tc>
                <a:tc>
                  <a:txBody>
                    <a:bodyPr/>
                    <a:lstStyle/>
                    <a:p>
                      <a:pPr indent="0" marL="0">
                        <a:buNone/>
                      </a:pPr>
                      <a:r>
                        <a:rPr lang="en-US" sz="1200" dirty="0">
                          <a:solidFill>
                            <a:srgbClr val="3A3844"/>
                          </a:solidFill>
                          <a:latin typeface="Arial" pitchFamily="34" charset="0"/>
                          <a:ea typeface="Arial" pitchFamily="34" charset="-122"/>
                          <a:cs typeface="Arial" pitchFamily="34" charset="-120"/>
                        </a:rPr>
                        <a:t>Con 3, un traidor puede empatar a los dos leales entre sí y nadie sabe a quién creerle.</a:t>
                      </a:r>
                      <a:endParaRPr lang="en-US" sz="1200" dirty="0">
                        <a:latin typeface="Arial" charset="0"/>
                        <a:ea typeface="Arial" charset="0"/>
                        <a:cs typeface="Arial" charset="0"/>
                      </a:endParaRPr>
                    </a:p>
                  </a:txBody>
                  <a:tcPr marL="101600" marR="101600" marT="76200" marB="76200" anchor="t">
                    <a:lnL w="12700" cap="flat" cmpd="sng" algn="ctr">
                      <a:solidFill>
                        <a:srgbClr val="D9D6E0"/>
                      </a:solidFill>
                      <a:prstDash val="solid"/>
                      <a:round/>
                      <a:headEnd type="none" w="med" len="med"/>
                      <a:tailEnd type="none" w="med" len="med"/>
                    </a:lnL>
                    <a:lnR w="12700" cap="flat" cmpd="sng" algn="ctr">
                      <a:solidFill>
                        <a:srgbClr val="D9D6E0"/>
                      </a:solidFill>
                      <a:prstDash val="solid"/>
                      <a:round/>
                      <a:headEnd type="none" w="med" len="med"/>
                      <a:tailEnd type="none" w="med" len="med"/>
                    </a:lnR>
                    <a:lnT w="12700" cap="flat" cmpd="sng" algn="ctr">
                      <a:solidFill>
                        <a:srgbClr val="D9D6E0"/>
                      </a:solidFill>
                      <a:prstDash val="solid"/>
                      <a:round/>
                      <a:headEnd type="none" w="med" len="med"/>
                      <a:tailEnd type="none" w="med" len="med"/>
                    </a:lnT>
                    <a:lnB w="12700" cap="flat" cmpd="sng" algn="ctr">
                      <a:solidFill>
                        <a:srgbClr val="D9D6E0"/>
                      </a:solidFill>
                      <a:prstDash val="solid"/>
                      <a:round/>
                      <a:headEnd type="none" w="med" len="med"/>
                      <a:tailEnd type="none" w="med" len="med"/>
                    </a:lnB>
                    <a:solidFill>
                      <a:srgbClr val="FFFFFF"/>
                    </a:solidFill>
                  </a:tcPr>
                </a:tc>
              </a:tr>
              <a:tr h="505968">
                <a:tc>
                  <a:txBody>
                    <a:bodyPr/>
                    <a:lstStyle/>
                    <a:p>
                      <a:pPr indent="0" marL="0">
                        <a:buNone/>
                      </a:pPr>
                      <a:r>
                        <a:rPr lang="en-US" sz="1200" b="1" dirty="0">
                          <a:solidFill>
                            <a:srgbClr val="0F0F11"/>
                          </a:solidFill>
                          <a:latin typeface="Courier New" pitchFamily="34" charset="0"/>
                          <a:ea typeface="Courier New" pitchFamily="34" charset="-122"/>
                          <a:cs typeface="Courier New" pitchFamily="34" charset="-120"/>
                        </a:rPr>
                        <a:t>2</a:t>
                      </a:r>
                      <a:endParaRPr lang="en-US" sz="1200" dirty="0">
                        <a:latin typeface="Courier New" charset="0"/>
                        <a:ea typeface="Courier New" charset="0"/>
                        <a:cs typeface="Courier New" charset="0"/>
                      </a:endParaRPr>
                    </a:p>
                  </a:txBody>
                  <a:tcPr marL="101600" marR="101600" marT="76200" marB="76200" anchor="t">
                    <a:lnL w="12700" cap="flat" cmpd="sng" algn="ctr">
                      <a:solidFill>
                        <a:srgbClr val="D9D6E0"/>
                      </a:solidFill>
                      <a:prstDash val="solid"/>
                      <a:round/>
                      <a:headEnd type="none" w="med" len="med"/>
                      <a:tailEnd type="none" w="med" len="med"/>
                    </a:lnL>
                    <a:lnR w="12700" cap="flat" cmpd="sng" algn="ctr">
                      <a:solidFill>
                        <a:srgbClr val="D9D6E0"/>
                      </a:solidFill>
                      <a:prstDash val="solid"/>
                      <a:round/>
                      <a:headEnd type="none" w="med" len="med"/>
                      <a:tailEnd type="none" w="med" len="med"/>
                    </a:lnR>
                    <a:lnT w="12700" cap="flat" cmpd="sng" algn="ctr">
                      <a:solidFill>
                        <a:srgbClr val="D9D6E0"/>
                      </a:solidFill>
                      <a:prstDash val="solid"/>
                      <a:round/>
                      <a:headEnd type="none" w="med" len="med"/>
                      <a:tailEnd type="none" w="med" len="med"/>
                    </a:lnT>
                    <a:lnB w="12700" cap="flat" cmpd="sng" algn="ctr">
                      <a:solidFill>
                        <a:srgbClr val="D9D6E0"/>
                      </a:solidFill>
                      <a:prstDash val="solid"/>
                      <a:round/>
                      <a:headEnd type="none" w="med" len="med"/>
                      <a:tailEnd type="none" w="med" len="med"/>
                    </a:lnB>
                    <a:solidFill>
                      <a:srgbClr val="FAF9FB"/>
                    </a:solidFill>
                  </a:tcPr>
                </a:tc>
                <a:tc>
                  <a:txBody>
                    <a:bodyPr/>
                    <a:lstStyle/>
                    <a:p>
                      <a:pPr indent="0" marL="0">
                        <a:buNone/>
                      </a:pPr>
                      <a:r>
                        <a:rPr lang="en-US" sz="1200" dirty="0">
                          <a:solidFill>
                            <a:srgbClr val="3A3844"/>
                          </a:solidFill>
                          <a:latin typeface="Arial" pitchFamily="34" charset="0"/>
                          <a:ea typeface="Arial" pitchFamily="34" charset="-122"/>
                          <a:cs typeface="Arial" pitchFamily="34" charset="-120"/>
                        </a:rPr>
                        <a:t>7</a:t>
                      </a:r>
                      <a:endParaRPr lang="en-US" sz="1200" dirty="0">
                        <a:latin typeface="Arial" charset="0"/>
                        <a:ea typeface="Arial" charset="0"/>
                        <a:cs typeface="Arial" charset="0"/>
                      </a:endParaRPr>
                    </a:p>
                  </a:txBody>
                  <a:tcPr marL="101600" marR="101600" marT="76200" marB="76200" anchor="t">
                    <a:lnL w="12700" cap="flat" cmpd="sng" algn="ctr">
                      <a:solidFill>
                        <a:srgbClr val="D9D6E0"/>
                      </a:solidFill>
                      <a:prstDash val="solid"/>
                      <a:round/>
                      <a:headEnd type="none" w="med" len="med"/>
                      <a:tailEnd type="none" w="med" len="med"/>
                    </a:lnL>
                    <a:lnR w="12700" cap="flat" cmpd="sng" algn="ctr">
                      <a:solidFill>
                        <a:srgbClr val="D9D6E0"/>
                      </a:solidFill>
                      <a:prstDash val="solid"/>
                      <a:round/>
                      <a:headEnd type="none" w="med" len="med"/>
                      <a:tailEnd type="none" w="med" len="med"/>
                    </a:lnR>
                    <a:lnT w="12700" cap="flat" cmpd="sng" algn="ctr">
                      <a:solidFill>
                        <a:srgbClr val="D9D6E0"/>
                      </a:solidFill>
                      <a:prstDash val="solid"/>
                      <a:round/>
                      <a:headEnd type="none" w="med" len="med"/>
                      <a:tailEnd type="none" w="med" len="med"/>
                    </a:lnT>
                    <a:lnB w="12700" cap="flat" cmpd="sng" algn="ctr">
                      <a:solidFill>
                        <a:srgbClr val="D9D6E0"/>
                      </a:solidFill>
                      <a:prstDash val="solid"/>
                      <a:round/>
                      <a:headEnd type="none" w="med" len="med"/>
                      <a:tailEnd type="none" w="med" len="med"/>
                    </a:lnB>
                    <a:solidFill>
                      <a:srgbClr val="FAF9FB"/>
                    </a:solidFill>
                  </a:tcPr>
                </a:tc>
                <a:tc>
                  <a:txBody>
                    <a:bodyPr/>
                    <a:lstStyle/>
                    <a:p>
                      <a:pPr indent="0" marL="0">
                        <a:buNone/>
                      </a:pPr>
                      <a:r>
                        <a:rPr lang="en-US" sz="1200" dirty="0">
                          <a:solidFill>
                            <a:srgbClr val="3A3844"/>
                          </a:solidFill>
                          <a:latin typeface="Arial" pitchFamily="34" charset="0"/>
                          <a:ea typeface="Arial" pitchFamily="34" charset="-122"/>
                          <a:cs typeface="Arial" pitchFamily="34" charset="-120"/>
                        </a:rPr>
                        <a:t>Cualquier grupo de 5 que decida ya contiene al menos 3 leales: la mayoría del grupo es honesta.</a:t>
                      </a:r>
                      <a:endParaRPr lang="en-US" sz="1200" dirty="0">
                        <a:latin typeface="Arial" charset="0"/>
                        <a:ea typeface="Arial" charset="0"/>
                        <a:cs typeface="Arial" charset="0"/>
                      </a:endParaRPr>
                    </a:p>
                  </a:txBody>
                  <a:tcPr marL="101600" marR="101600" marT="76200" marB="76200" anchor="t">
                    <a:lnL w="12700" cap="flat" cmpd="sng" algn="ctr">
                      <a:solidFill>
                        <a:srgbClr val="D9D6E0"/>
                      </a:solidFill>
                      <a:prstDash val="solid"/>
                      <a:round/>
                      <a:headEnd type="none" w="med" len="med"/>
                      <a:tailEnd type="none" w="med" len="med"/>
                    </a:lnL>
                    <a:lnR w="12700" cap="flat" cmpd="sng" algn="ctr">
                      <a:solidFill>
                        <a:srgbClr val="D9D6E0"/>
                      </a:solidFill>
                      <a:prstDash val="solid"/>
                      <a:round/>
                      <a:headEnd type="none" w="med" len="med"/>
                      <a:tailEnd type="none" w="med" len="med"/>
                    </a:lnR>
                    <a:lnT w="12700" cap="flat" cmpd="sng" algn="ctr">
                      <a:solidFill>
                        <a:srgbClr val="D9D6E0"/>
                      </a:solidFill>
                      <a:prstDash val="solid"/>
                      <a:round/>
                      <a:headEnd type="none" w="med" len="med"/>
                      <a:tailEnd type="none" w="med" len="med"/>
                    </a:lnT>
                    <a:lnB w="12700" cap="flat" cmpd="sng" algn="ctr">
                      <a:solidFill>
                        <a:srgbClr val="D9D6E0"/>
                      </a:solidFill>
                      <a:prstDash val="solid"/>
                      <a:round/>
                      <a:headEnd type="none" w="med" len="med"/>
                      <a:tailEnd type="none" w="med" len="med"/>
                    </a:lnB>
                    <a:solidFill>
                      <a:srgbClr val="FAF9FB"/>
                    </a:solidFill>
                  </a:tcPr>
                </a:tc>
              </a:tr>
              <a:tr h="505968">
                <a:tc>
                  <a:txBody>
                    <a:bodyPr/>
                    <a:lstStyle/>
                    <a:p>
                      <a:pPr indent="0" marL="0">
                        <a:buNone/>
                      </a:pPr>
                      <a:r>
                        <a:rPr lang="en-US" sz="1200" b="1" dirty="0">
                          <a:solidFill>
                            <a:srgbClr val="0F0F11"/>
                          </a:solidFill>
                          <a:latin typeface="Courier New" pitchFamily="34" charset="0"/>
                          <a:ea typeface="Courier New" pitchFamily="34" charset="-122"/>
                          <a:cs typeface="Courier New" pitchFamily="34" charset="-120"/>
                        </a:rPr>
                        <a:t>10</a:t>
                      </a:r>
                      <a:endParaRPr lang="en-US" sz="1200" dirty="0">
                        <a:latin typeface="Courier New" charset="0"/>
                        <a:ea typeface="Courier New" charset="0"/>
                        <a:cs typeface="Courier New" charset="0"/>
                      </a:endParaRPr>
                    </a:p>
                  </a:txBody>
                  <a:tcPr marL="101600" marR="101600" marT="76200" marB="76200" anchor="t">
                    <a:lnL w="12700" cap="flat" cmpd="sng" algn="ctr">
                      <a:solidFill>
                        <a:srgbClr val="D9D6E0"/>
                      </a:solidFill>
                      <a:prstDash val="solid"/>
                      <a:round/>
                      <a:headEnd type="none" w="med" len="med"/>
                      <a:tailEnd type="none" w="med" len="med"/>
                    </a:lnL>
                    <a:lnR w="12700" cap="flat" cmpd="sng" algn="ctr">
                      <a:solidFill>
                        <a:srgbClr val="D9D6E0"/>
                      </a:solidFill>
                      <a:prstDash val="solid"/>
                      <a:round/>
                      <a:headEnd type="none" w="med" len="med"/>
                      <a:tailEnd type="none" w="med" len="med"/>
                    </a:lnR>
                    <a:lnT w="12700" cap="flat" cmpd="sng" algn="ctr">
                      <a:solidFill>
                        <a:srgbClr val="D9D6E0"/>
                      </a:solidFill>
                      <a:prstDash val="solid"/>
                      <a:round/>
                      <a:headEnd type="none" w="med" len="med"/>
                      <a:tailEnd type="none" w="med" len="med"/>
                    </a:lnT>
                    <a:lnB w="12700" cap="flat" cmpd="sng" algn="ctr">
                      <a:solidFill>
                        <a:srgbClr val="D9D6E0"/>
                      </a:solidFill>
                      <a:prstDash val="solid"/>
                      <a:round/>
                      <a:headEnd type="none" w="med" len="med"/>
                      <a:tailEnd type="none" w="med" len="med"/>
                    </a:lnB>
                    <a:solidFill>
                      <a:srgbClr val="FFFFFF"/>
                    </a:solidFill>
                  </a:tcPr>
                </a:tc>
                <a:tc>
                  <a:txBody>
                    <a:bodyPr/>
                    <a:lstStyle/>
                    <a:p>
                      <a:pPr indent="0" marL="0">
                        <a:buNone/>
                      </a:pPr>
                      <a:r>
                        <a:rPr lang="en-US" sz="1200" dirty="0">
                          <a:solidFill>
                            <a:srgbClr val="3A3844"/>
                          </a:solidFill>
                          <a:latin typeface="Arial" pitchFamily="34" charset="0"/>
                          <a:ea typeface="Arial" pitchFamily="34" charset="-122"/>
                          <a:cs typeface="Arial" pitchFamily="34" charset="-120"/>
                        </a:rPr>
                        <a:t>31</a:t>
                      </a:r>
                      <a:endParaRPr lang="en-US" sz="1200" dirty="0">
                        <a:latin typeface="Arial" charset="0"/>
                        <a:ea typeface="Arial" charset="0"/>
                        <a:cs typeface="Arial" charset="0"/>
                      </a:endParaRPr>
                    </a:p>
                  </a:txBody>
                  <a:tcPr marL="101600" marR="101600" marT="76200" marB="76200" anchor="t">
                    <a:lnL w="12700" cap="flat" cmpd="sng" algn="ctr">
                      <a:solidFill>
                        <a:srgbClr val="D9D6E0"/>
                      </a:solidFill>
                      <a:prstDash val="solid"/>
                      <a:round/>
                      <a:headEnd type="none" w="med" len="med"/>
                      <a:tailEnd type="none" w="med" len="med"/>
                    </a:lnL>
                    <a:lnR w="12700" cap="flat" cmpd="sng" algn="ctr">
                      <a:solidFill>
                        <a:srgbClr val="D9D6E0"/>
                      </a:solidFill>
                      <a:prstDash val="solid"/>
                      <a:round/>
                      <a:headEnd type="none" w="med" len="med"/>
                      <a:tailEnd type="none" w="med" len="med"/>
                    </a:lnR>
                    <a:lnT w="12700" cap="flat" cmpd="sng" algn="ctr">
                      <a:solidFill>
                        <a:srgbClr val="D9D6E0"/>
                      </a:solidFill>
                      <a:prstDash val="solid"/>
                      <a:round/>
                      <a:headEnd type="none" w="med" len="med"/>
                      <a:tailEnd type="none" w="med" len="med"/>
                    </a:lnT>
                    <a:lnB w="12700" cap="flat" cmpd="sng" algn="ctr">
                      <a:solidFill>
                        <a:srgbClr val="D9D6E0"/>
                      </a:solidFill>
                      <a:prstDash val="solid"/>
                      <a:round/>
                      <a:headEnd type="none" w="med" len="med"/>
                      <a:tailEnd type="none" w="med" len="med"/>
                    </a:lnB>
                    <a:solidFill>
                      <a:srgbClr val="FFFFFF"/>
                    </a:solidFill>
                  </a:tcPr>
                </a:tc>
                <a:tc>
                  <a:txBody>
                    <a:bodyPr/>
                    <a:lstStyle/>
                    <a:p>
                      <a:pPr indent="0" marL="0">
                        <a:buNone/>
                      </a:pPr>
                      <a:r>
                        <a:rPr lang="en-US" sz="1200" dirty="0">
                          <a:solidFill>
                            <a:srgbClr val="3A3844"/>
                          </a:solidFill>
                          <a:latin typeface="Arial" pitchFamily="34" charset="0"/>
                          <a:ea typeface="Arial" pitchFamily="34" charset="-122"/>
                          <a:cs typeface="Arial" pitchFamily="34" charset="-120"/>
                        </a:rPr>
                        <a:t>La proporción no cambia al crecer: siempre menos de un tercio.</a:t>
                      </a:r>
                      <a:endParaRPr lang="en-US" sz="1200" dirty="0">
                        <a:latin typeface="Arial" charset="0"/>
                        <a:ea typeface="Arial" charset="0"/>
                        <a:cs typeface="Arial" charset="0"/>
                      </a:endParaRPr>
                    </a:p>
                  </a:txBody>
                  <a:tcPr marL="101600" marR="101600" marT="76200" marB="76200" anchor="t">
                    <a:lnL w="12700" cap="flat" cmpd="sng" algn="ctr">
                      <a:solidFill>
                        <a:srgbClr val="D9D6E0"/>
                      </a:solidFill>
                      <a:prstDash val="solid"/>
                      <a:round/>
                      <a:headEnd type="none" w="med" len="med"/>
                      <a:tailEnd type="none" w="med" len="med"/>
                    </a:lnL>
                    <a:lnR w="12700" cap="flat" cmpd="sng" algn="ctr">
                      <a:solidFill>
                        <a:srgbClr val="D9D6E0"/>
                      </a:solidFill>
                      <a:prstDash val="solid"/>
                      <a:round/>
                      <a:headEnd type="none" w="med" len="med"/>
                      <a:tailEnd type="none" w="med" len="med"/>
                    </a:lnR>
                    <a:lnT w="12700" cap="flat" cmpd="sng" algn="ctr">
                      <a:solidFill>
                        <a:srgbClr val="D9D6E0"/>
                      </a:solidFill>
                      <a:prstDash val="solid"/>
                      <a:round/>
                      <a:headEnd type="none" w="med" len="med"/>
                      <a:tailEnd type="none" w="med" len="med"/>
                    </a:lnT>
                    <a:lnB w="12700" cap="flat" cmpd="sng" algn="ctr">
                      <a:solidFill>
                        <a:srgbClr val="D9D6E0"/>
                      </a:solidFill>
                      <a:prstDash val="solid"/>
                      <a:round/>
                      <a:headEnd type="none" w="med" len="med"/>
                      <a:tailEnd type="none" w="med" len="med"/>
                    </a:lnB>
                    <a:solidFill>
                      <a:srgbClr val="FFFFFF"/>
                    </a:solidFill>
                  </a:tcPr>
                </a:tc>
              </a:tr>
            </a:tbl>
          </a:graphicData>
        </a:graphic>
      </p:graphicFrame>
      <p:sp>
        <p:nvSpPr>
          <p:cNvPr id="10" name="Shape 6"/>
          <p:cNvSpPr/>
          <p:nvPr/>
        </p:nvSpPr>
        <p:spPr>
          <a:xfrm>
            <a:off x="548640" y="2724912"/>
            <a:ext cx="11094415" cy="1865376"/>
          </a:xfrm>
          <a:prstGeom prst="rect">
            <a:avLst/>
          </a:prstGeom>
          <a:ln w="22225">
            <a:solidFill>
              <a:srgbClr val="0F0F11"/>
            </a:solidFill>
            <a:prstDash val="solid"/>
          </a:ln>
        </p:spPr>
      </p:sp>
      <p:sp>
        <p:nvSpPr>
          <p:cNvPr id="11" name="Shape 7"/>
          <p:cNvSpPr/>
          <p:nvPr/>
        </p:nvSpPr>
        <p:spPr>
          <a:xfrm>
            <a:off x="566928" y="4754880"/>
            <a:ext cx="11057839" cy="1371600"/>
          </a:xfrm>
          <a:prstGeom prst="rect">
            <a:avLst/>
          </a:prstGeom>
          <a:solidFill>
            <a:srgbClr val="FFFFFF"/>
          </a:solidFill>
          <a:ln w="22225">
            <a:solidFill>
              <a:srgbClr val="F07F06"/>
            </a:solidFill>
            <a:prstDash val="solid"/>
          </a:ln>
          <a:effectLst>
            <a:outerShdw sx="100000" sy="100000" kx="0" ky="0" algn="bl" rotWithShape="0" blurRad="101600" dist="63500" dir="2700000">
              <a:srgbClr val="F07F06">
                <a:alpha val="100000"/>
              </a:srgbClr>
            </a:outerShdw>
          </a:effectLst>
        </p:spPr>
      </p:sp>
      <p:pic>
        <p:nvPicPr>
          <p:cNvPr id="12" name="Image 1" descr="preencoded.png">    </p:cNvPr>
          <p:cNvPicPr>
            <a:picLocks noChangeAspect="1"/>
          </p:cNvPicPr>
          <p:nvPr/>
        </p:nvPicPr>
        <p:blipFill>
          <a:blip r:embed="rId2"/>
          <a:stretch>
            <a:fillRect/>
          </a:stretch>
        </p:blipFill>
        <p:spPr>
          <a:xfrm>
            <a:off x="804672" y="4974336"/>
            <a:ext cx="237744" cy="237744"/>
          </a:xfrm>
          <a:prstGeom prst="rect">
            <a:avLst/>
          </a:prstGeom>
        </p:spPr>
      </p:pic>
      <p:sp>
        <p:nvSpPr>
          <p:cNvPr id="13" name="Text 8"/>
          <p:cNvSpPr/>
          <p:nvPr/>
        </p:nvSpPr>
        <p:spPr>
          <a:xfrm>
            <a:off x="1133856" y="4946904"/>
            <a:ext cx="10234879" cy="292608"/>
          </a:xfrm>
          <a:prstGeom prst="rect">
            <a:avLst/>
          </a:prstGeom>
          <a:noFill/>
          <a:ln/>
        </p:spPr>
        <p:txBody>
          <a:bodyPr wrap="square" lIns="0" tIns="0" rIns="0" bIns="0" rtlCol="0" anchor="ctr"/>
          <a:lstStyle/>
          <a:p>
            <a:pPr indent="0" marL="0">
              <a:buNone/>
            </a:pPr>
            <a:r>
              <a:rPr lang="en-US" sz="950" b="1" spc="150" kern="0" dirty="0">
                <a:solidFill>
                  <a:srgbClr val="A35604"/>
                </a:solidFill>
                <a:latin typeface="Courier New" pitchFamily="34" charset="0"/>
                <a:ea typeface="Courier New" pitchFamily="34" charset="-122"/>
                <a:cs typeface="Courier New" pitchFamily="34" charset="-120"/>
              </a:rPr>
              <a:t>POR QUÉ ESTE NÚMERO VA A REAPARECER</a:t>
            </a:r>
            <a:endParaRPr lang="en-US" sz="950" dirty="0"/>
          </a:p>
        </p:txBody>
      </p:sp>
      <p:sp>
        <p:nvSpPr>
          <p:cNvPr id="14" name="Text 9"/>
          <p:cNvSpPr/>
          <p:nvPr/>
        </p:nvSpPr>
        <p:spPr>
          <a:xfrm>
            <a:off x="804672" y="5266944"/>
            <a:ext cx="10582351" cy="768096"/>
          </a:xfrm>
          <a:prstGeom prst="rect">
            <a:avLst/>
          </a:prstGeom>
          <a:noFill/>
          <a:ln/>
        </p:spPr>
        <p:txBody>
          <a:bodyPr wrap="square" lIns="0" tIns="0" rIns="0" bIns="0" rtlCol="0" anchor="t"/>
          <a:lstStyle/>
          <a:p>
            <a:pPr indent="0" marL="0">
              <a:lnSpc>
                <a:spcPct val="124000"/>
              </a:lnSpc>
              <a:buNone/>
            </a:pPr>
            <a:r>
              <a:rPr lang="en-US" sz="1300" dirty="0">
                <a:solidFill>
                  <a:srgbClr val="3A3844"/>
                </a:solidFill>
                <a:latin typeface="Arial" pitchFamily="34" charset="0"/>
                <a:ea typeface="Arial" pitchFamily="34" charset="-122"/>
                <a:cs typeface="Arial" pitchFamily="34" charset="-120"/>
              </a:rPr>
              <a:t>El «un tercio» es el umbral de seguridad de la finalidad en Ethereum, de PBFT y de casi todos los protocolos por votación. Cuando alguien concentra un tercio del poder de voto, deja de ser un problema de reputación y pasa a ser un problema de seguridad.</a:t>
            </a:r>
            <a:endParaRPr lang="en-US" sz="1300" dirty="0"/>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9">
    <p:bg>
      <p:bgPr>
        <a:solidFill>
          <a:srgbClr val="FFFFFF"/>
        </a:solidFill>
      </p:bgPr>
    </p:bg>
    <p:spTree>
      <p:nvGrpSpPr>
        <p:cNvPr id="1" name=""/>
        <p:cNvGrpSpPr/>
        <p:nvPr/>
      </p:nvGrpSpPr>
      <p:grpSpPr>
        <a:xfrm>
          <a:off x="0" y="0"/>
          <a:ext cx="0" cy="0"/>
          <a:chOff x="0" y="0"/>
          <a:chExt cx="0" cy="0"/>
        </a:xfrm>
      </p:grpSpPr>
      <p:pic>
        <p:nvPicPr>
          <p:cNvPr id="2" name="Image 0" descr="preencoded.png">    </p:cNvPr>
          <p:cNvPicPr>
            <a:picLocks noChangeAspect="1"/>
          </p:cNvPicPr>
          <p:nvPr/>
        </p:nvPicPr>
        <p:blipFill>
          <a:blip r:embed="rId1"/>
          <a:stretch>
            <a:fillRect/>
          </a:stretch>
        </p:blipFill>
        <p:spPr>
          <a:xfrm>
            <a:off x="566928" y="402336"/>
            <a:ext cx="274320" cy="274320"/>
          </a:xfrm>
          <a:prstGeom prst="rect">
            <a:avLst/>
          </a:prstGeom>
        </p:spPr>
      </p:pic>
      <p:sp>
        <p:nvSpPr>
          <p:cNvPr id="3" name="Text 0"/>
          <p:cNvSpPr/>
          <p:nvPr/>
        </p:nvSpPr>
        <p:spPr>
          <a:xfrm>
            <a:off x="969264" y="384048"/>
            <a:ext cx="10655503" cy="310896"/>
          </a:xfrm>
          <a:prstGeom prst="rect">
            <a:avLst/>
          </a:prstGeom>
          <a:noFill/>
          <a:ln/>
        </p:spPr>
        <p:txBody>
          <a:bodyPr wrap="square" lIns="0" tIns="0" rIns="0" bIns="0" rtlCol="0" anchor="ctr"/>
          <a:lstStyle/>
          <a:p>
            <a:pPr indent="0" marL="0">
              <a:buNone/>
            </a:pPr>
            <a:r>
              <a:rPr lang="en-US" sz="950" spc="160" kern="0" dirty="0">
                <a:solidFill>
                  <a:srgbClr val="6F6B80"/>
                </a:solidFill>
                <a:latin typeface="Courier New" pitchFamily="34" charset="0"/>
                <a:ea typeface="Courier New" pitchFamily="34" charset="-122"/>
                <a:cs typeface="Courier New" pitchFamily="34" charset="-120"/>
              </a:rPr>
              <a:t>A.3B · EL PORQUÉ, CON UN DIBUJO</a:t>
            </a:r>
            <a:endParaRPr lang="en-US" sz="950" dirty="0"/>
          </a:p>
        </p:txBody>
      </p:sp>
      <p:sp>
        <p:nvSpPr>
          <p:cNvPr id="4" name="Text 1"/>
          <p:cNvSpPr/>
          <p:nvPr/>
        </p:nvSpPr>
        <p:spPr>
          <a:xfrm>
            <a:off x="566928" y="777240"/>
            <a:ext cx="11057839" cy="777240"/>
          </a:xfrm>
          <a:prstGeom prst="rect">
            <a:avLst/>
          </a:prstGeom>
          <a:noFill/>
          <a:ln/>
        </p:spPr>
        <p:txBody>
          <a:bodyPr wrap="square" lIns="0" tIns="0" rIns="0" bIns="0" rtlCol="0" anchor="t"/>
          <a:lstStyle/>
          <a:p>
            <a:pPr indent="0" marL="0">
              <a:lnSpc>
                <a:spcPct val="92000"/>
              </a:lnSpc>
              <a:buNone/>
            </a:pPr>
            <a:r>
              <a:rPr lang="en-US" sz="2700" dirty="0">
                <a:solidFill>
                  <a:srgbClr val="0F0F11"/>
                </a:solidFill>
                <a:latin typeface="Arial Black" pitchFamily="34" charset="0"/>
                <a:ea typeface="Arial Black" pitchFamily="34" charset="-122"/>
                <a:cs typeface="Arial Black" pitchFamily="34" charset="-120"/>
              </a:rPr>
              <a:t>CON TRES NO ALCANZA; CON CUATRO, SÍ</a:t>
            </a:r>
            <a:endParaRPr lang="en-US" sz="2700" dirty="0"/>
          </a:p>
        </p:txBody>
      </p:sp>
      <p:sp>
        <p:nvSpPr>
          <p:cNvPr id="5" name="Text 2"/>
          <p:cNvSpPr/>
          <p:nvPr/>
        </p:nvSpPr>
        <p:spPr>
          <a:xfrm>
            <a:off x="566928" y="6291072"/>
            <a:ext cx="8412480" cy="274320"/>
          </a:xfrm>
          <a:prstGeom prst="rect">
            <a:avLst/>
          </a:prstGeom>
          <a:noFill/>
          <a:ln/>
        </p:spPr>
        <p:txBody>
          <a:bodyPr wrap="square" lIns="0" tIns="0" rIns="0" bIns="0" rtlCol="0" anchor="ctr"/>
          <a:lstStyle/>
          <a:p>
            <a:pPr indent="0" marL="0">
              <a:buNone/>
            </a:pPr>
            <a:r>
              <a:rPr lang="en-US" sz="800" spc="120" kern="0" dirty="0">
                <a:solidFill>
                  <a:srgbClr val="6F6B80"/>
                </a:solidFill>
                <a:latin typeface="Courier New" pitchFamily="34" charset="0"/>
                <a:ea typeface="Courier New" pitchFamily="34" charset="-122"/>
                <a:cs typeface="Courier New" pitchFamily="34" charset="-120"/>
              </a:rPr>
              <a:t>SESIÓN 04 · CONSENSO, INCENTIVOS Y EL TRILEMA</a:t>
            </a:r>
            <a:endParaRPr lang="en-US" sz="800" dirty="0"/>
          </a:p>
        </p:txBody>
      </p:sp>
      <p:sp>
        <p:nvSpPr>
          <p:cNvPr id="6" name="Text 3"/>
          <p:cNvSpPr/>
          <p:nvPr/>
        </p:nvSpPr>
        <p:spPr>
          <a:xfrm>
            <a:off x="9052560" y="6291072"/>
            <a:ext cx="1828800" cy="274320"/>
          </a:xfrm>
          <a:prstGeom prst="rect">
            <a:avLst/>
          </a:prstGeom>
          <a:noFill/>
          <a:ln/>
        </p:spPr>
        <p:txBody>
          <a:bodyPr wrap="square" lIns="0" tIns="0" rIns="0" bIns="0" rtlCol="0" anchor="ctr"/>
          <a:lstStyle/>
          <a:p>
            <a:pPr algn="r" indent="0" marL="0">
              <a:buNone/>
            </a:pPr>
            <a:r>
              <a:rPr lang="en-US" sz="800" spc="120" kern="0" dirty="0">
                <a:solidFill>
                  <a:srgbClr val="6F6B80"/>
                </a:solidFill>
                <a:latin typeface="Courier New" pitchFamily="34" charset="0"/>
                <a:ea typeface="Courier New" pitchFamily="34" charset="-122"/>
                <a:cs typeface="Courier New" pitchFamily="34" charset="-120"/>
              </a:rPr>
              <a:t>USB MEDELLÍN</a:t>
            </a:r>
            <a:endParaRPr lang="en-US" sz="800" dirty="0"/>
          </a:p>
        </p:txBody>
      </p:sp>
      <p:sp>
        <p:nvSpPr>
          <p:cNvPr id="7" name="Text 4"/>
          <p:cNvSpPr/>
          <p:nvPr/>
        </p:nvSpPr>
        <p:spPr>
          <a:xfrm>
            <a:off x="11018520" y="6291072"/>
            <a:ext cx="603504" cy="274320"/>
          </a:xfrm>
          <a:prstGeom prst="rect">
            <a:avLst/>
          </a:prstGeom>
          <a:noFill/>
          <a:ln/>
        </p:spPr>
        <p:txBody>
          <a:bodyPr wrap="square" lIns="0" tIns="0" rIns="0" bIns="0" rtlCol="0" anchor="ctr"/>
          <a:lstStyle/>
          <a:p>
            <a:pPr algn="r" indent="0" marL="0">
              <a:buNone/>
            </a:pPr>
            <a:r>
              <a:rPr lang="en-US" sz="900" b="1" dirty="0">
                <a:solidFill>
                  <a:srgbClr val="0F0F11"/>
                </a:solidFill>
                <a:latin typeface="Courier New" pitchFamily="34" charset="0"/>
                <a:ea typeface="Courier New" pitchFamily="34" charset="-122"/>
                <a:cs typeface="Courier New" pitchFamily="34" charset="-120"/>
              </a:rPr>
              <a:t>09</a:t>
            </a:r>
            <a:endParaRPr lang="en-US" sz="900" dirty="0"/>
          </a:p>
        </p:txBody>
      </p:sp>
      <p:sp>
        <p:nvSpPr>
          <p:cNvPr id="8" name="Text 5"/>
          <p:cNvSpPr/>
          <p:nvPr/>
        </p:nvSpPr>
        <p:spPr>
          <a:xfrm>
            <a:off x="566928" y="1691640"/>
            <a:ext cx="11057839" cy="594360"/>
          </a:xfrm>
          <a:prstGeom prst="rect">
            <a:avLst/>
          </a:prstGeom>
          <a:noFill/>
          <a:ln/>
        </p:spPr>
        <p:txBody>
          <a:bodyPr wrap="square" lIns="0" tIns="0" rIns="0" bIns="0" rtlCol="0" anchor="t"/>
          <a:lstStyle/>
          <a:p>
            <a:pPr indent="0" marL="0">
              <a:lnSpc>
                <a:spcPct val="124000"/>
              </a:lnSpc>
              <a:buNone/>
            </a:pPr>
            <a:r>
              <a:rPr lang="en-US" sz="1400" dirty="0">
                <a:solidFill>
                  <a:srgbClr val="3A3844"/>
                </a:solidFill>
                <a:latin typeface="Arial" pitchFamily="34" charset="0"/>
                <a:ea typeface="Arial" pitchFamily="34" charset="-122"/>
                <a:cs typeface="Arial" pitchFamily="34" charset="-120"/>
              </a:rPr>
              <a:t>Vale la pena ver de dónde sale ese «un tercio», porque es la intuición que sostiene toda la sesión. Imaginen tres generales: uno es traidor.</a:t>
            </a:r>
            <a:endParaRPr lang="en-US" sz="1400" dirty="0"/>
          </a:p>
        </p:txBody>
      </p:sp>
      <p:sp>
        <p:nvSpPr>
          <p:cNvPr id="9" name="Shape 6"/>
          <p:cNvSpPr/>
          <p:nvPr/>
        </p:nvSpPr>
        <p:spPr>
          <a:xfrm>
            <a:off x="566928" y="2423160"/>
            <a:ext cx="5391760" cy="2514600"/>
          </a:xfrm>
          <a:prstGeom prst="rect">
            <a:avLst/>
          </a:prstGeom>
          <a:solidFill>
            <a:srgbClr val="FFFFFF"/>
          </a:solidFill>
          <a:ln w="22225">
            <a:solidFill>
              <a:srgbClr val="B3261E"/>
            </a:solidFill>
            <a:prstDash val="solid"/>
          </a:ln>
          <a:effectLst>
            <a:outerShdw sx="100000" sy="100000" kx="0" ky="0" algn="bl" rotWithShape="0" blurRad="101600" dist="63500" dir="2700000">
              <a:srgbClr val="B3261E">
                <a:alpha val="100000"/>
              </a:srgbClr>
            </a:outerShdw>
          </a:effectLst>
        </p:spPr>
      </p:sp>
      <p:sp>
        <p:nvSpPr>
          <p:cNvPr id="10" name="Text 7"/>
          <p:cNvSpPr/>
          <p:nvPr/>
        </p:nvSpPr>
        <p:spPr>
          <a:xfrm>
            <a:off x="841248" y="2606040"/>
            <a:ext cx="4843120" cy="292608"/>
          </a:xfrm>
          <a:prstGeom prst="rect">
            <a:avLst/>
          </a:prstGeom>
          <a:noFill/>
          <a:ln/>
        </p:spPr>
        <p:txBody>
          <a:bodyPr wrap="square" lIns="0" tIns="0" rIns="0" bIns="0" rtlCol="0" anchor="ctr"/>
          <a:lstStyle/>
          <a:p>
            <a:pPr indent="0" marL="0">
              <a:buNone/>
            </a:pPr>
            <a:r>
              <a:rPr lang="en-US" sz="1050" b="1" spc="130" kern="0" dirty="0">
                <a:solidFill>
                  <a:srgbClr val="B3261E"/>
                </a:solidFill>
                <a:latin typeface="Courier New" pitchFamily="34" charset="0"/>
                <a:ea typeface="Courier New" pitchFamily="34" charset="-122"/>
                <a:cs typeface="Courier New" pitchFamily="34" charset="-120"/>
              </a:rPr>
              <a:t>CON 3 GENERALES · EL TRAIDOR GANA</a:t>
            </a:r>
            <a:endParaRPr lang="en-US" sz="1050" dirty="0"/>
          </a:p>
        </p:txBody>
      </p:sp>
      <p:sp>
        <p:nvSpPr>
          <p:cNvPr id="11" name="Text 8"/>
          <p:cNvSpPr/>
          <p:nvPr/>
        </p:nvSpPr>
        <p:spPr>
          <a:xfrm>
            <a:off x="841248" y="2990088"/>
            <a:ext cx="4843120" cy="1783080"/>
          </a:xfrm>
          <a:prstGeom prst="rect">
            <a:avLst/>
          </a:prstGeom>
          <a:noFill/>
          <a:ln/>
        </p:spPr>
        <p:txBody>
          <a:bodyPr wrap="square" lIns="0" tIns="0" rIns="0" bIns="0" rtlCol="0" anchor="t"/>
          <a:lstStyle/>
          <a:p>
            <a:pPr indent="0" marL="0">
              <a:lnSpc>
                <a:spcPct val="124000"/>
              </a:lnSpc>
              <a:buNone/>
            </a:pPr>
            <a:r>
              <a:rPr lang="en-US" sz="1200" dirty="0">
                <a:solidFill>
                  <a:srgbClr val="3A3844"/>
                </a:solidFill>
                <a:latin typeface="Arial" pitchFamily="34" charset="0"/>
                <a:ea typeface="Arial" pitchFamily="34" charset="-122"/>
                <a:cs typeface="Arial" pitchFamily="34" charset="-120"/>
              </a:rPr>
              <a:t>El general A es leal y quiere decidir con B y C. Pero C es traidor: le dice a A «ataquemos» y a B «retirémonos». A recibe un «atacar» (de C) y un «retirar» (de B, que sí es leal y propuso retirar). A ve un empate: un voto por cada opción, y no tiene forma de saber cuál viene del traidor. Cualquier regla que elija puede dejarlo actuando distinto que B. No hay solución.</a:t>
            </a:r>
            <a:endParaRPr lang="en-US" sz="1200" dirty="0"/>
          </a:p>
        </p:txBody>
      </p:sp>
      <p:sp>
        <p:nvSpPr>
          <p:cNvPr id="12" name="Shape 9"/>
          <p:cNvSpPr/>
          <p:nvPr/>
        </p:nvSpPr>
        <p:spPr>
          <a:xfrm>
            <a:off x="6233008" y="2423160"/>
            <a:ext cx="5391760" cy="2514600"/>
          </a:xfrm>
          <a:prstGeom prst="rect">
            <a:avLst/>
          </a:prstGeom>
          <a:solidFill>
            <a:srgbClr val="FFFFFF"/>
          </a:solidFill>
          <a:ln w="22225">
            <a:solidFill>
              <a:srgbClr val="7152E9"/>
            </a:solidFill>
            <a:prstDash val="solid"/>
          </a:ln>
          <a:effectLst>
            <a:outerShdw sx="100000" sy="100000" kx="0" ky="0" algn="bl" rotWithShape="0" blurRad="101600" dist="63500" dir="2700000">
              <a:srgbClr val="7152E9">
                <a:alpha val="100000"/>
              </a:srgbClr>
            </a:outerShdw>
          </a:effectLst>
        </p:spPr>
      </p:sp>
      <p:sp>
        <p:nvSpPr>
          <p:cNvPr id="13" name="Text 10"/>
          <p:cNvSpPr/>
          <p:nvPr/>
        </p:nvSpPr>
        <p:spPr>
          <a:xfrm>
            <a:off x="6507328" y="2606040"/>
            <a:ext cx="4843120" cy="292608"/>
          </a:xfrm>
          <a:prstGeom prst="rect">
            <a:avLst/>
          </a:prstGeom>
          <a:noFill/>
          <a:ln/>
        </p:spPr>
        <p:txBody>
          <a:bodyPr wrap="square" lIns="0" tIns="0" rIns="0" bIns="0" rtlCol="0" anchor="ctr"/>
          <a:lstStyle/>
          <a:p>
            <a:pPr indent="0" marL="0">
              <a:buNone/>
            </a:pPr>
            <a:r>
              <a:rPr lang="en-US" sz="1050" b="1" spc="130" kern="0" dirty="0">
                <a:solidFill>
                  <a:srgbClr val="5638C9"/>
                </a:solidFill>
                <a:latin typeface="Courier New" pitchFamily="34" charset="0"/>
                <a:ea typeface="Courier New" pitchFamily="34" charset="-122"/>
                <a:cs typeface="Courier New" pitchFamily="34" charset="-120"/>
              </a:rPr>
              <a:t>CON 4 GENERALES · LA MAYORÍA HONESTA MANDA</a:t>
            </a:r>
            <a:endParaRPr lang="en-US" sz="1050" dirty="0"/>
          </a:p>
        </p:txBody>
      </p:sp>
      <p:sp>
        <p:nvSpPr>
          <p:cNvPr id="14" name="Text 11"/>
          <p:cNvSpPr/>
          <p:nvPr/>
        </p:nvSpPr>
        <p:spPr>
          <a:xfrm>
            <a:off x="6507328" y="2990088"/>
            <a:ext cx="4843120" cy="1783080"/>
          </a:xfrm>
          <a:prstGeom prst="rect">
            <a:avLst/>
          </a:prstGeom>
          <a:noFill/>
          <a:ln/>
        </p:spPr>
        <p:txBody>
          <a:bodyPr wrap="square" lIns="0" tIns="0" rIns="0" bIns="0" rtlCol="0" anchor="t"/>
          <a:lstStyle/>
          <a:p>
            <a:pPr indent="0" marL="0">
              <a:lnSpc>
                <a:spcPct val="124000"/>
              </a:lnSpc>
              <a:buNone/>
            </a:pPr>
            <a:r>
              <a:rPr lang="en-US" sz="1200" dirty="0">
                <a:solidFill>
                  <a:srgbClr val="3A3844"/>
                </a:solidFill>
                <a:latin typeface="Arial" pitchFamily="34" charset="0"/>
                <a:ea typeface="Arial" pitchFamily="34" charset="-122"/>
                <a:cs typeface="Arial" pitchFamily="34" charset="-120"/>
              </a:rPr>
              <a:t>Ahora hay 3 leales y 1 traidor. Cada leal reúne los votos de los demás. El traidor puede mentirle a uno, pero los 3 leales se comunican entre sí lo que recibieron: al comparar notas, el voto contradictorio del traidor queda en evidencia y en minoría. Los 3 leales convergen en la misma decisión. El traidor no alcanza a romper el acuerdo.</a:t>
            </a:r>
            <a:endParaRPr lang="en-US" sz="1200" dirty="0"/>
          </a:p>
        </p:txBody>
      </p:sp>
      <p:sp>
        <p:nvSpPr>
          <p:cNvPr id="15" name="Shape 12"/>
          <p:cNvSpPr/>
          <p:nvPr/>
        </p:nvSpPr>
        <p:spPr>
          <a:xfrm>
            <a:off x="566928" y="5029200"/>
            <a:ext cx="11057839" cy="1097280"/>
          </a:xfrm>
          <a:prstGeom prst="rect">
            <a:avLst/>
          </a:prstGeom>
          <a:solidFill>
            <a:srgbClr val="FFFFFF"/>
          </a:solidFill>
          <a:ln w="22225">
            <a:solidFill>
              <a:srgbClr val="7152E9"/>
            </a:solidFill>
            <a:prstDash val="solid"/>
          </a:ln>
          <a:effectLst>
            <a:outerShdw sx="100000" sy="100000" kx="0" ky="0" algn="bl" rotWithShape="0" blurRad="101600" dist="63500" dir="2700000">
              <a:srgbClr val="7152E9">
                <a:alpha val="100000"/>
              </a:srgbClr>
            </a:outerShdw>
          </a:effectLst>
        </p:spPr>
      </p:sp>
      <p:pic>
        <p:nvPicPr>
          <p:cNvPr id="16" name="Image 1" descr="preencoded.png">    </p:cNvPr>
          <p:cNvPicPr>
            <a:picLocks noChangeAspect="1"/>
          </p:cNvPicPr>
          <p:nvPr/>
        </p:nvPicPr>
        <p:blipFill>
          <a:blip r:embed="rId2"/>
          <a:stretch>
            <a:fillRect/>
          </a:stretch>
        </p:blipFill>
        <p:spPr>
          <a:xfrm>
            <a:off x="804672" y="5248656"/>
            <a:ext cx="237744" cy="237744"/>
          </a:xfrm>
          <a:prstGeom prst="rect">
            <a:avLst/>
          </a:prstGeom>
        </p:spPr>
      </p:pic>
      <p:sp>
        <p:nvSpPr>
          <p:cNvPr id="17" name="Text 13"/>
          <p:cNvSpPr/>
          <p:nvPr/>
        </p:nvSpPr>
        <p:spPr>
          <a:xfrm>
            <a:off x="1133856" y="5221224"/>
            <a:ext cx="10234879" cy="292608"/>
          </a:xfrm>
          <a:prstGeom prst="rect">
            <a:avLst/>
          </a:prstGeom>
          <a:noFill/>
          <a:ln/>
        </p:spPr>
        <p:txBody>
          <a:bodyPr wrap="square" lIns="0" tIns="0" rIns="0" bIns="0" rtlCol="0" anchor="ctr"/>
          <a:lstStyle/>
          <a:p>
            <a:pPr indent="0" marL="0">
              <a:buNone/>
            </a:pPr>
            <a:r>
              <a:rPr lang="en-US" sz="950" b="1" spc="150" kern="0" dirty="0">
                <a:solidFill>
                  <a:srgbClr val="5638C9"/>
                </a:solidFill>
                <a:latin typeface="Courier New" pitchFamily="34" charset="0"/>
                <a:ea typeface="Courier New" pitchFamily="34" charset="-122"/>
                <a:cs typeface="Courier New" pitchFamily="34" charset="-120"/>
              </a:rPr>
              <a:t>LA REGLA GENERAL</a:t>
            </a:r>
            <a:endParaRPr lang="en-US" sz="950" dirty="0"/>
          </a:p>
        </p:txBody>
      </p:sp>
      <p:sp>
        <p:nvSpPr>
          <p:cNvPr id="18" name="Text 14"/>
          <p:cNvSpPr/>
          <p:nvPr/>
        </p:nvSpPr>
        <p:spPr>
          <a:xfrm>
            <a:off x="804672" y="5541264"/>
            <a:ext cx="10582351" cy="493776"/>
          </a:xfrm>
          <a:prstGeom prst="rect">
            <a:avLst/>
          </a:prstGeom>
          <a:noFill/>
          <a:ln/>
        </p:spPr>
        <p:txBody>
          <a:bodyPr wrap="square" lIns="0" tIns="0" rIns="0" bIns="0" rtlCol="0" anchor="t"/>
          <a:lstStyle/>
          <a:p>
            <a:pPr indent="0" marL="0">
              <a:lnSpc>
                <a:spcPct val="124000"/>
              </a:lnSpc>
              <a:buNone/>
            </a:pPr>
            <a:r>
              <a:rPr lang="en-US" sz="1250" dirty="0">
                <a:solidFill>
                  <a:srgbClr val="3A3844"/>
                </a:solidFill>
                <a:latin typeface="Arial" pitchFamily="34" charset="0"/>
                <a:ea typeface="Arial" pitchFamily="34" charset="-122"/>
                <a:cs typeface="Arial" pitchFamily="34" charset="-120"/>
              </a:rPr>
              <a:t>Para tolerar f traidores hacen falta 3f + 1 participantes: así, quitando a los f mentirosos y a los f que podrían no responder a tiempo, todavía queda una mayoría honesta clara. Menos de eso, y el traidor puede forzar un empate.</a:t>
            </a:r>
            <a:endParaRPr lang="en-US" sz="1250" dirty="0"/>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10">
    <p:bg>
      <p:bgPr>
        <a:solidFill>
          <a:srgbClr val="FFFFFF"/>
        </a:solidFill>
      </p:bgPr>
    </p:bg>
    <p:spTree>
      <p:nvGrpSpPr>
        <p:cNvPr id="1" name=""/>
        <p:cNvGrpSpPr/>
        <p:nvPr/>
      </p:nvGrpSpPr>
      <p:grpSpPr>
        <a:xfrm>
          <a:off x="0" y="0"/>
          <a:ext cx="0" cy="0"/>
          <a:chOff x="0" y="0"/>
          <a:chExt cx="0" cy="0"/>
        </a:xfrm>
      </p:grpSpPr>
      <p:pic>
        <p:nvPicPr>
          <p:cNvPr id="2" name="Image 0" descr="preencoded.png">    </p:cNvPr>
          <p:cNvPicPr>
            <a:picLocks noChangeAspect="1"/>
          </p:cNvPicPr>
          <p:nvPr/>
        </p:nvPicPr>
        <p:blipFill>
          <a:blip r:embed="rId1"/>
          <a:stretch>
            <a:fillRect/>
          </a:stretch>
        </p:blipFill>
        <p:spPr>
          <a:xfrm>
            <a:off x="566928" y="402336"/>
            <a:ext cx="274320" cy="274320"/>
          </a:xfrm>
          <a:prstGeom prst="rect">
            <a:avLst/>
          </a:prstGeom>
        </p:spPr>
      </p:pic>
      <p:sp>
        <p:nvSpPr>
          <p:cNvPr id="3" name="Text 0"/>
          <p:cNvSpPr/>
          <p:nvPr/>
        </p:nvSpPr>
        <p:spPr>
          <a:xfrm>
            <a:off x="969264" y="384048"/>
            <a:ext cx="10655503" cy="310896"/>
          </a:xfrm>
          <a:prstGeom prst="rect">
            <a:avLst/>
          </a:prstGeom>
          <a:noFill/>
          <a:ln/>
        </p:spPr>
        <p:txBody>
          <a:bodyPr wrap="square" lIns="0" tIns="0" rIns="0" bIns="0" rtlCol="0" anchor="ctr"/>
          <a:lstStyle/>
          <a:p>
            <a:pPr indent="0" marL="0">
              <a:buNone/>
            </a:pPr>
            <a:r>
              <a:rPr lang="en-US" sz="950" spc="160" kern="0" dirty="0">
                <a:solidFill>
                  <a:srgbClr val="6F6B80"/>
                </a:solidFill>
                <a:latin typeface="Courier New" pitchFamily="34" charset="0"/>
                <a:ea typeface="Courier New" pitchFamily="34" charset="-122"/>
                <a:cs typeface="Courier New" pitchFamily="34" charset="-120"/>
              </a:rPr>
              <a:t>A.4 · EL OBSTÁCULO DE UNA RED ABIERTA</a:t>
            </a:r>
            <a:endParaRPr lang="en-US" sz="950" dirty="0"/>
          </a:p>
        </p:txBody>
      </p:sp>
      <p:sp>
        <p:nvSpPr>
          <p:cNvPr id="4" name="Text 1"/>
          <p:cNvSpPr/>
          <p:nvPr/>
        </p:nvSpPr>
        <p:spPr>
          <a:xfrm>
            <a:off x="566928" y="777240"/>
            <a:ext cx="11057839" cy="777240"/>
          </a:xfrm>
          <a:prstGeom prst="rect">
            <a:avLst/>
          </a:prstGeom>
          <a:noFill/>
          <a:ln/>
        </p:spPr>
        <p:txBody>
          <a:bodyPr wrap="square" lIns="0" tIns="0" rIns="0" bIns="0" rtlCol="0" anchor="t"/>
          <a:lstStyle/>
          <a:p>
            <a:pPr indent="0" marL="0">
              <a:lnSpc>
                <a:spcPct val="92000"/>
              </a:lnSpc>
              <a:buNone/>
            </a:pPr>
            <a:r>
              <a:rPr lang="en-US" sz="2700" dirty="0">
                <a:solidFill>
                  <a:srgbClr val="0F0F11"/>
                </a:solidFill>
                <a:latin typeface="Arial Black" pitchFamily="34" charset="0"/>
                <a:ea typeface="Arial Black" pitchFamily="34" charset="-122"/>
                <a:cs typeface="Arial Black" pitchFamily="34" charset="-120"/>
              </a:rPr>
              <a:t>VOTAR NO SIRVE SI CREAR VOTANTES ES GRATIS</a:t>
            </a:r>
            <a:endParaRPr lang="en-US" sz="2700" dirty="0"/>
          </a:p>
        </p:txBody>
      </p:sp>
      <p:sp>
        <p:nvSpPr>
          <p:cNvPr id="5" name="Text 2"/>
          <p:cNvSpPr/>
          <p:nvPr/>
        </p:nvSpPr>
        <p:spPr>
          <a:xfrm>
            <a:off x="566928" y="6291072"/>
            <a:ext cx="8412480" cy="274320"/>
          </a:xfrm>
          <a:prstGeom prst="rect">
            <a:avLst/>
          </a:prstGeom>
          <a:noFill/>
          <a:ln/>
        </p:spPr>
        <p:txBody>
          <a:bodyPr wrap="square" lIns="0" tIns="0" rIns="0" bIns="0" rtlCol="0" anchor="ctr"/>
          <a:lstStyle/>
          <a:p>
            <a:pPr indent="0" marL="0">
              <a:buNone/>
            </a:pPr>
            <a:r>
              <a:rPr lang="en-US" sz="800" spc="120" kern="0" dirty="0">
                <a:solidFill>
                  <a:srgbClr val="6F6B80"/>
                </a:solidFill>
                <a:latin typeface="Courier New" pitchFamily="34" charset="0"/>
                <a:ea typeface="Courier New" pitchFamily="34" charset="-122"/>
                <a:cs typeface="Courier New" pitchFamily="34" charset="-120"/>
              </a:rPr>
              <a:t>SESIÓN 04 · CONSENSO, INCENTIVOS Y EL TRILEMA</a:t>
            </a:r>
            <a:endParaRPr lang="en-US" sz="800" dirty="0"/>
          </a:p>
        </p:txBody>
      </p:sp>
      <p:sp>
        <p:nvSpPr>
          <p:cNvPr id="6" name="Text 3"/>
          <p:cNvSpPr/>
          <p:nvPr/>
        </p:nvSpPr>
        <p:spPr>
          <a:xfrm>
            <a:off x="9052560" y="6291072"/>
            <a:ext cx="1828800" cy="274320"/>
          </a:xfrm>
          <a:prstGeom prst="rect">
            <a:avLst/>
          </a:prstGeom>
          <a:noFill/>
          <a:ln/>
        </p:spPr>
        <p:txBody>
          <a:bodyPr wrap="square" lIns="0" tIns="0" rIns="0" bIns="0" rtlCol="0" anchor="ctr"/>
          <a:lstStyle/>
          <a:p>
            <a:pPr algn="r" indent="0" marL="0">
              <a:buNone/>
            </a:pPr>
            <a:r>
              <a:rPr lang="en-US" sz="800" spc="120" kern="0" dirty="0">
                <a:solidFill>
                  <a:srgbClr val="6F6B80"/>
                </a:solidFill>
                <a:latin typeface="Courier New" pitchFamily="34" charset="0"/>
                <a:ea typeface="Courier New" pitchFamily="34" charset="-122"/>
                <a:cs typeface="Courier New" pitchFamily="34" charset="-120"/>
              </a:rPr>
              <a:t>USB MEDELLÍN</a:t>
            </a:r>
            <a:endParaRPr lang="en-US" sz="800" dirty="0"/>
          </a:p>
        </p:txBody>
      </p:sp>
      <p:sp>
        <p:nvSpPr>
          <p:cNvPr id="7" name="Text 4"/>
          <p:cNvSpPr/>
          <p:nvPr/>
        </p:nvSpPr>
        <p:spPr>
          <a:xfrm>
            <a:off x="11018520" y="6291072"/>
            <a:ext cx="603504" cy="274320"/>
          </a:xfrm>
          <a:prstGeom prst="rect">
            <a:avLst/>
          </a:prstGeom>
          <a:noFill/>
          <a:ln/>
        </p:spPr>
        <p:txBody>
          <a:bodyPr wrap="square" lIns="0" tIns="0" rIns="0" bIns="0" rtlCol="0" anchor="ctr"/>
          <a:lstStyle/>
          <a:p>
            <a:pPr algn="r" indent="0" marL="0">
              <a:buNone/>
            </a:pPr>
            <a:r>
              <a:rPr lang="en-US" sz="900" b="1" dirty="0">
                <a:solidFill>
                  <a:srgbClr val="0F0F11"/>
                </a:solidFill>
                <a:latin typeface="Courier New" pitchFamily="34" charset="0"/>
                <a:ea typeface="Courier New" pitchFamily="34" charset="-122"/>
                <a:cs typeface="Courier New" pitchFamily="34" charset="-120"/>
              </a:rPr>
              <a:t>10</a:t>
            </a:r>
            <a:endParaRPr lang="en-US" sz="900" dirty="0"/>
          </a:p>
        </p:txBody>
      </p:sp>
      <p:sp>
        <p:nvSpPr>
          <p:cNvPr id="8" name="Text 5"/>
          <p:cNvSpPr/>
          <p:nvPr/>
        </p:nvSpPr>
        <p:spPr>
          <a:xfrm>
            <a:off x="566928" y="1737360"/>
            <a:ext cx="11057839" cy="868680"/>
          </a:xfrm>
          <a:prstGeom prst="rect">
            <a:avLst/>
          </a:prstGeom>
          <a:noFill/>
          <a:ln/>
        </p:spPr>
        <p:txBody>
          <a:bodyPr wrap="square" lIns="0" tIns="0" rIns="0" bIns="0" rtlCol="0" anchor="t"/>
          <a:lstStyle/>
          <a:p>
            <a:pPr indent="0" marL="0">
              <a:lnSpc>
                <a:spcPct val="124000"/>
              </a:lnSpc>
              <a:buNone/>
            </a:pPr>
            <a:r>
              <a:rPr lang="en-US" sz="1450" dirty="0">
                <a:solidFill>
                  <a:srgbClr val="3A3844"/>
                </a:solidFill>
                <a:latin typeface="Arial" pitchFamily="34" charset="0"/>
                <a:ea typeface="Arial" pitchFamily="34" charset="-122"/>
                <a:cs typeface="Arial" pitchFamily="34" charset="-120"/>
              </a:rPr>
              <a:t>Los protocolos de votación clásicos suponen que se sabe quién vota. En una red abierta cualquiera puede crear mil identidades en un minuto: basta generar mil pares de claves, como hicimos en la Sesión 3.</a:t>
            </a:r>
            <a:endParaRPr lang="en-US" sz="1450" dirty="0"/>
          </a:p>
        </p:txBody>
      </p:sp>
      <p:sp>
        <p:nvSpPr>
          <p:cNvPr id="9" name="Shape 6"/>
          <p:cNvSpPr/>
          <p:nvPr/>
        </p:nvSpPr>
        <p:spPr>
          <a:xfrm>
            <a:off x="566928" y="2788920"/>
            <a:ext cx="11057839" cy="1143000"/>
          </a:xfrm>
          <a:prstGeom prst="rect">
            <a:avLst/>
          </a:prstGeom>
          <a:solidFill>
            <a:srgbClr val="FFFFFF"/>
          </a:solidFill>
          <a:ln w="34925">
            <a:solidFill>
              <a:srgbClr val="0F0F11"/>
            </a:solidFill>
            <a:prstDash val="solid"/>
          </a:ln>
          <a:effectLst>
            <a:outerShdw sx="100000" sy="100000" kx="0" ky="0" algn="bl" rotWithShape="0" blurRad="101600" dist="63500" dir="2700000">
              <a:srgbClr val="0F0F11">
                <a:alpha val="100000"/>
              </a:srgbClr>
            </a:outerShdw>
          </a:effectLst>
        </p:spPr>
      </p:sp>
      <p:sp>
        <p:nvSpPr>
          <p:cNvPr id="10" name="Text 7"/>
          <p:cNvSpPr/>
          <p:nvPr/>
        </p:nvSpPr>
        <p:spPr>
          <a:xfrm>
            <a:off x="950976" y="2971800"/>
            <a:ext cx="10289743" cy="777240"/>
          </a:xfrm>
          <a:prstGeom prst="rect">
            <a:avLst/>
          </a:prstGeom>
          <a:noFill/>
          <a:ln/>
        </p:spPr>
        <p:txBody>
          <a:bodyPr wrap="square" lIns="0" tIns="0" rIns="0" bIns="0" rtlCol="0" anchor="ctr"/>
          <a:lstStyle/>
          <a:p>
            <a:pPr indent="0" marL="0">
              <a:lnSpc>
                <a:spcPct val="106000"/>
              </a:lnSpc>
              <a:buNone/>
            </a:pPr>
            <a:r>
              <a:rPr lang="en-US" sz="1900" dirty="0">
                <a:solidFill>
                  <a:srgbClr val="0F0F11"/>
                </a:solidFill>
                <a:latin typeface="Arial Black" pitchFamily="34" charset="0"/>
                <a:ea typeface="Arial Black" pitchFamily="34" charset="-122"/>
                <a:cs typeface="Arial Black" pitchFamily="34" charset="-120"/>
              </a:rPr>
              <a:t>Ataque Sybil: una sola persona finge ser una multitud para ganar cualquier votación que cuente cabezas.</a:t>
            </a:r>
            <a:endParaRPr lang="en-US" sz="1900" dirty="0"/>
          </a:p>
        </p:txBody>
      </p:sp>
      <p:sp>
        <p:nvSpPr>
          <p:cNvPr id="11" name="Text 8"/>
          <p:cNvSpPr/>
          <p:nvPr/>
        </p:nvSpPr>
        <p:spPr>
          <a:xfrm>
            <a:off x="566928" y="4114800"/>
            <a:ext cx="11057839" cy="548640"/>
          </a:xfrm>
          <a:prstGeom prst="rect">
            <a:avLst/>
          </a:prstGeom>
          <a:noFill/>
          <a:ln/>
        </p:spPr>
        <p:txBody>
          <a:bodyPr wrap="square" lIns="0" tIns="0" rIns="0" bIns="0" rtlCol="0" anchor="t"/>
          <a:lstStyle/>
          <a:p>
            <a:pPr indent="0" marL="0">
              <a:lnSpc>
                <a:spcPct val="124000"/>
              </a:lnSpc>
              <a:buNone/>
            </a:pPr>
            <a:r>
              <a:rPr lang="en-US" sz="1400" dirty="0">
                <a:solidFill>
                  <a:srgbClr val="3A3844"/>
                </a:solidFill>
                <a:latin typeface="Arial" pitchFamily="34" charset="0"/>
                <a:ea typeface="Arial" pitchFamily="34" charset="-122"/>
                <a:cs typeface="Arial" pitchFamily="34" charset="-120"/>
              </a:rPr>
              <a:t>La salida de Nakamoto fue no contar identidades, sino algo que no se puede fabricar gratis. El voto se ata a un recurso escaso del mundo físico:</a:t>
            </a:r>
            <a:endParaRPr lang="en-US" sz="1400" dirty="0"/>
          </a:p>
        </p:txBody>
      </p:sp>
      <p:sp>
        <p:nvSpPr>
          <p:cNvPr id="12" name="Shape 9"/>
          <p:cNvSpPr/>
          <p:nvPr/>
        </p:nvSpPr>
        <p:spPr>
          <a:xfrm>
            <a:off x="612648" y="4754880"/>
            <a:ext cx="3503066" cy="1188720"/>
          </a:xfrm>
          <a:prstGeom prst="rect">
            <a:avLst/>
          </a:prstGeom>
          <a:solidFill>
            <a:srgbClr val="FFFFFF"/>
          </a:solidFill>
          <a:ln w="22225">
            <a:solidFill>
              <a:srgbClr val="F07F06"/>
            </a:solidFill>
            <a:prstDash val="solid"/>
          </a:ln>
        </p:spPr>
      </p:sp>
      <p:sp>
        <p:nvSpPr>
          <p:cNvPr id="13" name="Text 10"/>
          <p:cNvSpPr/>
          <p:nvPr/>
        </p:nvSpPr>
        <p:spPr>
          <a:xfrm>
            <a:off x="841248" y="4892040"/>
            <a:ext cx="3137306" cy="292608"/>
          </a:xfrm>
          <a:prstGeom prst="rect">
            <a:avLst/>
          </a:prstGeom>
          <a:noFill/>
          <a:ln/>
        </p:spPr>
        <p:txBody>
          <a:bodyPr wrap="square" lIns="0" tIns="0" rIns="0" bIns="0" rtlCol="0" anchor="ctr"/>
          <a:lstStyle/>
          <a:p>
            <a:pPr indent="0" marL="0">
              <a:buNone/>
            </a:pPr>
            <a:r>
              <a:rPr lang="en-US" sz="1000" b="1" spc="130" kern="0" dirty="0">
                <a:solidFill>
                  <a:srgbClr val="A35604"/>
                </a:solidFill>
                <a:latin typeface="Courier New" pitchFamily="34" charset="0"/>
                <a:ea typeface="Courier New" pitchFamily="34" charset="-122"/>
                <a:cs typeface="Courier New" pitchFamily="34" charset="-120"/>
              </a:rPr>
              <a:t>PRUEBA DE TRABAJO</a:t>
            </a:r>
            <a:endParaRPr lang="en-US" sz="1000" dirty="0"/>
          </a:p>
        </p:txBody>
      </p:sp>
      <p:sp>
        <p:nvSpPr>
          <p:cNvPr id="14" name="Text 11"/>
          <p:cNvSpPr/>
          <p:nvPr/>
        </p:nvSpPr>
        <p:spPr>
          <a:xfrm>
            <a:off x="841248" y="5257800"/>
            <a:ext cx="3137306" cy="594360"/>
          </a:xfrm>
          <a:prstGeom prst="rect">
            <a:avLst/>
          </a:prstGeom>
          <a:noFill/>
          <a:ln/>
        </p:spPr>
        <p:txBody>
          <a:bodyPr wrap="square" lIns="0" tIns="0" rIns="0" bIns="0" rtlCol="0" anchor="t"/>
          <a:lstStyle/>
          <a:p>
            <a:pPr indent="0" marL="0">
              <a:lnSpc>
                <a:spcPct val="124000"/>
              </a:lnSpc>
              <a:buNone/>
            </a:pPr>
            <a:r>
              <a:rPr lang="en-US" sz="1250" dirty="0">
                <a:solidFill>
                  <a:srgbClr val="3A3844"/>
                </a:solidFill>
                <a:latin typeface="Arial" pitchFamily="34" charset="0"/>
                <a:ea typeface="Arial" pitchFamily="34" charset="-122"/>
                <a:cs typeface="Arial" pitchFamily="34" charset="-120"/>
              </a:rPr>
              <a:t>un voto por unidad de cómputo gastado</a:t>
            </a:r>
            <a:endParaRPr lang="en-US" sz="1250" dirty="0"/>
          </a:p>
        </p:txBody>
      </p:sp>
      <p:sp>
        <p:nvSpPr>
          <p:cNvPr id="15" name="Shape 12"/>
          <p:cNvSpPr/>
          <p:nvPr/>
        </p:nvSpPr>
        <p:spPr>
          <a:xfrm>
            <a:off x="4298594" y="4754880"/>
            <a:ext cx="3503066" cy="1188720"/>
          </a:xfrm>
          <a:prstGeom prst="rect">
            <a:avLst/>
          </a:prstGeom>
          <a:solidFill>
            <a:srgbClr val="FAF9FB"/>
          </a:solidFill>
          <a:ln w="22225">
            <a:solidFill>
              <a:srgbClr val="0F0F11"/>
            </a:solidFill>
            <a:prstDash val="solid"/>
          </a:ln>
        </p:spPr>
      </p:sp>
      <p:sp>
        <p:nvSpPr>
          <p:cNvPr id="16" name="Text 13"/>
          <p:cNvSpPr/>
          <p:nvPr/>
        </p:nvSpPr>
        <p:spPr>
          <a:xfrm>
            <a:off x="4527194" y="4892040"/>
            <a:ext cx="3137306" cy="292608"/>
          </a:xfrm>
          <a:prstGeom prst="rect">
            <a:avLst/>
          </a:prstGeom>
          <a:noFill/>
          <a:ln/>
        </p:spPr>
        <p:txBody>
          <a:bodyPr wrap="square" lIns="0" tIns="0" rIns="0" bIns="0" rtlCol="0" anchor="ctr"/>
          <a:lstStyle/>
          <a:p>
            <a:pPr indent="0" marL="0">
              <a:buNone/>
            </a:pPr>
            <a:r>
              <a:rPr lang="en-US" sz="1000" b="1" spc="130" kern="0" dirty="0">
                <a:solidFill>
                  <a:srgbClr val="0F0F11"/>
                </a:solidFill>
                <a:latin typeface="Courier New" pitchFamily="34" charset="0"/>
                <a:ea typeface="Courier New" pitchFamily="34" charset="-122"/>
                <a:cs typeface="Courier New" pitchFamily="34" charset="-120"/>
              </a:rPr>
              <a:t>PRUEBA DE PARTICIPACIÓN</a:t>
            </a:r>
            <a:endParaRPr lang="en-US" sz="1000" dirty="0"/>
          </a:p>
        </p:txBody>
      </p:sp>
      <p:sp>
        <p:nvSpPr>
          <p:cNvPr id="17" name="Text 14"/>
          <p:cNvSpPr/>
          <p:nvPr/>
        </p:nvSpPr>
        <p:spPr>
          <a:xfrm>
            <a:off x="4527194" y="5257800"/>
            <a:ext cx="3137306" cy="594360"/>
          </a:xfrm>
          <a:prstGeom prst="rect">
            <a:avLst/>
          </a:prstGeom>
          <a:noFill/>
          <a:ln/>
        </p:spPr>
        <p:txBody>
          <a:bodyPr wrap="square" lIns="0" tIns="0" rIns="0" bIns="0" rtlCol="0" anchor="t"/>
          <a:lstStyle/>
          <a:p>
            <a:pPr indent="0" marL="0">
              <a:lnSpc>
                <a:spcPct val="124000"/>
              </a:lnSpc>
              <a:buNone/>
            </a:pPr>
            <a:r>
              <a:rPr lang="en-US" sz="1250" dirty="0">
                <a:solidFill>
                  <a:srgbClr val="3A3844"/>
                </a:solidFill>
                <a:latin typeface="Arial" pitchFamily="34" charset="0"/>
                <a:ea typeface="Arial" pitchFamily="34" charset="-122"/>
                <a:cs typeface="Arial" pitchFamily="34" charset="-120"/>
              </a:rPr>
              <a:t>un voto por unidad de capital inmovilizado</a:t>
            </a:r>
            <a:endParaRPr lang="en-US" sz="1250" dirty="0"/>
          </a:p>
        </p:txBody>
      </p:sp>
      <p:sp>
        <p:nvSpPr>
          <p:cNvPr id="18" name="Shape 15"/>
          <p:cNvSpPr/>
          <p:nvPr/>
        </p:nvSpPr>
        <p:spPr>
          <a:xfrm>
            <a:off x="7984541" y="4754880"/>
            <a:ext cx="3503066" cy="1188720"/>
          </a:xfrm>
          <a:prstGeom prst="rect">
            <a:avLst/>
          </a:prstGeom>
          <a:solidFill>
            <a:srgbClr val="FAF9FB"/>
          </a:solidFill>
          <a:ln w="22225">
            <a:solidFill>
              <a:srgbClr val="0F0F11"/>
            </a:solidFill>
            <a:prstDash val="solid"/>
          </a:ln>
        </p:spPr>
      </p:sp>
      <p:sp>
        <p:nvSpPr>
          <p:cNvPr id="19" name="Text 16"/>
          <p:cNvSpPr/>
          <p:nvPr/>
        </p:nvSpPr>
        <p:spPr>
          <a:xfrm>
            <a:off x="8213141" y="4892040"/>
            <a:ext cx="3137306" cy="292608"/>
          </a:xfrm>
          <a:prstGeom prst="rect">
            <a:avLst/>
          </a:prstGeom>
          <a:noFill/>
          <a:ln/>
        </p:spPr>
        <p:txBody>
          <a:bodyPr wrap="square" lIns="0" tIns="0" rIns="0" bIns="0" rtlCol="0" anchor="ctr"/>
          <a:lstStyle/>
          <a:p>
            <a:pPr indent="0" marL="0">
              <a:buNone/>
            </a:pPr>
            <a:r>
              <a:rPr lang="en-US" sz="1000" b="1" spc="130" kern="0" dirty="0">
                <a:solidFill>
                  <a:srgbClr val="0F0F11"/>
                </a:solidFill>
                <a:latin typeface="Courier New" pitchFamily="34" charset="0"/>
                <a:ea typeface="Courier New" pitchFamily="34" charset="-122"/>
                <a:cs typeface="Courier New" pitchFamily="34" charset="-120"/>
              </a:rPr>
              <a:t>PRUEBA DE AUTORIDAD</a:t>
            </a:r>
            <a:endParaRPr lang="en-US" sz="1000" dirty="0"/>
          </a:p>
        </p:txBody>
      </p:sp>
      <p:sp>
        <p:nvSpPr>
          <p:cNvPr id="20" name="Text 17"/>
          <p:cNvSpPr/>
          <p:nvPr/>
        </p:nvSpPr>
        <p:spPr>
          <a:xfrm>
            <a:off x="8213141" y="5257800"/>
            <a:ext cx="3137306" cy="594360"/>
          </a:xfrm>
          <a:prstGeom prst="rect">
            <a:avLst/>
          </a:prstGeom>
          <a:noFill/>
          <a:ln/>
        </p:spPr>
        <p:txBody>
          <a:bodyPr wrap="square" lIns="0" tIns="0" rIns="0" bIns="0" rtlCol="0" anchor="t"/>
          <a:lstStyle/>
          <a:p>
            <a:pPr indent="0" marL="0">
              <a:lnSpc>
                <a:spcPct val="124000"/>
              </a:lnSpc>
              <a:buNone/>
            </a:pPr>
            <a:r>
              <a:rPr lang="en-US" sz="1250" dirty="0">
                <a:solidFill>
                  <a:srgbClr val="3A3844"/>
                </a:solidFill>
                <a:latin typeface="Arial" pitchFamily="34" charset="0"/>
                <a:ea typeface="Arial" pitchFamily="34" charset="-122"/>
                <a:cs typeface="Arial" pitchFamily="34" charset="-120"/>
              </a:rPr>
              <a:t>un voto por identidad legal verificada</a:t>
            </a:r>
            <a:endParaRPr lang="en-US" sz="1250" dirty="0"/>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name="Slide 11">
    <p:bg>
      <p:bgPr>
        <a:solidFill>
          <a:srgbClr val="FFFFFF"/>
        </a:solidFill>
      </p:bgPr>
    </p:bg>
    <p:spTree>
      <p:nvGrpSpPr>
        <p:cNvPr id="1" name=""/>
        <p:cNvGrpSpPr/>
        <p:nvPr/>
      </p:nvGrpSpPr>
      <p:grpSpPr>
        <a:xfrm>
          <a:off x="0" y="0"/>
          <a:ext cx="0" cy="0"/>
          <a:chOff x="0" y="0"/>
          <a:chExt cx="0" cy="0"/>
        </a:xfrm>
      </p:grpSpPr>
      <p:pic>
        <p:nvPicPr>
          <p:cNvPr id="2" name="Image 0" descr="preencoded.png">    </p:cNvPr>
          <p:cNvPicPr>
            <a:picLocks noChangeAspect="1"/>
          </p:cNvPicPr>
          <p:nvPr/>
        </p:nvPicPr>
        <p:blipFill>
          <a:blip r:embed="rId1"/>
          <a:stretch>
            <a:fillRect/>
          </a:stretch>
        </p:blipFill>
        <p:spPr>
          <a:xfrm>
            <a:off x="566928" y="402336"/>
            <a:ext cx="274320" cy="274320"/>
          </a:xfrm>
          <a:prstGeom prst="rect">
            <a:avLst/>
          </a:prstGeom>
        </p:spPr>
      </p:pic>
      <p:sp>
        <p:nvSpPr>
          <p:cNvPr id="3" name="Text 0"/>
          <p:cNvSpPr/>
          <p:nvPr/>
        </p:nvSpPr>
        <p:spPr>
          <a:xfrm>
            <a:off x="969264" y="384048"/>
            <a:ext cx="10655503" cy="310896"/>
          </a:xfrm>
          <a:prstGeom prst="rect">
            <a:avLst/>
          </a:prstGeom>
          <a:noFill/>
          <a:ln/>
        </p:spPr>
        <p:txBody>
          <a:bodyPr wrap="square" lIns="0" tIns="0" rIns="0" bIns="0" rtlCol="0" anchor="ctr"/>
          <a:lstStyle/>
          <a:p>
            <a:pPr indent="0" marL="0">
              <a:buNone/>
            </a:pPr>
            <a:r>
              <a:rPr lang="en-US" sz="950" spc="160" kern="0" dirty="0">
                <a:solidFill>
                  <a:srgbClr val="6F6B80"/>
                </a:solidFill>
                <a:latin typeface="Courier New" pitchFamily="34" charset="0"/>
                <a:ea typeface="Courier New" pitchFamily="34" charset="-122"/>
                <a:cs typeface="Courier New" pitchFamily="34" charset="-120"/>
              </a:rPr>
              <a:t>A.5 · PRUEBA DE TRABAJO · EL MECANISMO</a:t>
            </a:r>
            <a:endParaRPr lang="en-US" sz="950" dirty="0"/>
          </a:p>
        </p:txBody>
      </p:sp>
      <p:sp>
        <p:nvSpPr>
          <p:cNvPr id="4" name="Text 1"/>
          <p:cNvSpPr/>
          <p:nvPr/>
        </p:nvSpPr>
        <p:spPr>
          <a:xfrm>
            <a:off x="566928" y="777240"/>
            <a:ext cx="11057839" cy="777240"/>
          </a:xfrm>
          <a:prstGeom prst="rect">
            <a:avLst/>
          </a:prstGeom>
          <a:noFill/>
          <a:ln/>
        </p:spPr>
        <p:txBody>
          <a:bodyPr wrap="square" lIns="0" tIns="0" rIns="0" bIns="0" rtlCol="0" anchor="t"/>
          <a:lstStyle/>
          <a:p>
            <a:pPr indent="0" marL="0">
              <a:lnSpc>
                <a:spcPct val="92000"/>
              </a:lnSpc>
              <a:buNone/>
            </a:pPr>
            <a:r>
              <a:rPr lang="en-US" sz="2700" dirty="0">
                <a:solidFill>
                  <a:srgbClr val="0F0F11"/>
                </a:solidFill>
                <a:latin typeface="Arial Black" pitchFamily="34" charset="0"/>
                <a:ea typeface="Arial Black" pitchFamily="34" charset="-122"/>
                <a:cs typeface="Arial Black" pitchFamily="34" charset="-120"/>
              </a:rPr>
              <a:t>BUSCAR UN NÚMERO QUE NADIE PUEDE ADIVINAR</a:t>
            </a:r>
            <a:endParaRPr lang="en-US" sz="2700" dirty="0"/>
          </a:p>
        </p:txBody>
      </p:sp>
      <p:sp>
        <p:nvSpPr>
          <p:cNvPr id="5" name="Text 2"/>
          <p:cNvSpPr/>
          <p:nvPr/>
        </p:nvSpPr>
        <p:spPr>
          <a:xfrm>
            <a:off x="566928" y="6291072"/>
            <a:ext cx="8412480" cy="274320"/>
          </a:xfrm>
          <a:prstGeom prst="rect">
            <a:avLst/>
          </a:prstGeom>
          <a:noFill/>
          <a:ln/>
        </p:spPr>
        <p:txBody>
          <a:bodyPr wrap="square" lIns="0" tIns="0" rIns="0" bIns="0" rtlCol="0" anchor="ctr"/>
          <a:lstStyle/>
          <a:p>
            <a:pPr indent="0" marL="0">
              <a:buNone/>
            </a:pPr>
            <a:r>
              <a:rPr lang="en-US" sz="800" spc="120" kern="0" dirty="0">
                <a:solidFill>
                  <a:srgbClr val="6F6B80"/>
                </a:solidFill>
                <a:latin typeface="Courier New" pitchFamily="34" charset="0"/>
                <a:ea typeface="Courier New" pitchFamily="34" charset="-122"/>
                <a:cs typeface="Courier New" pitchFamily="34" charset="-120"/>
              </a:rPr>
              <a:t>SESIÓN 04 · CONSENSO, INCENTIVOS Y EL TRILEMA</a:t>
            </a:r>
            <a:endParaRPr lang="en-US" sz="800" dirty="0"/>
          </a:p>
        </p:txBody>
      </p:sp>
      <p:sp>
        <p:nvSpPr>
          <p:cNvPr id="6" name="Text 3"/>
          <p:cNvSpPr/>
          <p:nvPr/>
        </p:nvSpPr>
        <p:spPr>
          <a:xfrm>
            <a:off x="9052560" y="6291072"/>
            <a:ext cx="1828800" cy="274320"/>
          </a:xfrm>
          <a:prstGeom prst="rect">
            <a:avLst/>
          </a:prstGeom>
          <a:noFill/>
          <a:ln/>
        </p:spPr>
        <p:txBody>
          <a:bodyPr wrap="square" lIns="0" tIns="0" rIns="0" bIns="0" rtlCol="0" anchor="ctr"/>
          <a:lstStyle/>
          <a:p>
            <a:pPr algn="r" indent="0" marL="0">
              <a:buNone/>
            </a:pPr>
            <a:r>
              <a:rPr lang="en-US" sz="800" spc="120" kern="0" dirty="0">
                <a:solidFill>
                  <a:srgbClr val="6F6B80"/>
                </a:solidFill>
                <a:latin typeface="Courier New" pitchFamily="34" charset="0"/>
                <a:ea typeface="Courier New" pitchFamily="34" charset="-122"/>
                <a:cs typeface="Courier New" pitchFamily="34" charset="-120"/>
              </a:rPr>
              <a:t>USB MEDELLÍN</a:t>
            </a:r>
            <a:endParaRPr lang="en-US" sz="800" dirty="0"/>
          </a:p>
        </p:txBody>
      </p:sp>
      <p:sp>
        <p:nvSpPr>
          <p:cNvPr id="7" name="Text 4"/>
          <p:cNvSpPr/>
          <p:nvPr/>
        </p:nvSpPr>
        <p:spPr>
          <a:xfrm>
            <a:off x="11018520" y="6291072"/>
            <a:ext cx="603504" cy="274320"/>
          </a:xfrm>
          <a:prstGeom prst="rect">
            <a:avLst/>
          </a:prstGeom>
          <a:noFill/>
          <a:ln/>
        </p:spPr>
        <p:txBody>
          <a:bodyPr wrap="square" lIns="0" tIns="0" rIns="0" bIns="0" rtlCol="0" anchor="ctr"/>
          <a:lstStyle/>
          <a:p>
            <a:pPr algn="r" indent="0" marL="0">
              <a:buNone/>
            </a:pPr>
            <a:r>
              <a:rPr lang="en-US" sz="900" b="1" dirty="0">
                <a:solidFill>
                  <a:srgbClr val="0F0F11"/>
                </a:solidFill>
                <a:latin typeface="Courier New" pitchFamily="34" charset="0"/>
                <a:ea typeface="Courier New" pitchFamily="34" charset="-122"/>
                <a:cs typeface="Courier New" pitchFamily="34" charset="-120"/>
              </a:rPr>
              <a:t>11</a:t>
            </a:r>
            <a:endParaRPr lang="en-US" sz="900" dirty="0"/>
          </a:p>
        </p:txBody>
      </p:sp>
      <p:sp>
        <p:nvSpPr>
          <p:cNvPr id="8" name="Shape 5"/>
          <p:cNvSpPr/>
          <p:nvPr/>
        </p:nvSpPr>
        <p:spPr>
          <a:xfrm>
            <a:off x="566928" y="1737360"/>
            <a:ext cx="6126480" cy="3291840"/>
          </a:xfrm>
          <a:prstGeom prst="rect">
            <a:avLst/>
          </a:prstGeom>
          <a:solidFill>
            <a:srgbClr val="16151B"/>
          </a:solidFill>
          <a:ln w="22225">
            <a:solidFill>
              <a:srgbClr val="16151B"/>
            </a:solidFill>
            <a:prstDash val="solid"/>
          </a:ln>
        </p:spPr>
      </p:sp>
      <p:sp>
        <p:nvSpPr>
          <p:cNvPr id="9" name="Text 6"/>
          <p:cNvSpPr/>
          <p:nvPr/>
        </p:nvSpPr>
        <p:spPr>
          <a:xfrm>
            <a:off x="768096" y="1810512"/>
            <a:ext cx="5724144" cy="274320"/>
          </a:xfrm>
          <a:prstGeom prst="rect">
            <a:avLst/>
          </a:prstGeom>
          <a:noFill/>
          <a:ln/>
        </p:spPr>
        <p:txBody>
          <a:bodyPr wrap="square" lIns="0" tIns="0" rIns="0" bIns="0" rtlCol="0" anchor="ctr"/>
          <a:lstStyle/>
          <a:p>
            <a:pPr indent="0" marL="0">
              <a:buNone/>
            </a:pPr>
            <a:r>
              <a:rPr lang="en-US" sz="850" b="1" spc="140" kern="0" dirty="0">
                <a:solidFill>
                  <a:srgbClr val="8B8697"/>
                </a:solidFill>
                <a:latin typeface="Courier New" pitchFamily="34" charset="0"/>
                <a:ea typeface="Courier New" pitchFamily="34" charset="-122"/>
                <a:cs typeface="Courier New" pitchFamily="34" charset="-120"/>
              </a:rPr>
              <a:t>MINAR, EN DIEZ LÍNEAS</a:t>
            </a:r>
            <a:endParaRPr lang="en-US" sz="850" dirty="0"/>
          </a:p>
        </p:txBody>
      </p:sp>
      <p:sp>
        <p:nvSpPr>
          <p:cNvPr id="10" name="Text 7"/>
          <p:cNvSpPr/>
          <p:nvPr/>
        </p:nvSpPr>
        <p:spPr>
          <a:xfrm>
            <a:off x="768096" y="2121408"/>
            <a:ext cx="5724144" cy="2798064"/>
          </a:xfrm>
          <a:prstGeom prst="rect">
            <a:avLst/>
          </a:prstGeom>
          <a:noFill/>
          <a:ln/>
        </p:spPr>
        <p:txBody>
          <a:bodyPr wrap="square" lIns="0" tIns="0" rIns="0" bIns="0" rtlCol="0" anchor="t"/>
          <a:lstStyle/>
          <a:p>
            <a:pPr indent="0" marL="0">
              <a:lnSpc>
                <a:spcPct val="112000"/>
              </a:lnSpc>
              <a:buNone/>
            </a:pPr>
            <a:r>
              <a:rPr lang="en-US" sz="1150" dirty="0">
                <a:solidFill>
                  <a:srgbClr val="8B8697"/>
                </a:solidFill>
                <a:latin typeface="Courier New" pitchFamily="34" charset="0"/>
                <a:ea typeface="Courier New" pitchFamily="34" charset="-122"/>
                <a:cs typeface="Courier New" pitchFamily="34" charset="-120"/>
              </a:rPr>
              <a:t># el minero prueba nonces hasta que el hash</a:t>
            </a:r>
            <a:endParaRPr lang="en-US" sz="1150" dirty="0"/>
          </a:p>
          <a:p>
            <a:pPr indent="0" marL="0">
              <a:lnSpc>
                <a:spcPct val="112000"/>
              </a:lnSpc>
              <a:buNone/>
            </a:pPr>
            <a:r>
              <a:rPr lang="en-US" sz="1150" dirty="0">
                <a:solidFill>
                  <a:srgbClr val="8B8697"/>
                </a:solidFill>
                <a:latin typeface="Courier New" pitchFamily="34" charset="0"/>
                <a:ea typeface="Courier New" pitchFamily="34" charset="-122"/>
                <a:cs typeface="Courier New" pitchFamily="34" charset="-120"/>
              </a:rPr>
              <a:t># del encabezado quede por debajo del objetivo</a:t>
            </a:r>
            <a:endParaRPr lang="en-US" sz="1150" dirty="0"/>
          </a:p>
          <a:p>
            <a:pPr indent="0" marL="0">
              <a:lnSpc>
                <a:spcPct val="112000"/>
              </a:lnSpc>
              <a:buNone/>
            </a:pPr>
            <a:r>
              <a:rPr lang="en-US" sz="1150" dirty="0">
                <a:solidFill>
                  <a:srgbClr val="F4F2F7"/>
                </a:solidFill>
                <a:latin typeface="Courier New" pitchFamily="34" charset="0"/>
                <a:ea typeface="Courier New" pitchFamily="34" charset="-122"/>
                <a:cs typeface="Courier New" pitchFamily="34" charset="-120"/>
              </a:rPr>
              <a:t>objetivo</a:t>
            </a:r>
            <a:pPr indent="0" marL="0">
              <a:lnSpc>
                <a:spcPct val="112000"/>
              </a:lnSpc>
              <a:buNone/>
            </a:pPr>
            <a:r>
              <a:rPr lang="en-US" sz="1150" dirty="0">
                <a:solidFill>
                  <a:srgbClr val="F4F2F7"/>
                </a:solidFill>
                <a:latin typeface="Courier New" pitchFamily="34" charset="0"/>
                <a:ea typeface="Courier New" pitchFamily="34" charset="-122"/>
                <a:cs typeface="Courier New" pitchFamily="34" charset="-120"/>
              </a:rPr>
              <a:t> </a:t>
            </a:r>
            <a:pPr indent="0" marL="0">
              <a:lnSpc>
                <a:spcPct val="112000"/>
              </a:lnSpc>
              <a:buNone/>
            </a:pPr>
            <a:r>
              <a:rPr lang="en-US" sz="1150" dirty="0">
                <a:solidFill>
                  <a:srgbClr val="F4F2F7"/>
                </a:solidFill>
                <a:latin typeface="Courier New" pitchFamily="34" charset="0"/>
                <a:ea typeface="Courier New" pitchFamily="34" charset="-122"/>
                <a:cs typeface="Courier New" pitchFamily="34" charset="-120"/>
              </a:rPr>
              <a:t>=</a:t>
            </a:r>
            <a:pPr indent="0" marL="0">
              <a:lnSpc>
                <a:spcPct val="112000"/>
              </a:lnSpc>
              <a:buNone/>
            </a:pPr>
            <a:r>
              <a:rPr lang="en-US" sz="1150" dirty="0">
                <a:solidFill>
                  <a:srgbClr val="F4F2F7"/>
                </a:solidFill>
                <a:latin typeface="Courier New" pitchFamily="34" charset="0"/>
                <a:ea typeface="Courier New" pitchFamily="34" charset="-122"/>
                <a:cs typeface="Courier New" pitchFamily="34" charset="-120"/>
              </a:rPr>
              <a:t> </a:t>
            </a:r>
            <a:pPr indent="0" marL="0">
              <a:lnSpc>
                <a:spcPct val="112000"/>
              </a:lnSpc>
              <a:buNone/>
            </a:pPr>
            <a:r>
              <a:rPr lang="en-US" sz="1150" dirty="0">
                <a:solidFill>
                  <a:srgbClr val="FFA41B"/>
                </a:solidFill>
                <a:latin typeface="Courier New" pitchFamily="34" charset="0"/>
                <a:ea typeface="Courier New" pitchFamily="34" charset="-122"/>
                <a:cs typeface="Courier New" pitchFamily="34" charset="-120"/>
              </a:rPr>
              <a:t>2</a:t>
            </a:r>
            <a:pPr indent="0" marL="0">
              <a:lnSpc>
                <a:spcPct val="112000"/>
              </a:lnSpc>
              <a:buNone/>
            </a:pPr>
            <a:r>
              <a:rPr lang="en-US" sz="1150" dirty="0">
                <a:solidFill>
                  <a:srgbClr val="F4F2F7"/>
                </a:solidFill>
                <a:latin typeface="Courier New" pitchFamily="34" charset="0"/>
                <a:ea typeface="Courier New" pitchFamily="34" charset="-122"/>
                <a:cs typeface="Courier New" pitchFamily="34" charset="-120"/>
              </a:rPr>
              <a:t> </a:t>
            </a:r>
            <a:pPr indent="0" marL="0">
              <a:lnSpc>
                <a:spcPct val="112000"/>
              </a:lnSpc>
              <a:buNone/>
            </a:pPr>
            <a:r>
              <a:rPr lang="en-US" sz="1150" dirty="0">
                <a:solidFill>
                  <a:srgbClr val="F4F2F7"/>
                </a:solidFill>
                <a:latin typeface="Courier New" pitchFamily="34" charset="0"/>
                <a:ea typeface="Courier New" pitchFamily="34" charset="-122"/>
                <a:cs typeface="Courier New" pitchFamily="34" charset="-120"/>
              </a:rPr>
              <a:t>*</a:t>
            </a:r>
            <a:pPr indent="0" marL="0">
              <a:lnSpc>
                <a:spcPct val="112000"/>
              </a:lnSpc>
              <a:buNone/>
            </a:pPr>
            <a:r>
              <a:rPr lang="en-US" sz="1150" dirty="0">
                <a:solidFill>
                  <a:srgbClr val="F4F2F7"/>
                </a:solidFill>
                <a:latin typeface="Courier New" pitchFamily="34" charset="0"/>
                <a:ea typeface="Courier New" pitchFamily="34" charset="-122"/>
                <a:cs typeface="Courier New" pitchFamily="34" charset="-120"/>
              </a:rPr>
              <a:t>*</a:t>
            </a:r>
            <a:pPr indent="0" marL="0">
              <a:lnSpc>
                <a:spcPct val="112000"/>
              </a:lnSpc>
              <a:buNone/>
            </a:pPr>
            <a:r>
              <a:rPr lang="en-US" sz="1150" dirty="0">
                <a:solidFill>
                  <a:srgbClr val="F4F2F7"/>
                </a:solidFill>
                <a:latin typeface="Courier New" pitchFamily="34" charset="0"/>
                <a:ea typeface="Courier New" pitchFamily="34" charset="-122"/>
                <a:cs typeface="Courier New" pitchFamily="34" charset="-120"/>
              </a:rPr>
              <a:t> </a:t>
            </a:r>
            <a:pPr indent="0" marL="0">
              <a:lnSpc>
                <a:spcPct val="112000"/>
              </a:lnSpc>
              <a:buNone/>
            </a:pPr>
            <a:r>
              <a:rPr lang="en-US" sz="1150" dirty="0">
                <a:solidFill>
                  <a:srgbClr val="F4F2F7"/>
                </a:solidFill>
                <a:latin typeface="Courier New" pitchFamily="34" charset="0"/>
                <a:ea typeface="Courier New" pitchFamily="34" charset="-122"/>
                <a:cs typeface="Courier New" pitchFamily="34" charset="-120"/>
              </a:rPr>
              <a:t>(</a:t>
            </a:r>
            <a:pPr indent="0" marL="0">
              <a:lnSpc>
                <a:spcPct val="112000"/>
              </a:lnSpc>
              <a:buNone/>
            </a:pPr>
            <a:r>
              <a:rPr lang="en-US" sz="1150" dirty="0">
                <a:solidFill>
                  <a:srgbClr val="FFA41B"/>
                </a:solidFill>
                <a:latin typeface="Courier New" pitchFamily="34" charset="0"/>
                <a:ea typeface="Courier New" pitchFamily="34" charset="-122"/>
                <a:cs typeface="Courier New" pitchFamily="34" charset="-120"/>
              </a:rPr>
              <a:t>256</a:t>
            </a:r>
            <a:pPr indent="0" marL="0">
              <a:lnSpc>
                <a:spcPct val="112000"/>
              </a:lnSpc>
              <a:buNone/>
            </a:pPr>
            <a:r>
              <a:rPr lang="en-US" sz="1150" dirty="0">
                <a:solidFill>
                  <a:srgbClr val="F4F2F7"/>
                </a:solidFill>
                <a:latin typeface="Courier New" pitchFamily="34" charset="0"/>
                <a:ea typeface="Courier New" pitchFamily="34" charset="-122"/>
                <a:cs typeface="Courier New" pitchFamily="34" charset="-120"/>
              </a:rPr>
              <a:t> </a:t>
            </a:r>
            <a:pPr indent="0" marL="0">
              <a:lnSpc>
                <a:spcPct val="112000"/>
              </a:lnSpc>
              <a:buNone/>
            </a:pPr>
            <a:r>
              <a:rPr lang="en-US" sz="1150" dirty="0">
                <a:solidFill>
                  <a:srgbClr val="F4F2F7"/>
                </a:solidFill>
                <a:latin typeface="Courier New" pitchFamily="34" charset="0"/>
                <a:ea typeface="Courier New" pitchFamily="34" charset="-122"/>
                <a:cs typeface="Courier New" pitchFamily="34" charset="-120"/>
              </a:rPr>
              <a:t>-</a:t>
            </a:r>
            <a:pPr indent="0" marL="0">
              <a:lnSpc>
                <a:spcPct val="112000"/>
              </a:lnSpc>
              <a:buNone/>
            </a:pPr>
            <a:r>
              <a:rPr lang="en-US" sz="1150" dirty="0">
                <a:solidFill>
                  <a:srgbClr val="F4F2F7"/>
                </a:solidFill>
                <a:latin typeface="Courier New" pitchFamily="34" charset="0"/>
                <a:ea typeface="Courier New" pitchFamily="34" charset="-122"/>
                <a:cs typeface="Courier New" pitchFamily="34" charset="-120"/>
              </a:rPr>
              <a:t> </a:t>
            </a:r>
            <a:pPr indent="0" marL="0">
              <a:lnSpc>
                <a:spcPct val="112000"/>
              </a:lnSpc>
              <a:buNone/>
            </a:pPr>
            <a:r>
              <a:rPr lang="en-US" sz="1150" dirty="0">
                <a:solidFill>
                  <a:srgbClr val="F4F2F7"/>
                </a:solidFill>
                <a:latin typeface="Courier New" pitchFamily="34" charset="0"/>
                <a:ea typeface="Courier New" pitchFamily="34" charset="-122"/>
                <a:cs typeface="Courier New" pitchFamily="34" charset="-120"/>
              </a:rPr>
              <a:t>dificultad_en_bits</a:t>
            </a:r>
            <a:pPr indent="0" marL="0">
              <a:lnSpc>
                <a:spcPct val="112000"/>
              </a:lnSpc>
              <a:buNone/>
            </a:pPr>
            <a:r>
              <a:rPr lang="en-US" sz="1150" dirty="0">
                <a:solidFill>
                  <a:srgbClr val="F4F2F7"/>
                </a:solidFill>
                <a:latin typeface="Courier New" pitchFamily="34" charset="0"/>
                <a:ea typeface="Courier New" pitchFamily="34" charset="-122"/>
                <a:cs typeface="Courier New" pitchFamily="34" charset="-120"/>
              </a:rPr>
              <a:t>)</a:t>
            </a:r>
            <a:endParaRPr lang="en-US" sz="1150" dirty="0"/>
          </a:p>
          <a:p>
            <a:pPr indent="0" marL="0">
              <a:lnSpc>
                <a:spcPct val="112000"/>
              </a:lnSpc>
              <a:buNone/>
            </a:pPr>
            <a:r>
              <a:rPr lang="en-US" sz="1150" dirty="0">
                <a:solidFill>
                  <a:srgbClr val="F4F2F7"/>
                </a:solidFill>
                <a:latin typeface="Courier New" pitchFamily="34" charset="0"/>
                <a:ea typeface="Courier New" pitchFamily="34" charset="-122"/>
                <a:cs typeface="Courier New" pitchFamily="34" charset="-120"/>
              </a:rPr>
              <a:t> </a:t>
            </a:r>
            <a:endParaRPr lang="en-US" sz="1150" dirty="0"/>
          </a:p>
          <a:p>
            <a:pPr indent="0" marL="0">
              <a:lnSpc>
                <a:spcPct val="112000"/>
              </a:lnSpc>
              <a:buNone/>
            </a:pPr>
            <a:r>
              <a:rPr lang="en-US" sz="1150" dirty="0">
                <a:solidFill>
                  <a:srgbClr val="F4F2F7"/>
                </a:solidFill>
                <a:latin typeface="Courier New" pitchFamily="34" charset="0"/>
                <a:ea typeface="Courier New" pitchFamily="34" charset="-122"/>
                <a:cs typeface="Courier New" pitchFamily="34" charset="-120"/>
              </a:rPr>
              <a:t>nonce</a:t>
            </a:r>
            <a:pPr indent="0" marL="0">
              <a:lnSpc>
                <a:spcPct val="112000"/>
              </a:lnSpc>
              <a:buNone/>
            </a:pPr>
            <a:r>
              <a:rPr lang="en-US" sz="1150" dirty="0">
                <a:solidFill>
                  <a:srgbClr val="F4F2F7"/>
                </a:solidFill>
                <a:latin typeface="Courier New" pitchFamily="34" charset="0"/>
                <a:ea typeface="Courier New" pitchFamily="34" charset="-122"/>
                <a:cs typeface="Courier New" pitchFamily="34" charset="-120"/>
              </a:rPr>
              <a:t> </a:t>
            </a:r>
            <a:pPr indent="0" marL="0">
              <a:lnSpc>
                <a:spcPct val="112000"/>
              </a:lnSpc>
              <a:buNone/>
            </a:pPr>
            <a:r>
              <a:rPr lang="en-US" sz="1150" dirty="0">
                <a:solidFill>
                  <a:srgbClr val="F4F2F7"/>
                </a:solidFill>
                <a:latin typeface="Courier New" pitchFamily="34" charset="0"/>
                <a:ea typeface="Courier New" pitchFamily="34" charset="-122"/>
                <a:cs typeface="Courier New" pitchFamily="34" charset="-120"/>
              </a:rPr>
              <a:t>=</a:t>
            </a:r>
            <a:pPr indent="0" marL="0">
              <a:lnSpc>
                <a:spcPct val="112000"/>
              </a:lnSpc>
              <a:buNone/>
            </a:pPr>
            <a:r>
              <a:rPr lang="en-US" sz="1150" dirty="0">
                <a:solidFill>
                  <a:srgbClr val="F4F2F7"/>
                </a:solidFill>
                <a:latin typeface="Courier New" pitchFamily="34" charset="0"/>
                <a:ea typeface="Courier New" pitchFamily="34" charset="-122"/>
                <a:cs typeface="Courier New" pitchFamily="34" charset="-120"/>
              </a:rPr>
              <a:t> </a:t>
            </a:r>
            <a:pPr indent="0" marL="0">
              <a:lnSpc>
                <a:spcPct val="112000"/>
              </a:lnSpc>
              <a:buNone/>
            </a:pPr>
            <a:r>
              <a:rPr lang="en-US" sz="1150" dirty="0">
                <a:solidFill>
                  <a:srgbClr val="FFA41B"/>
                </a:solidFill>
                <a:latin typeface="Courier New" pitchFamily="34" charset="0"/>
                <a:ea typeface="Courier New" pitchFamily="34" charset="-122"/>
                <a:cs typeface="Courier New" pitchFamily="34" charset="-120"/>
              </a:rPr>
              <a:t>0</a:t>
            </a:r>
            <a:endParaRPr lang="en-US" sz="1150" dirty="0"/>
          </a:p>
          <a:p>
            <a:pPr indent="0" marL="0">
              <a:lnSpc>
                <a:spcPct val="112000"/>
              </a:lnSpc>
              <a:buNone/>
            </a:pPr>
            <a:r>
              <a:rPr lang="en-US" sz="1150" dirty="0">
                <a:solidFill>
                  <a:srgbClr val="F07F06"/>
                </a:solidFill>
                <a:latin typeface="Courier New" pitchFamily="34" charset="0"/>
                <a:ea typeface="Courier New" pitchFamily="34" charset="-122"/>
                <a:cs typeface="Courier New" pitchFamily="34" charset="-120"/>
              </a:rPr>
              <a:t>while</a:t>
            </a:r>
            <a:pPr indent="0" marL="0">
              <a:lnSpc>
                <a:spcPct val="112000"/>
              </a:lnSpc>
              <a:buNone/>
            </a:pPr>
            <a:r>
              <a:rPr lang="en-US" sz="1150" dirty="0">
                <a:solidFill>
                  <a:srgbClr val="F4F2F7"/>
                </a:solidFill>
                <a:latin typeface="Courier New" pitchFamily="34" charset="0"/>
                <a:ea typeface="Courier New" pitchFamily="34" charset="-122"/>
                <a:cs typeface="Courier New" pitchFamily="34" charset="-120"/>
              </a:rPr>
              <a:t> </a:t>
            </a:r>
            <a:pPr indent="0" marL="0">
              <a:lnSpc>
                <a:spcPct val="112000"/>
              </a:lnSpc>
              <a:buNone/>
            </a:pPr>
            <a:r>
              <a:rPr lang="en-US" sz="1150" dirty="0">
                <a:solidFill>
                  <a:srgbClr val="F07F06"/>
                </a:solidFill>
                <a:latin typeface="Courier New" pitchFamily="34" charset="0"/>
                <a:ea typeface="Courier New" pitchFamily="34" charset="-122"/>
                <a:cs typeface="Courier New" pitchFamily="34" charset="-120"/>
              </a:rPr>
              <a:t>True</a:t>
            </a:r>
            <a:pPr indent="0" marL="0">
              <a:lnSpc>
                <a:spcPct val="112000"/>
              </a:lnSpc>
              <a:buNone/>
            </a:pPr>
            <a:r>
              <a:rPr lang="en-US" sz="1150" dirty="0">
                <a:solidFill>
                  <a:srgbClr val="F4F2F7"/>
                </a:solidFill>
                <a:latin typeface="Courier New" pitchFamily="34" charset="0"/>
                <a:ea typeface="Courier New" pitchFamily="34" charset="-122"/>
                <a:cs typeface="Courier New" pitchFamily="34" charset="-120"/>
              </a:rPr>
              <a:t>:</a:t>
            </a:r>
            <a:endParaRPr lang="en-US" sz="1150" dirty="0"/>
          </a:p>
          <a:p>
            <a:pPr indent="0" marL="0">
              <a:lnSpc>
                <a:spcPct val="112000"/>
              </a:lnSpc>
              <a:buNone/>
            </a:pPr>
            <a:r>
              <a:rPr lang="en-US" sz="1150" dirty="0">
                <a:solidFill>
                  <a:srgbClr val="F4F2F7"/>
                </a:solidFill>
                <a:latin typeface="Courier New" pitchFamily="34" charset="0"/>
                <a:ea typeface="Courier New" pitchFamily="34" charset="-122"/>
                <a:cs typeface="Courier New" pitchFamily="34" charset="-120"/>
              </a:rPr>
              <a:t>    </a:t>
            </a:r>
            <a:pPr indent="0" marL="0">
              <a:lnSpc>
                <a:spcPct val="112000"/>
              </a:lnSpc>
              <a:buNone/>
            </a:pPr>
            <a:r>
              <a:rPr lang="en-US" sz="1150" dirty="0">
                <a:solidFill>
                  <a:srgbClr val="F4F2F7"/>
                </a:solidFill>
                <a:latin typeface="Courier New" pitchFamily="34" charset="0"/>
                <a:ea typeface="Courier New" pitchFamily="34" charset="-122"/>
                <a:cs typeface="Courier New" pitchFamily="34" charset="-120"/>
              </a:rPr>
              <a:t>encabezado</a:t>
            </a:r>
            <a:pPr indent="0" marL="0">
              <a:lnSpc>
                <a:spcPct val="112000"/>
              </a:lnSpc>
              <a:buNone/>
            </a:pPr>
            <a:r>
              <a:rPr lang="en-US" sz="1150" dirty="0">
                <a:solidFill>
                  <a:srgbClr val="F4F2F7"/>
                </a:solidFill>
                <a:latin typeface="Courier New" pitchFamily="34" charset="0"/>
                <a:ea typeface="Courier New" pitchFamily="34" charset="-122"/>
                <a:cs typeface="Courier New" pitchFamily="34" charset="-120"/>
              </a:rPr>
              <a:t> </a:t>
            </a:r>
            <a:pPr indent="0" marL="0">
              <a:lnSpc>
                <a:spcPct val="112000"/>
              </a:lnSpc>
              <a:buNone/>
            </a:pPr>
            <a:r>
              <a:rPr lang="en-US" sz="1150" dirty="0">
                <a:solidFill>
                  <a:srgbClr val="F4F2F7"/>
                </a:solidFill>
                <a:latin typeface="Courier New" pitchFamily="34" charset="0"/>
                <a:ea typeface="Courier New" pitchFamily="34" charset="-122"/>
                <a:cs typeface="Courier New" pitchFamily="34" charset="-120"/>
              </a:rPr>
              <a:t>=</a:t>
            </a:r>
            <a:pPr indent="0" marL="0">
              <a:lnSpc>
                <a:spcPct val="112000"/>
              </a:lnSpc>
              <a:buNone/>
            </a:pPr>
            <a:r>
              <a:rPr lang="en-US" sz="1150" dirty="0">
                <a:solidFill>
                  <a:srgbClr val="F4F2F7"/>
                </a:solidFill>
                <a:latin typeface="Courier New" pitchFamily="34" charset="0"/>
                <a:ea typeface="Courier New" pitchFamily="34" charset="-122"/>
                <a:cs typeface="Courier New" pitchFamily="34" charset="-120"/>
              </a:rPr>
              <a:t> </a:t>
            </a:r>
            <a:pPr indent="0" marL="0">
              <a:lnSpc>
                <a:spcPct val="112000"/>
              </a:lnSpc>
              <a:buNone/>
            </a:pPr>
            <a:r>
              <a:rPr lang="en-US" sz="1150" dirty="0">
                <a:solidFill>
                  <a:srgbClr val="F4F2F7"/>
                </a:solidFill>
                <a:latin typeface="Courier New" pitchFamily="34" charset="0"/>
                <a:ea typeface="Courier New" pitchFamily="34" charset="-122"/>
                <a:cs typeface="Courier New" pitchFamily="34" charset="-120"/>
              </a:rPr>
              <a:t>anterior</a:t>
            </a:r>
            <a:pPr indent="0" marL="0">
              <a:lnSpc>
                <a:spcPct val="112000"/>
              </a:lnSpc>
              <a:buNone/>
            </a:pPr>
            <a:r>
              <a:rPr lang="en-US" sz="1150" dirty="0">
                <a:solidFill>
                  <a:srgbClr val="F4F2F7"/>
                </a:solidFill>
                <a:latin typeface="Courier New" pitchFamily="34" charset="0"/>
                <a:ea typeface="Courier New" pitchFamily="34" charset="-122"/>
                <a:cs typeface="Courier New" pitchFamily="34" charset="-120"/>
              </a:rPr>
              <a:t> </a:t>
            </a:r>
            <a:pPr indent="0" marL="0">
              <a:lnSpc>
                <a:spcPct val="112000"/>
              </a:lnSpc>
              <a:buNone/>
            </a:pPr>
            <a:r>
              <a:rPr lang="en-US" sz="1150" dirty="0">
                <a:solidFill>
                  <a:srgbClr val="F4F2F7"/>
                </a:solidFill>
                <a:latin typeface="Courier New" pitchFamily="34" charset="0"/>
                <a:ea typeface="Courier New" pitchFamily="34" charset="-122"/>
                <a:cs typeface="Courier New" pitchFamily="34" charset="-120"/>
              </a:rPr>
              <a:t>+</a:t>
            </a:r>
            <a:pPr indent="0" marL="0">
              <a:lnSpc>
                <a:spcPct val="112000"/>
              </a:lnSpc>
              <a:buNone/>
            </a:pPr>
            <a:r>
              <a:rPr lang="en-US" sz="1150" dirty="0">
                <a:solidFill>
                  <a:srgbClr val="F4F2F7"/>
                </a:solidFill>
                <a:latin typeface="Courier New" pitchFamily="34" charset="0"/>
                <a:ea typeface="Courier New" pitchFamily="34" charset="-122"/>
                <a:cs typeface="Courier New" pitchFamily="34" charset="-120"/>
              </a:rPr>
              <a:t> </a:t>
            </a:r>
            <a:pPr indent="0" marL="0">
              <a:lnSpc>
                <a:spcPct val="112000"/>
              </a:lnSpc>
              <a:buNone/>
            </a:pPr>
            <a:r>
              <a:rPr lang="en-US" sz="1150" dirty="0">
                <a:solidFill>
                  <a:srgbClr val="F4F2F7"/>
                </a:solidFill>
                <a:latin typeface="Courier New" pitchFamily="34" charset="0"/>
                <a:ea typeface="Courier New" pitchFamily="34" charset="-122"/>
                <a:cs typeface="Courier New" pitchFamily="34" charset="-120"/>
              </a:rPr>
              <a:t>raiz_merkle</a:t>
            </a:r>
            <a:pPr indent="0" marL="0">
              <a:lnSpc>
                <a:spcPct val="112000"/>
              </a:lnSpc>
              <a:buNone/>
            </a:pPr>
            <a:r>
              <a:rPr lang="en-US" sz="1150" dirty="0">
                <a:solidFill>
                  <a:srgbClr val="F4F2F7"/>
                </a:solidFill>
                <a:latin typeface="Courier New" pitchFamily="34" charset="0"/>
                <a:ea typeface="Courier New" pitchFamily="34" charset="-122"/>
                <a:cs typeface="Courier New" pitchFamily="34" charset="-120"/>
              </a:rPr>
              <a:t> </a:t>
            </a:r>
            <a:pPr indent="0" marL="0">
              <a:lnSpc>
                <a:spcPct val="112000"/>
              </a:lnSpc>
              <a:buNone/>
            </a:pPr>
            <a:r>
              <a:rPr lang="en-US" sz="1150" dirty="0">
                <a:solidFill>
                  <a:srgbClr val="F4F2F7"/>
                </a:solidFill>
                <a:latin typeface="Courier New" pitchFamily="34" charset="0"/>
                <a:ea typeface="Courier New" pitchFamily="34" charset="-122"/>
                <a:cs typeface="Courier New" pitchFamily="34" charset="-120"/>
              </a:rPr>
              <a:t>+</a:t>
            </a:r>
            <a:pPr indent="0" marL="0">
              <a:lnSpc>
                <a:spcPct val="112000"/>
              </a:lnSpc>
              <a:buNone/>
            </a:pPr>
            <a:r>
              <a:rPr lang="en-US" sz="1150" dirty="0">
                <a:solidFill>
                  <a:srgbClr val="F4F2F7"/>
                </a:solidFill>
                <a:latin typeface="Courier New" pitchFamily="34" charset="0"/>
                <a:ea typeface="Courier New" pitchFamily="34" charset="-122"/>
                <a:cs typeface="Courier New" pitchFamily="34" charset="-120"/>
              </a:rPr>
              <a:t> </a:t>
            </a:r>
            <a:pPr indent="0" marL="0">
              <a:lnSpc>
                <a:spcPct val="112000"/>
              </a:lnSpc>
              <a:buNone/>
            </a:pPr>
            <a:r>
              <a:rPr lang="en-US" sz="1150" dirty="0">
                <a:solidFill>
                  <a:srgbClr val="F4F2F7"/>
                </a:solidFill>
                <a:latin typeface="Courier New" pitchFamily="34" charset="0"/>
                <a:ea typeface="Courier New" pitchFamily="34" charset="-122"/>
                <a:cs typeface="Courier New" pitchFamily="34" charset="-120"/>
              </a:rPr>
              <a:t>str</a:t>
            </a:r>
            <a:pPr indent="0" marL="0">
              <a:lnSpc>
                <a:spcPct val="112000"/>
              </a:lnSpc>
              <a:buNone/>
            </a:pPr>
            <a:r>
              <a:rPr lang="en-US" sz="1150" dirty="0">
                <a:solidFill>
                  <a:srgbClr val="F4F2F7"/>
                </a:solidFill>
                <a:latin typeface="Courier New" pitchFamily="34" charset="0"/>
                <a:ea typeface="Courier New" pitchFamily="34" charset="-122"/>
                <a:cs typeface="Courier New" pitchFamily="34" charset="-120"/>
              </a:rPr>
              <a:t>(</a:t>
            </a:r>
            <a:pPr indent="0" marL="0">
              <a:lnSpc>
                <a:spcPct val="112000"/>
              </a:lnSpc>
              <a:buNone/>
            </a:pPr>
            <a:r>
              <a:rPr lang="en-US" sz="1150" dirty="0">
                <a:solidFill>
                  <a:srgbClr val="F4F2F7"/>
                </a:solidFill>
                <a:latin typeface="Courier New" pitchFamily="34" charset="0"/>
                <a:ea typeface="Courier New" pitchFamily="34" charset="-122"/>
                <a:cs typeface="Courier New" pitchFamily="34" charset="-120"/>
              </a:rPr>
              <a:t>nonce</a:t>
            </a:r>
            <a:pPr indent="0" marL="0">
              <a:lnSpc>
                <a:spcPct val="112000"/>
              </a:lnSpc>
              <a:buNone/>
            </a:pPr>
            <a:r>
              <a:rPr lang="en-US" sz="1150" dirty="0">
                <a:solidFill>
                  <a:srgbClr val="F4F2F7"/>
                </a:solidFill>
                <a:latin typeface="Courier New" pitchFamily="34" charset="0"/>
                <a:ea typeface="Courier New" pitchFamily="34" charset="-122"/>
                <a:cs typeface="Courier New" pitchFamily="34" charset="-120"/>
              </a:rPr>
              <a:t>)</a:t>
            </a:r>
            <a:endParaRPr lang="en-US" sz="1150" dirty="0"/>
          </a:p>
          <a:p>
            <a:pPr indent="0" marL="0">
              <a:lnSpc>
                <a:spcPct val="112000"/>
              </a:lnSpc>
              <a:buNone/>
            </a:pPr>
            <a:r>
              <a:rPr lang="en-US" sz="1150" dirty="0">
                <a:solidFill>
                  <a:srgbClr val="F4F2F7"/>
                </a:solidFill>
                <a:latin typeface="Courier New" pitchFamily="34" charset="0"/>
                <a:ea typeface="Courier New" pitchFamily="34" charset="-122"/>
                <a:cs typeface="Courier New" pitchFamily="34" charset="-120"/>
              </a:rPr>
              <a:t>    </a:t>
            </a:r>
            <a:pPr indent="0" marL="0">
              <a:lnSpc>
                <a:spcPct val="112000"/>
              </a:lnSpc>
              <a:buNone/>
            </a:pPr>
            <a:r>
              <a:rPr lang="en-US" sz="1150" dirty="0">
                <a:solidFill>
                  <a:srgbClr val="F4F2F7"/>
                </a:solidFill>
                <a:latin typeface="Courier New" pitchFamily="34" charset="0"/>
                <a:ea typeface="Courier New" pitchFamily="34" charset="-122"/>
                <a:cs typeface="Courier New" pitchFamily="34" charset="-120"/>
              </a:rPr>
              <a:t>h</a:t>
            </a:r>
            <a:pPr indent="0" marL="0">
              <a:lnSpc>
                <a:spcPct val="112000"/>
              </a:lnSpc>
              <a:buNone/>
            </a:pPr>
            <a:r>
              <a:rPr lang="en-US" sz="1150" dirty="0">
                <a:solidFill>
                  <a:srgbClr val="F4F2F7"/>
                </a:solidFill>
                <a:latin typeface="Courier New" pitchFamily="34" charset="0"/>
                <a:ea typeface="Courier New" pitchFamily="34" charset="-122"/>
                <a:cs typeface="Courier New" pitchFamily="34" charset="-120"/>
              </a:rPr>
              <a:t> </a:t>
            </a:r>
            <a:pPr indent="0" marL="0">
              <a:lnSpc>
                <a:spcPct val="112000"/>
              </a:lnSpc>
              <a:buNone/>
            </a:pPr>
            <a:r>
              <a:rPr lang="en-US" sz="1150" dirty="0">
                <a:solidFill>
                  <a:srgbClr val="F4F2F7"/>
                </a:solidFill>
                <a:latin typeface="Courier New" pitchFamily="34" charset="0"/>
                <a:ea typeface="Courier New" pitchFamily="34" charset="-122"/>
                <a:cs typeface="Courier New" pitchFamily="34" charset="-120"/>
              </a:rPr>
              <a:t>=</a:t>
            </a:r>
            <a:pPr indent="0" marL="0">
              <a:lnSpc>
                <a:spcPct val="112000"/>
              </a:lnSpc>
              <a:buNone/>
            </a:pPr>
            <a:r>
              <a:rPr lang="en-US" sz="1150" dirty="0">
                <a:solidFill>
                  <a:srgbClr val="F4F2F7"/>
                </a:solidFill>
                <a:latin typeface="Courier New" pitchFamily="34" charset="0"/>
                <a:ea typeface="Courier New" pitchFamily="34" charset="-122"/>
                <a:cs typeface="Courier New" pitchFamily="34" charset="-120"/>
              </a:rPr>
              <a:t> </a:t>
            </a:r>
            <a:pPr indent="0" marL="0">
              <a:lnSpc>
                <a:spcPct val="112000"/>
              </a:lnSpc>
              <a:buNone/>
            </a:pPr>
            <a:r>
              <a:rPr lang="en-US" sz="1150" dirty="0">
                <a:solidFill>
                  <a:srgbClr val="F4F2F7"/>
                </a:solidFill>
                <a:latin typeface="Courier New" pitchFamily="34" charset="0"/>
                <a:ea typeface="Courier New" pitchFamily="34" charset="-122"/>
                <a:cs typeface="Courier New" pitchFamily="34" charset="-120"/>
              </a:rPr>
              <a:t>int</a:t>
            </a:r>
            <a:pPr indent="0" marL="0">
              <a:lnSpc>
                <a:spcPct val="112000"/>
              </a:lnSpc>
              <a:buNone/>
            </a:pPr>
            <a:r>
              <a:rPr lang="en-US" sz="1150" dirty="0">
                <a:solidFill>
                  <a:srgbClr val="F4F2F7"/>
                </a:solidFill>
                <a:latin typeface="Courier New" pitchFamily="34" charset="0"/>
                <a:ea typeface="Courier New" pitchFamily="34" charset="-122"/>
                <a:cs typeface="Courier New" pitchFamily="34" charset="-120"/>
              </a:rPr>
              <a:t>(</a:t>
            </a:r>
            <a:pPr indent="0" marL="0">
              <a:lnSpc>
                <a:spcPct val="112000"/>
              </a:lnSpc>
              <a:buNone/>
            </a:pPr>
            <a:r>
              <a:rPr lang="en-US" sz="1150" dirty="0">
                <a:solidFill>
                  <a:srgbClr val="F4F2F7"/>
                </a:solidFill>
                <a:latin typeface="Courier New" pitchFamily="34" charset="0"/>
                <a:ea typeface="Courier New" pitchFamily="34" charset="-122"/>
                <a:cs typeface="Courier New" pitchFamily="34" charset="-120"/>
              </a:rPr>
              <a:t>sha256</a:t>
            </a:r>
            <a:pPr indent="0" marL="0">
              <a:lnSpc>
                <a:spcPct val="112000"/>
              </a:lnSpc>
              <a:buNone/>
            </a:pPr>
            <a:r>
              <a:rPr lang="en-US" sz="1150" dirty="0">
                <a:solidFill>
                  <a:srgbClr val="F4F2F7"/>
                </a:solidFill>
                <a:latin typeface="Courier New" pitchFamily="34" charset="0"/>
                <a:ea typeface="Courier New" pitchFamily="34" charset="-122"/>
                <a:cs typeface="Courier New" pitchFamily="34" charset="-120"/>
              </a:rPr>
              <a:t>(</a:t>
            </a:r>
            <a:pPr indent="0" marL="0">
              <a:lnSpc>
                <a:spcPct val="112000"/>
              </a:lnSpc>
              <a:buNone/>
            </a:pPr>
            <a:r>
              <a:rPr lang="en-US" sz="1150" dirty="0">
                <a:solidFill>
                  <a:srgbClr val="F4F2F7"/>
                </a:solidFill>
                <a:latin typeface="Courier New" pitchFamily="34" charset="0"/>
                <a:ea typeface="Courier New" pitchFamily="34" charset="-122"/>
                <a:cs typeface="Courier New" pitchFamily="34" charset="-120"/>
              </a:rPr>
              <a:t>encabezado</a:t>
            </a:r>
            <a:pPr indent="0" marL="0">
              <a:lnSpc>
                <a:spcPct val="112000"/>
              </a:lnSpc>
              <a:buNone/>
            </a:pPr>
            <a:r>
              <a:rPr lang="en-US" sz="1150" dirty="0">
                <a:solidFill>
                  <a:srgbClr val="F4F2F7"/>
                </a:solidFill>
                <a:latin typeface="Courier New" pitchFamily="34" charset="0"/>
                <a:ea typeface="Courier New" pitchFamily="34" charset="-122"/>
                <a:cs typeface="Courier New" pitchFamily="34" charset="-120"/>
              </a:rPr>
              <a:t>)</a:t>
            </a:r>
            <a:pPr indent="0" marL="0">
              <a:lnSpc>
                <a:spcPct val="112000"/>
              </a:lnSpc>
              <a:buNone/>
            </a:pPr>
            <a:r>
              <a:rPr lang="en-US" sz="1150" dirty="0">
                <a:solidFill>
                  <a:srgbClr val="F4F2F7"/>
                </a:solidFill>
                <a:latin typeface="Courier New" pitchFamily="34" charset="0"/>
                <a:ea typeface="Courier New" pitchFamily="34" charset="-122"/>
                <a:cs typeface="Courier New" pitchFamily="34" charset="-120"/>
              </a:rPr>
              <a:t>,</a:t>
            </a:r>
            <a:pPr indent="0" marL="0">
              <a:lnSpc>
                <a:spcPct val="112000"/>
              </a:lnSpc>
              <a:buNone/>
            </a:pPr>
            <a:r>
              <a:rPr lang="en-US" sz="1150" dirty="0">
                <a:solidFill>
                  <a:srgbClr val="F4F2F7"/>
                </a:solidFill>
                <a:latin typeface="Courier New" pitchFamily="34" charset="0"/>
                <a:ea typeface="Courier New" pitchFamily="34" charset="-122"/>
                <a:cs typeface="Courier New" pitchFamily="34" charset="-120"/>
              </a:rPr>
              <a:t> </a:t>
            </a:r>
            <a:pPr indent="0" marL="0">
              <a:lnSpc>
                <a:spcPct val="112000"/>
              </a:lnSpc>
              <a:buNone/>
            </a:pPr>
            <a:r>
              <a:rPr lang="en-US" sz="1150" dirty="0">
                <a:solidFill>
                  <a:srgbClr val="FFA41B"/>
                </a:solidFill>
                <a:latin typeface="Courier New" pitchFamily="34" charset="0"/>
                <a:ea typeface="Courier New" pitchFamily="34" charset="-122"/>
                <a:cs typeface="Courier New" pitchFamily="34" charset="-120"/>
              </a:rPr>
              <a:t>16</a:t>
            </a:r>
            <a:pPr indent="0" marL="0">
              <a:lnSpc>
                <a:spcPct val="112000"/>
              </a:lnSpc>
              <a:buNone/>
            </a:pPr>
            <a:r>
              <a:rPr lang="en-US" sz="1150" dirty="0">
                <a:solidFill>
                  <a:srgbClr val="F4F2F7"/>
                </a:solidFill>
                <a:latin typeface="Courier New" pitchFamily="34" charset="0"/>
                <a:ea typeface="Courier New" pitchFamily="34" charset="-122"/>
                <a:cs typeface="Courier New" pitchFamily="34" charset="-120"/>
              </a:rPr>
              <a:t>)</a:t>
            </a:r>
            <a:endParaRPr lang="en-US" sz="1150" dirty="0"/>
          </a:p>
          <a:p>
            <a:pPr indent="0" marL="0">
              <a:lnSpc>
                <a:spcPct val="112000"/>
              </a:lnSpc>
              <a:buNone/>
            </a:pPr>
            <a:r>
              <a:rPr lang="en-US" sz="1150" dirty="0">
                <a:solidFill>
                  <a:srgbClr val="F4F2F7"/>
                </a:solidFill>
                <a:latin typeface="Courier New" pitchFamily="34" charset="0"/>
                <a:ea typeface="Courier New" pitchFamily="34" charset="-122"/>
                <a:cs typeface="Courier New" pitchFamily="34" charset="-120"/>
              </a:rPr>
              <a:t>    </a:t>
            </a:r>
            <a:pPr indent="0" marL="0">
              <a:lnSpc>
                <a:spcPct val="112000"/>
              </a:lnSpc>
              <a:buNone/>
            </a:pPr>
            <a:r>
              <a:rPr lang="en-US" sz="1150" dirty="0">
                <a:solidFill>
                  <a:srgbClr val="F07F06"/>
                </a:solidFill>
                <a:latin typeface="Courier New" pitchFamily="34" charset="0"/>
                <a:ea typeface="Courier New" pitchFamily="34" charset="-122"/>
                <a:cs typeface="Courier New" pitchFamily="34" charset="-120"/>
              </a:rPr>
              <a:t>if</a:t>
            </a:r>
            <a:pPr indent="0" marL="0">
              <a:lnSpc>
                <a:spcPct val="112000"/>
              </a:lnSpc>
              <a:buNone/>
            </a:pPr>
            <a:r>
              <a:rPr lang="en-US" sz="1150" dirty="0">
                <a:solidFill>
                  <a:srgbClr val="F4F2F7"/>
                </a:solidFill>
                <a:latin typeface="Courier New" pitchFamily="34" charset="0"/>
                <a:ea typeface="Courier New" pitchFamily="34" charset="-122"/>
                <a:cs typeface="Courier New" pitchFamily="34" charset="-120"/>
              </a:rPr>
              <a:t> </a:t>
            </a:r>
            <a:pPr indent="0" marL="0">
              <a:lnSpc>
                <a:spcPct val="112000"/>
              </a:lnSpc>
              <a:buNone/>
            </a:pPr>
            <a:r>
              <a:rPr lang="en-US" sz="1150" dirty="0">
                <a:solidFill>
                  <a:srgbClr val="F4F2F7"/>
                </a:solidFill>
                <a:latin typeface="Courier New" pitchFamily="34" charset="0"/>
                <a:ea typeface="Courier New" pitchFamily="34" charset="-122"/>
                <a:cs typeface="Courier New" pitchFamily="34" charset="-120"/>
              </a:rPr>
              <a:t>h</a:t>
            </a:r>
            <a:pPr indent="0" marL="0">
              <a:lnSpc>
                <a:spcPct val="112000"/>
              </a:lnSpc>
              <a:buNone/>
            </a:pPr>
            <a:r>
              <a:rPr lang="en-US" sz="1150" dirty="0">
                <a:solidFill>
                  <a:srgbClr val="F4F2F7"/>
                </a:solidFill>
                <a:latin typeface="Courier New" pitchFamily="34" charset="0"/>
                <a:ea typeface="Courier New" pitchFamily="34" charset="-122"/>
                <a:cs typeface="Courier New" pitchFamily="34" charset="-120"/>
              </a:rPr>
              <a:t> </a:t>
            </a:r>
            <a:pPr indent="0" marL="0">
              <a:lnSpc>
                <a:spcPct val="112000"/>
              </a:lnSpc>
              <a:buNone/>
            </a:pPr>
            <a:r>
              <a:rPr lang="en-US" sz="1150" dirty="0">
                <a:solidFill>
                  <a:srgbClr val="F4F2F7"/>
                </a:solidFill>
                <a:latin typeface="Courier New" pitchFamily="34" charset="0"/>
                <a:ea typeface="Courier New" pitchFamily="34" charset="-122"/>
                <a:cs typeface="Courier New" pitchFamily="34" charset="-120"/>
              </a:rPr>
              <a:t>&lt;</a:t>
            </a:r>
            <a:pPr indent="0" marL="0">
              <a:lnSpc>
                <a:spcPct val="112000"/>
              </a:lnSpc>
              <a:buNone/>
            </a:pPr>
            <a:r>
              <a:rPr lang="en-US" sz="1150" dirty="0">
                <a:solidFill>
                  <a:srgbClr val="F4F2F7"/>
                </a:solidFill>
                <a:latin typeface="Courier New" pitchFamily="34" charset="0"/>
                <a:ea typeface="Courier New" pitchFamily="34" charset="-122"/>
                <a:cs typeface="Courier New" pitchFamily="34" charset="-120"/>
              </a:rPr>
              <a:t> </a:t>
            </a:r>
            <a:pPr indent="0" marL="0">
              <a:lnSpc>
                <a:spcPct val="112000"/>
              </a:lnSpc>
              <a:buNone/>
            </a:pPr>
            <a:r>
              <a:rPr lang="en-US" sz="1150" dirty="0">
                <a:solidFill>
                  <a:srgbClr val="F4F2F7"/>
                </a:solidFill>
                <a:latin typeface="Courier New" pitchFamily="34" charset="0"/>
                <a:ea typeface="Courier New" pitchFamily="34" charset="-122"/>
                <a:cs typeface="Courier New" pitchFamily="34" charset="-120"/>
              </a:rPr>
              <a:t>objetivo</a:t>
            </a:r>
            <a:pPr indent="0" marL="0">
              <a:lnSpc>
                <a:spcPct val="112000"/>
              </a:lnSpc>
              <a:buNone/>
            </a:pPr>
            <a:r>
              <a:rPr lang="en-US" sz="1150" dirty="0">
                <a:solidFill>
                  <a:srgbClr val="F4F2F7"/>
                </a:solidFill>
                <a:latin typeface="Courier New" pitchFamily="34" charset="0"/>
                <a:ea typeface="Courier New" pitchFamily="34" charset="-122"/>
                <a:cs typeface="Courier New" pitchFamily="34" charset="-120"/>
              </a:rPr>
              <a:t>:</a:t>
            </a:r>
            <a:endParaRPr lang="en-US" sz="1150" dirty="0"/>
          </a:p>
          <a:p>
            <a:pPr indent="0" marL="0">
              <a:lnSpc>
                <a:spcPct val="112000"/>
              </a:lnSpc>
              <a:buNone/>
            </a:pPr>
            <a:r>
              <a:rPr lang="en-US" sz="1150" dirty="0">
                <a:solidFill>
                  <a:srgbClr val="F4F2F7"/>
                </a:solidFill>
                <a:latin typeface="Courier New" pitchFamily="34" charset="0"/>
                <a:ea typeface="Courier New" pitchFamily="34" charset="-122"/>
                <a:cs typeface="Courier New" pitchFamily="34" charset="-120"/>
              </a:rPr>
              <a:t>        </a:t>
            </a:r>
            <a:pPr indent="0" marL="0">
              <a:lnSpc>
                <a:spcPct val="112000"/>
              </a:lnSpc>
              <a:buNone/>
            </a:pPr>
            <a:r>
              <a:rPr lang="en-US" sz="1150" dirty="0">
                <a:solidFill>
                  <a:srgbClr val="F4F2F7"/>
                </a:solidFill>
                <a:latin typeface="Courier New" pitchFamily="34" charset="0"/>
                <a:ea typeface="Courier New" pitchFamily="34" charset="-122"/>
                <a:cs typeface="Courier New" pitchFamily="34" charset="-120"/>
              </a:rPr>
              <a:t>break</a:t>
            </a:r>
            <a:pPr indent="0" marL="0">
              <a:lnSpc>
                <a:spcPct val="112000"/>
              </a:lnSpc>
              <a:buNone/>
            </a:pPr>
            <a:r>
              <a:rPr lang="en-US" sz="1150" dirty="0">
                <a:solidFill>
                  <a:srgbClr val="F4F2F7"/>
                </a:solidFill>
                <a:latin typeface="Courier New" pitchFamily="34" charset="0"/>
                <a:ea typeface="Courier New" pitchFamily="34" charset="-122"/>
                <a:cs typeface="Courier New" pitchFamily="34" charset="-120"/>
              </a:rPr>
              <a:t>          </a:t>
            </a:r>
            <a:pPr indent="0" marL="0">
              <a:lnSpc>
                <a:spcPct val="112000"/>
              </a:lnSpc>
              <a:buNone/>
            </a:pPr>
            <a:r>
              <a:rPr lang="en-US" sz="1150" dirty="0">
                <a:solidFill>
                  <a:srgbClr val="8B8697"/>
                </a:solidFill>
                <a:latin typeface="Courier New" pitchFamily="34" charset="0"/>
                <a:ea typeface="Courier New" pitchFamily="34" charset="-122"/>
                <a:cs typeface="Courier New" pitchFamily="34" charset="-120"/>
              </a:rPr>
              <a:t># bloque encontrado</a:t>
            </a:r>
            <a:endParaRPr lang="en-US" sz="1150" dirty="0"/>
          </a:p>
          <a:p>
            <a:pPr indent="0" marL="0">
              <a:lnSpc>
                <a:spcPct val="112000"/>
              </a:lnSpc>
              <a:buNone/>
            </a:pPr>
            <a:r>
              <a:rPr lang="en-US" sz="1150" dirty="0">
                <a:solidFill>
                  <a:srgbClr val="F4F2F7"/>
                </a:solidFill>
                <a:latin typeface="Courier New" pitchFamily="34" charset="0"/>
                <a:ea typeface="Courier New" pitchFamily="34" charset="-122"/>
                <a:cs typeface="Courier New" pitchFamily="34" charset="-120"/>
              </a:rPr>
              <a:t>    </a:t>
            </a:r>
            <a:pPr indent="0" marL="0">
              <a:lnSpc>
                <a:spcPct val="112000"/>
              </a:lnSpc>
              <a:buNone/>
            </a:pPr>
            <a:r>
              <a:rPr lang="en-US" sz="1150" dirty="0">
                <a:solidFill>
                  <a:srgbClr val="F4F2F7"/>
                </a:solidFill>
                <a:latin typeface="Courier New" pitchFamily="34" charset="0"/>
                <a:ea typeface="Courier New" pitchFamily="34" charset="-122"/>
                <a:cs typeface="Courier New" pitchFamily="34" charset="-120"/>
              </a:rPr>
              <a:t>nonce</a:t>
            </a:r>
            <a:pPr indent="0" marL="0">
              <a:lnSpc>
                <a:spcPct val="112000"/>
              </a:lnSpc>
              <a:buNone/>
            </a:pPr>
            <a:r>
              <a:rPr lang="en-US" sz="1150" dirty="0">
                <a:solidFill>
                  <a:srgbClr val="F4F2F7"/>
                </a:solidFill>
                <a:latin typeface="Courier New" pitchFamily="34" charset="0"/>
                <a:ea typeface="Courier New" pitchFamily="34" charset="-122"/>
                <a:cs typeface="Courier New" pitchFamily="34" charset="-120"/>
              </a:rPr>
              <a:t> </a:t>
            </a:r>
            <a:pPr indent="0" marL="0">
              <a:lnSpc>
                <a:spcPct val="112000"/>
              </a:lnSpc>
              <a:buNone/>
            </a:pPr>
            <a:r>
              <a:rPr lang="en-US" sz="1150" dirty="0">
                <a:solidFill>
                  <a:srgbClr val="F4F2F7"/>
                </a:solidFill>
                <a:latin typeface="Courier New" pitchFamily="34" charset="0"/>
                <a:ea typeface="Courier New" pitchFamily="34" charset="-122"/>
                <a:cs typeface="Courier New" pitchFamily="34" charset="-120"/>
              </a:rPr>
              <a:t>+</a:t>
            </a:r>
            <a:pPr indent="0" marL="0">
              <a:lnSpc>
                <a:spcPct val="112000"/>
              </a:lnSpc>
              <a:buNone/>
            </a:pPr>
            <a:r>
              <a:rPr lang="en-US" sz="1150" dirty="0">
                <a:solidFill>
                  <a:srgbClr val="F4F2F7"/>
                </a:solidFill>
                <a:latin typeface="Courier New" pitchFamily="34" charset="0"/>
                <a:ea typeface="Courier New" pitchFamily="34" charset="-122"/>
                <a:cs typeface="Courier New" pitchFamily="34" charset="-120"/>
              </a:rPr>
              <a:t>=</a:t>
            </a:r>
            <a:pPr indent="0" marL="0">
              <a:lnSpc>
                <a:spcPct val="112000"/>
              </a:lnSpc>
              <a:buNone/>
            </a:pPr>
            <a:r>
              <a:rPr lang="en-US" sz="1150" dirty="0">
                <a:solidFill>
                  <a:srgbClr val="F4F2F7"/>
                </a:solidFill>
                <a:latin typeface="Courier New" pitchFamily="34" charset="0"/>
                <a:ea typeface="Courier New" pitchFamily="34" charset="-122"/>
                <a:cs typeface="Courier New" pitchFamily="34" charset="-120"/>
              </a:rPr>
              <a:t> </a:t>
            </a:r>
            <a:pPr indent="0" marL="0">
              <a:lnSpc>
                <a:spcPct val="112000"/>
              </a:lnSpc>
              <a:buNone/>
            </a:pPr>
            <a:r>
              <a:rPr lang="en-US" sz="1150" dirty="0">
                <a:solidFill>
                  <a:srgbClr val="FFA41B"/>
                </a:solidFill>
                <a:latin typeface="Courier New" pitchFamily="34" charset="0"/>
                <a:ea typeface="Courier New" pitchFamily="34" charset="-122"/>
                <a:cs typeface="Courier New" pitchFamily="34" charset="-120"/>
              </a:rPr>
              <a:t>1</a:t>
            </a:r>
            <a:endParaRPr lang="en-US" sz="1150" dirty="0"/>
          </a:p>
        </p:txBody>
      </p:sp>
      <p:sp>
        <p:nvSpPr>
          <p:cNvPr id="11" name="Shape 8"/>
          <p:cNvSpPr/>
          <p:nvPr/>
        </p:nvSpPr>
        <p:spPr>
          <a:xfrm>
            <a:off x="6922008" y="1737360"/>
            <a:ext cx="4702759" cy="987552"/>
          </a:xfrm>
          <a:prstGeom prst="rect">
            <a:avLst/>
          </a:prstGeom>
          <a:solidFill>
            <a:srgbClr val="FFFFFF"/>
          </a:solidFill>
          <a:ln w="15875">
            <a:solidFill>
              <a:srgbClr val="0F0F11"/>
            </a:solidFill>
            <a:prstDash val="solid"/>
          </a:ln>
        </p:spPr>
      </p:sp>
      <p:sp>
        <p:nvSpPr>
          <p:cNvPr id="12" name="Text 9"/>
          <p:cNvSpPr/>
          <p:nvPr/>
        </p:nvSpPr>
        <p:spPr>
          <a:xfrm>
            <a:off x="7150608" y="1828800"/>
            <a:ext cx="4291279" cy="292608"/>
          </a:xfrm>
          <a:prstGeom prst="rect">
            <a:avLst/>
          </a:prstGeom>
          <a:noFill/>
          <a:ln/>
        </p:spPr>
        <p:txBody>
          <a:bodyPr wrap="square" lIns="0" tIns="0" rIns="0" bIns="0" rtlCol="0" anchor="ctr"/>
          <a:lstStyle/>
          <a:p>
            <a:pPr indent="0" marL="0">
              <a:buNone/>
            </a:pPr>
            <a:r>
              <a:rPr lang="en-US" sz="1000" b="1" spc="130" kern="0" dirty="0">
                <a:solidFill>
                  <a:srgbClr val="A35604"/>
                </a:solidFill>
                <a:latin typeface="Courier New" pitchFamily="34" charset="0"/>
                <a:ea typeface="Courier New" pitchFamily="34" charset="-122"/>
                <a:cs typeface="Courier New" pitchFamily="34" charset="-120"/>
              </a:rPr>
              <a:t>DIFÍCIL DE ENCONTRAR</a:t>
            </a:r>
            <a:endParaRPr lang="en-US" sz="1000" dirty="0"/>
          </a:p>
        </p:txBody>
      </p:sp>
      <p:sp>
        <p:nvSpPr>
          <p:cNvPr id="13" name="Text 10"/>
          <p:cNvSpPr/>
          <p:nvPr/>
        </p:nvSpPr>
        <p:spPr>
          <a:xfrm>
            <a:off x="7150608" y="2139696"/>
            <a:ext cx="4291279" cy="548640"/>
          </a:xfrm>
          <a:prstGeom prst="rect">
            <a:avLst/>
          </a:prstGeom>
          <a:noFill/>
          <a:ln/>
        </p:spPr>
        <p:txBody>
          <a:bodyPr wrap="square" lIns="0" tIns="0" rIns="0" bIns="0" rtlCol="0" anchor="t"/>
          <a:lstStyle/>
          <a:p>
            <a:pPr indent="0" marL="0">
              <a:lnSpc>
                <a:spcPct val="112000"/>
              </a:lnSpc>
              <a:buNone/>
            </a:pPr>
            <a:r>
              <a:rPr lang="en-US" sz="1150" dirty="0">
                <a:solidFill>
                  <a:srgbClr val="3A3844"/>
                </a:solidFill>
                <a:latin typeface="Arial" pitchFamily="34" charset="0"/>
                <a:ea typeface="Arial" pitchFamily="34" charset="-122"/>
                <a:cs typeface="Arial" pitchFamily="34" charset="-120"/>
              </a:rPr>
              <a:t>No hay atajo: el hash es impredecible (Sesión 2). Solo queda probar, en promedio 2^bits veces.</a:t>
            </a:r>
            <a:endParaRPr lang="en-US" sz="1150" dirty="0"/>
          </a:p>
        </p:txBody>
      </p:sp>
      <p:sp>
        <p:nvSpPr>
          <p:cNvPr id="14" name="Shape 11"/>
          <p:cNvSpPr/>
          <p:nvPr/>
        </p:nvSpPr>
        <p:spPr>
          <a:xfrm>
            <a:off x="6922008" y="2852928"/>
            <a:ext cx="4702759" cy="987552"/>
          </a:xfrm>
          <a:prstGeom prst="rect">
            <a:avLst/>
          </a:prstGeom>
          <a:solidFill>
            <a:srgbClr val="FFFFFF"/>
          </a:solidFill>
          <a:ln w="15875">
            <a:solidFill>
              <a:srgbClr val="0F0F11"/>
            </a:solidFill>
            <a:prstDash val="solid"/>
          </a:ln>
        </p:spPr>
      </p:sp>
      <p:sp>
        <p:nvSpPr>
          <p:cNvPr id="15" name="Text 12"/>
          <p:cNvSpPr/>
          <p:nvPr/>
        </p:nvSpPr>
        <p:spPr>
          <a:xfrm>
            <a:off x="7150608" y="2944368"/>
            <a:ext cx="4291279" cy="292608"/>
          </a:xfrm>
          <a:prstGeom prst="rect">
            <a:avLst/>
          </a:prstGeom>
          <a:noFill/>
          <a:ln/>
        </p:spPr>
        <p:txBody>
          <a:bodyPr wrap="square" lIns="0" tIns="0" rIns="0" bIns="0" rtlCol="0" anchor="ctr"/>
          <a:lstStyle/>
          <a:p>
            <a:pPr indent="0" marL="0">
              <a:buNone/>
            </a:pPr>
            <a:r>
              <a:rPr lang="en-US" sz="1000" b="1" spc="130" kern="0" dirty="0">
                <a:solidFill>
                  <a:srgbClr val="A35604"/>
                </a:solidFill>
                <a:latin typeface="Courier New" pitchFamily="34" charset="0"/>
                <a:ea typeface="Courier New" pitchFamily="34" charset="-122"/>
                <a:cs typeface="Courier New" pitchFamily="34" charset="-120"/>
              </a:rPr>
              <a:t>TRIVIAL DE VERIFICAR</a:t>
            </a:r>
            <a:endParaRPr lang="en-US" sz="1000" dirty="0"/>
          </a:p>
        </p:txBody>
      </p:sp>
      <p:sp>
        <p:nvSpPr>
          <p:cNvPr id="16" name="Text 13"/>
          <p:cNvSpPr/>
          <p:nvPr/>
        </p:nvSpPr>
        <p:spPr>
          <a:xfrm>
            <a:off x="7150608" y="3255264"/>
            <a:ext cx="4291279" cy="548640"/>
          </a:xfrm>
          <a:prstGeom prst="rect">
            <a:avLst/>
          </a:prstGeom>
          <a:noFill/>
          <a:ln/>
        </p:spPr>
        <p:txBody>
          <a:bodyPr wrap="square" lIns="0" tIns="0" rIns="0" bIns="0" rtlCol="0" anchor="t"/>
          <a:lstStyle/>
          <a:p>
            <a:pPr indent="0" marL="0">
              <a:lnSpc>
                <a:spcPct val="112000"/>
              </a:lnSpc>
              <a:buNone/>
            </a:pPr>
            <a:r>
              <a:rPr lang="en-US" sz="1150" dirty="0">
                <a:solidFill>
                  <a:srgbClr val="3A3844"/>
                </a:solidFill>
                <a:latin typeface="Arial" pitchFamily="34" charset="0"/>
                <a:ea typeface="Arial" pitchFamily="34" charset="-122"/>
                <a:cs typeface="Arial" pitchFamily="34" charset="-120"/>
              </a:rPr>
              <a:t>Cualquier nodo recalcula un único hash y compara. Un teléfono verifica lo que costó una bodega de máquinas.</a:t>
            </a:r>
            <a:endParaRPr lang="en-US" sz="1150" dirty="0"/>
          </a:p>
        </p:txBody>
      </p:sp>
      <p:sp>
        <p:nvSpPr>
          <p:cNvPr id="17" name="Shape 14"/>
          <p:cNvSpPr/>
          <p:nvPr/>
        </p:nvSpPr>
        <p:spPr>
          <a:xfrm>
            <a:off x="6922008" y="3968496"/>
            <a:ext cx="4702759" cy="987552"/>
          </a:xfrm>
          <a:prstGeom prst="rect">
            <a:avLst/>
          </a:prstGeom>
          <a:solidFill>
            <a:srgbClr val="FFFFFF"/>
          </a:solidFill>
          <a:ln w="15875">
            <a:solidFill>
              <a:srgbClr val="0F0F11"/>
            </a:solidFill>
            <a:prstDash val="solid"/>
          </a:ln>
        </p:spPr>
      </p:sp>
      <p:sp>
        <p:nvSpPr>
          <p:cNvPr id="18" name="Text 15"/>
          <p:cNvSpPr/>
          <p:nvPr/>
        </p:nvSpPr>
        <p:spPr>
          <a:xfrm>
            <a:off x="7150608" y="4059936"/>
            <a:ext cx="4291279" cy="292608"/>
          </a:xfrm>
          <a:prstGeom prst="rect">
            <a:avLst/>
          </a:prstGeom>
          <a:noFill/>
          <a:ln/>
        </p:spPr>
        <p:txBody>
          <a:bodyPr wrap="square" lIns="0" tIns="0" rIns="0" bIns="0" rtlCol="0" anchor="ctr"/>
          <a:lstStyle/>
          <a:p>
            <a:pPr indent="0" marL="0">
              <a:buNone/>
            </a:pPr>
            <a:r>
              <a:rPr lang="en-US" sz="1000" b="1" spc="130" kern="0" dirty="0">
                <a:solidFill>
                  <a:srgbClr val="A35604"/>
                </a:solidFill>
                <a:latin typeface="Courier New" pitchFamily="34" charset="0"/>
                <a:ea typeface="Courier New" pitchFamily="34" charset="-122"/>
                <a:cs typeface="Courier New" pitchFamily="34" charset="-120"/>
              </a:rPr>
              <a:t>IMPOSIBLE DE REUSAR</a:t>
            </a:r>
            <a:endParaRPr lang="en-US" sz="1000" dirty="0"/>
          </a:p>
        </p:txBody>
      </p:sp>
      <p:sp>
        <p:nvSpPr>
          <p:cNvPr id="19" name="Text 16"/>
          <p:cNvSpPr/>
          <p:nvPr/>
        </p:nvSpPr>
        <p:spPr>
          <a:xfrm>
            <a:off x="7150608" y="4370832"/>
            <a:ext cx="4291279" cy="548640"/>
          </a:xfrm>
          <a:prstGeom prst="rect">
            <a:avLst/>
          </a:prstGeom>
          <a:noFill/>
          <a:ln/>
        </p:spPr>
        <p:txBody>
          <a:bodyPr wrap="square" lIns="0" tIns="0" rIns="0" bIns="0" rtlCol="0" anchor="t"/>
          <a:lstStyle/>
          <a:p>
            <a:pPr indent="0" marL="0">
              <a:lnSpc>
                <a:spcPct val="112000"/>
              </a:lnSpc>
              <a:buNone/>
            </a:pPr>
            <a:r>
              <a:rPr lang="en-US" sz="1150" dirty="0">
                <a:solidFill>
                  <a:srgbClr val="3A3844"/>
                </a:solidFill>
                <a:latin typeface="Arial" pitchFamily="34" charset="0"/>
                <a:ea typeface="Arial" pitchFamily="34" charset="-122"/>
                <a:cs typeface="Arial" pitchFamily="34" charset="-120"/>
              </a:rPr>
              <a:t>El nonce vale solo para ese encabezado. Cambiar una transacción cambia la raíz y obliga a empezar de cero.</a:t>
            </a:r>
            <a:endParaRPr lang="en-US" sz="1150" dirty="0"/>
          </a:p>
        </p:txBody>
      </p:sp>
      <p:sp>
        <p:nvSpPr>
          <p:cNvPr id="20" name="Text 17"/>
          <p:cNvSpPr/>
          <p:nvPr/>
        </p:nvSpPr>
        <p:spPr>
          <a:xfrm>
            <a:off x="566928" y="5257800"/>
            <a:ext cx="11057839" cy="685800"/>
          </a:xfrm>
          <a:prstGeom prst="rect">
            <a:avLst/>
          </a:prstGeom>
          <a:noFill/>
          <a:ln/>
        </p:spPr>
        <p:txBody>
          <a:bodyPr wrap="square" lIns="0" tIns="0" rIns="0" bIns="0" rtlCol="0" anchor="t"/>
          <a:lstStyle/>
          <a:p>
            <a:pPr indent="0" marL="0">
              <a:lnSpc>
                <a:spcPct val="124000"/>
              </a:lnSpc>
              <a:buNone/>
            </a:pPr>
            <a:r>
              <a:rPr lang="en-US" sz="1350" dirty="0">
                <a:solidFill>
                  <a:srgbClr val="3A3844"/>
                </a:solidFill>
                <a:latin typeface="Arial" pitchFamily="34" charset="0"/>
                <a:ea typeface="Arial" pitchFamily="34" charset="-122"/>
                <a:cs typeface="Arial" pitchFamily="34" charset="-120"/>
              </a:rPr>
              <a:t>Esa asimetría —caro de producir, barato de comprobar— es toda la idea. Es el «hashcash» de Adam Back (1997) que vimos en la Sesión 1, puesto a ordenar bloques.</a:t>
            </a:r>
            <a:endParaRPr lang="en-US" sz="1350" dirty="0"/>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name="Slide 12">
    <p:bg>
      <p:bgPr>
        <a:solidFill>
          <a:srgbClr val="FFFFFF"/>
        </a:solidFill>
      </p:bgPr>
    </p:bg>
    <p:spTree>
      <p:nvGrpSpPr>
        <p:cNvPr id="1" name=""/>
        <p:cNvGrpSpPr/>
        <p:nvPr/>
      </p:nvGrpSpPr>
      <p:grpSpPr>
        <a:xfrm>
          <a:off x="0" y="0"/>
          <a:ext cx="0" cy="0"/>
          <a:chOff x="0" y="0"/>
          <a:chExt cx="0" cy="0"/>
        </a:xfrm>
      </p:grpSpPr>
      <p:pic>
        <p:nvPicPr>
          <p:cNvPr id="2" name="Image 0" descr="preencoded.png">    </p:cNvPr>
          <p:cNvPicPr>
            <a:picLocks noChangeAspect="1"/>
          </p:cNvPicPr>
          <p:nvPr/>
        </p:nvPicPr>
        <p:blipFill>
          <a:blip r:embed="rId1"/>
          <a:stretch>
            <a:fillRect/>
          </a:stretch>
        </p:blipFill>
        <p:spPr>
          <a:xfrm>
            <a:off x="566928" y="402336"/>
            <a:ext cx="274320" cy="274320"/>
          </a:xfrm>
          <a:prstGeom prst="rect">
            <a:avLst/>
          </a:prstGeom>
        </p:spPr>
      </p:pic>
      <p:sp>
        <p:nvSpPr>
          <p:cNvPr id="3" name="Text 0"/>
          <p:cNvSpPr/>
          <p:nvPr/>
        </p:nvSpPr>
        <p:spPr>
          <a:xfrm>
            <a:off x="969264" y="384048"/>
            <a:ext cx="10655503" cy="310896"/>
          </a:xfrm>
          <a:prstGeom prst="rect">
            <a:avLst/>
          </a:prstGeom>
          <a:noFill/>
          <a:ln/>
        </p:spPr>
        <p:txBody>
          <a:bodyPr wrap="square" lIns="0" tIns="0" rIns="0" bIns="0" rtlCol="0" anchor="ctr"/>
          <a:lstStyle/>
          <a:p>
            <a:pPr indent="0" marL="0">
              <a:buNone/>
            </a:pPr>
            <a:r>
              <a:rPr lang="en-US" sz="950" spc="160" kern="0" dirty="0">
                <a:solidFill>
                  <a:srgbClr val="6F6B80"/>
                </a:solidFill>
                <a:latin typeface="Courier New" pitchFamily="34" charset="0"/>
                <a:ea typeface="Courier New" pitchFamily="34" charset="-122"/>
                <a:cs typeface="Courier New" pitchFamily="34" charset="-120"/>
              </a:rPr>
              <a:t>A.5B · PRUEBA DE TRABAJO · CON NÚMEROS REALES</a:t>
            </a:r>
            <a:endParaRPr lang="en-US" sz="950" dirty="0"/>
          </a:p>
        </p:txBody>
      </p:sp>
      <p:sp>
        <p:nvSpPr>
          <p:cNvPr id="4" name="Text 1"/>
          <p:cNvSpPr/>
          <p:nvPr/>
        </p:nvSpPr>
        <p:spPr>
          <a:xfrm>
            <a:off x="566928" y="777240"/>
            <a:ext cx="11057839" cy="777240"/>
          </a:xfrm>
          <a:prstGeom prst="rect">
            <a:avLst/>
          </a:prstGeom>
          <a:noFill/>
          <a:ln/>
        </p:spPr>
        <p:txBody>
          <a:bodyPr wrap="square" lIns="0" tIns="0" rIns="0" bIns="0" rtlCol="0" anchor="t"/>
          <a:lstStyle/>
          <a:p>
            <a:pPr indent="0" marL="0">
              <a:lnSpc>
                <a:spcPct val="92000"/>
              </a:lnSpc>
              <a:buNone/>
            </a:pPr>
            <a:r>
              <a:rPr lang="en-US" sz="2600" dirty="0">
                <a:solidFill>
                  <a:srgbClr val="0F0F11"/>
                </a:solidFill>
                <a:latin typeface="Arial Black" pitchFamily="34" charset="0"/>
                <a:ea typeface="Arial Black" pitchFamily="34" charset="-122"/>
                <a:cs typeface="Arial Black" pitchFamily="34" charset="-120"/>
              </a:rPr>
              <a:t>EL MISMO EJEMPLO, EJECUTADO DE VERDAD</a:t>
            </a:r>
            <a:endParaRPr lang="en-US" sz="2600" dirty="0"/>
          </a:p>
        </p:txBody>
      </p:sp>
      <p:sp>
        <p:nvSpPr>
          <p:cNvPr id="5" name="Text 2"/>
          <p:cNvSpPr/>
          <p:nvPr/>
        </p:nvSpPr>
        <p:spPr>
          <a:xfrm>
            <a:off x="566928" y="6291072"/>
            <a:ext cx="8412480" cy="274320"/>
          </a:xfrm>
          <a:prstGeom prst="rect">
            <a:avLst/>
          </a:prstGeom>
          <a:noFill/>
          <a:ln/>
        </p:spPr>
        <p:txBody>
          <a:bodyPr wrap="square" lIns="0" tIns="0" rIns="0" bIns="0" rtlCol="0" anchor="ctr"/>
          <a:lstStyle/>
          <a:p>
            <a:pPr indent="0" marL="0">
              <a:buNone/>
            </a:pPr>
            <a:r>
              <a:rPr lang="en-US" sz="800" spc="120" kern="0" dirty="0">
                <a:solidFill>
                  <a:srgbClr val="6F6B80"/>
                </a:solidFill>
                <a:latin typeface="Courier New" pitchFamily="34" charset="0"/>
                <a:ea typeface="Courier New" pitchFamily="34" charset="-122"/>
                <a:cs typeface="Courier New" pitchFamily="34" charset="-120"/>
              </a:rPr>
              <a:t>SESIÓN 04 · CONSENSO, INCENTIVOS Y EL TRILEMA</a:t>
            </a:r>
            <a:endParaRPr lang="en-US" sz="800" dirty="0"/>
          </a:p>
        </p:txBody>
      </p:sp>
      <p:sp>
        <p:nvSpPr>
          <p:cNvPr id="6" name="Text 3"/>
          <p:cNvSpPr/>
          <p:nvPr/>
        </p:nvSpPr>
        <p:spPr>
          <a:xfrm>
            <a:off x="9052560" y="6291072"/>
            <a:ext cx="1828800" cy="274320"/>
          </a:xfrm>
          <a:prstGeom prst="rect">
            <a:avLst/>
          </a:prstGeom>
          <a:noFill/>
          <a:ln/>
        </p:spPr>
        <p:txBody>
          <a:bodyPr wrap="square" lIns="0" tIns="0" rIns="0" bIns="0" rtlCol="0" anchor="ctr"/>
          <a:lstStyle/>
          <a:p>
            <a:pPr algn="r" indent="0" marL="0">
              <a:buNone/>
            </a:pPr>
            <a:r>
              <a:rPr lang="en-US" sz="800" spc="120" kern="0" dirty="0">
                <a:solidFill>
                  <a:srgbClr val="6F6B80"/>
                </a:solidFill>
                <a:latin typeface="Courier New" pitchFamily="34" charset="0"/>
                <a:ea typeface="Courier New" pitchFamily="34" charset="-122"/>
                <a:cs typeface="Courier New" pitchFamily="34" charset="-120"/>
              </a:rPr>
              <a:t>USB MEDELLÍN</a:t>
            </a:r>
            <a:endParaRPr lang="en-US" sz="800" dirty="0"/>
          </a:p>
        </p:txBody>
      </p:sp>
      <p:sp>
        <p:nvSpPr>
          <p:cNvPr id="7" name="Text 4"/>
          <p:cNvSpPr/>
          <p:nvPr/>
        </p:nvSpPr>
        <p:spPr>
          <a:xfrm>
            <a:off x="11018520" y="6291072"/>
            <a:ext cx="603504" cy="274320"/>
          </a:xfrm>
          <a:prstGeom prst="rect">
            <a:avLst/>
          </a:prstGeom>
          <a:noFill/>
          <a:ln/>
        </p:spPr>
        <p:txBody>
          <a:bodyPr wrap="square" lIns="0" tIns="0" rIns="0" bIns="0" rtlCol="0" anchor="ctr"/>
          <a:lstStyle/>
          <a:p>
            <a:pPr algn="r" indent="0" marL="0">
              <a:buNone/>
            </a:pPr>
            <a:r>
              <a:rPr lang="en-US" sz="900" b="1" dirty="0">
                <a:solidFill>
                  <a:srgbClr val="0F0F11"/>
                </a:solidFill>
                <a:latin typeface="Courier New" pitchFamily="34" charset="0"/>
                <a:ea typeface="Courier New" pitchFamily="34" charset="-122"/>
                <a:cs typeface="Courier New" pitchFamily="34" charset="-120"/>
              </a:rPr>
              <a:t>12</a:t>
            </a:r>
            <a:endParaRPr lang="en-US" sz="900" dirty="0"/>
          </a:p>
        </p:txBody>
      </p:sp>
      <p:sp>
        <p:nvSpPr>
          <p:cNvPr id="8" name="Text 5"/>
          <p:cNvSpPr/>
          <p:nvPr/>
        </p:nvSpPr>
        <p:spPr>
          <a:xfrm>
            <a:off x="566928" y="1691640"/>
            <a:ext cx="11057839" cy="640080"/>
          </a:xfrm>
          <a:prstGeom prst="rect">
            <a:avLst/>
          </a:prstGeom>
          <a:noFill/>
          <a:ln/>
        </p:spPr>
        <p:txBody>
          <a:bodyPr wrap="square" lIns="0" tIns="0" rIns="0" bIns="0" rtlCol="0" anchor="t"/>
          <a:lstStyle/>
          <a:p>
            <a:pPr indent="0" marL="0">
              <a:lnSpc>
                <a:spcPct val="124000"/>
              </a:lnSpc>
              <a:buNone/>
            </a:pPr>
            <a:r>
              <a:rPr lang="en-US" sz="1350" dirty="0">
                <a:solidFill>
                  <a:srgbClr val="3A3844"/>
                </a:solidFill>
                <a:latin typeface="Arial" pitchFamily="34" charset="0"/>
                <a:ea typeface="Arial" pitchFamily="34" charset="-122"/>
                <a:cs typeface="Arial" pitchFamily="34" charset="-120"/>
              </a:rPr>
              <a:t>Pongámoslo a correr. Dificultad de 8 bits: el hash gana si empieza por «00» en hexadecimal (los primeros 8 bits en cero). El encabezado es fijo; lo único que cambia es el nonce.</a:t>
            </a:r>
            <a:endParaRPr lang="en-US" sz="1350" dirty="0"/>
          </a:p>
        </p:txBody>
      </p:sp>
      <p:sp>
        <p:nvSpPr>
          <p:cNvPr id="9" name="Shape 6"/>
          <p:cNvSpPr/>
          <p:nvPr/>
        </p:nvSpPr>
        <p:spPr>
          <a:xfrm>
            <a:off x="566928" y="2468880"/>
            <a:ext cx="7040880" cy="2606040"/>
          </a:xfrm>
          <a:prstGeom prst="rect">
            <a:avLst/>
          </a:prstGeom>
          <a:solidFill>
            <a:srgbClr val="16151B"/>
          </a:solidFill>
          <a:ln w="22225">
            <a:solidFill>
              <a:srgbClr val="16151B"/>
            </a:solidFill>
            <a:prstDash val="solid"/>
          </a:ln>
        </p:spPr>
      </p:sp>
      <p:sp>
        <p:nvSpPr>
          <p:cNvPr id="10" name="Text 7"/>
          <p:cNvSpPr/>
          <p:nvPr/>
        </p:nvSpPr>
        <p:spPr>
          <a:xfrm>
            <a:off x="768096" y="2542032"/>
            <a:ext cx="6638544" cy="274320"/>
          </a:xfrm>
          <a:prstGeom prst="rect">
            <a:avLst/>
          </a:prstGeom>
          <a:noFill/>
          <a:ln/>
        </p:spPr>
        <p:txBody>
          <a:bodyPr wrap="square" lIns="0" tIns="0" rIns="0" bIns="0" rtlCol="0" anchor="ctr"/>
          <a:lstStyle/>
          <a:p>
            <a:pPr indent="0" marL="0">
              <a:buNone/>
            </a:pPr>
            <a:r>
              <a:rPr lang="en-US" sz="850" b="1" spc="140" kern="0" dirty="0">
                <a:solidFill>
                  <a:srgbClr val="8B8697"/>
                </a:solidFill>
                <a:latin typeface="Courier New" pitchFamily="34" charset="0"/>
                <a:ea typeface="Courier New" pitchFamily="34" charset="-122"/>
                <a:cs typeface="Courier New" pitchFamily="34" charset="-120"/>
              </a:rPr>
              <a:t>BÚSQUEDA REAL DEL NONCE</a:t>
            </a:r>
            <a:endParaRPr lang="en-US" sz="850" dirty="0"/>
          </a:p>
        </p:txBody>
      </p:sp>
      <p:sp>
        <p:nvSpPr>
          <p:cNvPr id="11" name="Text 8"/>
          <p:cNvSpPr/>
          <p:nvPr/>
        </p:nvSpPr>
        <p:spPr>
          <a:xfrm>
            <a:off x="768096" y="2852928"/>
            <a:ext cx="6638544" cy="2112264"/>
          </a:xfrm>
          <a:prstGeom prst="rect">
            <a:avLst/>
          </a:prstGeom>
          <a:noFill/>
          <a:ln/>
        </p:spPr>
        <p:txBody>
          <a:bodyPr wrap="square" lIns="0" tIns="0" rIns="0" bIns="0" rtlCol="0" anchor="t"/>
          <a:lstStyle/>
          <a:p>
            <a:pPr indent="0" marL="0">
              <a:lnSpc>
                <a:spcPct val="112000"/>
              </a:lnSpc>
              <a:buNone/>
            </a:pPr>
            <a:r>
              <a:rPr lang="en-US" sz="1100" dirty="0">
                <a:solidFill>
                  <a:srgbClr val="F4F2F7"/>
                </a:solidFill>
                <a:latin typeface="Courier New" pitchFamily="34" charset="0"/>
                <a:ea typeface="Courier New" pitchFamily="34" charset="-122"/>
                <a:cs typeface="Courier New" pitchFamily="34" charset="-120"/>
              </a:rPr>
              <a:t>sha256</a:t>
            </a:r>
            <a:pPr indent="0" marL="0">
              <a:lnSpc>
                <a:spcPct val="112000"/>
              </a:lnSpc>
              <a:buNone/>
            </a:pPr>
            <a:r>
              <a:rPr lang="en-US" sz="1100" dirty="0">
                <a:solidFill>
                  <a:srgbClr val="F4F2F7"/>
                </a:solidFill>
                <a:latin typeface="Courier New" pitchFamily="34" charset="0"/>
                <a:ea typeface="Courier New" pitchFamily="34" charset="-122"/>
                <a:cs typeface="Courier New" pitchFamily="34" charset="-120"/>
              </a:rPr>
              <a:t>(</a:t>
            </a:r>
            <a:pPr indent="0" marL="0">
              <a:lnSpc>
                <a:spcPct val="112000"/>
              </a:lnSpc>
              <a:buNone/>
            </a:pPr>
            <a:r>
              <a:rPr lang="en-US" sz="1100" dirty="0">
                <a:solidFill>
                  <a:srgbClr val="FFA41B"/>
                </a:solidFill>
                <a:latin typeface="Courier New" pitchFamily="34" charset="0"/>
                <a:ea typeface="Courier New" pitchFamily="34" charset="-122"/>
                <a:cs typeface="Courier New" pitchFamily="34" charset="-120"/>
              </a:rPr>
              <a:t>"USB-bloque-101|"</a:t>
            </a:r>
            <a:pPr indent="0" marL="0">
              <a:lnSpc>
                <a:spcPct val="112000"/>
              </a:lnSpc>
              <a:buNone/>
            </a:pPr>
            <a:r>
              <a:rPr lang="en-US" sz="1100" dirty="0">
                <a:solidFill>
                  <a:srgbClr val="F4F2F7"/>
                </a:solidFill>
                <a:latin typeface="Courier New" pitchFamily="34" charset="0"/>
                <a:ea typeface="Courier New" pitchFamily="34" charset="-122"/>
                <a:cs typeface="Courier New" pitchFamily="34" charset="-120"/>
              </a:rPr>
              <a:t> </a:t>
            </a:r>
            <a:pPr indent="0" marL="0">
              <a:lnSpc>
                <a:spcPct val="112000"/>
              </a:lnSpc>
              <a:buNone/>
            </a:pPr>
            <a:r>
              <a:rPr lang="en-US" sz="1100" dirty="0">
                <a:solidFill>
                  <a:srgbClr val="F4F2F7"/>
                </a:solidFill>
                <a:latin typeface="Courier New" pitchFamily="34" charset="0"/>
                <a:ea typeface="Courier New" pitchFamily="34" charset="-122"/>
                <a:cs typeface="Courier New" pitchFamily="34" charset="-120"/>
              </a:rPr>
              <a:t>+</a:t>
            </a:r>
            <a:pPr indent="0" marL="0">
              <a:lnSpc>
                <a:spcPct val="112000"/>
              </a:lnSpc>
              <a:buNone/>
            </a:pPr>
            <a:r>
              <a:rPr lang="en-US" sz="1100" dirty="0">
                <a:solidFill>
                  <a:srgbClr val="F4F2F7"/>
                </a:solidFill>
                <a:latin typeface="Courier New" pitchFamily="34" charset="0"/>
                <a:ea typeface="Courier New" pitchFamily="34" charset="-122"/>
                <a:cs typeface="Courier New" pitchFamily="34" charset="-120"/>
              </a:rPr>
              <a:t> </a:t>
            </a:r>
            <a:pPr indent="0" marL="0">
              <a:lnSpc>
                <a:spcPct val="112000"/>
              </a:lnSpc>
              <a:buNone/>
            </a:pPr>
            <a:r>
              <a:rPr lang="en-US" sz="1100" dirty="0">
                <a:solidFill>
                  <a:srgbClr val="F4F2F7"/>
                </a:solidFill>
                <a:latin typeface="Courier New" pitchFamily="34" charset="0"/>
                <a:ea typeface="Courier New" pitchFamily="34" charset="-122"/>
                <a:cs typeface="Courier New" pitchFamily="34" charset="-120"/>
              </a:rPr>
              <a:t>nonce</a:t>
            </a:r>
            <a:pPr indent="0" marL="0">
              <a:lnSpc>
                <a:spcPct val="112000"/>
              </a:lnSpc>
              <a:buNone/>
            </a:pPr>
            <a:r>
              <a:rPr lang="en-US" sz="1100" dirty="0">
                <a:solidFill>
                  <a:srgbClr val="F4F2F7"/>
                </a:solidFill>
                <a:latin typeface="Courier New" pitchFamily="34" charset="0"/>
                <a:ea typeface="Courier New" pitchFamily="34" charset="-122"/>
                <a:cs typeface="Courier New" pitchFamily="34" charset="-120"/>
              </a:rPr>
              <a:t>)</a:t>
            </a:r>
            <a:endParaRPr lang="en-US" sz="1100" dirty="0"/>
          </a:p>
          <a:p>
            <a:pPr indent="0" marL="0">
              <a:lnSpc>
                <a:spcPct val="112000"/>
              </a:lnSpc>
              <a:buNone/>
            </a:pPr>
            <a:r>
              <a:rPr lang="en-US" sz="1100" dirty="0">
                <a:solidFill>
                  <a:srgbClr val="F4F2F7"/>
                </a:solidFill>
                <a:latin typeface="Courier New" pitchFamily="34" charset="0"/>
                <a:ea typeface="Courier New" pitchFamily="34" charset="-122"/>
                <a:cs typeface="Courier New" pitchFamily="34" charset="-120"/>
              </a:rPr>
              <a:t> </a:t>
            </a:r>
            <a:endParaRPr lang="en-US" sz="1100" dirty="0"/>
          </a:p>
          <a:p>
            <a:pPr indent="0" marL="0">
              <a:lnSpc>
                <a:spcPct val="112000"/>
              </a:lnSpc>
              <a:buNone/>
            </a:pPr>
            <a:r>
              <a:rPr lang="en-US" sz="1100" dirty="0">
                <a:solidFill>
                  <a:srgbClr val="F4F2F7"/>
                </a:solidFill>
                <a:latin typeface="Courier New" pitchFamily="34" charset="0"/>
                <a:ea typeface="Courier New" pitchFamily="34" charset="-122"/>
                <a:cs typeface="Courier New" pitchFamily="34" charset="-120"/>
              </a:rPr>
              <a:t>nonce</a:t>
            </a:r>
            <a:pPr indent="0" marL="0">
              <a:lnSpc>
                <a:spcPct val="112000"/>
              </a:lnSpc>
              <a:buNone/>
            </a:pPr>
            <a:r>
              <a:rPr lang="en-US" sz="1100" dirty="0">
                <a:solidFill>
                  <a:srgbClr val="F4F2F7"/>
                </a:solidFill>
                <a:latin typeface="Courier New" pitchFamily="34" charset="0"/>
                <a:ea typeface="Courier New" pitchFamily="34" charset="-122"/>
                <a:cs typeface="Courier New" pitchFamily="34" charset="-120"/>
              </a:rPr>
              <a:t> </a:t>
            </a:r>
            <a:pPr indent="0" marL="0">
              <a:lnSpc>
                <a:spcPct val="112000"/>
              </a:lnSpc>
              <a:buNone/>
            </a:pPr>
            <a:r>
              <a:rPr lang="en-US" sz="1100" dirty="0">
                <a:solidFill>
                  <a:srgbClr val="F4F2F7"/>
                </a:solidFill>
                <a:latin typeface="Courier New" pitchFamily="34" charset="0"/>
                <a:ea typeface="Courier New" pitchFamily="34" charset="-122"/>
                <a:cs typeface="Courier New" pitchFamily="34" charset="-120"/>
              </a:rPr>
              <a:t>=</a:t>
            </a:r>
            <a:pPr indent="0" marL="0">
              <a:lnSpc>
                <a:spcPct val="112000"/>
              </a:lnSpc>
              <a:buNone/>
            </a:pPr>
            <a:r>
              <a:rPr lang="en-US" sz="1100" dirty="0">
                <a:solidFill>
                  <a:srgbClr val="F4F2F7"/>
                </a:solidFill>
                <a:latin typeface="Courier New" pitchFamily="34" charset="0"/>
                <a:ea typeface="Courier New" pitchFamily="34" charset="-122"/>
                <a:cs typeface="Courier New" pitchFamily="34" charset="-120"/>
              </a:rPr>
              <a:t> </a:t>
            </a:r>
            <a:pPr indent="0" marL="0">
              <a:lnSpc>
                <a:spcPct val="112000"/>
              </a:lnSpc>
              <a:buNone/>
            </a:pPr>
            <a:r>
              <a:rPr lang="en-US" sz="1100" dirty="0">
                <a:solidFill>
                  <a:srgbClr val="FFA41B"/>
                </a:solidFill>
                <a:latin typeface="Courier New" pitchFamily="34" charset="0"/>
                <a:ea typeface="Courier New" pitchFamily="34" charset="-122"/>
                <a:cs typeface="Courier New" pitchFamily="34" charset="-120"/>
              </a:rPr>
              <a:t>0</a:t>
            </a:r>
            <a:pPr indent="0" marL="0">
              <a:lnSpc>
                <a:spcPct val="112000"/>
              </a:lnSpc>
              <a:buNone/>
            </a:pPr>
            <a:r>
              <a:rPr lang="en-US" sz="1100" dirty="0">
                <a:solidFill>
                  <a:srgbClr val="F4F2F7"/>
                </a:solidFill>
                <a:latin typeface="Courier New" pitchFamily="34" charset="0"/>
                <a:ea typeface="Courier New" pitchFamily="34" charset="-122"/>
                <a:cs typeface="Courier New" pitchFamily="34" charset="-120"/>
              </a:rPr>
              <a:t>   </a:t>
            </a:r>
            <a:pPr indent="0" marL="0">
              <a:lnSpc>
                <a:spcPct val="112000"/>
              </a:lnSpc>
              <a:buNone/>
            </a:pPr>
            <a:r>
              <a:rPr lang="en-US" sz="1100" dirty="0">
                <a:solidFill>
                  <a:srgbClr val="F4F2F7"/>
                </a:solidFill>
                <a:latin typeface="Courier New" pitchFamily="34" charset="0"/>
                <a:ea typeface="Courier New" pitchFamily="34" charset="-122"/>
                <a:cs typeface="Courier New" pitchFamily="34" charset="-120"/>
              </a:rPr>
              <a:t>-</a:t>
            </a:r>
            <a:pPr indent="0" marL="0">
              <a:lnSpc>
                <a:spcPct val="112000"/>
              </a:lnSpc>
              <a:buNone/>
            </a:pPr>
            <a:r>
              <a:rPr lang="en-US" sz="1100" dirty="0">
                <a:solidFill>
                  <a:srgbClr val="F4F2F7"/>
                </a:solidFill>
                <a:latin typeface="Courier New" pitchFamily="34" charset="0"/>
                <a:ea typeface="Courier New" pitchFamily="34" charset="-122"/>
                <a:cs typeface="Courier New" pitchFamily="34" charset="-120"/>
              </a:rPr>
              <a:t>&gt;</a:t>
            </a:r>
            <a:pPr indent="0" marL="0">
              <a:lnSpc>
                <a:spcPct val="112000"/>
              </a:lnSpc>
              <a:buNone/>
            </a:pPr>
            <a:r>
              <a:rPr lang="en-US" sz="1100" dirty="0">
                <a:solidFill>
                  <a:srgbClr val="F4F2F7"/>
                </a:solidFill>
                <a:latin typeface="Courier New" pitchFamily="34" charset="0"/>
                <a:ea typeface="Courier New" pitchFamily="34" charset="-122"/>
                <a:cs typeface="Courier New" pitchFamily="34" charset="-120"/>
              </a:rPr>
              <a:t>  </a:t>
            </a:r>
            <a:pPr indent="0" marL="0">
              <a:lnSpc>
                <a:spcPct val="112000"/>
              </a:lnSpc>
              <a:buNone/>
            </a:pPr>
            <a:r>
              <a:rPr lang="en-US" sz="1100" dirty="0">
                <a:solidFill>
                  <a:srgbClr val="FFA41B"/>
                </a:solidFill>
                <a:latin typeface="Courier New" pitchFamily="34" charset="0"/>
                <a:ea typeface="Courier New" pitchFamily="34" charset="-122"/>
                <a:cs typeface="Courier New" pitchFamily="34" charset="-120"/>
              </a:rPr>
              <a:t>4281</a:t>
            </a:r>
            <a:pPr indent="0" marL="0">
              <a:lnSpc>
                <a:spcPct val="112000"/>
              </a:lnSpc>
              <a:buNone/>
            </a:pPr>
            <a:r>
              <a:rPr lang="en-US" sz="1100" dirty="0">
                <a:solidFill>
                  <a:srgbClr val="F4F2F7"/>
                </a:solidFill>
                <a:latin typeface="Courier New" pitchFamily="34" charset="0"/>
                <a:ea typeface="Courier New" pitchFamily="34" charset="-122"/>
                <a:cs typeface="Courier New" pitchFamily="34" charset="-120"/>
              </a:rPr>
              <a:t>b7665d49d7dc</a:t>
            </a:r>
            <a:pPr indent="0" marL="0">
              <a:lnSpc>
                <a:spcPct val="112000"/>
              </a:lnSpc>
              <a:buNone/>
            </a:pPr>
            <a:r>
              <a:rPr lang="en-US" sz="1100" dirty="0">
                <a:solidFill>
                  <a:srgbClr val="F4F2F7"/>
                </a:solidFill>
                <a:latin typeface="Courier New" pitchFamily="34" charset="0"/>
                <a:ea typeface="Courier New" pitchFamily="34" charset="-122"/>
                <a:cs typeface="Courier New" pitchFamily="34" charset="-120"/>
              </a:rPr>
              <a:t>.</a:t>
            </a:r>
            <a:pPr indent="0" marL="0">
              <a:lnSpc>
                <a:spcPct val="112000"/>
              </a:lnSpc>
              <a:buNone/>
            </a:pPr>
            <a:r>
              <a:rPr lang="en-US" sz="1100" dirty="0">
                <a:solidFill>
                  <a:srgbClr val="F4F2F7"/>
                </a:solidFill>
                <a:latin typeface="Courier New" pitchFamily="34" charset="0"/>
                <a:ea typeface="Courier New" pitchFamily="34" charset="-122"/>
                <a:cs typeface="Courier New" pitchFamily="34" charset="-120"/>
              </a:rPr>
              <a:t>.</a:t>
            </a:r>
            <a:pPr indent="0" marL="0">
              <a:lnSpc>
                <a:spcPct val="112000"/>
              </a:lnSpc>
              <a:buNone/>
            </a:pPr>
            <a:r>
              <a:rPr lang="en-US" sz="1100" dirty="0">
                <a:solidFill>
                  <a:srgbClr val="F4F2F7"/>
                </a:solidFill>
                <a:latin typeface="Courier New" pitchFamily="34" charset="0"/>
                <a:ea typeface="Courier New" pitchFamily="34" charset="-122"/>
                <a:cs typeface="Courier New" pitchFamily="34" charset="-120"/>
              </a:rPr>
              <a:t>.</a:t>
            </a:r>
            <a:pPr indent="0" marL="0">
              <a:lnSpc>
                <a:spcPct val="112000"/>
              </a:lnSpc>
              <a:buNone/>
            </a:pPr>
            <a:r>
              <a:rPr lang="en-US" sz="1100" dirty="0">
                <a:solidFill>
                  <a:srgbClr val="F4F2F7"/>
                </a:solidFill>
                <a:latin typeface="Courier New" pitchFamily="34" charset="0"/>
                <a:ea typeface="Courier New" pitchFamily="34" charset="-122"/>
                <a:cs typeface="Courier New" pitchFamily="34" charset="-120"/>
              </a:rPr>
              <a:t>   </a:t>
            </a:r>
            <a:pPr indent="0" marL="0">
              <a:lnSpc>
                <a:spcPct val="112000"/>
              </a:lnSpc>
              <a:buNone/>
            </a:pPr>
            <a:r>
              <a:rPr lang="en-US" sz="1100" dirty="0">
                <a:solidFill>
                  <a:srgbClr val="F4F2F7"/>
                </a:solidFill>
                <a:latin typeface="Courier New" pitchFamily="34" charset="0"/>
                <a:ea typeface="Courier New" pitchFamily="34" charset="-122"/>
                <a:cs typeface="Courier New" pitchFamily="34" charset="-120"/>
              </a:rPr>
              <a:t>empieza</a:t>
            </a:r>
            <a:pPr indent="0" marL="0">
              <a:lnSpc>
                <a:spcPct val="112000"/>
              </a:lnSpc>
              <a:buNone/>
            </a:pPr>
            <a:r>
              <a:rPr lang="en-US" sz="1100" dirty="0">
                <a:solidFill>
                  <a:srgbClr val="F4F2F7"/>
                </a:solidFill>
                <a:latin typeface="Courier New" pitchFamily="34" charset="0"/>
                <a:ea typeface="Courier New" pitchFamily="34" charset="-122"/>
                <a:cs typeface="Courier New" pitchFamily="34" charset="-120"/>
              </a:rPr>
              <a:t> </a:t>
            </a:r>
            <a:pPr indent="0" marL="0">
              <a:lnSpc>
                <a:spcPct val="112000"/>
              </a:lnSpc>
              <a:buNone/>
            </a:pPr>
            <a:r>
              <a:rPr lang="en-US" sz="1100" dirty="0">
                <a:solidFill>
                  <a:srgbClr val="F4F2F7"/>
                </a:solidFill>
                <a:latin typeface="Courier New" pitchFamily="34" charset="0"/>
                <a:ea typeface="Courier New" pitchFamily="34" charset="-122"/>
                <a:cs typeface="Courier New" pitchFamily="34" charset="-120"/>
              </a:rPr>
              <a:t>por</a:t>
            </a:r>
            <a:pPr indent="0" marL="0">
              <a:lnSpc>
                <a:spcPct val="112000"/>
              </a:lnSpc>
              <a:buNone/>
            </a:pPr>
            <a:r>
              <a:rPr lang="en-US" sz="1100" dirty="0">
                <a:solidFill>
                  <a:srgbClr val="F4F2F7"/>
                </a:solidFill>
                <a:latin typeface="Courier New" pitchFamily="34" charset="0"/>
                <a:ea typeface="Courier New" pitchFamily="34" charset="-122"/>
                <a:cs typeface="Courier New" pitchFamily="34" charset="-120"/>
              </a:rPr>
              <a:t> </a:t>
            </a:r>
            <a:pPr indent="0" marL="0">
              <a:lnSpc>
                <a:spcPct val="112000"/>
              </a:lnSpc>
              <a:buNone/>
            </a:pPr>
            <a:r>
              <a:rPr lang="en-US" sz="1100" dirty="0">
                <a:solidFill>
                  <a:srgbClr val="FFA41B"/>
                </a:solidFill>
                <a:latin typeface="Courier New" pitchFamily="34" charset="0"/>
                <a:ea typeface="Courier New" pitchFamily="34" charset="-122"/>
                <a:cs typeface="Courier New" pitchFamily="34" charset="-120"/>
              </a:rPr>
              <a:t>42</a:t>
            </a:r>
            <a:pPr indent="0" marL="0">
              <a:lnSpc>
                <a:spcPct val="112000"/>
              </a:lnSpc>
              <a:buNone/>
            </a:pPr>
            <a:r>
              <a:rPr lang="en-US" sz="1100" dirty="0">
                <a:solidFill>
                  <a:srgbClr val="F4F2F7"/>
                </a:solidFill>
                <a:latin typeface="Courier New" pitchFamily="34" charset="0"/>
                <a:ea typeface="Courier New" pitchFamily="34" charset="-122"/>
                <a:cs typeface="Courier New" pitchFamily="34" charset="-120"/>
              </a:rPr>
              <a:t>   </a:t>
            </a:r>
            <a:pPr indent="0" marL="0">
              <a:lnSpc>
                <a:spcPct val="112000"/>
              </a:lnSpc>
              <a:buNone/>
            </a:pPr>
            <a:r>
              <a:rPr lang="en-US" sz="1100" dirty="0">
                <a:solidFill>
                  <a:srgbClr val="F4F2F7"/>
                </a:solidFill>
                <a:latin typeface="Courier New" pitchFamily="34" charset="0"/>
                <a:ea typeface="Courier New" pitchFamily="34" charset="-122"/>
                <a:cs typeface="Courier New" pitchFamily="34" charset="-120"/>
              </a:rPr>
              <a:t>NO</a:t>
            </a:r>
            <a:pPr indent="0" marL="0">
              <a:lnSpc>
                <a:spcPct val="112000"/>
              </a:lnSpc>
              <a:buNone/>
            </a:pPr>
            <a:r>
              <a:rPr lang="en-US" sz="1100" dirty="0">
                <a:solidFill>
                  <a:srgbClr val="F4F2F7"/>
                </a:solidFill>
                <a:latin typeface="Courier New" pitchFamily="34" charset="0"/>
                <a:ea typeface="Courier New" pitchFamily="34" charset="-122"/>
                <a:cs typeface="Courier New" pitchFamily="34" charset="-120"/>
              </a:rPr>
              <a:t> </a:t>
            </a:r>
            <a:pPr indent="0" marL="0">
              <a:lnSpc>
                <a:spcPct val="112000"/>
              </a:lnSpc>
              <a:buNone/>
            </a:pPr>
            <a:r>
              <a:rPr lang="en-US" sz="1100" dirty="0">
                <a:solidFill>
                  <a:srgbClr val="F4F2F7"/>
                </a:solidFill>
                <a:latin typeface="Courier New" pitchFamily="34" charset="0"/>
                <a:ea typeface="Courier New" pitchFamily="34" charset="-122"/>
                <a:cs typeface="Courier New" pitchFamily="34" charset="-120"/>
              </a:rPr>
              <a:t>sirve</a:t>
            </a:r>
            <a:endParaRPr lang="en-US" sz="1100" dirty="0"/>
          </a:p>
          <a:p>
            <a:pPr indent="0" marL="0">
              <a:lnSpc>
                <a:spcPct val="112000"/>
              </a:lnSpc>
              <a:buNone/>
            </a:pPr>
            <a:r>
              <a:rPr lang="en-US" sz="1100" dirty="0">
                <a:solidFill>
                  <a:srgbClr val="F4F2F7"/>
                </a:solidFill>
                <a:latin typeface="Courier New" pitchFamily="34" charset="0"/>
                <a:ea typeface="Courier New" pitchFamily="34" charset="-122"/>
                <a:cs typeface="Courier New" pitchFamily="34" charset="-120"/>
              </a:rPr>
              <a:t>nonce</a:t>
            </a:r>
            <a:pPr indent="0" marL="0">
              <a:lnSpc>
                <a:spcPct val="112000"/>
              </a:lnSpc>
              <a:buNone/>
            </a:pPr>
            <a:r>
              <a:rPr lang="en-US" sz="1100" dirty="0">
                <a:solidFill>
                  <a:srgbClr val="F4F2F7"/>
                </a:solidFill>
                <a:latin typeface="Courier New" pitchFamily="34" charset="0"/>
                <a:ea typeface="Courier New" pitchFamily="34" charset="-122"/>
                <a:cs typeface="Courier New" pitchFamily="34" charset="-120"/>
              </a:rPr>
              <a:t> </a:t>
            </a:r>
            <a:pPr indent="0" marL="0">
              <a:lnSpc>
                <a:spcPct val="112000"/>
              </a:lnSpc>
              <a:buNone/>
            </a:pPr>
            <a:r>
              <a:rPr lang="en-US" sz="1100" dirty="0">
                <a:solidFill>
                  <a:srgbClr val="F4F2F7"/>
                </a:solidFill>
                <a:latin typeface="Courier New" pitchFamily="34" charset="0"/>
                <a:ea typeface="Courier New" pitchFamily="34" charset="-122"/>
                <a:cs typeface="Courier New" pitchFamily="34" charset="-120"/>
              </a:rPr>
              <a:t>=</a:t>
            </a:r>
            <a:pPr indent="0" marL="0">
              <a:lnSpc>
                <a:spcPct val="112000"/>
              </a:lnSpc>
              <a:buNone/>
            </a:pPr>
            <a:r>
              <a:rPr lang="en-US" sz="1100" dirty="0">
                <a:solidFill>
                  <a:srgbClr val="F4F2F7"/>
                </a:solidFill>
                <a:latin typeface="Courier New" pitchFamily="34" charset="0"/>
                <a:ea typeface="Courier New" pitchFamily="34" charset="-122"/>
                <a:cs typeface="Courier New" pitchFamily="34" charset="-120"/>
              </a:rPr>
              <a:t> </a:t>
            </a:r>
            <a:pPr indent="0" marL="0">
              <a:lnSpc>
                <a:spcPct val="112000"/>
              </a:lnSpc>
              <a:buNone/>
            </a:pPr>
            <a:r>
              <a:rPr lang="en-US" sz="1100" dirty="0">
                <a:solidFill>
                  <a:srgbClr val="FFA41B"/>
                </a:solidFill>
                <a:latin typeface="Courier New" pitchFamily="34" charset="0"/>
                <a:ea typeface="Courier New" pitchFamily="34" charset="-122"/>
                <a:cs typeface="Courier New" pitchFamily="34" charset="-120"/>
              </a:rPr>
              <a:t>1</a:t>
            </a:r>
            <a:pPr indent="0" marL="0">
              <a:lnSpc>
                <a:spcPct val="112000"/>
              </a:lnSpc>
              <a:buNone/>
            </a:pPr>
            <a:r>
              <a:rPr lang="en-US" sz="1100" dirty="0">
                <a:solidFill>
                  <a:srgbClr val="F4F2F7"/>
                </a:solidFill>
                <a:latin typeface="Courier New" pitchFamily="34" charset="0"/>
                <a:ea typeface="Courier New" pitchFamily="34" charset="-122"/>
                <a:cs typeface="Courier New" pitchFamily="34" charset="-120"/>
              </a:rPr>
              <a:t>   </a:t>
            </a:r>
            <a:pPr indent="0" marL="0">
              <a:lnSpc>
                <a:spcPct val="112000"/>
              </a:lnSpc>
              <a:buNone/>
            </a:pPr>
            <a:r>
              <a:rPr lang="en-US" sz="1100" dirty="0">
                <a:solidFill>
                  <a:srgbClr val="F4F2F7"/>
                </a:solidFill>
                <a:latin typeface="Courier New" pitchFamily="34" charset="0"/>
                <a:ea typeface="Courier New" pitchFamily="34" charset="-122"/>
                <a:cs typeface="Courier New" pitchFamily="34" charset="-120"/>
              </a:rPr>
              <a:t>-</a:t>
            </a:r>
            <a:pPr indent="0" marL="0">
              <a:lnSpc>
                <a:spcPct val="112000"/>
              </a:lnSpc>
              <a:buNone/>
            </a:pPr>
            <a:r>
              <a:rPr lang="en-US" sz="1100" dirty="0">
                <a:solidFill>
                  <a:srgbClr val="F4F2F7"/>
                </a:solidFill>
                <a:latin typeface="Courier New" pitchFamily="34" charset="0"/>
                <a:ea typeface="Courier New" pitchFamily="34" charset="-122"/>
                <a:cs typeface="Courier New" pitchFamily="34" charset="-120"/>
              </a:rPr>
              <a:t>&gt;</a:t>
            </a:r>
            <a:pPr indent="0" marL="0">
              <a:lnSpc>
                <a:spcPct val="112000"/>
              </a:lnSpc>
              <a:buNone/>
            </a:pPr>
            <a:r>
              <a:rPr lang="en-US" sz="1100" dirty="0">
                <a:solidFill>
                  <a:srgbClr val="F4F2F7"/>
                </a:solidFill>
                <a:latin typeface="Courier New" pitchFamily="34" charset="0"/>
                <a:ea typeface="Courier New" pitchFamily="34" charset="-122"/>
                <a:cs typeface="Courier New" pitchFamily="34" charset="-120"/>
              </a:rPr>
              <a:t>  </a:t>
            </a:r>
            <a:pPr indent="0" marL="0">
              <a:lnSpc>
                <a:spcPct val="112000"/>
              </a:lnSpc>
              <a:buNone/>
            </a:pPr>
            <a:r>
              <a:rPr lang="en-US" sz="1100" dirty="0">
                <a:solidFill>
                  <a:srgbClr val="F4F2F7"/>
                </a:solidFill>
                <a:latin typeface="Courier New" pitchFamily="34" charset="0"/>
                <a:ea typeface="Courier New" pitchFamily="34" charset="-122"/>
                <a:cs typeface="Courier New" pitchFamily="34" charset="-120"/>
              </a:rPr>
              <a:t>ba4342581e4161a3</a:t>
            </a:r>
            <a:pPr indent="0" marL="0">
              <a:lnSpc>
                <a:spcPct val="112000"/>
              </a:lnSpc>
              <a:buNone/>
            </a:pPr>
            <a:r>
              <a:rPr lang="en-US" sz="1100" dirty="0">
                <a:solidFill>
                  <a:srgbClr val="F4F2F7"/>
                </a:solidFill>
                <a:latin typeface="Courier New" pitchFamily="34" charset="0"/>
                <a:ea typeface="Courier New" pitchFamily="34" charset="-122"/>
                <a:cs typeface="Courier New" pitchFamily="34" charset="-120"/>
              </a:rPr>
              <a:t>.</a:t>
            </a:r>
            <a:pPr indent="0" marL="0">
              <a:lnSpc>
                <a:spcPct val="112000"/>
              </a:lnSpc>
              <a:buNone/>
            </a:pPr>
            <a:r>
              <a:rPr lang="en-US" sz="1100" dirty="0">
                <a:solidFill>
                  <a:srgbClr val="F4F2F7"/>
                </a:solidFill>
                <a:latin typeface="Courier New" pitchFamily="34" charset="0"/>
                <a:ea typeface="Courier New" pitchFamily="34" charset="-122"/>
                <a:cs typeface="Courier New" pitchFamily="34" charset="-120"/>
              </a:rPr>
              <a:t>.</a:t>
            </a:r>
            <a:pPr indent="0" marL="0">
              <a:lnSpc>
                <a:spcPct val="112000"/>
              </a:lnSpc>
              <a:buNone/>
            </a:pPr>
            <a:r>
              <a:rPr lang="en-US" sz="1100" dirty="0">
                <a:solidFill>
                  <a:srgbClr val="F4F2F7"/>
                </a:solidFill>
                <a:latin typeface="Courier New" pitchFamily="34" charset="0"/>
                <a:ea typeface="Courier New" pitchFamily="34" charset="-122"/>
                <a:cs typeface="Courier New" pitchFamily="34" charset="-120"/>
              </a:rPr>
              <a:t>.</a:t>
            </a:r>
            <a:pPr indent="0" marL="0">
              <a:lnSpc>
                <a:spcPct val="112000"/>
              </a:lnSpc>
              <a:buNone/>
            </a:pPr>
            <a:r>
              <a:rPr lang="en-US" sz="1100" dirty="0">
                <a:solidFill>
                  <a:srgbClr val="F4F2F7"/>
                </a:solidFill>
                <a:latin typeface="Courier New" pitchFamily="34" charset="0"/>
                <a:ea typeface="Courier New" pitchFamily="34" charset="-122"/>
                <a:cs typeface="Courier New" pitchFamily="34" charset="-120"/>
              </a:rPr>
              <a:t>   </a:t>
            </a:r>
            <a:pPr indent="0" marL="0">
              <a:lnSpc>
                <a:spcPct val="112000"/>
              </a:lnSpc>
              <a:buNone/>
            </a:pPr>
            <a:r>
              <a:rPr lang="en-US" sz="1100" dirty="0">
                <a:solidFill>
                  <a:srgbClr val="F4F2F7"/>
                </a:solidFill>
                <a:latin typeface="Courier New" pitchFamily="34" charset="0"/>
                <a:ea typeface="Courier New" pitchFamily="34" charset="-122"/>
                <a:cs typeface="Courier New" pitchFamily="34" charset="-120"/>
              </a:rPr>
              <a:t>empieza</a:t>
            </a:r>
            <a:pPr indent="0" marL="0">
              <a:lnSpc>
                <a:spcPct val="112000"/>
              </a:lnSpc>
              <a:buNone/>
            </a:pPr>
            <a:r>
              <a:rPr lang="en-US" sz="1100" dirty="0">
                <a:solidFill>
                  <a:srgbClr val="F4F2F7"/>
                </a:solidFill>
                <a:latin typeface="Courier New" pitchFamily="34" charset="0"/>
                <a:ea typeface="Courier New" pitchFamily="34" charset="-122"/>
                <a:cs typeface="Courier New" pitchFamily="34" charset="-120"/>
              </a:rPr>
              <a:t> </a:t>
            </a:r>
            <a:pPr indent="0" marL="0">
              <a:lnSpc>
                <a:spcPct val="112000"/>
              </a:lnSpc>
              <a:buNone/>
            </a:pPr>
            <a:r>
              <a:rPr lang="en-US" sz="1100" dirty="0">
                <a:solidFill>
                  <a:srgbClr val="F4F2F7"/>
                </a:solidFill>
                <a:latin typeface="Courier New" pitchFamily="34" charset="0"/>
                <a:ea typeface="Courier New" pitchFamily="34" charset="-122"/>
                <a:cs typeface="Courier New" pitchFamily="34" charset="-120"/>
              </a:rPr>
              <a:t>por</a:t>
            </a:r>
            <a:pPr indent="0" marL="0">
              <a:lnSpc>
                <a:spcPct val="112000"/>
              </a:lnSpc>
              <a:buNone/>
            </a:pPr>
            <a:r>
              <a:rPr lang="en-US" sz="1100" dirty="0">
                <a:solidFill>
                  <a:srgbClr val="F4F2F7"/>
                </a:solidFill>
                <a:latin typeface="Courier New" pitchFamily="34" charset="0"/>
                <a:ea typeface="Courier New" pitchFamily="34" charset="-122"/>
                <a:cs typeface="Courier New" pitchFamily="34" charset="-120"/>
              </a:rPr>
              <a:t> </a:t>
            </a:r>
            <a:pPr indent="0" marL="0">
              <a:lnSpc>
                <a:spcPct val="112000"/>
              </a:lnSpc>
              <a:buNone/>
            </a:pPr>
            <a:r>
              <a:rPr lang="en-US" sz="1100" dirty="0">
                <a:solidFill>
                  <a:srgbClr val="F4F2F7"/>
                </a:solidFill>
                <a:latin typeface="Courier New" pitchFamily="34" charset="0"/>
                <a:ea typeface="Courier New" pitchFamily="34" charset="-122"/>
                <a:cs typeface="Courier New" pitchFamily="34" charset="-120"/>
              </a:rPr>
              <a:t>ba</a:t>
            </a:r>
            <a:pPr indent="0" marL="0">
              <a:lnSpc>
                <a:spcPct val="112000"/>
              </a:lnSpc>
              <a:buNone/>
            </a:pPr>
            <a:r>
              <a:rPr lang="en-US" sz="1100" dirty="0">
                <a:solidFill>
                  <a:srgbClr val="F4F2F7"/>
                </a:solidFill>
                <a:latin typeface="Courier New" pitchFamily="34" charset="0"/>
                <a:ea typeface="Courier New" pitchFamily="34" charset="-122"/>
                <a:cs typeface="Courier New" pitchFamily="34" charset="-120"/>
              </a:rPr>
              <a:t>   </a:t>
            </a:r>
            <a:pPr indent="0" marL="0">
              <a:lnSpc>
                <a:spcPct val="112000"/>
              </a:lnSpc>
              <a:buNone/>
            </a:pPr>
            <a:r>
              <a:rPr lang="en-US" sz="1100" dirty="0">
                <a:solidFill>
                  <a:srgbClr val="F4F2F7"/>
                </a:solidFill>
                <a:latin typeface="Courier New" pitchFamily="34" charset="0"/>
                <a:ea typeface="Courier New" pitchFamily="34" charset="-122"/>
                <a:cs typeface="Courier New" pitchFamily="34" charset="-120"/>
              </a:rPr>
              <a:t>NO</a:t>
            </a:r>
            <a:pPr indent="0" marL="0">
              <a:lnSpc>
                <a:spcPct val="112000"/>
              </a:lnSpc>
              <a:buNone/>
            </a:pPr>
            <a:r>
              <a:rPr lang="en-US" sz="1100" dirty="0">
                <a:solidFill>
                  <a:srgbClr val="F4F2F7"/>
                </a:solidFill>
                <a:latin typeface="Courier New" pitchFamily="34" charset="0"/>
                <a:ea typeface="Courier New" pitchFamily="34" charset="-122"/>
                <a:cs typeface="Courier New" pitchFamily="34" charset="-120"/>
              </a:rPr>
              <a:t> </a:t>
            </a:r>
            <a:pPr indent="0" marL="0">
              <a:lnSpc>
                <a:spcPct val="112000"/>
              </a:lnSpc>
              <a:buNone/>
            </a:pPr>
            <a:r>
              <a:rPr lang="en-US" sz="1100" dirty="0">
                <a:solidFill>
                  <a:srgbClr val="F4F2F7"/>
                </a:solidFill>
                <a:latin typeface="Courier New" pitchFamily="34" charset="0"/>
                <a:ea typeface="Courier New" pitchFamily="34" charset="-122"/>
                <a:cs typeface="Courier New" pitchFamily="34" charset="-120"/>
              </a:rPr>
              <a:t>sirve</a:t>
            </a:r>
            <a:endParaRPr lang="en-US" sz="1100" dirty="0"/>
          </a:p>
          <a:p>
            <a:pPr indent="0" marL="0">
              <a:lnSpc>
                <a:spcPct val="112000"/>
              </a:lnSpc>
              <a:buNone/>
            </a:pPr>
            <a:r>
              <a:rPr lang="en-US" sz="1100" dirty="0">
                <a:solidFill>
                  <a:srgbClr val="F4F2F7"/>
                </a:solidFill>
                <a:latin typeface="Courier New" pitchFamily="34" charset="0"/>
                <a:ea typeface="Courier New" pitchFamily="34" charset="-122"/>
                <a:cs typeface="Courier New" pitchFamily="34" charset="-120"/>
              </a:rPr>
              <a:t>nonce</a:t>
            </a:r>
            <a:pPr indent="0" marL="0">
              <a:lnSpc>
                <a:spcPct val="112000"/>
              </a:lnSpc>
              <a:buNone/>
            </a:pPr>
            <a:r>
              <a:rPr lang="en-US" sz="1100" dirty="0">
                <a:solidFill>
                  <a:srgbClr val="F4F2F7"/>
                </a:solidFill>
                <a:latin typeface="Courier New" pitchFamily="34" charset="0"/>
                <a:ea typeface="Courier New" pitchFamily="34" charset="-122"/>
                <a:cs typeface="Courier New" pitchFamily="34" charset="-120"/>
              </a:rPr>
              <a:t> </a:t>
            </a:r>
            <a:pPr indent="0" marL="0">
              <a:lnSpc>
                <a:spcPct val="112000"/>
              </a:lnSpc>
              <a:buNone/>
            </a:pPr>
            <a:r>
              <a:rPr lang="en-US" sz="1100" dirty="0">
                <a:solidFill>
                  <a:srgbClr val="F4F2F7"/>
                </a:solidFill>
                <a:latin typeface="Courier New" pitchFamily="34" charset="0"/>
                <a:ea typeface="Courier New" pitchFamily="34" charset="-122"/>
                <a:cs typeface="Courier New" pitchFamily="34" charset="-120"/>
              </a:rPr>
              <a:t>=</a:t>
            </a:r>
            <a:pPr indent="0" marL="0">
              <a:lnSpc>
                <a:spcPct val="112000"/>
              </a:lnSpc>
              <a:buNone/>
            </a:pPr>
            <a:r>
              <a:rPr lang="en-US" sz="1100" dirty="0">
                <a:solidFill>
                  <a:srgbClr val="F4F2F7"/>
                </a:solidFill>
                <a:latin typeface="Courier New" pitchFamily="34" charset="0"/>
                <a:ea typeface="Courier New" pitchFamily="34" charset="-122"/>
                <a:cs typeface="Courier New" pitchFamily="34" charset="-120"/>
              </a:rPr>
              <a:t> </a:t>
            </a:r>
            <a:pPr indent="0" marL="0">
              <a:lnSpc>
                <a:spcPct val="112000"/>
              </a:lnSpc>
              <a:buNone/>
            </a:pPr>
            <a:r>
              <a:rPr lang="en-US" sz="1100" dirty="0">
                <a:solidFill>
                  <a:srgbClr val="FFA41B"/>
                </a:solidFill>
                <a:latin typeface="Courier New" pitchFamily="34" charset="0"/>
                <a:ea typeface="Courier New" pitchFamily="34" charset="-122"/>
                <a:cs typeface="Courier New" pitchFamily="34" charset="-120"/>
              </a:rPr>
              <a:t>2</a:t>
            </a:r>
            <a:pPr indent="0" marL="0">
              <a:lnSpc>
                <a:spcPct val="112000"/>
              </a:lnSpc>
              <a:buNone/>
            </a:pPr>
            <a:r>
              <a:rPr lang="en-US" sz="1100" dirty="0">
                <a:solidFill>
                  <a:srgbClr val="F4F2F7"/>
                </a:solidFill>
                <a:latin typeface="Courier New" pitchFamily="34" charset="0"/>
                <a:ea typeface="Courier New" pitchFamily="34" charset="-122"/>
                <a:cs typeface="Courier New" pitchFamily="34" charset="-120"/>
              </a:rPr>
              <a:t>   </a:t>
            </a:r>
            <a:pPr indent="0" marL="0">
              <a:lnSpc>
                <a:spcPct val="112000"/>
              </a:lnSpc>
              <a:buNone/>
            </a:pPr>
            <a:r>
              <a:rPr lang="en-US" sz="1100" dirty="0">
                <a:solidFill>
                  <a:srgbClr val="F4F2F7"/>
                </a:solidFill>
                <a:latin typeface="Courier New" pitchFamily="34" charset="0"/>
                <a:ea typeface="Courier New" pitchFamily="34" charset="-122"/>
                <a:cs typeface="Courier New" pitchFamily="34" charset="-120"/>
              </a:rPr>
              <a:t>-</a:t>
            </a:r>
            <a:pPr indent="0" marL="0">
              <a:lnSpc>
                <a:spcPct val="112000"/>
              </a:lnSpc>
              <a:buNone/>
            </a:pPr>
            <a:r>
              <a:rPr lang="en-US" sz="1100" dirty="0">
                <a:solidFill>
                  <a:srgbClr val="F4F2F7"/>
                </a:solidFill>
                <a:latin typeface="Courier New" pitchFamily="34" charset="0"/>
                <a:ea typeface="Courier New" pitchFamily="34" charset="-122"/>
                <a:cs typeface="Courier New" pitchFamily="34" charset="-120"/>
              </a:rPr>
              <a:t>&gt;</a:t>
            </a:r>
            <a:pPr indent="0" marL="0">
              <a:lnSpc>
                <a:spcPct val="112000"/>
              </a:lnSpc>
              <a:buNone/>
            </a:pPr>
            <a:r>
              <a:rPr lang="en-US" sz="1100" dirty="0">
                <a:solidFill>
                  <a:srgbClr val="F4F2F7"/>
                </a:solidFill>
                <a:latin typeface="Courier New" pitchFamily="34" charset="0"/>
                <a:ea typeface="Courier New" pitchFamily="34" charset="-122"/>
                <a:cs typeface="Courier New" pitchFamily="34" charset="-120"/>
              </a:rPr>
              <a:t>  </a:t>
            </a:r>
            <a:pPr indent="0" marL="0">
              <a:lnSpc>
                <a:spcPct val="112000"/>
              </a:lnSpc>
              <a:buNone/>
            </a:pPr>
            <a:r>
              <a:rPr lang="en-US" sz="1100" dirty="0">
                <a:solidFill>
                  <a:srgbClr val="FFA41B"/>
                </a:solidFill>
                <a:latin typeface="Courier New" pitchFamily="34" charset="0"/>
                <a:ea typeface="Courier New" pitchFamily="34" charset="-122"/>
                <a:cs typeface="Courier New" pitchFamily="34" charset="-120"/>
              </a:rPr>
              <a:t>73</a:t>
            </a:r>
            <a:pPr indent="0" marL="0">
              <a:lnSpc>
                <a:spcPct val="112000"/>
              </a:lnSpc>
              <a:buNone/>
            </a:pPr>
            <a:r>
              <a:rPr lang="en-US" sz="1100" dirty="0">
                <a:solidFill>
                  <a:srgbClr val="F4F2F7"/>
                </a:solidFill>
                <a:latin typeface="Courier New" pitchFamily="34" charset="0"/>
                <a:ea typeface="Courier New" pitchFamily="34" charset="-122"/>
                <a:cs typeface="Courier New" pitchFamily="34" charset="-120"/>
              </a:rPr>
              <a:t>c0e9596636af0f</a:t>
            </a:r>
            <a:pPr indent="0" marL="0">
              <a:lnSpc>
                <a:spcPct val="112000"/>
              </a:lnSpc>
              <a:buNone/>
            </a:pPr>
            <a:r>
              <a:rPr lang="en-US" sz="1100" dirty="0">
                <a:solidFill>
                  <a:srgbClr val="F4F2F7"/>
                </a:solidFill>
                <a:latin typeface="Courier New" pitchFamily="34" charset="0"/>
                <a:ea typeface="Courier New" pitchFamily="34" charset="-122"/>
                <a:cs typeface="Courier New" pitchFamily="34" charset="-120"/>
              </a:rPr>
              <a:t>.</a:t>
            </a:r>
            <a:pPr indent="0" marL="0">
              <a:lnSpc>
                <a:spcPct val="112000"/>
              </a:lnSpc>
              <a:buNone/>
            </a:pPr>
            <a:r>
              <a:rPr lang="en-US" sz="1100" dirty="0">
                <a:solidFill>
                  <a:srgbClr val="F4F2F7"/>
                </a:solidFill>
                <a:latin typeface="Courier New" pitchFamily="34" charset="0"/>
                <a:ea typeface="Courier New" pitchFamily="34" charset="-122"/>
                <a:cs typeface="Courier New" pitchFamily="34" charset="-120"/>
              </a:rPr>
              <a:t>.</a:t>
            </a:r>
            <a:pPr indent="0" marL="0">
              <a:lnSpc>
                <a:spcPct val="112000"/>
              </a:lnSpc>
              <a:buNone/>
            </a:pPr>
            <a:r>
              <a:rPr lang="en-US" sz="1100" dirty="0">
                <a:solidFill>
                  <a:srgbClr val="F4F2F7"/>
                </a:solidFill>
                <a:latin typeface="Courier New" pitchFamily="34" charset="0"/>
                <a:ea typeface="Courier New" pitchFamily="34" charset="-122"/>
                <a:cs typeface="Courier New" pitchFamily="34" charset="-120"/>
              </a:rPr>
              <a:t>.</a:t>
            </a:r>
            <a:pPr indent="0" marL="0">
              <a:lnSpc>
                <a:spcPct val="112000"/>
              </a:lnSpc>
              <a:buNone/>
            </a:pPr>
            <a:r>
              <a:rPr lang="en-US" sz="1100" dirty="0">
                <a:solidFill>
                  <a:srgbClr val="F4F2F7"/>
                </a:solidFill>
                <a:latin typeface="Courier New" pitchFamily="34" charset="0"/>
                <a:ea typeface="Courier New" pitchFamily="34" charset="-122"/>
                <a:cs typeface="Courier New" pitchFamily="34" charset="-120"/>
              </a:rPr>
              <a:t>   </a:t>
            </a:r>
            <a:pPr indent="0" marL="0">
              <a:lnSpc>
                <a:spcPct val="112000"/>
              </a:lnSpc>
              <a:buNone/>
            </a:pPr>
            <a:r>
              <a:rPr lang="en-US" sz="1100" dirty="0">
                <a:solidFill>
                  <a:srgbClr val="F4F2F7"/>
                </a:solidFill>
                <a:latin typeface="Courier New" pitchFamily="34" charset="0"/>
                <a:ea typeface="Courier New" pitchFamily="34" charset="-122"/>
                <a:cs typeface="Courier New" pitchFamily="34" charset="-120"/>
              </a:rPr>
              <a:t>empieza</a:t>
            </a:r>
            <a:pPr indent="0" marL="0">
              <a:lnSpc>
                <a:spcPct val="112000"/>
              </a:lnSpc>
              <a:buNone/>
            </a:pPr>
            <a:r>
              <a:rPr lang="en-US" sz="1100" dirty="0">
                <a:solidFill>
                  <a:srgbClr val="F4F2F7"/>
                </a:solidFill>
                <a:latin typeface="Courier New" pitchFamily="34" charset="0"/>
                <a:ea typeface="Courier New" pitchFamily="34" charset="-122"/>
                <a:cs typeface="Courier New" pitchFamily="34" charset="-120"/>
              </a:rPr>
              <a:t> </a:t>
            </a:r>
            <a:pPr indent="0" marL="0">
              <a:lnSpc>
                <a:spcPct val="112000"/>
              </a:lnSpc>
              <a:buNone/>
            </a:pPr>
            <a:r>
              <a:rPr lang="en-US" sz="1100" dirty="0">
                <a:solidFill>
                  <a:srgbClr val="F4F2F7"/>
                </a:solidFill>
                <a:latin typeface="Courier New" pitchFamily="34" charset="0"/>
                <a:ea typeface="Courier New" pitchFamily="34" charset="-122"/>
                <a:cs typeface="Courier New" pitchFamily="34" charset="-120"/>
              </a:rPr>
              <a:t>por</a:t>
            </a:r>
            <a:pPr indent="0" marL="0">
              <a:lnSpc>
                <a:spcPct val="112000"/>
              </a:lnSpc>
              <a:buNone/>
            </a:pPr>
            <a:r>
              <a:rPr lang="en-US" sz="1100" dirty="0">
                <a:solidFill>
                  <a:srgbClr val="F4F2F7"/>
                </a:solidFill>
                <a:latin typeface="Courier New" pitchFamily="34" charset="0"/>
                <a:ea typeface="Courier New" pitchFamily="34" charset="-122"/>
                <a:cs typeface="Courier New" pitchFamily="34" charset="-120"/>
              </a:rPr>
              <a:t> </a:t>
            </a:r>
            <a:pPr indent="0" marL="0">
              <a:lnSpc>
                <a:spcPct val="112000"/>
              </a:lnSpc>
              <a:buNone/>
            </a:pPr>
            <a:r>
              <a:rPr lang="en-US" sz="1100" dirty="0">
                <a:solidFill>
                  <a:srgbClr val="FFA41B"/>
                </a:solidFill>
                <a:latin typeface="Courier New" pitchFamily="34" charset="0"/>
                <a:ea typeface="Courier New" pitchFamily="34" charset="-122"/>
                <a:cs typeface="Courier New" pitchFamily="34" charset="-120"/>
              </a:rPr>
              <a:t>73</a:t>
            </a:r>
            <a:pPr indent="0" marL="0">
              <a:lnSpc>
                <a:spcPct val="112000"/>
              </a:lnSpc>
              <a:buNone/>
            </a:pPr>
            <a:r>
              <a:rPr lang="en-US" sz="1100" dirty="0">
                <a:solidFill>
                  <a:srgbClr val="F4F2F7"/>
                </a:solidFill>
                <a:latin typeface="Courier New" pitchFamily="34" charset="0"/>
                <a:ea typeface="Courier New" pitchFamily="34" charset="-122"/>
                <a:cs typeface="Courier New" pitchFamily="34" charset="-120"/>
              </a:rPr>
              <a:t>   </a:t>
            </a:r>
            <a:pPr indent="0" marL="0">
              <a:lnSpc>
                <a:spcPct val="112000"/>
              </a:lnSpc>
              <a:buNone/>
            </a:pPr>
            <a:r>
              <a:rPr lang="en-US" sz="1100" dirty="0">
                <a:solidFill>
                  <a:srgbClr val="F4F2F7"/>
                </a:solidFill>
                <a:latin typeface="Courier New" pitchFamily="34" charset="0"/>
                <a:ea typeface="Courier New" pitchFamily="34" charset="-122"/>
                <a:cs typeface="Courier New" pitchFamily="34" charset="-120"/>
              </a:rPr>
              <a:t>NO</a:t>
            </a:r>
            <a:pPr indent="0" marL="0">
              <a:lnSpc>
                <a:spcPct val="112000"/>
              </a:lnSpc>
              <a:buNone/>
            </a:pPr>
            <a:r>
              <a:rPr lang="en-US" sz="1100" dirty="0">
                <a:solidFill>
                  <a:srgbClr val="F4F2F7"/>
                </a:solidFill>
                <a:latin typeface="Courier New" pitchFamily="34" charset="0"/>
                <a:ea typeface="Courier New" pitchFamily="34" charset="-122"/>
                <a:cs typeface="Courier New" pitchFamily="34" charset="-120"/>
              </a:rPr>
              <a:t> </a:t>
            </a:r>
            <a:pPr indent="0" marL="0">
              <a:lnSpc>
                <a:spcPct val="112000"/>
              </a:lnSpc>
              <a:buNone/>
            </a:pPr>
            <a:r>
              <a:rPr lang="en-US" sz="1100" dirty="0">
                <a:solidFill>
                  <a:srgbClr val="F4F2F7"/>
                </a:solidFill>
                <a:latin typeface="Courier New" pitchFamily="34" charset="0"/>
                <a:ea typeface="Courier New" pitchFamily="34" charset="-122"/>
                <a:cs typeface="Courier New" pitchFamily="34" charset="-120"/>
              </a:rPr>
              <a:t>sirve</a:t>
            </a:r>
            <a:endParaRPr lang="en-US" sz="1100" dirty="0"/>
          </a:p>
          <a:p>
            <a:pPr indent="0" marL="0">
              <a:lnSpc>
                <a:spcPct val="112000"/>
              </a:lnSpc>
              <a:buNone/>
            </a:pPr>
            <a:r>
              <a:rPr lang="en-US" sz="1100" dirty="0">
                <a:solidFill>
                  <a:srgbClr val="F4F2F7"/>
                </a:solidFill>
                <a:latin typeface="Courier New" pitchFamily="34" charset="0"/>
                <a:ea typeface="Courier New" pitchFamily="34" charset="-122"/>
                <a:cs typeface="Courier New" pitchFamily="34" charset="-120"/>
              </a:rPr>
              <a:t>   </a:t>
            </a:r>
            <a:pPr indent="0" marL="0">
              <a:lnSpc>
                <a:spcPct val="112000"/>
              </a:lnSpc>
              <a:buNone/>
            </a:pPr>
            <a:r>
              <a:rPr lang="en-US" sz="1100" dirty="0">
                <a:solidFill>
                  <a:srgbClr val="F4F2F7"/>
                </a:solidFill>
                <a:latin typeface="Courier New" pitchFamily="34" charset="0"/>
                <a:ea typeface="Courier New" pitchFamily="34" charset="-122"/>
                <a:cs typeface="Courier New" pitchFamily="34" charset="-120"/>
              </a:rPr>
              <a:t>.</a:t>
            </a:r>
            <a:pPr indent="0" marL="0">
              <a:lnSpc>
                <a:spcPct val="112000"/>
              </a:lnSpc>
              <a:buNone/>
            </a:pPr>
            <a:r>
              <a:rPr lang="en-US" sz="1100" dirty="0">
                <a:solidFill>
                  <a:srgbClr val="F4F2F7"/>
                </a:solidFill>
                <a:latin typeface="Courier New" pitchFamily="34" charset="0"/>
                <a:ea typeface="Courier New" pitchFamily="34" charset="-122"/>
                <a:cs typeface="Courier New" pitchFamily="34" charset="-120"/>
              </a:rPr>
              <a:t>.</a:t>
            </a:r>
            <a:pPr indent="0" marL="0">
              <a:lnSpc>
                <a:spcPct val="112000"/>
              </a:lnSpc>
              <a:buNone/>
            </a:pPr>
            <a:r>
              <a:rPr lang="en-US" sz="1100" dirty="0">
                <a:solidFill>
                  <a:srgbClr val="F4F2F7"/>
                </a:solidFill>
                <a:latin typeface="Courier New" pitchFamily="34" charset="0"/>
                <a:ea typeface="Courier New" pitchFamily="34" charset="-122"/>
                <a:cs typeface="Courier New" pitchFamily="34" charset="-120"/>
              </a:rPr>
              <a:t>.</a:t>
            </a:r>
            <a:endParaRPr lang="en-US" sz="1100" dirty="0"/>
          </a:p>
          <a:p>
            <a:pPr indent="0" marL="0">
              <a:lnSpc>
                <a:spcPct val="112000"/>
              </a:lnSpc>
              <a:buNone/>
            </a:pPr>
            <a:r>
              <a:rPr lang="en-US" sz="1100" dirty="0">
                <a:solidFill>
                  <a:srgbClr val="F4F2F7"/>
                </a:solidFill>
                <a:latin typeface="Courier New" pitchFamily="34" charset="0"/>
                <a:ea typeface="Courier New" pitchFamily="34" charset="-122"/>
                <a:cs typeface="Courier New" pitchFamily="34" charset="-120"/>
              </a:rPr>
              <a:t>nonce</a:t>
            </a:r>
            <a:pPr indent="0" marL="0">
              <a:lnSpc>
                <a:spcPct val="112000"/>
              </a:lnSpc>
              <a:buNone/>
            </a:pPr>
            <a:r>
              <a:rPr lang="en-US" sz="1100" dirty="0">
                <a:solidFill>
                  <a:srgbClr val="F4F2F7"/>
                </a:solidFill>
                <a:latin typeface="Courier New" pitchFamily="34" charset="0"/>
                <a:ea typeface="Courier New" pitchFamily="34" charset="-122"/>
                <a:cs typeface="Courier New" pitchFamily="34" charset="-120"/>
              </a:rPr>
              <a:t> </a:t>
            </a:r>
            <a:pPr indent="0" marL="0">
              <a:lnSpc>
                <a:spcPct val="112000"/>
              </a:lnSpc>
              <a:buNone/>
            </a:pPr>
            <a:r>
              <a:rPr lang="en-US" sz="1100" dirty="0">
                <a:solidFill>
                  <a:srgbClr val="F4F2F7"/>
                </a:solidFill>
                <a:latin typeface="Courier New" pitchFamily="34" charset="0"/>
                <a:ea typeface="Courier New" pitchFamily="34" charset="-122"/>
                <a:cs typeface="Courier New" pitchFamily="34" charset="-120"/>
              </a:rPr>
              <a:t>=</a:t>
            </a:r>
            <a:pPr indent="0" marL="0">
              <a:lnSpc>
                <a:spcPct val="112000"/>
              </a:lnSpc>
              <a:buNone/>
            </a:pPr>
            <a:r>
              <a:rPr lang="en-US" sz="1100" dirty="0">
                <a:solidFill>
                  <a:srgbClr val="F4F2F7"/>
                </a:solidFill>
                <a:latin typeface="Courier New" pitchFamily="34" charset="0"/>
                <a:ea typeface="Courier New" pitchFamily="34" charset="-122"/>
                <a:cs typeface="Courier New" pitchFamily="34" charset="-120"/>
              </a:rPr>
              <a:t> </a:t>
            </a:r>
            <a:pPr indent="0" marL="0">
              <a:lnSpc>
                <a:spcPct val="112000"/>
              </a:lnSpc>
              <a:buNone/>
            </a:pPr>
            <a:r>
              <a:rPr lang="en-US" sz="1100" dirty="0">
                <a:solidFill>
                  <a:srgbClr val="FFA41B"/>
                </a:solidFill>
                <a:latin typeface="Courier New" pitchFamily="34" charset="0"/>
                <a:ea typeface="Courier New" pitchFamily="34" charset="-122"/>
                <a:cs typeface="Courier New" pitchFamily="34" charset="-120"/>
              </a:rPr>
              <a:t>49</a:t>
            </a:r>
            <a:pPr indent="0" marL="0">
              <a:lnSpc>
                <a:spcPct val="112000"/>
              </a:lnSpc>
              <a:buNone/>
            </a:pPr>
            <a:r>
              <a:rPr lang="en-US" sz="1100" dirty="0">
                <a:solidFill>
                  <a:srgbClr val="F4F2F7"/>
                </a:solidFill>
                <a:latin typeface="Courier New" pitchFamily="34" charset="0"/>
                <a:ea typeface="Courier New" pitchFamily="34" charset="-122"/>
                <a:cs typeface="Courier New" pitchFamily="34" charset="-120"/>
              </a:rPr>
              <a:t>  </a:t>
            </a:r>
            <a:pPr indent="0" marL="0">
              <a:lnSpc>
                <a:spcPct val="112000"/>
              </a:lnSpc>
              <a:buNone/>
            </a:pPr>
            <a:r>
              <a:rPr lang="en-US" sz="1100" dirty="0">
                <a:solidFill>
                  <a:srgbClr val="F4F2F7"/>
                </a:solidFill>
                <a:latin typeface="Courier New" pitchFamily="34" charset="0"/>
                <a:ea typeface="Courier New" pitchFamily="34" charset="-122"/>
                <a:cs typeface="Courier New" pitchFamily="34" charset="-120"/>
              </a:rPr>
              <a:t>-</a:t>
            </a:r>
            <a:pPr indent="0" marL="0">
              <a:lnSpc>
                <a:spcPct val="112000"/>
              </a:lnSpc>
              <a:buNone/>
            </a:pPr>
            <a:r>
              <a:rPr lang="en-US" sz="1100" dirty="0">
                <a:solidFill>
                  <a:srgbClr val="F4F2F7"/>
                </a:solidFill>
                <a:latin typeface="Courier New" pitchFamily="34" charset="0"/>
                <a:ea typeface="Courier New" pitchFamily="34" charset="-122"/>
                <a:cs typeface="Courier New" pitchFamily="34" charset="-120"/>
              </a:rPr>
              <a:t>&gt;</a:t>
            </a:r>
            <a:pPr indent="0" marL="0">
              <a:lnSpc>
                <a:spcPct val="112000"/>
              </a:lnSpc>
              <a:buNone/>
            </a:pPr>
            <a:r>
              <a:rPr lang="en-US" sz="1100" dirty="0">
                <a:solidFill>
                  <a:srgbClr val="F4F2F7"/>
                </a:solidFill>
                <a:latin typeface="Courier New" pitchFamily="34" charset="0"/>
                <a:ea typeface="Courier New" pitchFamily="34" charset="-122"/>
                <a:cs typeface="Courier New" pitchFamily="34" charset="-120"/>
              </a:rPr>
              <a:t>  </a:t>
            </a:r>
            <a:pPr indent="0" marL="0">
              <a:lnSpc>
                <a:spcPct val="112000"/>
              </a:lnSpc>
              <a:buNone/>
            </a:pPr>
            <a:r>
              <a:rPr lang="en-US" sz="1100" dirty="0">
                <a:solidFill>
                  <a:srgbClr val="FFA41B"/>
                </a:solidFill>
                <a:latin typeface="Courier New" pitchFamily="34" charset="0"/>
                <a:ea typeface="Courier New" pitchFamily="34" charset="-122"/>
                <a:cs typeface="Courier New" pitchFamily="34" charset="-120"/>
              </a:rPr>
              <a:t>00</a:t>
            </a:r>
            <a:pPr indent="0" marL="0">
              <a:lnSpc>
                <a:spcPct val="112000"/>
              </a:lnSpc>
              <a:buNone/>
            </a:pPr>
            <a:r>
              <a:rPr lang="en-US" sz="1100" dirty="0">
                <a:solidFill>
                  <a:srgbClr val="F4F2F7"/>
                </a:solidFill>
                <a:latin typeface="Courier New" pitchFamily="34" charset="0"/>
                <a:ea typeface="Courier New" pitchFamily="34" charset="-122"/>
                <a:cs typeface="Courier New" pitchFamily="34" charset="-120"/>
              </a:rPr>
              <a:t>db8fc8ef82dc97</a:t>
            </a:r>
            <a:pPr indent="0" marL="0">
              <a:lnSpc>
                <a:spcPct val="112000"/>
              </a:lnSpc>
              <a:buNone/>
            </a:pPr>
            <a:r>
              <a:rPr lang="en-US" sz="1100" dirty="0">
                <a:solidFill>
                  <a:srgbClr val="F4F2F7"/>
                </a:solidFill>
                <a:latin typeface="Courier New" pitchFamily="34" charset="0"/>
                <a:ea typeface="Courier New" pitchFamily="34" charset="-122"/>
                <a:cs typeface="Courier New" pitchFamily="34" charset="-120"/>
              </a:rPr>
              <a:t>.</a:t>
            </a:r>
            <a:pPr indent="0" marL="0">
              <a:lnSpc>
                <a:spcPct val="112000"/>
              </a:lnSpc>
              <a:buNone/>
            </a:pPr>
            <a:r>
              <a:rPr lang="en-US" sz="1100" dirty="0">
                <a:solidFill>
                  <a:srgbClr val="F4F2F7"/>
                </a:solidFill>
                <a:latin typeface="Courier New" pitchFamily="34" charset="0"/>
                <a:ea typeface="Courier New" pitchFamily="34" charset="-122"/>
                <a:cs typeface="Courier New" pitchFamily="34" charset="-120"/>
              </a:rPr>
              <a:t>.</a:t>
            </a:r>
            <a:pPr indent="0" marL="0">
              <a:lnSpc>
                <a:spcPct val="112000"/>
              </a:lnSpc>
              <a:buNone/>
            </a:pPr>
            <a:r>
              <a:rPr lang="en-US" sz="1100" dirty="0">
                <a:solidFill>
                  <a:srgbClr val="F4F2F7"/>
                </a:solidFill>
                <a:latin typeface="Courier New" pitchFamily="34" charset="0"/>
                <a:ea typeface="Courier New" pitchFamily="34" charset="-122"/>
                <a:cs typeface="Courier New" pitchFamily="34" charset="-120"/>
              </a:rPr>
              <a:t>.</a:t>
            </a:r>
            <a:pPr indent="0" marL="0">
              <a:lnSpc>
                <a:spcPct val="112000"/>
              </a:lnSpc>
              <a:buNone/>
            </a:pPr>
            <a:r>
              <a:rPr lang="en-US" sz="1100" dirty="0">
                <a:solidFill>
                  <a:srgbClr val="F4F2F7"/>
                </a:solidFill>
                <a:latin typeface="Courier New" pitchFamily="34" charset="0"/>
                <a:ea typeface="Courier New" pitchFamily="34" charset="-122"/>
                <a:cs typeface="Courier New" pitchFamily="34" charset="-120"/>
              </a:rPr>
              <a:t>   </a:t>
            </a:r>
            <a:pPr indent="0" marL="0">
              <a:lnSpc>
                <a:spcPct val="112000"/>
              </a:lnSpc>
              <a:buNone/>
            </a:pPr>
            <a:r>
              <a:rPr lang="en-US" sz="1100" dirty="0">
                <a:solidFill>
                  <a:srgbClr val="F4F2F7"/>
                </a:solidFill>
                <a:latin typeface="Courier New" pitchFamily="34" charset="0"/>
                <a:ea typeface="Courier New" pitchFamily="34" charset="-122"/>
                <a:cs typeface="Courier New" pitchFamily="34" charset="-120"/>
              </a:rPr>
              <a:t>empieza</a:t>
            </a:r>
            <a:pPr indent="0" marL="0">
              <a:lnSpc>
                <a:spcPct val="112000"/>
              </a:lnSpc>
              <a:buNone/>
            </a:pPr>
            <a:r>
              <a:rPr lang="en-US" sz="1100" dirty="0">
                <a:solidFill>
                  <a:srgbClr val="F4F2F7"/>
                </a:solidFill>
                <a:latin typeface="Courier New" pitchFamily="34" charset="0"/>
                <a:ea typeface="Courier New" pitchFamily="34" charset="-122"/>
                <a:cs typeface="Courier New" pitchFamily="34" charset="-120"/>
              </a:rPr>
              <a:t> </a:t>
            </a:r>
            <a:pPr indent="0" marL="0">
              <a:lnSpc>
                <a:spcPct val="112000"/>
              </a:lnSpc>
              <a:buNone/>
            </a:pPr>
            <a:r>
              <a:rPr lang="en-US" sz="1100" dirty="0">
                <a:solidFill>
                  <a:srgbClr val="F4F2F7"/>
                </a:solidFill>
                <a:latin typeface="Courier New" pitchFamily="34" charset="0"/>
                <a:ea typeface="Courier New" pitchFamily="34" charset="-122"/>
                <a:cs typeface="Courier New" pitchFamily="34" charset="-120"/>
              </a:rPr>
              <a:t>por</a:t>
            </a:r>
            <a:pPr indent="0" marL="0">
              <a:lnSpc>
                <a:spcPct val="112000"/>
              </a:lnSpc>
              <a:buNone/>
            </a:pPr>
            <a:r>
              <a:rPr lang="en-US" sz="1100" dirty="0">
                <a:solidFill>
                  <a:srgbClr val="F4F2F7"/>
                </a:solidFill>
                <a:latin typeface="Courier New" pitchFamily="34" charset="0"/>
                <a:ea typeface="Courier New" pitchFamily="34" charset="-122"/>
                <a:cs typeface="Courier New" pitchFamily="34" charset="-120"/>
              </a:rPr>
              <a:t> </a:t>
            </a:r>
            <a:pPr indent="0" marL="0">
              <a:lnSpc>
                <a:spcPct val="112000"/>
              </a:lnSpc>
              <a:buNone/>
            </a:pPr>
            <a:r>
              <a:rPr lang="en-US" sz="1100" dirty="0">
                <a:solidFill>
                  <a:srgbClr val="FFA41B"/>
                </a:solidFill>
                <a:latin typeface="Courier New" pitchFamily="34" charset="0"/>
                <a:ea typeface="Courier New" pitchFamily="34" charset="-122"/>
                <a:cs typeface="Courier New" pitchFamily="34" charset="-120"/>
              </a:rPr>
              <a:t>00</a:t>
            </a:r>
            <a:pPr indent="0" marL="0">
              <a:lnSpc>
                <a:spcPct val="112000"/>
              </a:lnSpc>
              <a:buNone/>
            </a:pPr>
            <a:r>
              <a:rPr lang="en-US" sz="1100" dirty="0">
                <a:solidFill>
                  <a:srgbClr val="F4F2F7"/>
                </a:solidFill>
                <a:latin typeface="Courier New" pitchFamily="34" charset="0"/>
                <a:ea typeface="Courier New" pitchFamily="34" charset="-122"/>
                <a:cs typeface="Courier New" pitchFamily="34" charset="-120"/>
              </a:rPr>
              <a:t>   </a:t>
            </a:r>
            <a:pPr indent="0" marL="0">
              <a:lnSpc>
                <a:spcPct val="112000"/>
              </a:lnSpc>
              <a:buNone/>
            </a:pPr>
            <a:r>
              <a:rPr lang="en-US" sz="1100" dirty="0">
                <a:solidFill>
                  <a:srgbClr val="F4F2F7"/>
                </a:solidFill>
                <a:latin typeface="Courier New" pitchFamily="34" charset="0"/>
                <a:ea typeface="Courier New" pitchFamily="34" charset="-122"/>
                <a:cs typeface="Courier New" pitchFamily="34" charset="-120"/>
              </a:rPr>
              <a:t>GANA</a:t>
            </a:r>
            <a:endParaRPr lang="en-US" sz="1100" dirty="0"/>
          </a:p>
        </p:txBody>
      </p:sp>
      <p:sp>
        <p:nvSpPr>
          <p:cNvPr id="12" name="Shape 9"/>
          <p:cNvSpPr/>
          <p:nvPr/>
        </p:nvSpPr>
        <p:spPr>
          <a:xfrm>
            <a:off x="7836408" y="2468880"/>
            <a:ext cx="3788359" cy="1234440"/>
          </a:xfrm>
          <a:prstGeom prst="rect">
            <a:avLst/>
          </a:prstGeom>
          <a:solidFill>
            <a:srgbClr val="FFFFFF"/>
          </a:solidFill>
          <a:ln w="22225">
            <a:solidFill>
              <a:srgbClr val="0F0F11"/>
            </a:solidFill>
            <a:prstDash val="solid"/>
          </a:ln>
          <a:effectLst>
            <a:outerShdw sx="100000" sy="100000" kx="0" ky="0" algn="bl" rotWithShape="0" blurRad="101600" dist="63500" dir="2700000">
              <a:srgbClr val="0F0F11">
                <a:alpha val="100000"/>
              </a:srgbClr>
            </a:outerShdw>
          </a:effectLst>
        </p:spPr>
      </p:sp>
      <p:sp>
        <p:nvSpPr>
          <p:cNvPr id="13" name="Text 10"/>
          <p:cNvSpPr/>
          <p:nvPr/>
        </p:nvSpPr>
        <p:spPr>
          <a:xfrm>
            <a:off x="8019288" y="2633472"/>
            <a:ext cx="3422599" cy="567842"/>
          </a:xfrm>
          <a:prstGeom prst="rect">
            <a:avLst/>
          </a:prstGeom>
          <a:noFill/>
          <a:ln/>
        </p:spPr>
        <p:txBody>
          <a:bodyPr wrap="square" lIns="0" tIns="0" rIns="0" bIns="0" rtlCol="0" anchor="ctr"/>
          <a:lstStyle/>
          <a:p>
            <a:pPr indent="0" marL="0">
              <a:buNone/>
            </a:pPr>
            <a:r>
              <a:rPr lang="en-US" sz="3000" dirty="0">
                <a:solidFill>
                  <a:srgbClr val="F07F06"/>
                </a:solidFill>
                <a:latin typeface="Arial Black" pitchFamily="34" charset="0"/>
                <a:ea typeface="Arial Black" pitchFamily="34" charset="-122"/>
                <a:cs typeface="Arial Black" pitchFamily="34" charset="-120"/>
              </a:rPr>
              <a:t>50</a:t>
            </a:r>
            <a:endParaRPr lang="en-US" sz="3000" dirty="0"/>
          </a:p>
        </p:txBody>
      </p:sp>
      <p:sp>
        <p:nvSpPr>
          <p:cNvPr id="14" name="Text 11"/>
          <p:cNvSpPr/>
          <p:nvPr/>
        </p:nvSpPr>
        <p:spPr>
          <a:xfrm>
            <a:off x="8019288" y="3184855"/>
            <a:ext cx="3422599" cy="469087"/>
          </a:xfrm>
          <a:prstGeom prst="rect">
            <a:avLst/>
          </a:prstGeom>
          <a:noFill/>
          <a:ln/>
        </p:spPr>
        <p:txBody>
          <a:bodyPr wrap="square" lIns="0" tIns="0" rIns="0" bIns="0" rtlCol="0" anchor="t"/>
          <a:lstStyle/>
          <a:p>
            <a:pPr indent="0" marL="0">
              <a:lnSpc>
                <a:spcPct val="115000"/>
              </a:lnSpc>
              <a:buNone/>
            </a:pPr>
            <a:r>
              <a:rPr lang="en-US" sz="1150" dirty="0">
                <a:solidFill>
                  <a:srgbClr val="3A3844"/>
                </a:solidFill>
                <a:latin typeface="Arial" pitchFamily="34" charset="0"/>
                <a:ea typeface="Arial" pitchFamily="34" charset="-122"/>
                <a:cs typeface="Arial" pitchFamily="34" charset="-120"/>
              </a:rPr>
              <a:t>intentos hasta ganar, en este caso concreto</a:t>
            </a:r>
            <a:endParaRPr lang="en-US" sz="1150" dirty="0"/>
          </a:p>
        </p:txBody>
      </p:sp>
      <p:sp>
        <p:nvSpPr>
          <p:cNvPr id="15" name="Text 12"/>
          <p:cNvSpPr/>
          <p:nvPr/>
        </p:nvSpPr>
        <p:spPr>
          <a:xfrm>
            <a:off x="7836408" y="3794760"/>
            <a:ext cx="3788359" cy="1280160"/>
          </a:xfrm>
          <a:prstGeom prst="rect">
            <a:avLst/>
          </a:prstGeom>
          <a:noFill/>
          <a:ln/>
        </p:spPr>
        <p:txBody>
          <a:bodyPr wrap="square" lIns="0" tIns="0" rIns="0" bIns="0" rtlCol="0" anchor="t"/>
          <a:lstStyle/>
          <a:p>
            <a:pPr indent="0" marL="0">
              <a:lnSpc>
                <a:spcPct val="124000"/>
              </a:lnSpc>
              <a:buNone/>
            </a:pPr>
            <a:r>
              <a:rPr lang="en-US" sz="1200" dirty="0">
                <a:solidFill>
                  <a:srgbClr val="3A3844"/>
                </a:solidFill>
                <a:latin typeface="Arial" pitchFamily="34" charset="0"/>
                <a:ea typeface="Arial" pitchFamily="34" charset="-122"/>
                <a:cs typeface="Arial" pitchFamily="34" charset="-120"/>
              </a:rPr>
              <a:t>En promedio se necesitan 2⁸ = 256 intentos para 8 bits. Bitcoin usa del orden de 80 bits: 2⁸⁰ intentos, imposible a mano, trivial de verificar (basta recalcular el hash del nonce 49 una vez).</a:t>
            </a:r>
            <a:endParaRPr lang="en-US" sz="1200" dirty="0"/>
          </a:p>
        </p:txBody>
      </p:sp>
      <p:sp>
        <p:nvSpPr>
          <p:cNvPr id="16" name="Shape 13"/>
          <p:cNvSpPr/>
          <p:nvPr/>
        </p:nvSpPr>
        <p:spPr>
          <a:xfrm>
            <a:off x="566928" y="5074920"/>
            <a:ext cx="11057839" cy="1078992"/>
          </a:xfrm>
          <a:prstGeom prst="rect">
            <a:avLst/>
          </a:prstGeom>
          <a:solidFill>
            <a:srgbClr val="FFFFFF"/>
          </a:solidFill>
          <a:ln w="22225">
            <a:solidFill>
              <a:srgbClr val="7152E9"/>
            </a:solidFill>
            <a:prstDash val="solid"/>
          </a:ln>
          <a:effectLst>
            <a:outerShdw sx="100000" sy="100000" kx="0" ky="0" algn="bl" rotWithShape="0" blurRad="101600" dist="63500" dir="2700000">
              <a:srgbClr val="7152E9">
                <a:alpha val="100000"/>
              </a:srgbClr>
            </a:outerShdw>
          </a:effectLst>
        </p:spPr>
      </p:sp>
      <p:pic>
        <p:nvPicPr>
          <p:cNvPr id="17" name="Image 1" descr="preencoded.png">    </p:cNvPr>
          <p:cNvPicPr>
            <a:picLocks noChangeAspect="1"/>
          </p:cNvPicPr>
          <p:nvPr/>
        </p:nvPicPr>
        <p:blipFill>
          <a:blip r:embed="rId2"/>
          <a:stretch>
            <a:fillRect/>
          </a:stretch>
        </p:blipFill>
        <p:spPr>
          <a:xfrm>
            <a:off x="804672" y="5294376"/>
            <a:ext cx="237744" cy="237744"/>
          </a:xfrm>
          <a:prstGeom prst="rect">
            <a:avLst/>
          </a:prstGeom>
        </p:spPr>
      </p:pic>
      <p:sp>
        <p:nvSpPr>
          <p:cNvPr id="18" name="Text 14"/>
          <p:cNvSpPr/>
          <p:nvPr/>
        </p:nvSpPr>
        <p:spPr>
          <a:xfrm>
            <a:off x="1133856" y="5266944"/>
            <a:ext cx="10234879" cy="292608"/>
          </a:xfrm>
          <a:prstGeom prst="rect">
            <a:avLst/>
          </a:prstGeom>
          <a:noFill/>
          <a:ln/>
        </p:spPr>
        <p:txBody>
          <a:bodyPr wrap="square" lIns="0" tIns="0" rIns="0" bIns="0" rtlCol="0" anchor="ctr"/>
          <a:lstStyle/>
          <a:p>
            <a:pPr indent="0" marL="0">
              <a:buNone/>
            </a:pPr>
            <a:r>
              <a:rPr lang="en-US" sz="950" b="1" spc="150" kern="0" dirty="0">
                <a:solidFill>
                  <a:srgbClr val="5638C9"/>
                </a:solidFill>
                <a:latin typeface="Courier New" pitchFamily="34" charset="0"/>
                <a:ea typeface="Courier New" pitchFamily="34" charset="-122"/>
                <a:cs typeface="Courier New" pitchFamily="34" charset="-120"/>
              </a:rPr>
              <a:t>LO QUE HAY QUE VER AQUÍ</a:t>
            </a:r>
            <a:endParaRPr lang="en-US" sz="950" dirty="0"/>
          </a:p>
        </p:txBody>
      </p:sp>
      <p:sp>
        <p:nvSpPr>
          <p:cNvPr id="19" name="Text 15"/>
          <p:cNvSpPr/>
          <p:nvPr/>
        </p:nvSpPr>
        <p:spPr>
          <a:xfrm>
            <a:off x="804672" y="5586984"/>
            <a:ext cx="10582351" cy="475488"/>
          </a:xfrm>
          <a:prstGeom prst="rect">
            <a:avLst/>
          </a:prstGeom>
          <a:noFill/>
          <a:ln/>
        </p:spPr>
        <p:txBody>
          <a:bodyPr wrap="square" lIns="0" tIns="0" rIns="0" bIns="0" rtlCol="0" anchor="t"/>
          <a:lstStyle/>
          <a:p>
            <a:pPr indent="0" marL="0">
              <a:lnSpc>
                <a:spcPct val="124000"/>
              </a:lnSpc>
              <a:buNone/>
            </a:pPr>
            <a:r>
              <a:rPr lang="en-US" sz="1250" dirty="0">
                <a:solidFill>
                  <a:srgbClr val="3A3844"/>
                </a:solidFill>
                <a:latin typeface="Arial" pitchFamily="34" charset="0"/>
                <a:ea typeface="Arial" pitchFamily="34" charset="-122"/>
                <a:cs typeface="Arial" pitchFamily="34" charset="-120"/>
              </a:rPr>
              <a:t>Nadie pudo «adivinar» que el 49 ganaba: hubo que probar del 0 al 49 uno por uno. Pero cualquiera comprueba el resultado con un solo hash. Producir cuesta; verificar es gratis. Este es exactamente el laboratorio de la casa.</a:t>
            </a:r>
            <a:endParaRPr lang="en-US" sz="1250" dirty="0"/>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name="Slide 13">
    <p:bg>
      <p:bgPr>
        <a:solidFill>
          <a:srgbClr val="FFFFFF"/>
        </a:solidFill>
      </p:bgPr>
    </p:bg>
    <p:spTree>
      <p:nvGrpSpPr>
        <p:cNvPr id="1" name=""/>
        <p:cNvGrpSpPr/>
        <p:nvPr/>
      </p:nvGrpSpPr>
      <p:grpSpPr>
        <a:xfrm>
          <a:off x="0" y="0"/>
          <a:ext cx="0" cy="0"/>
          <a:chOff x="0" y="0"/>
          <a:chExt cx="0" cy="0"/>
        </a:xfrm>
      </p:grpSpPr>
      <p:pic>
        <p:nvPicPr>
          <p:cNvPr id="2" name="Image 0" descr="preencoded.png">    </p:cNvPr>
          <p:cNvPicPr>
            <a:picLocks noChangeAspect="1"/>
          </p:cNvPicPr>
          <p:nvPr/>
        </p:nvPicPr>
        <p:blipFill>
          <a:blip r:embed="rId1"/>
          <a:stretch>
            <a:fillRect/>
          </a:stretch>
        </p:blipFill>
        <p:spPr>
          <a:xfrm>
            <a:off x="566928" y="402336"/>
            <a:ext cx="274320" cy="274320"/>
          </a:xfrm>
          <a:prstGeom prst="rect">
            <a:avLst/>
          </a:prstGeom>
        </p:spPr>
      </p:pic>
      <p:sp>
        <p:nvSpPr>
          <p:cNvPr id="3" name="Text 0"/>
          <p:cNvSpPr/>
          <p:nvPr/>
        </p:nvSpPr>
        <p:spPr>
          <a:xfrm>
            <a:off x="969264" y="384048"/>
            <a:ext cx="10655503" cy="310896"/>
          </a:xfrm>
          <a:prstGeom prst="rect">
            <a:avLst/>
          </a:prstGeom>
          <a:noFill/>
          <a:ln/>
        </p:spPr>
        <p:txBody>
          <a:bodyPr wrap="square" lIns="0" tIns="0" rIns="0" bIns="0" rtlCol="0" anchor="ctr"/>
          <a:lstStyle/>
          <a:p>
            <a:pPr indent="0" marL="0">
              <a:buNone/>
            </a:pPr>
            <a:r>
              <a:rPr lang="en-US" sz="950" spc="160" kern="0" dirty="0">
                <a:solidFill>
                  <a:srgbClr val="6F6B80"/>
                </a:solidFill>
                <a:latin typeface="Courier New" pitchFamily="34" charset="0"/>
                <a:ea typeface="Courier New" pitchFamily="34" charset="-122"/>
                <a:cs typeface="Courier New" pitchFamily="34" charset="-120"/>
              </a:rPr>
              <a:t>A.6 · PRUEBA DE TRABAJO · EL RITMO</a:t>
            </a:r>
            <a:endParaRPr lang="en-US" sz="950" dirty="0"/>
          </a:p>
        </p:txBody>
      </p:sp>
      <p:sp>
        <p:nvSpPr>
          <p:cNvPr id="4" name="Text 1"/>
          <p:cNvSpPr/>
          <p:nvPr/>
        </p:nvSpPr>
        <p:spPr>
          <a:xfrm>
            <a:off x="566928" y="777240"/>
            <a:ext cx="11057839" cy="777240"/>
          </a:xfrm>
          <a:prstGeom prst="rect">
            <a:avLst/>
          </a:prstGeom>
          <a:noFill/>
          <a:ln/>
        </p:spPr>
        <p:txBody>
          <a:bodyPr wrap="square" lIns="0" tIns="0" rIns="0" bIns="0" rtlCol="0" anchor="t"/>
          <a:lstStyle/>
          <a:p>
            <a:pPr indent="0" marL="0">
              <a:lnSpc>
                <a:spcPct val="92000"/>
              </a:lnSpc>
              <a:buNone/>
            </a:pPr>
            <a:r>
              <a:rPr lang="en-US" sz="2900" dirty="0">
                <a:solidFill>
                  <a:srgbClr val="0F0F11"/>
                </a:solidFill>
                <a:latin typeface="Arial Black" pitchFamily="34" charset="0"/>
                <a:ea typeface="Arial Black" pitchFamily="34" charset="-122"/>
                <a:cs typeface="Arial Black" pitchFamily="34" charset="-120"/>
              </a:rPr>
              <a:t>LA DIFICULTAD SE AJUSTA SOLA</a:t>
            </a:r>
            <a:endParaRPr lang="en-US" sz="2900" dirty="0"/>
          </a:p>
        </p:txBody>
      </p:sp>
      <p:sp>
        <p:nvSpPr>
          <p:cNvPr id="5" name="Text 2"/>
          <p:cNvSpPr/>
          <p:nvPr/>
        </p:nvSpPr>
        <p:spPr>
          <a:xfrm>
            <a:off x="566928" y="6291072"/>
            <a:ext cx="8412480" cy="274320"/>
          </a:xfrm>
          <a:prstGeom prst="rect">
            <a:avLst/>
          </a:prstGeom>
          <a:noFill/>
          <a:ln/>
        </p:spPr>
        <p:txBody>
          <a:bodyPr wrap="square" lIns="0" tIns="0" rIns="0" bIns="0" rtlCol="0" anchor="ctr"/>
          <a:lstStyle/>
          <a:p>
            <a:pPr indent="0" marL="0">
              <a:buNone/>
            </a:pPr>
            <a:r>
              <a:rPr lang="en-US" sz="800" spc="120" kern="0" dirty="0">
                <a:solidFill>
                  <a:srgbClr val="6F6B80"/>
                </a:solidFill>
                <a:latin typeface="Courier New" pitchFamily="34" charset="0"/>
                <a:ea typeface="Courier New" pitchFamily="34" charset="-122"/>
                <a:cs typeface="Courier New" pitchFamily="34" charset="-120"/>
              </a:rPr>
              <a:t>SESIÓN 04 · CONSENSO, INCENTIVOS Y EL TRILEMA</a:t>
            </a:r>
            <a:endParaRPr lang="en-US" sz="800" dirty="0"/>
          </a:p>
        </p:txBody>
      </p:sp>
      <p:sp>
        <p:nvSpPr>
          <p:cNvPr id="6" name="Text 3"/>
          <p:cNvSpPr/>
          <p:nvPr/>
        </p:nvSpPr>
        <p:spPr>
          <a:xfrm>
            <a:off x="9052560" y="6291072"/>
            <a:ext cx="1828800" cy="274320"/>
          </a:xfrm>
          <a:prstGeom prst="rect">
            <a:avLst/>
          </a:prstGeom>
          <a:noFill/>
          <a:ln/>
        </p:spPr>
        <p:txBody>
          <a:bodyPr wrap="square" lIns="0" tIns="0" rIns="0" bIns="0" rtlCol="0" anchor="ctr"/>
          <a:lstStyle/>
          <a:p>
            <a:pPr algn="r" indent="0" marL="0">
              <a:buNone/>
            </a:pPr>
            <a:r>
              <a:rPr lang="en-US" sz="800" spc="120" kern="0" dirty="0">
                <a:solidFill>
                  <a:srgbClr val="6F6B80"/>
                </a:solidFill>
                <a:latin typeface="Courier New" pitchFamily="34" charset="0"/>
                <a:ea typeface="Courier New" pitchFamily="34" charset="-122"/>
                <a:cs typeface="Courier New" pitchFamily="34" charset="-120"/>
              </a:rPr>
              <a:t>USB MEDELLÍN</a:t>
            </a:r>
            <a:endParaRPr lang="en-US" sz="800" dirty="0"/>
          </a:p>
        </p:txBody>
      </p:sp>
      <p:sp>
        <p:nvSpPr>
          <p:cNvPr id="7" name="Text 4"/>
          <p:cNvSpPr/>
          <p:nvPr/>
        </p:nvSpPr>
        <p:spPr>
          <a:xfrm>
            <a:off x="11018520" y="6291072"/>
            <a:ext cx="603504" cy="274320"/>
          </a:xfrm>
          <a:prstGeom prst="rect">
            <a:avLst/>
          </a:prstGeom>
          <a:noFill/>
          <a:ln/>
        </p:spPr>
        <p:txBody>
          <a:bodyPr wrap="square" lIns="0" tIns="0" rIns="0" bIns="0" rtlCol="0" anchor="ctr"/>
          <a:lstStyle/>
          <a:p>
            <a:pPr algn="r" indent="0" marL="0">
              <a:buNone/>
            </a:pPr>
            <a:r>
              <a:rPr lang="en-US" sz="900" b="1" dirty="0">
                <a:solidFill>
                  <a:srgbClr val="0F0F11"/>
                </a:solidFill>
                <a:latin typeface="Courier New" pitchFamily="34" charset="0"/>
                <a:ea typeface="Courier New" pitchFamily="34" charset="-122"/>
                <a:cs typeface="Courier New" pitchFamily="34" charset="-120"/>
              </a:rPr>
              <a:t>13</a:t>
            </a:r>
            <a:endParaRPr lang="en-US" sz="900" dirty="0"/>
          </a:p>
        </p:txBody>
      </p:sp>
      <p:sp>
        <p:nvSpPr>
          <p:cNvPr id="8" name="Text 5"/>
          <p:cNvSpPr/>
          <p:nvPr/>
        </p:nvSpPr>
        <p:spPr>
          <a:xfrm>
            <a:off x="566928" y="1737360"/>
            <a:ext cx="11057839" cy="594360"/>
          </a:xfrm>
          <a:prstGeom prst="rect">
            <a:avLst/>
          </a:prstGeom>
          <a:noFill/>
          <a:ln/>
        </p:spPr>
        <p:txBody>
          <a:bodyPr wrap="square" lIns="0" tIns="0" rIns="0" bIns="0" rtlCol="0" anchor="t"/>
          <a:lstStyle/>
          <a:p>
            <a:pPr indent="0" marL="0">
              <a:lnSpc>
                <a:spcPct val="124000"/>
              </a:lnSpc>
              <a:buNone/>
            </a:pPr>
            <a:r>
              <a:rPr lang="en-US" sz="1450" dirty="0">
                <a:solidFill>
                  <a:srgbClr val="3A3844"/>
                </a:solidFill>
                <a:latin typeface="Arial" pitchFamily="34" charset="0"/>
                <a:ea typeface="Arial" pitchFamily="34" charset="-122"/>
                <a:cs typeface="Arial" pitchFamily="34" charset="-120"/>
              </a:rPr>
              <a:t>Si entran más mineros, los bloques saldrían más rápido. Bitcoin lo corrige cada 2 016 bloques: compara el tiempo real con el esperado y mueve el objetivo.</a:t>
            </a:r>
            <a:endParaRPr lang="en-US" sz="1450" dirty="0"/>
          </a:p>
        </p:txBody>
      </p:sp>
      <p:sp>
        <p:nvSpPr>
          <p:cNvPr id="9" name="Shape 6"/>
          <p:cNvSpPr/>
          <p:nvPr/>
        </p:nvSpPr>
        <p:spPr>
          <a:xfrm>
            <a:off x="566928" y="2514600"/>
            <a:ext cx="11057839" cy="640080"/>
          </a:xfrm>
          <a:prstGeom prst="rect">
            <a:avLst/>
          </a:prstGeom>
          <a:solidFill>
            <a:srgbClr val="F2F0F5"/>
          </a:solidFill>
          <a:ln w="12700">
            <a:solidFill>
              <a:srgbClr val="7152E9"/>
            </a:solidFill>
            <a:prstDash val="solid"/>
          </a:ln>
        </p:spPr>
      </p:sp>
      <p:sp>
        <p:nvSpPr>
          <p:cNvPr id="10" name="Text 7"/>
          <p:cNvSpPr/>
          <p:nvPr/>
        </p:nvSpPr>
        <p:spPr>
          <a:xfrm>
            <a:off x="731520" y="2587752"/>
            <a:ext cx="10728655" cy="493776"/>
          </a:xfrm>
          <a:prstGeom prst="rect">
            <a:avLst/>
          </a:prstGeom>
          <a:noFill/>
          <a:ln/>
        </p:spPr>
        <p:txBody>
          <a:bodyPr wrap="square" lIns="0" tIns="0" rIns="0" bIns="0" rtlCol="0" anchor="ctr"/>
          <a:lstStyle/>
          <a:p>
            <a:pPr indent="0" marL="0">
              <a:lnSpc>
                <a:spcPct val="120000"/>
              </a:lnSpc>
              <a:buNone/>
            </a:pPr>
            <a:r>
              <a:rPr lang="en-US" sz="1200" dirty="0">
                <a:solidFill>
                  <a:srgbClr val="3A3844"/>
                </a:solidFill>
                <a:latin typeface="Courier New" pitchFamily="34" charset="0"/>
                <a:ea typeface="Courier New" pitchFamily="34" charset="-122"/>
                <a:cs typeface="Courier New" pitchFamily="34" charset="-120"/>
              </a:rPr>
              <a:t>nueva_dificultad = dificultad_anterior × (20 160 minutos esperados ÷ minutos reales de los últimos 2 016 bloques)</a:t>
            </a:r>
            <a:endParaRPr lang="en-US" sz="1200" dirty="0"/>
          </a:p>
        </p:txBody>
      </p:sp>
      <p:sp>
        <p:nvSpPr>
          <p:cNvPr id="11" name="Shape 8"/>
          <p:cNvSpPr/>
          <p:nvPr/>
        </p:nvSpPr>
        <p:spPr>
          <a:xfrm>
            <a:off x="566928" y="3383280"/>
            <a:ext cx="3566160" cy="1828800"/>
          </a:xfrm>
          <a:prstGeom prst="rect">
            <a:avLst/>
          </a:prstGeom>
          <a:solidFill>
            <a:srgbClr val="FFFFFF"/>
          </a:solidFill>
          <a:ln w="22225">
            <a:solidFill>
              <a:srgbClr val="0F0F11"/>
            </a:solidFill>
            <a:prstDash val="solid"/>
          </a:ln>
          <a:effectLst>
            <a:outerShdw sx="100000" sy="100000" kx="0" ky="0" algn="bl" rotWithShape="0" blurRad="101600" dist="63500" dir="2700000">
              <a:srgbClr val="0F0F11">
                <a:alpha val="100000"/>
              </a:srgbClr>
            </a:outerShdw>
          </a:effectLst>
        </p:spPr>
      </p:sp>
      <p:sp>
        <p:nvSpPr>
          <p:cNvPr id="12" name="Text 9"/>
          <p:cNvSpPr/>
          <p:nvPr/>
        </p:nvSpPr>
        <p:spPr>
          <a:xfrm>
            <a:off x="749808" y="3547872"/>
            <a:ext cx="3200400" cy="841248"/>
          </a:xfrm>
          <a:prstGeom prst="rect">
            <a:avLst/>
          </a:prstGeom>
          <a:noFill/>
          <a:ln/>
        </p:spPr>
        <p:txBody>
          <a:bodyPr wrap="square" lIns="0" tIns="0" rIns="0" bIns="0" rtlCol="0" anchor="ctr"/>
          <a:lstStyle/>
          <a:p>
            <a:pPr indent="0" marL="0">
              <a:buNone/>
            </a:pPr>
            <a:r>
              <a:rPr lang="en-US" sz="3600" dirty="0">
                <a:solidFill>
                  <a:srgbClr val="F07F06"/>
                </a:solidFill>
                <a:latin typeface="Arial Black" pitchFamily="34" charset="0"/>
                <a:ea typeface="Arial Black" pitchFamily="34" charset="-122"/>
                <a:cs typeface="Arial Black" pitchFamily="34" charset="-120"/>
              </a:rPr>
              <a:t>10 min</a:t>
            </a:r>
            <a:endParaRPr lang="en-US" sz="3600" dirty="0"/>
          </a:p>
        </p:txBody>
      </p:sp>
      <p:sp>
        <p:nvSpPr>
          <p:cNvPr id="13" name="Text 10"/>
          <p:cNvSpPr/>
          <p:nvPr/>
        </p:nvSpPr>
        <p:spPr>
          <a:xfrm>
            <a:off x="749808" y="4443984"/>
            <a:ext cx="3200400" cy="694944"/>
          </a:xfrm>
          <a:prstGeom prst="rect">
            <a:avLst/>
          </a:prstGeom>
          <a:noFill/>
          <a:ln/>
        </p:spPr>
        <p:txBody>
          <a:bodyPr wrap="square" lIns="0" tIns="0" rIns="0" bIns="0" rtlCol="0" anchor="t"/>
          <a:lstStyle/>
          <a:p>
            <a:pPr indent="0" marL="0">
              <a:lnSpc>
                <a:spcPct val="115000"/>
              </a:lnSpc>
              <a:buNone/>
            </a:pPr>
            <a:r>
              <a:rPr lang="en-US" sz="1150" dirty="0">
                <a:solidFill>
                  <a:srgbClr val="3A3844"/>
                </a:solidFill>
                <a:latin typeface="Arial" pitchFamily="34" charset="0"/>
                <a:ea typeface="Arial" pitchFamily="34" charset="-122"/>
                <a:cs typeface="Arial" pitchFamily="34" charset="-120"/>
              </a:rPr>
              <a:t>Tiempo objetivo entre bloques en Bitcoin. Se sostiene aunque la potencia total de la red cambie en órdenes de magnitud.</a:t>
            </a:r>
            <a:endParaRPr lang="en-US" sz="1150" dirty="0"/>
          </a:p>
        </p:txBody>
      </p:sp>
      <p:sp>
        <p:nvSpPr>
          <p:cNvPr id="14" name="Shape 11"/>
          <p:cNvSpPr/>
          <p:nvPr/>
        </p:nvSpPr>
        <p:spPr>
          <a:xfrm>
            <a:off x="4315968" y="3383280"/>
            <a:ext cx="3566160" cy="1828800"/>
          </a:xfrm>
          <a:prstGeom prst="rect">
            <a:avLst/>
          </a:prstGeom>
          <a:solidFill>
            <a:srgbClr val="FFFFFF"/>
          </a:solidFill>
          <a:ln w="22225">
            <a:solidFill>
              <a:srgbClr val="0F0F11"/>
            </a:solidFill>
            <a:prstDash val="solid"/>
          </a:ln>
          <a:effectLst>
            <a:outerShdw sx="100000" sy="100000" kx="0" ky="0" algn="bl" rotWithShape="0" blurRad="101600" dist="63500" dir="2700000">
              <a:srgbClr val="0F0F11">
                <a:alpha val="100000"/>
              </a:srgbClr>
            </a:outerShdw>
          </a:effectLst>
        </p:spPr>
      </p:sp>
      <p:sp>
        <p:nvSpPr>
          <p:cNvPr id="15" name="Text 12"/>
          <p:cNvSpPr/>
          <p:nvPr/>
        </p:nvSpPr>
        <p:spPr>
          <a:xfrm>
            <a:off x="4498848" y="3547872"/>
            <a:ext cx="3200400" cy="841248"/>
          </a:xfrm>
          <a:prstGeom prst="rect">
            <a:avLst/>
          </a:prstGeom>
          <a:noFill/>
          <a:ln/>
        </p:spPr>
        <p:txBody>
          <a:bodyPr wrap="square" lIns="0" tIns="0" rIns="0" bIns="0" rtlCol="0" anchor="ctr"/>
          <a:lstStyle/>
          <a:p>
            <a:pPr indent="0" marL="0">
              <a:buNone/>
            </a:pPr>
            <a:r>
              <a:rPr lang="en-US" sz="3600" dirty="0">
                <a:solidFill>
                  <a:srgbClr val="7152E9"/>
                </a:solidFill>
                <a:latin typeface="Arial Black" pitchFamily="34" charset="0"/>
                <a:ea typeface="Arial Black" pitchFamily="34" charset="-122"/>
                <a:cs typeface="Arial Black" pitchFamily="34" charset="-120"/>
              </a:rPr>
              <a:t>2 016</a:t>
            </a:r>
            <a:endParaRPr lang="en-US" sz="3600" dirty="0"/>
          </a:p>
        </p:txBody>
      </p:sp>
      <p:sp>
        <p:nvSpPr>
          <p:cNvPr id="16" name="Text 13"/>
          <p:cNvSpPr/>
          <p:nvPr/>
        </p:nvSpPr>
        <p:spPr>
          <a:xfrm>
            <a:off x="4498848" y="4443984"/>
            <a:ext cx="3200400" cy="694944"/>
          </a:xfrm>
          <a:prstGeom prst="rect">
            <a:avLst/>
          </a:prstGeom>
          <a:noFill/>
          <a:ln/>
        </p:spPr>
        <p:txBody>
          <a:bodyPr wrap="square" lIns="0" tIns="0" rIns="0" bIns="0" rtlCol="0" anchor="t"/>
          <a:lstStyle/>
          <a:p>
            <a:pPr indent="0" marL="0">
              <a:lnSpc>
                <a:spcPct val="115000"/>
              </a:lnSpc>
              <a:buNone/>
            </a:pPr>
            <a:r>
              <a:rPr lang="en-US" sz="1150" dirty="0">
                <a:solidFill>
                  <a:srgbClr val="3A3844"/>
                </a:solidFill>
                <a:latin typeface="Arial" pitchFamily="34" charset="0"/>
                <a:ea typeface="Arial" pitchFamily="34" charset="-122"/>
                <a:cs typeface="Arial" pitchFamily="34" charset="-120"/>
              </a:rPr>
              <a:t>Bloques por período de ajuste: unas dos semanas. El ajuste está acotado a un factor de 4 por período.</a:t>
            </a:r>
            <a:endParaRPr lang="en-US" sz="1150" dirty="0"/>
          </a:p>
        </p:txBody>
      </p:sp>
      <p:sp>
        <p:nvSpPr>
          <p:cNvPr id="17" name="Shape 14"/>
          <p:cNvSpPr/>
          <p:nvPr/>
        </p:nvSpPr>
        <p:spPr>
          <a:xfrm>
            <a:off x="8065008" y="3383280"/>
            <a:ext cx="3559759" cy="1828800"/>
          </a:xfrm>
          <a:prstGeom prst="rect">
            <a:avLst/>
          </a:prstGeom>
          <a:solidFill>
            <a:srgbClr val="FFFFFF"/>
          </a:solidFill>
          <a:ln w="22225">
            <a:solidFill>
              <a:srgbClr val="0F0F11"/>
            </a:solidFill>
            <a:prstDash val="solid"/>
          </a:ln>
          <a:effectLst>
            <a:outerShdw sx="100000" sy="100000" kx="0" ky="0" algn="bl" rotWithShape="0" blurRad="101600" dist="63500" dir="2700000">
              <a:srgbClr val="0F0F11">
                <a:alpha val="100000"/>
              </a:srgbClr>
            </a:outerShdw>
          </a:effectLst>
        </p:spPr>
      </p:sp>
      <p:sp>
        <p:nvSpPr>
          <p:cNvPr id="18" name="Text 15"/>
          <p:cNvSpPr/>
          <p:nvPr/>
        </p:nvSpPr>
        <p:spPr>
          <a:xfrm>
            <a:off x="8247888" y="3547872"/>
            <a:ext cx="3193999" cy="841248"/>
          </a:xfrm>
          <a:prstGeom prst="rect">
            <a:avLst/>
          </a:prstGeom>
          <a:noFill/>
          <a:ln/>
        </p:spPr>
        <p:txBody>
          <a:bodyPr wrap="square" lIns="0" tIns="0" rIns="0" bIns="0" rtlCol="0" anchor="ctr"/>
          <a:lstStyle/>
          <a:p>
            <a:pPr indent="0" marL="0">
              <a:buNone/>
            </a:pPr>
            <a:r>
              <a:rPr lang="en-US" sz="2400" dirty="0">
                <a:solidFill>
                  <a:srgbClr val="0F0F11"/>
                </a:solidFill>
                <a:latin typeface="Arial Black" pitchFamily="34" charset="0"/>
                <a:ea typeface="Arial Black" pitchFamily="34" charset="-122"/>
                <a:cs typeface="Arial Black" pitchFamily="34" charset="-120"/>
              </a:rPr>
              <a:t>Tasa de hash</a:t>
            </a:r>
            <a:endParaRPr lang="en-US" sz="2400" dirty="0"/>
          </a:p>
        </p:txBody>
      </p:sp>
      <p:sp>
        <p:nvSpPr>
          <p:cNvPr id="19" name="Text 16"/>
          <p:cNvSpPr/>
          <p:nvPr/>
        </p:nvSpPr>
        <p:spPr>
          <a:xfrm>
            <a:off x="8247888" y="4443984"/>
            <a:ext cx="3193999" cy="694944"/>
          </a:xfrm>
          <a:prstGeom prst="rect">
            <a:avLst/>
          </a:prstGeom>
          <a:noFill/>
          <a:ln/>
        </p:spPr>
        <p:txBody>
          <a:bodyPr wrap="square" lIns="0" tIns="0" rIns="0" bIns="0" rtlCol="0" anchor="t"/>
          <a:lstStyle/>
          <a:p>
            <a:pPr indent="0" marL="0">
              <a:lnSpc>
                <a:spcPct val="115000"/>
              </a:lnSpc>
              <a:buNone/>
            </a:pPr>
            <a:r>
              <a:rPr lang="en-US" sz="1150" dirty="0">
                <a:solidFill>
                  <a:srgbClr val="3A3844"/>
                </a:solidFill>
                <a:latin typeface="Arial" pitchFamily="34" charset="0"/>
                <a:ea typeface="Arial" pitchFamily="34" charset="-122"/>
                <a:cs typeface="Arial" pitchFamily="34" charset="-120"/>
              </a:rPr>
              <a:t>Intentos de hash por segundo de toda la red. Es la medida física de cuánto cuesta atacarla.</a:t>
            </a:r>
            <a:endParaRPr lang="en-US" sz="1150" dirty="0"/>
          </a:p>
        </p:txBody>
      </p:sp>
      <p:sp>
        <p:nvSpPr>
          <p:cNvPr id="20" name="Text 17"/>
          <p:cNvSpPr/>
          <p:nvPr/>
        </p:nvSpPr>
        <p:spPr>
          <a:xfrm>
            <a:off x="566928" y="5440680"/>
            <a:ext cx="11057839" cy="731520"/>
          </a:xfrm>
          <a:prstGeom prst="rect">
            <a:avLst/>
          </a:prstGeom>
          <a:noFill/>
          <a:ln/>
        </p:spPr>
        <p:txBody>
          <a:bodyPr wrap="square" lIns="0" tIns="0" rIns="0" bIns="0" rtlCol="0" anchor="t"/>
          <a:lstStyle/>
          <a:p>
            <a:pPr indent="0" marL="0">
              <a:lnSpc>
                <a:spcPct val="124000"/>
              </a:lnSpc>
              <a:buNone/>
            </a:pPr>
            <a:r>
              <a:rPr lang="en-US" sz="1300" dirty="0">
                <a:solidFill>
                  <a:srgbClr val="3A3844"/>
                </a:solidFill>
                <a:latin typeface="Arial" pitchFamily="34" charset="0"/>
                <a:ea typeface="Arial" pitchFamily="34" charset="-122"/>
                <a:cs typeface="Arial" pitchFamily="34" charset="-120"/>
              </a:rPr>
              <a:t>Consecuencia práctica: el tiempo de bloque no mide lo rápido que es la red, mide una decisión de diseño. Diez minutos dan tiempo a que un bloque se propague antes de que aparezca el siguiente, y eso reduce las bifurcaciones.</a:t>
            </a:r>
            <a:endParaRPr lang="en-US" sz="1300" dirty="0"/>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name="Slide 14">
    <p:bg>
      <p:bgPr>
        <a:solidFill>
          <a:srgbClr val="FFFFFF"/>
        </a:solidFill>
      </p:bgPr>
    </p:bg>
    <p:spTree>
      <p:nvGrpSpPr>
        <p:cNvPr id="1" name=""/>
        <p:cNvGrpSpPr/>
        <p:nvPr/>
      </p:nvGrpSpPr>
      <p:grpSpPr>
        <a:xfrm>
          <a:off x="0" y="0"/>
          <a:ext cx="0" cy="0"/>
          <a:chOff x="0" y="0"/>
          <a:chExt cx="0" cy="0"/>
        </a:xfrm>
      </p:grpSpPr>
      <p:pic>
        <p:nvPicPr>
          <p:cNvPr id="2" name="Image 0" descr="preencoded.png">    </p:cNvPr>
          <p:cNvPicPr>
            <a:picLocks noChangeAspect="1"/>
          </p:cNvPicPr>
          <p:nvPr/>
        </p:nvPicPr>
        <p:blipFill>
          <a:blip r:embed="rId1"/>
          <a:stretch>
            <a:fillRect/>
          </a:stretch>
        </p:blipFill>
        <p:spPr>
          <a:xfrm>
            <a:off x="566928" y="402336"/>
            <a:ext cx="274320" cy="274320"/>
          </a:xfrm>
          <a:prstGeom prst="rect">
            <a:avLst/>
          </a:prstGeom>
        </p:spPr>
      </p:pic>
      <p:sp>
        <p:nvSpPr>
          <p:cNvPr id="3" name="Text 0"/>
          <p:cNvSpPr/>
          <p:nvPr/>
        </p:nvSpPr>
        <p:spPr>
          <a:xfrm>
            <a:off x="969264" y="384048"/>
            <a:ext cx="10655503" cy="310896"/>
          </a:xfrm>
          <a:prstGeom prst="rect">
            <a:avLst/>
          </a:prstGeom>
          <a:noFill/>
          <a:ln/>
        </p:spPr>
        <p:txBody>
          <a:bodyPr wrap="square" lIns="0" tIns="0" rIns="0" bIns="0" rtlCol="0" anchor="ctr"/>
          <a:lstStyle/>
          <a:p>
            <a:pPr indent="0" marL="0">
              <a:buNone/>
            </a:pPr>
            <a:r>
              <a:rPr lang="en-US" sz="950" spc="160" kern="0" dirty="0">
                <a:solidFill>
                  <a:srgbClr val="6F6B80"/>
                </a:solidFill>
                <a:latin typeface="Courier New" pitchFamily="34" charset="0"/>
                <a:ea typeface="Courier New" pitchFamily="34" charset="-122"/>
                <a:cs typeface="Courier New" pitchFamily="34" charset="-120"/>
              </a:rPr>
              <a:t>A.7 · LA REGLA DE ELECCIÓN</a:t>
            </a:r>
            <a:endParaRPr lang="en-US" sz="950" dirty="0"/>
          </a:p>
        </p:txBody>
      </p:sp>
      <p:sp>
        <p:nvSpPr>
          <p:cNvPr id="4" name="Text 1"/>
          <p:cNvSpPr/>
          <p:nvPr/>
        </p:nvSpPr>
        <p:spPr>
          <a:xfrm>
            <a:off x="566928" y="777240"/>
            <a:ext cx="11057839" cy="777240"/>
          </a:xfrm>
          <a:prstGeom prst="rect">
            <a:avLst/>
          </a:prstGeom>
          <a:noFill/>
          <a:ln/>
        </p:spPr>
        <p:txBody>
          <a:bodyPr wrap="square" lIns="0" tIns="0" rIns="0" bIns="0" rtlCol="0" anchor="t"/>
          <a:lstStyle/>
          <a:p>
            <a:pPr indent="0" marL="0">
              <a:lnSpc>
                <a:spcPct val="92000"/>
              </a:lnSpc>
              <a:buNone/>
            </a:pPr>
            <a:r>
              <a:rPr lang="en-US" sz="2700" dirty="0">
                <a:solidFill>
                  <a:srgbClr val="0F0F11"/>
                </a:solidFill>
                <a:latin typeface="Arial Black" pitchFamily="34" charset="0"/>
                <a:ea typeface="Arial Black" pitchFamily="34" charset="-122"/>
                <a:cs typeface="Arial Black" pitchFamily="34" charset="-120"/>
              </a:rPr>
              <a:t>GANA LA CADENA CON MÁS TRABAJO ACUMULADO</a:t>
            </a:r>
            <a:endParaRPr lang="en-US" sz="2700" dirty="0"/>
          </a:p>
        </p:txBody>
      </p:sp>
      <p:sp>
        <p:nvSpPr>
          <p:cNvPr id="5" name="Text 2"/>
          <p:cNvSpPr/>
          <p:nvPr/>
        </p:nvSpPr>
        <p:spPr>
          <a:xfrm>
            <a:off x="566928" y="6291072"/>
            <a:ext cx="8412480" cy="274320"/>
          </a:xfrm>
          <a:prstGeom prst="rect">
            <a:avLst/>
          </a:prstGeom>
          <a:noFill/>
          <a:ln/>
        </p:spPr>
        <p:txBody>
          <a:bodyPr wrap="square" lIns="0" tIns="0" rIns="0" bIns="0" rtlCol="0" anchor="ctr"/>
          <a:lstStyle/>
          <a:p>
            <a:pPr indent="0" marL="0">
              <a:buNone/>
            </a:pPr>
            <a:r>
              <a:rPr lang="en-US" sz="800" spc="120" kern="0" dirty="0">
                <a:solidFill>
                  <a:srgbClr val="6F6B80"/>
                </a:solidFill>
                <a:latin typeface="Courier New" pitchFamily="34" charset="0"/>
                <a:ea typeface="Courier New" pitchFamily="34" charset="-122"/>
                <a:cs typeface="Courier New" pitchFamily="34" charset="-120"/>
              </a:rPr>
              <a:t>SESIÓN 04 · CONSENSO, INCENTIVOS Y EL TRILEMA</a:t>
            </a:r>
            <a:endParaRPr lang="en-US" sz="800" dirty="0"/>
          </a:p>
        </p:txBody>
      </p:sp>
      <p:sp>
        <p:nvSpPr>
          <p:cNvPr id="6" name="Text 3"/>
          <p:cNvSpPr/>
          <p:nvPr/>
        </p:nvSpPr>
        <p:spPr>
          <a:xfrm>
            <a:off x="9052560" y="6291072"/>
            <a:ext cx="1828800" cy="274320"/>
          </a:xfrm>
          <a:prstGeom prst="rect">
            <a:avLst/>
          </a:prstGeom>
          <a:noFill/>
          <a:ln/>
        </p:spPr>
        <p:txBody>
          <a:bodyPr wrap="square" lIns="0" tIns="0" rIns="0" bIns="0" rtlCol="0" anchor="ctr"/>
          <a:lstStyle/>
          <a:p>
            <a:pPr algn="r" indent="0" marL="0">
              <a:buNone/>
            </a:pPr>
            <a:r>
              <a:rPr lang="en-US" sz="800" spc="120" kern="0" dirty="0">
                <a:solidFill>
                  <a:srgbClr val="6F6B80"/>
                </a:solidFill>
                <a:latin typeface="Courier New" pitchFamily="34" charset="0"/>
                <a:ea typeface="Courier New" pitchFamily="34" charset="-122"/>
                <a:cs typeface="Courier New" pitchFamily="34" charset="-120"/>
              </a:rPr>
              <a:t>USB MEDELLÍN</a:t>
            </a:r>
            <a:endParaRPr lang="en-US" sz="800" dirty="0"/>
          </a:p>
        </p:txBody>
      </p:sp>
      <p:sp>
        <p:nvSpPr>
          <p:cNvPr id="7" name="Text 4"/>
          <p:cNvSpPr/>
          <p:nvPr/>
        </p:nvSpPr>
        <p:spPr>
          <a:xfrm>
            <a:off x="11018520" y="6291072"/>
            <a:ext cx="603504" cy="274320"/>
          </a:xfrm>
          <a:prstGeom prst="rect">
            <a:avLst/>
          </a:prstGeom>
          <a:noFill/>
          <a:ln/>
        </p:spPr>
        <p:txBody>
          <a:bodyPr wrap="square" lIns="0" tIns="0" rIns="0" bIns="0" rtlCol="0" anchor="ctr"/>
          <a:lstStyle/>
          <a:p>
            <a:pPr algn="r" indent="0" marL="0">
              <a:buNone/>
            </a:pPr>
            <a:r>
              <a:rPr lang="en-US" sz="900" b="1" dirty="0">
                <a:solidFill>
                  <a:srgbClr val="0F0F11"/>
                </a:solidFill>
                <a:latin typeface="Courier New" pitchFamily="34" charset="0"/>
                <a:ea typeface="Courier New" pitchFamily="34" charset="-122"/>
                <a:cs typeface="Courier New" pitchFamily="34" charset="-120"/>
              </a:rPr>
              <a:t>14</a:t>
            </a:r>
            <a:endParaRPr lang="en-US" sz="900" dirty="0"/>
          </a:p>
        </p:txBody>
      </p:sp>
      <p:sp>
        <p:nvSpPr>
          <p:cNvPr id="8" name="Text 5"/>
          <p:cNvSpPr/>
          <p:nvPr/>
        </p:nvSpPr>
        <p:spPr>
          <a:xfrm>
            <a:off x="566928" y="1737360"/>
            <a:ext cx="11057839" cy="868680"/>
          </a:xfrm>
          <a:prstGeom prst="rect">
            <a:avLst/>
          </a:prstGeom>
          <a:noFill/>
          <a:ln/>
        </p:spPr>
        <p:txBody>
          <a:bodyPr wrap="square" lIns="0" tIns="0" rIns="0" bIns="0" rtlCol="0" anchor="t"/>
          <a:lstStyle/>
          <a:p>
            <a:pPr indent="0" marL="0">
              <a:lnSpc>
                <a:spcPct val="124000"/>
              </a:lnSpc>
              <a:buNone/>
            </a:pPr>
            <a:r>
              <a:rPr lang="en-US" sz="1450" dirty="0">
                <a:solidFill>
                  <a:srgbClr val="3A3844"/>
                </a:solidFill>
                <a:latin typeface="Arial" pitchFamily="34" charset="0"/>
                <a:ea typeface="Arial" pitchFamily="34" charset="-122"/>
                <a:cs typeface="Arial" pitchFamily="34" charset="-120"/>
              </a:rPr>
              <a:t>Cuando un nodo ve dos cadenas válidas, se queda con la que representa más trabajo total. Casi siempre coincide con la más larga, pero no es lo mismo: una cadena corta con bloques muy difíciles puede pesar más.</a:t>
            </a:r>
            <a:endParaRPr lang="en-US" sz="1450" dirty="0"/>
          </a:p>
        </p:txBody>
      </p:sp>
      <p:graphicFrame>
        <p:nvGraphicFramePr>
          <p:cNvPr id="15" name="Table 0"/>
          <p:cNvGraphicFramePr>
            <a:graphicFrameLocks noGrp="1"/>
          </p:cNvGraphicFramePr>
          <p:nvPr>
            <p:extLst>
              <p:ext uri="{D42A27DB-BD31-4B8C-83A1-F6EECF244321}">
                <p14:modId xmlns:p14="http://schemas.microsoft.com/office/powerpoint/2010/main" val="1579011935"/>
              </p:ext>
            </p:extLst>
          </p:nvPr>
        </p:nvGraphicFramePr>
        <p:xfrm>
          <a:off x="566928" y="2834640"/>
          <a:ext cx="11057839" cy="914400"/>
        </p:xfrm>
        <a:graphic>
          <a:graphicData uri="http://schemas.openxmlformats.org/drawingml/2006/table">
            <a:tbl>
              <a:tblPr/>
              <a:tblGrid>
                <a:gridCol w="1645920"/>
                <a:gridCol w="1828800"/>
                <a:gridCol w="3108960"/>
                <a:gridCol w="4474159"/>
              </a:tblGrid>
              <a:tr h="310896">
                <a:tc>
                  <a:txBody>
                    <a:bodyPr/>
                    <a:lstStyle/>
                    <a:p>
                      <a:pPr indent="0" marL="0">
                        <a:buNone/>
                      </a:pPr>
                      <a:r>
                        <a:rPr lang="en-US" sz="900" b="1" spc="110" kern="0" dirty="0">
                          <a:solidFill>
                            <a:srgbClr val="FFFFFF"/>
                          </a:solidFill>
                          <a:latin typeface="Courier New" pitchFamily="34" charset="0"/>
                          <a:ea typeface="Courier New" pitchFamily="34" charset="-122"/>
                          <a:cs typeface="Courier New" pitchFamily="34" charset="-120"/>
                        </a:rPr>
                        <a:t>CADENA</a:t>
                      </a:r>
                      <a:endParaRPr lang="en-US" sz="900" dirty="0">
                        <a:latin typeface="Courier New" charset="0"/>
                        <a:ea typeface="Courier New" charset="0"/>
                        <a:cs typeface="Courier New" charset="0"/>
                      </a:endParaRPr>
                    </a:p>
                  </a:txBody>
                  <a:tcPr marL="101600" marR="101600" marT="76200" marB="76200" anchor="ctr">
                    <a:lnL w="12700" cap="flat" cmpd="sng" algn="ctr">
                      <a:solidFill>
                        <a:srgbClr val="D9D6E0"/>
                      </a:solidFill>
                      <a:prstDash val="solid"/>
                      <a:round/>
                      <a:headEnd type="none" w="med" len="med"/>
                      <a:tailEnd type="none" w="med" len="med"/>
                    </a:lnL>
                    <a:lnR w="12700" cap="flat" cmpd="sng" algn="ctr">
                      <a:solidFill>
                        <a:srgbClr val="D9D6E0"/>
                      </a:solidFill>
                      <a:prstDash val="solid"/>
                      <a:round/>
                      <a:headEnd type="none" w="med" len="med"/>
                      <a:tailEnd type="none" w="med" len="med"/>
                    </a:lnR>
                    <a:lnT w="12700" cap="flat" cmpd="sng" algn="ctr">
                      <a:solidFill>
                        <a:srgbClr val="D9D6E0"/>
                      </a:solidFill>
                      <a:prstDash val="solid"/>
                      <a:round/>
                      <a:headEnd type="none" w="med" len="med"/>
                      <a:tailEnd type="none" w="med" len="med"/>
                    </a:lnT>
                    <a:lnB w="12700" cap="flat" cmpd="sng" algn="ctr">
                      <a:solidFill>
                        <a:srgbClr val="D9D6E0"/>
                      </a:solidFill>
                      <a:prstDash val="solid"/>
                      <a:round/>
                      <a:headEnd type="none" w="med" len="med"/>
                      <a:tailEnd type="none" w="med" len="med"/>
                    </a:lnB>
                    <a:solidFill>
                      <a:srgbClr val="0F0F11"/>
                    </a:solidFill>
                  </a:tcPr>
                </a:tc>
                <a:tc>
                  <a:txBody>
                    <a:bodyPr/>
                    <a:lstStyle/>
                    <a:p>
                      <a:pPr indent="0" marL="0">
                        <a:buNone/>
                      </a:pPr>
                      <a:r>
                        <a:rPr lang="en-US" sz="900" b="1" spc="110" kern="0" dirty="0">
                          <a:solidFill>
                            <a:srgbClr val="FFFFFF"/>
                          </a:solidFill>
                          <a:latin typeface="Courier New" pitchFamily="34" charset="0"/>
                          <a:ea typeface="Courier New" pitchFamily="34" charset="-122"/>
                          <a:cs typeface="Courier New" pitchFamily="34" charset="-120"/>
                        </a:rPr>
                        <a:t>BLOQUES</a:t>
                      </a:r>
                      <a:endParaRPr lang="en-US" sz="900" dirty="0">
                        <a:latin typeface="Courier New" charset="0"/>
                        <a:ea typeface="Courier New" charset="0"/>
                        <a:cs typeface="Courier New" charset="0"/>
                      </a:endParaRPr>
                    </a:p>
                  </a:txBody>
                  <a:tcPr marL="101600" marR="101600" marT="76200" marB="76200" anchor="ctr">
                    <a:lnL w="12700" cap="flat" cmpd="sng" algn="ctr">
                      <a:solidFill>
                        <a:srgbClr val="D9D6E0"/>
                      </a:solidFill>
                      <a:prstDash val="solid"/>
                      <a:round/>
                      <a:headEnd type="none" w="med" len="med"/>
                      <a:tailEnd type="none" w="med" len="med"/>
                    </a:lnL>
                    <a:lnR w="12700" cap="flat" cmpd="sng" algn="ctr">
                      <a:solidFill>
                        <a:srgbClr val="D9D6E0"/>
                      </a:solidFill>
                      <a:prstDash val="solid"/>
                      <a:round/>
                      <a:headEnd type="none" w="med" len="med"/>
                      <a:tailEnd type="none" w="med" len="med"/>
                    </a:lnR>
                    <a:lnT w="12700" cap="flat" cmpd="sng" algn="ctr">
                      <a:solidFill>
                        <a:srgbClr val="D9D6E0"/>
                      </a:solidFill>
                      <a:prstDash val="solid"/>
                      <a:round/>
                      <a:headEnd type="none" w="med" len="med"/>
                      <a:tailEnd type="none" w="med" len="med"/>
                    </a:lnT>
                    <a:lnB w="12700" cap="flat" cmpd="sng" algn="ctr">
                      <a:solidFill>
                        <a:srgbClr val="D9D6E0"/>
                      </a:solidFill>
                      <a:prstDash val="solid"/>
                      <a:round/>
                      <a:headEnd type="none" w="med" len="med"/>
                      <a:tailEnd type="none" w="med" len="med"/>
                    </a:lnB>
                    <a:solidFill>
                      <a:srgbClr val="0F0F11"/>
                    </a:solidFill>
                  </a:tcPr>
                </a:tc>
                <a:tc>
                  <a:txBody>
                    <a:bodyPr/>
                    <a:lstStyle/>
                    <a:p>
                      <a:pPr indent="0" marL="0">
                        <a:buNone/>
                      </a:pPr>
                      <a:r>
                        <a:rPr lang="en-US" sz="900" b="1" spc="110" kern="0" dirty="0">
                          <a:solidFill>
                            <a:srgbClr val="FFFFFF"/>
                          </a:solidFill>
                          <a:latin typeface="Courier New" pitchFamily="34" charset="0"/>
                          <a:ea typeface="Courier New" pitchFamily="34" charset="-122"/>
                          <a:cs typeface="Courier New" pitchFamily="34" charset="-120"/>
                        </a:rPr>
                        <a:t>DIFICULTAD POR BLOQUE</a:t>
                      </a:r>
                      <a:endParaRPr lang="en-US" sz="900" dirty="0">
                        <a:latin typeface="Courier New" charset="0"/>
                        <a:ea typeface="Courier New" charset="0"/>
                        <a:cs typeface="Courier New" charset="0"/>
                      </a:endParaRPr>
                    </a:p>
                  </a:txBody>
                  <a:tcPr marL="101600" marR="101600" marT="76200" marB="76200" anchor="ctr">
                    <a:lnL w="12700" cap="flat" cmpd="sng" algn="ctr">
                      <a:solidFill>
                        <a:srgbClr val="D9D6E0"/>
                      </a:solidFill>
                      <a:prstDash val="solid"/>
                      <a:round/>
                      <a:headEnd type="none" w="med" len="med"/>
                      <a:tailEnd type="none" w="med" len="med"/>
                    </a:lnL>
                    <a:lnR w="12700" cap="flat" cmpd="sng" algn="ctr">
                      <a:solidFill>
                        <a:srgbClr val="D9D6E0"/>
                      </a:solidFill>
                      <a:prstDash val="solid"/>
                      <a:round/>
                      <a:headEnd type="none" w="med" len="med"/>
                      <a:tailEnd type="none" w="med" len="med"/>
                    </a:lnR>
                    <a:lnT w="12700" cap="flat" cmpd="sng" algn="ctr">
                      <a:solidFill>
                        <a:srgbClr val="D9D6E0"/>
                      </a:solidFill>
                      <a:prstDash val="solid"/>
                      <a:round/>
                      <a:headEnd type="none" w="med" len="med"/>
                      <a:tailEnd type="none" w="med" len="med"/>
                    </a:lnT>
                    <a:lnB w="12700" cap="flat" cmpd="sng" algn="ctr">
                      <a:solidFill>
                        <a:srgbClr val="D9D6E0"/>
                      </a:solidFill>
                      <a:prstDash val="solid"/>
                      <a:round/>
                      <a:headEnd type="none" w="med" len="med"/>
                      <a:tailEnd type="none" w="med" len="med"/>
                    </a:lnB>
                    <a:solidFill>
                      <a:srgbClr val="0F0F11"/>
                    </a:solidFill>
                  </a:tcPr>
                </a:tc>
                <a:tc>
                  <a:txBody>
                    <a:bodyPr/>
                    <a:lstStyle/>
                    <a:p>
                      <a:pPr indent="0" marL="0">
                        <a:buNone/>
                      </a:pPr>
                      <a:r>
                        <a:rPr lang="en-US" sz="900" b="1" spc="110" kern="0" dirty="0">
                          <a:solidFill>
                            <a:srgbClr val="FFFFFF"/>
                          </a:solidFill>
                          <a:latin typeface="Courier New" pitchFamily="34" charset="0"/>
                          <a:ea typeface="Courier New" pitchFamily="34" charset="-122"/>
                          <a:cs typeface="Courier New" pitchFamily="34" charset="-120"/>
                        </a:rPr>
                        <a:t>TRABAJO ACUMULADO</a:t>
                      </a:r>
                      <a:endParaRPr lang="en-US" sz="900" dirty="0">
                        <a:latin typeface="Courier New" charset="0"/>
                        <a:ea typeface="Courier New" charset="0"/>
                        <a:cs typeface="Courier New" charset="0"/>
                      </a:endParaRPr>
                    </a:p>
                  </a:txBody>
                  <a:tcPr marL="101600" marR="101600" marT="76200" marB="76200" anchor="ctr">
                    <a:lnL w="12700" cap="flat" cmpd="sng" algn="ctr">
                      <a:solidFill>
                        <a:srgbClr val="D9D6E0"/>
                      </a:solidFill>
                      <a:prstDash val="solid"/>
                      <a:round/>
                      <a:headEnd type="none" w="med" len="med"/>
                      <a:tailEnd type="none" w="med" len="med"/>
                    </a:lnL>
                    <a:lnR w="12700" cap="flat" cmpd="sng" algn="ctr">
                      <a:solidFill>
                        <a:srgbClr val="D9D6E0"/>
                      </a:solidFill>
                      <a:prstDash val="solid"/>
                      <a:round/>
                      <a:headEnd type="none" w="med" len="med"/>
                      <a:tailEnd type="none" w="med" len="med"/>
                    </a:lnR>
                    <a:lnT w="12700" cap="flat" cmpd="sng" algn="ctr">
                      <a:solidFill>
                        <a:srgbClr val="D9D6E0"/>
                      </a:solidFill>
                      <a:prstDash val="solid"/>
                      <a:round/>
                      <a:headEnd type="none" w="med" len="med"/>
                      <a:tailEnd type="none" w="med" len="med"/>
                    </a:lnT>
                    <a:lnB w="12700" cap="flat" cmpd="sng" algn="ctr">
                      <a:solidFill>
                        <a:srgbClr val="D9D6E0"/>
                      </a:solidFill>
                      <a:prstDash val="solid"/>
                      <a:round/>
                      <a:headEnd type="none" w="med" len="med"/>
                      <a:tailEnd type="none" w="med" len="med"/>
                    </a:lnB>
                    <a:solidFill>
                      <a:srgbClr val="0F0F11"/>
                    </a:solidFill>
                  </a:tcPr>
                </a:tc>
              </a:tr>
              <a:tr h="484632">
                <a:tc>
                  <a:txBody>
                    <a:bodyPr/>
                    <a:lstStyle/>
                    <a:p>
                      <a:pPr indent="0" marL="0">
                        <a:buNone/>
                      </a:pPr>
                      <a:r>
                        <a:rPr lang="en-US" sz="1250" b="1" dirty="0">
                          <a:solidFill>
                            <a:srgbClr val="0F0F11"/>
                          </a:solidFill>
                          <a:latin typeface="Courier New" pitchFamily="34" charset="0"/>
                          <a:ea typeface="Courier New" pitchFamily="34" charset="-122"/>
                          <a:cs typeface="Courier New" pitchFamily="34" charset="-120"/>
                        </a:rPr>
                        <a:t>A</a:t>
                      </a:r>
                      <a:endParaRPr lang="en-US" sz="1250" dirty="0">
                        <a:latin typeface="Courier New" charset="0"/>
                        <a:ea typeface="Courier New" charset="0"/>
                        <a:cs typeface="Courier New" charset="0"/>
                      </a:endParaRPr>
                    </a:p>
                  </a:txBody>
                  <a:tcPr marL="101600" marR="101600" marT="76200" marB="76200" anchor="t">
                    <a:lnL w="12700" cap="flat" cmpd="sng" algn="ctr">
                      <a:solidFill>
                        <a:srgbClr val="D9D6E0"/>
                      </a:solidFill>
                      <a:prstDash val="solid"/>
                      <a:round/>
                      <a:headEnd type="none" w="med" len="med"/>
                      <a:tailEnd type="none" w="med" len="med"/>
                    </a:lnL>
                    <a:lnR w="12700" cap="flat" cmpd="sng" algn="ctr">
                      <a:solidFill>
                        <a:srgbClr val="D9D6E0"/>
                      </a:solidFill>
                      <a:prstDash val="solid"/>
                      <a:round/>
                      <a:headEnd type="none" w="med" len="med"/>
                      <a:tailEnd type="none" w="med" len="med"/>
                    </a:lnR>
                    <a:lnT w="12700" cap="flat" cmpd="sng" algn="ctr">
                      <a:solidFill>
                        <a:srgbClr val="D9D6E0"/>
                      </a:solidFill>
                      <a:prstDash val="solid"/>
                      <a:round/>
                      <a:headEnd type="none" w="med" len="med"/>
                      <a:tailEnd type="none" w="med" len="med"/>
                    </a:lnT>
                    <a:lnB w="12700" cap="flat" cmpd="sng" algn="ctr">
                      <a:solidFill>
                        <a:srgbClr val="D9D6E0"/>
                      </a:solidFill>
                      <a:prstDash val="solid"/>
                      <a:round/>
                      <a:headEnd type="none" w="med" len="med"/>
                      <a:tailEnd type="none" w="med" len="med"/>
                    </a:lnB>
                    <a:solidFill>
                      <a:srgbClr val="FFFFFF"/>
                    </a:solidFill>
                  </a:tcPr>
                </a:tc>
                <a:tc>
                  <a:txBody>
                    <a:bodyPr/>
                    <a:lstStyle/>
                    <a:p>
                      <a:pPr indent="0" marL="0">
                        <a:buNone/>
                      </a:pPr>
                      <a:r>
                        <a:rPr lang="en-US" sz="1250" dirty="0">
                          <a:solidFill>
                            <a:srgbClr val="3A3844"/>
                          </a:solidFill>
                          <a:latin typeface="Arial" pitchFamily="34" charset="0"/>
                          <a:ea typeface="Arial" pitchFamily="34" charset="-122"/>
                          <a:cs typeface="Arial" pitchFamily="34" charset="-120"/>
                        </a:rPr>
                        <a:t>6</a:t>
                      </a:r>
                      <a:endParaRPr lang="en-US" sz="1250" dirty="0">
                        <a:latin typeface="Arial" charset="0"/>
                        <a:ea typeface="Arial" charset="0"/>
                        <a:cs typeface="Arial" charset="0"/>
                      </a:endParaRPr>
                    </a:p>
                  </a:txBody>
                  <a:tcPr marL="101600" marR="101600" marT="76200" marB="76200" anchor="t">
                    <a:lnL w="12700" cap="flat" cmpd="sng" algn="ctr">
                      <a:solidFill>
                        <a:srgbClr val="D9D6E0"/>
                      </a:solidFill>
                      <a:prstDash val="solid"/>
                      <a:round/>
                      <a:headEnd type="none" w="med" len="med"/>
                      <a:tailEnd type="none" w="med" len="med"/>
                    </a:lnL>
                    <a:lnR w="12700" cap="flat" cmpd="sng" algn="ctr">
                      <a:solidFill>
                        <a:srgbClr val="D9D6E0"/>
                      </a:solidFill>
                      <a:prstDash val="solid"/>
                      <a:round/>
                      <a:headEnd type="none" w="med" len="med"/>
                      <a:tailEnd type="none" w="med" len="med"/>
                    </a:lnR>
                    <a:lnT w="12700" cap="flat" cmpd="sng" algn="ctr">
                      <a:solidFill>
                        <a:srgbClr val="D9D6E0"/>
                      </a:solidFill>
                      <a:prstDash val="solid"/>
                      <a:round/>
                      <a:headEnd type="none" w="med" len="med"/>
                      <a:tailEnd type="none" w="med" len="med"/>
                    </a:lnT>
                    <a:lnB w="12700" cap="flat" cmpd="sng" algn="ctr">
                      <a:solidFill>
                        <a:srgbClr val="D9D6E0"/>
                      </a:solidFill>
                      <a:prstDash val="solid"/>
                      <a:round/>
                      <a:headEnd type="none" w="med" len="med"/>
                      <a:tailEnd type="none" w="med" len="med"/>
                    </a:lnB>
                    <a:solidFill>
                      <a:srgbClr val="FFFFFF"/>
                    </a:solidFill>
                  </a:tcPr>
                </a:tc>
                <a:tc>
                  <a:txBody>
                    <a:bodyPr/>
                    <a:lstStyle/>
                    <a:p>
                      <a:pPr indent="0" marL="0">
                        <a:buNone/>
                      </a:pPr>
                      <a:r>
                        <a:rPr lang="en-US" sz="1250" dirty="0">
                          <a:solidFill>
                            <a:srgbClr val="3A3844"/>
                          </a:solidFill>
                          <a:latin typeface="Arial" pitchFamily="34" charset="0"/>
                          <a:ea typeface="Arial" pitchFamily="34" charset="-122"/>
                          <a:cs typeface="Arial" pitchFamily="34" charset="-120"/>
                        </a:rPr>
                        <a:t>100</a:t>
                      </a:r>
                      <a:endParaRPr lang="en-US" sz="1250" dirty="0">
                        <a:latin typeface="Arial" charset="0"/>
                        <a:ea typeface="Arial" charset="0"/>
                        <a:cs typeface="Arial" charset="0"/>
                      </a:endParaRPr>
                    </a:p>
                  </a:txBody>
                  <a:tcPr marL="101600" marR="101600" marT="76200" marB="76200" anchor="t">
                    <a:lnL w="12700" cap="flat" cmpd="sng" algn="ctr">
                      <a:solidFill>
                        <a:srgbClr val="D9D6E0"/>
                      </a:solidFill>
                      <a:prstDash val="solid"/>
                      <a:round/>
                      <a:headEnd type="none" w="med" len="med"/>
                      <a:tailEnd type="none" w="med" len="med"/>
                    </a:lnL>
                    <a:lnR w="12700" cap="flat" cmpd="sng" algn="ctr">
                      <a:solidFill>
                        <a:srgbClr val="D9D6E0"/>
                      </a:solidFill>
                      <a:prstDash val="solid"/>
                      <a:round/>
                      <a:headEnd type="none" w="med" len="med"/>
                      <a:tailEnd type="none" w="med" len="med"/>
                    </a:lnR>
                    <a:lnT w="12700" cap="flat" cmpd="sng" algn="ctr">
                      <a:solidFill>
                        <a:srgbClr val="D9D6E0"/>
                      </a:solidFill>
                      <a:prstDash val="solid"/>
                      <a:round/>
                      <a:headEnd type="none" w="med" len="med"/>
                      <a:tailEnd type="none" w="med" len="med"/>
                    </a:lnT>
                    <a:lnB w="12700" cap="flat" cmpd="sng" algn="ctr">
                      <a:solidFill>
                        <a:srgbClr val="D9D6E0"/>
                      </a:solidFill>
                      <a:prstDash val="solid"/>
                      <a:round/>
                      <a:headEnd type="none" w="med" len="med"/>
                      <a:tailEnd type="none" w="med" len="med"/>
                    </a:lnB>
                    <a:solidFill>
                      <a:srgbClr val="FFFFFF"/>
                    </a:solidFill>
                  </a:tcPr>
                </a:tc>
                <a:tc>
                  <a:txBody>
                    <a:bodyPr/>
                    <a:lstStyle/>
                    <a:p>
                      <a:pPr indent="0" marL="0">
                        <a:buNone/>
                      </a:pPr>
                      <a:r>
                        <a:rPr lang="en-US" sz="1250" dirty="0">
                          <a:solidFill>
                            <a:srgbClr val="3A3844"/>
                          </a:solidFill>
                          <a:latin typeface="Arial" pitchFamily="34" charset="0"/>
                          <a:ea typeface="Arial" pitchFamily="34" charset="-122"/>
                          <a:cs typeface="Arial" pitchFamily="34" charset="-120"/>
                        </a:rPr>
                        <a:t>600</a:t>
                      </a:r>
                      <a:endParaRPr lang="en-US" sz="1250" dirty="0">
                        <a:latin typeface="Arial" charset="0"/>
                        <a:ea typeface="Arial" charset="0"/>
                        <a:cs typeface="Arial" charset="0"/>
                      </a:endParaRPr>
                    </a:p>
                  </a:txBody>
                  <a:tcPr marL="101600" marR="101600" marT="76200" marB="76200" anchor="t">
                    <a:lnL w="12700" cap="flat" cmpd="sng" algn="ctr">
                      <a:solidFill>
                        <a:srgbClr val="D9D6E0"/>
                      </a:solidFill>
                      <a:prstDash val="solid"/>
                      <a:round/>
                      <a:headEnd type="none" w="med" len="med"/>
                      <a:tailEnd type="none" w="med" len="med"/>
                    </a:lnL>
                    <a:lnR w="12700" cap="flat" cmpd="sng" algn="ctr">
                      <a:solidFill>
                        <a:srgbClr val="D9D6E0"/>
                      </a:solidFill>
                      <a:prstDash val="solid"/>
                      <a:round/>
                      <a:headEnd type="none" w="med" len="med"/>
                      <a:tailEnd type="none" w="med" len="med"/>
                    </a:lnR>
                    <a:lnT w="12700" cap="flat" cmpd="sng" algn="ctr">
                      <a:solidFill>
                        <a:srgbClr val="D9D6E0"/>
                      </a:solidFill>
                      <a:prstDash val="solid"/>
                      <a:round/>
                      <a:headEnd type="none" w="med" len="med"/>
                      <a:tailEnd type="none" w="med" len="med"/>
                    </a:lnT>
                    <a:lnB w="12700" cap="flat" cmpd="sng" algn="ctr">
                      <a:solidFill>
                        <a:srgbClr val="D9D6E0"/>
                      </a:solidFill>
                      <a:prstDash val="solid"/>
                      <a:round/>
                      <a:headEnd type="none" w="med" len="med"/>
                      <a:tailEnd type="none" w="med" len="med"/>
                    </a:lnB>
                    <a:solidFill>
                      <a:srgbClr val="FFFFFF"/>
                    </a:solidFill>
                  </a:tcPr>
                </a:tc>
              </a:tr>
              <a:tr h="484632">
                <a:tc>
                  <a:txBody>
                    <a:bodyPr/>
                    <a:lstStyle/>
                    <a:p>
                      <a:pPr indent="0" marL="0">
                        <a:buNone/>
                      </a:pPr>
                      <a:r>
                        <a:rPr lang="en-US" sz="1250" b="1" dirty="0">
                          <a:solidFill>
                            <a:srgbClr val="0F0F11"/>
                          </a:solidFill>
                          <a:latin typeface="Courier New" pitchFamily="34" charset="0"/>
                          <a:ea typeface="Courier New" pitchFamily="34" charset="-122"/>
                          <a:cs typeface="Courier New" pitchFamily="34" charset="-120"/>
                        </a:rPr>
                        <a:t>B</a:t>
                      </a:r>
                      <a:endParaRPr lang="en-US" sz="1250" dirty="0">
                        <a:latin typeface="Courier New" charset="0"/>
                        <a:ea typeface="Courier New" charset="0"/>
                        <a:cs typeface="Courier New" charset="0"/>
                      </a:endParaRPr>
                    </a:p>
                  </a:txBody>
                  <a:tcPr marL="101600" marR="101600" marT="76200" marB="76200" anchor="t">
                    <a:lnL w="12700" cap="flat" cmpd="sng" algn="ctr">
                      <a:solidFill>
                        <a:srgbClr val="D9D6E0"/>
                      </a:solidFill>
                      <a:prstDash val="solid"/>
                      <a:round/>
                      <a:headEnd type="none" w="med" len="med"/>
                      <a:tailEnd type="none" w="med" len="med"/>
                    </a:lnL>
                    <a:lnR w="12700" cap="flat" cmpd="sng" algn="ctr">
                      <a:solidFill>
                        <a:srgbClr val="D9D6E0"/>
                      </a:solidFill>
                      <a:prstDash val="solid"/>
                      <a:round/>
                      <a:headEnd type="none" w="med" len="med"/>
                      <a:tailEnd type="none" w="med" len="med"/>
                    </a:lnR>
                    <a:lnT w="12700" cap="flat" cmpd="sng" algn="ctr">
                      <a:solidFill>
                        <a:srgbClr val="D9D6E0"/>
                      </a:solidFill>
                      <a:prstDash val="solid"/>
                      <a:round/>
                      <a:headEnd type="none" w="med" len="med"/>
                      <a:tailEnd type="none" w="med" len="med"/>
                    </a:lnT>
                    <a:lnB w="12700" cap="flat" cmpd="sng" algn="ctr">
                      <a:solidFill>
                        <a:srgbClr val="D9D6E0"/>
                      </a:solidFill>
                      <a:prstDash val="solid"/>
                      <a:round/>
                      <a:headEnd type="none" w="med" len="med"/>
                      <a:tailEnd type="none" w="med" len="med"/>
                    </a:lnB>
                    <a:solidFill>
                      <a:srgbClr val="FAF9FB"/>
                    </a:solidFill>
                  </a:tcPr>
                </a:tc>
                <a:tc>
                  <a:txBody>
                    <a:bodyPr/>
                    <a:lstStyle/>
                    <a:p>
                      <a:pPr indent="0" marL="0">
                        <a:buNone/>
                      </a:pPr>
                      <a:r>
                        <a:rPr lang="en-US" sz="1250" dirty="0">
                          <a:solidFill>
                            <a:srgbClr val="3A3844"/>
                          </a:solidFill>
                          <a:latin typeface="Arial" pitchFamily="34" charset="0"/>
                          <a:ea typeface="Arial" pitchFamily="34" charset="-122"/>
                          <a:cs typeface="Arial" pitchFamily="34" charset="-120"/>
                        </a:rPr>
                        <a:t>5</a:t>
                      </a:r>
                      <a:endParaRPr lang="en-US" sz="1250" dirty="0">
                        <a:latin typeface="Arial" charset="0"/>
                        <a:ea typeface="Arial" charset="0"/>
                        <a:cs typeface="Arial" charset="0"/>
                      </a:endParaRPr>
                    </a:p>
                  </a:txBody>
                  <a:tcPr marL="101600" marR="101600" marT="76200" marB="76200" anchor="t">
                    <a:lnL w="12700" cap="flat" cmpd="sng" algn="ctr">
                      <a:solidFill>
                        <a:srgbClr val="D9D6E0"/>
                      </a:solidFill>
                      <a:prstDash val="solid"/>
                      <a:round/>
                      <a:headEnd type="none" w="med" len="med"/>
                      <a:tailEnd type="none" w="med" len="med"/>
                    </a:lnL>
                    <a:lnR w="12700" cap="flat" cmpd="sng" algn="ctr">
                      <a:solidFill>
                        <a:srgbClr val="D9D6E0"/>
                      </a:solidFill>
                      <a:prstDash val="solid"/>
                      <a:round/>
                      <a:headEnd type="none" w="med" len="med"/>
                      <a:tailEnd type="none" w="med" len="med"/>
                    </a:lnR>
                    <a:lnT w="12700" cap="flat" cmpd="sng" algn="ctr">
                      <a:solidFill>
                        <a:srgbClr val="D9D6E0"/>
                      </a:solidFill>
                      <a:prstDash val="solid"/>
                      <a:round/>
                      <a:headEnd type="none" w="med" len="med"/>
                      <a:tailEnd type="none" w="med" len="med"/>
                    </a:lnT>
                    <a:lnB w="12700" cap="flat" cmpd="sng" algn="ctr">
                      <a:solidFill>
                        <a:srgbClr val="D9D6E0"/>
                      </a:solidFill>
                      <a:prstDash val="solid"/>
                      <a:round/>
                      <a:headEnd type="none" w="med" len="med"/>
                      <a:tailEnd type="none" w="med" len="med"/>
                    </a:lnB>
                    <a:solidFill>
                      <a:srgbClr val="FAF9FB"/>
                    </a:solidFill>
                  </a:tcPr>
                </a:tc>
                <a:tc>
                  <a:txBody>
                    <a:bodyPr/>
                    <a:lstStyle/>
                    <a:p>
                      <a:pPr indent="0" marL="0">
                        <a:buNone/>
                      </a:pPr>
                      <a:r>
                        <a:rPr lang="en-US" sz="1250" dirty="0">
                          <a:solidFill>
                            <a:srgbClr val="3A3844"/>
                          </a:solidFill>
                          <a:latin typeface="Arial" pitchFamily="34" charset="0"/>
                          <a:ea typeface="Arial" pitchFamily="34" charset="-122"/>
                          <a:cs typeface="Arial" pitchFamily="34" charset="-120"/>
                        </a:rPr>
                        <a:t>150</a:t>
                      </a:r>
                      <a:endParaRPr lang="en-US" sz="1250" dirty="0">
                        <a:latin typeface="Arial" charset="0"/>
                        <a:ea typeface="Arial" charset="0"/>
                        <a:cs typeface="Arial" charset="0"/>
                      </a:endParaRPr>
                    </a:p>
                  </a:txBody>
                  <a:tcPr marL="101600" marR="101600" marT="76200" marB="76200" anchor="t">
                    <a:lnL w="12700" cap="flat" cmpd="sng" algn="ctr">
                      <a:solidFill>
                        <a:srgbClr val="D9D6E0"/>
                      </a:solidFill>
                      <a:prstDash val="solid"/>
                      <a:round/>
                      <a:headEnd type="none" w="med" len="med"/>
                      <a:tailEnd type="none" w="med" len="med"/>
                    </a:lnL>
                    <a:lnR w="12700" cap="flat" cmpd="sng" algn="ctr">
                      <a:solidFill>
                        <a:srgbClr val="D9D6E0"/>
                      </a:solidFill>
                      <a:prstDash val="solid"/>
                      <a:round/>
                      <a:headEnd type="none" w="med" len="med"/>
                      <a:tailEnd type="none" w="med" len="med"/>
                    </a:lnR>
                    <a:lnT w="12700" cap="flat" cmpd="sng" algn="ctr">
                      <a:solidFill>
                        <a:srgbClr val="D9D6E0"/>
                      </a:solidFill>
                      <a:prstDash val="solid"/>
                      <a:round/>
                      <a:headEnd type="none" w="med" len="med"/>
                      <a:tailEnd type="none" w="med" len="med"/>
                    </a:lnT>
                    <a:lnB w="12700" cap="flat" cmpd="sng" algn="ctr">
                      <a:solidFill>
                        <a:srgbClr val="D9D6E0"/>
                      </a:solidFill>
                      <a:prstDash val="solid"/>
                      <a:round/>
                      <a:headEnd type="none" w="med" len="med"/>
                      <a:tailEnd type="none" w="med" len="med"/>
                    </a:lnB>
                    <a:solidFill>
                      <a:srgbClr val="FAF9FB"/>
                    </a:solidFill>
                  </a:tcPr>
                </a:tc>
                <a:tc>
                  <a:txBody>
                    <a:bodyPr/>
                    <a:lstStyle/>
                    <a:p>
                      <a:pPr indent="0" marL="0">
                        <a:buNone/>
                      </a:pPr>
                      <a:r>
                        <a:rPr lang="en-US" sz="1250" dirty="0">
                          <a:solidFill>
                            <a:srgbClr val="3A3844"/>
                          </a:solidFill>
                          <a:latin typeface="Arial" pitchFamily="34" charset="0"/>
                          <a:ea typeface="Arial" pitchFamily="34" charset="-122"/>
                          <a:cs typeface="Arial" pitchFamily="34" charset="-120"/>
                        </a:rPr>
                        <a:t>750  ← la red elige esta</a:t>
                      </a:r>
                      <a:endParaRPr lang="en-US" sz="1250" dirty="0">
                        <a:latin typeface="Arial" charset="0"/>
                        <a:ea typeface="Arial" charset="0"/>
                        <a:cs typeface="Arial" charset="0"/>
                      </a:endParaRPr>
                    </a:p>
                  </a:txBody>
                  <a:tcPr marL="101600" marR="101600" marT="76200" marB="76200" anchor="t">
                    <a:lnL w="12700" cap="flat" cmpd="sng" algn="ctr">
                      <a:solidFill>
                        <a:srgbClr val="D9D6E0"/>
                      </a:solidFill>
                      <a:prstDash val="solid"/>
                      <a:round/>
                      <a:headEnd type="none" w="med" len="med"/>
                      <a:tailEnd type="none" w="med" len="med"/>
                    </a:lnL>
                    <a:lnR w="12700" cap="flat" cmpd="sng" algn="ctr">
                      <a:solidFill>
                        <a:srgbClr val="D9D6E0"/>
                      </a:solidFill>
                      <a:prstDash val="solid"/>
                      <a:round/>
                      <a:headEnd type="none" w="med" len="med"/>
                      <a:tailEnd type="none" w="med" len="med"/>
                    </a:lnR>
                    <a:lnT w="12700" cap="flat" cmpd="sng" algn="ctr">
                      <a:solidFill>
                        <a:srgbClr val="D9D6E0"/>
                      </a:solidFill>
                      <a:prstDash val="solid"/>
                      <a:round/>
                      <a:headEnd type="none" w="med" len="med"/>
                      <a:tailEnd type="none" w="med" len="med"/>
                    </a:lnT>
                    <a:lnB w="12700" cap="flat" cmpd="sng" algn="ctr">
                      <a:solidFill>
                        <a:srgbClr val="D9D6E0"/>
                      </a:solidFill>
                      <a:prstDash val="solid"/>
                      <a:round/>
                      <a:headEnd type="none" w="med" len="med"/>
                      <a:tailEnd type="none" w="med" len="med"/>
                    </a:lnB>
                    <a:solidFill>
                      <a:srgbClr val="FAF9FB"/>
                    </a:solidFill>
                  </a:tcPr>
                </a:tc>
              </a:tr>
            </a:tbl>
          </a:graphicData>
        </a:graphic>
      </p:graphicFrame>
      <p:sp>
        <p:nvSpPr>
          <p:cNvPr id="10" name="Shape 6"/>
          <p:cNvSpPr/>
          <p:nvPr/>
        </p:nvSpPr>
        <p:spPr>
          <a:xfrm>
            <a:off x="548640" y="2816352"/>
            <a:ext cx="11094415" cy="1316736"/>
          </a:xfrm>
          <a:prstGeom prst="rect">
            <a:avLst/>
          </a:prstGeom>
          <a:ln w="22225">
            <a:solidFill>
              <a:srgbClr val="0F0F11"/>
            </a:solidFill>
            <a:prstDash val="solid"/>
          </a:ln>
        </p:spPr>
      </p:sp>
      <p:sp>
        <p:nvSpPr>
          <p:cNvPr id="11" name="Shape 7"/>
          <p:cNvSpPr/>
          <p:nvPr/>
        </p:nvSpPr>
        <p:spPr>
          <a:xfrm>
            <a:off x="566928" y="4343400"/>
            <a:ext cx="5391760" cy="1737360"/>
          </a:xfrm>
          <a:prstGeom prst="rect">
            <a:avLst/>
          </a:prstGeom>
          <a:solidFill>
            <a:srgbClr val="FFFFFF"/>
          </a:solidFill>
          <a:ln w="22225">
            <a:solidFill>
              <a:srgbClr val="F07F06"/>
            </a:solidFill>
            <a:prstDash val="solid"/>
          </a:ln>
          <a:effectLst>
            <a:outerShdw sx="100000" sy="100000" kx="0" ky="0" algn="bl" rotWithShape="0" blurRad="101600" dist="63500" dir="2700000">
              <a:srgbClr val="F07F06">
                <a:alpha val="100000"/>
              </a:srgbClr>
            </a:outerShdw>
          </a:effectLst>
        </p:spPr>
      </p:sp>
      <p:sp>
        <p:nvSpPr>
          <p:cNvPr id="12" name="Text 8"/>
          <p:cNvSpPr/>
          <p:nvPr/>
        </p:nvSpPr>
        <p:spPr>
          <a:xfrm>
            <a:off x="841248" y="4526280"/>
            <a:ext cx="4843120" cy="292608"/>
          </a:xfrm>
          <a:prstGeom prst="rect">
            <a:avLst/>
          </a:prstGeom>
          <a:noFill/>
          <a:ln/>
        </p:spPr>
        <p:txBody>
          <a:bodyPr wrap="square" lIns="0" tIns="0" rIns="0" bIns="0" rtlCol="0" anchor="ctr"/>
          <a:lstStyle/>
          <a:p>
            <a:pPr indent="0" marL="0">
              <a:buNone/>
            </a:pPr>
            <a:r>
              <a:rPr lang="en-US" sz="1050" b="1" spc="130" kern="0" dirty="0">
                <a:solidFill>
                  <a:srgbClr val="A35604"/>
                </a:solidFill>
                <a:latin typeface="Courier New" pitchFamily="34" charset="0"/>
                <a:ea typeface="Courier New" pitchFamily="34" charset="-122"/>
                <a:cs typeface="Courier New" pitchFamily="34" charset="-120"/>
              </a:rPr>
              <a:t>POR QUÉ NO «LA MÁS LARGA»</a:t>
            </a:r>
            <a:endParaRPr lang="en-US" sz="1050" dirty="0"/>
          </a:p>
        </p:txBody>
      </p:sp>
      <p:sp>
        <p:nvSpPr>
          <p:cNvPr id="13" name="Text 9"/>
          <p:cNvSpPr/>
          <p:nvPr/>
        </p:nvSpPr>
        <p:spPr>
          <a:xfrm>
            <a:off x="841248" y="4910328"/>
            <a:ext cx="4843120" cy="1005840"/>
          </a:xfrm>
          <a:prstGeom prst="rect">
            <a:avLst/>
          </a:prstGeom>
          <a:noFill/>
          <a:ln/>
        </p:spPr>
        <p:txBody>
          <a:bodyPr wrap="square" lIns="0" tIns="0" rIns="0" bIns="0" rtlCol="0" anchor="t"/>
          <a:lstStyle/>
          <a:p>
            <a:pPr indent="0" marL="0">
              <a:lnSpc>
                <a:spcPct val="124000"/>
              </a:lnSpc>
              <a:buNone/>
            </a:pPr>
            <a:r>
              <a:rPr lang="en-US" sz="1300" dirty="0">
                <a:solidFill>
                  <a:srgbClr val="3A3844"/>
                </a:solidFill>
                <a:latin typeface="Arial" pitchFamily="34" charset="0"/>
                <a:ea typeface="Arial" pitchFamily="34" charset="-122"/>
                <a:cs typeface="Arial" pitchFamily="34" charset="-120"/>
              </a:rPr>
              <a:t>Si bastara con la longitud, un atacante podría fabricar muchos bloques de dificultad mínima en su propia red aislada y presentar una cadena larguísima sin haber gastado casi nada.</a:t>
            </a:r>
            <a:endParaRPr lang="en-US" sz="1300" dirty="0"/>
          </a:p>
        </p:txBody>
      </p:sp>
      <p:sp>
        <p:nvSpPr>
          <p:cNvPr id="14" name="Shape 10"/>
          <p:cNvSpPr/>
          <p:nvPr/>
        </p:nvSpPr>
        <p:spPr>
          <a:xfrm>
            <a:off x="6233008" y="4343400"/>
            <a:ext cx="5391760" cy="1737360"/>
          </a:xfrm>
          <a:prstGeom prst="rect">
            <a:avLst/>
          </a:prstGeom>
          <a:solidFill>
            <a:srgbClr val="FFFFFF"/>
          </a:solidFill>
          <a:ln w="22225">
            <a:solidFill>
              <a:srgbClr val="7152E9"/>
            </a:solidFill>
            <a:prstDash val="solid"/>
          </a:ln>
          <a:effectLst>
            <a:outerShdw sx="100000" sy="100000" kx="0" ky="0" algn="bl" rotWithShape="0" blurRad="101600" dist="63500" dir="2700000">
              <a:srgbClr val="7152E9">
                <a:alpha val="100000"/>
              </a:srgbClr>
            </a:outerShdw>
          </a:effectLst>
        </p:spPr>
      </p:sp>
      <p:sp>
        <p:nvSpPr>
          <p:cNvPr id="15" name="Text 11"/>
          <p:cNvSpPr/>
          <p:nvPr/>
        </p:nvSpPr>
        <p:spPr>
          <a:xfrm>
            <a:off x="6507328" y="4526280"/>
            <a:ext cx="4843120" cy="292608"/>
          </a:xfrm>
          <a:prstGeom prst="rect">
            <a:avLst/>
          </a:prstGeom>
          <a:noFill/>
          <a:ln/>
        </p:spPr>
        <p:txBody>
          <a:bodyPr wrap="square" lIns="0" tIns="0" rIns="0" bIns="0" rtlCol="0" anchor="ctr"/>
          <a:lstStyle/>
          <a:p>
            <a:pPr indent="0" marL="0">
              <a:buNone/>
            </a:pPr>
            <a:r>
              <a:rPr lang="en-US" sz="1050" b="1" spc="130" kern="0" dirty="0">
                <a:solidFill>
                  <a:srgbClr val="5638C9"/>
                </a:solidFill>
                <a:latin typeface="Courier New" pitchFamily="34" charset="0"/>
                <a:ea typeface="Courier New" pitchFamily="34" charset="-122"/>
                <a:cs typeface="Courier New" pitchFamily="34" charset="-120"/>
              </a:rPr>
              <a:t>QUÉ VOTA REALMENTE CADA MINERO</a:t>
            </a:r>
            <a:endParaRPr lang="en-US" sz="1050" dirty="0"/>
          </a:p>
        </p:txBody>
      </p:sp>
      <p:sp>
        <p:nvSpPr>
          <p:cNvPr id="16" name="Text 12"/>
          <p:cNvSpPr/>
          <p:nvPr/>
        </p:nvSpPr>
        <p:spPr>
          <a:xfrm>
            <a:off x="6507328" y="4910328"/>
            <a:ext cx="4843120" cy="1005840"/>
          </a:xfrm>
          <a:prstGeom prst="rect">
            <a:avLst/>
          </a:prstGeom>
          <a:noFill/>
          <a:ln/>
        </p:spPr>
        <p:txBody>
          <a:bodyPr wrap="square" lIns="0" tIns="0" rIns="0" bIns="0" rtlCol="0" anchor="t"/>
          <a:lstStyle/>
          <a:p>
            <a:pPr indent="0" marL="0">
              <a:lnSpc>
                <a:spcPct val="124000"/>
              </a:lnSpc>
              <a:buNone/>
            </a:pPr>
            <a:r>
              <a:rPr lang="en-US" sz="1300" dirty="0">
                <a:solidFill>
                  <a:srgbClr val="3A3844"/>
                </a:solidFill>
                <a:latin typeface="Arial" pitchFamily="34" charset="0"/>
                <a:ea typeface="Arial" pitchFamily="34" charset="-122"/>
                <a:cs typeface="Arial" pitchFamily="34" charset="-120"/>
              </a:rPr>
              <a:t>Minar encima de un bloque es aceptarlo. No hay urnas: el voto es dónde decides gastar tu electricidad, y es irrevocable.</a:t>
            </a:r>
            <a:endParaRPr lang="en-US" sz="1300" dirty="0"/>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name="Slide 15">
    <p:bg>
      <p:bgPr>
        <a:solidFill>
          <a:srgbClr val="FFFFFF"/>
        </a:solidFill>
      </p:bgPr>
    </p:bg>
    <p:spTree>
      <p:nvGrpSpPr>
        <p:cNvPr id="1" name=""/>
        <p:cNvGrpSpPr/>
        <p:nvPr/>
      </p:nvGrpSpPr>
      <p:grpSpPr>
        <a:xfrm>
          <a:off x="0" y="0"/>
          <a:ext cx="0" cy="0"/>
          <a:chOff x="0" y="0"/>
          <a:chExt cx="0" cy="0"/>
        </a:xfrm>
      </p:grpSpPr>
      <p:pic>
        <p:nvPicPr>
          <p:cNvPr id="2" name="Image 0" descr="preencoded.png">    </p:cNvPr>
          <p:cNvPicPr>
            <a:picLocks noChangeAspect="1"/>
          </p:cNvPicPr>
          <p:nvPr/>
        </p:nvPicPr>
        <p:blipFill>
          <a:blip r:embed="rId1"/>
          <a:stretch>
            <a:fillRect/>
          </a:stretch>
        </p:blipFill>
        <p:spPr>
          <a:xfrm>
            <a:off x="566928" y="402336"/>
            <a:ext cx="274320" cy="274320"/>
          </a:xfrm>
          <a:prstGeom prst="rect">
            <a:avLst/>
          </a:prstGeom>
        </p:spPr>
      </p:pic>
      <p:sp>
        <p:nvSpPr>
          <p:cNvPr id="3" name="Text 0"/>
          <p:cNvSpPr/>
          <p:nvPr/>
        </p:nvSpPr>
        <p:spPr>
          <a:xfrm>
            <a:off x="969264" y="384048"/>
            <a:ext cx="10655503" cy="310896"/>
          </a:xfrm>
          <a:prstGeom prst="rect">
            <a:avLst/>
          </a:prstGeom>
          <a:noFill/>
          <a:ln/>
        </p:spPr>
        <p:txBody>
          <a:bodyPr wrap="square" lIns="0" tIns="0" rIns="0" bIns="0" rtlCol="0" anchor="ctr"/>
          <a:lstStyle/>
          <a:p>
            <a:pPr indent="0" marL="0">
              <a:buNone/>
            </a:pPr>
            <a:r>
              <a:rPr lang="en-US" sz="950" spc="160" kern="0" dirty="0">
                <a:solidFill>
                  <a:srgbClr val="6F6B80"/>
                </a:solidFill>
                <a:latin typeface="Courier New" pitchFamily="34" charset="0"/>
                <a:ea typeface="Courier New" pitchFamily="34" charset="-122"/>
                <a:cs typeface="Courier New" pitchFamily="34" charset="-120"/>
              </a:rPr>
              <a:t>A.8 · EL ATAQUE DEL 51 %</a:t>
            </a:r>
            <a:endParaRPr lang="en-US" sz="950" dirty="0"/>
          </a:p>
        </p:txBody>
      </p:sp>
      <p:sp>
        <p:nvSpPr>
          <p:cNvPr id="4" name="Text 1"/>
          <p:cNvSpPr/>
          <p:nvPr/>
        </p:nvSpPr>
        <p:spPr>
          <a:xfrm>
            <a:off x="566928" y="777240"/>
            <a:ext cx="11057839" cy="777240"/>
          </a:xfrm>
          <a:prstGeom prst="rect">
            <a:avLst/>
          </a:prstGeom>
          <a:noFill/>
          <a:ln/>
        </p:spPr>
        <p:txBody>
          <a:bodyPr wrap="square" lIns="0" tIns="0" rIns="0" bIns="0" rtlCol="0" anchor="t"/>
          <a:lstStyle/>
          <a:p>
            <a:pPr indent="0" marL="0">
              <a:lnSpc>
                <a:spcPct val="92000"/>
              </a:lnSpc>
              <a:buNone/>
            </a:pPr>
            <a:r>
              <a:rPr lang="en-US" sz="2800" dirty="0">
                <a:solidFill>
                  <a:srgbClr val="0F0F11"/>
                </a:solidFill>
                <a:latin typeface="Arial Black" pitchFamily="34" charset="0"/>
                <a:ea typeface="Arial Black" pitchFamily="34" charset="-122"/>
                <a:cs typeface="Arial Black" pitchFamily="34" charset="-120"/>
              </a:rPr>
              <a:t>QUÉ PUEDE HACER UNA MAYORÍA, Y QUÉ NO</a:t>
            </a:r>
            <a:endParaRPr lang="en-US" sz="2800" dirty="0"/>
          </a:p>
        </p:txBody>
      </p:sp>
      <p:sp>
        <p:nvSpPr>
          <p:cNvPr id="5" name="Text 2"/>
          <p:cNvSpPr/>
          <p:nvPr/>
        </p:nvSpPr>
        <p:spPr>
          <a:xfrm>
            <a:off x="566928" y="6291072"/>
            <a:ext cx="8412480" cy="274320"/>
          </a:xfrm>
          <a:prstGeom prst="rect">
            <a:avLst/>
          </a:prstGeom>
          <a:noFill/>
          <a:ln/>
        </p:spPr>
        <p:txBody>
          <a:bodyPr wrap="square" lIns="0" tIns="0" rIns="0" bIns="0" rtlCol="0" anchor="ctr"/>
          <a:lstStyle/>
          <a:p>
            <a:pPr indent="0" marL="0">
              <a:buNone/>
            </a:pPr>
            <a:r>
              <a:rPr lang="en-US" sz="800" spc="120" kern="0" dirty="0">
                <a:solidFill>
                  <a:srgbClr val="6F6B80"/>
                </a:solidFill>
                <a:latin typeface="Courier New" pitchFamily="34" charset="0"/>
                <a:ea typeface="Courier New" pitchFamily="34" charset="-122"/>
                <a:cs typeface="Courier New" pitchFamily="34" charset="-120"/>
              </a:rPr>
              <a:t>SESIÓN 04 · CONSENSO, INCENTIVOS Y EL TRILEMA</a:t>
            </a:r>
            <a:endParaRPr lang="en-US" sz="800" dirty="0"/>
          </a:p>
        </p:txBody>
      </p:sp>
      <p:sp>
        <p:nvSpPr>
          <p:cNvPr id="6" name="Text 3"/>
          <p:cNvSpPr/>
          <p:nvPr/>
        </p:nvSpPr>
        <p:spPr>
          <a:xfrm>
            <a:off x="9052560" y="6291072"/>
            <a:ext cx="1828800" cy="274320"/>
          </a:xfrm>
          <a:prstGeom prst="rect">
            <a:avLst/>
          </a:prstGeom>
          <a:noFill/>
          <a:ln/>
        </p:spPr>
        <p:txBody>
          <a:bodyPr wrap="square" lIns="0" tIns="0" rIns="0" bIns="0" rtlCol="0" anchor="ctr"/>
          <a:lstStyle/>
          <a:p>
            <a:pPr algn="r" indent="0" marL="0">
              <a:buNone/>
            </a:pPr>
            <a:r>
              <a:rPr lang="en-US" sz="800" spc="120" kern="0" dirty="0">
                <a:solidFill>
                  <a:srgbClr val="6F6B80"/>
                </a:solidFill>
                <a:latin typeface="Courier New" pitchFamily="34" charset="0"/>
                <a:ea typeface="Courier New" pitchFamily="34" charset="-122"/>
                <a:cs typeface="Courier New" pitchFamily="34" charset="-120"/>
              </a:rPr>
              <a:t>USB MEDELLÍN</a:t>
            </a:r>
            <a:endParaRPr lang="en-US" sz="800" dirty="0"/>
          </a:p>
        </p:txBody>
      </p:sp>
      <p:sp>
        <p:nvSpPr>
          <p:cNvPr id="7" name="Text 4"/>
          <p:cNvSpPr/>
          <p:nvPr/>
        </p:nvSpPr>
        <p:spPr>
          <a:xfrm>
            <a:off x="11018520" y="6291072"/>
            <a:ext cx="603504" cy="274320"/>
          </a:xfrm>
          <a:prstGeom prst="rect">
            <a:avLst/>
          </a:prstGeom>
          <a:noFill/>
          <a:ln/>
        </p:spPr>
        <p:txBody>
          <a:bodyPr wrap="square" lIns="0" tIns="0" rIns="0" bIns="0" rtlCol="0" anchor="ctr"/>
          <a:lstStyle/>
          <a:p>
            <a:pPr algn="r" indent="0" marL="0">
              <a:buNone/>
            </a:pPr>
            <a:r>
              <a:rPr lang="en-US" sz="900" b="1" dirty="0">
                <a:solidFill>
                  <a:srgbClr val="0F0F11"/>
                </a:solidFill>
                <a:latin typeface="Courier New" pitchFamily="34" charset="0"/>
                <a:ea typeface="Courier New" pitchFamily="34" charset="-122"/>
                <a:cs typeface="Courier New" pitchFamily="34" charset="-120"/>
              </a:rPr>
              <a:t>15</a:t>
            </a:r>
            <a:endParaRPr lang="en-US" sz="900" dirty="0"/>
          </a:p>
        </p:txBody>
      </p:sp>
      <p:sp>
        <p:nvSpPr>
          <p:cNvPr id="8" name="Text 5"/>
          <p:cNvSpPr/>
          <p:nvPr/>
        </p:nvSpPr>
        <p:spPr>
          <a:xfrm>
            <a:off x="566928" y="1737360"/>
            <a:ext cx="11057839" cy="868680"/>
          </a:xfrm>
          <a:prstGeom prst="rect">
            <a:avLst/>
          </a:prstGeom>
          <a:noFill/>
          <a:ln/>
        </p:spPr>
        <p:txBody>
          <a:bodyPr wrap="square" lIns="0" tIns="0" rIns="0" bIns="0" rtlCol="0" anchor="t"/>
          <a:lstStyle/>
          <a:p>
            <a:pPr indent="0" marL="0">
              <a:lnSpc>
                <a:spcPct val="124000"/>
              </a:lnSpc>
              <a:buNone/>
            </a:pPr>
            <a:r>
              <a:rPr lang="en-US" sz="1450" dirty="0">
                <a:solidFill>
                  <a:srgbClr val="3A3844"/>
                </a:solidFill>
                <a:latin typeface="Arial" pitchFamily="34" charset="0"/>
                <a:ea typeface="Arial" pitchFamily="34" charset="-122"/>
                <a:cs typeface="Arial" pitchFamily="34" charset="-120"/>
              </a:rPr>
              <a:t>Quien controla más de la mitad de la tasa de hash puede producir, en privado, una cadena que termine alcanzando y superando a la pública. Es poderoso. Pero tiene límites muy precisos.</a:t>
            </a:r>
            <a:endParaRPr lang="en-US" sz="1450" dirty="0"/>
          </a:p>
        </p:txBody>
      </p:sp>
      <p:sp>
        <p:nvSpPr>
          <p:cNvPr id="9" name="Shape 6"/>
          <p:cNvSpPr/>
          <p:nvPr/>
        </p:nvSpPr>
        <p:spPr>
          <a:xfrm>
            <a:off x="566928" y="2788920"/>
            <a:ext cx="5391760" cy="2011680"/>
          </a:xfrm>
          <a:prstGeom prst="rect">
            <a:avLst/>
          </a:prstGeom>
          <a:solidFill>
            <a:srgbClr val="FFFFFF"/>
          </a:solidFill>
          <a:ln w="22225">
            <a:solidFill>
              <a:srgbClr val="B3261E"/>
            </a:solidFill>
            <a:prstDash val="solid"/>
          </a:ln>
          <a:effectLst>
            <a:outerShdw sx="100000" sy="100000" kx="0" ky="0" algn="bl" rotWithShape="0" blurRad="101600" dist="63500" dir="2700000">
              <a:srgbClr val="B3261E">
                <a:alpha val="100000"/>
              </a:srgbClr>
            </a:outerShdw>
          </a:effectLst>
        </p:spPr>
      </p:sp>
      <p:sp>
        <p:nvSpPr>
          <p:cNvPr id="10" name="Text 7"/>
          <p:cNvSpPr/>
          <p:nvPr/>
        </p:nvSpPr>
        <p:spPr>
          <a:xfrm>
            <a:off x="841248" y="2971800"/>
            <a:ext cx="4843120" cy="292608"/>
          </a:xfrm>
          <a:prstGeom prst="rect">
            <a:avLst/>
          </a:prstGeom>
          <a:noFill/>
          <a:ln/>
        </p:spPr>
        <p:txBody>
          <a:bodyPr wrap="square" lIns="0" tIns="0" rIns="0" bIns="0" rtlCol="0" anchor="ctr"/>
          <a:lstStyle/>
          <a:p>
            <a:pPr indent="0" marL="0">
              <a:buNone/>
            </a:pPr>
            <a:r>
              <a:rPr lang="en-US" sz="1050" b="1" spc="130" kern="0" dirty="0">
                <a:solidFill>
                  <a:srgbClr val="B3261E"/>
                </a:solidFill>
                <a:latin typeface="Courier New" pitchFamily="34" charset="0"/>
                <a:ea typeface="Courier New" pitchFamily="34" charset="-122"/>
                <a:cs typeface="Courier New" pitchFamily="34" charset="-120"/>
              </a:rPr>
              <a:t>SÍ PUEDE</a:t>
            </a:r>
            <a:endParaRPr lang="en-US" sz="1050" dirty="0"/>
          </a:p>
        </p:txBody>
      </p:sp>
      <p:sp>
        <p:nvSpPr>
          <p:cNvPr id="11" name="Text 8"/>
          <p:cNvSpPr/>
          <p:nvPr/>
        </p:nvSpPr>
        <p:spPr>
          <a:xfrm>
            <a:off x="841248" y="3355848"/>
            <a:ext cx="4843120" cy="1280160"/>
          </a:xfrm>
          <a:prstGeom prst="rect">
            <a:avLst/>
          </a:prstGeom>
          <a:noFill/>
          <a:ln/>
        </p:spPr>
        <p:txBody>
          <a:bodyPr wrap="square" lIns="0" tIns="0" rIns="0" bIns="0" rtlCol="0" anchor="t"/>
          <a:lstStyle/>
          <a:p>
            <a:pPr marL="203200" indent="-203200">
              <a:lnSpc>
                <a:spcPct val="118000"/>
              </a:lnSpc>
              <a:spcAft>
                <a:spcPts val="500"/>
              </a:spcAft>
              <a:buSzPct val="100000"/>
              <a:buChar char="■"/>
            </a:pPr>
            <a:r>
              <a:rPr lang="en-US" sz="1250" dirty="0">
                <a:solidFill>
                  <a:srgbClr val="3A3844"/>
                </a:solidFill>
                <a:latin typeface="Arial" pitchFamily="34" charset="0"/>
                <a:ea typeface="Arial" pitchFamily="34" charset="-122"/>
                <a:cs typeface="Arial" pitchFamily="34" charset="-120"/>
              </a:rPr>
              <a:t>Revertir sus propias transacciones recientes: pagar, recibir el producto y borrar el pago. Doble gasto.</a:t>
            </a:r>
            <a:endParaRPr lang="en-US" sz="1250" dirty="0"/>
          </a:p>
          <a:p>
            <a:pPr marL="203200" indent="-203200">
              <a:lnSpc>
                <a:spcPct val="118000"/>
              </a:lnSpc>
              <a:spcAft>
                <a:spcPts val="500"/>
              </a:spcAft>
              <a:buSzPct val="100000"/>
              <a:buChar char="■"/>
            </a:pPr>
            <a:r>
              <a:rPr lang="en-US" sz="1250" dirty="0">
                <a:solidFill>
                  <a:srgbClr val="3A3844"/>
                </a:solidFill>
                <a:latin typeface="Arial" pitchFamily="34" charset="0"/>
                <a:ea typeface="Arial" pitchFamily="34" charset="-122"/>
                <a:cs typeface="Arial" pitchFamily="34" charset="-120"/>
              </a:rPr>
              <a:t>Excluir transacciones de otros: censura.</a:t>
            </a:r>
            <a:endParaRPr lang="en-US" sz="1250" dirty="0"/>
          </a:p>
          <a:p>
            <a:pPr marL="203200" indent="-203200">
              <a:lnSpc>
                <a:spcPct val="118000"/>
              </a:lnSpc>
              <a:spcAft>
                <a:spcPts val="500"/>
              </a:spcAft>
              <a:buSzPct val="100000"/>
              <a:buChar char="■"/>
            </a:pPr>
            <a:r>
              <a:rPr lang="en-US" sz="1250" dirty="0">
                <a:solidFill>
                  <a:srgbClr val="3A3844"/>
                </a:solidFill>
                <a:latin typeface="Arial" pitchFamily="34" charset="0"/>
                <a:ea typeface="Arial" pitchFamily="34" charset="-122"/>
                <a:cs typeface="Arial" pitchFamily="34" charset="-120"/>
              </a:rPr>
              <a:t>Impedir que otros mineros cobren recompensas.</a:t>
            </a:r>
            <a:endParaRPr lang="en-US" sz="1250" dirty="0"/>
          </a:p>
        </p:txBody>
      </p:sp>
      <p:sp>
        <p:nvSpPr>
          <p:cNvPr id="12" name="Shape 9"/>
          <p:cNvSpPr/>
          <p:nvPr/>
        </p:nvSpPr>
        <p:spPr>
          <a:xfrm>
            <a:off x="6233008" y="2788920"/>
            <a:ext cx="5391760" cy="2011680"/>
          </a:xfrm>
          <a:prstGeom prst="rect">
            <a:avLst/>
          </a:prstGeom>
          <a:solidFill>
            <a:srgbClr val="FFFFFF"/>
          </a:solidFill>
          <a:ln w="22225">
            <a:solidFill>
              <a:srgbClr val="7152E9"/>
            </a:solidFill>
            <a:prstDash val="solid"/>
          </a:ln>
          <a:effectLst>
            <a:outerShdw sx="100000" sy="100000" kx="0" ky="0" algn="bl" rotWithShape="0" blurRad="101600" dist="63500" dir="2700000">
              <a:srgbClr val="7152E9">
                <a:alpha val="100000"/>
              </a:srgbClr>
            </a:outerShdw>
          </a:effectLst>
        </p:spPr>
      </p:sp>
      <p:sp>
        <p:nvSpPr>
          <p:cNvPr id="13" name="Text 10"/>
          <p:cNvSpPr/>
          <p:nvPr/>
        </p:nvSpPr>
        <p:spPr>
          <a:xfrm>
            <a:off x="6507328" y="2971800"/>
            <a:ext cx="4843120" cy="292608"/>
          </a:xfrm>
          <a:prstGeom prst="rect">
            <a:avLst/>
          </a:prstGeom>
          <a:noFill/>
          <a:ln/>
        </p:spPr>
        <p:txBody>
          <a:bodyPr wrap="square" lIns="0" tIns="0" rIns="0" bIns="0" rtlCol="0" anchor="ctr"/>
          <a:lstStyle/>
          <a:p>
            <a:pPr indent="0" marL="0">
              <a:buNone/>
            </a:pPr>
            <a:r>
              <a:rPr lang="en-US" sz="1050" b="1" spc="130" kern="0" dirty="0">
                <a:solidFill>
                  <a:srgbClr val="5638C9"/>
                </a:solidFill>
                <a:latin typeface="Courier New" pitchFamily="34" charset="0"/>
                <a:ea typeface="Courier New" pitchFamily="34" charset="-122"/>
                <a:cs typeface="Courier New" pitchFamily="34" charset="-120"/>
              </a:rPr>
              <a:t>NO PUEDE</a:t>
            </a:r>
            <a:endParaRPr lang="en-US" sz="1050" dirty="0"/>
          </a:p>
        </p:txBody>
      </p:sp>
      <p:sp>
        <p:nvSpPr>
          <p:cNvPr id="14" name="Text 11"/>
          <p:cNvSpPr/>
          <p:nvPr/>
        </p:nvSpPr>
        <p:spPr>
          <a:xfrm>
            <a:off x="6507328" y="3355848"/>
            <a:ext cx="4843120" cy="1280160"/>
          </a:xfrm>
          <a:prstGeom prst="rect">
            <a:avLst/>
          </a:prstGeom>
          <a:noFill/>
          <a:ln/>
        </p:spPr>
        <p:txBody>
          <a:bodyPr wrap="square" lIns="0" tIns="0" rIns="0" bIns="0" rtlCol="0" anchor="t"/>
          <a:lstStyle/>
          <a:p>
            <a:pPr marL="203200" indent="-203200">
              <a:lnSpc>
                <a:spcPct val="118000"/>
              </a:lnSpc>
              <a:spcAft>
                <a:spcPts val="500"/>
              </a:spcAft>
              <a:buSzPct val="100000"/>
              <a:buChar char="■"/>
            </a:pPr>
            <a:r>
              <a:rPr lang="en-US" sz="1250" dirty="0">
                <a:solidFill>
                  <a:srgbClr val="3A3844"/>
                </a:solidFill>
                <a:latin typeface="Arial" pitchFamily="34" charset="0"/>
                <a:ea typeface="Arial" pitchFamily="34" charset="-122"/>
                <a:cs typeface="Arial" pitchFamily="34" charset="-120"/>
              </a:rPr>
              <a:t>Gastar monedas de otros: no tiene sus claves privadas.</a:t>
            </a:r>
            <a:endParaRPr lang="en-US" sz="1250" dirty="0"/>
          </a:p>
          <a:p>
            <a:pPr marL="203200" indent="-203200">
              <a:lnSpc>
                <a:spcPct val="118000"/>
              </a:lnSpc>
              <a:spcAft>
                <a:spcPts val="500"/>
              </a:spcAft>
              <a:buSzPct val="100000"/>
              <a:buChar char="■"/>
            </a:pPr>
            <a:r>
              <a:rPr lang="en-US" sz="1250" dirty="0">
                <a:solidFill>
                  <a:srgbClr val="3A3844"/>
                </a:solidFill>
                <a:latin typeface="Arial" pitchFamily="34" charset="0"/>
                <a:ea typeface="Arial" pitchFamily="34" charset="-122"/>
                <a:cs typeface="Arial" pitchFamily="34" charset="-120"/>
              </a:rPr>
              <a:t>Crear monedas de la nada: los nodos rechazan el bloque inválido.</a:t>
            </a:r>
            <a:endParaRPr lang="en-US" sz="1250" dirty="0"/>
          </a:p>
          <a:p>
            <a:pPr marL="203200" indent="-203200">
              <a:lnSpc>
                <a:spcPct val="118000"/>
              </a:lnSpc>
              <a:spcAft>
                <a:spcPts val="500"/>
              </a:spcAft>
              <a:buSzPct val="100000"/>
              <a:buChar char="■"/>
            </a:pPr>
            <a:r>
              <a:rPr lang="en-US" sz="1250" dirty="0">
                <a:solidFill>
                  <a:srgbClr val="3A3844"/>
                </a:solidFill>
                <a:latin typeface="Arial" pitchFamily="34" charset="0"/>
                <a:ea typeface="Arial" pitchFamily="34" charset="-122"/>
                <a:cs typeface="Arial" pitchFamily="34" charset="-120"/>
              </a:rPr>
              <a:t>Cambiar las reglas: los nodos completos las siguen verificando.</a:t>
            </a:r>
            <a:endParaRPr lang="en-US" sz="1250" dirty="0"/>
          </a:p>
        </p:txBody>
      </p:sp>
      <p:sp>
        <p:nvSpPr>
          <p:cNvPr id="15" name="Shape 12"/>
          <p:cNvSpPr/>
          <p:nvPr/>
        </p:nvSpPr>
        <p:spPr>
          <a:xfrm>
            <a:off x="566928" y="4983480"/>
            <a:ext cx="11057839" cy="1143000"/>
          </a:xfrm>
          <a:prstGeom prst="rect">
            <a:avLst/>
          </a:prstGeom>
          <a:solidFill>
            <a:srgbClr val="F2F0F5"/>
          </a:solidFill>
          <a:ln w="22225">
            <a:solidFill>
              <a:srgbClr val="0F0F11"/>
            </a:solidFill>
            <a:prstDash val="solid"/>
          </a:ln>
        </p:spPr>
      </p:sp>
      <p:pic>
        <p:nvPicPr>
          <p:cNvPr id="16" name="Image 1" descr="preencoded.png">    </p:cNvPr>
          <p:cNvPicPr>
            <a:picLocks noChangeAspect="1"/>
          </p:cNvPicPr>
          <p:nvPr/>
        </p:nvPicPr>
        <p:blipFill>
          <a:blip r:embed="rId2"/>
          <a:stretch>
            <a:fillRect/>
          </a:stretch>
        </p:blipFill>
        <p:spPr>
          <a:xfrm>
            <a:off x="804672" y="5202936"/>
            <a:ext cx="237744" cy="237744"/>
          </a:xfrm>
          <a:prstGeom prst="rect">
            <a:avLst/>
          </a:prstGeom>
        </p:spPr>
      </p:pic>
      <p:sp>
        <p:nvSpPr>
          <p:cNvPr id="17" name="Text 13"/>
          <p:cNvSpPr/>
          <p:nvPr/>
        </p:nvSpPr>
        <p:spPr>
          <a:xfrm>
            <a:off x="1133856" y="5175504"/>
            <a:ext cx="10234879" cy="292608"/>
          </a:xfrm>
          <a:prstGeom prst="rect">
            <a:avLst/>
          </a:prstGeom>
          <a:noFill/>
          <a:ln/>
        </p:spPr>
        <p:txBody>
          <a:bodyPr wrap="square" lIns="0" tIns="0" rIns="0" bIns="0" rtlCol="0" anchor="ctr"/>
          <a:lstStyle/>
          <a:p>
            <a:pPr indent="0" marL="0">
              <a:buNone/>
            </a:pPr>
            <a:r>
              <a:rPr lang="en-US" sz="950" b="1" spc="150" kern="0" dirty="0">
                <a:solidFill>
                  <a:srgbClr val="6F6B80"/>
                </a:solidFill>
                <a:latin typeface="Courier New" pitchFamily="34" charset="0"/>
                <a:ea typeface="Courier New" pitchFamily="34" charset="-122"/>
                <a:cs typeface="Courier New" pitchFamily="34" charset="-120"/>
              </a:rPr>
              <a:t>HA OCURRIDO</a:t>
            </a:r>
            <a:endParaRPr lang="en-US" sz="950" dirty="0"/>
          </a:p>
        </p:txBody>
      </p:sp>
      <p:sp>
        <p:nvSpPr>
          <p:cNvPr id="18" name="Text 14"/>
          <p:cNvSpPr/>
          <p:nvPr/>
        </p:nvSpPr>
        <p:spPr>
          <a:xfrm>
            <a:off x="804672" y="5495544"/>
            <a:ext cx="10582351" cy="539496"/>
          </a:xfrm>
          <a:prstGeom prst="rect">
            <a:avLst/>
          </a:prstGeom>
          <a:noFill/>
          <a:ln/>
        </p:spPr>
        <p:txBody>
          <a:bodyPr wrap="square" lIns="0" tIns="0" rIns="0" bIns="0" rtlCol="0" anchor="t"/>
          <a:lstStyle/>
          <a:p>
            <a:pPr indent="0" marL="0">
              <a:lnSpc>
                <a:spcPct val="124000"/>
              </a:lnSpc>
              <a:buNone/>
            </a:pPr>
            <a:r>
              <a:rPr lang="en-US" sz="1200" dirty="0">
                <a:solidFill>
                  <a:srgbClr val="3A3844"/>
                </a:solidFill>
                <a:latin typeface="Arial" pitchFamily="34" charset="0"/>
                <a:ea typeface="Arial" pitchFamily="34" charset="-122"/>
                <a:cs typeface="Arial" pitchFamily="34" charset="-120"/>
              </a:rPr>
              <a:t>En redes pequeñas de prueba de trabajo, donde alquilar la mayoría del cómputo es barato. Ethereum Classic sufrió varias reorganizaciones profundas por esta vía en 2019 y 2020.</a:t>
            </a:r>
            <a:endParaRPr lang="en-US" sz="1200" dirty="0"/>
          </a:p>
        </p:txBody>
      </p:sp>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name="Slide 16">
    <p:bg>
      <p:bgPr>
        <a:solidFill>
          <a:srgbClr val="FFFFFF"/>
        </a:solidFill>
      </p:bgPr>
    </p:bg>
    <p:spTree>
      <p:nvGrpSpPr>
        <p:cNvPr id="1" name=""/>
        <p:cNvGrpSpPr/>
        <p:nvPr/>
      </p:nvGrpSpPr>
      <p:grpSpPr>
        <a:xfrm>
          <a:off x="0" y="0"/>
          <a:ext cx="0" cy="0"/>
          <a:chOff x="0" y="0"/>
          <a:chExt cx="0" cy="0"/>
        </a:xfrm>
      </p:grpSpPr>
      <p:pic>
        <p:nvPicPr>
          <p:cNvPr id="2" name="Image 0" descr="preencoded.png">    </p:cNvPr>
          <p:cNvPicPr>
            <a:picLocks noChangeAspect="1"/>
          </p:cNvPicPr>
          <p:nvPr/>
        </p:nvPicPr>
        <p:blipFill>
          <a:blip r:embed="rId1"/>
          <a:stretch>
            <a:fillRect/>
          </a:stretch>
        </p:blipFill>
        <p:spPr>
          <a:xfrm>
            <a:off x="566928" y="402336"/>
            <a:ext cx="274320" cy="274320"/>
          </a:xfrm>
          <a:prstGeom prst="rect">
            <a:avLst/>
          </a:prstGeom>
        </p:spPr>
      </p:pic>
      <p:sp>
        <p:nvSpPr>
          <p:cNvPr id="3" name="Text 0"/>
          <p:cNvSpPr/>
          <p:nvPr/>
        </p:nvSpPr>
        <p:spPr>
          <a:xfrm>
            <a:off x="969264" y="384048"/>
            <a:ext cx="10655503" cy="310896"/>
          </a:xfrm>
          <a:prstGeom prst="rect">
            <a:avLst/>
          </a:prstGeom>
          <a:noFill/>
          <a:ln/>
        </p:spPr>
        <p:txBody>
          <a:bodyPr wrap="square" lIns="0" tIns="0" rIns="0" bIns="0" rtlCol="0" anchor="ctr"/>
          <a:lstStyle/>
          <a:p>
            <a:pPr indent="0" marL="0">
              <a:buNone/>
            </a:pPr>
            <a:r>
              <a:rPr lang="en-US" sz="950" spc="160" kern="0" dirty="0">
                <a:solidFill>
                  <a:srgbClr val="6F6B80"/>
                </a:solidFill>
                <a:latin typeface="Courier New" pitchFamily="34" charset="0"/>
                <a:ea typeface="Courier New" pitchFamily="34" charset="-122"/>
                <a:cs typeface="Courier New" pitchFamily="34" charset="-120"/>
              </a:rPr>
              <a:t>A.8B · EL ATAQUE, PASO A PASO</a:t>
            </a:r>
            <a:endParaRPr lang="en-US" sz="950" dirty="0"/>
          </a:p>
        </p:txBody>
      </p:sp>
      <p:sp>
        <p:nvSpPr>
          <p:cNvPr id="4" name="Text 1"/>
          <p:cNvSpPr/>
          <p:nvPr/>
        </p:nvSpPr>
        <p:spPr>
          <a:xfrm>
            <a:off x="566928" y="777240"/>
            <a:ext cx="11057839" cy="777240"/>
          </a:xfrm>
          <a:prstGeom prst="rect">
            <a:avLst/>
          </a:prstGeom>
          <a:noFill/>
          <a:ln/>
        </p:spPr>
        <p:txBody>
          <a:bodyPr wrap="square" lIns="0" tIns="0" rIns="0" bIns="0" rtlCol="0" anchor="t"/>
          <a:lstStyle/>
          <a:p>
            <a:pPr indent="0" marL="0">
              <a:lnSpc>
                <a:spcPct val="92000"/>
              </a:lnSpc>
              <a:buNone/>
            </a:pPr>
            <a:r>
              <a:rPr lang="en-US" sz="2600" dirty="0">
                <a:solidFill>
                  <a:srgbClr val="0F0F11"/>
                </a:solidFill>
                <a:latin typeface="Arial Black" pitchFamily="34" charset="0"/>
                <a:ea typeface="Arial Black" pitchFamily="34" charset="-122"/>
                <a:cs typeface="Arial Black" pitchFamily="34" charset="-120"/>
              </a:rPr>
              <a:t>CÓMO SE HACE, EN CONCRETO, UN DOBLE GASTO</a:t>
            </a:r>
            <a:endParaRPr lang="en-US" sz="2600" dirty="0"/>
          </a:p>
        </p:txBody>
      </p:sp>
      <p:sp>
        <p:nvSpPr>
          <p:cNvPr id="5" name="Text 2"/>
          <p:cNvSpPr/>
          <p:nvPr/>
        </p:nvSpPr>
        <p:spPr>
          <a:xfrm>
            <a:off x="566928" y="6291072"/>
            <a:ext cx="8412480" cy="274320"/>
          </a:xfrm>
          <a:prstGeom prst="rect">
            <a:avLst/>
          </a:prstGeom>
          <a:noFill/>
          <a:ln/>
        </p:spPr>
        <p:txBody>
          <a:bodyPr wrap="square" lIns="0" tIns="0" rIns="0" bIns="0" rtlCol="0" anchor="ctr"/>
          <a:lstStyle/>
          <a:p>
            <a:pPr indent="0" marL="0">
              <a:buNone/>
            </a:pPr>
            <a:r>
              <a:rPr lang="en-US" sz="800" spc="120" kern="0" dirty="0">
                <a:solidFill>
                  <a:srgbClr val="6F6B80"/>
                </a:solidFill>
                <a:latin typeface="Courier New" pitchFamily="34" charset="0"/>
                <a:ea typeface="Courier New" pitchFamily="34" charset="-122"/>
                <a:cs typeface="Courier New" pitchFamily="34" charset="-120"/>
              </a:rPr>
              <a:t>SESIÓN 04 · CONSENSO, INCENTIVOS Y EL TRILEMA</a:t>
            </a:r>
            <a:endParaRPr lang="en-US" sz="800" dirty="0"/>
          </a:p>
        </p:txBody>
      </p:sp>
      <p:sp>
        <p:nvSpPr>
          <p:cNvPr id="6" name="Text 3"/>
          <p:cNvSpPr/>
          <p:nvPr/>
        </p:nvSpPr>
        <p:spPr>
          <a:xfrm>
            <a:off x="9052560" y="6291072"/>
            <a:ext cx="1828800" cy="274320"/>
          </a:xfrm>
          <a:prstGeom prst="rect">
            <a:avLst/>
          </a:prstGeom>
          <a:noFill/>
          <a:ln/>
        </p:spPr>
        <p:txBody>
          <a:bodyPr wrap="square" lIns="0" tIns="0" rIns="0" bIns="0" rtlCol="0" anchor="ctr"/>
          <a:lstStyle/>
          <a:p>
            <a:pPr algn="r" indent="0" marL="0">
              <a:buNone/>
            </a:pPr>
            <a:r>
              <a:rPr lang="en-US" sz="800" spc="120" kern="0" dirty="0">
                <a:solidFill>
                  <a:srgbClr val="6F6B80"/>
                </a:solidFill>
                <a:latin typeface="Courier New" pitchFamily="34" charset="0"/>
                <a:ea typeface="Courier New" pitchFamily="34" charset="-122"/>
                <a:cs typeface="Courier New" pitchFamily="34" charset="-120"/>
              </a:rPr>
              <a:t>USB MEDELLÍN</a:t>
            </a:r>
            <a:endParaRPr lang="en-US" sz="800" dirty="0"/>
          </a:p>
        </p:txBody>
      </p:sp>
      <p:sp>
        <p:nvSpPr>
          <p:cNvPr id="7" name="Text 4"/>
          <p:cNvSpPr/>
          <p:nvPr/>
        </p:nvSpPr>
        <p:spPr>
          <a:xfrm>
            <a:off x="11018520" y="6291072"/>
            <a:ext cx="603504" cy="274320"/>
          </a:xfrm>
          <a:prstGeom prst="rect">
            <a:avLst/>
          </a:prstGeom>
          <a:noFill/>
          <a:ln/>
        </p:spPr>
        <p:txBody>
          <a:bodyPr wrap="square" lIns="0" tIns="0" rIns="0" bIns="0" rtlCol="0" anchor="ctr"/>
          <a:lstStyle/>
          <a:p>
            <a:pPr algn="r" indent="0" marL="0">
              <a:buNone/>
            </a:pPr>
            <a:r>
              <a:rPr lang="en-US" sz="900" b="1" dirty="0">
                <a:solidFill>
                  <a:srgbClr val="0F0F11"/>
                </a:solidFill>
                <a:latin typeface="Courier New" pitchFamily="34" charset="0"/>
                <a:ea typeface="Courier New" pitchFamily="34" charset="-122"/>
                <a:cs typeface="Courier New" pitchFamily="34" charset="-120"/>
              </a:rPr>
              <a:t>16</a:t>
            </a:r>
            <a:endParaRPr lang="en-US" sz="900" dirty="0"/>
          </a:p>
        </p:txBody>
      </p:sp>
      <p:sp>
        <p:nvSpPr>
          <p:cNvPr id="8" name="Text 5"/>
          <p:cNvSpPr/>
          <p:nvPr/>
        </p:nvSpPr>
        <p:spPr>
          <a:xfrm>
            <a:off x="566928" y="1691640"/>
            <a:ext cx="11057839" cy="502920"/>
          </a:xfrm>
          <a:prstGeom prst="rect">
            <a:avLst/>
          </a:prstGeom>
          <a:noFill/>
          <a:ln/>
        </p:spPr>
        <p:txBody>
          <a:bodyPr wrap="square" lIns="0" tIns="0" rIns="0" bIns="0" rtlCol="0" anchor="t"/>
          <a:lstStyle/>
          <a:p>
            <a:pPr indent="0" marL="0">
              <a:lnSpc>
                <a:spcPct val="124000"/>
              </a:lnSpc>
              <a:buNone/>
            </a:pPr>
            <a:r>
              <a:rPr lang="en-US" sz="1400" dirty="0">
                <a:solidFill>
                  <a:srgbClr val="3A3844"/>
                </a:solidFill>
                <a:latin typeface="Arial" pitchFamily="34" charset="0"/>
                <a:ea typeface="Arial" pitchFamily="34" charset="-122"/>
                <a:cs typeface="Arial" pitchFamily="34" charset="-120"/>
              </a:rPr>
              <a:t>«Revertir una transacción» suena abstracto. Así se ve de verdad, con una mayoría del cómputo:</a:t>
            </a:r>
            <a:endParaRPr lang="en-US" sz="1400" dirty="0"/>
          </a:p>
        </p:txBody>
      </p:sp>
      <p:sp>
        <p:nvSpPr>
          <p:cNvPr id="9" name="Shape 6"/>
          <p:cNvSpPr/>
          <p:nvPr/>
        </p:nvSpPr>
        <p:spPr>
          <a:xfrm>
            <a:off x="566928" y="2194560"/>
            <a:ext cx="11057839" cy="621792"/>
          </a:xfrm>
          <a:prstGeom prst="rect">
            <a:avLst/>
          </a:prstGeom>
          <a:solidFill>
            <a:srgbClr val="FFFFFF"/>
          </a:solidFill>
          <a:ln w="15875">
            <a:solidFill>
              <a:srgbClr val="D9D6E0"/>
            </a:solidFill>
            <a:prstDash val="solid"/>
          </a:ln>
        </p:spPr>
      </p:sp>
      <p:sp>
        <p:nvSpPr>
          <p:cNvPr id="10" name="Text 7"/>
          <p:cNvSpPr/>
          <p:nvPr/>
        </p:nvSpPr>
        <p:spPr>
          <a:xfrm>
            <a:off x="694944" y="2194560"/>
            <a:ext cx="548640" cy="621792"/>
          </a:xfrm>
          <a:prstGeom prst="rect">
            <a:avLst/>
          </a:prstGeom>
          <a:noFill/>
          <a:ln/>
        </p:spPr>
        <p:txBody>
          <a:bodyPr wrap="square" lIns="0" tIns="0" rIns="0" bIns="0" rtlCol="0" anchor="ctr"/>
          <a:lstStyle/>
          <a:p>
            <a:pPr indent="0" marL="0">
              <a:buNone/>
            </a:pPr>
            <a:r>
              <a:rPr lang="en-US" sz="1600" dirty="0">
                <a:solidFill>
                  <a:srgbClr val="F07F06"/>
                </a:solidFill>
                <a:latin typeface="Arial Black" pitchFamily="34" charset="0"/>
                <a:ea typeface="Arial Black" pitchFamily="34" charset="-122"/>
                <a:cs typeface="Arial Black" pitchFamily="34" charset="-120"/>
              </a:rPr>
              <a:t>01</a:t>
            </a:r>
            <a:endParaRPr lang="en-US" sz="1600" dirty="0"/>
          </a:p>
        </p:txBody>
      </p:sp>
      <p:sp>
        <p:nvSpPr>
          <p:cNvPr id="11" name="Text 8"/>
          <p:cNvSpPr/>
          <p:nvPr/>
        </p:nvSpPr>
        <p:spPr>
          <a:xfrm>
            <a:off x="1280160" y="2359152"/>
            <a:ext cx="2011680" cy="292608"/>
          </a:xfrm>
          <a:prstGeom prst="rect">
            <a:avLst/>
          </a:prstGeom>
          <a:noFill/>
          <a:ln/>
        </p:spPr>
        <p:txBody>
          <a:bodyPr wrap="square" lIns="0" tIns="0" rIns="0" bIns="0" rtlCol="0" anchor="ctr"/>
          <a:lstStyle/>
          <a:p>
            <a:pPr indent="0" marL="0">
              <a:buNone/>
            </a:pPr>
            <a:r>
              <a:rPr lang="en-US" sz="1000" b="1" spc="100" kern="0" dirty="0">
                <a:solidFill>
                  <a:srgbClr val="0F0F11"/>
                </a:solidFill>
                <a:latin typeface="Courier New" pitchFamily="34" charset="0"/>
                <a:ea typeface="Courier New" pitchFamily="34" charset="-122"/>
                <a:cs typeface="Courier New" pitchFamily="34" charset="-120"/>
              </a:rPr>
              <a:t>PAGA EN PÚBLICO</a:t>
            </a:r>
            <a:endParaRPr lang="en-US" sz="1000" dirty="0"/>
          </a:p>
        </p:txBody>
      </p:sp>
      <p:sp>
        <p:nvSpPr>
          <p:cNvPr id="12" name="Text 9"/>
          <p:cNvSpPr/>
          <p:nvPr/>
        </p:nvSpPr>
        <p:spPr>
          <a:xfrm>
            <a:off x="3566160" y="2286000"/>
            <a:ext cx="7948879" cy="475488"/>
          </a:xfrm>
          <a:prstGeom prst="rect">
            <a:avLst/>
          </a:prstGeom>
          <a:noFill/>
          <a:ln/>
        </p:spPr>
        <p:txBody>
          <a:bodyPr wrap="square" lIns="0" tIns="0" rIns="0" bIns="0" rtlCol="0" anchor="ctr"/>
          <a:lstStyle/>
          <a:p>
            <a:pPr indent="0" marL="0">
              <a:lnSpc>
                <a:spcPct val="115000"/>
              </a:lnSpc>
              <a:buNone/>
            </a:pPr>
            <a:r>
              <a:rPr lang="en-US" sz="1200" dirty="0">
                <a:solidFill>
                  <a:srgbClr val="3A3844"/>
                </a:solidFill>
                <a:latin typeface="Arial" pitchFamily="34" charset="0"/>
                <a:ea typeface="Arial" pitchFamily="34" charset="-122"/>
                <a:cs typeface="Arial" pitchFamily="34" charset="-120"/>
              </a:rPr>
              <a:t>El atacante paga 10 monedas por un carro. La transacción entra en la cadena pública y el vendedor la ve confirmada.</a:t>
            </a:r>
            <a:endParaRPr lang="en-US" sz="1200" dirty="0"/>
          </a:p>
        </p:txBody>
      </p:sp>
      <p:sp>
        <p:nvSpPr>
          <p:cNvPr id="13" name="Shape 10"/>
          <p:cNvSpPr/>
          <p:nvPr/>
        </p:nvSpPr>
        <p:spPr>
          <a:xfrm>
            <a:off x="566928" y="2898648"/>
            <a:ext cx="11057839" cy="621792"/>
          </a:xfrm>
          <a:prstGeom prst="rect">
            <a:avLst/>
          </a:prstGeom>
          <a:solidFill>
            <a:srgbClr val="FAF9FB"/>
          </a:solidFill>
          <a:ln w="15875">
            <a:solidFill>
              <a:srgbClr val="D9D6E0"/>
            </a:solidFill>
            <a:prstDash val="solid"/>
          </a:ln>
        </p:spPr>
      </p:sp>
      <p:sp>
        <p:nvSpPr>
          <p:cNvPr id="14" name="Text 11"/>
          <p:cNvSpPr/>
          <p:nvPr/>
        </p:nvSpPr>
        <p:spPr>
          <a:xfrm>
            <a:off x="694944" y="2898648"/>
            <a:ext cx="548640" cy="621792"/>
          </a:xfrm>
          <a:prstGeom prst="rect">
            <a:avLst/>
          </a:prstGeom>
          <a:noFill/>
          <a:ln/>
        </p:spPr>
        <p:txBody>
          <a:bodyPr wrap="square" lIns="0" tIns="0" rIns="0" bIns="0" rtlCol="0" anchor="ctr"/>
          <a:lstStyle/>
          <a:p>
            <a:pPr indent="0" marL="0">
              <a:buNone/>
            </a:pPr>
            <a:r>
              <a:rPr lang="en-US" sz="1600" dirty="0">
                <a:solidFill>
                  <a:srgbClr val="F07F06"/>
                </a:solidFill>
                <a:latin typeface="Arial Black" pitchFamily="34" charset="0"/>
                <a:ea typeface="Arial Black" pitchFamily="34" charset="-122"/>
                <a:cs typeface="Arial Black" pitchFamily="34" charset="-120"/>
              </a:rPr>
              <a:t>02</a:t>
            </a:r>
            <a:endParaRPr lang="en-US" sz="1600" dirty="0"/>
          </a:p>
        </p:txBody>
      </p:sp>
      <p:sp>
        <p:nvSpPr>
          <p:cNvPr id="15" name="Text 12"/>
          <p:cNvSpPr/>
          <p:nvPr/>
        </p:nvSpPr>
        <p:spPr>
          <a:xfrm>
            <a:off x="1280160" y="3063240"/>
            <a:ext cx="2011680" cy="292608"/>
          </a:xfrm>
          <a:prstGeom prst="rect">
            <a:avLst/>
          </a:prstGeom>
          <a:noFill/>
          <a:ln/>
        </p:spPr>
        <p:txBody>
          <a:bodyPr wrap="square" lIns="0" tIns="0" rIns="0" bIns="0" rtlCol="0" anchor="ctr"/>
          <a:lstStyle/>
          <a:p>
            <a:pPr indent="0" marL="0">
              <a:buNone/>
            </a:pPr>
            <a:r>
              <a:rPr lang="en-US" sz="1000" b="1" spc="100" kern="0" dirty="0">
                <a:solidFill>
                  <a:srgbClr val="0F0F11"/>
                </a:solidFill>
                <a:latin typeface="Courier New" pitchFamily="34" charset="0"/>
                <a:ea typeface="Courier New" pitchFamily="34" charset="-122"/>
                <a:cs typeface="Courier New" pitchFamily="34" charset="-120"/>
              </a:rPr>
              <a:t>RECIBE EL PRODUCTO</a:t>
            </a:r>
            <a:endParaRPr lang="en-US" sz="1000" dirty="0"/>
          </a:p>
        </p:txBody>
      </p:sp>
      <p:sp>
        <p:nvSpPr>
          <p:cNvPr id="16" name="Text 13"/>
          <p:cNvSpPr/>
          <p:nvPr/>
        </p:nvSpPr>
        <p:spPr>
          <a:xfrm>
            <a:off x="3566160" y="2990088"/>
            <a:ext cx="7948879" cy="475488"/>
          </a:xfrm>
          <a:prstGeom prst="rect">
            <a:avLst/>
          </a:prstGeom>
          <a:noFill/>
          <a:ln/>
        </p:spPr>
        <p:txBody>
          <a:bodyPr wrap="square" lIns="0" tIns="0" rIns="0" bIns="0" rtlCol="0" anchor="ctr"/>
          <a:lstStyle/>
          <a:p>
            <a:pPr indent="0" marL="0">
              <a:lnSpc>
                <a:spcPct val="115000"/>
              </a:lnSpc>
              <a:buNone/>
            </a:pPr>
            <a:r>
              <a:rPr lang="en-US" sz="1200" dirty="0">
                <a:solidFill>
                  <a:srgbClr val="3A3844"/>
                </a:solidFill>
                <a:latin typeface="Arial" pitchFamily="34" charset="0"/>
                <a:ea typeface="Arial" pitchFamily="34" charset="-122"/>
                <a:cs typeface="Arial" pitchFamily="34" charset="-120"/>
              </a:rPr>
              <a:t>El vendedor entrega el carro: para él, el pago ya ocurrió y está en la cadena.</a:t>
            </a:r>
            <a:endParaRPr lang="en-US" sz="1200" dirty="0"/>
          </a:p>
        </p:txBody>
      </p:sp>
      <p:sp>
        <p:nvSpPr>
          <p:cNvPr id="17" name="Shape 14"/>
          <p:cNvSpPr/>
          <p:nvPr/>
        </p:nvSpPr>
        <p:spPr>
          <a:xfrm>
            <a:off x="566928" y="3602736"/>
            <a:ext cx="11057839" cy="621792"/>
          </a:xfrm>
          <a:prstGeom prst="rect">
            <a:avLst/>
          </a:prstGeom>
          <a:solidFill>
            <a:srgbClr val="FFFFFF"/>
          </a:solidFill>
          <a:ln w="15875">
            <a:solidFill>
              <a:srgbClr val="D9D6E0"/>
            </a:solidFill>
            <a:prstDash val="solid"/>
          </a:ln>
        </p:spPr>
      </p:sp>
      <p:sp>
        <p:nvSpPr>
          <p:cNvPr id="18" name="Text 15"/>
          <p:cNvSpPr/>
          <p:nvPr/>
        </p:nvSpPr>
        <p:spPr>
          <a:xfrm>
            <a:off x="694944" y="3602736"/>
            <a:ext cx="548640" cy="621792"/>
          </a:xfrm>
          <a:prstGeom prst="rect">
            <a:avLst/>
          </a:prstGeom>
          <a:noFill/>
          <a:ln/>
        </p:spPr>
        <p:txBody>
          <a:bodyPr wrap="square" lIns="0" tIns="0" rIns="0" bIns="0" rtlCol="0" anchor="ctr"/>
          <a:lstStyle/>
          <a:p>
            <a:pPr indent="0" marL="0">
              <a:buNone/>
            </a:pPr>
            <a:r>
              <a:rPr lang="en-US" sz="1600" dirty="0">
                <a:solidFill>
                  <a:srgbClr val="F07F06"/>
                </a:solidFill>
                <a:latin typeface="Arial Black" pitchFamily="34" charset="0"/>
                <a:ea typeface="Arial Black" pitchFamily="34" charset="-122"/>
                <a:cs typeface="Arial Black" pitchFamily="34" charset="-120"/>
              </a:rPr>
              <a:t>03</a:t>
            </a:r>
            <a:endParaRPr lang="en-US" sz="1600" dirty="0"/>
          </a:p>
        </p:txBody>
      </p:sp>
      <p:sp>
        <p:nvSpPr>
          <p:cNvPr id="19" name="Text 16"/>
          <p:cNvSpPr/>
          <p:nvPr/>
        </p:nvSpPr>
        <p:spPr>
          <a:xfrm>
            <a:off x="1280160" y="3767328"/>
            <a:ext cx="2011680" cy="292608"/>
          </a:xfrm>
          <a:prstGeom prst="rect">
            <a:avLst/>
          </a:prstGeom>
          <a:noFill/>
          <a:ln/>
        </p:spPr>
        <p:txBody>
          <a:bodyPr wrap="square" lIns="0" tIns="0" rIns="0" bIns="0" rtlCol="0" anchor="ctr"/>
          <a:lstStyle/>
          <a:p>
            <a:pPr indent="0" marL="0">
              <a:buNone/>
            </a:pPr>
            <a:r>
              <a:rPr lang="en-US" sz="1000" b="1" spc="100" kern="0" dirty="0">
                <a:solidFill>
                  <a:srgbClr val="0F0F11"/>
                </a:solidFill>
                <a:latin typeface="Courier New" pitchFamily="34" charset="0"/>
                <a:ea typeface="Courier New" pitchFamily="34" charset="-122"/>
                <a:cs typeface="Courier New" pitchFamily="34" charset="-120"/>
              </a:rPr>
              <a:t>MINA EN SECRETO</a:t>
            </a:r>
            <a:endParaRPr lang="en-US" sz="1000" dirty="0"/>
          </a:p>
        </p:txBody>
      </p:sp>
      <p:sp>
        <p:nvSpPr>
          <p:cNvPr id="20" name="Text 17"/>
          <p:cNvSpPr/>
          <p:nvPr/>
        </p:nvSpPr>
        <p:spPr>
          <a:xfrm>
            <a:off x="3566160" y="3694176"/>
            <a:ext cx="7948879" cy="475488"/>
          </a:xfrm>
          <a:prstGeom prst="rect">
            <a:avLst/>
          </a:prstGeom>
          <a:noFill/>
          <a:ln/>
        </p:spPr>
        <p:txBody>
          <a:bodyPr wrap="square" lIns="0" tIns="0" rIns="0" bIns="0" rtlCol="0" anchor="ctr"/>
          <a:lstStyle/>
          <a:p>
            <a:pPr indent="0" marL="0">
              <a:lnSpc>
                <a:spcPct val="115000"/>
              </a:lnSpc>
              <a:buNone/>
            </a:pPr>
            <a:r>
              <a:rPr lang="en-US" sz="1200" dirty="0">
                <a:solidFill>
                  <a:srgbClr val="3A3844"/>
                </a:solidFill>
                <a:latin typeface="Arial" pitchFamily="34" charset="0"/>
                <a:ea typeface="Arial" pitchFamily="34" charset="-122"/>
                <a:cs typeface="Arial" pitchFamily="34" charset="-120"/>
              </a:rPr>
              <a:t>En paralelo, el atacante mina su propia cadena alterna —desde un bloque anterior al pago— donde ese pago NO existe. No la publica todavía.</a:t>
            </a:r>
            <a:endParaRPr lang="en-US" sz="1200" dirty="0"/>
          </a:p>
        </p:txBody>
      </p:sp>
      <p:sp>
        <p:nvSpPr>
          <p:cNvPr id="21" name="Shape 18"/>
          <p:cNvSpPr/>
          <p:nvPr/>
        </p:nvSpPr>
        <p:spPr>
          <a:xfrm>
            <a:off x="566928" y="4306824"/>
            <a:ext cx="11057839" cy="621792"/>
          </a:xfrm>
          <a:prstGeom prst="rect">
            <a:avLst/>
          </a:prstGeom>
          <a:solidFill>
            <a:srgbClr val="FAF9FB"/>
          </a:solidFill>
          <a:ln w="15875">
            <a:solidFill>
              <a:srgbClr val="D9D6E0"/>
            </a:solidFill>
            <a:prstDash val="solid"/>
          </a:ln>
        </p:spPr>
      </p:sp>
      <p:sp>
        <p:nvSpPr>
          <p:cNvPr id="22" name="Text 19"/>
          <p:cNvSpPr/>
          <p:nvPr/>
        </p:nvSpPr>
        <p:spPr>
          <a:xfrm>
            <a:off x="694944" y="4306824"/>
            <a:ext cx="548640" cy="621792"/>
          </a:xfrm>
          <a:prstGeom prst="rect">
            <a:avLst/>
          </a:prstGeom>
          <a:noFill/>
          <a:ln/>
        </p:spPr>
        <p:txBody>
          <a:bodyPr wrap="square" lIns="0" tIns="0" rIns="0" bIns="0" rtlCol="0" anchor="ctr"/>
          <a:lstStyle/>
          <a:p>
            <a:pPr indent="0" marL="0">
              <a:buNone/>
            </a:pPr>
            <a:r>
              <a:rPr lang="en-US" sz="1600" dirty="0">
                <a:solidFill>
                  <a:srgbClr val="F07F06"/>
                </a:solidFill>
                <a:latin typeface="Arial Black" pitchFamily="34" charset="0"/>
                <a:ea typeface="Arial Black" pitchFamily="34" charset="-122"/>
                <a:cs typeface="Arial Black" pitchFamily="34" charset="-120"/>
              </a:rPr>
              <a:t>04</a:t>
            </a:r>
            <a:endParaRPr lang="en-US" sz="1600" dirty="0"/>
          </a:p>
        </p:txBody>
      </p:sp>
      <p:sp>
        <p:nvSpPr>
          <p:cNvPr id="23" name="Text 20"/>
          <p:cNvSpPr/>
          <p:nvPr/>
        </p:nvSpPr>
        <p:spPr>
          <a:xfrm>
            <a:off x="1280160" y="4471416"/>
            <a:ext cx="2011680" cy="292608"/>
          </a:xfrm>
          <a:prstGeom prst="rect">
            <a:avLst/>
          </a:prstGeom>
          <a:noFill/>
          <a:ln/>
        </p:spPr>
        <p:txBody>
          <a:bodyPr wrap="square" lIns="0" tIns="0" rIns="0" bIns="0" rtlCol="0" anchor="ctr"/>
          <a:lstStyle/>
          <a:p>
            <a:pPr indent="0" marL="0">
              <a:buNone/>
            </a:pPr>
            <a:r>
              <a:rPr lang="en-US" sz="1000" b="1" spc="100" kern="0" dirty="0">
                <a:solidFill>
                  <a:srgbClr val="0F0F11"/>
                </a:solidFill>
                <a:latin typeface="Courier New" pitchFamily="34" charset="0"/>
                <a:ea typeface="Courier New" pitchFamily="34" charset="-122"/>
                <a:cs typeface="Courier New" pitchFamily="34" charset="-120"/>
              </a:rPr>
              <a:t>ADELANTA A LA PÚBLICA</a:t>
            </a:r>
            <a:endParaRPr lang="en-US" sz="1000" dirty="0"/>
          </a:p>
        </p:txBody>
      </p:sp>
      <p:sp>
        <p:nvSpPr>
          <p:cNvPr id="24" name="Text 21"/>
          <p:cNvSpPr/>
          <p:nvPr/>
        </p:nvSpPr>
        <p:spPr>
          <a:xfrm>
            <a:off x="3566160" y="4398264"/>
            <a:ext cx="7948879" cy="475488"/>
          </a:xfrm>
          <a:prstGeom prst="rect">
            <a:avLst/>
          </a:prstGeom>
          <a:noFill/>
          <a:ln/>
        </p:spPr>
        <p:txBody>
          <a:bodyPr wrap="square" lIns="0" tIns="0" rIns="0" bIns="0" rtlCol="0" anchor="ctr"/>
          <a:lstStyle/>
          <a:p>
            <a:pPr indent="0" marL="0">
              <a:lnSpc>
                <a:spcPct val="115000"/>
              </a:lnSpc>
              <a:buNone/>
            </a:pPr>
            <a:r>
              <a:rPr lang="en-US" sz="1200" dirty="0">
                <a:solidFill>
                  <a:srgbClr val="3A3844"/>
                </a:solidFill>
                <a:latin typeface="Arial" pitchFamily="34" charset="0"/>
                <a:ea typeface="Arial" pitchFamily="34" charset="-122"/>
                <a:cs typeface="Arial" pitchFamily="34" charset="-120"/>
              </a:rPr>
              <a:t>Como tiene más de la mitad del cómputo, su cadena secreta termina pesando más que la pública.</a:t>
            </a:r>
            <a:endParaRPr lang="en-US" sz="1200" dirty="0"/>
          </a:p>
        </p:txBody>
      </p:sp>
      <p:sp>
        <p:nvSpPr>
          <p:cNvPr id="25" name="Shape 22"/>
          <p:cNvSpPr/>
          <p:nvPr/>
        </p:nvSpPr>
        <p:spPr>
          <a:xfrm>
            <a:off x="566928" y="5010912"/>
            <a:ext cx="11057839" cy="621792"/>
          </a:xfrm>
          <a:prstGeom prst="rect">
            <a:avLst/>
          </a:prstGeom>
          <a:solidFill>
            <a:srgbClr val="FFFFFF"/>
          </a:solidFill>
          <a:ln w="15875">
            <a:solidFill>
              <a:srgbClr val="D9D6E0"/>
            </a:solidFill>
            <a:prstDash val="solid"/>
          </a:ln>
        </p:spPr>
      </p:sp>
      <p:sp>
        <p:nvSpPr>
          <p:cNvPr id="26" name="Text 23"/>
          <p:cNvSpPr/>
          <p:nvPr/>
        </p:nvSpPr>
        <p:spPr>
          <a:xfrm>
            <a:off x="694944" y="5010912"/>
            <a:ext cx="548640" cy="621792"/>
          </a:xfrm>
          <a:prstGeom prst="rect">
            <a:avLst/>
          </a:prstGeom>
          <a:noFill/>
          <a:ln/>
        </p:spPr>
        <p:txBody>
          <a:bodyPr wrap="square" lIns="0" tIns="0" rIns="0" bIns="0" rtlCol="0" anchor="ctr"/>
          <a:lstStyle/>
          <a:p>
            <a:pPr indent="0" marL="0">
              <a:buNone/>
            </a:pPr>
            <a:r>
              <a:rPr lang="en-US" sz="1600" dirty="0">
                <a:solidFill>
                  <a:srgbClr val="F07F06"/>
                </a:solidFill>
                <a:latin typeface="Arial Black" pitchFamily="34" charset="0"/>
                <a:ea typeface="Arial Black" pitchFamily="34" charset="-122"/>
                <a:cs typeface="Arial Black" pitchFamily="34" charset="-120"/>
              </a:rPr>
              <a:t>05</a:t>
            </a:r>
            <a:endParaRPr lang="en-US" sz="1600" dirty="0"/>
          </a:p>
        </p:txBody>
      </p:sp>
      <p:sp>
        <p:nvSpPr>
          <p:cNvPr id="27" name="Text 24"/>
          <p:cNvSpPr/>
          <p:nvPr/>
        </p:nvSpPr>
        <p:spPr>
          <a:xfrm>
            <a:off x="1280160" y="5175504"/>
            <a:ext cx="2011680" cy="292608"/>
          </a:xfrm>
          <a:prstGeom prst="rect">
            <a:avLst/>
          </a:prstGeom>
          <a:noFill/>
          <a:ln/>
        </p:spPr>
        <p:txBody>
          <a:bodyPr wrap="square" lIns="0" tIns="0" rIns="0" bIns="0" rtlCol="0" anchor="ctr"/>
          <a:lstStyle/>
          <a:p>
            <a:pPr indent="0" marL="0">
              <a:buNone/>
            </a:pPr>
            <a:r>
              <a:rPr lang="en-US" sz="1000" b="1" spc="100" kern="0" dirty="0">
                <a:solidFill>
                  <a:srgbClr val="0F0F11"/>
                </a:solidFill>
                <a:latin typeface="Courier New" pitchFamily="34" charset="0"/>
                <a:ea typeface="Courier New" pitchFamily="34" charset="-122"/>
                <a:cs typeface="Courier New" pitchFamily="34" charset="-120"/>
              </a:rPr>
              <a:t>LA PUBLICA</a:t>
            </a:r>
            <a:endParaRPr lang="en-US" sz="1000" dirty="0"/>
          </a:p>
        </p:txBody>
      </p:sp>
      <p:sp>
        <p:nvSpPr>
          <p:cNvPr id="28" name="Text 25"/>
          <p:cNvSpPr/>
          <p:nvPr/>
        </p:nvSpPr>
        <p:spPr>
          <a:xfrm>
            <a:off x="3566160" y="5102352"/>
            <a:ext cx="7948879" cy="475488"/>
          </a:xfrm>
          <a:prstGeom prst="rect">
            <a:avLst/>
          </a:prstGeom>
          <a:noFill/>
          <a:ln/>
        </p:spPr>
        <p:txBody>
          <a:bodyPr wrap="square" lIns="0" tIns="0" rIns="0" bIns="0" rtlCol="0" anchor="ctr"/>
          <a:lstStyle/>
          <a:p>
            <a:pPr indent="0" marL="0">
              <a:lnSpc>
                <a:spcPct val="115000"/>
              </a:lnSpc>
              <a:buNone/>
            </a:pPr>
            <a:r>
              <a:rPr lang="en-US" sz="1200" dirty="0">
                <a:solidFill>
                  <a:srgbClr val="3A3844"/>
                </a:solidFill>
                <a:latin typeface="Arial" pitchFamily="34" charset="0"/>
                <a:ea typeface="Arial" pitchFamily="34" charset="-122"/>
                <a:cs typeface="Arial" pitchFamily="34" charset="-120"/>
              </a:rPr>
              <a:t>Suelta su cadena. La red, por la regla de A.7, cambia a la de más trabajo. El pago desaparece de la historia: el atacante conserva las 10 monedas y el carro.</a:t>
            </a:r>
            <a:endParaRPr lang="en-US" sz="1200" dirty="0"/>
          </a:p>
        </p:txBody>
      </p:sp>
      <p:sp>
        <p:nvSpPr>
          <p:cNvPr id="29" name="Text 26"/>
          <p:cNvSpPr/>
          <p:nvPr/>
        </p:nvSpPr>
        <p:spPr>
          <a:xfrm>
            <a:off x="566928" y="5797296"/>
            <a:ext cx="11057839" cy="457200"/>
          </a:xfrm>
          <a:prstGeom prst="rect">
            <a:avLst/>
          </a:prstGeom>
          <a:noFill/>
          <a:ln/>
        </p:spPr>
        <p:txBody>
          <a:bodyPr wrap="square" lIns="0" tIns="0" rIns="0" bIns="0" rtlCol="0" anchor="t"/>
          <a:lstStyle/>
          <a:p>
            <a:pPr indent="0" marL="0">
              <a:lnSpc>
                <a:spcPct val="124000"/>
              </a:lnSpc>
              <a:buNone/>
            </a:pPr>
            <a:r>
              <a:rPr lang="en-US" sz="1200" dirty="0">
                <a:solidFill>
                  <a:srgbClr val="A35604"/>
                </a:solidFill>
                <a:latin typeface="Arial" pitchFamily="34" charset="0"/>
                <a:ea typeface="Arial" pitchFamily="34" charset="-122"/>
                <a:cs typeface="Arial" pitchFamily="34" charset="-120"/>
              </a:rPr>
              <a:t>Cada bloque que el vendedor espera obliga al atacante a rehacer uno más en secreto: ahí entra la tabla siguiente.</a:t>
            </a:r>
            <a:endParaRPr lang="en-US" sz="1200" dirty="0"/>
          </a:p>
        </p:txBody>
      </p:sp>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name="Slide 17">
    <p:bg>
      <p:bgPr>
        <a:solidFill>
          <a:srgbClr val="FFFFFF"/>
        </a:solidFill>
      </p:bgPr>
    </p:bg>
    <p:spTree>
      <p:nvGrpSpPr>
        <p:cNvPr id="1" name=""/>
        <p:cNvGrpSpPr/>
        <p:nvPr/>
      </p:nvGrpSpPr>
      <p:grpSpPr>
        <a:xfrm>
          <a:off x="0" y="0"/>
          <a:ext cx="0" cy="0"/>
          <a:chOff x="0" y="0"/>
          <a:chExt cx="0" cy="0"/>
        </a:xfrm>
      </p:grpSpPr>
      <p:pic>
        <p:nvPicPr>
          <p:cNvPr id="2" name="Image 0" descr="preencoded.png">    </p:cNvPr>
          <p:cNvPicPr>
            <a:picLocks noChangeAspect="1"/>
          </p:cNvPicPr>
          <p:nvPr/>
        </p:nvPicPr>
        <p:blipFill>
          <a:blip r:embed="rId1"/>
          <a:stretch>
            <a:fillRect/>
          </a:stretch>
        </p:blipFill>
        <p:spPr>
          <a:xfrm>
            <a:off x="566928" y="402336"/>
            <a:ext cx="274320" cy="274320"/>
          </a:xfrm>
          <a:prstGeom prst="rect">
            <a:avLst/>
          </a:prstGeom>
        </p:spPr>
      </p:pic>
      <p:sp>
        <p:nvSpPr>
          <p:cNvPr id="3" name="Text 0"/>
          <p:cNvSpPr/>
          <p:nvPr/>
        </p:nvSpPr>
        <p:spPr>
          <a:xfrm>
            <a:off x="969264" y="384048"/>
            <a:ext cx="10655503" cy="310896"/>
          </a:xfrm>
          <a:prstGeom prst="rect">
            <a:avLst/>
          </a:prstGeom>
          <a:noFill/>
          <a:ln/>
        </p:spPr>
        <p:txBody>
          <a:bodyPr wrap="square" lIns="0" tIns="0" rIns="0" bIns="0" rtlCol="0" anchor="ctr"/>
          <a:lstStyle/>
          <a:p>
            <a:pPr indent="0" marL="0">
              <a:buNone/>
            </a:pPr>
            <a:r>
              <a:rPr lang="en-US" sz="950" spc="160" kern="0" dirty="0">
                <a:solidFill>
                  <a:srgbClr val="6F6B80"/>
                </a:solidFill>
                <a:latin typeface="Courier New" pitchFamily="34" charset="0"/>
                <a:ea typeface="Courier New" pitchFamily="34" charset="-122"/>
                <a:cs typeface="Courier New" pitchFamily="34" charset="-120"/>
              </a:rPr>
              <a:t>A.9 · CUÁNTO ESPERAR</a:t>
            </a:r>
            <a:endParaRPr lang="en-US" sz="950" dirty="0"/>
          </a:p>
        </p:txBody>
      </p:sp>
      <p:sp>
        <p:nvSpPr>
          <p:cNvPr id="4" name="Text 1"/>
          <p:cNvSpPr/>
          <p:nvPr/>
        </p:nvSpPr>
        <p:spPr>
          <a:xfrm>
            <a:off x="566928" y="777240"/>
            <a:ext cx="11057839" cy="777240"/>
          </a:xfrm>
          <a:prstGeom prst="rect">
            <a:avLst/>
          </a:prstGeom>
          <a:noFill/>
          <a:ln/>
        </p:spPr>
        <p:txBody>
          <a:bodyPr wrap="square" lIns="0" tIns="0" rIns="0" bIns="0" rtlCol="0" anchor="t"/>
          <a:lstStyle/>
          <a:p>
            <a:pPr indent="0" marL="0">
              <a:lnSpc>
                <a:spcPct val="92000"/>
              </a:lnSpc>
              <a:buNone/>
            </a:pPr>
            <a:r>
              <a:rPr lang="en-US" sz="2700" dirty="0">
                <a:solidFill>
                  <a:srgbClr val="0F0F11"/>
                </a:solidFill>
                <a:latin typeface="Arial Black" pitchFamily="34" charset="0"/>
                <a:ea typeface="Arial Black" pitchFamily="34" charset="-122"/>
                <a:cs typeface="Arial Black" pitchFamily="34" charset="-120"/>
              </a:rPr>
              <a:t>CADA BLOQUE ENCIMA HACE MÁS DIFÍCIL REVERTIR</a:t>
            </a:r>
            <a:endParaRPr lang="en-US" sz="2700" dirty="0"/>
          </a:p>
        </p:txBody>
      </p:sp>
      <p:sp>
        <p:nvSpPr>
          <p:cNvPr id="5" name="Text 2"/>
          <p:cNvSpPr/>
          <p:nvPr/>
        </p:nvSpPr>
        <p:spPr>
          <a:xfrm>
            <a:off x="566928" y="6291072"/>
            <a:ext cx="8412480" cy="274320"/>
          </a:xfrm>
          <a:prstGeom prst="rect">
            <a:avLst/>
          </a:prstGeom>
          <a:noFill/>
          <a:ln/>
        </p:spPr>
        <p:txBody>
          <a:bodyPr wrap="square" lIns="0" tIns="0" rIns="0" bIns="0" rtlCol="0" anchor="ctr"/>
          <a:lstStyle/>
          <a:p>
            <a:pPr indent="0" marL="0">
              <a:buNone/>
            </a:pPr>
            <a:r>
              <a:rPr lang="en-US" sz="800" spc="120" kern="0" dirty="0">
                <a:solidFill>
                  <a:srgbClr val="6F6B80"/>
                </a:solidFill>
                <a:latin typeface="Courier New" pitchFamily="34" charset="0"/>
                <a:ea typeface="Courier New" pitchFamily="34" charset="-122"/>
                <a:cs typeface="Courier New" pitchFamily="34" charset="-120"/>
              </a:rPr>
              <a:t>SESIÓN 04 · CONSENSO, INCENTIVOS Y EL TRILEMA</a:t>
            </a:r>
            <a:endParaRPr lang="en-US" sz="800" dirty="0"/>
          </a:p>
        </p:txBody>
      </p:sp>
      <p:sp>
        <p:nvSpPr>
          <p:cNvPr id="6" name="Text 3"/>
          <p:cNvSpPr/>
          <p:nvPr/>
        </p:nvSpPr>
        <p:spPr>
          <a:xfrm>
            <a:off x="9052560" y="6291072"/>
            <a:ext cx="1828800" cy="274320"/>
          </a:xfrm>
          <a:prstGeom prst="rect">
            <a:avLst/>
          </a:prstGeom>
          <a:noFill/>
          <a:ln/>
        </p:spPr>
        <p:txBody>
          <a:bodyPr wrap="square" lIns="0" tIns="0" rIns="0" bIns="0" rtlCol="0" anchor="ctr"/>
          <a:lstStyle/>
          <a:p>
            <a:pPr algn="r" indent="0" marL="0">
              <a:buNone/>
            </a:pPr>
            <a:r>
              <a:rPr lang="en-US" sz="800" spc="120" kern="0" dirty="0">
                <a:solidFill>
                  <a:srgbClr val="6F6B80"/>
                </a:solidFill>
                <a:latin typeface="Courier New" pitchFamily="34" charset="0"/>
                <a:ea typeface="Courier New" pitchFamily="34" charset="-122"/>
                <a:cs typeface="Courier New" pitchFamily="34" charset="-120"/>
              </a:rPr>
              <a:t>USB MEDELLÍN</a:t>
            </a:r>
            <a:endParaRPr lang="en-US" sz="800" dirty="0"/>
          </a:p>
        </p:txBody>
      </p:sp>
      <p:sp>
        <p:nvSpPr>
          <p:cNvPr id="7" name="Text 4"/>
          <p:cNvSpPr/>
          <p:nvPr/>
        </p:nvSpPr>
        <p:spPr>
          <a:xfrm>
            <a:off x="11018520" y="6291072"/>
            <a:ext cx="603504" cy="274320"/>
          </a:xfrm>
          <a:prstGeom prst="rect">
            <a:avLst/>
          </a:prstGeom>
          <a:noFill/>
          <a:ln/>
        </p:spPr>
        <p:txBody>
          <a:bodyPr wrap="square" lIns="0" tIns="0" rIns="0" bIns="0" rtlCol="0" anchor="ctr"/>
          <a:lstStyle/>
          <a:p>
            <a:pPr algn="r" indent="0" marL="0">
              <a:buNone/>
            </a:pPr>
            <a:r>
              <a:rPr lang="en-US" sz="900" b="1" dirty="0">
                <a:solidFill>
                  <a:srgbClr val="0F0F11"/>
                </a:solidFill>
                <a:latin typeface="Courier New" pitchFamily="34" charset="0"/>
                <a:ea typeface="Courier New" pitchFamily="34" charset="-122"/>
                <a:cs typeface="Courier New" pitchFamily="34" charset="-120"/>
              </a:rPr>
              <a:t>17</a:t>
            </a:r>
            <a:endParaRPr lang="en-US" sz="900" dirty="0"/>
          </a:p>
        </p:txBody>
      </p:sp>
      <p:sp>
        <p:nvSpPr>
          <p:cNvPr id="8" name="Text 5"/>
          <p:cNvSpPr/>
          <p:nvPr/>
        </p:nvSpPr>
        <p:spPr>
          <a:xfrm>
            <a:off x="566928" y="1737360"/>
            <a:ext cx="11057839" cy="868680"/>
          </a:xfrm>
          <a:prstGeom prst="rect">
            <a:avLst/>
          </a:prstGeom>
          <a:noFill/>
          <a:ln/>
        </p:spPr>
        <p:txBody>
          <a:bodyPr wrap="square" lIns="0" tIns="0" rIns="0" bIns="0" rtlCol="0" anchor="t"/>
          <a:lstStyle/>
          <a:p>
            <a:pPr indent="0" marL="0">
              <a:lnSpc>
                <a:spcPct val="124000"/>
              </a:lnSpc>
              <a:buNone/>
            </a:pPr>
            <a:r>
              <a:rPr lang="en-US" sz="1400" dirty="0">
                <a:solidFill>
                  <a:srgbClr val="3A3844"/>
                </a:solidFill>
                <a:latin typeface="Arial" pitchFamily="34" charset="0"/>
                <a:ea typeface="Arial" pitchFamily="34" charset="-122"/>
                <a:cs typeface="Arial" pitchFamily="34" charset="-120"/>
              </a:rPr>
              <a:t>Nakamoto calculó en la sección 11 del whitepaper la probabilidad de que un atacante con una fracción q del cómputo alcance a la cadena honesta cuando va z bloques atrás. Esta es su propia tabla para que esa probabilidad baje de 0,1 %.</a:t>
            </a:r>
            <a:endParaRPr lang="en-US" sz="1400" dirty="0"/>
          </a:p>
        </p:txBody>
      </p:sp>
      <p:graphicFrame>
        <p:nvGraphicFramePr>
          <p:cNvPr id="18" name="Table 0"/>
          <p:cNvGraphicFramePr>
            <a:graphicFrameLocks noGrp="1"/>
          </p:cNvGraphicFramePr>
          <p:nvPr>
            <p:extLst>
              <p:ext uri="{D42A27DB-BD31-4B8C-83A1-F6EECF244321}">
                <p14:modId xmlns:p14="http://schemas.microsoft.com/office/powerpoint/2010/main" val="1579011935"/>
              </p:ext>
            </p:extLst>
          </p:nvPr>
        </p:nvGraphicFramePr>
        <p:xfrm>
          <a:off x="566928" y="2788920"/>
          <a:ext cx="4937760" cy="914400"/>
        </p:xfrm>
        <a:graphic>
          <a:graphicData uri="http://schemas.openxmlformats.org/drawingml/2006/table">
            <a:tbl>
              <a:tblPr/>
              <a:tblGrid>
                <a:gridCol w="2743200"/>
                <a:gridCol w="2194560"/>
              </a:tblGrid>
              <a:tr h="310896">
                <a:tc>
                  <a:txBody>
                    <a:bodyPr/>
                    <a:lstStyle/>
                    <a:p>
                      <a:pPr indent="0" marL="0">
                        <a:buNone/>
                      </a:pPr>
                      <a:r>
                        <a:rPr lang="en-US" sz="900" b="1" spc="110" kern="0" dirty="0">
                          <a:solidFill>
                            <a:srgbClr val="FFFFFF"/>
                          </a:solidFill>
                          <a:latin typeface="Courier New" pitchFamily="34" charset="0"/>
                          <a:ea typeface="Courier New" pitchFamily="34" charset="-122"/>
                          <a:cs typeface="Courier New" pitchFamily="34" charset="-120"/>
                        </a:rPr>
                        <a:t>FRACCIÓN DEL ATACANTE (Q)</a:t>
                      </a:r>
                      <a:endParaRPr lang="en-US" sz="900" dirty="0">
                        <a:latin typeface="Courier New" charset="0"/>
                        <a:ea typeface="Courier New" charset="0"/>
                        <a:cs typeface="Courier New" charset="0"/>
                      </a:endParaRPr>
                    </a:p>
                  </a:txBody>
                  <a:tcPr marL="101600" marR="101600" marT="76200" marB="76200" anchor="ctr">
                    <a:lnL w="12700" cap="flat" cmpd="sng" algn="ctr">
                      <a:solidFill>
                        <a:srgbClr val="D9D6E0"/>
                      </a:solidFill>
                      <a:prstDash val="solid"/>
                      <a:round/>
                      <a:headEnd type="none" w="med" len="med"/>
                      <a:tailEnd type="none" w="med" len="med"/>
                    </a:lnL>
                    <a:lnR w="12700" cap="flat" cmpd="sng" algn="ctr">
                      <a:solidFill>
                        <a:srgbClr val="D9D6E0"/>
                      </a:solidFill>
                      <a:prstDash val="solid"/>
                      <a:round/>
                      <a:headEnd type="none" w="med" len="med"/>
                      <a:tailEnd type="none" w="med" len="med"/>
                    </a:lnR>
                    <a:lnT w="12700" cap="flat" cmpd="sng" algn="ctr">
                      <a:solidFill>
                        <a:srgbClr val="D9D6E0"/>
                      </a:solidFill>
                      <a:prstDash val="solid"/>
                      <a:round/>
                      <a:headEnd type="none" w="med" len="med"/>
                      <a:tailEnd type="none" w="med" len="med"/>
                    </a:lnT>
                    <a:lnB w="12700" cap="flat" cmpd="sng" algn="ctr">
                      <a:solidFill>
                        <a:srgbClr val="D9D6E0"/>
                      </a:solidFill>
                      <a:prstDash val="solid"/>
                      <a:round/>
                      <a:headEnd type="none" w="med" len="med"/>
                      <a:tailEnd type="none" w="med" len="med"/>
                    </a:lnB>
                    <a:solidFill>
                      <a:srgbClr val="0F0F11"/>
                    </a:solidFill>
                  </a:tcPr>
                </a:tc>
                <a:tc>
                  <a:txBody>
                    <a:bodyPr/>
                    <a:lstStyle/>
                    <a:p>
                      <a:pPr indent="0" marL="0">
                        <a:buNone/>
                      </a:pPr>
                      <a:r>
                        <a:rPr lang="en-US" sz="900" b="1" spc="110" kern="0" dirty="0">
                          <a:solidFill>
                            <a:srgbClr val="FFFFFF"/>
                          </a:solidFill>
                          <a:latin typeface="Courier New" pitchFamily="34" charset="0"/>
                          <a:ea typeface="Courier New" pitchFamily="34" charset="-122"/>
                          <a:cs typeface="Courier New" pitchFamily="34" charset="-120"/>
                        </a:rPr>
                        <a:t>BLOQUES DE ESPERA (Z)</a:t>
                      </a:r>
                      <a:endParaRPr lang="en-US" sz="900" dirty="0">
                        <a:latin typeface="Courier New" charset="0"/>
                        <a:ea typeface="Courier New" charset="0"/>
                        <a:cs typeface="Courier New" charset="0"/>
                      </a:endParaRPr>
                    </a:p>
                  </a:txBody>
                  <a:tcPr marL="101600" marR="101600" marT="76200" marB="76200" anchor="ctr">
                    <a:lnL w="12700" cap="flat" cmpd="sng" algn="ctr">
                      <a:solidFill>
                        <a:srgbClr val="D9D6E0"/>
                      </a:solidFill>
                      <a:prstDash val="solid"/>
                      <a:round/>
                      <a:headEnd type="none" w="med" len="med"/>
                      <a:tailEnd type="none" w="med" len="med"/>
                    </a:lnL>
                    <a:lnR w="12700" cap="flat" cmpd="sng" algn="ctr">
                      <a:solidFill>
                        <a:srgbClr val="D9D6E0"/>
                      </a:solidFill>
                      <a:prstDash val="solid"/>
                      <a:round/>
                      <a:headEnd type="none" w="med" len="med"/>
                      <a:tailEnd type="none" w="med" len="med"/>
                    </a:lnR>
                    <a:lnT w="12700" cap="flat" cmpd="sng" algn="ctr">
                      <a:solidFill>
                        <a:srgbClr val="D9D6E0"/>
                      </a:solidFill>
                      <a:prstDash val="solid"/>
                      <a:round/>
                      <a:headEnd type="none" w="med" len="med"/>
                      <a:tailEnd type="none" w="med" len="med"/>
                    </a:lnT>
                    <a:lnB w="12700" cap="flat" cmpd="sng" algn="ctr">
                      <a:solidFill>
                        <a:srgbClr val="D9D6E0"/>
                      </a:solidFill>
                      <a:prstDash val="solid"/>
                      <a:round/>
                      <a:headEnd type="none" w="med" len="med"/>
                      <a:tailEnd type="none" w="med" len="med"/>
                    </a:lnB>
                    <a:solidFill>
                      <a:srgbClr val="0F0F11"/>
                    </a:solidFill>
                  </a:tcPr>
                </a:tc>
              </a:tr>
              <a:tr h="504749">
                <a:tc>
                  <a:txBody>
                    <a:bodyPr/>
                    <a:lstStyle/>
                    <a:p>
                      <a:pPr indent="0" marL="0">
                        <a:buNone/>
                      </a:pPr>
                      <a:r>
                        <a:rPr lang="en-US" sz="1250" b="1" dirty="0">
                          <a:solidFill>
                            <a:srgbClr val="0F0F11"/>
                          </a:solidFill>
                          <a:latin typeface="Courier New" pitchFamily="34" charset="0"/>
                          <a:ea typeface="Courier New" pitchFamily="34" charset="-122"/>
                          <a:cs typeface="Courier New" pitchFamily="34" charset="-120"/>
                        </a:rPr>
                        <a:t>10 %</a:t>
                      </a:r>
                      <a:endParaRPr lang="en-US" sz="1250" dirty="0">
                        <a:latin typeface="Courier New" charset="0"/>
                        <a:ea typeface="Courier New" charset="0"/>
                        <a:cs typeface="Courier New" charset="0"/>
                      </a:endParaRPr>
                    </a:p>
                  </a:txBody>
                  <a:tcPr marL="101600" marR="101600" marT="76200" marB="76200" anchor="t">
                    <a:lnL w="12700" cap="flat" cmpd="sng" algn="ctr">
                      <a:solidFill>
                        <a:srgbClr val="D9D6E0"/>
                      </a:solidFill>
                      <a:prstDash val="solid"/>
                      <a:round/>
                      <a:headEnd type="none" w="med" len="med"/>
                      <a:tailEnd type="none" w="med" len="med"/>
                    </a:lnL>
                    <a:lnR w="12700" cap="flat" cmpd="sng" algn="ctr">
                      <a:solidFill>
                        <a:srgbClr val="D9D6E0"/>
                      </a:solidFill>
                      <a:prstDash val="solid"/>
                      <a:round/>
                      <a:headEnd type="none" w="med" len="med"/>
                      <a:tailEnd type="none" w="med" len="med"/>
                    </a:lnR>
                    <a:lnT w="12700" cap="flat" cmpd="sng" algn="ctr">
                      <a:solidFill>
                        <a:srgbClr val="D9D6E0"/>
                      </a:solidFill>
                      <a:prstDash val="solid"/>
                      <a:round/>
                      <a:headEnd type="none" w="med" len="med"/>
                      <a:tailEnd type="none" w="med" len="med"/>
                    </a:lnT>
                    <a:lnB w="12700" cap="flat" cmpd="sng" algn="ctr">
                      <a:solidFill>
                        <a:srgbClr val="D9D6E0"/>
                      </a:solidFill>
                      <a:prstDash val="solid"/>
                      <a:round/>
                      <a:headEnd type="none" w="med" len="med"/>
                      <a:tailEnd type="none" w="med" len="med"/>
                    </a:lnB>
                    <a:solidFill>
                      <a:srgbClr val="FFFFFF"/>
                    </a:solidFill>
                  </a:tcPr>
                </a:tc>
                <a:tc>
                  <a:txBody>
                    <a:bodyPr/>
                    <a:lstStyle/>
                    <a:p>
                      <a:pPr indent="0" marL="0">
                        <a:buNone/>
                      </a:pPr>
                      <a:r>
                        <a:rPr lang="en-US" sz="1250" dirty="0">
                          <a:solidFill>
                            <a:srgbClr val="3A3844"/>
                          </a:solidFill>
                          <a:latin typeface="Arial" pitchFamily="34" charset="0"/>
                          <a:ea typeface="Arial" pitchFamily="34" charset="-122"/>
                          <a:cs typeface="Arial" pitchFamily="34" charset="-120"/>
                        </a:rPr>
                        <a:t>5</a:t>
                      </a:r>
                      <a:endParaRPr lang="en-US" sz="1250" dirty="0">
                        <a:latin typeface="Arial" charset="0"/>
                        <a:ea typeface="Arial" charset="0"/>
                        <a:cs typeface="Arial" charset="0"/>
                      </a:endParaRPr>
                    </a:p>
                  </a:txBody>
                  <a:tcPr marL="101600" marR="101600" marT="76200" marB="76200" anchor="t">
                    <a:lnL w="12700" cap="flat" cmpd="sng" algn="ctr">
                      <a:solidFill>
                        <a:srgbClr val="D9D6E0"/>
                      </a:solidFill>
                      <a:prstDash val="solid"/>
                      <a:round/>
                      <a:headEnd type="none" w="med" len="med"/>
                      <a:tailEnd type="none" w="med" len="med"/>
                    </a:lnL>
                    <a:lnR w="12700" cap="flat" cmpd="sng" algn="ctr">
                      <a:solidFill>
                        <a:srgbClr val="D9D6E0"/>
                      </a:solidFill>
                      <a:prstDash val="solid"/>
                      <a:round/>
                      <a:headEnd type="none" w="med" len="med"/>
                      <a:tailEnd type="none" w="med" len="med"/>
                    </a:lnR>
                    <a:lnT w="12700" cap="flat" cmpd="sng" algn="ctr">
                      <a:solidFill>
                        <a:srgbClr val="D9D6E0"/>
                      </a:solidFill>
                      <a:prstDash val="solid"/>
                      <a:round/>
                      <a:headEnd type="none" w="med" len="med"/>
                      <a:tailEnd type="none" w="med" len="med"/>
                    </a:lnT>
                    <a:lnB w="12700" cap="flat" cmpd="sng" algn="ctr">
                      <a:solidFill>
                        <a:srgbClr val="D9D6E0"/>
                      </a:solidFill>
                      <a:prstDash val="solid"/>
                      <a:round/>
                      <a:headEnd type="none" w="med" len="med"/>
                      <a:tailEnd type="none" w="med" len="med"/>
                    </a:lnB>
                    <a:solidFill>
                      <a:srgbClr val="FFFFFF"/>
                    </a:solidFill>
                  </a:tcPr>
                </a:tc>
              </a:tr>
              <a:tr h="504749">
                <a:tc>
                  <a:txBody>
                    <a:bodyPr/>
                    <a:lstStyle/>
                    <a:p>
                      <a:pPr indent="0" marL="0">
                        <a:buNone/>
                      </a:pPr>
                      <a:r>
                        <a:rPr lang="en-US" sz="1250" b="1" dirty="0">
                          <a:solidFill>
                            <a:srgbClr val="0F0F11"/>
                          </a:solidFill>
                          <a:latin typeface="Courier New" pitchFamily="34" charset="0"/>
                          <a:ea typeface="Courier New" pitchFamily="34" charset="-122"/>
                          <a:cs typeface="Courier New" pitchFamily="34" charset="-120"/>
                        </a:rPr>
                        <a:t>20 %</a:t>
                      </a:r>
                      <a:endParaRPr lang="en-US" sz="1250" dirty="0">
                        <a:latin typeface="Courier New" charset="0"/>
                        <a:ea typeface="Courier New" charset="0"/>
                        <a:cs typeface="Courier New" charset="0"/>
                      </a:endParaRPr>
                    </a:p>
                  </a:txBody>
                  <a:tcPr marL="101600" marR="101600" marT="76200" marB="76200" anchor="t">
                    <a:lnL w="12700" cap="flat" cmpd="sng" algn="ctr">
                      <a:solidFill>
                        <a:srgbClr val="D9D6E0"/>
                      </a:solidFill>
                      <a:prstDash val="solid"/>
                      <a:round/>
                      <a:headEnd type="none" w="med" len="med"/>
                      <a:tailEnd type="none" w="med" len="med"/>
                    </a:lnL>
                    <a:lnR w="12700" cap="flat" cmpd="sng" algn="ctr">
                      <a:solidFill>
                        <a:srgbClr val="D9D6E0"/>
                      </a:solidFill>
                      <a:prstDash val="solid"/>
                      <a:round/>
                      <a:headEnd type="none" w="med" len="med"/>
                      <a:tailEnd type="none" w="med" len="med"/>
                    </a:lnR>
                    <a:lnT w="12700" cap="flat" cmpd="sng" algn="ctr">
                      <a:solidFill>
                        <a:srgbClr val="D9D6E0"/>
                      </a:solidFill>
                      <a:prstDash val="solid"/>
                      <a:round/>
                      <a:headEnd type="none" w="med" len="med"/>
                      <a:tailEnd type="none" w="med" len="med"/>
                    </a:lnT>
                    <a:lnB w="12700" cap="flat" cmpd="sng" algn="ctr">
                      <a:solidFill>
                        <a:srgbClr val="D9D6E0"/>
                      </a:solidFill>
                      <a:prstDash val="solid"/>
                      <a:round/>
                      <a:headEnd type="none" w="med" len="med"/>
                      <a:tailEnd type="none" w="med" len="med"/>
                    </a:lnB>
                    <a:solidFill>
                      <a:srgbClr val="FAF9FB"/>
                    </a:solidFill>
                  </a:tcPr>
                </a:tc>
                <a:tc>
                  <a:txBody>
                    <a:bodyPr/>
                    <a:lstStyle/>
                    <a:p>
                      <a:pPr indent="0" marL="0">
                        <a:buNone/>
                      </a:pPr>
                      <a:r>
                        <a:rPr lang="en-US" sz="1250" dirty="0">
                          <a:solidFill>
                            <a:srgbClr val="3A3844"/>
                          </a:solidFill>
                          <a:latin typeface="Arial" pitchFamily="34" charset="0"/>
                          <a:ea typeface="Arial" pitchFamily="34" charset="-122"/>
                          <a:cs typeface="Arial" pitchFamily="34" charset="-120"/>
                        </a:rPr>
                        <a:t>11</a:t>
                      </a:r>
                      <a:endParaRPr lang="en-US" sz="1250" dirty="0">
                        <a:latin typeface="Arial" charset="0"/>
                        <a:ea typeface="Arial" charset="0"/>
                        <a:cs typeface="Arial" charset="0"/>
                      </a:endParaRPr>
                    </a:p>
                  </a:txBody>
                  <a:tcPr marL="101600" marR="101600" marT="76200" marB="76200" anchor="t">
                    <a:lnL w="12700" cap="flat" cmpd="sng" algn="ctr">
                      <a:solidFill>
                        <a:srgbClr val="D9D6E0"/>
                      </a:solidFill>
                      <a:prstDash val="solid"/>
                      <a:round/>
                      <a:headEnd type="none" w="med" len="med"/>
                      <a:tailEnd type="none" w="med" len="med"/>
                    </a:lnL>
                    <a:lnR w="12700" cap="flat" cmpd="sng" algn="ctr">
                      <a:solidFill>
                        <a:srgbClr val="D9D6E0"/>
                      </a:solidFill>
                      <a:prstDash val="solid"/>
                      <a:round/>
                      <a:headEnd type="none" w="med" len="med"/>
                      <a:tailEnd type="none" w="med" len="med"/>
                    </a:lnR>
                    <a:lnT w="12700" cap="flat" cmpd="sng" algn="ctr">
                      <a:solidFill>
                        <a:srgbClr val="D9D6E0"/>
                      </a:solidFill>
                      <a:prstDash val="solid"/>
                      <a:round/>
                      <a:headEnd type="none" w="med" len="med"/>
                      <a:tailEnd type="none" w="med" len="med"/>
                    </a:lnT>
                    <a:lnB w="12700" cap="flat" cmpd="sng" algn="ctr">
                      <a:solidFill>
                        <a:srgbClr val="D9D6E0"/>
                      </a:solidFill>
                      <a:prstDash val="solid"/>
                      <a:round/>
                      <a:headEnd type="none" w="med" len="med"/>
                      <a:tailEnd type="none" w="med" len="med"/>
                    </a:lnB>
                    <a:solidFill>
                      <a:srgbClr val="FAF9FB"/>
                    </a:solidFill>
                  </a:tcPr>
                </a:tc>
              </a:tr>
              <a:tr h="504749">
                <a:tc>
                  <a:txBody>
                    <a:bodyPr/>
                    <a:lstStyle/>
                    <a:p>
                      <a:pPr indent="0" marL="0">
                        <a:buNone/>
                      </a:pPr>
                      <a:r>
                        <a:rPr lang="en-US" sz="1250" b="1" dirty="0">
                          <a:solidFill>
                            <a:srgbClr val="0F0F11"/>
                          </a:solidFill>
                          <a:latin typeface="Courier New" pitchFamily="34" charset="0"/>
                          <a:ea typeface="Courier New" pitchFamily="34" charset="-122"/>
                          <a:cs typeface="Courier New" pitchFamily="34" charset="-120"/>
                        </a:rPr>
                        <a:t>30 %</a:t>
                      </a:r>
                      <a:endParaRPr lang="en-US" sz="1250" dirty="0">
                        <a:latin typeface="Courier New" charset="0"/>
                        <a:ea typeface="Courier New" charset="0"/>
                        <a:cs typeface="Courier New" charset="0"/>
                      </a:endParaRPr>
                    </a:p>
                  </a:txBody>
                  <a:tcPr marL="101600" marR="101600" marT="76200" marB="76200" anchor="t">
                    <a:lnL w="12700" cap="flat" cmpd="sng" algn="ctr">
                      <a:solidFill>
                        <a:srgbClr val="D9D6E0"/>
                      </a:solidFill>
                      <a:prstDash val="solid"/>
                      <a:round/>
                      <a:headEnd type="none" w="med" len="med"/>
                      <a:tailEnd type="none" w="med" len="med"/>
                    </a:lnL>
                    <a:lnR w="12700" cap="flat" cmpd="sng" algn="ctr">
                      <a:solidFill>
                        <a:srgbClr val="D9D6E0"/>
                      </a:solidFill>
                      <a:prstDash val="solid"/>
                      <a:round/>
                      <a:headEnd type="none" w="med" len="med"/>
                      <a:tailEnd type="none" w="med" len="med"/>
                    </a:lnR>
                    <a:lnT w="12700" cap="flat" cmpd="sng" algn="ctr">
                      <a:solidFill>
                        <a:srgbClr val="D9D6E0"/>
                      </a:solidFill>
                      <a:prstDash val="solid"/>
                      <a:round/>
                      <a:headEnd type="none" w="med" len="med"/>
                      <a:tailEnd type="none" w="med" len="med"/>
                    </a:lnT>
                    <a:lnB w="12700" cap="flat" cmpd="sng" algn="ctr">
                      <a:solidFill>
                        <a:srgbClr val="D9D6E0"/>
                      </a:solidFill>
                      <a:prstDash val="solid"/>
                      <a:round/>
                      <a:headEnd type="none" w="med" len="med"/>
                      <a:tailEnd type="none" w="med" len="med"/>
                    </a:lnB>
                    <a:solidFill>
                      <a:srgbClr val="FFFFFF"/>
                    </a:solidFill>
                  </a:tcPr>
                </a:tc>
                <a:tc>
                  <a:txBody>
                    <a:bodyPr/>
                    <a:lstStyle/>
                    <a:p>
                      <a:pPr indent="0" marL="0">
                        <a:buNone/>
                      </a:pPr>
                      <a:r>
                        <a:rPr lang="en-US" sz="1250" dirty="0">
                          <a:solidFill>
                            <a:srgbClr val="3A3844"/>
                          </a:solidFill>
                          <a:latin typeface="Arial" pitchFamily="34" charset="0"/>
                          <a:ea typeface="Arial" pitchFamily="34" charset="-122"/>
                          <a:cs typeface="Arial" pitchFamily="34" charset="-120"/>
                        </a:rPr>
                        <a:t>24</a:t>
                      </a:r>
                      <a:endParaRPr lang="en-US" sz="1250" dirty="0">
                        <a:latin typeface="Arial" charset="0"/>
                        <a:ea typeface="Arial" charset="0"/>
                        <a:cs typeface="Arial" charset="0"/>
                      </a:endParaRPr>
                    </a:p>
                  </a:txBody>
                  <a:tcPr marL="101600" marR="101600" marT="76200" marB="76200" anchor="t">
                    <a:lnL w="12700" cap="flat" cmpd="sng" algn="ctr">
                      <a:solidFill>
                        <a:srgbClr val="D9D6E0"/>
                      </a:solidFill>
                      <a:prstDash val="solid"/>
                      <a:round/>
                      <a:headEnd type="none" w="med" len="med"/>
                      <a:tailEnd type="none" w="med" len="med"/>
                    </a:lnL>
                    <a:lnR w="12700" cap="flat" cmpd="sng" algn="ctr">
                      <a:solidFill>
                        <a:srgbClr val="D9D6E0"/>
                      </a:solidFill>
                      <a:prstDash val="solid"/>
                      <a:round/>
                      <a:headEnd type="none" w="med" len="med"/>
                      <a:tailEnd type="none" w="med" len="med"/>
                    </a:lnR>
                    <a:lnT w="12700" cap="flat" cmpd="sng" algn="ctr">
                      <a:solidFill>
                        <a:srgbClr val="D9D6E0"/>
                      </a:solidFill>
                      <a:prstDash val="solid"/>
                      <a:round/>
                      <a:headEnd type="none" w="med" len="med"/>
                      <a:tailEnd type="none" w="med" len="med"/>
                    </a:lnT>
                    <a:lnB w="12700" cap="flat" cmpd="sng" algn="ctr">
                      <a:solidFill>
                        <a:srgbClr val="D9D6E0"/>
                      </a:solidFill>
                      <a:prstDash val="solid"/>
                      <a:round/>
                      <a:headEnd type="none" w="med" len="med"/>
                      <a:tailEnd type="none" w="med" len="med"/>
                    </a:lnB>
                    <a:solidFill>
                      <a:srgbClr val="FFFFFF"/>
                    </a:solidFill>
                  </a:tcPr>
                </a:tc>
              </a:tr>
              <a:tr h="504749">
                <a:tc>
                  <a:txBody>
                    <a:bodyPr/>
                    <a:lstStyle/>
                    <a:p>
                      <a:pPr indent="0" marL="0">
                        <a:buNone/>
                      </a:pPr>
                      <a:r>
                        <a:rPr lang="en-US" sz="1250" b="1" dirty="0">
                          <a:solidFill>
                            <a:srgbClr val="0F0F11"/>
                          </a:solidFill>
                          <a:latin typeface="Courier New" pitchFamily="34" charset="0"/>
                          <a:ea typeface="Courier New" pitchFamily="34" charset="-122"/>
                          <a:cs typeface="Courier New" pitchFamily="34" charset="-120"/>
                        </a:rPr>
                        <a:t>40 %</a:t>
                      </a:r>
                      <a:endParaRPr lang="en-US" sz="1250" dirty="0">
                        <a:latin typeface="Courier New" charset="0"/>
                        <a:ea typeface="Courier New" charset="0"/>
                        <a:cs typeface="Courier New" charset="0"/>
                      </a:endParaRPr>
                    </a:p>
                  </a:txBody>
                  <a:tcPr marL="101600" marR="101600" marT="76200" marB="76200" anchor="t">
                    <a:lnL w="12700" cap="flat" cmpd="sng" algn="ctr">
                      <a:solidFill>
                        <a:srgbClr val="D9D6E0"/>
                      </a:solidFill>
                      <a:prstDash val="solid"/>
                      <a:round/>
                      <a:headEnd type="none" w="med" len="med"/>
                      <a:tailEnd type="none" w="med" len="med"/>
                    </a:lnL>
                    <a:lnR w="12700" cap="flat" cmpd="sng" algn="ctr">
                      <a:solidFill>
                        <a:srgbClr val="D9D6E0"/>
                      </a:solidFill>
                      <a:prstDash val="solid"/>
                      <a:round/>
                      <a:headEnd type="none" w="med" len="med"/>
                      <a:tailEnd type="none" w="med" len="med"/>
                    </a:lnR>
                    <a:lnT w="12700" cap="flat" cmpd="sng" algn="ctr">
                      <a:solidFill>
                        <a:srgbClr val="D9D6E0"/>
                      </a:solidFill>
                      <a:prstDash val="solid"/>
                      <a:round/>
                      <a:headEnd type="none" w="med" len="med"/>
                      <a:tailEnd type="none" w="med" len="med"/>
                    </a:lnT>
                    <a:lnB w="12700" cap="flat" cmpd="sng" algn="ctr">
                      <a:solidFill>
                        <a:srgbClr val="D9D6E0"/>
                      </a:solidFill>
                      <a:prstDash val="solid"/>
                      <a:round/>
                      <a:headEnd type="none" w="med" len="med"/>
                      <a:tailEnd type="none" w="med" len="med"/>
                    </a:lnB>
                    <a:solidFill>
                      <a:srgbClr val="FAF9FB"/>
                    </a:solidFill>
                  </a:tcPr>
                </a:tc>
                <a:tc>
                  <a:txBody>
                    <a:bodyPr/>
                    <a:lstStyle/>
                    <a:p>
                      <a:pPr indent="0" marL="0">
                        <a:buNone/>
                      </a:pPr>
                      <a:r>
                        <a:rPr lang="en-US" sz="1250" dirty="0">
                          <a:solidFill>
                            <a:srgbClr val="3A3844"/>
                          </a:solidFill>
                          <a:latin typeface="Arial" pitchFamily="34" charset="0"/>
                          <a:ea typeface="Arial" pitchFamily="34" charset="-122"/>
                          <a:cs typeface="Arial" pitchFamily="34" charset="-120"/>
                        </a:rPr>
                        <a:t>89</a:t>
                      </a:r>
                      <a:endParaRPr lang="en-US" sz="1250" dirty="0">
                        <a:latin typeface="Arial" charset="0"/>
                        <a:ea typeface="Arial" charset="0"/>
                        <a:cs typeface="Arial" charset="0"/>
                      </a:endParaRPr>
                    </a:p>
                  </a:txBody>
                  <a:tcPr marL="101600" marR="101600" marT="76200" marB="76200" anchor="t">
                    <a:lnL w="12700" cap="flat" cmpd="sng" algn="ctr">
                      <a:solidFill>
                        <a:srgbClr val="D9D6E0"/>
                      </a:solidFill>
                      <a:prstDash val="solid"/>
                      <a:round/>
                      <a:headEnd type="none" w="med" len="med"/>
                      <a:tailEnd type="none" w="med" len="med"/>
                    </a:lnL>
                    <a:lnR w="12700" cap="flat" cmpd="sng" algn="ctr">
                      <a:solidFill>
                        <a:srgbClr val="D9D6E0"/>
                      </a:solidFill>
                      <a:prstDash val="solid"/>
                      <a:round/>
                      <a:headEnd type="none" w="med" len="med"/>
                      <a:tailEnd type="none" w="med" len="med"/>
                    </a:lnR>
                    <a:lnT w="12700" cap="flat" cmpd="sng" algn="ctr">
                      <a:solidFill>
                        <a:srgbClr val="D9D6E0"/>
                      </a:solidFill>
                      <a:prstDash val="solid"/>
                      <a:round/>
                      <a:headEnd type="none" w="med" len="med"/>
                      <a:tailEnd type="none" w="med" len="med"/>
                    </a:lnT>
                    <a:lnB w="12700" cap="flat" cmpd="sng" algn="ctr">
                      <a:solidFill>
                        <a:srgbClr val="D9D6E0"/>
                      </a:solidFill>
                      <a:prstDash val="solid"/>
                      <a:round/>
                      <a:headEnd type="none" w="med" len="med"/>
                      <a:tailEnd type="none" w="med" len="med"/>
                    </a:lnB>
                    <a:solidFill>
                      <a:srgbClr val="FAF9FB"/>
                    </a:solidFill>
                  </a:tcPr>
                </a:tc>
              </a:tr>
              <a:tr h="504749">
                <a:tc>
                  <a:txBody>
                    <a:bodyPr/>
                    <a:lstStyle/>
                    <a:p>
                      <a:pPr indent="0" marL="0">
                        <a:buNone/>
                      </a:pPr>
                      <a:r>
                        <a:rPr lang="en-US" sz="1250" b="1" dirty="0">
                          <a:solidFill>
                            <a:srgbClr val="0F0F11"/>
                          </a:solidFill>
                          <a:latin typeface="Courier New" pitchFamily="34" charset="0"/>
                          <a:ea typeface="Courier New" pitchFamily="34" charset="-122"/>
                          <a:cs typeface="Courier New" pitchFamily="34" charset="-120"/>
                        </a:rPr>
                        <a:t>45 %</a:t>
                      </a:r>
                      <a:endParaRPr lang="en-US" sz="1250" dirty="0">
                        <a:latin typeface="Courier New" charset="0"/>
                        <a:ea typeface="Courier New" charset="0"/>
                        <a:cs typeface="Courier New" charset="0"/>
                      </a:endParaRPr>
                    </a:p>
                  </a:txBody>
                  <a:tcPr marL="101600" marR="101600" marT="76200" marB="76200" anchor="t">
                    <a:lnL w="12700" cap="flat" cmpd="sng" algn="ctr">
                      <a:solidFill>
                        <a:srgbClr val="D9D6E0"/>
                      </a:solidFill>
                      <a:prstDash val="solid"/>
                      <a:round/>
                      <a:headEnd type="none" w="med" len="med"/>
                      <a:tailEnd type="none" w="med" len="med"/>
                    </a:lnL>
                    <a:lnR w="12700" cap="flat" cmpd="sng" algn="ctr">
                      <a:solidFill>
                        <a:srgbClr val="D9D6E0"/>
                      </a:solidFill>
                      <a:prstDash val="solid"/>
                      <a:round/>
                      <a:headEnd type="none" w="med" len="med"/>
                      <a:tailEnd type="none" w="med" len="med"/>
                    </a:lnR>
                    <a:lnT w="12700" cap="flat" cmpd="sng" algn="ctr">
                      <a:solidFill>
                        <a:srgbClr val="D9D6E0"/>
                      </a:solidFill>
                      <a:prstDash val="solid"/>
                      <a:round/>
                      <a:headEnd type="none" w="med" len="med"/>
                      <a:tailEnd type="none" w="med" len="med"/>
                    </a:lnT>
                    <a:lnB w="12700" cap="flat" cmpd="sng" algn="ctr">
                      <a:solidFill>
                        <a:srgbClr val="D9D6E0"/>
                      </a:solidFill>
                      <a:prstDash val="solid"/>
                      <a:round/>
                      <a:headEnd type="none" w="med" len="med"/>
                      <a:tailEnd type="none" w="med" len="med"/>
                    </a:lnB>
                    <a:solidFill>
                      <a:srgbClr val="FFFFFF"/>
                    </a:solidFill>
                  </a:tcPr>
                </a:tc>
                <a:tc>
                  <a:txBody>
                    <a:bodyPr/>
                    <a:lstStyle/>
                    <a:p>
                      <a:pPr indent="0" marL="0">
                        <a:buNone/>
                      </a:pPr>
                      <a:r>
                        <a:rPr lang="en-US" sz="1250" dirty="0">
                          <a:solidFill>
                            <a:srgbClr val="3A3844"/>
                          </a:solidFill>
                          <a:latin typeface="Arial" pitchFamily="34" charset="0"/>
                          <a:ea typeface="Arial" pitchFamily="34" charset="-122"/>
                          <a:cs typeface="Arial" pitchFamily="34" charset="-120"/>
                        </a:rPr>
                        <a:t>340</a:t>
                      </a:r>
                      <a:endParaRPr lang="en-US" sz="1250" dirty="0">
                        <a:latin typeface="Arial" charset="0"/>
                        <a:ea typeface="Arial" charset="0"/>
                        <a:cs typeface="Arial" charset="0"/>
                      </a:endParaRPr>
                    </a:p>
                  </a:txBody>
                  <a:tcPr marL="101600" marR="101600" marT="76200" marB="76200" anchor="t">
                    <a:lnL w="12700" cap="flat" cmpd="sng" algn="ctr">
                      <a:solidFill>
                        <a:srgbClr val="D9D6E0"/>
                      </a:solidFill>
                      <a:prstDash val="solid"/>
                      <a:round/>
                      <a:headEnd type="none" w="med" len="med"/>
                      <a:tailEnd type="none" w="med" len="med"/>
                    </a:lnL>
                    <a:lnR w="12700" cap="flat" cmpd="sng" algn="ctr">
                      <a:solidFill>
                        <a:srgbClr val="D9D6E0"/>
                      </a:solidFill>
                      <a:prstDash val="solid"/>
                      <a:round/>
                      <a:headEnd type="none" w="med" len="med"/>
                      <a:tailEnd type="none" w="med" len="med"/>
                    </a:lnR>
                    <a:lnT w="12700" cap="flat" cmpd="sng" algn="ctr">
                      <a:solidFill>
                        <a:srgbClr val="D9D6E0"/>
                      </a:solidFill>
                      <a:prstDash val="solid"/>
                      <a:round/>
                      <a:headEnd type="none" w="med" len="med"/>
                      <a:tailEnd type="none" w="med" len="med"/>
                    </a:lnT>
                    <a:lnB w="12700" cap="flat" cmpd="sng" algn="ctr">
                      <a:solidFill>
                        <a:srgbClr val="D9D6E0"/>
                      </a:solidFill>
                      <a:prstDash val="solid"/>
                      <a:round/>
                      <a:headEnd type="none" w="med" len="med"/>
                      <a:tailEnd type="none" w="med" len="med"/>
                    </a:lnB>
                    <a:solidFill>
                      <a:srgbClr val="FFFFFF"/>
                    </a:solidFill>
                  </a:tcPr>
                </a:tc>
              </a:tr>
            </a:tbl>
          </a:graphicData>
        </a:graphic>
      </p:graphicFrame>
      <p:sp>
        <p:nvSpPr>
          <p:cNvPr id="10" name="Shape 6"/>
          <p:cNvSpPr/>
          <p:nvPr/>
        </p:nvSpPr>
        <p:spPr>
          <a:xfrm>
            <a:off x="548640" y="2770632"/>
            <a:ext cx="4974336" cy="2871216"/>
          </a:xfrm>
          <a:prstGeom prst="rect">
            <a:avLst/>
          </a:prstGeom>
          <a:ln w="22225">
            <a:solidFill>
              <a:srgbClr val="0F0F11"/>
            </a:solidFill>
            <a:prstDash val="solid"/>
          </a:ln>
        </p:spPr>
      </p:sp>
      <p:sp>
        <p:nvSpPr>
          <p:cNvPr id="11" name="Text 7"/>
          <p:cNvSpPr/>
          <p:nvPr/>
        </p:nvSpPr>
        <p:spPr>
          <a:xfrm>
            <a:off x="5870448" y="2788920"/>
            <a:ext cx="5754319" cy="365760"/>
          </a:xfrm>
          <a:prstGeom prst="rect">
            <a:avLst/>
          </a:prstGeom>
          <a:noFill/>
          <a:ln/>
        </p:spPr>
        <p:txBody>
          <a:bodyPr wrap="square" lIns="0" tIns="0" rIns="0" bIns="0" rtlCol="0" anchor="t"/>
          <a:lstStyle/>
          <a:p>
            <a:pPr indent="0" marL="0">
              <a:lnSpc>
                <a:spcPct val="124000"/>
              </a:lnSpc>
              <a:buNone/>
            </a:pPr>
            <a:r>
              <a:rPr lang="en-US" sz="1400" b="1" dirty="0">
                <a:solidFill>
                  <a:srgbClr val="0F0F11"/>
                </a:solidFill>
                <a:latin typeface="Arial" pitchFamily="34" charset="0"/>
                <a:ea typeface="Arial" pitchFamily="34" charset="-122"/>
                <a:cs typeface="Arial" pitchFamily="34" charset="-120"/>
              </a:rPr>
              <a:t>Dos lecturas de la tabla:</a:t>
            </a:r>
            <a:endParaRPr lang="en-US" sz="1400" dirty="0"/>
          </a:p>
        </p:txBody>
      </p:sp>
      <p:sp>
        <p:nvSpPr>
          <p:cNvPr id="12" name="Text 8"/>
          <p:cNvSpPr/>
          <p:nvPr/>
        </p:nvSpPr>
        <p:spPr>
          <a:xfrm>
            <a:off x="5870448" y="3200400"/>
            <a:ext cx="5754319" cy="2468880"/>
          </a:xfrm>
          <a:prstGeom prst="rect">
            <a:avLst/>
          </a:prstGeom>
          <a:noFill/>
          <a:ln/>
        </p:spPr>
        <p:txBody>
          <a:bodyPr wrap="square" lIns="0" tIns="0" rIns="0" bIns="0" rtlCol="0" anchor="t"/>
          <a:lstStyle/>
          <a:p>
            <a:pPr marL="203200" indent="-203200">
              <a:lnSpc>
                <a:spcPct val="118000"/>
              </a:lnSpc>
              <a:spcAft>
                <a:spcPts val="700"/>
              </a:spcAft>
              <a:buSzPct val="100000"/>
              <a:buChar char="■"/>
            </a:pPr>
            <a:r>
              <a:rPr lang="en-US" sz="1300" dirty="0">
                <a:solidFill>
                  <a:srgbClr val="3A3844"/>
                </a:solidFill>
                <a:latin typeface="Arial" pitchFamily="34" charset="0"/>
                <a:ea typeface="Arial" pitchFamily="34" charset="-122"/>
                <a:cs typeface="Arial" pitchFamily="34" charset="-120"/>
              </a:rPr>
              <a:t>Por debajo de un 30 %, esperar unos pocos bloques basta. Es la famosa regla de «seis confirmaciones».</a:t>
            </a:r>
            <a:endParaRPr lang="en-US" sz="1300" dirty="0"/>
          </a:p>
          <a:p>
            <a:pPr marL="203200" indent="-203200">
              <a:lnSpc>
                <a:spcPct val="118000"/>
              </a:lnSpc>
              <a:spcAft>
                <a:spcPts val="700"/>
              </a:spcAft>
              <a:buSzPct val="100000"/>
              <a:buChar char="■"/>
            </a:pPr>
            <a:r>
              <a:rPr lang="en-US" sz="1300" dirty="0">
                <a:solidFill>
                  <a:srgbClr val="3A3844"/>
                </a:solidFill>
                <a:latin typeface="Arial" pitchFamily="34" charset="0"/>
                <a:ea typeface="Arial" pitchFamily="34" charset="-122"/>
                <a:cs typeface="Arial" pitchFamily="34" charset="-120"/>
              </a:rPr>
              <a:t>Cerca del 50 %, la espera crece sin límite: ya no hay número de confirmaciones que proteja.</a:t>
            </a:r>
            <a:endParaRPr lang="en-US" sz="1300" dirty="0"/>
          </a:p>
          <a:p>
            <a:pPr marL="203200" indent="-203200">
              <a:lnSpc>
                <a:spcPct val="118000"/>
              </a:lnSpc>
              <a:spcAft>
                <a:spcPts val="700"/>
              </a:spcAft>
              <a:buSzPct val="100000"/>
              <a:buChar char="■"/>
            </a:pPr>
            <a:r>
              <a:rPr lang="en-US" sz="1300" dirty="0">
                <a:solidFill>
                  <a:srgbClr val="3A3844"/>
                </a:solidFill>
                <a:latin typeface="Arial" pitchFamily="34" charset="0"/>
                <a:ea typeface="Arial" pitchFamily="34" charset="-122"/>
                <a:cs typeface="Arial" pitchFamily="34" charset="-120"/>
              </a:rPr>
              <a:t>La seguridad es PROBABILÍSTICA. Nunca llega a cero; solo se vuelve despreciable.</a:t>
            </a:r>
            <a:endParaRPr lang="en-US" sz="1300" dirty="0"/>
          </a:p>
        </p:txBody>
      </p:sp>
      <p:sp>
        <p:nvSpPr>
          <p:cNvPr id="13" name="Text 9"/>
          <p:cNvSpPr/>
          <p:nvPr/>
        </p:nvSpPr>
        <p:spPr>
          <a:xfrm>
            <a:off x="566928" y="5669280"/>
            <a:ext cx="11057839" cy="530352"/>
          </a:xfrm>
          <a:prstGeom prst="rect">
            <a:avLst/>
          </a:prstGeom>
          <a:noFill/>
          <a:ln/>
        </p:spPr>
        <p:txBody>
          <a:bodyPr wrap="square" lIns="0" tIns="0" rIns="0" bIns="0" rtlCol="0" anchor="t"/>
          <a:lstStyle/>
          <a:p>
            <a:pPr indent="0" marL="0">
              <a:lnSpc>
                <a:spcPct val="124000"/>
              </a:lnSpc>
              <a:buNone/>
            </a:pPr>
            <a:r>
              <a:rPr lang="en-US" sz="1150" dirty="0">
                <a:solidFill>
                  <a:srgbClr val="A35604"/>
                </a:solidFill>
                <a:latin typeface="Arial" pitchFamily="34" charset="0"/>
                <a:ea typeface="Arial" pitchFamily="34" charset="-122"/>
                <a:cs typeface="Arial" pitchFamily="34" charset="-120"/>
              </a:rPr>
              <a:t>Matiz: la fórmula del whitepaper es una aproximación que subestima el riesgo. El cálculo exacto (Rosenfeld, 2014) pide 32 bloques con q = 30 %. El laboratorio 04 lo demuestra.</a:t>
            </a:r>
            <a:endParaRPr lang="en-US" sz="1150" dirty="0"/>
          </a:p>
        </p:txBody>
      </p:sp>
    </p:spTree>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name="Slide 18">
    <p:bg>
      <p:bgPr>
        <a:solidFill>
          <a:srgbClr val="FFFFFF"/>
        </a:solidFill>
      </p:bgPr>
    </p:bg>
    <p:spTree>
      <p:nvGrpSpPr>
        <p:cNvPr id="1" name=""/>
        <p:cNvGrpSpPr/>
        <p:nvPr/>
      </p:nvGrpSpPr>
      <p:grpSpPr>
        <a:xfrm>
          <a:off x="0" y="0"/>
          <a:ext cx="0" cy="0"/>
          <a:chOff x="0" y="0"/>
          <a:chExt cx="0" cy="0"/>
        </a:xfrm>
      </p:grpSpPr>
      <p:pic>
        <p:nvPicPr>
          <p:cNvPr id="2" name="Image 0" descr="preencoded.png">    </p:cNvPr>
          <p:cNvPicPr>
            <a:picLocks noChangeAspect="1"/>
          </p:cNvPicPr>
          <p:nvPr/>
        </p:nvPicPr>
        <p:blipFill>
          <a:blip r:embed="rId1"/>
          <a:stretch>
            <a:fillRect/>
          </a:stretch>
        </p:blipFill>
        <p:spPr>
          <a:xfrm>
            <a:off x="566928" y="402336"/>
            <a:ext cx="274320" cy="274320"/>
          </a:xfrm>
          <a:prstGeom prst="rect">
            <a:avLst/>
          </a:prstGeom>
        </p:spPr>
      </p:pic>
      <p:sp>
        <p:nvSpPr>
          <p:cNvPr id="3" name="Text 0"/>
          <p:cNvSpPr/>
          <p:nvPr/>
        </p:nvSpPr>
        <p:spPr>
          <a:xfrm>
            <a:off x="969264" y="384048"/>
            <a:ext cx="10655503" cy="310896"/>
          </a:xfrm>
          <a:prstGeom prst="rect">
            <a:avLst/>
          </a:prstGeom>
          <a:noFill/>
          <a:ln/>
        </p:spPr>
        <p:txBody>
          <a:bodyPr wrap="square" lIns="0" tIns="0" rIns="0" bIns="0" rtlCol="0" anchor="ctr"/>
          <a:lstStyle/>
          <a:p>
            <a:pPr indent="0" marL="0">
              <a:buNone/>
            </a:pPr>
            <a:r>
              <a:rPr lang="en-US" sz="950" spc="160" kern="0" dirty="0">
                <a:solidFill>
                  <a:srgbClr val="6F6B80"/>
                </a:solidFill>
                <a:latin typeface="Courier New" pitchFamily="34" charset="0"/>
                <a:ea typeface="Courier New" pitchFamily="34" charset="-122"/>
                <a:cs typeface="Courier New" pitchFamily="34" charset="-120"/>
              </a:rPr>
              <a:t>A.10 · EL PRECIO DE LA SEGURIDAD</a:t>
            </a:r>
            <a:endParaRPr lang="en-US" sz="950" dirty="0"/>
          </a:p>
        </p:txBody>
      </p:sp>
      <p:sp>
        <p:nvSpPr>
          <p:cNvPr id="4" name="Text 1"/>
          <p:cNvSpPr/>
          <p:nvPr/>
        </p:nvSpPr>
        <p:spPr>
          <a:xfrm>
            <a:off x="566928" y="777240"/>
            <a:ext cx="11057839" cy="777240"/>
          </a:xfrm>
          <a:prstGeom prst="rect">
            <a:avLst/>
          </a:prstGeom>
          <a:noFill/>
          <a:ln/>
        </p:spPr>
        <p:txBody>
          <a:bodyPr wrap="square" lIns="0" tIns="0" rIns="0" bIns="0" rtlCol="0" anchor="t"/>
          <a:lstStyle/>
          <a:p>
            <a:pPr indent="0" marL="0">
              <a:lnSpc>
                <a:spcPct val="92000"/>
              </a:lnSpc>
              <a:buNone/>
            </a:pPr>
            <a:r>
              <a:rPr lang="en-US" sz="2800" dirty="0">
                <a:solidFill>
                  <a:srgbClr val="0F0F11"/>
                </a:solidFill>
                <a:latin typeface="Arial Black" pitchFamily="34" charset="0"/>
                <a:ea typeface="Arial Black" pitchFamily="34" charset="-122"/>
                <a:cs typeface="Arial Black" pitchFamily="34" charset="-120"/>
              </a:rPr>
              <a:t>EL COSTO ENERGÉTICO ES LA SEGURIDAD MISMA</a:t>
            </a:r>
            <a:endParaRPr lang="en-US" sz="2800" dirty="0"/>
          </a:p>
        </p:txBody>
      </p:sp>
      <p:sp>
        <p:nvSpPr>
          <p:cNvPr id="5" name="Text 2"/>
          <p:cNvSpPr/>
          <p:nvPr/>
        </p:nvSpPr>
        <p:spPr>
          <a:xfrm>
            <a:off x="566928" y="6291072"/>
            <a:ext cx="8412480" cy="274320"/>
          </a:xfrm>
          <a:prstGeom prst="rect">
            <a:avLst/>
          </a:prstGeom>
          <a:noFill/>
          <a:ln/>
        </p:spPr>
        <p:txBody>
          <a:bodyPr wrap="square" lIns="0" tIns="0" rIns="0" bIns="0" rtlCol="0" anchor="ctr"/>
          <a:lstStyle/>
          <a:p>
            <a:pPr indent="0" marL="0">
              <a:buNone/>
            </a:pPr>
            <a:r>
              <a:rPr lang="en-US" sz="800" spc="120" kern="0" dirty="0">
                <a:solidFill>
                  <a:srgbClr val="6F6B80"/>
                </a:solidFill>
                <a:latin typeface="Courier New" pitchFamily="34" charset="0"/>
                <a:ea typeface="Courier New" pitchFamily="34" charset="-122"/>
                <a:cs typeface="Courier New" pitchFamily="34" charset="-120"/>
              </a:rPr>
              <a:t>SESIÓN 04 · CONSENSO, INCENTIVOS Y EL TRILEMA</a:t>
            </a:r>
            <a:endParaRPr lang="en-US" sz="800" dirty="0"/>
          </a:p>
        </p:txBody>
      </p:sp>
      <p:sp>
        <p:nvSpPr>
          <p:cNvPr id="6" name="Text 3"/>
          <p:cNvSpPr/>
          <p:nvPr/>
        </p:nvSpPr>
        <p:spPr>
          <a:xfrm>
            <a:off x="9052560" y="6291072"/>
            <a:ext cx="1828800" cy="274320"/>
          </a:xfrm>
          <a:prstGeom prst="rect">
            <a:avLst/>
          </a:prstGeom>
          <a:noFill/>
          <a:ln/>
        </p:spPr>
        <p:txBody>
          <a:bodyPr wrap="square" lIns="0" tIns="0" rIns="0" bIns="0" rtlCol="0" anchor="ctr"/>
          <a:lstStyle/>
          <a:p>
            <a:pPr algn="r" indent="0" marL="0">
              <a:buNone/>
            </a:pPr>
            <a:r>
              <a:rPr lang="en-US" sz="800" spc="120" kern="0" dirty="0">
                <a:solidFill>
                  <a:srgbClr val="6F6B80"/>
                </a:solidFill>
                <a:latin typeface="Courier New" pitchFamily="34" charset="0"/>
                <a:ea typeface="Courier New" pitchFamily="34" charset="-122"/>
                <a:cs typeface="Courier New" pitchFamily="34" charset="-120"/>
              </a:rPr>
              <a:t>USB MEDELLÍN</a:t>
            </a:r>
            <a:endParaRPr lang="en-US" sz="800" dirty="0"/>
          </a:p>
        </p:txBody>
      </p:sp>
      <p:sp>
        <p:nvSpPr>
          <p:cNvPr id="7" name="Text 4"/>
          <p:cNvSpPr/>
          <p:nvPr/>
        </p:nvSpPr>
        <p:spPr>
          <a:xfrm>
            <a:off x="11018520" y="6291072"/>
            <a:ext cx="603504" cy="274320"/>
          </a:xfrm>
          <a:prstGeom prst="rect">
            <a:avLst/>
          </a:prstGeom>
          <a:noFill/>
          <a:ln/>
        </p:spPr>
        <p:txBody>
          <a:bodyPr wrap="square" lIns="0" tIns="0" rIns="0" bIns="0" rtlCol="0" anchor="ctr"/>
          <a:lstStyle/>
          <a:p>
            <a:pPr algn="r" indent="0" marL="0">
              <a:buNone/>
            </a:pPr>
            <a:r>
              <a:rPr lang="en-US" sz="900" b="1" dirty="0">
                <a:solidFill>
                  <a:srgbClr val="0F0F11"/>
                </a:solidFill>
                <a:latin typeface="Courier New" pitchFamily="34" charset="0"/>
                <a:ea typeface="Courier New" pitchFamily="34" charset="-122"/>
                <a:cs typeface="Courier New" pitchFamily="34" charset="-120"/>
              </a:rPr>
              <a:t>18</a:t>
            </a:r>
            <a:endParaRPr lang="en-US" sz="900" dirty="0"/>
          </a:p>
        </p:txBody>
      </p:sp>
      <p:sp>
        <p:nvSpPr>
          <p:cNvPr id="8" name="Text 5"/>
          <p:cNvSpPr/>
          <p:nvPr/>
        </p:nvSpPr>
        <p:spPr>
          <a:xfrm>
            <a:off x="566928" y="1737360"/>
            <a:ext cx="11057839" cy="868680"/>
          </a:xfrm>
          <a:prstGeom prst="rect">
            <a:avLst/>
          </a:prstGeom>
          <a:noFill/>
          <a:ln/>
        </p:spPr>
        <p:txBody>
          <a:bodyPr wrap="square" lIns="0" tIns="0" rIns="0" bIns="0" rtlCol="0" anchor="t"/>
          <a:lstStyle/>
          <a:p>
            <a:pPr indent="0" marL="0">
              <a:lnSpc>
                <a:spcPct val="124000"/>
              </a:lnSpc>
              <a:buNone/>
            </a:pPr>
            <a:r>
              <a:rPr lang="en-US" sz="1450" dirty="0">
                <a:solidFill>
                  <a:srgbClr val="3A3844"/>
                </a:solidFill>
                <a:latin typeface="Arial" pitchFamily="34" charset="0"/>
                <a:ea typeface="Arial" pitchFamily="34" charset="-122"/>
                <a:cs typeface="Arial" pitchFamily="34" charset="-120"/>
              </a:rPr>
              <a:t>No es un defecto de implementación que se pueda optimizar. En prueba de trabajo, lo que hace caro atacar es exactamente lo que se gasta en electricidad. Reducir el consumo sin cambiar de mecanismo es reducir la seguridad.</a:t>
            </a:r>
            <a:endParaRPr lang="en-US" sz="1450" dirty="0"/>
          </a:p>
        </p:txBody>
      </p:sp>
      <p:sp>
        <p:nvSpPr>
          <p:cNvPr id="9" name="Shape 6"/>
          <p:cNvSpPr/>
          <p:nvPr/>
        </p:nvSpPr>
        <p:spPr>
          <a:xfrm>
            <a:off x="566928" y="2788920"/>
            <a:ext cx="5391760" cy="1920240"/>
          </a:xfrm>
          <a:prstGeom prst="rect">
            <a:avLst/>
          </a:prstGeom>
          <a:solidFill>
            <a:srgbClr val="FFFFFF"/>
          </a:solidFill>
          <a:ln w="22225">
            <a:solidFill>
              <a:srgbClr val="F07F06"/>
            </a:solidFill>
            <a:prstDash val="solid"/>
          </a:ln>
          <a:effectLst>
            <a:outerShdw sx="100000" sy="100000" kx="0" ky="0" algn="bl" rotWithShape="0" blurRad="101600" dist="63500" dir="2700000">
              <a:srgbClr val="F07F06">
                <a:alpha val="100000"/>
              </a:srgbClr>
            </a:outerShdw>
          </a:effectLst>
        </p:spPr>
      </p:sp>
      <p:sp>
        <p:nvSpPr>
          <p:cNvPr id="10" name="Text 7"/>
          <p:cNvSpPr/>
          <p:nvPr/>
        </p:nvSpPr>
        <p:spPr>
          <a:xfrm>
            <a:off x="841248" y="2971800"/>
            <a:ext cx="4843120" cy="292608"/>
          </a:xfrm>
          <a:prstGeom prst="rect">
            <a:avLst/>
          </a:prstGeom>
          <a:noFill/>
          <a:ln/>
        </p:spPr>
        <p:txBody>
          <a:bodyPr wrap="square" lIns="0" tIns="0" rIns="0" bIns="0" rtlCol="0" anchor="ctr"/>
          <a:lstStyle/>
          <a:p>
            <a:pPr indent="0" marL="0">
              <a:buNone/>
            </a:pPr>
            <a:r>
              <a:rPr lang="en-US" sz="1050" b="1" spc="130" kern="0" dirty="0">
                <a:solidFill>
                  <a:srgbClr val="A35604"/>
                </a:solidFill>
                <a:latin typeface="Courier New" pitchFamily="34" charset="0"/>
                <a:ea typeface="Courier New" pitchFamily="34" charset="-122"/>
                <a:cs typeface="Courier New" pitchFamily="34" charset="-120"/>
              </a:rPr>
              <a:t>EL ARGUMENTO A FAVOR</a:t>
            </a:r>
            <a:endParaRPr lang="en-US" sz="1050" dirty="0"/>
          </a:p>
        </p:txBody>
      </p:sp>
      <p:sp>
        <p:nvSpPr>
          <p:cNvPr id="11" name="Text 8"/>
          <p:cNvSpPr/>
          <p:nvPr/>
        </p:nvSpPr>
        <p:spPr>
          <a:xfrm>
            <a:off x="841248" y="3355848"/>
            <a:ext cx="4843120" cy="1188720"/>
          </a:xfrm>
          <a:prstGeom prst="rect">
            <a:avLst/>
          </a:prstGeom>
          <a:noFill/>
          <a:ln/>
        </p:spPr>
        <p:txBody>
          <a:bodyPr wrap="square" lIns="0" tIns="0" rIns="0" bIns="0" rtlCol="0" anchor="t"/>
          <a:lstStyle/>
          <a:p>
            <a:pPr indent="0" marL="0">
              <a:lnSpc>
                <a:spcPct val="124000"/>
              </a:lnSpc>
              <a:buNone/>
            </a:pPr>
            <a:r>
              <a:rPr lang="en-US" sz="1350" dirty="0">
                <a:solidFill>
                  <a:srgbClr val="3A3844"/>
                </a:solidFill>
                <a:latin typeface="Arial" pitchFamily="34" charset="0"/>
                <a:ea typeface="Arial" pitchFamily="34" charset="-122"/>
                <a:cs typeface="Arial" pitchFamily="34" charset="-120"/>
              </a:rPr>
              <a:t>El gasto ata la historia al mundo físico. Reescribir la cadena exige volver a gastar la misma energía, y eso no se puede simular ni falsificar.</a:t>
            </a:r>
            <a:endParaRPr lang="en-US" sz="1350" dirty="0"/>
          </a:p>
        </p:txBody>
      </p:sp>
      <p:sp>
        <p:nvSpPr>
          <p:cNvPr id="12" name="Shape 9"/>
          <p:cNvSpPr/>
          <p:nvPr/>
        </p:nvSpPr>
        <p:spPr>
          <a:xfrm>
            <a:off x="6233008" y="2788920"/>
            <a:ext cx="5391760" cy="1920240"/>
          </a:xfrm>
          <a:prstGeom prst="rect">
            <a:avLst/>
          </a:prstGeom>
          <a:solidFill>
            <a:srgbClr val="FFFFFF"/>
          </a:solidFill>
          <a:ln w="22225">
            <a:solidFill>
              <a:srgbClr val="7152E9"/>
            </a:solidFill>
            <a:prstDash val="solid"/>
          </a:ln>
          <a:effectLst>
            <a:outerShdw sx="100000" sy="100000" kx="0" ky="0" algn="bl" rotWithShape="0" blurRad="101600" dist="63500" dir="2700000">
              <a:srgbClr val="7152E9">
                <a:alpha val="100000"/>
              </a:srgbClr>
            </a:outerShdw>
          </a:effectLst>
        </p:spPr>
      </p:sp>
      <p:sp>
        <p:nvSpPr>
          <p:cNvPr id="13" name="Text 10"/>
          <p:cNvSpPr/>
          <p:nvPr/>
        </p:nvSpPr>
        <p:spPr>
          <a:xfrm>
            <a:off x="6507328" y="2971800"/>
            <a:ext cx="4843120" cy="292608"/>
          </a:xfrm>
          <a:prstGeom prst="rect">
            <a:avLst/>
          </a:prstGeom>
          <a:noFill/>
          <a:ln/>
        </p:spPr>
        <p:txBody>
          <a:bodyPr wrap="square" lIns="0" tIns="0" rIns="0" bIns="0" rtlCol="0" anchor="ctr"/>
          <a:lstStyle/>
          <a:p>
            <a:pPr indent="0" marL="0">
              <a:buNone/>
            </a:pPr>
            <a:r>
              <a:rPr lang="en-US" sz="1050" b="1" spc="130" kern="0" dirty="0">
                <a:solidFill>
                  <a:srgbClr val="5638C9"/>
                </a:solidFill>
                <a:latin typeface="Courier New" pitchFamily="34" charset="0"/>
                <a:ea typeface="Courier New" pitchFamily="34" charset="-122"/>
                <a:cs typeface="Courier New" pitchFamily="34" charset="-120"/>
              </a:rPr>
              <a:t>EL ARGUMENTO EN CONTRA</a:t>
            </a:r>
            <a:endParaRPr lang="en-US" sz="1050" dirty="0"/>
          </a:p>
        </p:txBody>
      </p:sp>
      <p:sp>
        <p:nvSpPr>
          <p:cNvPr id="14" name="Text 11"/>
          <p:cNvSpPr/>
          <p:nvPr/>
        </p:nvSpPr>
        <p:spPr>
          <a:xfrm>
            <a:off x="6507328" y="3355848"/>
            <a:ext cx="4843120" cy="1188720"/>
          </a:xfrm>
          <a:prstGeom prst="rect">
            <a:avLst/>
          </a:prstGeom>
          <a:noFill/>
          <a:ln/>
        </p:spPr>
        <p:txBody>
          <a:bodyPr wrap="square" lIns="0" tIns="0" rIns="0" bIns="0" rtlCol="0" anchor="t"/>
          <a:lstStyle/>
          <a:p>
            <a:pPr indent="0" marL="0">
              <a:lnSpc>
                <a:spcPct val="124000"/>
              </a:lnSpc>
              <a:buNone/>
            </a:pPr>
            <a:r>
              <a:rPr lang="en-US" sz="1350" dirty="0">
                <a:solidFill>
                  <a:srgbClr val="3A3844"/>
                </a:solidFill>
                <a:latin typeface="Arial" pitchFamily="34" charset="0"/>
                <a:ea typeface="Arial" pitchFamily="34" charset="-122"/>
                <a:cs typeface="Arial" pitchFamily="34" charset="-120"/>
              </a:rPr>
              <a:t>El consumo de Bitcoin se mide en el orden de países medianos. Una parte relevante proviene de fuentes fósiles, y el gasto no produce nada más que el propio orden.</a:t>
            </a:r>
            <a:endParaRPr lang="en-US" sz="1350" dirty="0"/>
          </a:p>
        </p:txBody>
      </p:sp>
      <p:sp>
        <p:nvSpPr>
          <p:cNvPr id="15" name="Shape 12"/>
          <p:cNvSpPr/>
          <p:nvPr/>
        </p:nvSpPr>
        <p:spPr>
          <a:xfrm>
            <a:off x="566928" y="4937760"/>
            <a:ext cx="11057839" cy="1188720"/>
          </a:xfrm>
          <a:prstGeom prst="rect">
            <a:avLst/>
          </a:prstGeom>
          <a:solidFill>
            <a:srgbClr val="FFFFFF"/>
          </a:solidFill>
          <a:ln w="22225">
            <a:solidFill>
              <a:srgbClr val="7152E9"/>
            </a:solidFill>
            <a:prstDash val="solid"/>
          </a:ln>
          <a:effectLst>
            <a:outerShdw sx="100000" sy="100000" kx="0" ky="0" algn="bl" rotWithShape="0" blurRad="101600" dist="63500" dir="2700000">
              <a:srgbClr val="7152E9">
                <a:alpha val="100000"/>
              </a:srgbClr>
            </a:outerShdw>
          </a:effectLst>
        </p:spPr>
      </p:sp>
      <p:pic>
        <p:nvPicPr>
          <p:cNvPr id="16" name="Image 1" descr="preencoded.png">    </p:cNvPr>
          <p:cNvPicPr>
            <a:picLocks noChangeAspect="1"/>
          </p:cNvPicPr>
          <p:nvPr/>
        </p:nvPicPr>
        <p:blipFill>
          <a:blip r:embed="rId2"/>
          <a:stretch>
            <a:fillRect/>
          </a:stretch>
        </p:blipFill>
        <p:spPr>
          <a:xfrm>
            <a:off x="804672" y="5157216"/>
            <a:ext cx="237744" cy="237744"/>
          </a:xfrm>
          <a:prstGeom prst="rect">
            <a:avLst/>
          </a:prstGeom>
        </p:spPr>
      </p:pic>
      <p:sp>
        <p:nvSpPr>
          <p:cNvPr id="17" name="Text 13"/>
          <p:cNvSpPr/>
          <p:nvPr/>
        </p:nvSpPr>
        <p:spPr>
          <a:xfrm>
            <a:off x="1133856" y="5129784"/>
            <a:ext cx="10234879" cy="292608"/>
          </a:xfrm>
          <a:prstGeom prst="rect">
            <a:avLst/>
          </a:prstGeom>
          <a:noFill/>
          <a:ln/>
        </p:spPr>
        <p:txBody>
          <a:bodyPr wrap="square" lIns="0" tIns="0" rIns="0" bIns="0" rtlCol="0" anchor="ctr"/>
          <a:lstStyle/>
          <a:p>
            <a:pPr indent="0" marL="0">
              <a:buNone/>
            </a:pPr>
            <a:r>
              <a:rPr lang="en-US" sz="950" b="1" spc="150" kern="0" dirty="0">
                <a:solidFill>
                  <a:srgbClr val="5638C9"/>
                </a:solidFill>
                <a:latin typeface="Courier New" pitchFamily="34" charset="0"/>
                <a:ea typeface="Courier New" pitchFamily="34" charset="-122"/>
                <a:cs typeface="Courier New" pitchFamily="34" charset="-120"/>
              </a:rPr>
              <a:t>CÓMO VERIFICAR LAS CIFRAS</a:t>
            </a:r>
            <a:endParaRPr lang="en-US" sz="950" dirty="0"/>
          </a:p>
        </p:txBody>
      </p:sp>
      <p:sp>
        <p:nvSpPr>
          <p:cNvPr id="18" name="Text 14"/>
          <p:cNvSpPr/>
          <p:nvPr/>
        </p:nvSpPr>
        <p:spPr>
          <a:xfrm>
            <a:off x="804672" y="5449824"/>
            <a:ext cx="10582351" cy="585216"/>
          </a:xfrm>
          <a:prstGeom prst="rect">
            <a:avLst/>
          </a:prstGeom>
          <a:noFill/>
          <a:ln/>
        </p:spPr>
        <p:txBody>
          <a:bodyPr wrap="square" lIns="0" tIns="0" rIns="0" bIns="0" rtlCol="0" anchor="t"/>
          <a:lstStyle/>
          <a:p>
            <a:pPr indent="0" marL="0">
              <a:lnSpc>
                <a:spcPct val="124000"/>
              </a:lnSpc>
              <a:buNone/>
            </a:pPr>
            <a:r>
              <a:rPr lang="en-US" sz="1250" dirty="0">
                <a:solidFill>
                  <a:srgbClr val="3A3844"/>
                </a:solidFill>
                <a:latin typeface="Arial" pitchFamily="34" charset="0"/>
                <a:ea typeface="Arial" pitchFamily="34" charset="-122"/>
                <a:cs typeface="Arial" pitchFamily="34" charset="-120"/>
              </a:rPr>
              <a:t>Las estimaciones cambian cada mes. La referencia académica es el Cambridge Bitcoin Electricity Consumption Index (Universidad de Cambridge). Consulten el valor vigente antes de citar un número: esa es la costumbre que queremos.</a:t>
            </a:r>
            <a:endParaRPr lang="en-US" sz="1250" dirty="0"/>
          </a:p>
        </p:txBody>
      </p:sp>
    </p:spTree>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name="Slide 19">
    <p:bg>
      <p:bgPr>
        <a:solidFill>
          <a:srgbClr val="FFFFFF"/>
        </a:solidFill>
      </p:bgPr>
    </p:bg>
    <p:spTree>
      <p:nvGrpSpPr>
        <p:cNvPr id="1" name=""/>
        <p:cNvGrpSpPr/>
        <p:nvPr/>
      </p:nvGrpSpPr>
      <p:grpSpPr>
        <a:xfrm>
          <a:off x="0" y="0"/>
          <a:ext cx="0" cy="0"/>
          <a:chOff x="0" y="0"/>
          <a:chExt cx="0" cy="0"/>
        </a:xfrm>
      </p:grpSpPr>
      <p:pic>
        <p:nvPicPr>
          <p:cNvPr id="2" name="Image 0" descr="preencoded.png">    </p:cNvPr>
          <p:cNvPicPr>
            <a:picLocks noChangeAspect="1"/>
          </p:cNvPicPr>
          <p:nvPr/>
        </p:nvPicPr>
        <p:blipFill>
          <a:blip r:embed="rId1"/>
          <a:stretch>
            <a:fillRect/>
          </a:stretch>
        </p:blipFill>
        <p:spPr>
          <a:xfrm>
            <a:off x="566928" y="402336"/>
            <a:ext cx="274320" cy="274320"/>
          </a:xfrm>
          <a:prstGeom prst="rect">
            <a:avLst/>
          </a:prstGeom>
        </p:spPr>
      </p:pic>
      <p:sp>
        <p:nvSpPr>
          <p:cNvPr id="3" name="Text 0"/>
          <p:cNvSpPr/>
          <p:nvPr/>
        </p:nvSpPr>
        <p:spPr>
          <a:xfrm>
            <a:off x="969264" y="384048"/>
            <a:ext cx="10655503" cy="310896"/>
          </a:xfrm>
          <a:prstGeom prst="rect">
            <a:avLst/>
          </a:prstGeom>
          <a:noFill/>
          <a:ln/>
        </p:spPr>
        <p:txBody>
          <a:bodyPr wrap="square" lIns="0" tIns="0" rIns="0" bIns="0" rtlCol="0" anchor="ctr"/>
          <a:lstStyle/>
          <a:p>
            <a:pPr indent="0" marL="0">
              <a:buNone/>
            </a:pPr>
            <a:r>
              <a:rPr lang="en-US" sz="950" spc="160" kern="0" dirty="0">
                <a:solidFill>
                  <a:srgbClr val="6F6B80"/>
                </a:solidFill>
                <a:latin typeface="Courier New" pitchFamily="34" charset="0"/>
                <a:ea typeface="Courier New" pitchFamily="34" charset="-122"/>
                <a:cs typeface="Courier New" pitchFamily="34" charset="-120"/>
              </a:rPr>
              <a:t>A.11 · PRUEBA DE PARTICIPACIÓN</a:t>
            </a:r>
            <a:endParaRPr lang="en-US" sz="950" dirty="0"/>
          </a:p>
        </p:txBody>
      </p:sp>
      <p:sp>
        <p:nvSpPr>
          <p:cNvPr id="4" name="Text 1"/>
          <p:cNvSpPr/>
          <p:nvPr/>
        </p:nvSpPr>
        <p:spPr>
          <a:xfrm>
            <a:off x="566928" y="777240"/>
            <a:ext cx="11057839" cy="777240"/>
          </a:xfrm>
          <a:prstGeom prst="rect">
            <a:avLst/>
          </a:prstGeom>
          <a:noFill/>
          <a:ln/>
        </p:spPr>
        <p:txBody>
          <a:bodyPr wrap="square" lIns="0" tIns="0" rIns="0" bIns="0" rtlCol="0" anchor="t"/>
          <a:lstStyle/>
          <a:p>
            <a:pPr indent="0" marL="0">
              <a:lnSpc>
                <a:spcPct val="92000"/>
              </a:lnSpc>
              <a:buNone/>
            </a:pPr>
            <a:r>
              <a:rPr lang="en-US" sz="2800" dirty="0">
                <a:solidFill>
                  <a:srgbClr val="0F0F11"/>
                </a:solidFill>
                <a:latin typeface="Arial Black" pitchFamily="34" charset="0"/>
                <a:ea typeface="Arial Black" pitchFamily="34" charset="-122"/>
                <a:cs typeface="Arial Black" pitchFamily="34" charset="-120"/>
              </a:rPr>
              <a:t>VOTAR CON CAPITAL QUE SE PUEDE PERDER</a:t>
            </a:r>
            <a:endParaRPr lang="en-US" sz="2800" dirty="0"/>
          </a:p>
        </p:txBody>
      </p:sp>
      <p:sp>
        <p:nvSpPr>
          <p:cNvPr id="5" name="Text 2"/>
          <p:cNvSpPr/>
          <p:nvPr/>
        </p:nvSpPr>
        <p:spPr>
          <a:xfrm>
            <a:off x="566928" y="6291072"/>
            <a:ext cx="8412480" cy="274320"/>
          </a:xfrm>
          <a:prstGeom prst="rect">
            <a:avLst/>
          </a:prstGeom>
          <a:noFill/>
          <a:ln/>
        </p:spPr>
        <p:txBody>
          <a:bodyPr wrap="square" lIns="0" tIns="0" rIns="0" bIns="0" rtlCol="0" anchor="ctr"/>
          <a:lstStyle/>
          <a:p>
            <a:pPr indent="0" marL="0">
              <a:buNone/>
            </a:pPr>
            <a:r>
              <a:rPr lang="en-US" sz="800" spc="120" kern="0" dirty="0">
                <a:solidFill>
                  <a:srgbClr val="6F6B80"/>
                </a:solidFill>
                <a:latin typeface="Courier New" pitchFamily="34" charset="0"/>
                <a:ea typeface="Courier New" pitchFamily="34" charset="-122"/>
                <a:cs typeface="Courier New" pitchFamily="34" charset="-120"/>
              </a:rPr>
              <a:t>SESIÓN 04 · CONSENSO, INCENTIVOS Y EL TRILEMA</a:t>
            </a:r>
            <a:endParaRPr lang="en-US" sz="800" dirty="0"/>
          </a:p>
        </p:txBody>
      </p:sp>
      <p:sp>
        <p:nvSpPr>
          <p:cNvPr id="6" name="Text 3"/>
          <p:cNvSpPr/>
          <p:nvPr/>
        </p:nvSpPr>
        <p:spPr>
          <a:xfrm>
            <a:off x="9052560" y="6291072"/>
            <a:ext cx="1828800" cy="274320"/>
          </a:xfrm>
          <a:prstGeom prst="rect">
            <a:avLst/>
          </a:prstGeom>
          <a:noFill/>
          <a:ln/>
        </p:spPr>
        <p:txBody>
          <a:bodyPr wrap="square" lIns="0" tIns="0" rIns="0" bIns="0" rtlCol="0" anchor="ctr"/>
          <a:lstStyle/>
          <a:p>
            <a:pPr algn="r" indent="0" marL="0">
              <a:buNone/>
            </a:pPr>
            <a:r>
              <a:rPr lang="en-US" sz="800" spc="120" kern="0" dirty="0">
                <a:solidFill>
                  <a:srgbClr val="6F6B80"/>
                </a:solidFill>
                <a:latin typeface="Courier New" pitchFamily="34" charset="0"/>
                <a:ea typeface="Courier New" pitchFamily="34" charset="-122"/>
                <a:cs typeface="Courier New" pitchFamily="34" charset="-120"/>
              </a:rPr>
              <a:t>USB MEDELLÍN</a:t>
            </a:r>
            <a:endParaRPr lang="en-US" sz="800" dirty="0"/>
          </a:p>
        </p:txBody>
      </p:sp>
      <p:sp>
        <p:nvSpPr>
          <p:cNvPr id="7" name="Text 4"/>
          <p:cNvSpPr/>
          <p:nvPr/>
        </p:nvSpPr>
        <p:spPr>
          <a:xfrm>
            <a:off x="11018520" y="6291072"/>
            <a:ext cx="603504" cy="274320"/>
          </a:xfrm>
          <a:prstGeom prst="rect">
            <a:avLst/>
          </a:prstGeom>
          <a:noFill/>
          <a:ln/>
        </p:spPr>
        <p:txBody>
          <a:bodyPr wrap="square" lIns="0" tIns="0" rIns="0" bIns="0" rtlCol="0" anchor="ctr"/>
          <a:lstStyle/>
          <a:p>
            <a:pPr algn="r" indent="0" marL="0">
              <a:buNone/>
            </a:pPr>
            <a:r>
              <a:rPr lang="en-US" sz="900" b="1" dirty="0">
                <a:solidFill>
                  <a:srgbClr val="0F0F11"/>
                </a:solidFill>
                <a:latin typeface="Courier New" pitchFamily="34" charset="0"/>
                <a:ea typeface="Courier New" pitchFamily="34" charset="-122"/>
                <a:cs typeface="Courier New" pitchFamily="34" charset="-120"/>
              </a:rPr>
              <a:t>19</a:t>
            </a:r>
            <a:endParaRPr lang="en-US" sz="900" dirty="0"/>
          </a:p>
        </p:txBody>
      </p:sp>
      <p:sp>
        <p:nvSpPr>
          <p:cNvPr id="8" name="Text 5"/>
          <p:cNvSpPr/>
          <p:nvPr/>
        </p:nvSpPr>
        <p:spPr>
          <a:xfrm>
            <a:off x="566928" y="1737360"/>
            <a:ext cx="11057839" cy="594360"/>
          </a:xfrm>
          <a:prstGeom prst="rect">
            <a:avLst/>
          </a:prstGeom>
          <a:noFill/>
          <a:ln/>
        </p:spPr>
        <p:txBody>
          <a:bodyPr wrap="square" lIns="0" tIns="0" rIns="0" bIns="0" rtlCol="0" anchor="t"/>
          <a:lstStyle/>
          <a:p>
            <a:pPr indent="0" marL="0">
              <a:lnSpc>
                <a:spcPct val="124000"/>
              </a:lnSpc>
              <a:buNone/>
            </a:pPr>
            <a:r>
              <a:rPr lang="en-US" sz="1450" dirty="0">
                <a:solidFill>
                  <a:srgbClr val="3A3844"/>
                </a:solidFill>
                <a:latin typeface="Arial" pitchFamily="34" charset="0"/>
                <a:ea typeface="Arial" pitchFamily="34" charset="-122"/>
                <a:cs typeface="Arial" pitchFamily="34" charset="-120"/>
              </a:rPr>
              <a:t>Ethereum abandonó la prueba de trabajo en septiembre de 2022 («the Merge»). Hoy el derecho a proponer y votar bloques se gana depositando ETH como garantía.</a:t>
            </a:r>
            <a:endParaRPr lang="en-US" sz="1450" dirty="0"/>
          </a:p>
        </p:txBody>
      </p:sp>
      <p:sp>
        <p:nvSpPr>
          <p:cNvPr id="9" name="Shape 6"/>
          <p:cNvSpPr/>
          <p:nvPr/>
        </p:nvSpPr>
        <p:spPr>
          <a:xfrm>
            <a:off x="566928" y="2468880"/>
            <a:ext cx="11057839" cy="640080"/>
          </a:xfrm>
          <a:prstGeom prst="rect">
            <a:avLst/>
          </a:prstGeom>
          <a:solidFill>
            <a:srgbClr val="FFFFFF"/>
          </a:solidFill>
          <a:ln w="15875">
            <a:solidFill>
              <a:srgbClr val="D9D6E0"/>
            </a:solidFill>
            <a:prstDash val="solid"/>
          </a:ln>
        </p:spPr>
      </p:sp>
      <p:sp>
        <p:nvSpPr>
          <p:cNvPr id="10" name="Text 7"/>
          <p:cNvSpPr/>
          <p:nvPr/>
        </p:nvSpPr>
        <p:spPr>
          <a:xfrm>
            <a:off x="694944" y="2468880"/>
            <a:ext cx="548640" cy="640080"/>
          </a:xfrm>
          <a:prstGeom prst="rect">
            <a:avLst/>
          </a:prstGeom>
          <a:noFill/>
          <a:ln/>
        </p:spPr>
        <p:txBody>
          <a:bodyPr wrap="square" lIns="0" tIns="0" rIns="0" bIns="0" rtlCol="0" anchor="ctr"/>
          <a:lstStyle/>
          <a:p>
            <a:pPr indent="0" marL="0">
              <a:buNone/>
            </a:pPr>
            <a:r>
              <a:rPr lang="en-US" sz="1600" dirty="0">
                <a:solidFill>
                  <a:srgbClr val="F07F06"/>
                </a:solidFill>
                <a:latin typeface="Arial Black" pitchFamily="34" charset="0"/>
                <a:ea typeface="Arial Black" pitchFamily="34" charset="-122"/>
                <a:cs typeface="Arial Black" pitchFamily="34" charset="-120"/>
              </a:rPr>
              <a:t>01</a:t>
            </a:r>
            <a:endParaRPr lang="en-US" sz="1600" dirty="0"/>
          </a:p>
        </p:txBody>
      </p:sp>
      <p:sp>
        <p:nvSpPr>
          <p:cNvPr id="11" name="Text 8"/>
          <p:cNvSpPr/>
          <p:nvPr/>
        </p:nvSpPr>
        <p:spPr>
          <a:xfrm>
            <a:off x="1280160" y="2642616"/>
            <a:ext cx="2103120" cy="292608"/>
          </a:xfrm>
          <a:prstGeom prst="rect">
            <a:avLst/>
          </a:prstGeom>
          <a:noFill/>
          <a:ln/>
        </p:spPr>
        <p:txBody>
          <a:bodyPr wrap="square" lIns="0" tIns="0" rIns="0" bIns="0" rtlCol="0" anchor="ctr"/>
          <a:lstStyle/>
          <a:p>
            <a:pPr indent="0" marL="0">
              <a:buNone/>
            </a:pPr>
            <a:r>
              <a:rPr lang="en-US" sz="1000" b="1" spc="100" kern="0" dirty="0">
                <a:solidFill>
                  <a:srgbClr val="0F0F11"/>
                </a:solidFill>
                <a:latin typeface="Courier New" pitchFamily="34" charset="0"/>
                <a:ea typeface="Courier New" pitchFamily="34" charset="-122"/>
                <a:cs typeface="Courier New" pitchFamily="34" charset="-120"/>
              </a:rPr>
              <a:t>DEPÓSITO</a:t>
            </a:r>
            <a:endParaRPr lang="en-US" sz="1000" dirty="0"/>
          </a:p>
        </p:txBody>
      </p:sp>
      <p:sp>
        <p:nvSpPr>
          <p:cNvPr id="12" name="Text 9"/>
          <p:cNvSpPr/>
          <p:nvPr/>
        </p:nvSpPr>
        <p:spPr>
          <a:xfrm>
            <a:off x="3657600" y="2560320"/>
            <a:ext cx="7857439" cy="493776"/>
          </a:xfrm>
          <a:prstGeom prst="rect">
            <a:avLst/>
          </a:prstGeom>
          <a:noFill/>
          <a:ln/>
        </p:spPr>
        <p:txBody>
          <a:bodyPr wrap="square" lIns="0" tIns="0" rIns="0" bIns="0" rtlCol="0" anchor="ctr"/>
          <a:lstStyle/>
          <a:p>
            <a:pPr indent="0" marL="0">
              <a:lnSpc>
                <a:spcPct val="115000"/>
              </a:lnSpc>
              <a:buNone/>
            </a:pPr>
            <a:r>
              <a:rPr lang="en-US" sz="1200" dirty="0">
                <a:solidFill>
                  <a:srgbClr val="3A3844"/>
                </a:solidFill>
                <a:latin typeface="Arial" pitchFamily="34" charset="0"/>
                <a:ea typeface="Arial" pitchFamily="34" charset="-122"/>
                <a:cs typeface="Arial" pitchFamily="34" charset="-120"/>
              </a:rPr>
              <a:t>Un validador inmoviliza 32 ETH en el contrato de depósito. Ese capital es la garantía de su buen comportamiento.</a:t>
            </a:r>
            <a:endParaRPr lang="en-US" sz="1200" dirty="0"/>
          </a:p>
        </p:txBody>
      </p:sp>
      <p:sp>
        <p:nvSpPr>
          <p:cNvPr id="13" name="Shape 10"/>
          <p:cNvSpPr/>
          <p:nvPr/>
        </p:nvSpPr>
        <p:spPr>
          <a:xfrm>
            <a:off x="566928" y="3200400"/>
            <a:ext cx="11057839" cy="640080"/>
          </a:xfrm>
          <a:prstGeom prst="rect">
            <a:avLst/>
          </a:prstGeom>
          <a:solidFill>
            <a:srgbClr val="FAF9FB"/>
          </a:solidFill>
          <a:ln w="15875">
            <a:solidFill>
              <a:srgbClr val="D9D6E0"/>
            </a:solidFill>
            <a:prstDash val="solid"/>
          </a:ln>
        </p:spPr>
      </p:sp>
      <p:sp>
        <p:nvSpPr>
          <p:cNvPr id="14" name="Text 11"/>
          <p:cNvSpPr/>
          <p:nvPr/>
        </p:nvSpPr>
        <p:spPr>
          <a:xfrm>
            <a:off x="694944" y="3200400"/>
            <a:ext cx="548640" cy="640080"/>
          </a:xfrm>
          <a:prstGeom prst="rect">
            <a:avLst/>
          </a:prstGeom>
          <a:noFill/>
          <a:ln/>
        </p:spPr>
        <p:txBody>
          <a:bodyPr wrap="square" lIns="0" tIns="0" rIns="0" bIns="0" rtlCol="0" anchor="ctr"/>
          <a:lstStyle/>
          <a:p>
            <a:pPr indent="0" marL="0">
              <a:buNone/>
            </a:pPr>
            <a:r>
              <a:rPr lang="en-US" sz="1600" dirty="0">
                <a:solidFill>
                  <a:srgbClr val="F07F06"/>
                </a:solidFill>
                <a:latin typeface="Arial Black" pitchFamily="34" charset="0"/>
                <a:ea typeface="Arial Black" pitchFamily="34" charset="-122"/>
                <a:cs typeface="Arial Black" pitchFamily="34" charset="-120"/>
              </a:rPr>
              <a:t>02</a:t>
            </a:r>
            <a:endParaRPr lang="en-US" sz="1600" dirty="0"/>
          </a:p>
        </p:txBody>
      </p:sp>
      <p:sp>
        <p:nvSpPr>
          <p:cNvPr id="15" name="Text 12"/>
          <p:cNvSpPr/>
          <p:nvPr/>
        </p:nvSpPr>
        <p:spPr>
          <a:xfrm>
            <a:off x="1280160" y="3374136"/>
            <a:ext cx="2103120" cy="292608"/>
          </a:xfrm>
          <a:prstGeom prst="rect">
            <a:avLst/>
          </a:prstGeom>
          <a:noFill/>
          <a:ln/>
        </p:spPr>
        <p:txBody>
          <a:bodyPr wrap="square" lIns="0" tIns="0" rIns="0" bIns="0" rtlCol="0" anchor="ctr"/>
          <a:lstStyle/>
          <a:p>
            <a:pPr indent="0" marL="0">
              <a:buNone/>
            </a:pPr>
            <a:r>
              <a:rPr lang="en-US" sz="1000" b="1" spc="100" kern="0" dirty="0">
                <a:solidFill>
                  <a:srgbClr val="0F0F11"/>
                </a:solidFill>
                <a:latin typeface="Courier New" pitchFamily="34" charset="0"/>
                <a:ea typeface="Courier New" pitchFamily="34" charset="-122"/>
                <a:cs typeface="Courier New" pitchFamily="34" charset="-120"/>
              </a:rPr>
              <a:t>TURNO (SLOT)</a:t>
            </a:r>
            <a:endParaRPr lang="en-US" sz="1000" dirty="0"/>
          </a:p>
        </p:txBody>
      </p:sp>
      <p:sp>
        <p:nvSpPr>
          <p:cNvPr id="16" name="Text 13"/>
          <p:cNvSpPr/>
          <p:nvPr/>
        </p:nvSpPr>
        <p:spPr>
          <a:xfrm>
            <a:off x="3657600" y="3291840"/>
            <a:ext cx="7857439" cy="493776"/>
          </a:xfrm>
          <a:prstGeom prst="rect">
            <a:avLst/>
          </a:prstGeom>
          <a:noFill/>
          <a:ln/>
        </p:spPr>
        <p:txBody>
          <a:bodyPr wrap="square" lIns="0" tIns="0" rIns="0" bIns="0" rtlCol="0" anchor="ctr"/>
          <a:lstStyle/>
          <a:p>
            <a:pPr indent="0" marL="0">
              <a:lnSpc>
                <a:spcPct val="115000"/>
              </a:lnSpc>
              <a:buNone/>
            </a:pPr>
            <a:r>
              <a:rPr lang="en-US" sz="1200" dirty="0">
                <a:solidFill>
                  <a:srgbClr val="3A3844"/>
                </a:solidFill>
                <a:latin typeface="Arial" pitchFamily="34" charset="0"/>
                <a:ea typeface="Arial" pitchFamily="34" charset="-122"/>
                <a:cs typeface="Arial" pitchFamily="34" charset="-120"/>
              </a:rPr>
              <a:t>El tiempo se divide en ranuras de 12 segundos. En cada una, el protocolo sortea un validador para proponer el bloque.</a:t>
            </a:r>
            <a:endParaRPr lang="en-US" sz="1200" dirty="0"/>
          </a:p>
        </p:txBody>
      </p:sp>
      <p:sp>
        <p:nvSpPr>
          <p:cNvPr id="17" name="Shape 14"/>
          <p:cNvSpPr/>
          <p:nvPr/>
        </p:nvSpPr>
        <p:spPr>
          <a:xfrm>
            <a:off x="566928" y="3931920"/>
            <a:ext cx="11057839" cy="640080"/>
          </a:xfrm>
          <a:prstGeom prst="rect">
            <a:avLst/>
          </a:prstGeom>
          <a:solidFill>
            <a:srgbClr val="FFFFFF"/>
          </a:solidFill>
          <a:ln w="15875">
            <a:solidFill>
              <a:srgbClr val="D9D6E0"/>
            </a:solidFill>
            <a:prstDash val="solid"/>
          </a:ln>
        </p:spPr>
      </p:sp>
      <p:sp>
        <p:nvSpPr>
          <p:cNvPr id="18" name="Text 15"/>
          <p:cNvSpPr/>
          <p:nvPr/>
        </p:nvSpPr>
        <p:spPr>
          <a:xfrm>
            <a:off x="694944" y="3931920"/>
            <a:ext cx="548640" cy="640080"/>
          </a:xfrm>
          <a:prstGeom prst="rect">
            <a:avLst/>
          </a:prstGeom>
          <a:noFill/>
          <a:ln/>
        </p:spPr>
        <p:txBody>
          <a:bodyPr wrap="square" lIns="0" tIns="0" rIns="0" bIns="0" rtlCol="0" anchor="ctr"/>
          <a:lstStyle/>
          <a:p>
            <a:pPr indent="0" marL="0">
              <a:buNone/>
            </a:pPr>
            <a:r>
              <a:rPr lang="en-US" sz="1600" dirty="0">
                <a:solidFill>
                  <a:srgbClr val="F07F06"/>
                </a:solidFill>
                <a:latin typeface="Arial Black" pitchFamily="34" charset="0"/>
                <a:ea typeface="Arial Black" pitchFamily="34" charset="-122"/>
                <a:cs typeface="Arial Black" pitchFamily="34" charset="-120"/>
              </a:rPr>
              <a:t>03</a:t>
            </a:r>
            <a:endParaRPr lang="en-US" sz="1600" dirty="0"/>
          </a:p>
        </p:txBody>
      </p:sp>
      <p:sp>
        <p:nvSpPr>
          <p:cNvPr id="19" name="Text 16"/>
          <p:cNvSpPr/>
          <p:nvPr/>
        </p:nvSpPr>
        <p:spPr>
          <a:xfrm>
            <a:off x="1280160" y="4105656"/>
            <a:ext cx="2103120" cy="292608"/>
          </a:xfrm>
          <a:prstGeom prst="rect">
            <a:avLst/>
          </a:prstGeom>
          <a:noFill/>
          <a:ln/>
        </p:spPr>
        <p:txBody>
          <a:bodyPr wrap="square" lIns="0" tIns="0" rIns="0" bIns="0" rtlCol="0" anchor="ctr"/>
          <a:lstStyle/>
          <a:p>
            <a:pPr indent="0" marL="0">
              <a:buNone/>
            </a:pPr>
            <a:r>
              <a:rPr lang="en-US" sz="1000" b="1" spc="100" kern="0" dirty="0">
                <a:solidFill>
                  <a:srgbClr val="0F0F11"/>
                </a:solidFill>
                <a:latin typeface="Courier New" pitchFamily="34" charset="0"/>
                <a:ea typeface="Courier New" pitchFamily="34" charset="-122"/>
                <a:cs typeface="Courier New" pitchFamily="34" charset="-120"/>
              </a:rPr>
              <a:t>ATESTACIÓN</a:t>
            </a:r>
            <a:endParaRPr lang="en-US" sz="1000" dirty="0"/>
          </a:p>
        </p:txBody>
      </p:sp>
      <p:sp>
        <p:nvSpPr>
          <p:cNvPr id="20" name="Text 17"/>
          <p:cNvSpPr/>
          <p:nvPr/>
        </p:nvSpPr>
        <p:spPr>
          <a:xfrm>
            <a:off x="3657600" y="4023360"/>
            <a:ext cx="7857439" cy="493776"/>
          </a:xfrm>
          <a:prstGeom prst="rect">
            <a:avLst/>
          </a:prstGeom>
          <a:noFill/>
          <a:ln/>
        </p:spPr>
        <p:txBody>
          <a:bodyPr wrap="square" lIns="0" tIns="0" rIns="0" bIns="0" rtlCol="0" anchor="ctr"/>
          <a:lstStyle/>
          <a:p>
            <a:pPr indent="0" marL="0">
              <a:lnSpc>
                <a:spcPct val="115000"/>
              </a:lnSpc>
              <a:buNone/>
            </a:pPr>
            <a:r>
              <a:rPr lang="en-US" sz="1200" dirty="0">
                <a:solidFill>
                  <a:srgbClr val="3A3844"/>
                </a:solidFill>
                <a:latin typeface="Arial" pitchFamily="34" charset="0"/>
                <a:ea typeface="Arial" pitchFamily="34" charset="-122"/>
                <a:cs typeface="Arial" pitchFamily="34" charset="-120"/>
              </a:rPr>
              <a:t>Comités de validadores votan qué bloque consideran la cabeza de la cadena. Cada voto va firmado.</a:t>
            </a:r>
            <a:endParaRPr lang="en-US" sz="1200" dirty="0"/>
          </a:p>
        </p:txBody>
      </p:sp>
      <p:sp>
        <p:nvSpPr>
          <p:cNvPr id="21" name="Shape 18"/>
          <p:cNvSpPr/>
          <p:nvPr/>
        </p:nvSpPr>
        <p:spPr>
          <a:xfrm>
            <a:off x="566928" y="4663440"/>
            <a:ext cx="11057839" cy="640080"/>
          </a:xfrm>
          <a:prstGeom prst="rect">
            <a:avLst/>
          </a:prstGeom>
          <a:solidFill>
            <a:srgbClr val="FAF9FB"/>
          </a:solidFill>
          <a:ln w="15875">
            <a:solidFill>
              <a:srgbClr val="D9D6E0"/>
            </a:solidFill>
            <a:prstDash val="solid"/>
          </a:ln>
        </p:spPr>
      </p:sp>
      <p:sp>
        <p:nvSpPr>
          <p:cNvPr id="22" name="Text 19"/>
          <p:cNvSpPr/>
          <p:nvPr/>
        </p:nvSpPr>
        <p:spPr>
          <a:xfrm>
            <a:off x="694944" y="4663440"/>
            <a:ext cx="548640" cy="640080"/>
          </a:xfrm>
          <a:prstGeom prst="rect">
            <a:avLst/>
          </a:prstGeom>
          <a:noFill/>
          <a:ln/>
        </p:spPr>
        <p:txBody>
          <a:bodyPr wrap="square" lIns="0" tIns="0" rIns="0" bIns="0" rtlCol="0" anchor="ctr"/>
          <a:lstStyle/>
          <a:p>
            <a:pPr indent="0" marL="0">
              <a:buNone/>
            </a:pPr>
            <a:r>
              <a:rPr lang="en-US" sz="1600" dirty="0">
                <a:solidFill>
                  <a:srgbClr val="F07F06"/>
                </a:solidFill>
                <a:latin typeface="Arial Black" pitchFamily="34" charset="0"/>
                <a:ea typeface="Arial Black" pitchFamily="34" charset="-122"/>
                <a:cs typeface="Arial Black" pitchFamily="34" charset="-120"/>
              </a:rPr>
              <a:t>04</a:t>
            </a:r>
            <a:endParaRPr lang="en-US" sz="1600" dirty="0"/>
          </a:p>
        </p:txBody>
      </p:sp>
      <p:sp>
        <p:nvSpPr>
          <p:cNvPr id="23" name="Text 20"/>
          <p:cNvSpPr/>
          <p:nvPr/>
        </p:nvSpPr>
        <p:spPr>
          <a:xfrm>
            <a:off x="1280160" y="4837176"/>
            <a:ext cx="2103120" cy="292608"/>
          </a:xfrm>
          <a:prstGeom prst="rect">
            <a:avLst/>
          </a:prstGeom>
          <a:noFill/>
          <a:ln/>
        </p:spPr>
        <p:txBody>
          <a:bodyPr wrap="square" lIns="0" tIns="0" rIns="0" bIns="0" rtlCol="0" anchor="ctr"/>
          <a:lstStyle/>
          <a:p>
            <a:pPr indent="0" marL="0">
              <a:buNone/>
            </a:pPr>
            <a:r>
              <a:rPr lang="en-US" sz="1000" b="1" spc="100" kern="0" dirty="0">
                <a:solidFill>
                  <a:srgbClr val="0F0F11"/>
                </a:solidFill>
                <a:latin typeface="Courier New" pitchFamily="34" charset="0"/>
                <a:ea typeface="Courier New" pitchFamily="34" charset="-122"/>
                <a:cs typeface="Courier New" pitchFamily="34" charset="-120"/>
              </a:rPr>
              <a:t>ÉPOCA</a:t>
            </a:r>
            <a:endParaRPr lang="en-US" sz="1000" dirty="0"/>
          </a:p>
        </p:txBody>
      </p:sp>
      <p:sp>
        <p:nvSpPr>
          <p:cNvPr id="24" name="Text 21"/>
          <p:cNvSpPr/>
          <p:nvPr/>
        </p:nvSpPr>
        <p:spPr>
          <a:xfrm>
            <a:off x="3657600" y="4754880"/>
            <a:ext cx="7857439" cy="493776"/>
          </a:xfrm>
          <a:prstGeom prst="rect">
            <a:avLst/>
          </a:prstGeom>
          <a:noFill/>
          <a:ln/>
        </p:spPr>
        <p:txBody>
          <a:bodyPr wrap="square" lIns="0" tIns="0" rIns="0" bIns="0" rtlCol="0" anchor="ctr"/>
          <a:lstStyle/>
          <a:p>
            <a:pPr indent="0" marL="0">
              <a:lnSpc>
                <a:spcPct val="115000"/>
              </a:lnSpc>
              <a:buNone/>
            </a:pPr>
            <a:r>
              <a:rPr lang="en-US" sz="1200" dirty="0">
                <a:solidFill>
                  <a:srgbClr val="3A3844"/>
                </a:solidFill>
                <a:latin typeface="Arial" pitchFamily="34" charset="0"/>
                <a:ea typeface="Arial" pitchFamily="34" charset="-122"/>
                <a:cs typeface="Arial" pitchFamily="34" charset="-120"/>
              </a:rPr>
              <a:t>32 ranuras forman una época: 6,4 minutos. Los puntos de control se votan por épocas.</a:t>
            </a:r>
            <a:endParaRPr lang="en-US" sz="1200" dirty="0"/>
          </a:p>
        </p:txBody>
      </p:sp>
      <p:sp>
        <p:nvSpPr>
          <p:cNvPr id="25" name="Shape 22"/>
          <p:cNvSpPr/>
          <p:nvPr/>
        </p:nvSpPr>
        <p:spPr>
          <a:xfrm>
            <a:off x="566928" y="5394960"/>
            <a:ext cx="11057839" cy="640080"/>
          </a:xfrm>
          <a:prstGeom prst="rect">
            <a:avLst/>
          </a:prstGeom>
          <a:solidFill>
            <a:srgbClr val="FFFFFF"/>
          </a:solidFill>
          <a:ln w="15875">
            <a:solidFill>
              <a:srgbClr val="D9D6E0"/>
            </a:solidFill>
            <a:prstDash val="solid"/>
          </a:ln>
        </p:spPr>
      </p:sp>
      <p:sp>
        <p:nvSpPr>
          <p:cNvPr id="26" name="Text 23"/>
          <p:cNvSpPr/>
          <p:nvPr/>
        </p:nvSpPr>
        <p:spPr>
          <a:xfrm>
            <a:off x="694944" y="5394960"/>
            <a:ext cx="548640" cy="640080"/>
          </a:xfrm>
          <a:prstGeom prst="rect">
            <a:avLst/>
          </a:prstGeom>
          <a:noFill/>
          <a:ln/>
        </p:spPr>
        <p:txBody>
          <a:bodyPr wrap="square" lIns="0" tIns="0" rIns="0" bIns="0" rtlCol="0" anchor="ctr"/>
          <a:lstStyle/>
          <a:p>
            <a:pPr indent="0" marL="0">
              <a:buNone/>
            </a:pPr>
            <a:r>
              <a:rPr lang="en-US" sz="1600" dirty="0">
                <a:solidFill>
                  <a:srgbClr val="F07F06"/>
                </a:solidFill>
                <a:latin typeface="Arial Black" pitchFamily="34" charset="0"/>
                <a:ea typeface="Arial Black" pitchFamily="34" charset="-122"/>
                <a:cs typeface="Arial Black" pitchFamily="34" charset="-120"/>
              </a:rPr>
              <a:t>05</a:t>
            </a:r>
            <a:endParaRPr lang="en-US" sz="1600" dirty="0"/>
          </a:p>
        </p:txBody>
      </p:sp>
      <p:sp>
        <p:nvSpPr>
          <p:cNvPr id="27" name="Text 24"/>
          <p:cNvSpPr/>
          <p:nvPr/>
        </p:nvSpPr>
        <p:spPr>
          <a:xfrm>
            <a:off x="1280160" y="5568696"/>
            <a:ext cx="2103120" cy="292608"/>
          </a:xfrm>
          <a:prstGeom prst="rect">
            <a:avLst/>
          </a:prstGeom>
          <a:noFill/>
          <a:ln/>
        </p:spPr>
        <p:txBody>
          <a:bodyPr wrap="square" lIns="0" tIns="0" rIns="0" bIns="0" rtlCol="0" anchor="ctr"/>
          <a:lstStyle/>
          <a:p>
            <a:pPr indent="0" marL="0">
              <a:buNone/>
            </a:pPr>
            <a:r>
              <a:rPr lang="en-US" sz="1000" b="1" spc="100" kern="0" dirty="0">
                <a:solidFill>
                  <a:srgbClr val="0F0F11"/>
                </a:solidFill>
                <a:latin typeface="Courier New" pitchFamily="34" charset="0"/>
                <a:ea typeface="Courier New" pitchFamily="34" charset="-122"/>
                <a:cs typeface="Courier New" pitchFamily="34" charset="-120"/>
              </a:rPr>
              <a:t>FINALIDAD</a:t>
            </a:r>
            <a:endParaRPr lang="en-US" sz="1000" dirty="0"/>
          </a:p>
        </p:txBody>
      </p:sp>
      <p:sp>
        <p:nvSpPr>
          <p:cNvPr id="28" name="Text 25"/>
          <p:cNvSpPr/>
          <p:nvPr/>
        </p:nvSpPr>
        <p:spPr>
          <a:xfrm>
            <a:off x="3657600" y="5486400"/>
            <a:ext cx="7857439" cy="493776"/>
          </a:xfrm>
          <a:prstGeom prst="rect">
            <a:avLst/>
          </a:prstGeom>
          <a:noFill/>
          <a:ln/>
        </p:spPr>
        <p:txBody>
          <a:bodyPr wrap="square" lIns="0" tIns="0" rIns="0" bIns="0" rtlCol="0" anchor="ctr"/>
          <a:lstStyle/>
          <a:p>
            <a:pPr indent="0" marL="0">
              <a:lnSpc>
                <a:spcPct val="115000"/>
              </a:lnSpc>
              <a:buNone/>
            </a:pPr>
            <a:r>
              <a:rPr lang="en-US" sz="1200" dirty="0">
                <a:solidFill>
                  <a:srgbClr val="3A3844"/>
                </a:solidFill>
                <a:latin typeface="Arial" pitchFamily="34" charset="0"/>
                <a:ea typeface="Arial" pitchFamily="34" charset="-122"/>
                <a:cs typeface="Arial" pitchFamily="34" charset="-120"/>
              </a:rPr>
              <a:t>Cuando dos tercios del stake votan dos puntos de control seguidos, lo anterior queda finalizado: unos 13 minutos.</a:t>
            </a:r>
            <a:endParaRPr lang="en-US" sz="1200" dirty="0"/>
          </a:p>
        </p:txBody>
      </p:sp>
    </p:spTree>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name="Slide 20">
    <p:bg>
      <p:bgPr>
        <a:solidFill>
          <a:srgbClr val="FFFFFF"/>
        </a:solidFill>
      </p:bgPr>
    </p:bg>
    <p:spTree>
      <p:nvGrpSpPr>
        <p:cNvPr id="1" name=""/>
        <p:cNvGrpSpPr/>
        <p:nvPr/>
      </p:nvGrpSpPr>
      <p:grpSpPr>
        <a:xfrm>
          <a:off x="0" y="0"/>
          <a:ext cx="0" cy="0"/>
          <a:chOff x="0" y="0"/>
          <a:chExt cx="0" cy="0"/>
        </a:xfrm>
      </p:grpSpPr>
      <p:pic>
        <p:nvPicPr>
          <p:cNvPr id="2" name="Image 0" descr="preencoded.png">    </p:cNvPr>
          <p:cNvPicPr>
            <a:picLocks noChangeAspect="1"/>
          </p:cNvPicPr>
          <p:nvPr/>
        </p:nvPicPr>
        <p:blipFill>
          <a:blip r:embed="rId1"/>
          <a:stretch>
            <a:fillRect/>
          </a:stretch>
        </p:blipFill>
        <p:spPr>
          <a:xfrm>
            <a:off x="566928" y="402336"/>
            <a:ext cx="274320" cy="274320"/>
          </a:xfrm>
          <a:prstGeom prst="rect">
            <a:avLst/>
          </a:prstGeom>
        </p:spPr>
      </p:pic>
      <p:sp>
        <p:nvSpPr>
          <p:cNvPr id="3" name="Text 0"/>
          <p:cNvSpPr/>
          <p:nvPr/>
        </p:nvSpPr>
        <p:spPr>
          <a:xfrm>
            <a:off x="969264" y="384048"/>
            <a:ext cx="10655503" cy="310896"/>
          </a:xfrm>
          <a:prstGeom prst="rect">
            <a:avLst/>
          </a:prstGeom>
          <a:noFill/>
          <a:ln/>
        </p:spPr>
        <p:txBody>
          <a:bodyPr wrap="square" lIns="0" tIns="0" rIns="0" bIns="0" rtlCol="0" anchor="ctr"/>
          <a:lstStyle/>
          <a:p>
            <a:pPr indent="0" marL="0">
              <a:buNone/>
            </a:pPr>
            <a:r>
              <a:rPr lang="en-US" sz="950" spc="160" kern="0" dirty="0">
                <a:solidFill>
                  <a:srgbClr val="6F6B80"/>
                </a:solidFill>
                <a:latin typeface="Courier New" pitchFamily="34" charset="0"/>
                <a:ea typeface="Courier New" pitchFamily="34" charset="-122"/>
                <a:cs typeface="Courier New" pitchFamily="34" charset="-120"/>
              </a:rPr>
              <a:t>A.11B · LA LÍNEA DE TIEMPO DE ETHEREUM</a:t>
            </a:r>
            <a:endParaRPr lang="en-US" sz="950" dirty="0"/>
          </a:p>
        </p:txBody>
      </p:sp>
      <p:sp>
        <p:nvSpPr>
          <p:cNvPr id="4" name="Text 1"/>
          <p:cNvSpPr/>
          <p:nvPr/>
        </p:nvSpPr>
        <p:spPr>
          <a:xfrm>
            <a:off x="566928" y="777240"/>
            <a:ext cx="11057839" cy="777240"/>
          </a:xfrm>
          <a:prstGeom prst="rect">
            <a:avLst/>
          </a:prstGeom>
          <a:noFill/>
          <a:ln/>
        </p:spPr>
        <p:txBody>
          <a:bodyPr wrap="square" lIns="0" tIns="0" rIns="0" bIns="0" rtlCol="0" anchor="t"/>
          <a:lstStyle/>
          <a:p>
            <a:pPr indent="0" marL="0">
              <a:lnSpc>
                <a:spcPct val="92000"/>
              </a:lnSpc>
              <a:buNone/>
            </a:pPr>
            <a:r>
              <a:rPr lang="en-US" sz="2600" dirty="0">
                <a:solidFill>
                  <a:srgbClr val="0F0F11"/>
                </a:solidFill>
                <a:latin typeface="Arial Black" pitchFamily="34" charset="0"/>
                <a:ea typeface="Arial Black" pitchFamily="34" charset="-122"/>
                <a:cs typeface="Arial Black" pitchFamily="34" charset="-120"/>
              </a:rPr>
              <a:t>DE LA RANURA A LA FINALIDAD, EN NÚMEROS</a:t>
            </a:r>
            <a:endParaRPr lang="en-US" sz="2600" dirty="0"/>
          </a:p>
        </p:txBody>
      </p:sp>
      <p:sp>
        <p:nvSpPr>
          <p:cNvPr id="5" name="Text 2"/>
          <p:cNvSpPr/>
          <p:nvPr/>
        </p:nvSpPr>
        <p:spPr>
          <a:xfrm>
            <a:off x="566928" y="6291072"/>
            <a:ext cx="8412480" cy="274320"/>
          </a:xfrm>
          <a:prstGeom prst="rect">
            <a:avLst/>
          </a:prstGeom>
          <a:noFill/>
          <a:ln/>
        </p:spPr>
        <p:txBody>
          <a:bodyPr wrap="square" lIns="0" tIns="0" rIns="0" bIns="0" rtlCol="0" anchor="ctr"/>
          <a:lstStyle/>
          <a:p>
            <a:pPr indent="0" marL="0">
              <a:buNone/>
            </a:pPr>
            <a:r>
              <a:rPr lang="en-US" sz="800" spc="120" kern="0" dirty="0">
                <a:solidFill>
                  <a:srgbClr val="6F6B80"/>
                </a:solidFill>
                <a:latin typeface="Courier New" pitchFamily="34" charset="0"/>
                <a:ea typeface="Courier New" pitchFamily="34" charset="-122"/>
                <a:cs typeface="Courier New" pitchFamily="34" charset="-120"/>
              </a:rPr>
              <a:t>SESIÓN 04 · CONSENSO, INCENTIVOS Y EL TRILEMA</a:t>
            </a:r>
            <a:endParaRPr lang="en-US" sz="800" dirty="0"/>
          </a:p>
        </p:txBody>
      </p:sp>
      <p:sp>
        <p:nvSpPr>
          <p:cNvPr id="6" name="Text 3"/>
          <p:cNvSpPr/>
          <p:nvPr/>
        </p:nvSpPr>
        <p:spPr>
          <a:xfrm>
            <a:off x="9052560" y="6291072"/>
            <a:ext cx="1828800" cy="274320"/>
          </a:xfrm>
          <a:prstGeom prst="rect">
            <a:avLst/>
          </a:prstGeom>
          <a:noFill/>
          <a:ln/>
        </p:spPr>
        <p:txBody>
          <a:bodyPr wrap="square" lIns="0" tIns="0" rIns="0" bIns="0" rtlCol="0" anchor="ctr"/>
          <a:lstStyle/>
          <a:p>
            <a:pPr algn="r" indent="0" marL="0">
              <a:buNone/>
            </a:pPr>
            <a:r>
              <a:rPr lang="en-US" sz="800" spc="120" kern="0" dirty="0">
                <a:solidFill>
                  <a:srgbClr val="6F6B80"/>
                </a:solidFill>
                <a:latin typeface="Courier New" pitchFamily="34" charset="0"/>
                <a:ea typeface="Courier New" pitchFamily="34" charset="-122"/>
                <a:cs typeface="Courier New" pitchFamily="34" charset="-120"/>
              </a:rPr>
              <a:t>USB MEDELLÍN</a:t>
            </a:r>
            <a:endParaRPr lang="en-US" sz="800" dirty="0"/>
          </a:p>
        </p:txBody>
      </p:sp>
      <p:sp>
        <p:nvSpPr>
          <p:cNvPr id="7" name="Text 4"/>
          <p:cNvSpPr/>
          <p:nvPr/>
        </p:nvSpPr>
        <p:spPr>
          <a:xfrm>
            <a:off x="11018520" y="6291072"/>
            <a:ext cx="603504" cy="274320"/>
          </a:xfrm>
          <a:prstGeom prst="rect">
            <a:avLst/>
          </a:prstGeom>
          <a:noFill/>
          <a:ln/>
        </p:spPr>
        <p:txBody>
          <a:bodyPr wrap="square" lIns="0" tIns="0" rIns="0" bIns="0" rtlCol="0" anchor="ctr"/>
          <a:lstStyle/>
          <a:p>
            <a:pPr algn="r" indent="0" marL="0">
              <a:buNone/>
            </a:pPr>
            <a:r>
              <a:rPr lang="en-US" sz="900" b="1" dirty="0">
                <a:solidFill>
                  <a:srgbClr val="0F0F11"/>
                </a:solidFill>
                <a:latin typeface="Courier New" pitchFamily="34" charset="0"/>
                <a:ea typeface="Courier New" pitchFamily="34" charset="-122"/>
                <a:cs typeface="Courier New" pitchFamily="34" charset="-120"/>
              </a:rPr>
              <a:t>20</a:t>
            </a:r>
            <a:endParaRPr lang="en-US" sz="900" dirty="0"/>
          </a:p>
        </p:txBody>
      </p:sp>
      <p:sp>
        <p:nvSpPr>
          <p:cNvPr id="8" name="Text 5"/>
          <p:cNvSpPr/>
          <p:nvPr/>
        </p:nvSpPr>
        <p:spPr>
          <a:xfrm>
            <a:off x="566928" y="1691640"/>
            <a:ext cx="11057839" cy="502920"/>
          </a:xfrm>
          <a:prstGeom prst="rect">
            <a:avLst/>
          </a:prstGeom>
          <a:noFill/>
          <a:ln/>
        </p:spPr>
        <p:txBody>
          <a:bodyPr wrap="square" lIns="0" tIns="0" rIns="0" bIns="0" rtlCol="0" anchor="t"/>
          <a:lstStyle/>
          <a:p>
            <a:pPr indent="0" marL="0">
              <a:lnSpc>
                <a:spcPct val="124000"/>
              </a:lnSpc>
              <a:buNone/>
            </a:pPr>
            <a:r>
              <a:rPr lang="en-US" sz="1400" dirty="0">
                <a:solidFill>
                  <a:srgbClr val="3A3844"/>
                </a:solidFill>
                <a:latin typeface="Arial" pitchFamily="34" charset="0"/>
                <a:ea typeface="Arial" pitchFamily="34" charset="-122"/>
                <a:cs typeface="Arial" pitchFamily="34" charset="-120"/>
              </a:rPr>
              <a:t>Los tiempos de la prueba de participación no son arbitrarios: encajan unos dentro de otros. Vale la pena verlos juntos.</a:t>
            </a:r>
            <a:endParaRPr lang="en-US" sz="1400" dirty="0"/>
          </a:p>
        </p:txBody>
      </p:sp>
      <p:sp>
        <p:nvSpPr>
          <p:cNvPr id="9" name="Shape 6"/>
          <p:cNvSpPr/>
          <p:nvPr/>
        </p:nvSpPr>
        <p:spPr>
          <a:xfrm>
            <a:off x="566928" y="2377440"/>
            <a:ext cx="2286000" cy="1051560"/>
          </a:xfrm>
          <a:prstGeom prst="rect">
            <a:avLst/>
          </a:prstGeom>
          <a:solidFill>
            <a:srgbClr val="FFFFFF"/>
          </a:solidFill>
          <a:ln w="22225">
            <a:solidFill>
              <a:srgbClr val="F07F06"/>
            </a:solidFill>
            <a:prstDash val="solid"/>
          </a:ln>
        </p:spPr>
      </p:sp>
      <p:sp>
        <p:nvSpPr>
          <p:cNvPr id="10" name="Text 7"/>
          <p:cNvSpPr/>
          <p:nvPr/>
        </p:nvSpPr>
        <p:spPr>
          <a:xfrm>
            <a:off x="658368" y="2468880"/>
            <a:ext cx="2103120" cy="292608"/>
          </a:xfrm>
          <a:prstGeom prst="rect">
            <a:avLst/>
          </a:prstGeom>
          <a:noFill/>
          <a:ln/>
        </p:spPr>
        <p:txBody>
          <a:bodyPr wrap="square" lIns="0" tIns="0" rIns="0" bIns="0" rtlCol="0" anchor="ctr"/>
          <a:lstStyle/>
          <a:p>
            <a:pPr algn="ctr" indent="0" marL="0">
              <a:buNone/>
            </a:pPr>
            <a:r>
              <a:rPr lang="en-US" sz="1100" b="1" spc="80" kern="0" dirty="0">
                <a:solidFill>
                  <a:srgbClr val="0F0F11"/>
                </a:solidFill>
                <a:latin typeface="Courier New" pitchFamily="34" charset="0"/>
                <a:ea typeface="Courier New" pitchFamily="34" charset="-122"/>
                <a:cs typeface="Courier New" pitchFamily="34" charset="-120"/>
              </a:rPr>
              <a:t>RANURA · 12 s</a:t>
            </a:r>
            <a:endParaRPr lang="en-US" sz="1100" dirty="0"/>
          </a:p>
        </p:txBody>
      </p:sp>
      <p:sp>
        <p:nvSpPr>
          <p:cNvPr id="11" name="Text 8"/>
          <p:cNvSpPr/>
          <p:nvPr/>
        </p:nvSpPr>
        <p:spPr>
          <a:xfrm>
            <a:off x="658368" y="2779776"/>
            <a:ext cx="2103120" cy="576072"/>
          </a:xfrm>
          <a:prstGeom prst="rect">
            <a:avLst/>
          </a:prstGeom>
          <a:noFill/>
          <a:ln/>
        </p:spPr>
        <p:txBody>
          <a:bodyPr wrap="square" lIns="0" tIns="0" rIns="0" bIns="0" rtlCol="0" anchor="t"/>
          <a:lstStyle/>
          <a:p>
            <a:pPr algn="ctr" indent="0" marL="0">
              <a:lnSpc>
                <a:spcPct val="110000"/>
              </a:lnSpc>
              <a:buNone/>
            </a:pPr>
            <a:r>
              <a:rPr lang="en-US" sz="1050" dirty="0">
                <a:solidFill>
                  <a:srgbClr val="6F6B80"/>
                </a:solidFill>
                <a:latin typeface="Arial" pitchFamily="34" charset="0"/>
                <a:ea typeface="Arial" pitchFamily="34" charset="-122"/>
                <a:cs typeface="Arial" pitchFamily="34" charset="-120"/>
              </a:rPr>
              <a:t>un validador</a:t>
            </a:r>
            <a:endParaRPr lang="en-US" sz="1050" dirty="0"/>
          </a:p>
          <a:p>
            <a:pPr algn="ctr" indent="0" marL="0">
              <a:lnSpc>
                <a:spcPct val="110000"/>
              </a:lnSpc>
              <a:buNone/>
            </a:pPr>
            <a:r>
              <a:rPr lang="en-US" sz="1050" dirty="0">
                <a:solidFill>
                  <a:srgbClr val="6F6B80"/>
                </a:solidFill>
                <a:latin typeface="Arial" pitchFamily="34" charset="0"/>
                <a:ea typeface="Arial" pitchFamily="34" charset="-122"/>
                <a:cs typeface="Arial" pitchFamily="34" charset="-120"/>
              </a:rPr>
              <a:t>sorteado propone</a:t>
            </a:r>
            <a:endParaRPr lang="en-US" sz="1050" dirty="0"/>
          </a:p>
          <a:p>
            <a:pPr algn="ctr" indent="0" marL="0">
              <a:lnSpc>
                <a:spcPct val="110000"/>
              </a:lnSpc>
              <a:buNone/>
            </a:pPr>
            <a:r>
              <a:rPr lang="en-US" sz="1050" dirty="0">
                <a:solidFill>
                  <a:srgbClr val="6F6B80"/>
                </a:solidFill>
                <a:latin typeface="Arial" pitchFamily="34" charset="0"/>
                <a:ea typeface="Arial" pitchFamily="34" charset="-122"/>
                <a:cs typeface="Arial" pitchFamily="34" charset="-120"/>
              </a:rPr>
              <a:t>un bloque</a:t>
            </a:r>
            <a:endParaRPr lang="en-US" sz="1050" dirty="0"/>
          </a:p>
        </p:txBody>
      </p:sp>
      <p:sp>
        <p:nvSpPr>
          <p:cNvPr id="12" name="Shape 9"/>
          <p:cNvSpPr/>
          <p:nvPr/>
        </p:nvSpPr>
        <p:spPr>
          <a:xfrm>
            <a:off x="2898648" y="2898648"/>
            <a:ext cx="457200" cy="914"/>
          </a:xfrm>
          <a:prstGeom prst="line">
            <a:avLst/>
          </a:prstGeom>
          <a:noFill/>
          <a:ln w="25400">
            <a:solidFill>
              <a:srgbClr val="0F0F11"/>
            </a:solidFill>
            <a:prstDash val="solid"/>
            <a:tailEnd type="triangle"/>
          </a:ln>
        </p:spPr>
      </p:sp>
      <p:sp>
        <p:nvSpPr>
          <p:cNvPr id="13" name="Shape 10"/>
          <p:cNvSpPr/>
          <p:nvPr/>
        </p:nvSpPr>
        <p:spPr>
          <a:xfrm>
            <a:off x="3401568" y="2377440"/>
            <a:ext cx="2468880" cy="1051560"/>
          </a:xfrm>
          <a:prstGeom prst="rect">
            <a:avLst/>
          </a:prstGeom>
          <a:solidFill>
            <a:srgbClr val="FAF9FB"/>
          </a:solidFill>
          <a:ln w="22225">
            <a:solidFill>
              <a:srgbClr val="0F0F11"/>
            </a:solidFill>
            <a:prstDash val="solid"/>
          </a:ln>
        </p:spPr>
      </p:sp>
      <p:sp>
        <p:nvSpPr>
          <p:cNvPr id="14" name="Text 11"/>
          <p:cNvSpPr/>
          <p:nvPr/>
        </p:nvSpPr>
        <p:spPr>
          <a:xfrm>
            <a:off x="3493008" y="2468880"/>
            <a:ext cx="2286000" cy="292608"/>
          </a:xfrm>
          <a:prstGeom prst="rect">
            <a:avLst/>
          </a:prstGeom>
          <a:noFill/>
          <a:ln/>
        </p:spPr>
        <p:txBody>
          <a:bodyPr wrap="square" lIns="0" tIns="0" rIns="0" bIns="0" rtlCol="0" anchor="ctr"/>
          <a:lstStyle/>
          <a:p>
            <a:pPr algn="ctr" indent="0" marL="0">
              <a:buNone/>
            </a:pPr>
            <a:r>
              <a:rPr lang="en-US" sz="1100" b="1" spc="80" kern="0" dirty="0">
                <a:solidFill>
                  <a:srgbClr val="0F0F11"/>
                </a:solidFill>
                <a:latin typeface="Courier New" pitchFamily="34" charset="0"/>
                <a:ea typeface="Courier New" pitchFamily="34" charset="-122"/>
                <a:cs typeface="Courier New" pitchFamily="34" charset="-120"/>
              </a:rPr>
              <a:t>ÉPOCA · 6,4 min</a:t>
            </a:r>
            <a:endParaRPr lang="en-US" sz="1100" dirty="0"/>
          </a:p>
        </p:txBody>
      </p:sp>
      <p:sp>
        <p:nvSpPr>
          <p:cNvPr id="15" name="Text 12"/>
          <p:cNvSpPr/>
          <p:nvPr/>
        </p:nvSpPr>
        <p:spPr>
          <a:xfrm>
            <a:off x="3493008" y="2779776"/>
            <a:ext cx="2286000" cy="576072"/>
          </a:xfrm>
          <a:prstGeom prst="rect">
            <a:avLst/>
          </a:prstGeom>
          <a:noFill/>
          <a:ln/>
        </p:spPr>
        <p:txBody>
          <a:bodyPr wrap="square" lIns="0" tIns="0" rIns="0" bIns="0" rtlCol="0" anchor="t"/>
          <a:lstStyle/>
          <a:p>
            <a:pPr algn="ctr" indent="0" marL="0">
              <a:lnSpc>
                <a:spcPct val="110000"/>
              </a:lnSpc>
              <a:buNone/>
            </a:pPr>
            <a:r>
              <a:rPr lang="en-US" sz="1050" dirty="0">
                <a:solidFill>
                  <a:srgbClr val="6F6B80"/>
                </a:solidFill>
                <a:latin typeface="Arial" pitchFamily="34" charset="0"/>
                <a:ea typeface="Arial" pitchFamily="34" charset="-122"/>
                <a:cs typeface="Arial" pitchFamily="34" charset="-120"/>
              </a:rPr>
              <a:t>32 ranuras.</a:t>
            </a:r>
            <a:endParaRPr lang="en-US" sz="1050" dirty="0"/>
          </a:p>
          <a:p>
            <a:pPr algn="ctr" indent="0" marL="0">
              <a:lnSpc>
                <a:spcPct val="110000"/>
              </a:lnSpc>
              <a:buNone/>
            </a:pPr>
            <a:r>
              <a:rPr lang="en-US" sz="1050" dirty="0">
                <a:solidFill>
                  <a:srgbClr val="6F6B80"/>
                </a:solidFill>
                <a:latin typeface="Arial" pitchFamily="34" charset="0"/>
                <a:ea typeface="Arial" pitchFamily="34" charset="-122"/>
                <a:cs typeface="Arial" pitchFamily="34" charset="-120"/>
              </a:rPr>
              <a:t>se vota un punto</a:t>
            </a:r>
            <a:endParaRPr lang="en-US" sz="1050" dirty="0"/>
          </a:p>
          <a:p>
            <a:pPr algn="ctr" indent="0" marL="0">
              <a:lnSpc>
                <a:spcPct val="110000"/>
              </a:lnSpc>
              <a:buNone/>
            </a:pPr>
            <a:r>
              <a:rPr lang="en-US" sz="1050" dirty="0">
                <a:solidFill>
                  <a:srgbClr val="6F6B80"/>
                </a:solidFill>
                <a:latin typeface="Arial" pitchFamily="34" charset="0"/>
                <a:ea typeface="Arial" pitchFamily="34" charset="-122"/>
                <a:cs typeface="Arial" pitchFamily="34" charset="-120"/>
              </a:rPr>
              <a:t>de control</a:t>
            </a:r>
            <a:endParaRPr lang="en-US" sz="1050" dirty="0"/>
          </a:p>
        </p:txBody>
      </p:sp>
      <p:sp>
        <p:nvSpPr>
          <p:cNvPr id="16" name="Shape 13"/>
          <p:cNvSpPr/>
          <p:nvPr/>
        </p:nvSpPr>
        <p:spPr>
          <a:xfrm>
            <a:off x="5916168" y="2898648"/>
            <a:ext cx="457200" cy="914"/>
          </a:xfrm>
          <a:prstGeom prst="line">
            <a:avLst/>
          </a:prstGeom>
          <a:noFill/>
          <a:ln w="25400">
            <a:solidFill>
              <a:srgbClr val="0F0F11"/>
            </a:solidFill>
            <a:prstDash val="solid"/>
            <a:tailEnd type="triangle"/>
          </a:ln>
        </p:spPr>
      </p:sp>
      <p:sp>
        <p:nvSpPr>
          <p:cNvPr id="17" name="Shape 14"/>
          <p:cNvSpPr/>
          <p:nvPr/>
        </p:nvSpPr>
        <p:spPr>
          <a:xfrm>
            <a:off x="6419088" y="2377440"/>
            <a:ext cx="2468880" cy="1051560"/>
          </a:xfrm>
          <a:prstGeom prst="rect">
            <a:avLst/>
          </a:prstGeom>
          <a:solidFill>
            <a:srgbClr val="FAF9FB"/>
          </a:solidFill>
          <a:ln w="22225">
            <a:solidFill>
              <a:srgbClr val="0F0F11"/>
            </a:solidFill>
            <a:prstDash val="solid"/>
          </a:ln>
        </p:spPr>
      </p:sp>
      <p:sp>
        <p:nvSpPr>
          <p:cNvPr id="18" name="Text 15"/>
          <p:cNvSpPr/>
          <p:nvPr/>
        </p:nvSpPr>
        <p:spPr>
          <a:xfrm>
            <a:off x="6510528" y="2468880"/>
            <a:ext cx="2286000" cy="292608"/>
          </a:xfrm>
          <a:prstGeom prst="rect">
            <a:avLst/>
          </a:prstGeom>
          <a:noFill/>
          <a:ln/>
        </p:spPr>
        <p:txBody>
          <a:bodyPr wrap="square" lIns="0" tIns="0" rIns="0" bIns="0" rtlCol="0" anchor="ctr"/>
          <a:lstStyle/>
          <a:p>
            <a:pPr algn="ctr" indent="0" marL="0">
              <a:buNone/>
            </a:pPr>
            <a:r>
              <a:rPr lang="en-US" sz="1100" b="1" spc="80" kern="0" dirty="0">
                <a:solidFill>
                  <a:srgbClr val="0F0F11"/>
                </a:solidFill>
                <a:latin typeface="Courier New" pitchFamily="34" charset="0"/>
                <a:ea typeface="Courier New" pitchFamily="34" charset="-122"/>
                <a:cs typeface="Courier New" pitchFamily="34" charset="-120"/>
              </a:rPr>
              <a:t>2 ÉPOCAS</a:t>
            </a:r>
            <a:endParaRPr lang="en-US" sz="1100" dirty="0"/>
          </a:p>
        </p:txBody>
      </p:sp>
      <p:sp>
        <p:nvSpPr>
          <p:cNvPr id="19" name="Text 16"/>
          <p:cNvSpPr/>
          <p:nvPr/>
        </p:nvSpPr>
        <p:spPr>
          <a:xfrm>
            <a:off x="6510528" y="2779776"/>
            <a:ext cx="2286000" cy="576072"/>
          </a:xfrm>
          <a:prstGeom prst="rect">
            <a:avLst/>
          </a:prstGeom>
          <a:noFill/>
          <a:ln/>
        </p:spPr>
        <p:txBody>
          <a:bodyPr wrap="square" lIns="0" tIns="0" rIns="0" bIns="0" rtlCol="0" anchor="t"/>
          <a:lstStyle/>
          <a:p>
            <a:pPr algn="ctr" indent="0" marL="0">
              <a:lnSpc>
                <a:spcPct val="110000"/>
              </a:lnSpc>
              <a:buNone/>
            </a:pPr>
            <a:r>
              <a:rPr lang="en-US" sz="1050" dirty="0">
                <a:solidFill>
                  <a:srgbClr val="6F6B80"/>
                </a:solidFill>
                <a:latin typeface="Arial" pitchFamily="34" charset="0"/>
                <a:ea typeface="Arial" pitchFamily="34" charset="-122"/>
                <a:cs typeface="Arial" pitchFamily="34" charset="-120"/>
              </a:rPr>
              <a:t>dos puntos de</a:t>
            </a:r>
            <a:endParaRPr lang="en-US" sz="1050" dirty="0"/>
          </a:p>
          <a:p>
            <a:pPr algn="ctr" indent="0" marL="0">
              <a:lnSpc>
                <a:spcPct val="110000"/>
              </a:lnSpc>
              <a:buNone/>
            </a:pPr>
            <a:r>
              <a:rPr lang="en-US" sz="1050" dirty="0">
                <a:solidFill>
                  <a:srgbClr val="6F6B80"/>
                </a:solidFill>
                <a:latin typeface="Arial" pitchFamily="34" charset="0"/>
                <a:ea typeface="Arial" pitchFamily="34" charset="-122"/>
                <a:cs typeface="Arial" pitchFamily="34" charset="-120"/>
              </a:rPr>
              <a:t>control seguidos</a:t>
            </a:r>
            <a:endParaRPr lang="en-US" sz="1050" dirty="0"/>
          </a:p>
          <a:p>
            <a:pPr algn="ctr" indent="0" marL="0">
              <a:lnSpc>
                <a:spcPct val="110000"/>
              </a:lnSpc>
              <a:buNone/>
            </a:pPr>
            <a:r>
              <a:rPr lang="en-US" sz="1050" dirty="0">
                <a:solidFill>
                  <a:srgbClr val="6F6B80"/>
                </a:solidFill>
                <a:latin typeface="Arial" pitchFamily="34" charset="0"/>
                <a:ea typeface="Arial" pitchFamily="34" charset="-122"/>
                <a:cs typeface="Arial" pitchFamily="34" charset="-120"/>
              </a:rPr>
              <a:t>votados por ⅔</a:t>
            </a:r>
            <a:endParaRPr lang="en-US" sz="1050" dirty="0"/>
          </a:p>
        </p:txBody>
      </p:sp>
      <p:sp>
        <p:nvSpPr>
          <p:cNvPr id="20" name="Shape 17"/>
          <p:cNvSpPr/>
          <p:nvPr/>
        </p:nvSpPr>
        <p:spPr>
          <a:xfrm>
            <a:off x="8933688" y="2898648"/>
            <a:ext cx="457200" cy="914"/>
          </a:xfrm>
          <a:prstGeom prst="line">
            <a:avLst/>
          </a:prstGeom>
          <a:noFill/>
          <a:ln w="25400">
            <a:solidFill>
              <a:srgbClr val="0F0F11"/>
            </a:solidFill>
            <a:prstDash val="solid"/>
            <a:tailEnd type="triangle"/>
          </a:ln>
        </p:spPr>
      </p:sp>
      <p:sp>
        <p:nvSpPr>
          <p:cNvPr id="21" name="Shape 18"/>
          <p:cNvSpPr/>
          <p:nvPr/>
        </p:nvSpPr>
        <p:spPr>
          <a:xfrm>
            <a:off x="9436608" y="2377440"/>
            <a:ext cx="2188159" cy="1051560"/>
          </a:xfrm>
          <a:prstGeom prst="rect">
            <a:avLst/>
          </a:prstGeom>
          <a:solidFill>
            <a:srgbClr val="FFFFFF"/>
          </a:solidFill>
          <a:ln w="22225">
            <a:solidFill>
              <a:srgbClr val="7152E9"/>
            </a:solidFill>
            <a:prstDash val="solid"/>
          </a:ln>
        </p:spPr>
      </p:sp>
      <p:sp>
        <p:nvSpPr>
          <p:cNvPr id="22" name="Text 19"/>
          <p:cNvSpPr/>
          <p:nvPr/>
        </p:nvSpPr>
        <p:spPr>
          <a:xfrm>
            <a:off x="9528048" y="2468880"/>
            <a:ext cx="2005279" cy="292608"/>
          </a:xfrm>
          <a:prstGeom prst="rect">
            <a:avLst/>
          </a:prstGeom>
          <a:noFill/>
          <a:ln/>
        </p:spPr>
        <p:txBody>
          <a:bodyPr wrap="square" lIns="0" tIns="0" rIns="0" bIns="0" rtlCol="0" anchor="ctr"/>
          <a:lstStyle/>
          <a:p>
            <a:pPr algn="ctr" indent="0" marL="0">
              <a:buNone/>
            </a:pPr>
            <a:r>
              <a:rPr lang="en-US" sz="1100" b="1" spc="80" kern="0" dirty="0">
                <a:solidFill>
                  <a:srgbClr val="0F0F11"/>
                </a:solidFill>
                <a:latin typeface="Courier New" pitchFamily="34" charset="0"/>
                <a:ea typeface="Courier New" pitchFamily="34" charset="-122"/>
                <a:cs typeface="Courier New" pitchFamily="34" charset="-120"/>
              </a:rPr>
              <a:t>FINAL · ~13 min</a:t>
            </a:r>
            <a:endParaRPr lang="en-US" sz="1100" dirty="0"/>
          </a:p>
        </p:txBody>
      </p:sp>
      <p:sp>
        <p:nvSpPr>
          <p:cNvPr id="23" name="Text 20"/>
          <p:cNvSpPr/>
          <p:nvPr/>
        </p:nvSpPr>
        <p:spPr>
          <a:xfrm>
            <a:off x="9528048" y="2779776"/>
            <a:ext cx="2005279" cy="576072"/>
          </a:xfrm>
          <a:prstGeom prst="rect">
            <a:avLst/>
          </a:prstGeom>
          <a:noFill/>
          <a:ln/>
        </p:spPr>
        <p:txBody>
          <a:bodyPr wrap="square" lIns="0" tIns="0" rIns="0" bIns="0" rtlCol="0" anchor="t"/>
          <a:lstStyle/>
          <a:p>
            <a:pPr algn="ctr" indent="0" marL="0">
              <a:lnSpc>
                <a:spcPct val="110000"/>
              </a:lnSpc>
              <a:buNone/>
            </a:pPr>
            <a:r>
              <a:rPr lang="en-US" sz="1050" dirty="0">
                <a:solidFill>
                  <a:srgbClr val="6F6B80"/>
                </a:solidFill>
                <a:latin typeface="Arial" pitchFamily="34" charset="0"/>
                <a:ea typeface="Arial" pitchFamily="34" charset="-122"/>
                <a:cs typeface="Arial" pitchFamily="34" charset="-120"/>
              </a:rPr>
              <a:t>revertir exige</a:t>
            </a:r>
            <a:endParaRPr lang="en-US" sz="1050" dirty="0"/>
          </a:p>
          <a:p>
            <a:pPr algn="ctr" indent="0" marL="0">
              <a:lnSpc>
                <a:spcPct val="110000"/>
              </a:lnSpc>
              <a:buNone/>
            </a:pPr>
            <a:r>
              <a:rPr lang="en-US" sz="1050" dirty="0">
                <a:solidFill>
                  <a:srgbClr val="6F6B80"/>
                </a:solidFill>
                <a:latin typeface="Arial" pitchFamily="34" charset="0"/>
                <a:ea typeface="Arial" pitchFamily="34" charset="-122"/>
                <a:cs typeface="Arial" pitchFamily="34" charset="-120"/>
              </a:rPr>
              <a:t>quemar ⅓ del</a:t>
            </a:r>
            <a:endParaRPr lang="en-US" sz="1050" dirty="0"/>
          </a:p>
          <a:p>
            <a:pPr algn="ctr" indent="0" marL="0">
              <a:lnSpc>
                <a:spcPct val="110000"/>
              </a:lnSpc>
              <a:buNone/>
            </a:pPr>
            <a:r>
              <a:rPr lang="en-US" sz="1050" dirty="0">
                <a:solidFill>
                  <a:srgbClr val="6F6B80"/>
                </a:solidFill>
                <a:latin typeface="Arial" pitchFamily="34" charset="0"/>
                <a:ea typeface="Arial" pitchFamily="34" charset="-122"/>
                <a:cs typeface="Arial" pitchFamily="34" charset="-120"/>
              </a:rPr>
              <a:t>stake total</a:t>
            </a:r>
            <a:endParaRPr lang="en-US" sz="1050" dirty="0"/>
          </a:p>
        </p:txBody>
      </p:sp>
      <p:sp>
        <p:nvSpPr>
          <p:cNvPr id="24" name="Text 21"/>
          <p:cNvSpPr/>
          <p:nvPr/>
        </p:nvSpPr>
        <p:spPr>
          <a:xfrm>
            <a:off x="566928" y="3749040"/>
            <a:ext cx="11057839" cy="914400"/>
          </a:xfrm>
          <a:prstGeom prst="rect">
            <a:avLst/>
          </a:prstGeom>
          <a:noFill/>
          <a:ln/>
        </p:spPr>
        <p:txBody>
          <a:bodyPr wrap="square" lIns="0" tIns="0" rIns="0" bIns="0" rtlCol="0" anchor="t"/>
          <a:lstStyle/>
          <a:p>
            <a:pPr indent="0" marL="0">
              <a:lnSpc>
                <a:spcPct val="124000"/>
              </a:lnSpc>
              <a:buNone/>
            </a:pPr>
            <a:r>
              <a:rPr lang="en-US" sz="1300" dirty="0">
                <a:solidFill>
                  <a:srgbClr val="3A3844"/>
                </a:solidFill>
                <a:latin typeface="Arial" pitchFamily="34" charset="0"/>
                <a:ea typeface="Arial" pitchFamily="34" charset="-122"/>
                <a:cs typeface="Arial" pitchFamily="34" charset="-120"/>
              </a:rPr>
              <a:t>Un bloque aparece cada 12 segundos. Cada 32 bloques (6,4 minutos) los validadores votan un «punto de control». Cuando dos puntos de control seguidos reúnen dos tercios del stake, todo lo anterior queda finalizado: unos 13 minutos.</a:t>
            </a:r>
            <a:endParaRPr lang="en-US" sz="1300" dirty="0"/>
          </a:p>
        </p:txBody>
      </p:sp>
      <p:sp>
        <p:nvSpPr>
          <p:cNvPr id="25" name="Shape 22"/>
          <p:cNvSpPr/>
          <p:nvPr/>
        </p:nvSpPr>
        <p:spPr>
          <a:xfrm>
            <a:off x="566928" y="4754880"/>
            <a:ext cx="11057839" cy="1371600"/>
          </a:xfrm>
          <a:prstGeom prst="rect">
            <a:avLst/>
          </a:prstGeom>
          <a:solidFill>
            <a:srgbClr val="FFFFFF"/>
          </a:solidFill>
          <a:ln w="22225">
            <a:solidFill>
              <a:srgbClr val="7152E9"/>
            </a:solidFill>
            <a:prstDash val="solid"/>
          </a:ln>
          <a:effectLst>
            <a:outerShdw sx="100000" sy="100000" kx="0" ky="0" algn="bl" rotWithShape="0" blurRad="101600" dist="63500" dir="2700000">
              <a:srgbClr val="7152E9">
                <a:alpha val="100000"/>
              </a:srgbClr>
            </a:outerShdw>
          </a:effectLst>
        </p:spPr>
      </p:sp>
      <p:pic>
        <p:nvPicPr>
          <p:cNvPr id="26" name="Image 1" descr="preencoded.png">    </p:cNvPr>
          <p:cNvPicPr>
            <a:picLocks noChangeAspect="1"/>
          </p:cNvPicPr>
          <p:nvPr/>
        </p:nvPicPr>
        <p:blipFill>
          <a:blip r:embed="rId2"/>
          <a:stretch>
            <a:fillRect/>
          </a:stretch>
        </p:blipFill>
        <p:spPr>
          <a:xfrm>
            <a:off x="804672" y="4974336"/>
            <a:ext cx="237744" cy="237744"/>
          </a:xfrm>
          <a:prstGeom prst="rect">
            <a:avLst/>
          </a:prstGeom>
        </p:spPr>
      </p:pic>
      <p:sp>
        <p:nvSpPr>
          <p:cNvPr id="27" name="Text 23"/>
          <p:cNvSpPr/>
          <p:nvPr/>
        </p:nvSpPr>
        <p:spPr>
          <a:xfrm>
            <a:off x="1133856" y="4946904"/>
            <a:ext cx="10234879" cy="292608"/>
          </a:xfrm>
          <a:prstGeom prst="rect">
            <a:avLst/>
          </a:prstGeom>
          <a:noFill/>
          <a:ln/>
        </p:spPr>
        <p:txBody>
          <a:bodyPr wrap="square" lIns="0" tIns="0" rIns="0" bIns="0" rtlCol="0" anchor="ctr"/>
          <a:lstStyle/>
          <a:p>
            <a:pPr indent="0" marL="0">
              <a:buNone/>
            </a:pPr>
            <a:r>
              <a:rPr lang="en-US" sz="950" b="1" spc="150" kern="0" dirty="0">
                <a:solidFill>
                  <a:srgbClr val="5638C9"/>
                </a:solidFill>
                <a:latin typeface="Courier New" pitchFamily="34" charset="0"/>
                <a:ea typeface="Courier New" pitchFamily="34" charset="-122"/>
                <a:cs typeface="Courier New" pitchFamily="34" charset="-120"/>
              </a:rPr>
              <a:t>EL «DOS TERCIOS» ES EL «UN TERCIO» DE A.3, AL REVÉS</a:t>
            </a:r>
            <a:endParaRPr lang="en-US" sz="950" dirty="0"/>
          </a:p>
        </p:txBody>
      </p:sp>
      <p:sp>
        <p:nvSpPr>
          <p:cNvPr id="28" name="Text 24"/>
          <p:cNvSpPr/>
          <p:nvPr/>
        </p:nvSpPr>
        <p:spPr>
          <a:xfrm>
            <a:off x="804672" y="5266944"/>
            <a:ext cx="10582351" cy="768096"/>
          </a:xfrm>
          <a:prstGeom prst="rect">
            <a:avLst/>
          </a:prstGeom>
          <a:noFill/>
          <a:ln/>
        </p:spPr>
        <p:txBody>
          <a:bodyPr wrap="square" lIns="0" tIns="0" rIns="0" bIns="0" rtlCol="0" anchor="t"/>
          <a:lstStyle/>
          <a:p>
            <a:pPr indent="0" marL="0">
              <a:lnSpc>
                <a:spcPct val="124000"/>
              </a:lnSpc>
              <a:buNone/>
            </a:pPr>
            <a:r>
              <a:rPr lang="en-US" sz="1250" dirty="0">
                <a:solidFill>
                  <a:srgbClr val="3A3844"/>
                </a:solidFill>
                <a:latin typeface="Arial" pitchFamily="34" charset="0"/>
                <a:ea typeface="Arial" pitchFamily="34" charset="-122"/>
                <a:cs typeface="Arial" pitchFamily="34" charset="-120"/>
              </a:rPr>
              <a:t>Se finaliza con dos tercios a favor porque eso garantiza que menos de un tercio quedó en contra o ausente — justo el umbral de los generales bizantinos. Y revertir algo finalizado exigiría que un tercio del stake se contradijera con sus propias firmas, lo que dispara el slashing (lámina siguiente). Por eso se llama finalidad económica: no es imposible, es ruinoso.</a:t>
            </a:r>
            <a:endParaRPr lang="en-US" sz="1250" dirty="0"/>
          </a:p>
        </p:txBody>
      </p:sp>
    </p:spTree>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name="Slide 21">
    <p:bg>
      <p:bgPr>
        <a:solidFill>
          <a:srgbClr val="FFFFFF"/>
        </a:solidFill>
      </p:bgPr>
    </p:bg>
    <p:spTree>
      <p:nvGrpSpPr>
        <p:cNvPr id="1" name=""/>
        <p:cNvGrpSpPr/>
        <p:nvPr/>
      </p:nvGrpSpPr>
      <p:grpSpPr>
        <a:xfrm>
          <a:off x="0" y="0"/>
          <a:ext cx="0" cy="0"/>
          <a:chOff x="0" y="0"/>
          <a:chExt cx="0" cy="0"/>
        </a:xfrm>
      </p:grpSpPr>
      <p:pic>
        <p:nvPicPr>
          <p:cNvPr id="2" name="Image 0" descr="preencoded.png">    </p:cNvPr>
          <p:cNvPicPr>
            <a:picLocks noChangeAspect="1"/>
          </p:cNvPicPr>
          <p:nvPr/>
        </p:nvPicPr>
        <p:blipFill>
          <a:blip r:embed="rId1"/>
          <a:stretch>
            <a:fillRect/>
          </a:stretch>
        </p:blipFill>
        <p:spPr>
          <a:xfrm>
            <a:off x="566928" y="402336"/>
            <a:ext cx="274320" cy="274320"/>
          </a:xfrm>
          <a:prstGeom prst="rect">
            <a:avLst/>
          </a:prstGeom>
        </p:spPr>
      </p:pic>
      <p:sp>
        <p:nvSpPr>
          <p:cNvPr id="3" name="Text 0"/>
          <p:cNvSpPr/>
          <p:nvPr/>
        </p:nvSpPr>
        <p:spPr>
          <a:xfrm>
            <a:off x="969264" y="384048"/>
            <a:ext cx="10655503" cy="310896"/>
          </a:xfrm>
          <a:prstGeom prst="rect">
            <a:avLst/>
          </a:prstGeom>
          <a:noFill/>
          <a:ln/>
        </p:spPr>
        <p:txBody>
          <a:bodyPr wrap="square" lIns="0" tIns="0" rIns="0" bIns="0" rtlCol="0" anchor="ctr"/>
          <a:lstStyle/>
          <a:p>
            <a:pPr indent="0" marL="0">
              <a:buNone/>
            </a:pPr>
            <a:r>
              <a:rPr lang="en-US" sz="950" spc="160" kern="0" dirty="0">
                <a:solidFill>
                  <a:srgbClr val="6F6B80"/>
                </a:solidFill>
                <a:latin typeface="Courier New" pitchFamily="34" charset="0"/>
                <a:ea typeface="Courier New" pitchFamily="34" charset="-122"/>
                <a:cs typeface="Courier New" pitchFamily="34" charset="-120"/>
              </a:rPr>
              <a:t>A.12 · LO QUE HACE CREÍBLE LA GARANTÍA</a:t>
            </a:r>
            <a:endParaRPr lang="en-US" sz="950" dirty="0"/>
          </a:p>
        </p:txBody>
      </p:sp>
      <p:sp>
        <p:nvSpPr>
          <p:cNvPr id="4" name="Text 1"/>
          <p:cNvSpPr/>
          <p:nvPr/>
        </p:nvSpPr>
        <p:spPr>
          <a:xfrm>
            <a:off x="566928" y="777240"/>
            <a:ext cx="11057839" cy="777240"/>
          </a:xfrm>
          <a:prstGeom prst="rect">
            <a:avLst/>
          </a:prstGeom>
          <a:noFill/>
          <a:ln/>
        </p:spPr>
        <p:txBody>
          <a:bodyPr wrap="square" lIns="0" tIns="0" rIns="0" bIns="0" rtlCol="0" anchor="t"/>
          <a:lstStyle/>
          <a:p>
            <a:pPr indent="0" marL="0">
              <a:lnSpc>
                <a:spcPct val="92000"/>
              </a:lnSpc>
              <a:buNone/>
            </a:pPr>
            <a:r>
              <a:rPr lang="en-US" sz="2900" dirty="0">
                <a:solidFill>
                  <a:srgbClr val="0F0F11"/>
                </a:solidFill>
                <a:latin typeface="Arial Black" pitchFamily="34" charset="0"/>
                <a:ea typeface="Arial Black" pitchFamily="34" charset="-122"/>
                <a:cs typeface="Arial Black" pitchFamily="34" charset="-120"/>
              </a:rPr>
              <a:t>SLASHING: EL CASTIGO AUTOMÁTICO</a:t>
            </a:r>
            <a:endParaRPr lang="en-US" sz="2900" dirty="0"/>
          </a:p>
        </p:txBody>
      </p:sp>
      <p:sp>
        <p:nvSpPr>
          <p:cNvPr id="5" name="Text 2"/>
          <p:cNvSpPr/>
          <p:nvPr/>
        </p:nvSpPr>
        <p:spPr>
          <a:xfrm>
            <a:off x="566928" y="6291072"/>
            <a:ext cx="8412480" cy="274320"/>
          </a:xfrm>
          <a:prstGeom prst="rect">
            <a:avLst/>
          </a:prstGeom>
          <a:noFill/>
          <a:ln/>
        </p:spPr>
        <p:txBody>
          <a:bodyPr wrap="square" lIns="0" tIns="0" rIns="0" bIns="0" rtlCol="0" anchor="ctr"/>
          <a:lstStyle/>
          <a:p>
            <a:pPr indent="0" marL="0">
              <a:buNone/>
            </a:pPr>
            <a:r>
              <a:rPr lang="en-US" sz="800" spc="120" kern="0" dirty="0">
                <a:solidFill>
                  <a:srgbClr val="6F6B80"/>
                </a:solidFill>
                <a:latin typeface="Courier New" pitchFamily="34" charset="0"/>
                <a:ea typeface="Courier New" pitchFamily="34" charset="-122"/>
                <a:cs typeface="Courier New" pitchFamily="34" charset="-120"/>
              </a:rPr>
              <a:t>SESIÓN 04 · CONSENSO, INCENTIVOS Y EL TRILEMA</a:t>
            </a:r>
            <a:endParaRPr lang="en-US" sz="800" dirty="0"/>
          </a:p>
        </p:txBody>
      </p:sp>
      <p:sp>
        <p:nvSpPr>
          <p:cNvPr id="6" name="Text 3"/>
          <p:cNvSpPr/>
          <p:nvPr/>
        </p:nvSpPr>
        <p:spPr>
          <a:xfrm>
            <a:off x="9052560" y="6291072"/>
            <a:ext cx="1828800" cy="274320"/>
          </a:xfrm>
          <a:prstGeom prst="rect">
            <a:avLst/>
          </a:prstGeom>
          <a:noFill/>
          <a:ln/>
        </p:spPr>
        <p:txBody>
          <a:bodyPr wrap="square" lIns="0" tIns="0" rIns="0" bIns="0" rtlCol="0" anchor="ctr"/>
          <a:lstStyle/>
          <a:p>
            <a:pPr algn="r" indent="0" marL="0">
              <a:buNone/>
            </a:pPr>
            <a:r>
              <a:rPr lang="en-US" sz="800" spc="120" kern="0" dirty="0">
                <a:solidFill>
                  <a:srgbClr val="6F6B80"/>
                </a:solidFill>
                <a:latin typeface="Courier New" pitchFamily="34" charset="0"/>
                <a:ea typeface="Courier New" pitchFamily="34" charset="-122"/>
                <a:cs typeface="Courier New" pitchFamily="34" charset="-120"/>
              </a:rPr>
              <a:t>USB MEDELLÍN</a:t>
            </a:r>
            <a:endParaRPr lang="en-US" sz="800" dirty="0"/>
          </a:p>
        </p:txBody>
      </p:sp>
      <p:sp>
        <p:nvSpPr>
          <p:cNvPr id="7" name="Text 4"/>
          <p:cNvSpPr/>
          <p:nvPr/>
        </p:nvSpPr>
        <p:spPr>
          <a:xfrm>
            <a:off x="11018520" y="6291072"/>
            <a:ext cx="603504" cy="274320"/>
          </a:xfrm>
          <a:prstGeom prst="rect">
            <a:avLst/>
          </a:prstGeom>
          <a:noFill/>
          <a:ln/>
        </p:spPr>
        <p:txBody>
          <a:bodyPr wrap="square" lIns="0" tIns="0" rIns="0" bIns="0" rtlCol="0" anchor="ctr"/>
          <a:lstStyle/>
          <a:p>
            <a:pPr algn="r" indent="0" marL="0">
              <a:buNone/>
            </a:pPr>
            <a:r>
              <a:rPr lang="en-US" sz="900" b="1" dirty="0">
                <a:solidFill>
                  <a:srgbClr val="0F0F11"/>
                </a:solidFill>
                <a:latin typeface="Courier New" pitchFamily="34" charset="0"/>
                <a:ea typeface="Courier New" pitchFamily="34" charset="-122"/>
                <a:cs typeface="Courier New" pitchFamily="34" charset="-120"/>
              </a:rPr>
              <a:t>21</a:t>
            </a:r>
            <a:endParaRPr lang="en-US" sz="900" dirty="0"/>
          </a:p>
        </p:txBody>
      </p:sp>
      <p:sp>
        <p:nvSpPr>
          <p:cNvPr id="8" name="Text 5"/>
          <p:cNvSpPr/>
          <p:nvPr/>
        </p:nvSpPr>
        <p:spPr>
          <a:xfrm>
            <a:off x="566928" y="1737360"/>
            <a:ext cx="11057839" cy="868680"/>
          </a:xfrm>
          <a:prstGeom prst="rect">
            <a:avLst/>
          </a:prstGeom>
          <a:noFill/>
          <a:ln/>
        </p:spPr>
        <p:txBody>
          <a:bodyPr wrap="square" lIns="0" tIns="0" rIns="0" bIns="0" rtlCol="0" anchor="t"/>
          <a:lstStyle/>
          <a:p>
            <a:pPr indent="0" marL="0">
              <a:lnSpc>
                <a:spcPct val="124000"/>
              </a:lnSpc>
              <a:buNone/>
            </a:pPr>
            <a:r>
              <a:rPr lang="en-US" sz="1450" dirty="0">
                <a:solidFill>
                  <a:srgbClr val="3A3844"/>
                </a:solidFill>
                <a:latin typeface="Arial" pitchFamily="34" charset="0"/>
                <a:ea typeface="Arial" pitchFamily="34" charset="-122"/>
                <a:cs typeface="Arial" pitchFamily="34" charset="-120"/>
              </a:rPr>
              <a:t>Una garantía solo disuade si se puede ejecutar sin juez. En prueba de participación, las faltas graves se prueban con las propias firmas del validador y el protocolo quema parte de su depósito.</a:t>
            </a:r>
            <a:endParaRPr lang="en-US" sz="1450" dirty="0"/>
          </a:p>
        </p:txBody>
      </p:sp>
      <p:graphicFrame>
        <p:nvGraphicFramePr>
          <p:cNvPr id="22" name="Table 0"/>
          <p:cNvGraphicFramePr>
            <a:graphicFrameLocks noGrp="1"/>
          </p:cNvGraphicFramePr>
          <p:nvPr>
            <p:extLst>
              <p:ext uri="{D42A27DB-BD31-4B8C-83A1-F6EECF244321}">
                <p14:modId xmlns:p14="http://schemas.microsoft.com/office/powerpoint/2010/main" val="1579011935"/>
              </p:ext>
            </p:extLst>
          </p:nvPr>
        </p:nvGraphicFramePr>
        <p:xfrm>
          <a:off x="566928" y="2788920"/>
          <a:ext cx="11057839" cy="914400"/>
        </p:xfrm>
        <a:graphic>
          <a:graphicData uri="http://schemas.openxmlformats.org/drawingml/2006/table">
            <a:tbl>
              <a:tblPr/>
              <a:tblGrid>
                <a:gridCol w="2286000"/>
                <a:gridCol w="3931920"/>
                <a:gridCol w="4839919"/>
              </a:tblGrid>
              <a:tr h="310896">
                <a:tc>
                  <a:txBody>
                    <a:bodyPr/>
                    <a:lstStyle/>
                    <a:p>
                      <a:pPr indent="0" marL="0">
                        <a:buNone/>
                      </a:pPr>
                      <a:r>
                        <a:rPr lang="en-US" sz="900" b="1" spc="110" kern="0" dirty="0">
                          <a:solidFill>
                            <a:srgbClr val="FFFFFF"/>
                          </a:solidFill>
                          <a:latin typeface="Courier New" pitchFamily="34" charset="0"/>
                          <a:ea typeface="Courier New" pitchFamily="34" charset="-122"/>
                          <a:cs typeface="Courier New" pitchFamily="34" charset="-120"/>
                        </a:rPr>
                        <a:t>FALTA</a:t>
                      </a:r>
                      <a:endParaRPr lang="en-US" sz="900" dirty="0">
                        <a:latin typeface="Courier New" charset="0"/>
                        <a:ea typeface="Courier New" charset="0"/>
                        <a:cs typeface="Courier New" charset="0"/>
                      </a:endParaRPr>
                    </a:p>
                  </a:txBody>
                  <a:tcPr marL="101600" marR="101600" marT="76200" marB="76200" anchor="ctr">
                    <a:lnL w="12700" cap="flat" cmpd="sng" algn="ctr">
                      <a:solidFill>
                        <a:srgbClr val="D9D6E0"/>
                      </a:solidFill>
                      <a:prstDash val="solid"/>
                      <a:round/>
                      <a:headEnd type="none" w="med" len="med"/>
                      <a:tailEnd type="none" w="med" len="med"/>
                    </a:lnL>
                    <a:lnR w="12700" cap="flat" cmpd="sng" algn="ctr">
                      <a:solidFill>
                        <a:srgbClr val="D9D6E0"/>
                      </a:solidFill>
                      <a:prstDash val="solid"/>
                      <a:round/>
                      <a:headEnd type="none" w="med" len="med"/>
                      <a:tailEnd type="none" w="med" len="med"/>
                    </a:lnR>
                    <a:lnT w="12700" cap="flat" cmpd="sng" algn="ctr">
                      <a:solidFill>
                        <a:srgbClr val="D9D6E0"/>
                      </a:solidFill>
                      <a:prstDash val="solid"/>
                      <a:round/>
                      <a:headEnd type="none" w="med" len="med"/>
                      <a:tailEnd type="none" w="med" len="med"/>
                    </a:lnT>
                    <a:lnB w="12700" cap="flat" cmpd="sng" algn="ctr">
                      <a:solidFill>
                        <a:srgbClr val="D9D6E0"/>
                      </a:solidFill>
                      <a:prstDash val="solid"/>
                      <a:round/>
                      <a:headEnd type="none" w="med" len="med"/>
                      <a:tailEnd type="none" w="med" len="med"/>
                    </a:lnB>
                    <a:solidFill>
                      <a:srgbClr val="0F0F11"/>
                    </a:solidFill>
                  </a:tcPr>
                </a:tc>
                <a:tc>
                  <a:txBody>
                    <a:bodyPr/>
                    <a:lstStyle/>
                    <a:p>
                      <a:pPr indent="0" marL="0">
                        <a:buNone/>
                      </a:pPr>
                      <a:r>
                        <a:rPr lang="en-US" sz="900" b="1" spc="110" kern="0" dirty="0">
                          <a:solidFill>
                            <a:srgbClr val="FFFFFF"/>
                          </a:solidFill>
                          <a:latin typeface="Courier New" pitchFamily="34" charset="0"/>
                          <a:ea typeface="Courier New" pitchFamily="34" charset="-122"/>
                          <a:cs typeface="Courier New" pitchFamily="34" charset="-120"/>
                        </a:rPr>
                        <a:t>QUÉ SIGNIFICA</a:t>
                      </a:r>
                      <a:endParaRPr lang="en-US" sz="900" dirty="0">
                        <a:latin typeface="Courier New" charset="0"/>
                        <a:ea typeface="Courier New" charset="0"/>
                        <a:cs typeface="Courier New" charset="0"/>
                      </a:endParaRPr>
                    </a:p>
                  </a:txBody>
                  <a:tcPr marL="101600" marR="101600" marT="76200" marB="76200" anchor="ctr">
                    <a:lnL w="12700" cap="flat" cmpd="sng" algn="ctr">
                      <a:solidFill>
                        <a:srgbClr val="D9D6E0"/>
                      </a:solidFill>
                      <a:prstDash val="solid"/>
                      <a:round/>
                      <a:headEnd type="none" w="med" len="med"/>
                      <a:tailEnd type="none" w="med" len="med"/>
                    </a:lnL>
                    <a:lnR w="12700" cap="flat" cmpd="sng" algn="ctr">
                      <a:solidFill>
                        <a:srgbClr val="D9D6E0"/>
                      </a:solidFill>
                      <a:prstDash val="solid"/>
                      <a:round/>
                      <a:headEnd type="none" w="med" len="med"/>
                      <a:tailEnd type="none" w="med" len="med"/>
                    </a:lnR>
                    <a:lnT w="12700" cap="flat" cmpd="sng" algn="ctr">
                      <a:solidFill>
                        <a:srgbClr val="D9D6E0"/>
                      </a:solidFill>
                      <a:prstDash val="solid"/>
                      <a:round/>
                      <a:headEnd type="none" w="med" len="med"/>
                      <a:tailEnd type="none" w="med" len="med"/>
                    </a:lnT>
                    <a:lnB w="12700" cap="flat" cmpd="sng" algn="ctr">
                      <a:solidFill>
                        <a:srgbClr val="D9D6E0"/>
                      </a:solidFill>
                      <a:prstDash val="solid"/>
                      <a:round/>
                      <a:headEnd type="none" w="med" len="med"/>
                      <a:tailEnd type="none" w="med" len="med"/>
                    </a:lnB>
                    <a:solidFill>
                      <a:srgbClr val="0F0F11"/>
                    </a:solidFill>
                  </a:tcPr>
                </a:tc>
                <a:tc>
                  <a:txBody>
                    <a:bodyPr/>
                    <a:lstStyle/>
                    <a:p>
                      <a:pPr indent="0" marL="0">
                        <a:buNone/>
                      </a:pPr>
                      <a:r>
                        <a:rPr lang="en-US" sz="900" b="1" spc="110" kern="0" dirty="0">
                          <a:solidFill>
                            <a:srgbClr val="FFFFFF"/>
                          </a:solidFill>
                          <a:latin typeface="Courier New" pitchFamily="34" charset="0"/>
                          <a:ea typeface="Courier New" pitchFamily="34" charset="-122"/>
                          <a:cs typeface="Courier New" pitchFamily="34" charset="-120"/>
                        </a:rPr>
                        <a:t>CÓMO SE PRUEBA</a:t>
                      </a:r>
                      <a:endParaRPr lang="en-US" sz="900" dirty="0">
                        <a:latin typeface="Courier New" charset="0"/>
                        <a:ea typeface="Courier New" charset="0"/>
                        <a:cs typeface="Courier New" charset="0"/>
                      </a:endParaRPr>
                    </a:p>
                  </a:txBody>
                  <a:tcPr marL="101600" marR="101600" marT="76200" marB="76200" anchor="ctr">
                    <a:lnL w="12700" cap="flat" cmpd="sng" algn="ctr">
                      <a:solidFill>
                        <a:srgbClr val="D9D6E0"/>
                      </a:solidFill>
                      <a:prstDash val="solid"/>
                      <a:round/>
                      <a:headEnd type="none" w="med" len="med"/>
                      <a:tailEnd type="none" w="med" len="med"/>
                    </a:lnL>
                    <a:lnR w="12700" cap="flat" cmpd="sng" algn="ctr">
                      <a:solidFill>
                        <a:srgbClr val="D9D6E0"/>
                      </a:solidFill>
                      <a:prstDash val="solid"/>
                      <a:round/>
                      <a:headEnd type="none" w="med" len="med"/>
                      <a:tailEnd type="none" w="med" len="med"/>
                    </a:lnR>
                    <a:lnT w="12700" cap="flat" cmpd="sng" algn="ctr">
                      <a:solidFill>
                        <a:srgbClr val="D9D6E0"/>
                      </a:solidFill>
                      <a:prstDash val="solid"/>
                      <a:round/>
                      <a:headEnd type="none" w="med" len="med"/>
                      <a:tailEnd type="none" w="med" len="med"/>
                    </a:lnT>
                    <a:lnB w="12700" cap="flat" cmpd="sng" algn="ctr">
                      <a:solidFill>
                        <a:srgbClr val="D9D6E0"/>
                      </a:solidFill>
                      <a:prstDash val="solid"/>
                      <a:round/>
                      <a:headEnd type="none" w="med" len="med"/>
                      <a:tailEnd type="none" w="med" len="med"/>
                    </a:lnB>
                    <a:solidFill>
                      <a:srgbClr val="0F0F11"/>
                    </a:solidFill>
                  </a:tcPr>
                </a:tc>
              </a:tr>
              <a:tr h="582168">
                <a:tc>
                  <a:txBody>
                    <a:bodyPr/>
                    <a:lstStyle/>
                    <a:p>
                      <a:pPr indent="0" marL="0">
                        <a:buNone/>
                      </a:pPr>
                      <a:r>
                        <a:rPr lang="en-US" sz="1150" b="1" dirty="0">
                          <a:solidFill>
                            <a:srgbClr val="0F0F11"/>
                          </a:solidFill>
                          <a:latin typeface="Courier New" pitchFamily="34" charset="0"/>
                          <a:ea typeface="Courier New" pitchFamily="34" charset="-122"/>
                          <a:cs typeface="Courier New" pitchFamily="34" charset="-120"/>
                        </a:rPr>
                        <a:t>Doble propuesta</a:t>
                      </a:r>
                      <a:endParaRPr lang="en-US" sz="1150" dirty="0">
                        <a:latin typeface="Courier New" charset="0"/>
                        <a:ea typeface="Courier New" charset="0"/>
                        <a:cs typeface="Courier New" charset="0"/>
                      </a:endParaRPr>
                    </a:p>
                  </a:txBody>
                  <a:tcPr marL="101600" marR="101600" marT="76200" marB="76200" anchor="t">
                    <a:lnL w="12700" cap="flat" cmpd="sng" algn="ctr">
                      <a:solidFill>
                        <a:srgbClr val="D9D6E0"/>
                      </a:solidFill>
                      <a:prstDash val="solid"/>
                      <a:round/>
                      <a:headEnd type="none" w="med" len="med"/>
                      <a:tailEnd type="none" w="med" len="med"/>
                    </a:lnL>
                    <a:lnR w="12700" cap="flat" cmpd="sng" algn="ctr">
                      <a:solidFill>
                        <a:srgbClr val="D9D6E0"/>
                      </a:solidFill>
                      <a:prstDash val="solid"/>
                      <a:round/>
                      <a:headEnd type="none" w="med" len="med"/>
                      <a:tailEnd type="none" w="med" len="med"/>
                    </a:lnR>
                    <a:lnT w="12700" cap="flat" cmpd="sng" algn="ctr">
                      <a:solidFill>
                        <a:srgbClr val="D9D6E0"/>
                      </a:solidFill>
                      <a:prstDash val="solid"/>
                      <a:round/>
                      <a:headEnd type="none" w="med" len="med"/>
                      <a:tailEnd type="none" w="med" len="med"/>
                    </a:lnT>
                    <a:lnB w="12700" cap="flat" cmpd="sng" algn="ctr">
                      <a:solidFill>
                        <a:srgbClr val="D9D6E0"/>
                      </a:solidFill>
                      <a:prstDash val="solid"/>
                      <a:round/>
                      <a:headEnd type="none" w="med" len="med"/>
                      <a:tailEnd type="none" w="med" len="med"/>
                    </a:lnB>
                    <a:solidFill>
                      <a:srgbClr val="FFFFFF"/>
                    </a:solidFill>
                  </a:tcPr>
                </a:tc>
                <a:tc>
                  <a:txBody>
                    <a:bodyPr/>
                    <a:lstStyle/>
                    <a:p>
                      <a:pPr indent="0" marL="0">
                        <a:buNone/>
                      </a:pPr>
                      <a:r>
                        <a:rPr lang="en-US" sz="1150" dirty="0">
                          <a:solidFill>
                            <a:srgbClr val="3A3844"/>
                          </a:solidFill>
                          <a:latin typeface="Arial" pitchFamily="34" charset="0"/>
                          <a:ea typeface="Arial" pitchFamily="34" charset="-122"/>
                          <a:cs typeface="Arial" pitchFamily="34" charset="-120"/>
                        </a:rPr>
                        <a:t>Firmar dos bloques distintos para la misma ranura.</a:t>
                      </a:r>
                      <a:endParaRPr lang="en-US" sz="1150" dirty="0">
                        <a:latin typeface="Arial" charset="0"/>
                        <a:ea typeface="Arial" charset="0"/>
                        <a:cs typeface="Arial" charset="0"/>
                      </a:endParaRPr>
                    </a:p>
                  </a:txBody>
                  <a:tcPr marL="101600" marR="101600" marT="76200" marB="76200" anchor="t">
                    <a:lnL w="12700" cap="flat" cmpd="sng" algn="ctr">
                      <a:solidFill>
                        <a:srgbClr val="D9D6E0"/>
                      </a:solidFill>
                      <a:prstDash val="solid"/>
                      <a:round/>
                      <a:headEnd type="none" w="med" len="med"/>
                      <a:tailEnd type="none" w="med" len="med"/>
                    </a:lnL>
                    <a:lnR w="12700" cap="flat" cmpd="sng" algn="ctr">
                      <a:solidFill>
                        <a:srgbClr val="D9D6E0"/>
                      </a:solidFill>
                      <a:prstDash val="solid"/>
                      <a:round/>
                      <a:headEnd type="none" w="med" len="med"/>
                      <a:tailEnd type="none" w="med" len="med"/>
                    </a:lnR>
                    <a:lnT w="12700" cap="flat" cmpd="sng" algn="ctr">
                      <a:solidFill>
                        <a:srgbClr val="D9D6E0"/>
                      </a:solidFill>
                      <a:prstDash val="solid"/>
                      <a:round/>
                      <a:headEnd type="none" w="med" len="med"/>
                      <a:tailEnd type="none" w="med" len="med"/>
                    </a:lnT>
                    <a:lnB w="12700" cap="flat" cmpd="sng" algn="ctr">
                      <a:solidFill>
                        <a:srgbClr val="D9D6E0"/>
                      </a:solidFill>
                      <a:prstDash val="solid"/>
                      <a:round/>
                      <a:headEnd type="none" w="med" len="med"/>
                      <a:tailEnd type="none" w="med" len="med"/>
                    </a:lnB>
                    <a:solidFill>
                      <a:srgbClr val="FFFFFF"/>
                    </a:solidFill>
                  </a:tcPr>
                </a:tc>
                <a:tc>
                  <a:txBody>
                    <a:bodyPr/>
                    <a:lstStyle/>
                    <a:p>
                      <a:pPr indent="0" marL="0">
                        <a:buNone/>
                      </a:pPr>
                      <a:r>
                        <a:rPr lang="en-US" sz="1150" dirty="0">
                          <a:solidFill>
                            <a:srgbClr val="3A3844"/>
                          </a:solidFill>
                          <a:latin typeface="Arial" pitchFamily="34" charset="0"/>
                          <a:ea typeface="Arial" pitchFamily="34" charset="-122"/>
                          <a:cs typeface="Arial" pitchFamily="34" charset="-120"/>
                        </a:rPr>
                        <a:t>Dos firmas del mismo validador sobre la misma ranura. No hay forma inocente de producirlas.</a:t>
                      </a:r>
                      <a:endParaRPr lang="en-US" sz="1150" dirty="0">
                        <a:latin typeface="Arial" charset="0"/>
                        <a:ea typeface="Arial" charset="0"/>
                        <a:cs typeface="Arial" charset="0"/>
                      </a:endParaRPr>
                    </a:p>
                  </a:txBody>
                  <a:tcPr marL="101600" marR="101600" marT="76200" marB="76200" anchor="t">
                    <a:lnL w="12700" cap="flat" cmpd="sng" algn="ctr">
                      <a:solidFill>
                        <a:srgbClr val="D9D6E0"/>
                      </a:solidFill>
                      <a:prstDash val="solid"/>
                      <a:round/>
                      <a:headEnd type="none" w="med" len="med"/>
                      <a:tailEnd type="none" w="med" len="med"/>
                    </a:lnL>
                    <a:lnR w="12700" cap="flat" cmpd="sng" algn="ctr">
                      <a:solidFill>
                        <a:srgbClr val="D9D6E0"/>
                      </a:solidFill>
                      <a:prstDash val="solid"/>
                      <a:round/>
                      <a:headEnd type="none" w="med" len="med"/>
                      <a:tailEnd type="none" w="med" len="med"/>
                    </a:lnR>
                    <a:lnT w="12700" cap="flat" cmpd="sng" algn="ctr">
                      <a:solidFill>
                        <a:srgbClr val="D9D6E0"/>
                      </a:solidFill>
                      <a:prstDash val="solid"/>
                      <a:round/>
                      <a:headEnd type="none" w="med" len="med"/>
                      <a:tailEnd type="none" w="med" len="med"/>
                    </a:lnT>
                    <a:lnB w="12700" cap="flat" cmpd="sng" algn="ctr">
                      <a:solidFill>
                        <a:srgbClr val="D9D6E0"/>
                      </a:solidFill>
                      <a:prstDash val="solid"/>
                      <a:round/>
                      <a:headEnd type="none" w="med" len="med"/>
                      <a:tailEnd type="none" w="med" len="med"/>
                    </a:lnB>
                    <a:solidFill>
                      <a:srgbClr val="FFFFFF"/>
                    </a:solidFill>
                  </a:tcPr>
                </a:tc>
              </a:tr>
              <a:tr h="582168">
                <a:tc>
                  <a:txBody>
                    <a:bodyPr/>
                    <a:lstStyle/>
                    <a:p>
                      <a:pPr indent="0" marL="0">
                        <a:buNone/>
                      </a:pPr>
                      <a:r>
                        <a:rPr lang="en-US" sz="1150" b="1" dirty="0">
                          <a:solidFill>
                            <a:srgbClr val="0F0F11"/>
                          </a:solidFill>
                          <a:latin typeface="Courier New" pitchFamily="34" charset="0"/>
                          <a:ea typeface="Courier New" pitchFamily="34" charset="-122"/>
                          <a:cs typeface="Courier New" pitchFamily="34" charset="-120"/>
                        </a:rPr>
                        <a:t>Doble voto</a:t>
                      </a:r>
                      <a:endParaRPr lang="en-US" sz="1150" dirty="0">
                        <a:latin typeface="Courier New" charset="0"/>
                        <a:ea typeface="Courier New" charset="0"/>
                        <a:cs typeface="Courier New" charset="0"/>
                      </a:endParaRPr>
                    </a:p>
                  </a:txBody>
                  <a:tcPr marL="101600" marR="101600" marT="76200" marB="76200" anchor="t">
                    <a:lnL w="12700" cap="flat" cmpd="sng" algn="ctr">
                      <a:solidFill>
                        <a:srgbClr val="D9D6E0"/>
                      </a:solidFill>
                      <a:prstDash val="solid"/>
                      <a:round/>
                      <a:headEnd type="none" w="med" len="med"/>
                      <a:tailEnd type="none" w="med" len="med"/>
                    </a:lnL>
                    <a:lnR w="12700" cap="flat" cmpd="sng" algn="ctr">
                      <a:solidFill>
                        <a:srgbClr val="D9D6E0"/>
                      </a:solidFill>
                      <a:prstDash val="solid"/>
                      <a:round/>
                      <a:headEnd type="none" w="med" len="med"/>
                      <a:tailEnd type="none" w="med" len="med"/>
                    </a:lnR>
                    <a:lnT w="12700" cap="flat" cmpd="sng" algn="ctr">
                      <a:solidFill>
                        <a:srgbClr val="D9D6E0"/>
                      </a:solidFill>
                      <a:prstDash val="solid"/>
                      <a:round/>
                      <a:headEnd type="none" w="med" len="med"/>
                      <a:tailEnd type="none" w="med" len="med"/>
                    </a:lnT>
                    <a:lnB w="12700" cap="flat" cmpd="sng" algn="ctr">
                      <a:solidFill>
                        <a:srgbClr val="D9D6E0"/>
                      </a:solidFill>
                      <a:prstDash val="solid"/>
                      <a:round/>
                      <a:headEnd type="none" w="med" len="med"/>
                      <a:tailEnd type="none" w="med" len="med"/>
                    </a:lnB>
                    <a:solidFill>
                      <a:srgbClr val="FAF9FB"/>
                    </a:solidFill>
                  </a:tcPr>
                </a:tc>
                <a:tc>
                  <a:txBody>
                    <a:bodyPr/>
                    <a:lstStyle/>
                    <a:p>
                      <a:pPr indent="0" marL="0">
                        <a:buNone/>
                      </a:pPr>
                      <a:r>
                        <a:rPr lang="en-US" sz="1150" dirty="0">
                          <a:solidFill>
                            <a:srgbClr val="3A3844"/>
                          </a:solidFill>
                          <a:latin typeface="Arial" pitchFamily="34" charset="0"/>
                          <a:ea typeface="Arial" pitchFamily="34" charset="-122"/>
                          <a:cs typeface="Arial" pitchFamily="34" charset="-120"/>
                        </a:rPr>
                        <a:t>Votar dos puntos de control distintos para la misma época.</a:t>
                      </a:r>
                      <a:endParaRPr lang="en-US" sz="1150" dirty="0">
                        <a:latin typeface="Arial" charset="0"/>
                        <a:ea typeface="Arial" charset="0"/>
                        <a:cs typeface="Arial" charset="0"/>
                      </a:endParaRPr>
                    </a:p>
                  </a:txBody>
                  <a:tcPr marL="101600" marR="101600" marT="76200" marB="76200" anchor="t">
                    <a:lnL w="12700" cap="flat" cmpd="sng" algn="ctr">
                      <a:solidFill>
                        <a:srgbClr val="D9D6E0"/>
                      </a:solidFill>
                      <a:prstDash val="solid"/>
                      <a:round/>
                      <a:headEnd type="none" w="med" len="med"/>
                      <a:tailEnd type="none" w="med" len="med"/>
                    </a:lnL>
                    <a:lnR w="12700" cap="flat" cmpd="sng" algn="ctr">
                      <a:solidFill>
                        <a:srgbClr val="D9D6E0"/>
                      </a:solidFill>
                      <a:prstDash val="solid"/>
                      <a:round/>
                      <a:headEnd type="none" w="med" len="med"/>
                      <a:tailEnd type="none" w="med" len="med"/>
                    </a:lnR>
                    <a:lnT w="12700" cap="flat" cmpd="sng" algn="ctr">
                      <a:solidFill>
                        <a:srgbClr val="D9D6E0"/>
                      </a:solidFill>
                      <a:prstDash val="solid"/>
                      <a:round/>
                      <a:headEnd type="none" w="med" len="med"/>
                      <a:tailEnd type="none" w="med" len="med"/>
                    </a:lnT>
                    <a:lnB w="12700" cap="flat" cmpd="sng" algn="ctr">
                      <a:solidFill>
                        <a:srgbClr val="D9D6E0"/>
                      </a:solidFill>
                      <a:prstDash val="solid"/>
                      <a:round/>
                      <a:headEnd type="none" w="med" len="med"/>
                      <a:tailEnd type="none" w="med" len="med"/>
                    </a:lnB>
                    <a:solidFill>
                      <a:srgbClr val="FAF9FB"/>
                    </a:solidFill>
                  </a:tcPr>
                </a:tc>
                <a:tc>
                  <a:txBody>
                    <a:bodyPr/>
                    <a:lstStyle/>
                    <a:p>
                      <a:pPr indent="0" marL="0">
                        <a:buNone/>
                      </a:pPr>
                      <a:r>
                        <a:rPr lang="en-US" sz="1150" dirty="0">
                          <a:solidFill>
                            <a:srgbClr val="3A3844"/>
                          </a:solidFill>
                          <a:latin typeface="Arial" pitchFamily="34" charset="0"/>
                          <a:ea typeface="Arial" pitchFamily="34" charset="-122"/>
                          <a:cs typeface="Arial" pitchFamily="34" charset="-120"/>
                        </a:rPr>
                        <a:t>Dos atestaciones firmadas incompatibles.</a:t>
                      </a:r>
                      <a:endParaRPr lang="en-US" sz="1150" dirty="0">
                        <a:latin typeface="Arial" charset="0"/>
                        <a:ea typeface="Arial" charset="0"/>
                        <a:cs typeface="Arial" charset="0"/>
                      </a:endParaRPr>
                    </a:p>
                  </a:txBody>
                  <a:tcPr marL="101600" marR="101600" marT="76200" marB="76200" anchor="t">
                    <a:lnL w="12700" cap="flat" cmpd="sng" algn="ctr">
                      <a:solidFill>
                        <a:srgbClr val="D9D6E0"/>
                      </a:solidFill>
                      <a:prstDash val="solid"/>
                      <a:round/>
                      <a:headEnd type="none" w="med" len="med"/>
                      <a:tailEnd type="none" w="med" len="med"/>
                    </a:lnL>
                    <a:lnR w="12700" cap="flat" cmpd="sng" algn="ctr">
                      <a:solidFill>
                        <a:srgbClr val="D9D6E0"/>
                      </a:solidFill>
                      <a:prstDash val="solid"/>
                      <a:round/>
                      <a:headEnd type="none" w="med" len="med"/>
                      <a:tailEnd type="none" w="med" len="med"/>
                    </a:lnR>
                    <a:lnT w="12700" cap="flat" cmpd="sng" algn="ctr">
                      <a:solidFill>
                        <a:srgbClr val="D9D6E0"/>
                      </a:solidFill>
                      <a:prstDash val="solid"/>
                      <a:round/>
                      <a:headEnd type="none" w="med" len="med"/>
                      <a:tailEnd type="none" w="med" len="med"/>
                    </a:lnT>
                    <a:lnB w="12700" cap="flat" cmpd="sng" algn="ctr">
                      <a:solidFill>
                        <a:srgbClr val="D9D6E0"/>
                      </a:solidFill>
                      <a:prstDash val="solid"/>
                      <a:round/>
                      <a:headEnd type="none" w="med" len="med"/>
                      <a:tailEnd type="none" w="med" len="med"/>
                    </a:lnB>
                    <a:solidFill>
                      <a:srgbClr val="FAF9FB"/>
                    </a:solidFill>
                  </a:tcPr>
                </a:tc>
              </a:tr>
              <a:tr h="582168">
                <a:tc>
                  <a:txBody>
                    <a:bodyPr/>
                    <a:lstStyle/>
                    <a:p>
                      <a:pPr indent="0" marL="0">
                        <a:buNone/>
                      </a:pPr>
                      <a:r>
                        <a:rPr lang="en-US" sz="1150" b="1" dirty="0">
                          <a:solidFill>
                            <a:srgbClr val="0F0F11"/>
                          </a:solidFill>
                          <a:latin typeface="Courier New" pitchFamily="34" charset="0"/>
                          <a:ea typeface="Courier New" pitchFamily="34" charset="-122"/>
                          <a:cs typeface="Courier New" pitchFamily="34" charset="-120"/>
                        </a:rPr>
                        <a:t>Voto envolvente</a:t>
                      </a:r>
                      <a:endParaRPr lang="en-US" sz="1150" dirty="0">
                        <a:latin typeface="Courier New" charset="0"/>
                        <a:ea typeface="Courier New" charset="0"/>
                        <a:cs typeface="Courier New" charset="0"/>
                      </a:endParaRPr>
                    </a:p>
                  </a:txBody>
                  <a:tcPr marL="101600" marR="101600" marT="76200" marB="76200" anchor="t">
                    <a:lnL w="12700" cap="flat" cmpd="sng" algn="ctr">
                      <a:solidFill>
                        <a:srgbClr val="D9D6E0"/>
                      </a:solidFill>
                      <a:prstDash val="solid"/>
                      <a:round/>
                      <a:headEnd type="none" w="med" len="med"/>
                      <a:tailEnd type="none" w="med" len="med"/>
                    </a:lnL>
                    <a:lnR w="12700" cap="flat" cmpd="sng" algn="ctr">
                      <a:solidFill>
                        <a:srgbClr val="D9D6E0"/>
                      </a:solidFill>
                      <a:prstDash val="solid"/>
                      <a:round/>
                      <a:headEnd type="none" w="med" len="med"/>
                      <a:tailEnd type="none" w="med" len="med"/>
                    </a:lnR>
                    <a:lnT w="12700" cap="flat" cmpd="sng" algn="ctr">
                      <a:solidFill>
                        <a:srgbClr val="D9D6E0"/>
                      </a:solidFill>
                      <a:prstDash val="solid"/>
                      <a:round/>
                      <a:headEnd type="none" w="med" len="med"/>
                      <a:tailEnd type="none" w="med" len="med"/>
                    </a:lnT>
                    <a:lnB w="12700" cap="flat" cmpd="sng" algn="ctr">
                      <a:solidFill>
                        <a:srgbClr val="D9D6E0"/>
                      </a:solidFill>
                      <a:prstDash val="solid"/>
                      <a:round/>
                      <a:headEnd type="none" w="med" len="med"/>
                      <a:tailEnd type="none" w="med" len="med"/>
                    </a:lnB>
                    <a:solidFill>
                      <a:srgbClr val="FFFFFF"/>
                    </a:solidFill>
                  </a:tcPr>
                </a:tc>
                <a:tc>
                  <a:txBody>
                    <a:bodyPr/>
                    <a:lstStyle/>
                    <a:p>
                      <a:pPr indent="0" marL="0">
                        <a:buNone/>
                      </a:pPr>
                      <a:r>
                        <a:rPr lang="en-US" sz="1150" dirty="0">
                          <a:solidFill>
                            <a:srgbClr val="3A3844"/>
                          </a:solidFill>
                          <a:latin typeface="Arial" pitchFamily="34" charset="0"/>
                          <a:ea typeface="Arial" pitchFamily="34" charset="-122"/>
                          <a:cs typeface="Arial" pitchFamily="34" charset="-120"/>
                        </a:rPr>
                        <a:t>Emitir un voto que «rodea» a otro anterior, contradiciéndolo.</a:t>
                      </a:r>
                      <a:endParaRPr lang="en-US" sz="1150" dirty="0">
                        <a:latin typeface="Arial" charset="0"/>
                        <a:ea typeface="Arial" charset="0"/>
                        <a:cs typeface="Arial" charset="0"/>
                      </a:endParaRPr>
                    </a:p>
                  </a:txBody>
                  <a:tcPr marL="101600" marR="101600" marT="76200" marB="76200" anchor="t">
                    <a:lnL w="12700" cap="flat" cmpd="sng" algn="ctr">
                      <a:solidFill>
                        <a:srgbClr val="D9D6E0"/>
                      </a:solidFill>
                      <a:prstDash val="solid"/>
                      <a:round/>
                      <a:headEnd type="none" w="med" len="med"/>
                      <a:tailEnd type="none" w="med" len="med"/>
                    </a:lnL>
                    <a:lnR w="12700" cap="flat" cmpd="sng" algn="ctr">
                      <a:solidFill>
                        <a:srgbClr val="D9D6E0"/>
                      </a:solidFill>
                      <a:prstDash val="solid"/>
                      <a:round/>
                      <a:headEnd type="none" w="med" len="med"/>
                      <a:tailEnd type="none" w="med" len="med"/>
                    </a:lnR>
                    <a:lnT w="12700" cap="flat" cmpd="sng" algn="ctr">
                      <a:solidFill>
                        <a:srgbClr val="D9D6E0"/>
                      </a:solidFill>
                      <a:prstDash val="solid"/>
                      <a:round/>
                      <a:headEnd type="none" w="med" len="med"/>
                      <a:tailEnd type="none" w="med" len="med"/>
                    </a:lnT>
                    <a:lnB w="12700" cap="flat" cmpd="sng" algn="ctr">
                      <a:solidFill>
                        <a:srgbClr val="D9D6E0"/>
                      </a:solidFill>
                      <a:prstDash val="solid"/>
                      <a:round/>
                      <a:headEnd type="none" w="med" len="med"/>
                      <a:tailEnd type="none" w="med" len="med"/>
                    </a:lnB>
                    <a:solidFill>
                      <a:srgbClr val="FFFFFF"/>
                    </a:solidFill>
                  </a:tcPr>
                </a:tc>
                <a:tc>
                  <a:txBody>
                    <a:bodyPr/>
                    <a:lstStyle/>
                    <a:p>
                      <a:pPr indent="0" marL="0">
                        <a:buNone/>
                      </a:pPr>
                      <a:r>
                        <a:rPr lang="en-US" sz="1150" dirty="0">
                          <a:solidFill>
                            <a:srgbClr val="3A3844"/>
                          </a:solidFill>
                          <a:latin typeface="Arial" pitchFamily="34" charset="0"/>
                          <a:ea typeface="Arial" pitchFamily="34" charset="-122"/>
                          <a:cs typeface="Arial" pitchFamily="34" charset="-120"/>
                        </a:rPr>
                        <a:t>Comparación de las dos atestaciones firmadas.</a:t>
                      </a:r>
                      <a:endParaRPr lang="en-US" sz="1150" dirty="0">
                        <a:latin typeface="Arial" charset="0"/>
                        <a:ea typeface="Arial" charset="0"/>
                        <a:cs typeface="Arial" charset="0"/>
                      </a:endParaRPr>
                    </a:p>
                  </a:txBody>
                  <a:tcPr marL="101600" marR="101600" marT="76200" marB="76200" anchor="t">
                    <a:lnL w="12700" cap="flat" cmpd="sng" algn="ctr">
                      <a:solidFill>
                        <a:srgbClr val="D9D6E0"/>
                      </a:solidFill>
                      <a:prstDash val="solid"/>
                      <a:round/>
                      <a:headEnd type="none" w="med" len="med"/>
                      <a:tailEnd type="none" w="med" len="med"/>
                    </a:lnL>
                    <a:lnR w="12700" cap="flat" cmpd="sng" algn="ctr">
                      <a:solidFill>
                        <a:srgbClr val="D9D6E0"/>
                      </a:solidFill>
                      <a:prstDash val="solid"/>
                      <a:round/>
                      <a:headEnd type="none" w="med" len="med"/>
                      <a:tailEnd type="none" w="med" len="med"/>
                    </a:lnR>
                    <a:lnT w="12700" cap="flat" cmpd="sng" algn="ctr">
                      <a:solidFill>
                        <a:srgbClr val="D9D6E0"/>
                      </a:solidFill>
                      <a:prstDash val="solid"/>
                      <a:round/>
                      <a:headEnd type="none" w="med" len="med"/>
                      <a:tailEnd type="none" w="med" len="med"/>
                    </a:lnT>
                    <a:lnB w="12700" cap="flat" cmpd="sng" algn="ctr">
                      <a:solidFill>
                        <a:srgbClr val="D9D6E0"/>
                      </a:solidFill>
                      <a:prstDash val="solid"/>
                      <a:round/>
                      <a:headEnd type="none" w="med" len="med"/>
                      <a:tailEnd type="none" w="med" len="med"/>
                    </a:lnB>
                    <a:solidFill>
                      <a:srgbClr val="FFFFFF"/>
                    </a:solidFill>
                  </a:tcPr>
                </a:tc>
              </a:tr>
            </a:tbl>
          </a:graphicData>
        </a:graphic>
      </p:graphicFrame>
      <p:sp>
        <p:nvSpPr>
          <p:cNvPr id="10" name="Shape 6"/>
          <p:cNvSpPr/>
          <p:nvPr/>
        </p:nvSpPr>
        <p:spPr>
          <a:xfrm>
            <a:off x="548640" y="2770632"/>
            <a:ext cx="11094415" cy="2093976"/>
          </a:xfrm>
          <a:prstGeom prst="rect">
            <a:avLst/>
          </a:prstGeom>
          <a:ln w="22225">
            <a:solidFill>
              <a:srgbClr val="0F0F11"/>
            </a:solidFill>
            <a:prstDash val="solid"/>
          </a:ln>
        </p:spPr>
      </p:sp>
      <p:sp>
        <p:nvSpPr>
          <p:cNvPr id="11" name="Shape 7"/>
          <p:cNvSpPr/>
          <p:nvPr/>
        </p:nvSpPr>
        <p:spPr>
          <a:xfrm>
            <a:off x="566928" y="5029200"/>
            <a:ext cx="11057839" cy="1115568"/>
          </a:xfrm>
          <a:prstGeom prst="rect">
            <a:avLst/>
          </a:prstGeom>
          <a:solidFill>
            <a:srgbClr val="FFFFFF"/>
          </a:solidFill>
          <a:ln w="22225">
            <a:solidFill>
              <a:srgbClr val="F07F06"/>
            </a:solidFill>
            <a:prstDash val="solid"/>
          </a:ln>
          <a:effectLst>
            <a:outerShdw sx="100000" sy="100000" kx="0" ky="0" algn="bl" rotWithShape="0" blurRad="101600" dist="63500" dir="2700000">
              <a:srgbClr val="F07F06">
                <a:alpha val="100000"/>
              </a:srgbClr>
            </a:outerShdw>
          </a:effectLst>
        </p:spPr>
      </p:sp>
      <p:pic>
        <p:nvPicPr>
          <p:cNvPr id="12" name="Image 1" descr="preencoded.png">    </p:cNvPr>
          <p:cNvPicPr>
            <a:picLocks noChangeAspect="1"/>
          </p:cNvPicPr>
          <p:nvPr/>
        </p:nvPicPr>
        <p:blipFill>
          <a:blip r:embed="rId2"/>
          <a:stretch>
            <a:fillRect/>
          </a:stretch>
        </p:blipFill>
        <p:spPr>
          <a:xfrm>
            <a:off x="804672" y="5248656"/>
            <a:ext cx="237744" cy="237744"/>
          </a:xfrm>
          <a:prstGeom prst="rect">
            <a:avLst/>
          </a:prstGeom>
        </p:spPr>
      </p:pic>
      <p:sp>
        <p:nvSpPr>
          <p:cNvPr id="13" name="Text 8"/>
          <p:cNvSpPr/>
          <p:nvPr/>
        </p:nvSpPr>
        <p:spPr>
          <a:xfrm>
            <a:off x="1133856" y="5221224"/>
            <a:ext cx="10234879" cy="292608"/>
          </a:xfrm>
          <a:prstGeom prst="rect">
            <a:avLst/>
          </a:prstGeom>
          <a:noFill/>
          <a:ln/>
        </p:spPr>
        <p:txBody>
          <a:bodyPr wrap="square" lIns="0" tIns="0" rIns="0" bIns="0" rtlCol="0" anchor="ctr"/>
          <a:lstStyle/>
          <a:p>
            <a:pPr indent="0" marL="0">
              <a:buNone/>
            </a:pPr>
            <a:r>
              <a:rPr lang="en-US" sz="950" b="1" spc="150" kern="0" dirty="0">
                <a:solidFill>
                  <a:srgbClr val="A35604"/>
                </a:solidFill>
                <a:latin typeface="Courier New" pitchFamily="34" charset="0"/>
                <a:ea typeface="Courier New" pitchFamily="34" charset="-122"/>
                <a:cs typeface="Courier New" pitchFamily="34" charset="-120"/>
              </a:rPr>
              <a:t>Y SI SIMPLEMENTE SE APAGA</a:t>
            </a:r>
            <a:endParaRPr lang="en-US" sz="950" dirty="0"/>
          </a:p>
        </p:txBody>
      </p:sp>
      <p:sp>
        <p:nvSpPr>
          <p:cNvPr id="14" name="Text 9"/>
          <p:cNvSpPr/>
          <p:nvPr/>
        </p:nvSpPr>
        <p:spPr>
          <a:xfrm>
            <a:off x="804672" y="5541264"/>
            <a:ext cx="10582351" cy="512064"/>
          </a:xfrm>
          <a:prstGeom prst="rect">
            <a:avLst/>
          </a:prstGeom>
          <a:noFill/>
          <a:ln/>
        </p:spPr>
        <p:txBody>
          <a:bodyPr wrap="square" lIns="0" tIns="0" rIns="0" bIns="0" rtlCol="0" anchor="t"/>
          <a:lstStyle/>
          <a:p>
            <a:pPr indent="0" marL="0">
              <a:lnSpc>
                <a:spcPct val="124000"/>
              </a:lnSpc>
              <a:buNone/>
            </a:pPr>
            <a:r>
              <a:rPr lang="en-US" sz="1250" dirty="0">
                <a:solidFill>
                  <a:srgbClr val="3A3844"/>
                </a:solidFill>
                <a:latin typeface="Arial" pitchFamily="34" charset="0"/>
                <a:ea typeface="Arial" pitchFamily="34" charset="-122"/>
                <a:cs typeface="Arial" pitchFamily="34" charset="-120"/>
              </a:rPr>
              <a:t>Estar desconectado no se castiga con slashing, sino con pequeñas pérdidas por inactividad. El castigo severo se reserva para lo que solo puede ser malicia o un error grave de operación.</a:t>
            </a:r>
            <a:endParaRPr lang="en-US" sz="1250" dirty="0"/>
          </a:p>
        </p:txBody>
      </p:sp>
    </p:spTree>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name="Slide 22">
    <p:bg>
      <p:bgPr>
        <a:solidFill>
          <a:srgbClr val="FFFFFF"/>
        </a:solidFill>
      </p:bgPr>
    </p:bg>
    <p:spTree>
      <p:nvGrpSpPr>
        <p:cNvPr id="1" name=""/>
        <p:cNvGrpSpPr/>
        <p:nvPr/>
      </p:nvGrpSpPr>
      <p:grpSpPr>
        <a:xfrm>
          <a:off x="0" y="0"/>
          <a:ext cx="0" cy="0"/>
          <a:chOff x="0" y="0"/>
          <a:chExt cx="0" cy="0"/>
        </a:xfrm>
      </p:grpSpPr>
      <p:pic>
        <p:nvPicPr>
          <p:cNvPr id="2" name="Image 0" descr="preencoded.png">    </p:cNvPr>
          <p:cNvPicPr>
            <a:picLocks noChangeAspect="1"/>
          </p:cNvPicPr>
          <p:nvPr/>
        </p:nvPicPr>
        <p:blipFill>
          <a:blip r:embed="rId1"/>
          <a:stretch>
            <a:fillRect/>
          </a:stretch>
        </p:blipFill>
        <p:spPr>
          <a:xfrm>
            <a:off x="566928" y="402336"/>
            <a:ext cx="274320" cy="274320"/>
          </a:xfrm>
          <a:prstGeom prst="rect">
            <a:avLst/>
          </a:prstGeom>
        </p:spPr>
      </p:pic>
      <p:sp>
        <p:nvSpPr>
          <p:cNvPr id="3" name="Text 0"/>
          <p:cNvSpPr/>
          <p:nvPr/>
        </p:nvSpPr>
        <p:spPr>
          <a:xfrm>
            <a:off x="969264" y="384048"/>
            <a:ext cx="10655503" cy="310896"/>
          </a:xfrm>
          <a:prstGeom prst="rect">
            <a:avLst/>
          </a:prstGeom>
          <a:noFill/>
          <a:ln/>
        </p:spPr>
        <p:txBody>
          <a:bodyPr wrap="square" lIns="0" tIns="0" rIns="0" bIns="0" rtlCol="0" anchor="ctr"/>
          <a:lstStyle/>
          <a:p>
            <a:pPr indent="0" marL="0">
              <a:buNone/>
            </a:pPr>
            <a:r>
              <a:rPr lang="en-US" sz="950" spc="160" kern="0" dirty="0">
                <a:solidFill>
                  <a:srgbClr val="6F6B80"/>
                </a:solidFill>
                <a:latin typeface="Courier New" pitchFamily="34" charset="0"/>
                <a:ea typeface="Courier New" pitchFamily="34" charset="-122"/>
                <a:cs typeface="Courier New" pitchFamily="34" charset="-120"/>
              </a:rPr>
              <a:t>A.13 · EL RIESGO QUE NO ESTÁ EN EL CÓDIGO</a:t>
            </a:r>
            <a:endParaRPr lang="en-US" sz="950" dirty="0"/>
          </a:p>
        </p:txBody>
      </p:sp>
      <p:sp>
        <p:nvSpPr>
          <p:cNvPr id="4" name="Text 1"/>
          <p:cNvSpPr/>
          <p:nvPr/>
        </p:nvSpPr>
        <p:spPr>
          <a:xfrm>
            <a:off x="566928" y="777240"/>
            <a:ext cx="11057839" cy="777240"/>
          </a:xfrm>
          <a:prstGeom prst="rect">
            <a:avLst/>
          </a:prstGeom>
          <a:noFill/>
          <a:ln/>
        </p:spPr>
        <p:txBody>
          <a:bodyPr wrap="square" lIns="0" tIns="0" rIns="0" bIns="0" rtlCol="0" anchor="t"/>
          <a:lstStyle/>
          <a:p>
            <a:pPr indent="0" marL="0">
              <a:lnSpc>
                <a:spcPct val="92000"/>
              </a:lnSpc>
              <a:buNone/>
            </a:pPr>
            <a:r>
              <a:rPr lang="en-US" sz="2500" dirty="0">
                <a:solidFill>
                  <a:srgbClr val="0F0F11"/>
                </a:solidFill>
                <a:latin typeface="Arial Black" pitchFamily="34" charset="0"/>
                <a:ea typeface="Arial Black" pitchFamily="34" charset="-122"/>
                <a:cs typeface="Arial Black" pitchFamily="34" charset="-120"/>
              </a:rPr>
              <a:t>LA CENTRALIZACIÓN QUE VUELVE POR LA PUERTA DE ATRÁS</a:t>
            </a:r>
            <a:endParaRPr lang="en-US" sz="2500" dirty="0"/>
          </a:p>
        </p:txBody>
      </p:sp>
      <p:sp>
        <p:nvSpPr>
          <p:cNvPr id="5" name="Text 2"/>
          <p:cNvSpPr/>
          <p:nvPr/>
        </p:nvSpPr>
        <p:spPr>
          <a:xfrm>
            <a:off x="566928" y="6291072"/>
            <a:ext cx="8412480" cy="274320"/>
          </a:xfrm>
          <a:prstGeom prst="rect">
            <a:avLst/>
          </a:prstGeom>
          <a:noFill/>
          <a:ln/>
        </p:spPr>
        <p:txBody>
          <a:bodyPr wrap="square" lIns="0" tIns="0" rIns="0" bIns="0" rtlCol="0" anchor="ctr"/>
          <a:lstStyle/>
          <a:p>
            <a:pPr indent="0" marL="0">
              <a:buNone/>
            </a:pPr>
            <a:r>
              <a:rPr lang="en-US" sz="800" spc="120" kern="0" dirty="0">
                <a:solidFill>
                  <a:srgbClr val="6F6B80"/>
                </a:solidFill>
                <a:latin typeface="Courier New" pitchFamily="34" charset="0"/>
                <a:ea typeface="Courier New" pitchFamily="34" charset="-122"/>
                <a:cs typeface="Courier New" pitchFamily="34" charset="-120"/>
              </a:rPr>
              <a:t>SESIÓN 04 · CONSENSO, INCENTIVOS Y EL TRILEMA</a:t>
            </a:r>
            <a:endParaRPr lang="en-US" sz="800" dirty="0"/>
          </a:p>
        </p:txBody>
      </p:sp>
      <p:sp>
        <p:nvSpPr>
          <p:cNvPr id="6" name="Text 3"/>
          <p:cNvSpPr/>
          <p:nvPr/>
        </p:nvSpPr>
        <p:spPr>
          <a:xfrm>
            <a:off x="9052560" y="6291072"/>
            <a:ext cx="1828800" cy="274320"/>
          </a:xfrm>
          <a:prstGeom prst="rect">
            <a:avLst/>
          </a:prstGeom>
          <a:noFill/>
          <a:ln/>
        </p:spPr>
        <p:txBody>
          <a:bodyPr wrap="square" lIns="0" tIns="0" rIns="0" bIns="0" rtlCol="0" anchor="ctr"/>
          <a:lstStyle/>
          <a:p>
            <a:pPr algn="r" indent="0" marL="0">
              <a:buNone/>
            </a:pPr>
            <a:r>
              <a:rPr lang="en-US" sz="800" spc="120" kern="0" dirty="0">
                <a:solidFill>
                  <a:srgbClr val="6F6B80"/>
                </a:solidFill>
                <a:latin typeface="Courier New" pitchFamily="34" charset="0"/>
                <a:ea typeface="Courier New" pitchFamily="34" charset="-122"/>
                <a:cs typeface="Courier New" pitchFamily="34" charset="-120"/>
              </a:rPr>
              <a:t>USB MEDELLÍN</a:t>
            </a:r>
            <a:endParaRPr lang="en-US" sz="800" dirty="0"/>
          </a:p>
        </p:txBody>
      </p:sp>
      <p:sp>
        <p:nvSpPr>
          <p:cNvPr id="7" name="Text 4"/>
          <p:cNvSpPr/>
          <p:nvPr/>
        </p:nvSpPr>
        <p:spPr>
          <a:xfrm>
            <a:off x="11018520" y="6291072"/>
            <a:ext cx="603504" cy="274320"/>
          </a:xfrm>
          <a:prstGeom prst="rect">
            <a:avLst/>
          </a:prstGeom>
          <a:noFill/>
          <a:ln/>
        </p:spPr>
        <p:txBody>
          <a:bodyPr wrap="square" lIns="0" tIns="0" rIns="0" bIns="0" rtlCol="0" anchor="ctr"/>
          <a:lstStyle/>
          <a:p>
            <a:pPr algn="r" indent="0" marL="0">
              <a:buNone/>
            </a:pPr>
            <a:r>
              <a:rPr lang="en-US" sz="900" b="1" dirty="0">
                <a:solidFill>
                  <a:srgbClr val="0F0F11"/>
                </a:solidFill>
                <a:latin typeface="Courier New" pitchFamily="34" charset="0"/>
                <a:ea typeface="Courier New" pitchFamily="34" charset="-122"/>
                <a:cs typeface="Courier New" pitchFamily="34" charset="-120"/>
              </a:rPr>
              <a:t>22</a:t>
            </a:r>
            <a:endParaRPr lang="en-US" sz="900" dirty="0"/>
          </a:p>
        </p:txBody>
      </p:sp>
      <p:sp>
        <p:nvSpPr>
          <p:cNvPr id="8" name="Text 5"/>
          <p:cNvSpPr/>
          <p:nvPr/>
        </p:nvSpPr>
        <p:spPr>
          <a:xfrm>
            <a:off x="566928" y="1737360"/>
            <a:ext cx="11057839" cy="868680"/>
          </a:xfrm>
          <a:prstGeom prst="rect">
            <a:avLst/>
          </a:prstGeom>
          <a:noFill/>
          <a:ln/>
        </p:spPr>
        <p:txBody>
          <a:bodyPr wrap="square" lIns="0" tIns="0" rIns="0" bIns="0" rtlCol="0" anchor="t"/>
          <a:lstStyle/>
          <a:p>
            <a:pPr indent="0" marL="0">
              <a:lnSpc>
                <a:spcPct val="124000"/>
              </a:lnSpc>
              <a:buNone/>
            </a:pPr>
            <a:r>
              <a:rPr lang="en-US" sz="1450" dirty="0">
                <a:solidFill>
                  <a:srgbClr val="3A3844"/>
                </a:solidFill>
                <a:latin typeface="Arial" pitchFamily="34" charset="0"/>
                <a:ea typeface="Arial" pitchFamily="34" charset="-122"/>
                <a:cs typeface="Arial" pitchFamily="34" charset="-120"/>
              </a:rPr>
              <a:t>32 ETH es mucho dinero, y operar un validador exige conocimiento. La mayoría de tenedores delega en servicios que operan validadores por ellos. El protocolo es descentralizado; el uso real puede no serlo.</a:t>
            </a:r>
            <a:endParaRPr lang="en-US" sz="1450" dirty="0"/>
          </a:p>
        </p:txBody>
      </p:sp>
      <p:sp>
        <p:nvSpPr>
          <p:cNvPr id="9" name="Shape 6"/>
          <p:cNvSpPr/>
          <p:nvPr/>
        </p:nvSpPr>
        <p:spPr>
          <a:xfrm>
            <a:off x="566928" y="2788920"/>
            <a:ext cx="5391760" cy="1965960"/>
          </a:xfrm>
          <a:prstGeom prst="rect">
            <a:avLst/>
          </a:prstGeom>
          <a:solidFill>
            <a:srgbClr val="FFFFFF"/>
          </a:solidFill>
          <a:ln w="22225">
            <a:solidFill>
              <a:srgbClr val="F07F06"/>
            </a:solidFill>
            <a:prstDash val="solid"/>
          </a:ln>
          <a:effectLst>
            <a:outerShdw sx="100000" sy="100000" kx="0" ky="0" algn="bl" rotWithShape="0" blurRad="101600" dist="63500" dir="2700000">
              <a:srgbClr val="F07F06">
                <a:alpha val="100000"/>
              </a:srgbClr>
            </a:outerShdw>
          </a:effectLst>
        </p:spPr>
      </p:sp>
      <p:sp>
        <p:nvSpPr>
          <p:cNvPr id="10" name="Text 7"/>
          <p:cNvSpPr/>
          <p:nvPr/>
        </p:nvSpPr>
        <p:spPr>
          <a:xfrm>
            <a:off x="841248" y="2971800"/>
            <a:ext cx="4843120" cy="292608"/>
          </a:xfrm>
          <a:prstGeom prst="rect">
            <a:avLst/>
          </a:prstGeom>
          <a:noFill/>
          <a:ln/>
        </p:spPr>
        <p:txBody>
          <a:bodyPr wrap="square" lIns="0" tIns="0" rIns="0" bIns="0" rtlCol="0" anchor="ctr"/>
          <a:lstStyle/>
          <a:p>
            <a:pPr indent="0" marL="0">
              <a:buNone/>
            </a:pPr>
            <a:r>
              <a:rPr lang="en-US" sz="1050" b="1" spc="130" kern="0" dirty="0">
                <a:solidFill>
                  <a:srgbClr val="A35604"/>
                </a:solidFill>
                <a:latin typeface="Courier New" pitchFamily="34" charset="0"/>
                <a:ea typeface="Courier New" pitchFamily="34" charset="-122"/>
                <a:cs typeface="Courier New" pitchFamily="34" charset="-120"/>
              </a:rPr>
              <a:t>STAKING LÍQUIDO</a:t>
            </a:r>
            <a:endParaRPr lang="en-US" sz="1050" dirty="0"/>
          </a:p>
        </p:txBody>
      </p:sp>
      <p:sp>
        <p:nvSpPr>
          <p:cNvPr id="11" name="Text 8"/>
          <p:cNvSpPr/>
          <p:nvPr/>
        </p:nvSpPr>
        <p:spPr>
          <a:xfrm>
            <a:off x="841248" y="3355848"/>
            <a:ext cx="4843120" cy="1234440"/>
          </a:xfrm>
          <a:prstGeom prst="rect">
            <a:avLst/>
          </a:prstGeom>
          <a:noFill/>
          <a:ln/>
        </p:spPr>
        <p:txBody>
          <a:bodyPr wrap="square" lIns="0" tIns="0" rIns="0" bIns="0" rtlCol="0" anchor="t"/>
          <a:lstStyle/>
          <a:p>
            <a:pPr indent="0" marL="0">
              <a:lnSpc>
                <a:spcPct val="124000"/>
              </a:lnSpc>
              <a:buNone/>
            </a:pPr>
            <a:r>
              <a:rPr lang="en-US" sz="1300" dirty="0">
                <a:solidFill>
                  <a:srgbClr val="3A3844"/>
                </a:solidFill>
                <a:latin typeface="Arial" pitchFamily="34" charset="0"/>
                <a:ea typeface="Arial" pitchFamily="34" charset="-122"/>
                <a:cs typeface="Arial" pitchFamily="34" charset="-120"/>
              </a:rPr>
              <a:t>Protocolos que reciben ETH de muchos usuarios, operan los validadores y entregan a cambio un token negociable. Algunos han llegado a concentrar porcentajes cercanos al tercio del stake total.</a:t>
            </a:r>
            <a:endParaRPr lang="en-US" sz="1300" dirty="0"/>
          </a:p>
        </p:txBody>
      </p:sp>
      <p:sp>
        <p:nvSpPr>
          <p:cNvPr id="12" name="Shape 9"/>
          <p:cNvSpPr/>
          <p:nvPr/>
        </p:nvSpPr>
        <p:spPr>
          <a:xfrm>
            <a:off x="6233008" y="2788920"/>
            <a:ext cx="5391760" cy="1965960"/>
          </a:xfrm>
          <a:prstGeom prst="rect">
            <a:avLst/>
          </a:prstGeom>
          <a:solidFill>
            <a:srgbClr val="FFFFFF"/>
          </a:solidFill>
          <a:ln w="22225">
            <a:solidFill>
              <a:srgbClr val="7152E9"/>
            </a:solidFill>
            <a:prstDash val="solid"/>
          </a:ln>
          <a:effectLst>
            <a:outerShdw sx="100000" sy="100000" kx="0" ky="0" algn="bl" rotWithShape="0" blurRad="101600" dist="63500" dir="2700000">
              <a:srgbClr val="7152E9">
                <a:alpha val="100000"/>
              </a:srgbClr>
            </a:outerShdw>
          </a:effectLst>
        </p:spPr>
      </p:sp>
      <p:sp>
        <p:nvSpPr>
          <p:cNvPr id="13" name="Text 10"/>
          <p:cNvSpPr/>
          <p:nvPr/>
        </p:nvSpPr>
        <p:spPr>
          <a:xfrm>
            <a:off x="6507328" y="2971800"/>
            <a:ext cx="4843120" cy="292608"/>
          </a:xfrm>
          <a:prstGeom prst="rect">
            <a:avLst/>
          </a:prstGeom>
          <a:noFill/>
          <a:ln/>
        </p:spPr>
        <p:txBody>
          <a:bodyPr wrap="square" lIns="0" tIns="0" rIns="0" bIns="0" rtlCol="0" anchor="ctr"/>
          <a:lstStyle/>
          <a:p>
            <a:pPr indent="0" marL="0">
              <a:buNone/>
            </a:pPr>
            <a:r>
              <a:rPr lang="en-US" sz="1050" b="1" spc="130" kern="0" dirty="0">
                <a:solidFill>
                  <a:srgbClr val="5638C9"/>
                </a:solidFill>
                <a:latin typeface="Courier New" pitchFamily="34" charset="0"/>
                <a:ea typeface="Courier New" pitchFamily="34" charset="-122"/>
                <a:cs typeface="Courier New" pitchFamily="34" charset="-120"/>
              </a:rPr>
              <a:t>CUSTODIOS Y PLATAFORMAS</a:t>
            </a:r>
            <a:endParaRPr lang="en-US" sz="1050" dirty="0"/>
          </a:p>
        </p:txBody>
      </p:sp>
      <p:sp>
        <p:nvSpPr>
          <p:cNvPr id="14" name="Text 11"/>
          <p:cNvSpPr/>
          <p:nvPr/>
        </p:nvSpPr>
        <p:spPr>
          <a:xfrm>
            <a:off x="6507328" y="3355848"/>
            <a:ext cx="4843120" cy="1234440"/>
          </a:xfrm>
          <a:prstGeom prst="rect">
            <a:avLst/>
          </a:prstGeom>
          <a:noFill/>
          <a:ln/>
        </p:spPr>
        <p:txBody>
          <a:bodyPr wrap="square" lIns="0" tIns="0" rIns="0" bIns="0" rtlCol="0" anchor="t"/>
          <a:lstStyle/>
          <a:p>
            <a:pPr indent="0" marL="0">
              <a:lnSpc>
                <a:spcPct val="124000"/>
              </a:lnSpc>
              <a:buNone/>
            </a:pPr>
            <a:r>
              <a:rPr lang="en-US" sz="1300" dirty="0">
                <a:solidFill>
                  <a:srgbClr val="3A3844"/>
                </a:solidFill>
                <a:latin typeface="Arial" pitchFamily="34" charset="0"/>
                <a:ea typeface="Arial" pitchFamily="34" charset="-122"/>
                <a:cs typeface="Arial" pitchFamily="34" charset="-120"/>
              </a:rPr>
              <a:t>Exchanges que hacen staking con los fondos de sus clientes. Pocos operadores, mucho stake, y además sujetos a órdenes de una sola jurisdicción.</a:t>
            </a:r>
            <a:endParaRPr lang="en-US" sz="1300" dirty="0"/>
          </a:p>
        </p:txBody>
      </p:sp>
      <p:sp>
        <p:nvSpPr>
          <p:cNvPr id="15" name="Shape 12"/>
          <p:cNvSpPr/>
          <p:nvPr/>
        </p:nvSpPr>
        <p:spPr>
          <a:xfrm>
            <a:off x="566928" y="4937760"/>
            <a:ext cx="11057839" cy="1188720"/>
          </a:xfrm>
          <a:prstGeom prst="rect">
            <a:avLst/>
          </a:prstGeom>
          <a:solidFill>
            <a:srgbClr val="FFFFFF"/>
          </a:solidFill>
          <a:ln w="34925">
            <a:solidFill>
              <a:srgbClr val="F07F06"/>
            </a:solidFill>
            <a:prstDash val="solid"/>
          </a:ln>
          <a:effectLst>
            <a:outerShdw sx="100000" sy="100000" kx="0" ky="0" algn="bl" rotWithShape="0" blurRad="101600" dist="63500" dir="2700000">
              <a:srgbClr val="F07F06">
                <a:alpha val="100000"/>
              </a:srgbClr>
            </a:outerShdw>
          </a:effectLst>
        </p:spPr>
      </p:sp>
      <p:sp>
        <p:nvSpPr>
          <p:cNvPr id="16" name="Text 13"/>
          <p:cNvSpPr/>
          <p:nvPr/>
        </p:nvSpPr>
        <p:spPr>
          <a:xfrm>
            <a:off x="950976" y="5120640"/>
            <a:ext cx="10289743" cy="822960"/>
          </a:xfrm>
          <a:prstGeom prst="rect">
            <a:avLst/>
          </a:prstGeom>
          <a:noFill/>
          <a:ln/>
        </p:spPr>
        <p:txBody>
          <a:bodyPr wrap="square" lIns="0" tIns="0" rIns="0" bIns="0" rtlCol="0" anchor="ctr"/>
          <a:lstStyle/>
          <a:p>
            <a:pPr indent="0" marL="0">
              <a:lnSpc>
                <a:spcPct val="106000"/>
              </a:lnSpc>
              <a:buNone/>
            </a:pPr>
            <a:r>
              <a:rPr lang="en-US" sz="1600" dirty="0">
                <a:solidFill>
                  <a:srgbClr val="0F0F11"/>
                </a:solidFill>
                <a:latin typeface="Arial Black" pitchFamily="34" charset="0"/>
                <a:ea typeface="Arial Black" pitchFamily="34" charset="-122"/>
                <a:cs typeface="Arial Black" pitchFamily="34" charset="-120"/>
              </a:rPr>
              <a:t>Recuerden A.3: un tercio del stake es el umbral que puede impedir la finalidad. Por eso la concentración no es un tema de reputación, es un tema de seguridad.</a:t>
            </a:r>
            <a:endParaRPr lang="en-US" sz="1600" dirty="0"/>
          </a:p>
        </p:txBody>
      </p:sp>
    </p:spTree>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name="Slide 23">
    <p:bg>
      <p:bgPr>
        <a:solidFill>
          <a:srgbClr val="FFFFFF"/>
        </a:solidFill>
      </p:bgPr>
    </p:bg>
    <p:spTree>
      <p:nvGrpSpPr>
        <p:cNvPr id="1" name=""/>
        <p:cNvGrpSpPr/>
        <p:nvPr/>
      </p:nvGrpSpPr>
      <p:grpSpPr>
        <a:xfrm>
          <a:off x="0" y="0"/>
          <a:ext cx="0" cy="0"/>
          <a:chOff x="0" y="0"/>
          <a:chExt cx="0" cy="0"/>
        </a:xfrm>
      </p:grpSpPr>
      <p:pic>
        <p:nvPicPr>
          <p:cNvPr id="2" name="Image 0" descr="preencoded.png">    </p:cNvPr>
          <p:cNvPicPr>
            <a:picLocks noChangeAspect="1"/>
          </p:cNvPicPr>
          <p:nvPr/>
        </p:nvPicPr>
        <p:blipFill>
          <a:blip r:embed="rId1"/>
          <a:stretch>
            <a:fillRect/>
          </a:stretch>
        </p:blipFill>
        <p:spPr>
          <a:xfrm>
            <a:off x="566928" y="402336"/>
            <a:ext cx="274320" cy="274320"/>
          </a:xfrm>
          <a:prstGeom prst="rect">
            <a:avLst/>
          </a:prstGeom>
        </p:spPr>
      </p:pic>
      <p:sp>
        <p:nvSpPr>
          <p:cNvPr id="3" name="Text 0"/>
          <p:cNvSpPr/>
          <p:nvPr/>
        </p:nvSpPr>
        <p:spPr>
          <a:xfrm>
            <a:off x="969264" y="384048"/>
            <a:ext cx="10655503" cy="310896"/>
          </a:xfrm>
          <a:prstGeom prst="rect">
            <a:avLst/>
          </a:prstGeom>
          <a:noFill/>
          <a:ln/>
        </p:spPr>
        <p:txBody>
          <a:bodyPr wrap="square" lIns="0" tIns="0" rIns="0" bIns="0" rtlCol="0" anchor="ctr"/>
          <a:lstStyle/>
          <a:p>
            <a:pPr indent="0" marL="0">
              <a:buNone/>
            </a:pPr>
            <a:r>
              <a:rPr lang="en-US" sz="950" spc="160" kern="0" dirty="0">
                <a:solidFill>
                  <a:srgbClr val="6F6B80"/>
                </a:solidFill>
                <a:latin typeface="Courier New" pitchFamily="34" charset="0"/>
                <a:ea typeface="Courier New" pitchFamily="34" charset="-122"/>
                <a:cs typeface="Courier New" pitchFamily="34" charset="-120"/>
              </a:rPr>
              <a:t>A.14 · COMPARACIÓN DIRECTA</a:t>
            </a:r>
            <a:endParaRPr lang="en-US" sz="950" dirty="0"/>
          </a:p>
        </p:txBody>
      </p:sp>
      <p:sp>
        <p:nvSpPr>
          <p:cNvPr id="4" name="Text 1"/>
          <p:cNvSpPr/>
          <p:nvPr/>
        </p:nvSpPr>
        <p:spPr>
          <a:xfrm>
            <a:off x="566928" y="777240"/>
            <a:ext cx="11057839" cy="777240"/>
          </a:xfrm>
          <a:prstGeom prst="rect">
            <a:avLst/>
          </a:prstGeom>
          <a:noFill/>
          <a:ln/>
        </p:spPr>
        <p:txBody>
          <a:bodyPr wrap="square" lIns="0" tIns="0" rIns="0" bIns="0" rtlCol="0" anchor="t"/>
          <a:lstStyle/>
          <a:p>
            <a:pPr indent="0" marL="0">
              <a:lnSpc>
                <a:spcPct val="92000"/>
              </a:lnSpc>
              <a:buNone/>
            </a:pPr>
            <a:r>
              <a:rPr lang="en-US" sz="2400" dirty="0">
                <a:solidFill>
                  <a:srgbClr val="0F0F11"/>
                </a:solidFill>
                <a:latin typeface="Arial Black" pitchFamily="34" charset="0"/>
                <a:ea typeface="Arial Black" pitchFamily="34" charset="-122"/>
                <a:cs typeface="Arial Black" pitchFamily="34" charset="-120"/>
              </a:rPr>
              <a:t>PRUEBA DE TRABAJO FRENTE A PRUEBA DE PARTICIPACIÓN</a:t>
            </a:r>
            <a:endParaRPr lang="en-US" sz="2400" dirty="0"/>
          </a:p>
        </p:txBody>
      </p:sp>
      <p:sp>
        <p:nvSpPr>
          <p:cNvPr id="5" name="Text 2"/>
          <p:cNvSpPr/>
          <p:nvPr/>
        </p:nvSpPr>
        <p:spPr>
          <a:xfrm>
            <a:off x="566928" y="6291072"/>
            <a:ext cx="8412480" cy="274320"/>
          </a:xfrm>
          <a:prstGeom prst="rect">
            <a:avLst/>
          </a:prstGeom>
          <a:noFill/>
          <a:ln/>
        </p:spPr>
        <p:txBody>
          <a:bodyPr wrap="square" lIns="0" tIns="0" rIns="0" bIns="0" rtlCol="0" anchor="ctr"/>
          <a:lstStyle/>
          <a:p>
            <a:pPr indent="0" marL="0">
              <a:buNone/>
            </a:pPr>
            <a:r>
              <a:rPr lang="en-US" sz="800" spc="120" kern="0" dirty="0">
                <a:solidFill>
                  <a:srgbClr val="6F6B80"/>
                </a:solidFill>
                <a:latin typeface="Courier New" pitchFamily="34" charset="0"/>
                <a:ea typeface="Courier New" pitchFamily="34" charset="-122"/>
                <a:cs typeface="Courier New" pitchFamily="34" charset="-120"/>
              </a:rPr>
              <a:t>SESIÓN 04 · CONSENSO, INCENTIVOS Y EL TRILEMA</a:t>
            </a:r>
            <a:endParaRPr lang="en-US" sz="800" dirty="0"/>
          </a:p>
        </p:txBody>
      </p:sp>
      <p:sp>
        <p:nvSpPr>
          <p:cNvPr id="6" name="Text 3"/>
          <p:cNvSpPr/>
          <p:nvPr/>
        </p:nvSpPr>
        <p:spPr>
          <a:xfrm>
            <a:off x="9052560" y="6291072"/>
            <a:ext cx="1828800" cy="274320"/>
          </a:xfrm>
          <a:prstGeom prst="rect">
            <a:avLst/>
          </a:prstGeom>
          <a:noFill/>
          <a:ln/>
        </p:spPr>
        <p:txBody>
          <a:bodyPr wrap="square" lIns="0" tIns="0" rIns="0" bIns="0" rtlCol="0" anchor="ctr"/>
          <a:lstStyle/>
          <a:p>
            <a:pPr algn="r" indent="0" marL="0">
              <a:buNone/>
            </a:pPr>
            <a:r>
              <a:rPr lang="en-US" sz="800" spc="120" kern="0" dirty="0">
                <a:solidFill>
                  <a:srgbClr val="6F6B80"/>
                </a:solidFill>
                <a:latin typeface="Courier New" pitchFamily="34" charset="0"/>
                <a:ea typeface="Courier New" pitchFamily="34" charset="-122"/>
                <a:cs typeface="Courier New" pitchFamily="34" charset="-120"/>
              </a:rPr>
              <a:t>USB MEDELLÍN</a:t>
            </a:r>
            <a:endParaRPr lang="en-US" sz="800" dirty="0"/>
          </a:p>
        </p:txBody>
      </p:sp>
      <p:sp>
        <p:nvSpPr>
          <p:cNvPr id="7" name="Text 4"/>
          <p:cNvSpPr/>
          <p:nvPr/>
        </p:nvSpPr>
        <p:spPr>
          <a:xfrm>
            <a:off x="11018520" y="6291072"/>
            <a:ext cx="603504" cy="274320"/>
          </a:xfrm>
          <a:prstGeom prst="rect">
            <a:avLst/>
          </a:prstGeom>
          <a:noFill/>
          <a:ln/>
        </p:spPr>
        <p:txBody>
          <a:bodyPr wrap="square" lIns="0" tIns="0" rIns="0" bIns="0" rtlCol="0" anchor="ctr"/>
          <a:lstStyle/>
          <a:p>
            <a:pPr algn="r" indent="0" marL="0">
              <a:buNone/>
            </a:pPr>
            <a:r>
              <a:rPr lang="en-US" sz="900" b="1" dirty="0">
                <a:solidFill>
                  <a:srgbClr val="0F0F11"/>
                </a:solidFill>
                <a:latin typeface="Courier New" pitchFamily="34" charset="0"/>
                <a:ea typeface="Courier New" pitchFamily="34" charset="-122"/>
                <a:cs typeface="Courier New" pitchFamily="34" charset="-120"/>
              </a:rPr>
              <a:t>23</a:t>
            </a:r>
            <a:endParaRPr lang="en-US" sz="900" dirty="0"/>
          </a:p>
        </p:txBody>
      </p:sp>
      <p:graphicFrame>
        <p:nvGraphicFramePr>
          <p:cNvPr id="24" name="Table 0"/>
          <p:cNvGraphicFramePr>
            <a:graphicFrameLocks noGrp="1"/>
          </p:cNvGraphicFramePr>
          <p:nvPr>
            <p:extLst>
              <p:ext uri="{D42A27DB-BD31-4B8C-83A1-F6EECF244321}">
                <p14:modId xmlns:p14="http://schemas.microsoft.com/office/powerpoint/2010/main" val="1579011935"/>
              </p:ext>
            </p:extLst>
          </p:nvPr>
        </p:nvGraphicFramePr>
        <p:xfrm>
          <a:off x="566928" y="1737360"/>
          <a:ext cx="11057839" cy="914400"/>
        </p:xfrm>
        <a:graphic>
          <a:graphicData uri="http://schemas.openxmlformats.org/drawingml/2006/table">
            <a:tbl>
              <a:tblPr/>
              <a:tblGrid>
                <a:gridCol w="2377440"/>
                <a:gridCol w="4343400"/>
                <a:gridCol w="4336999"/>
              </a:tblGrid>
              <a:tr h="310896">
                <a:tc>
                  <a:txBody>
                    <a:bodyPr/>
                    <a:lstStyle/>
                    <a:p>
                      <a:pPr indent="0" marL="0">
                        <a:buNone/>
                      </a:pPr>
                      <a:r>
                        <a:rPr lang="en-US" sz="900" b="1" spc="110" kern="0" dirty="0">
                          <a:solidFill>
                            <a:srgbClr val="FFFFFF"/>
                          </a:solidFill>
                          <a:latin typeface="Courier New" pitchFamily="34" charset="0"/>
                          <a:ea typeface="Courier New" pitchFamily="34" charset="-122"/>
                          <a:cs typeface="Courier New" pitchFamily="34" charset="-120"/>
                        </a:rPr>
                        <a:t>CRITERIO</a:t>
                      </a:r>
                      <a:endParaRPr lang="en-US" sz="900" dirty="0">
                        <a:latin typeface="Courier New" charset="0"/>
                        <a:ea typeface="Courier New" charset="0"/>
                        <a:cs typeface="Courier New" charset="0"/>
                      </a:endParaRPr>
                    </a:p>
                  </a:txBody>
                  <a:tcPr marL="101600" marR="101600" marT="76200" marB="76200" anchor="ctr">
                    <a:lnL w="12700" cap="flat" cmpd="sng" algn="ctr">
                      <a:solidFill>
                        <a:srgbClr val="D9D6E0"/>
                      </a:solidFill>
                      <a:prstDash val="solid"/>
                      <a:round/>
                      <a:headEnd type="none" w="med" len="med"/>
                      <a:tailEnd type="none" w="med" len="med"/>
                    </a:lnL>
                    <a:lnR w="12700" cap="flat" cmpd="sng" algn="ctr">
                      <a:solidFill>
                        <a:srgbClr val="D9D6E0"/>
                      </a:solidFill>
                      <a:prstDash val="solid"/>
                      <a:round/>
                      <a:headEnd type="none" w="med" len="med"/>
                      <a:tailEnd type="none" w="med" len="med"/>
                    </a:lnR>
                    <a:lnT w="12700" cap="flat" cmpd="sng" algn="ctr">
                      <a:solidFill>
                        <a:srgbClr val="D9D6E0"/>
                      </a:solidFill>
                      <a:prstDash val="solid"/>
                      <a:round/>
                      <a:headEnd type="none" w="med" len="med"/>
                      <a:tailEnd type="none" w="med" len="med"/>
                    </a:lnT>
                    <a:lnB w="12700" cap="flat" cmpd="sng" algn="ctr">
                      <a:solidFill>
                        <a:srgbClr val="D9D6E0"/>
                      </a:solidFill>
                      <a:prstDash val="solid"/>
                      <a:round/>
                      <a:headEnd type="none" w="med" len="med"/>
                      <a:tailEnd type="none" w="med" len="med"/>
                    </a:lnB>
                    <a:solidFill>
                      <a:srgbClr val="0F0F11"/>
                    </a:solidFill>
                  </a:tcPr>
                </a:tc>
                <a:tc>
                  <a:txBody>
                    <a:bodyPr/>
                    <a:lstStyle/>
                    <a:p>
                      <a:pPr indent="0" marL="0">
                        <a:buNone/>
                      </a:pPr>
                      <a:r>
                        <a:rPr lang="en-US" sz="900" b="1" spc="110" kern="0" dirty="0">
                          <a:solidFill>
                            <a:srgbClr val="FFFFFF"/>
                          </a:solidFill>
                          <a:latin typeface="Courier New" pitchFamily="34" charset="0"/>
                          <a:ea typeface="Courier New" pitchFamily="34" charset="-122"/>
                          <a:cs typeface="Courier New" pitchFamily="34" charset="-120"/>
                        </a:rPr>
                        <a:t>PRUEBA DE TRABAJO</a:t>
                      </a:r>
                      <a:endParaRPr lang="en-US" sz="900" dirty="0">
                        <a:latin typeface="Courier New" charset="0"/>
                        <a:ea typeface="Courier New" charset="0"/>
                        <a:cs typeface="Courier New" charset="0"/>
                      </a:endParaRPr>
                    </a:p>
                  </a:txBody>
                  <a:tcPr marL="101600" marR="101600" marT="76200" marB="76200" anchor="ctr">
                    <a:lnL w="12700" cap="flat" cmpd="sng" algn="ctr">
                      <a:solidFill>
                        <a:srgbClr val="D9D6E0"/>
                      </a:solidFill>
                      <a:prstDash val="solid"/>
                      <a:round/>
                      <a:headEnd type="none" w="med" len="med"/>
                      <a:tailEnd type="none" w="med" len="med"/>
                    </a:lnL>
                    <a:lnR w="12700" cap="flat" cmpd="sng" algn="ctr">
                      <a:solidFill>
                        <a:srgbClr val="D9D6E0"/>
                      </a:solidFill>
                      <a:prstDash val="solid"/>
                      <a:round/>
                      <a:headEnd type="none" w="med" len="med"/>
                      <a:tailEnd type="none" w="med" len="med"/>
                    </a:lnR>
                    <a:lnT w="12700" cap="flat" cmpd="sng" algn="ctr">
                      <a:solidFill>
                        <a:srgbClr val="D9D6E0"/>
                      </a:solidFill>
                      <a:prstDash val="solid"/>
                      <a:round/>
                      <a:headEnd type="none" w="med" len="med"/>
                      <a:tailEnd type="none" w="med" len="med"/>
                    </a:lnT>
                    <a:lnB w="12700" cap="flat" cmpd="sng" algn="ctr">
                      <a:solidFill>
                        <a:srgbClr val="D9D6E0"/>
                      </a:solidFill>
                      <a:prstDash val="solid"/>
                      <a:round/>
                      <a:headEnd type="none" w="med" len="med"/>
                      <a:tailEnd type="none" w="med" len="med"/>
                    </a:lnB>
                    <a:solidFill>
                      <a:srgbClr val="0F0F11"/>
                    </a:solidFill>
                  </a:tcPr>
                </a:tc>
                <a:tc>
                  <a:txBody>
                    <a:bodyPr/>
                    <a:lstStyle/>
                    <a:p>
                      <a:pPr indent="0" marL="0">
                        <a:buNone/>
                      </a:pPr>
                      <a:r>
                        <a:rPr lang="en-US" sz="900" b="1" spc="110" kern="0" dirty="0">
                          <a:solidFill>
                            <a:srgbClr val="FFFFFF"/>
                          </a:solidFill>
                          <a:latin typeface="Courier New" pitchFamily="34" charset="0"/>
                          <a:ea typeface="Courier New" pitchFamily="34" charset="-122"/>
                          <a:cs typeface="Courier New" pitchFamily="34" charset="-120"/>
                        </a:rPr>
                        <a:t>PRUEBA DE PARTICIPACIÓN</a:t>
                      </a:r>
                      <a:endParaRPr lang="en-US" sz="900" dirty="0">
                        <a:latin typeface="Courier New" charset="0"/>
                        <a:ea typeface="Courier New" charset="0"/>
                        <a:cs typeface="Courier New" charset="0"/>
                      </a:endParaRPr>
                    </a:p>
                  </a:txBody>
                  <a:tcPr marL="101600" marR="101600" marT="76200" marB="76200" anchor="ctr">
                    <a:lnL w="12700" cap="flat" cmpd="sng" algn="ctr">
                      <a:solidFill>
                        <a:srgbClr val="D9D6E0"/>
                      </a:solidFill>
                      <a:prstDash val="solid"/>
                      <a:round/>
                      <a:headEnd type="none" w="med" len="med"/>
                      <a:tailEnd type="none" w="med" len="med"/>
                    </a:lnL>
                    <a:lnR w="12700" cap="flat" cmpd="sng" algn="ctr">
                      <a:solidFill>
                        <a:srgbClr val="D9D6E0"/>
                      </a:solidFill>
                      <a:prstDash val="solid"/>
                      <a:round/>
                      <a:headEnd type="none" w="med" len="med"/>
                      <a:tailEnd type="none" w="med" len="med"/>
                    </a:lnR>
                    <a:lnT w="12700" cap="flat" cmpd="sng" algn="ctr">
                      <a:solidFill>
                        <a:srgbClr val="D9D6E0"/>
                      </a:solidFill>
                      <a:prstDash val="solid"/>
                      <a:round/>
                      <a:headEnd type="none" w="med" len="med"/>
                      <a:tailEnd type="none" w="med" len="med"/>
                    </a:lnT>
                    <a:lnB w="12700" cap="flat" cmpd="sng" algn="ctr">
                      <a:solidFill>
                        <a:srgbClr val="D9D6E0"/>
                      </a:solidFill>
                      <a:prstDash val="solid"/>
                      <a:round/>
                      <a:headEnd type="none" w="med" len="med"/>
                      <a:tailEnd type="none" w="med" len="med"/>
                    </a:lnB>
                    <a:solidFill>
                      <a:srgbClr val="0F0F11"/>
                    </a:solidFill>
                  </a:tcPr>
                </a:tc>
              </a:tr>
              <a:tr h="679704">
                <a:tc>
                  <a:txBody>
                    <a:bodyPr/>
                    <a:lstStyle/>
                    <a:p>
                      <a:pPr indent="0" marL="0">
                        <a:buNone/>
                      </a:pPr>
                      <a:r>
                        <a:rPr lang="en-US" sz="1100" b="1" dirty="0">
                          <a:solidFill>
                            <a:srgbClr val="0F0F11"/>
                          </a:solidFill>
                          <a:latin typeface="Courier New" pitchFamily="34" charset="0"/>
                          <a:ea typeface="Courier New" pitchFamily="34" charset="-122"/>
                          <a:cs typeface="Courier New" pitchFamily="34" charset="-120"/>
                        </a:rPr>
                        <a:t>Recurso escaso</a:t>
                      </a:r>
                      <a:endParaRPr lang="en-US" sz="1100" dirty="0">
                        <a:latin typeface="Courier New" charset="0"/>
                        <a:ea typeface="Courier New" charset="0"/>
                        <a:cs typeface="Courier New" charset="0"/>
                      </a:endParaRPr>
                    </a:p>
                  </a:txBody>
                  <a:tcPr marL="101600" marR="101600" marT="76200" marB="76200" anchor="t">
                    <a:lnL w="12700" cap="flat" cmpd="sng" algn="ctr">
                      <a:solidFill>
                        <a:srgbClr val="D9D6E0"/>
                      </a:solidFill>
                      <a:prstDash val="solid"/>
                      <a:round/>
                      <a:headEnd type="none" w="med" len="med"/>
                      <a:tailEnd type="none" w="med" len="med"/>
                    </a:lnL>
                    <a:lnR w="12700" cap="flat" cmpd="sng" algn="ctr">
                      <a:solidFill>
                        <a:srgbClr val="D9D6E0"/>
                      </a:solidFill>
                      <a:prstDash val="solid"/>
                      <a:round/>
                      <a:headEnd type="none" w="med" len="med"/>
                      <a:tailEnd type="none" w="med" len="med"/>
                    </a:lnR>
                    <a:lnT w="12700" cap="flat" cmpd="sng" algn="ctr">
                      <a:solidFill>
                        <a:srgbClr val="D9D6E0"/>
                      </a:solidFill>
                      <a:prstDash val="solid"/>
                      <a:round/>
                      <a:headEnd type="none" w="med" len="med"/>
                      <a:tailEnd type="none" w="med" len="med"/>
                    </a:lnT>
                    <a:lnB w="12700" cap="flat" cmpd="sng" algn="ctr">
                      <a:solidFill>
                        <a:srgbClr val="D9D6E0"/>
                      </a:solidFill>
                      <a:prstDash val="solid"/>
                      <a:round/>
                      <a:headEnd type="none" w="med" len="med"/>
                      <a:tailEnd type="none" w="med" len="med"/>
                    </a:lnB>
                    <a:solidFill>
                      <a:srgbClr val="FFFFFF"/>
                    </a:solidFill>
                  </a:tcPr>
                </a:tc>
                <a:tc>
                  <a:txBody>
                    <a:bodyPr/>
                    <a:lstStyle/>
                    <a:p>
                      <a:pPr indent="0" marL="0">
                        <a:buNone/>
                      </a:pPr>
                      <a:r>
                        <a:rPr lang="en-US" sz="1100" dirty="0">
                          <a:solidFill>
                            <a:srgbClr val="3A3844"/>
                          </a:solidFill>
                          <a:latin typeface="Arial" pitchFamily="34" charset="0"/>
                          <a:ea typeface="Arial" pitchFamily="34" charset="-122"/>
                          <a:cs typeface="Arial" pitchFamily="34" charset="-120"/>
                        </a:rPr>
                        <a:t>Electricidad y hardware especializado.</a:t>
                      </a:r>
                      <a:endParaRPr lang="en-US" sz="1100" dirty="0">
                        <a:latin typeface="Arial" charset="0"/>
                        <a:ea typeface="Arial" charset="0"/>
                        <a:cs typeface="Arial" charset="0"/>
                      </a:endParaRPr>
                    </a:p>
                  </a:txBody>
                  <a:tcPr marL="101600" marR="101600" marT="76200" marB="76200" anchor="t">
                    <a:lnL w="12700" cap="flat" cmpd="sng" algn="ctr">
                      <a:solidFill>
                        <a:srgbClr val="D9D6E0"/>
                      </a:solidFill>
                      <a:prstDash val="solid"/>
                      <a:round/>
                      <a:headEnd type="none" w="med" len="med"/>
                      <a:tailEnd type="none" w="med" len="med"/>
                    </a:lnL>
                    <a:lnR w="12700" cap="flat" cmpd="sng" algn="ctr">
                      <a:solidFill>
                        <a:srgbClr val="D9D6E0"/>
                      </a:solidFill>
                      <a:prstDash val="solid"/>
                      <a:round/>
                      <a:headEnd type="none" w="med" len="med"/>
                      <a:tailEnd type="none" w="med" len="med"/>
                    </a:lnR>
                    <a:lnT w="12700" cap="flat" cmpd="sng" algn="ctr">
                      <a:solidFill>
                        <a:srgbClr val="D9D6E0"/>
                      </a:solidFill>
                      <a:prstDash val="solid"/>
                      <a:round/>
                      <a:headEnd type="none" w="med" len="med"/>
                      <a:tailEnd type="none" w="med" len="med"/>
                    </a:lnT>
                    <a:lnB w="12700" cap="flat" cmpd="sng" algn="ctr">
                      <a:solidFill>
                        <a:srgbClr val="D9D6E0"/>
                      </a:solidFill>
                      <a:prstDash val="solid"/>
                      <a:round/>
                      <a:headEnd type="none" w="med" len="med"/>
                      <a:tailEnd type="none" w="med" len="med"/>
                    </a:lnB>
                    <a:solidFill>
                      <a:srgbClr val="FFFFFF"/>
                    </a:solidFill>
                  </a:tcPr>
                </a:tc>
                <a:tc>
                  <a:txBody>
                    <a:bodyPr/>
                    <a:lstStyle/>
                    <a:p>
                      <a:pPr indent="0" marL="0">
                        <a:buNone/>
                      </a:pPr>
                      <a:r>
                        <a:rPr lang="en-US" sz="1100" dirty="0">
                          <a:solidFill>
                            <a:srgbClr val="3A3844"/>
                          </a:solidFill>
                          <a:latin typeface="Arial" pitchFamily="34" charset="0"/>
                          <a:ea typeface="Arial" pitchFamily="34" charset="-122"/>
                          <a:cs typeface="Arial" pitchFamily="34" charset="-120"/>
                        </a:rPr>
                        <a:t>Capital inmovilizado en la propia moneda.</a:t>
                      </a:r>
                      <a:endParaRPr lang="en-US" sz="1100" dirty="0">
                        <a:latin typeface="Arial" charset="0"/>
                        <a:ea typeface="Arial" charset="0"/>
                        <a:cs typeface="Arial" charset="0"/>
                      </a:endParaRPr>
                    </a:p>
                  </a:txBody>
                  <a:tcPr marL="101600" marR="101600" marT="76200" marB="76200" anchor="t">
                    <a:lnL w="12700" cap="flat" cmpd="sng" algn="ctr">
                      <a:solidFill>
                        <a:srgbClr val="D9D6E0"/>
                      </a:solidFill>
                      <a:prstDash val="solid"/>
                      <a:round/>
                      <a:headEnd type="none" w="med" len="med"/>
                      <a:tailEnd type="none" w="med" len="med"/>
                    </a:lnL>
                    <a:lnR w="12700" cap="flat" cmpd="sng" algn="ctr">
                      <a:solidFill>
                        <a:srgbClr val="D9D6E0"/>
                      </a:solidFill>
                      <a:prstDash val="solid"/>
                      <a:round/>
                      <a:headEnd type="none" w="med" len="med"/>
                      <a:tailEnd type="none" w="med" len="med"/>
                    </a:lnR>
                    <a:lnT w="12700" cap="flat" cmpd="sng" algn="ctr">
                      <a:solidFill>
                        <a:srgbClr val="D9D6E0"/>
                      </a:solidFill>
                      <a:prstDash val="solid"/>
                      <a:round/>
                      <a:headEnd type="none" w="med" len="med"/>
                      <a:tailEnd type="none" w="med" len="med"/>
                    </a:lnT>
                    <a:lnB w="12700" cap="flat" cmpd="sng" algn="ctr">
                      <a:solidFill>
                        <a:srgbClr val="D9D6E0"/>
                      </a:solidFill>
                      <a:prstDash val="solid"/>
                      <a:round/>
                      <a:headEnd type="none" w="med" len="med"/>
                      <a:tailEnd type="none" w="med" len="med"/>
                    </a:lnB>
                    <a:solidFill>
                      <a:srgbClr val="FFFFFF"/>
                    </a:solidFill>
                  </a:tcPr>
                </a:tc>
              </a:tr>
              <a:tr h="679704">
                <a:tc>
                  <a:txBody>
                    <a:bodyPr/>
                    <a:lstStyle/>
                    <a:p>
                      <a:pPr indent="0" marL="0">
                        <a:buNone/>
                      </a:pPr>
                      <a:r>
                        <a:rPr lang="en-US" sz="1100" b="1" dirty="0">
                          <a:solidFill>
                            <a:srgbClr val="0F0F11"/>
                          </a:solidFill>
                          <a:latin typeface="Courier New" pitchFamily="34" charset="0"/>
                          <a:ea typeface="Courier New" pitchFamily="34" charset="-122"/>
                          <a:cs typeface="Courier New" pitchFamily="34" charset="-120"/>
                        </a:rPr>
                        <a:t>Costo de atacar</a:t>
                      </a:r>
                      <a:endParaRPr lang="en-US" sz="1100" dirty="0">
                        <a:latin typeface="Courier New" charset="0"/>
                        <a:ea typeface="Courier New" charset="0"/>
                        <a:cs typeface="Courier New" charset="0"/>
                      </a:endParaRPr>
                    </a:p>
                  </a:txBody>
                  <a:tcPr marL="101600" marR="101600" marT="76200" marB="76200" anchor="t">
                    <a:lnL w="12700" cap="flat" cmpd="sng" algn="ctr">
                      <a:solidFill>
                        <a:srgbClr val="D9D6E0"/>
                      </a:solidFill>
                      <a:prstDash val="solid"/>
                      <a:round/>
                      <a:headEnd type="none" w="med" len="med"/>
                      <a:tailEnd type="none" w="med" len="med"/>
                    </a:lnL>
                    <a:lnR w="12700" cap="flat" cmpd="sng" algn="ctr">
                      <a:solidFill>
                        <a:srgbClr val="D9D6E0"/>
                      </a:solidFill>
                      <a:prstDash val="solid"/>
                      <a:round/>
                      <a:headEnd type="none" w="med" len="med"/>
                      <a:tailEnd type="none" w="med" len="med"/>
                    </a:lnR>
                    <a:lnT w="12700" cap="flat" cmpd="sng" algn="ctr">
                      <a:solidFill>
                        <a:srgbClr val="D9D6E0"/>
                      </a:solidFill>
                      <a:prstDash val="solid"/>
                      <a:round/>
                      <a:headEnd type="none" w="med" len="med"/>
                      <a:tailEnd type="none" w="med" len="med"/>
                    </a:lnT>
                    <a:lnB w="12700" cap="flat" cmpd="sng" algn="ctr">
                      <a:solidFill>
                        <a:srgbClr val="D9D6E0"/>
                      </a:solidFill>
                      <a:prstDash val="solid"/>
                      <a:round/>
                      <a:headEnd type="none" w="med" len="med"/>
                      <a:tailEnd type="none" w="med" len="med"/>
                    </a:lnB>
                    <a:solidFill>
                      <a:srgbClr val="FAF9FB"/>
                    </a:solidFill>
                  </a:tcPr>
                </a:tc>
                <a:tc>
                  <a:txBody>
                    <a:bodyPr/>
                    <a:lstStyle/>
                    <a:p>
                      <a:pPr indent="0" marL="0">
                        <a:buNone/>
                      </a:pPr>
                      <a:r>
                        <a:rPr lang="en-US" sz="1100" dirty="0">
                          <a:solidFill>
                            <a:srgbClr val="3A3844"/>
                          </a:solidFill>
                          <a:latin typeface="Arial" pitchFamily="34" charset="0"/>
                          <a:ea typeface="Arial" pitchFamily="34" charset="-122"/>
                          <a:cs typeface="Arial" pitchFamily="34" charset="-120"/>
                        </a:rPr>
                        <a:t>Comprar o alquilar más de la mitad del cómputo, y pagar la energía.</a:t>
                      </a:r>
                      <a:endParaRPr lang="en-US" sz="1100" dirty="0">
                        <a:latin typeface="Arial" charset="0"/>
                        <a:ea typeface="Arial" charset="0"/>
                        <a:cs typeface="Arial" charset="0"/>
                      </a:endParaRPr>
                    </a:p>
                  </a:txBody>
                  <a:tcPr marL="101600" marR="101600" marT="76200" marB="76200" anchor="t">
                    <a:lnL w="12700" cap="flat" cmpd="sng" algn="ctr">
                      <a:solidFill>
                        <a:srgbClr val="D9D6E0"/>
                      </a:solidFill>
                      <a:prstDash val="solid"/>
                      <a:round/>
                      <a:headEnd type="none" w="med" len="med"/>
                      <a:tailEnd type="none" w="med" len="med"/>
                    </a:lnL>
                    <a:lnR w="12700" cap="flat" cmpd="sng" algn="ctr">
                      <a:solidFill>
                        <a:srgbClr val="D9D6E0"/>
                      </a:solidFill>
                      <a:prstDash val="solid"/>
                      <a:round/>
                      <a:headEnd type="none" w="med" len="med"/>
                      <a:tailEnd type="none" w="med" len="med"/>
                    </a:lnR>
                    <a:lnT w="12700" cap="flat" cmpd="sng" algn="ctr">
                      <a:solidFill>
                        <a:srgbClr val="D9D6E0"/>
                      </a:solidFill>
                      <a:prstDash val="solid"/>
                      <a:round/>
                      <a:headEnd type="none" w="med" len="med"/>
                      <a:tailEnd type="none" w="med" len="med"/>
                    </a:lnT>
                    <a:lnB w="12700" cap="flat" cmpd="sng" algn="ctr">
                      <a:solidFill>
                        <a:srgbClr val="D9D6E0"/>
                      </a:solidFill>
                      <a:prstDash val="solid"/>
                      <a:round/>
                      <a:headEnd type="none" w="med" len="med"/>
                      <a:tailEnd type="none" w="med" len="med"/>
                    </a:lnB>
                    <a:solidFill>
                      <a:srgbClr val="FAF9FB"/>
                    </a:solidFill>
                  </a:tcPr>
                </a:tc>
                <a:tc>
                  <a:txBody>
                    <a:bodyPr/>
                    <a:lstStyle/>
                    <a:p>
                      <a:pPr indent="0" marL="0">
                        <a:buNone/>
                      </a:pPr>
                      <a:r>
                        <a:rPr lang="en-US" sz="1100" dirty="0">
                          <a:solidFill>
                            <a:srgbClr val="3A3844"/>
                          </a:solidFill>
                          <a:latin typeface="Arial" pitchFamily="34" charset="0"/>
                          <a:ea typeface="Arial" pitchFamily="34" charset="-122"/>
                          <a:cs typeface="Arial" pitchFamily="34" charset="-120"/>
                        </a:rPr>
                        <a:t>Adquirir un tercio o dos tercios del stake, que además se pierde por slashing.</a:t>
                      </a:r>
                      <a:endParaRPr lang="en-US" sz="1100" dirty="0">
                        <a:latin typeface="Arial" charset="0"/>
                        <a:ea typeface="Arial" charset="0"/>
                        <a:cs typeface="Arial" charset="0"/>
                      </a:endParaRPr>
                    </a:p>
                  </a:txBody>
                  <a:tcPr marL="101600" marR="101600" marT="76200" marB="76200" anchor="t">
                    <a:lnL w="12700" cap="flat" cmpd="sng" algn="ctr">
                      <a:solidFill>
                        <a:srgbClr val="D9D6E0"/>
                      </a:solidFill>
                      <a:prstDash val="solid"/>
                      <a:round/>
                      <a:headEnd type="none" w="med" len="med"/>
                      <a:tailEnd type="none" w="med" len="med"/>
                    </a:lnL>
                    <a:lnR w="12700" cap="flat" cmpd="sng" algn="ctr">
                      <a:solidFill>
                        <a:srgbClr val="D9D6E0"/>
                      </a:solidFill>
                      <a:prstDash val="solid"/>
                      <a:round/>
                      <a:headEnd type="none" w="med" len="med"/>
                      <a:tailEnd type="none" w="med" len="med"/>
                    </a:lnR>
                    <a:lnT w="12700" cap="flat" cmpd="sng" algn="ctr">
                      <a:solidFill>
                        <a:srgbClr val="D9D6E0"/>
                      </a:solidFill>
                      <a:prstDash val="solid"/>
                      <a:round/>
                      <a:headEnd type="none" w="med" len="med"/>
                      <a:tailEnd type="none" w="med" len="med"/>
                    </a:lnT>
                    <a:lnB w="12700" cap="flat" cmpd="sng" algn="ctr">
                      <a:solidFill>
                        <a:srgbClr val="D9D6E0"/>
                      </a:solidFill>
                      <a:prstDash val="solid"/>
                      <a:round/>
                      <a:headEnd type="none" w="med" len="med"/>
                      <a:tailEnd type="none" w="med" len="med"/>
                    </a:lnB>
                    <a:solidFill>
                      <a:srgbClr val="FAF9FB"/>
                    </a:solidFill>
                  </a:tcPr>
                </a:tc>
              </a:tr>
              <a:tr h="679704">
                <a:tc>
                  <a:txBody>
                    <a:bodyPr/>
                    <a:lstStyle/>
                    <a:p>
                      <a:pPr indent="0" marL="0">
                        <a:buNone/>
                      </a:pPr>
                      <a:r>
                        <a:rPr lang="en-US" sz="1100" b="1" dirty="0">
                          <a:solidFill>
                            <a:srgbClr val="0F0F11"/>
                          </a:solidFill>
                          <a:latin typeface="Courier New" pitchFamily="34" charset="0"/>
                          <a:ea typeface="Courier New" pitchFamily="34" charset="-122"/>
                          <a:cs typeface="Courier New" pitchFamily="34" charset="-120"/>
                        </a:rPr>
                        <a:t>Finalidad</a:t>
                      </a:r>
                      <a:endParaRPr lang="en-US" sz="1100" dirty="0">
                        <a:latin typeface="Courier New" charset="0"/>
                        <a:ea typeface="Courier New" charset="0"/>
                        <a:cs typeface="Courier New" charset="0"/>
                      </a:endParaRPr>
                    </a:p>
                  </a:txBody>
                  <a:tcPr marL="101600" marR="101600" marT="76200" marB="76200" anchor="t">
                    <a:lnL w="12700" cap="flat" cmpd="sng" algn="ctr">
                      <a:solidFill>
                        <a:srgbClr val="D9D6E0"/>
                      </a:solidFill>
                      <a:prstDash val="solid"/>
                      <a:round/>
                      <a:headEnd type="none" w="med" len="med"/>
                      <a:tailEnd type="none" w="med" len="med"/>
                    </a:lnL>
                    <a:lnR w="12700" cap="flat" cmpd="sng" algn="ctr">
                      <a:solidFill>
                        <a:srgbClr val="D9D6E0"/>
                      </a:solidFill>
                      <a:prstDash val="solid"/>
                      <a:round/>
                      <a:headEnd type="none" w="med" len="med"/>
                      <a:tailEnd type="none" w="med" len="med"/>
                    </a:lnR>
                    <a:lnT w="12700" cap="flat" cmpd="sng" algn="ctr">
                      <a:solidFill>
                        <a:srgbClr val="D9D6E0"/>
                      </a:solidFill>
                      <a:prstDash val="solid"/>
                      <a:round/>
                      <a:headEnd type="none" w="med" len="med"/>
                      <a:tailEnd type="none" w="med" len="med"/>
                    </a:lnT>
                    <a:lnB w="12700" cap="flat" cmpd="sng" algn="ctr">
                      <a:solidFill>
                        <a:srgbClr val="D9D6E0"/>
                      </a:solidFill>
                      <a:prstDash val="solid"/>
                      <a:round/>
                      <a:headEnd type="none" w="med" len="med"/>
                      <a:tailEnd type="none" w="med" len="med"/>
                    </a:lnB>
                    <a:solidFill>
                      <a:srgbClr val="FFFFFF"/>
                    </a:solidFill>
                  </a:tcPr>
                </a:tc>
                <a:tc>
                  <a:txBody>
                    <a:bodyPr/>
                    <a:lstStyle/>
                    <a:p>
                      <a:pPr indent="0" marL="0">
                        <a:buNone/>
                      </a:pPr>
                      <a:r>
                        <a:rPr lang="en-US" sz="1100" dirty="0">
                          <a:solidFill>
                            <a:srgbClr val="3A3844"/>
                          </a:solidFill>
                          <a:latin typeface="Arial" pitchFamily="34" charset="0"/>
                          <a:ea typeface="Arial" pitchFamily="34" charset="-122"/>
                          <a:cs typeface="Arial" pitchFamily="34" charset="-120"/>
                        </a:rPr>
                        <a:t>Probabilística: nunca absoluta, crece con cada bloque.</a:t>
                      </a:r>
                      <a:endParaRPr lang="en-US" sz="1100" dirty="0">
                        <a:latin typeface="Arial" charset="0"/>
                        <a:ea typeface="Arial" charset="0"/>
                        <a:cs typeface="Arial" charset="0"/>
                      </a:endParaRPr>
                    </a:p>
                  </a:txBody>
                  <a:tcPr marL="101600" marR="101600" marT="76200" marB="76200" anchor="t">
                    <a:lnL w="12700" cap="flat" cmpd="sng" algn="ctr">
                      <a:solidFill>
                        <a:srgbClr val="D9D6E0"/>
                      </a:solidFill>
                      <a:prstDash val="solid"/>
                      <a:round/>
                      <a:headEnd type="none" w="med" len="med"/>
                      <a:tailEnd type="none" w="med" len="med"/>
                    </a:lnL>
                    <a:lnR w="12700" cap="flat" cmpd="sng" algn="ctr">
                      <a:solidFill>
                        <a:srgbClr val="D9D6E0"/>
                      </a:solidFill>
                      <a:prstDash val="solid"/>
                      <a:round/>
                      <a:headEnd type="none" w="med" len="med"/>
                      <a:tailEnd type="none" w="med" len="med"/>
                    </a:lnR>
                    <a:lnT w="12700" cap="flat" cmpd="sng" algn="ctr">
                      <a:solidFill>
                        <a:srgbClr val="D9D6E0"/>
                      </a:solidFill>
                      <a:prstDash val="solid"/>
                      <a:round/>
                      <a:headEnd type="none" w="med" len="med"/>
                      <a:tailEnd type="none" w="med" len="med"/>
                    </a:lnT>
                    <a:lnB w="12700" cap="flat" cmpd="sng" algn="ctr">
                      <a:solidFill>
                        <a:srgbClr val="D9D6E0"/>
                      </a:solidFill>
                      <a:prstDash val="solid"/>
                      <a:round/>
                      <a:headEnd type="none" w="med" len="med"/>
                      <a:tailEnd type="none" w="med" len="med"/>
                    </a:lnB>
                    <a:solidFill>
                      <a:srgbClr val="FFFFFF"/>
                    </a:solidFill>
                  </a:tcPr>
                </a:tc>
                <a:tc>
                  <a:txBody>
                    <a:bodyPr/>
                    <a:lstStyle/>
                    <a:p>
                      <a:pPr indent="0" marL="0">
                        <a:buNone/>
                      </a:pPr>
                      <a:r>
                        <a:rPr lang="en-US" sz="1100" dirty="0">
                          <a:solidFill>
                            <a:srgbClr val="3A3844"/>
                          </a:solidFill>
                          <a:latin typeface="Arial" pitchFamily="34" charset="0"/>
                          <a:ea typeface="Arial" pitchFamily="34" charset="-122"/>
                          <a:cs typeface="Arial" pitchFamily="34" charset="-120"/>
                        </a:rPr>
                        <a:t>Económica: tras unos 13 minutos, revertir exige destruir un tercio del stake.</a:t>
                      </a:r>
                      <a:endParaRPr lang="en-US" sz="1100" dirty="0">
                        <a:latin typeface="Arial" charset="0"/>
                        <a:ea typeface="Arial" charset="0"/>
                        <a:cs typeface="Arial" charset="0"/>
                      </a:endParaRPr>
                    </a:p>
                  </a:txBody>
                  <a:tcPr marL="101600" marR="101600" marT="76200" marB="76200" anchor="t">
                    <a:lnL w="12700" cap="flat" cmpd="sng" algn="ctr">
                      <a:solidFill>
                        <a:srgbClr val="D9D6E0"/>
                      </a:solidFill>
                      <a:prstDash val="solid"/>
                      <a:round/>
                      <a:headEnd type="none" w="med" len="med"/>
                      <a:tailEnd type="none" w="med" len="med"/>
                    </a:lnL>
                    <a:lnR w="12700" cap="flat" cmpd="sng" algn="ctr">
                      <a:solidFill>
                        <a:srgbClr val="D9D6E0"/>
                      </a:solidFill>
                      <a:prstDash val="solid"/>
                      <a:round/>
                      <a:headEnd type="none" w="med" len="med"/>
                      <a:tailEnd type="none" w="med" len="med"/>
                    </a:lnR>
                    <a:lnT w="12700" cap="flat" cmpd="sng" algn="ctr">
                      <a:solidFill>
                        <a:srgbClr val="D9D6E0"/>
                      </a:solidFill>
                      <a:prstDash val="solid"/>
                      <a:round/>
                      <a:headEnd type="none" w="med" len="med"/>
                      <a:tailEnd type="none" w="med" len="med"/>
                    </a:lnT>
                    <a:lnB w="12700" cap="flat" cmpd="sng" algn="ctr">
                      <a:solidFill>
                        <a:srgbClr val="D9D6E0"/>
                      </a:solidFill>
                      <a:prstDash val="solid"/>
                      <a:round/>
                      <a:headEnd type="none" w="med" len="med"/>
                      <a:tailEnd type="none" w="med" len="med"/>
                    </a:lnB>
                    <a:solidFill>
                      <a:srgbClr val="FFFFFF"/>
                    </a:solidFill>
                  </a:tcPr>
                </a:tc>
              </a:tr>
              <a:tr h="679704">
                <a:tc>
                  <a:txBody>
                    <a:bodyPr/>
                    <a:lstStyle/>
                    <a:p>
                      <a:pPr indent="0" marL="0">
                        <a:buNone/>
                      </a:pPr>
                      <a:r>
                        <a:rPr lang="en-US" sz="1100" b="1" dirty="0">
                          <a:solidFill>
                            <a:srgbClr val="0F0F11"/>
                          </a:solidFill>
                          <a:latin typeface="Courier New" pitchFamily="34" charset="0"/>
                          <a:ea typeface="Courier New" pitchFamily="34" charset="-122"/>
                          <a:cs typeface="Courier New" pitchFamily="34" charset="-120"/>
                        </a:rPr>
                        <a:t>Consumo energético</a:t>
                      </a:r>
                      <a:endParaRPr lang="en-US" sz="1100" dirty="0">
                        <a:latin typeface="Courier New" charset="0"/>
                        <a:ea typeface="Courier New" charset="0"/>
                        <a:cs typeface="Courier New" charset="0"/>
                      </a:endParaRPr>
                    </a:p>
                  </a:txBody>
                  <a:tcPr marL="101600" marR="101600" marT="76200" marB="76200" anchor="t">
                    <a:lnL w="12700" cap="flat" cmpd="sng" algn="ctr">
                      <a:solidFill>
                        <a:srgbClr val="D9D6E0"/>
                      </a:solidFill>
                      <a:prstDash val="solid"/>
                      <a:round/>
                      <a:headEnd type="none" w="med" len="med"/>
                      <a:tailEnd type="none" w="med" len="med"/>
                    </a:lnL>
                    <a:lnR w="12700" cap="flat" cmpd="sng" algn="ctr">
                      <a:solidFill>
                        <a:srgbClr val="D9D6E0"/>
                      </a:solidFill>
                      <a:prstDash val="solid"/>
                      <a:round/>
                      <a:headEnd type="none" w="med" len="med"/>
                      <a:tailEnd type="none" w="med" len="med"/>
                    </a:lnR>
                    <a:lnT w="12700" cap="flat" cmpd="sng" algn="ctr">
                      <a:solidFill>
                        <a:srgbClr val="D9D6E0"/>
                      </a:solidFill>
                      <a:prstDash val="solid"/>
                      <a:round/>
                      <a:headEnd type="none" w="med" len="med"/>
                      <a:tailEnd type="none" w="med" len="med"/>
                    </a:lnT>
                    <a:lnB w="12700" cap="flat" cmpd="sng" algn="ctr">
                      <a:solidFill>
                        <a:srgbClr val="D9D6E0"/>
                      </a:solidFill>
                      <a:prstDash val="solid"/>
                      <a:round/>
                      <a:headEnd type="none" w="med" len="med"/>
                      <a:tailEnd type="none" w="med" len="med"/>
                    </a:lnB>
                    <a:solidFill>
                      <a:srgbClr val="FAF9FB"/>
                    </a:solidFill>
                  </a:tcPr>
                </a:tc>
                <a:tc>
                  <a:txBody>
                    <a:bodyPr/>
                    <a:lstStyle/>
                    <a:p>
                      <a:pPr indent="0" marL="0">
                        <a:buNone/>
                      </a:pPr>
                      <a:r>
                        <a:rPr lang="en-US" sz="1100" dirty="0">
                          <a:solidFill>
                            <a:srgbClr val="3A3844"/>
                          </a:solidFill>
                          <a:latin typeface="Arial" pitchFamily="34" charset="0"/>
                          <a:ea typeface="Arial" pitchFamily="34" charset="-122"/>
                          <a:cs typeface="Arial" pitchFamily="34" charset="-120"/>
                        </a:rPr>
                        <a:t>Muy alto, y es inseparable de la seguridad.</a:t>
                      </a:r>
                      <a:endParaRPr lang="en-US" sz="1100" dirty="0">
                        <a:latin typeface="Arial" charset="0"/>
                        <a:ea typeface="Arial" charset="0"/>
                        <a:cs typeface="Arial" charset="0"/>
                      </a:endParaRPr>
                    </a:p>
                  </a:txBody>
                  <a:tcPr marL="101600" marR="101600" marT="76200" marB="76200" anchor="t">
                    <a:lnL w="12700" cap="flat" cmpd="sng" algn="ctr">
                      <a:solidFill>
                        <a:srgbClr val="D9D6E0"/>
                      </a:solidFill>
                      <a:prstDash val="solid"/>
                      <a:round/>
                      <a:headEnd type="none" w="med" len="med"/>
                      <a:tailEnd type="none" w="med" len="med"/>
                    </a:lnL>
                    <a:lnR w="12700" cap="flat" cmpd="sng" algn="ctr">
                      <a:solidFill>
                        <a:srgbClr val="D9D6E0"/>
                      </a:solidFill>
                      <a:prstDash val="solid"/>
                      <a:round/>
                      <a:headEnd type="none" w="med" len="med"/>
                      <a:tailEnd type="none" w="med" len="med"/>
                    </a:lnR>
                    <a:lnT w="12700" cap="flat" cmpd="sng" algn="ctr">
                      <a:solidFill>
                        <a:srgbClr val="D9D6E0"/>
                      </a:solidFill>
                      <a:prstDash val="solid"/>
                      <a:round/>
                      <a:headEnd type="none" w="med" len="med"/>
                      <a:tailEnd type="none" w="med" len="med"/>
                    </a:lnT>
                    <a:lnB w="12700" cap="flat" cmpd="sng" algn="ctr">
                      <a:solidFill>
                        <a:srgbClr val="D9D6E0"/>
                      </a:solidFill>
                      <a:prstDash val="solid"/>
                      <a:round/>
                      <a:headEnd type="none" w="med" len="med"/>
                      <a:tailEnd type="none" w="med" len="med"/>
                    </a:lnB>
                    <a:solidFill>
                      <a:srgbClr val="FAF9FB"/>
                    </a:solidFill>
                  </a:tcPr>
                </a:tc>
                <a:tc>
                  <a:txBody>
                    <a:bodyPr/>
                    <a:lstStyle/>
                    <a:p>
                      <a:pPr indent="0" marL="0">
                        <a:buNone/>
                      </a:pPr>
                      <a:r>
                        <a:rPr lang="en-US" sz="1100" dirty="0">
                          <a:solidFill>
                            <a:srgbClr val="3A3844"/>
                          </a:solidFill>
                          <a:latin typeface="Arial" pitchFamily="34" charset="0"/>
                          <a:ea typeface="Arial" pitchFamily="34" charset="-122"/>
                          <a:cs typeface="Arial" pitchFamily="34" charset="-120"/>
                        </a:rPr>
                        <a:t>Del orden de 99,9 % menor, según la propia fundación de Ethereum.</a:t>
                      </a:r>
                      <a:endParaRPr lang="en-US" sz="1100" dirty="0">
                        <a:latin typeface="Arial" charset="0"/>
                        <a:ea typeface="Arial" charset="0"/>
                        <a:cs typeface="Arial" charset="0"/>
                      </a:endParaRPr>
                    </a:p>
                  </a:txBody>
                  <a:tcPr marL="101600" marR="101600" marT="76200" marB="76200" anchor="t">
                    <a:lnL w="12700" cap="flat" cmpd="sng" algn="ctr">
                      <a:solidFill>
                        <a:srgbClr val="D9D6E0"/>
                      </a:solidFill>
                      <a:prstDash val="solid"/>
                      <a:round/>
                      <a:headEnd type="none" w="med" len="med"/>
                      <a:tailEnd type="none" w="med" len="med"/>
                    </a:lnL>
                    <a:lnR w="12700" cap="flat" cmpd="sng" algn="ctr">
                      <a:solidFill>
                        <a:srgbClr val="D9D6E0"/>
                      </a:solidFill>
                      <a:prstDash val="solid"/>
                      <a:round/>
                      <a:headEnd type="none" w="med" len="med"/>
                      <a:tailEnd type="none" w="med" len="med"/>
                    </a:lnR>
                    <a:lnT w="12700" cap="flat" cmpd="sng" algn="ctr">
                      <a:solidFill>
                        <a:srgbClr val="D9D6E0"/>
                      </a:solidFill>
                      <a:prstDash val="solid"/>
                      <a:round/>
                      <a:headEnd type="none" w="med" len="med"/>
                      <a:tailEnd type="none" w="med" len="med"/>
                    </a:lnT>
                    <a:lnB w="12700" cap="flat" cmpd="sng" algn="ctr">
                      <a:solidFill>
                        <a:srgbClr val="D9D6E0"/>
                      </a:solidFill>
                      <a:prstDash val="solid"/>
                      <a:round/>
                      <a:headEnd type="none" w="med" len="med"/>
                      <a:tailEnd type="none" w="med" len="med"/>
                    </a:lnB>
                    <a:solidFill>
                      <a:srgbClr val="FAF9FB"/>
                    </a:solidFill>
                  </a:tcPr>
                </a:tc>
              </a:tr>
              <a:tr h="679704">
                <a:tc>
                  <a:txBody>
                    <a:bodyPr/>
                    <a:lstStyle/>
                    <a:p>
                      <a:pPr indent="0" marL="0">
                        <a:buNone/>
                      </a:pPr>
                      <a:r>
                        <a:rPr lang="en-US" sz="1100" b="1" dirty="0">
                          <a:solidFill>
                            <a:srgbClr val="0F0F11"/>
                          </a:solidFill>
                          <a:latin typeface="Courier New" pitchFamily="34" charset="0"/>
                          <a:ea typeface="Courier New" pitchFamily="34" charset="-122"/>
                          <a:cs typeface="Courier New" pitchFamily="34" charset="-120"/>
                        </a:rPr>
                        <a:t>Barrera de entrada</a:t>
                      </a:r>
                      <a:endParaRPr lang="en-US" sz="1100" dirty="0">
                        <a:latin typeface="Courier New" charset="0"/>
                        <a:ea typeface="Courier New" charset="0"/>
                        <a:cs typeface="Courier New" charset="0"/>
                      </a:endParaRPr>
                    </a:p>
                  </a:txBody>
                  <a:tcPr marL="101600" marR="101600" marT="76200" marB="76200" anchor="t">
                    <a:lnL w="12700" cap="flat" cmpd="sng" algn="ctr">
                      <a:solidFill>
                        <a:srgbClr val="D9D6E0"/>
                      </a:solidFill>
                      <a:prstDash val="solid"/>
                      <a:round/>
                      <a:headEnd type="none" w="med" len="med"/>
                      <a:tailEnd type="none" w="med" len="med"/>
                    </a:lnL>
                    <a:lnR w="12700" cap="flat" cmpd="sng" algn="ctr">
                      <a:solidFill>
                        <a:srgbClr val="D9D6E0"/>
                      </a:solidFill>
                      <a:prstDash val="solid"/>
                      <a:round/>
                      <a:headEnd type="none" w="med" len="med"/>
                      <a:tailEnd type="none" w="med" len="med"/>
                    </a:lnR>
                    <a:lnT w="12700" cap="flat" cmpd="sng" algn="ctr">
                      <a:solidFill>
                        <a:srgbClr val="D9D6E0"/>
                      </a:solidFill>
                      <a:prstDash val="solid"/>
                      <a:round/>
                      <a:headEnd type="none" w="med" len="med"/>
                      <a:tailEnd type="none" w="med" len="med"/>
                    </a:lnT>
                    <a:lnB w="12700" cap="flat" cmpd="sng" algn="ctr">
                      <a:solidFill>
                        <a:srgbClr val="D9D6E0"/>
                      </a:solidFill>
                      <a:prstDash val="solid"/>
                      <a:round/>
                      <a:headEnd type="none" w="med" len="med"/>
                      <a:tailEnd type="none" w="med" len="med"/>
                    </a:lnB>
                    <a:solidFill>
                      <a:srgbClr val="FFFFFF"/>
                    </a:solidFill>
                  </a:tcPr>
                </a:tc>
                <a:tc>
                  <a:txBody>
                    <a:bodyPr/>
                    <a:lstStyle/>
                    <a:p>
                      <a:pPr indent="0" marL="0">
                        <a:buNone/>
                      </a:pPr>
                      <a:r>
                        <a:rPr lang="en-US" sz="1100" dirty="0">
                          <a:solidFill>
                            <a:srgbClr val="3A3844"/>
                          </a:solidFill>
                          <a:latin typeface="Arial" pitchFamily="34" charset="0"/>
                          <a:ea typeface="Arial" pitchFamily="34" charset="-122"/>
                          <a:cs typeface="Arial" pitchFamily="34" charset="-120"/>
                        </a:rPr>
                        <a:t>Hardware, energía barata, economía de escala.</a:t>
                      </a:r>
                      <a:endParaRPr lang="en-US" sz="1100" dirty="0">
                        <a:latin typeface="Arial" charset="0"/>
                        <a:ea typeface="Arial" charset="0"/>
                        <a:cs typeface="Arial" charset="0"/>
                      </a:endParaRPr>
                    </a:p>
                  </a:txBody>
                  <a:tcPr marL="101600" marR="101600" marT="76200" marB="76200" anchor="t">
                    <a:lnL w="12700" cap="flat" cmpd="sng" algn="ctr">
                      <a:solidFill>
                        <a:srgbClr val="D9D6E0"/>
                      </a:solidFill>
                      <a:prstDash val="solid"/>
                      <a:round/>
                      <a:headEnd type="none" w="med" len="med"/>
                      <a:tailEnd type="none" w="med" len="med"/>
                    </a:lnL>
                    <a:lnR w="12700" cap="flat" cmpd="sng" algn="ctr">
                      <a:solidFill>
                        <a:srgbClr val="D9D6E0"/>
                      </a:solidFill>
                      <a:prstDash val="solid"/>
                      <a:round/>
                      <a:headEnd type="none" w="med" len="med"/>
                      <a:tailEnd type="none" w="med" len="med"/>
                    </a:lnR>
                    <a:lnT w="12700" cap="flat" cmpd="sng" algn="ctr">
                      <a:solidFill>
                        <a:srgbClr val="D9D6E0"/>
                      </a:solidFill>
                      <a:prstDash val="solid"/>
                      <a:round/>
                      <a:headEnd type="none" w="med" len="med"/>
                      <a:tailEnd type="none" w="med" len="med"/>
                    </a:lnT>
                    <a:lnB w="12700" cap="flat" cmpd="sng" algn="ctr">
                      <a:solidFill>
                        <a:srgbClr val="D9D6E0"/>
                      </a:solidFill>
                      <a:prstDash val="solid"/>
                      <a:round/>
                      <a:headEnd type="none" w="med" len="med"/>
                      <a:tailEnd type="none" w="med" len="med"/>
                    </a:lnB>
                    <a:solidFill>
                      <a:srgbClr val="FFFFFF"/>
                    </a:solidFill>
                  </a:tcPr>
                </a:tc>
                <a:tc>
                  <a:txBody>
                    <a:bodyPr/>
                    <a:lstStyle/>
                    <a:p>
                      <a:pPr indent="0" marL="0">
                        <a:buNone/>
                      </a:pPr>
                      <a:r>
                        <a:rPr lang="en-US" sz="1100" dirty="0">
                          <a:solidFill>
                            <a:srgbClr val="3A3844"/>
                          </a:solidFill>
                          <a:latin typeface="Arial" pitchFamily="34" charset="0"/>
                          <a:ea typeface="Arial" pitchFamily="34" charset="-122"/>
                          <a:cs typeface="Arial" pitchFamily="34" charset="-120"/>
                        </a:rPr>
                        <a:t>Capital. Los ricos votan más: tendencia a la concentración.</a:t>
                      </a:r>
                      <a:endParaRPr lang="en-US" sz="1100" dirty="0">
                        <a:latin typeface="Arial" charset="0"/>
                        <a:ea typeface="Arial" charset="0"/>
                        <a:cs typeface="Arial" charset="0"/>
                      </a:endParaRPr>
                    </a:p>
                  </a:txBody>
                  <a:tcPr marL="101600" marR="101600" marT="76200" marB="76200" anchor="t">
                    <a:lnL w="12700" cap="flat" cmpd="sng" algn="ctr">
                      <a:solidFill>
                        <a:srgbClr val="D9D6E0"/>
                      </a:solidFill>
                      <a:prstDash val="solid"/>
                      <a:round/>
                      <a:headEnd type="none" w="med" len="med"/>
                      <a:tailEnd type="none" w="med" len="med"/>
                    </a:lnL>
                    <a:lnR w="12700" cap="flat" cmpd="sng" algn="ctr">
                      <a:solidFill>
                        <a:srgbClr val="D9D6E0"/>
                      </a:solidFill>
                      <a:prstDash val="solid"/>
                      <a:round/>
                      <a:headEnd type="none" w="med" len="med"/>
                      <a:tailEnd type="none" w="med" len="med"/>
                    </a:lnR>
                    <a:lnT w="12700" cap="flat" cmpd="sng" algn="ctr">
                      <a:solidFill>
                        <a:srgbClr val="D9D6E0"/>
                      </a:solidFill>
                      <a:prstDash val="solid"/>
                      <a:round/>
                      <a:headEnd type="none" w="med" len="med"/>
                      <a:tailEnd type="none" w="med" len="med"/>
                    </a:lnT>
                    <a:lnB w="12700" cap="flat" cmpd="sng" algn="ctr">
                      <a:solidFill>
                        <a:srgbClr val="D9D6E0"/>
                      </a:solidFill>
                      <a:prstDash val="solid"/>
                      <a:round/>
                      <a:headEnd type="none" w="med" len="med"/>
                      <a:tailEnd type="none" w="med" len="med"/>
                    </a:lnB>
                    <a:solidFill>
                      <a:srgbClr val="FFFFFF"/>
                    </a:solidFill>
                  </a:tcPr>
                </a:tc>
              </a:tr>
              <a:tr h="679704">
                <a:tc>
                  <a:txBody>
                    <a:bodyPr/>
                    <a:lstStyle/>
                    <a:p>
                      <a:pPr indent="0" marL="0">
                        <a:buNone/>
                      </a:pPr>
                      <a:r>
                        <a:rPr lang="en-US" sz="1100" b="1" dirty="0">
                          <a:solidFill>
                            <a:srgbClr val="0F0F11"/>
                          </a:solidFill>
                          <a:latin typeface="Courier New" pitchFamily="34" charset="0"/>
                          <a:ea typeface="Courier New" pitchFamily="34" charset="-122"/>
                          <a:cs typeface="Courier New" pitchFamily="34" charset="-120"/>
                        </a:rPr>
                        <a:t>Recuperación tras un ataque</a:t>
                      </a:r>
                      <a:endParaRPr lang="en-US" sz="1100" dirty="0">
                        <a:latin typeface="Courier New" charset="0"/>
                        <a:ea typeface="Courier New" charset="0"/>
                        <a:cs typeface="Courier New" charset="0"/>
                      </a:endParaRPr>
                    </a:p>
                  </a:txBody>
                  <a:tcPr marL="101600" marR="101600" marT="76200" marB="76200" anchor="t">
                    <a:lnL w="12700" cap="flat" cmpd="sng" algn="ctr">
                      <a:solidFill>
                        <a:srgbClr val="D9D6E0"/>
                      </a:solidFill>
                      <a:prstDash val="solid"/>
                      <a:round/>
                      <a:headEnd type="none" w="med" len="med"/>
                      <a:tailEnd type="none" w="med" len="med"/>
                    </a:lnL>
                    <a:lnR w="12700" cap="flat" cmpd="sng" algn="ctr">
                      <a:solidFill>
                        <a:srgbClr val="D9D6E0"/>
                      </a:solidFill>
                      <a:prstDash val="solid"/>
                      <a:round/>
                      <a:headEnd type="none" w="med" len="med"/>
                      <a:tailEnd type="none" w="med" len="med"/>
                    </a:lnR>
                    <a:lnT w="12700" cap="flat" cmpd="sng" algn="ctr">
                      <a:solidFill>
                        <a:srgbClr val="D9D6E0"/>
                      </a:solidFill>
                      <a:prstDash val="solid"/>
                      <a:round/>
                      <a:headEnd type="none" w="med" len="med"/>
                      <a:tailEnd type="none" w="med" len="med"/>
                    </a:lnT>
                    <a:lnB w="12700" cap="flat" cmpd="sng" algn="ctr">
                      <a:solidFill>
                        <a:srgbClr val="D9D6E0"/>
                      </a:solidFill>
                      <a:prstDash val="solid"/>
                      <a:round/>
                      <a:headEnd type="none" w="med" len="med"/>
                      <a:tailEnd type="none" w="med" len="med"/>
                    </a:lnB>
                    <a:solidFill>
                      <a:srgbClr val="FAF9FB"/>
                    </a:solidFill>
                  </a:tcPr>
                </a:tc>
                <a:tc>
                  <a:txBody>
                    <a:bodyPr/>
                    <a:lstStyle/>
                    <a:p>
                      <a:pPr indent="0" marL="0">
                        <a:buNone/>
                      </a:pPr>
                      <a:r>
                        <a:rPr lang="en-US" sz="1100" dirty="0">
                          <a:solidFill>
                            <a:srgbClr val="3A3844"/>
                          </a:solidFill>
                          <a:latin typeface="Arial" pitchFamily="34" charset="0"/>
                          <a:ea typeface="Arial" pitchFamily="34" charset="-122"/>
                          <a:cs typeface="Arial" pitchFamily="34" charset="-120"/>
                        </a:rPr>
                        <a:t>Difícil: el hardware del atacante sigue existiendo.</a:t>
                      </a:r>
                      <a:endParaRPr lang="en-US" sz="1100" dirty="0">
                        <a:latin typeface="Arial" charset="0"/>
                        <a:ea typeface="Arial" charset="0"/>
                        <a:cs typeface="Arial" charset="0"/>
                      </a:endParaRPr>
                    </a:p>
                  </a:txBody>
                  <a:tcPr marL="101600" marR="101600" marT="76200" marB="76200" anchor="t">
                    <a:lnL w="12700" cap="flat" cmpd="sng" algn="ctr">
                      <a:solidFill>
                        <a:srgbClr val="D9D6E0"/>
                      </a:solidFill>
                      <a:prstDash val="solid"/>
                      <a:round/>
                      <a:headEnd type="none" w="med" len="med"/>
                      <a:tailEnd type="none" w="med" len="med"/>
                    </a:lnL>
                    <a:lnR w="12700" cap="flat" cmpd="sng" algn="ctr">
                      <a:solidFill>
                        <a:srgbClr val="D9D6E0"/>
                      </a:solidFill>
                      <a:prstDash val="solid"/>
                      <a:round/>
                      <a:headEnd type="none" w="med" len="med"/>
                      <a:tailEnd type="none" w="med" len="med"/>
                    </a:lnR>
                    <a:lnT w="12700" cap="flat" cmpd="sng" algn="ctr">
                      <a:solidFill>
                        <a:srgbClr val="D9D6E0"/>
                      </a:solidFill>
                      <a:prstDash val="solid"/>
                      <a:round/>
                      <a:headEnd type="none" w="med" len="med"/>
                      <a:tailEnd type="none" w="med" len="med"/>
                    </a:lnT>
                    <a:lnB w="12700" cap="flat" cmpd="sng" algn="ctr">
                      <a:solidFill>
                        <a:srgbClr val="D9D6E0"/>
                      </a:solidFill>
                      <a:prstDash val="solid"/>
                      <a:round/>
                      <a:headEnd type="none" w="med" len="med"/>
                      <a:tailEnd type="none" w="med" len="med"/>
                    </a:lnB>
                    <a:solidFill>
                      <a:srgbClr val="FAF9FB"/>
                    </a:solidFill>
                  </a:tcPr>
                </a:tc>
                <a:tc>
                  <a:txBody>
                    <a:bodyPr/>
                    <a:lstStyle/>
                    <a:p>
                      <a:pPr indent="0" marL="0">
                        <a:buNone/>
                      </a:pPr>
                      <a:r>
                        <a:rPr lang="en-US" sz="1100" dirty="0">
                          <a:solidFill>
                            <a:srgbClr val="3A3844"/>
                          </a:solidFill>
                          <a:latin typeface="Arial" pitchFamily="34" charset="0"/>
                          <a:ea typeface="Arial" pitchFamily="34" charset="-122"/>
                          <a:cs typeface="Arial" pitchFamily="34" charset="-120"/>
                        </a:rPr>
                        <a:t>El protocolo puede quemar el stake atacante con consenso social.</a:t>
                      </a:r>
                      <a:endParaRPr lang="en-US" sz="1100" dirty="0">
                        <a:latin typeface="Arial" charset="0"/>
                        <a:ea typeface="Arial" charset="0"/>
                        <a:cs typeface="Arial" charset="0"/>
                      </a:endParaRPr>
                    </a:p>
                  </a:txBody>
                  <a:tcPr marL="101600" marR="101600" marT="76200" marB="76200" anchor="t">
                    <a:lnL w="12700" cap="flat" cmpd="sng" algn="ctr">
                      <a:solidFill>
                        <a:srgbClr val="D9D6E0"/>
                      </a:solidFill>
                      <a:prstDash val="solid"/>
                      <a:round/>
                      <a:headEnd type="none" w="med" len="med"/>
                      <a:tailEnd type="none" w="med" len="med"/>
                    </a:lnL>
                    <a:lnR w="12700" cap="flat" cmpd="sng" algn="ctr">
                      <a:solidFill>
                        <a:srgbClr val="D9D6E0"/>
                      </a:solidFill>
                      <a:prstDash val="solid"/>
                      <a:round/>
                      <a:headEnd type="none" w="med" len="med"/>
                      <a:tailEnd type="none" w="med" len="med"/>
                    </a:lnR>
                    <a:lnT w="12700" cap="flat" cmpd="sng" algn="ctr">
                      <a:solidFill>
                        <a:srgbClr val="D9D6E0"/>
                      </a:solidFill>
                      <a:prstDash val="solid"/>
                      <a:round/>
                      <a:headEnd type="none" w="med" len="med"/>
                      <a:tailEnd type="none" w="med" len="med"/>
                    </a:lnT>
                    <a:lnB w="12700" cap="flat" cmpd="sng" algn="ctr">
                      <a:solidFill>
                        <a:srgbClr val="D9D6E0"/>
                      </a:solidFill>
                      <a:prstDash val="solid"/>
                      <a:round/>
                      <a:headEnd type="none" w="med" len="med"/>
                      <a:tailEnd type="none" w="med" len="med"/>
                    </a:lnB>
                    <a:solidFill>
                      <a:srgbClr val="FAF9FB"/>
                    </a:solidFill>
                  </a:tcPr>
                </a:tc>
              </a:tr>
            </a:tbl>
          </a:graphicData>
        </a:graphic>
      </p:graphicFrame>
      <p:sp>
        <p:nvSpPr>
          <p:cNvPr id="9" name="Shape 5"/>
          <p:cNvSpPr/>
          <p:nvPr/>
        </p:nvSpPr>
        <p:spPr>
          <a:xfrm>
            <a:off x="548640" y="1719072"/>
            <a:ext cx="11094415" cy="4425696"/>
          </a:xfrm>
          <a:prstGeom prst="rect">
            <a:avLst/>
          </a:prstGeom>
          <a:ln w="22225">
            <a:solidFill>
              <a:srgbClr val="0F0F11"/>
            </a:solidFill>
            <a:prstDash val="solid"/>
          </a:ln>
        </p:spPr>
      </p:sp>
    </p:spTree>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name="Slide 24">
    <p:bg>
      <p:bgPr>
        <a:solidFill>
          <a:srgbClr val="FFFFFF"/>
        </a:solidFill>
      </p:bgPr>
    </p:bg>
    <p:spTree>
      <p:nvGrpSpPr>
        <p:cNvPr id="1" name=""/>
        <p:cNvGrpSpPr/>
        <p:nvPr/>
      </p:nvGrpSpPr>
      <p:grpSpPr>
        <a:xfrm>
          <a:off x="0" y="0"/>
          <a:ext cx="0" cy="0"/>
          <a:chOff x="0" y="0"/>
          <a:chExt cx="0" cy="0"/>
        </a:xfrm>
      </p:grpSpPr>
      <p:pic>
        <p:nvPicPr>
          <p:cNvPr id="2" name="Image 0" descr="preencoded.png">    </p:cNvPr>
          <p:cNvPicPr>
            <a:picLocks noChangeAspect="1"/>
          </p:cNvPicPr>
          <p:nvPr/>
        </p:nvPicPr>
        <p:blipFill>
          <a:blip r:embed="rId1"/>
          <a:stretch>
            <a:fillRect/>
          </a:stretch>
        </p:blipFill>
        <p:spPr>
          <a:xfrm>
            <a:off x="566928" y="402336"/>
            <a:ext cx="274320" cy="274320"/>
          </a:xfrm>
          <a:prstGeom prst="rect">
            <a:avLst/>
          </a:prstGeom>
        </p:spPr>
      </p:pic>
      <p:sp>
        <p:nvSpPr>
          <p:cNvPr id="3" name="Text 0"/>
          <p:cNvSpPr/>
          <p:nvPr/>
        </p:nvSpPr>
        <p:spPr>
          <a:xfrm>
            <a:off x="969264" y="384048"/>
            <a:ext cx="10655503" cy="310896"/>
          </a:xfrm>
          <a:prstGeom prst="rect">
            <a:avLst/>
          </a:prstGeom>
          <a:noFill/>
          <a:ln/>
        </p:spPr>
        <p:txBody>
          <a:bodyPr wrap="square" lIns="0" tIns="0" rIns="0" bIns="0" rtlCol="0" anchor="ctr"/>
          <a:lstStyle/>
          <a:p>
            <a:pPr indent="0" marL="0">
              <a:buNone/>
            </a:pPr>
            <a:r>
              <a:rPr lang="en-US" sz="950" spc="160" kern="0" dirty="0">
                <a:solidFill>
                  <a:srgbClr val="6F6B80"/>
                </a:solidFill>
                <a:latin typeface="Courier New" pitchFamily="34" charset="0"/>
                <a:ea typeface="Courier New" pitchFamily="34" charset="-122"/>
                <a:cs typeface="Courier New" pitchFamily="34" charset="-120"/>
              </a:rPr>
              <a:t>A.15 · MÁS ALLÁ DE LAS REDES PÚBLICAS</a:t>
            </a:r>
            <a:endParaRPr lang="en-US" sz="950" dirty="0"/>
          </a:p>
        </p:txBody>
      </p:sp>
      <p:sp>
        <p:nvSpPr>
          <p:cNvPr id="4" name="Text 1"/>
          <p:cNvSpPr/>
          <p:nvPr/>
        </p:nvSpPr>
        <p:spPr>
          <a:xfrm>
            <a:off x="566928" y="777240"/>
            <a:ext cx="11057839" cy="777240"/>
          </a:xfrm>
          <a:prstGeom prst="rect">
            <a:avLst/>
          </a:prstGeom>
          <a:noFill/>
          <a:ln/>
        </p:spPr>
        <p:txBody>
          <a:bodyPr wrap="square" lIns="0" tIns="0" rIns="0" bIns="0" rtlCol="0" anchor="t"/>
          <a:lstStyle/>
          <a:p>
            <a:pPr indent="0" marL="0">
              <a:lnSpc>
                <a:spcPct val="92000"/>
              </a:lnSpc>
              <a:buNone/>
            </a:pPr>
            <a:r>
              <a:rPr lang="en-US" sz="2400" dirty="0">
                <a:solidFill>
                  <a:srgbClr val="0F0F11"/>
                </a:solidFill>
                <a:latin typeface="Arial Black" pitchFamily="34" charset="0"/>
                <a:ea typeface="Arial Black" pitchFamily="34" charset="-122"/>
                <a:cs typeface="Arial Black" pitchFamily="34" charset="-120"/>
              </a:rPr>
              <a:t>POA, PBFT Y DPOS: DÓNDE TIENE SENTIDO CADA UNO</a:t>
            </a:r>
            <a:endParaRPr lang="en-US" sz="2400" dirty="0"/>
          </a:p>
        </p:txBody>
      </p:sp>
      <p:sp>
        <p:nvSpPr>
          <p:cNvPr id="5" name="Text 2"/>
          <p:cNvSpPr/>
          <p:nvPr/>
        </p:nvSpPr>
        <p:spPr>
          <a:xfrm>
            <a:off x="566928" y="6291072"/>
            <a:ext cx="8412480" cy="274320"/>
          </a:xfrm>
          <a:prstGeom prst="rect">
            <a:avLst/>
          </a:prstGeom>
          <a:noFill/>
          <a:ln/>
        </p:spPr>
        <p:txBody>
          <a:bodyPr wrap="square" lIns="0" tIns="0" rIns="0" bIns="0" rtlCol="0" anchor="ctr"/>
          <a:lstStyle/>
          <a:p>
            <a:pPr indent="0" marL="0">
              <a:buNone/>
            </a:pPr>
            <a:r>
              <a:rPr lang="en-US" sz="800" spc="120" kern="0" dirty="0">
                <a:solidFill>
                  <a:srgbClr val="6F6B80"/>
                </a:solidFill>
                <a:latin typeface="Courier New" pitchFamily="34" charset="0"/>
                <a:ea typeface="Courier New" pitchFamily="34" charset="-122"/>
                <a:cs typeface="Courier New" pitchFamily="34" charset="-120"/>
              </a:rPr>
              <a:t>SESIÓN 04 · CONSENSO, INCENTIVOS Y EL TRILEMA</a:t>
            </a:r>
            <a:endParaRPr lang="en-US" sz="800" dirty="0"/>
          </a:p>
        </p:txBody>
      </p:sp>
      <p:sp>
        <p:nvSpPr>
          <p:cNvPr id="6" name="Text 3"/>
          <p:cNvSpPr/>
          <p:nvPr/>
        </p:nvSpPr>
        <p:spPr>
          <a:xfrm>
            <a:off x="9052560" y="6291072"/>
            <a:ext cx="1828800" cy="274320"/>
          </a:xfrm>
          <a:prstGeom prst="rect">
            <a:avLst/>
          </a:prstGeom>
          <a:noFill/>
          <a:ln/>
        </p:spPr>
        <p:txBody>
          <a:bodyPr wrap="square" lIns="0" tIns="0" rIns="0" bIns="0" rtlCol="0" anchor="ctr"/>
          <a:lstStyle/>
          <a:p>
            <a:pPr algn="r" indent="0" marL="0">
              <a:buNone/>
            </a:pPr>
            <a:r>
              <a:rPr lang="en-US" sz="800" spc="120" kern="0" dirty="0">
                <a:solidFill>
                  <a:srgbClr val="6F6B80"/>
                </a:solidFill>
                <a:latin typeface="Courier New" pitchFamily="34" charset="0"/>
                <a:ea typeface="Courier New" pitchFamily="34" charset="-122"/>
                <a:cs typeface="Courier New" pitchFamily="34" charset="-120"/>
              </a:rPr>
              <a:t>USB MEDELLÍN</a:t>
            </a:r>
            <a:endParaRPr lang="en-US" sz="800" dirty="0"/>
          </a:p>
        </p:txBody>
      </p:sp>
      <p:sp>
        <p:nvSpPr>
          <p:cNvPr id="7" name="Text 4"/>
          <p:cNvSpPr/>
          <p:nvPr/>
        </p:nvSpPr>
        <p:spPr>
          <a:xfrm>
            <a:off x="11018520" y="6291072"/>
            <a:ext cx="603504" cy="274320"/>
          </a:xfrm>
          <a:prstGeom prst="rect">
            <a:avLst/>
          </a:prstGeom>
          <a:noFill/>
          <a:ln/>
        </p:spPr>
        <p:txBody>
          <a:bodyPr wrap="square" lIns="0" tIns="0" rIns="0" bIns="0" rtlCol="0" anchor="ctr"/>
          <a:lstStyle/>
          <a:p>
            <a:pPr algn="r" indent="0" marL="0">
              <a:buNone/>
            </a:pPr>
            <a:r>
              <a:rPr lang="en-US" sz="900" b="1" dirty="0">
                <a:solidFill>
                  <a:srgbClr val="0F0F11"/>
                </a:solidFill>
                <a:latin typeface="Courier New" pitchFamily="34" charset="0"/>
                <a:ea typeface="Courier New" pitchFamily="34" charset="-122"/>
                <a:cs typeface="Courier New" pitchFamily="34" charset="-120"/>
              </a:rPr>
              <a:t>24</a:t>
            </a:r>
            <a:endParaRPr lang="en-US" sz="900" dirty="0"/>
          </a:p>
        </p:txBody>
      </p:sp>
      <p:graphicFrame>
        <p:nvGraphicFramePr>
          <p:cNvPr id="25" name="Table 0"/>
          <p:cNvGraphicFramePr>
            <a:graphicFrameLocks noGrp="1"/>
          </p:cNvGraphicFramePr>
          <p:nvPr>
            <p:extLst>
              <p:ext uri="{D42A27DB-BD31-4B8C-83A1-F6EECF244321}">
                <p14:modId xmlns:p14="http://schemas.microsoft.com/office/powerpoint/2010/main" val="1579011935"/>
              </p:ext>
            </p:extLst>
          </p:nvPr>
        </p:nvGraphicFramePr>
        <p:xfrm>
          <a:off x="566928" y="1737360"/>
          <a:ext cx="11057839" cy="914400"/>
        </p:xfrm>
        <a:graphic>
          <a:graphicData uri="http://schemas.openxmlformats.org/drawingml/2006/table">
            <a:tbl>
              <a:tblPr/>
              <a:tblGrid>
                <a:gridCol w="1737360"/>
                <a:gridCol w="2560320"/>
                <a:gridCol w="1737360"/>
                <a:gridCol w="2560320"/>
                <a:gridCol w="2462479"/>
              </a:tblGrid>
              <a:tr h="310896">
                <a:tc>
                  <a:txBody>
                    <a:bodyPr/>
                    <a:lstStyle/>
                    <a:p>
                      <a:pPr indent="0" marL="0">
                        <a:buNone/>
                      </a:pPr>
                      <a:r>
                        <a:rPr lang="en-US" sz="900" b="1" spc="110" kern="0" dirty="0">
                          <a:solidFill>
                            <a:srgbClr val="FFFFFF"/>
                          </a:solidFill>
                          <a:latin typeface="Courier New" pitchFamily="34" charset="0"/>
                          <a:ea typeface="Courier New" pitchFamily="34" charset="-122"/>
                          <a:cs typeface="Courier New" pitchFamily="34" charset="-120"/>
                        </a:rPr>
                        <a:t>MECANISMO</a:t>
                      </a:r>
                      <a:endParaRPr lang="en-US" sz="900" dirty="0">
                        <a:latin typeface="Courier New" charset="0"/>
                        <a:ea typeface="Courier New" charset="0"/>
                        <a:cs typeface="Courier New" charset="0"/>
                      </a:endParaRPr>
                    </a:p>
                  </a:txBody>
                  <a:tcPr marL="101600" marR="101600" marT="76200" marB="76200" anchor="ctr">
                    <a:lnL w="12700" cap="flat" cmpd="sng" algn="ctr">
                      <a:solidFill>
                        <a:srgbClr val="D9D6E0"/>
                      </a:solidFill>
                      <a:prstDash val="solid"/>
                      <a:round/>
                      <a:headEnd type="none" w="med" len="med"/>
                      <a:tailEnd type="none" w="med" len="med"/>
                    </a:lnL>
                    <a:lnR w="12700" cap="flat" cmpd="sng" algn="ctr">
                      <a:solidFill>
                        <a:srgbClr val="D9D6E0"/>
                      </a:solidFill>
                      <a:prstDash val="solid"/>
                      <a:round/>
                      <a:headEnd type="none" w="med" len="med"/>
                      <a:tailEnd type="none" w="med" len="med"/>
                    </a:lnR>
                    <a:lnT w="12700" cap="flat" cmpd="sng" algn="ctr">
                      <a:solidFill>
                        <a:srgbClr val="D9D6E0"/>
                      </a:solidFill>
                      <a:prstDash val="solid"/>
                      <a:round/>
                      <a:headEnd type="none" w="med" len="med"/>
                      <a:tailEnd type="none" w="med" len="med"/>
                    </a:lnT>
                    <a:lnB w="12700" cap="flat" cmpd="sng" algn="ctr">
                      <a:solidFill>
                        <a:srgbClr val="D9D6E0"/>
                      </a:solidFill>
                      <a:prstDash val="solid"/>
                      <a:round/>
                      <a:headEnd type="none" w="med" len="med"/>
                      <a:tailEnd type="none" w="med" len="med"/>
                    </a:lnB>
                    <a:solidFill>
                      <a:srgbClr val="0F0F11"/>
                    </a:solidFill>
                  </a:tcPr>
                </a:tc>
                <a:tc>
                  <a:txBody>
                    <a:bodyPr/>
                    <a:lstStyle/>
                    <a:p>
                      <a:pPr indent="0" marL="0">
                        <a:buNone/>
                      </a:pPr>
                      <a:r>
                        <a:rPr lang="en-US" sz="900" b="1" spc="110" kern="0" dirty="0">
                          <a:solidFill>
                            <a:srgbClr val="FFFFFF"/>
                          </a:solidFill>
                          <a:latin typeface="Courier New" pitchFamily="34" charset="0"/>
                          <a:ea typeface="Courier New" pitchFamily="34" charset="-122"/>
                          <a:cs typeface="Courier New" pitchFamily="34" charset="-120"/>
                        </a:rPr>
                        <a:t>QUIÉN VALIDA</a:t>
                      </a:r>
                      <a:endParaRPr lang="en-US" sz="900" dirty="0">
                        <a:latin typeface="Courier New" charset="0"/>
                        <a:ea typeface="Courier New" charset="0"/>
                        <a:cs typeface="Courier New" charset="0"/>
                      </a:endParaRPr>
                    </a:p>
                  </a:txBody>
                  <a:tcPr marL="101600" marR="101600" marT="76200" marB="76200" anchor="ctr">
                    <a:lnL w="12700" cap="flat" cmpd="sng" algn="ctr">
                      <a:solidFill>
                        <a:srgbClr val="D9D6E0"/>
                      </a:solidFill>
                      <a:prstDash val="solid"/>
                      <a:round/>
                      <a:headEnd type="none" w="med" len="med"/>
                      <a:tailEnd type="none" w="med" len="med"/>
                    </a:lnL>
                    <a:lnR w="12700" cap="flat" cmpd="sng" algn="ctr">
                      <a:solidFill>
                        <a:srgbClr val="D9D6E0"/>
                      </a:solidFill>
                      <a:prstDash val="solid"/>
                      <a:round/>
                      <a:headEnd type="none" w="med" len="med"/>
                      <a:tailEnd type="none" w="med" len="med"/>
                    </a:lnR>
                    <a:lnT w="12700" cap="flat" cmpd="sng" algn="ctr">
                      <a:solidFill>
                        <a:srgbClr val="D9D6E0"/>
                      </a:solidFill>
                      <a:prstDash val="solid"/>
                      <a:round/>
                      <a:headEnd type="none" w="med" len="med"/>
                      <a:tailEnd type="none" w="med" len="med"/>
                    </a:lnT>
                    <a:lnB w="12700" cap="flat" cmpd="sng" algn="ctr">
                      <a:solidFill>
                        <a:srgbClr val="D9D6E0"/>
                      </a:solidFill>
                      <a:prstDash val="solid"/>
                      <a:round/>
                      <a:headEnd type="none" w="med" len="med"/>
                      <a:tailEnd type="none" w="med" len="med"/>
                    </a:lnB>
                    <a:solidFill>
                      <a:srgbClr val="0F0F11"/>
                    </a:solidFill>
                  </a:tcPr>
                </a:tc>
                <a:tc>
                  <a:txBody>
                    <a:bodyPr/>
                    <a:lstStyle/>
                    <a:p>
                      <a:pPr indent="0" marL="0">
                        <a:buNone/>
                      </a:pPr>
                      <a:r>
                        <a:rPr lang="en-US" sz="900" b="1" spc="110" kern="0" dirty="0">
                          <a:solidFill>
                            <a:srgbClr val="FFFFFF"/>
                          </a:solidFill>
                          <a:latin typeface="Courier New" pitchFamily="34" charset="0"/>
                          <a:ea typeface="Courier New" pitchFamily="34" charset="-122"/>
                          <a:cs typeface="Courier New" pitchFamily="34" charset="-120"/>
                        </a:rPr>
                        <a:t>FINALIDAD</a:t>
                      </a:r>
                      <a:endParaRPr lang="en-US" sz="900" dirty="0">
                        <a:latin typeface="Courier New" charset="0"/>
                        <a:ea typeface="Courier New" charset="0"/>
                        <a:cs typeface="Courier New" charset="0"/>
                      </a:endParaRPr>
                    </a:p>
                  </a:txBody>
                  <a:tcPr marL="101600" marR="101600" marT="76200" marB="76200" anchor="ctr">
                    <a:lnL w="12700" cap="flat" cmpd="sng" algn="ctr">
                      <a:solidFill>
                        <a:srgbClr val="D9D6E0"/>
                      </a:solidFill>
                      <a:prstDash val="solid"/>
                      <a:round/>
                      <a:headEnd type="none" w="med" len="med"/>
                      <a:tailEnd type="none" w="med" len="med"/>
                    </a:lnL>
                    <a:lnR w="12700" cap="flat" cmpd="sng" algn="ctr">
                      <a:solidFill>
                        <a:srgbClr val="D9D6E0"/>
                      </a:solidFill>
                      <a:prstDash val="solid"/>
                      <a:round/>
                      <a:headEnd type="none" w="med" len="med"/>
                      <a:tailEnd type="none" w="med" len="med"/>
                    </a:lnR>
                    <a:lnT w="12700" cap="flat" cmpd="sng" algn="ctr">
                      <a:solidFill>
                        <a:srgbClr val="D9D6E0"/>
                      </a:solidFill>
                      <a:prstDash val="solid"/>
                      <a:round/>
                      <a:headEnd type="none" w="med" len="med"/>
                      <a:tailEnd type="none" w="med" len="med"/>
                    </a:lnT>
                    <a:lnB w="12700" cap="flat" cmpd="sng" algn="ctr">
                      <a:solidFill>
                        <a:srgbClr val="D9D6E0"/>
                      </a:solidFill>
                      <a:prstDash val="solid"/>
                      <a:round/>
                      <a:headEnd type="none" w="med" len="med"/>
                      <a:tailEnd type="none" w="med" len="med"/>
                    </a:lnB>
                    <a:solidFill>
                      <a:srgbClr val="0F0F11"/>
                    </a:solidFill>
                  </a:tcPr>
                </a:tc>
                <a:tc>
                  <a:txBody>
                    <a:bodyPr/>
                    <a:lstStyle/>
                    <a:p>
                      <a:pPr indent="0" marL="0">
                        <a:buNone/>
                      </a:pPr>
                      <a:r>
                        <a:rPr lang="en-US" sz="900" b="1" spc="110" kern="0" dirty="0">
                          <a:solidFill>
                            <a:srgbClr val="FFFFFF"/>
                          </a:solidFill>
                          <a:latin typeface="Courier New" pitchFamily="34" charset="0"/>
                          <a:ea typeface="Courier New" pitchFamily="34" charset="-122"/>
                          <a:cs typeface="Courier New" pitchFamily="34" charset="-120"/>
                        </a:rPr>
                        <a:t>DÓNDE ENCAJA</a:t>
                      </a:r>
                      <a:endParaRPr lang="en-US" sz="900" dirty="0">
                        <a:latin typeface="Courier New" charset="0"/>
                        <a:ea typeface="Courier New" charset="0"/>
                        <a:cs typeface="Courier New" charset="0"/>
                      </a:endParaRPr>
                    </a:p>
                  </a:txBody>
                  <a:tcPr marL="101600" marR="101600" marT="76200" marB="76200" anchor="ctr">
                    <a:lnL w="12700" cap="flat" cmpd="sng" algn="ctr">
                      <a:solidFill>
                        <a:srgbClr val="D9D6E0"/>
                      </a:solidFill>
                      <a:prstDash val="solid"/>
                      <a:round/>
                      <a:headEnd type="none" w="med" len="med"/>
                      <a:tailEnd type="none" w="med" len="med"/>
                    </a:lnL>
                    <a:lnR w="12700" cap="flat" cmpd="sng" algn="ctr">
                      <a:solidFill>
                        <a:srgbClr val="D9D6E0"/>
                      </a:solidFill>
                      <a:prstDash val="solid"/>
                      <a:round/>
                      <a:headEnd type="none" w="med" len="med"/>
                      <a:tailEnd type="none" w="med" len="med"/>
                    </a:lnR>
                    <a:lnT w="12700" cap="flat" cmpd="sng" algn="ctr">
                      <a:solidFill>
                        <a:srgbClr val="D9D6E0"/>
                      </a:solidFill>
                      <a:prstDash val="solid"/>
                      <a:round/>
                      <a:headEnd type="none" w="med" len="med"/>
                      <a:tailEnd type="none" w="med" len="med"/>
                    </a:lnT>
                    <a:lnB w="12700" cap="flat" cmpd="sng" algn="ctr">
                      <a:solidFill>
                        <a:srgbClr val="D9D6E0"/>
                      </a:solidFill>
                      <a:prstDash val="solid"/>
                      <a:round/>
                      <a:headEnd type="none" w="med" len="med"/>
                      <a:tailEnd type="none" w="med" len="med"/>
                    </a:lnB>
                    <a:solidFill>
                      <a:srgbClr val="0F0F11"/>
                    </a:solidFill>
                  </a:tcPr>
                </a:tc>
                <a:tc>
                  <a:txBody>
                    <a:bodyPr/>
                    <a:lstStyle/>
                    <a:p>
                      <a:pPr indent="0" marL="0">
                        <a:buNone/>
                      </a:pPr>
                      <a:r>
                        <a:rPr lang="en-US" sz="900" b="1" spc="110" kern="0" dirty="0">
                          <a:solidFill>
                            <a:srgbClr val="FFFFFF"/>
                          </a:solidFill>
                          <a:latin typeface="Courier New" pitchFamily="34" charset="0"/>
                          <a:ea typeface="Courier New" pitchFamily="34" charset="-122"/>
                          <a:cs typeface="Courier New" pitchFamily="34" charset="-120"/>
                        </a:rPr>
                        <a:t>QUÉ SE SACRIFICA</a:t>
                      </a:r>
                      <a:endParaRPr lang="en-US" sz="900" dirty="0">
                        <a:latin typeface="Courier New" charset="0"/>
                        <a:ea typeface="Courier New" charset="0"/>
                        <a:cs typeface="Courier New" charset="0"/>
                      </a:endParaRPr>
                    </a:p>
                  </a:txBody>
                  <a:tcPr marL="101600" marR="101600" marT="76200" marB="76200" anchor="ctr">
                    <a:lnL w="12700" cap="flat" cmpd="sng" algn="ctr">
                      <a:solidFill>
                        <a:srgbClr val="D9D6E0"/>
                      </a:solidFill>
                      <a:prstDash val="solid"/>
                      <a:round/>
                      <a:headEnd type="none" w="med" len="med"/>
                      <a:tailEnd type="none" w="med" len="med"/>
                    </a:lnL>
                    <a:lnR w="12700" cap="flat" cmpd="sng" algn="ctr">
                      <a:solidFill>
                        <a:srgbClr val="D9D6E0"/>
                      </a:solidFill>
                      <a:prstDash val="solid"/>
                      <a:round/>
                      <a:headEnd type="none" w="med" len="med"/>
                      <a:tailEnd type="none" w="med" len="med"/>
                    </a:lnR>
                    <a:lnT w="12700" cap="flat" cmpd="sng" algn="ctr">
                      <a:solidFill>
                        <a:srgbClr val="D9D6E0"/>
                      </a:solidFill>
                      <a:prstDash val="solid"/>
                      <a:round/>
                      <a:headEnd type="none" w="med" len="med"/>
                      <a:tailEnd type="none" w="med" len="med"/>
                    </a:lnT>
                    <a:lnB w="12700" cap="flat" cmpd="sng" algn="ctr">
                      <a:solidFill>
                        <a:srgbClr val="D9D6E0"/>
                      </a:solidFill>
                      <a:prstDash val="solid"/>
                      <a:round/>
                      <a:headEnd type="none" w="med" len="med"/>
                      <a:tailEnd type="none" w="med" len="med"/>
                    </a:lnB>
                    <a:solidFill>
                      <a:srgbClr val="0F0F11"/>
                    </a:solidFill>
                  </a:tcPr>
                </a:tc>
              </a:tr>
              <a:tr h="917448">
                <a:tc>
                  <a:txBody>
                    <a:bodyPr/>
                    <a:lstStyle/>
                    <a:p>
                      <a:pPr indent="0" marL="0">
                        <a:buNone/>
                      </a:pPr>
                      <a:r>
                        <a:rPr lang="en-US" sz="1100" b="1" dirty="0">
                          <a:solidFill>
                            <a:srgbClr val="0F0F11"/>
                          </a:solidFill>
                          <a:latin typeface="Courier New" pitchFamily="34" charset="0"/>
                          <a:ea typeface="Courier New" pitchFamily="34" charset="-122"/>
                          <a:cs typeface="Courier New" pitchFamily="34" charset="-120"/>
                        </a:rPr>
                        <a:t>PoA</a:t>
                      </a:r>
                      <a:endParaRPr lang="en-US" sz="1100" dirty="0">
                        <a:latin typeface="Courier New" charset="0"/>
                        <a:ea typeface="Courier New" charset="0"/>
                        <a:cs typeface="Courier New" charset="0"/>
                      </a:endParaRPr>
                    </a:p>
                  </a:txBody>
                  <a:tcPr marL="101600" marR="101600" marT="76200" marB="76200" anchor="t">
                    <a:lnL w="12700" cap="flat" cmpd="sng" algn="ctr">
                      <a:solidFill>
                        <a:srgbClr val="D9D6E0"/>
                      </a:solidFill>
                      <a:prstDash val="solid"/>
                      <a:round/>
                      <a:headEnd type="none" w="med" len="med"/>
                      <a:tailEnd type="none" w="med" len="med"/>
                    </a:lnL>
                    <a:lnR w="12700" cap="flat" cmpd="sng" algn="ctr">
                      <a:solidFill>
                        <a:srgbClr val="D9D6E0"/>
                      </a:solidFill>
                      <a:prstDash val="solid"/>
                      <a:round/>
                      <a:headEnd type="none" w="med" len="med"/>
                      <a:tailEnd type="none" w="med" len="med"/>
                    </a:lnR>
                    <a:lnT w="12700" cap="flat" cmpd="sng" algn="ctr">
                      <a:solidFill>
                        <a:srgbClr val="D9D6E0"/>
                      </a:solidFill>
                      <a:prstDash val="solid"/>
                      <a:round/>
                      <a:headEnd type="none" w="med" len="med"/>
                      <a:tailEnd type="none" w="med" len="med"/>
                    </a:lnT>
                    <a:lnB w="12700" cap="flat" cmpd="sng" algn="ctr">
                      <a:solidFill>
                        <a:srgbClr val="D9D6E0"/>
                      </a:solidFill>
                      <a:prstDash val="solid"/>
                      <a:round/>
                      <a:headEnd type="none" w="med" len="med"/>
                      <a:tailEnd type="none" w="med" len="med"/>
                    </a:lnB>
                    <a:solidFill>
                      <a:srgbClr val="FFFFFF"/>
                    </a:solidFill>
                  </a:tcPr>
                </a:tc>
                <a:tc>
                  <a:txBody>
                    <a:bodyPr/>
                    <a:lstStyle/>
                    <a:p>
                      <a:pPr indent="0" marL="0">
                        <a:buNone/>
                      </a:pPr>
                      <a:r>
                        <a:rPr lang="en-US" sz="1100" dirty="0">
                          <a:solidFill>
                            <a:srgbClr val="3A3844"/>
                          </a:solidFill>
                          <a:latin typeface="Arial" pitchFamily="34" charset="0"/>
                          <a:ea typeface="Arial" pitchFamily="34" charset="-122"/>
                          <a:cs typeface="Arial" pitchFamily="34" charset="-120"/>
                        </a:rPr>
                        <a:t>Pocos nodos identificados, elegidos de antemano.</a:t>
                      </a:r>
                      <a:endParaRPr lang="en-US" sz="1100" dirty="0">
                        <a:latin typeface="Arial" charset="0"/>
                        <a:ea typeface="Arial" charset="0"/>
                        <a:cs typeface="Arial" charset="0"/>
                      </a:endParaRPr>
                    </a:p>
                  </a:txBody>
                  <a:tcPr marL="101600" marR="101600" marT="76200" marB="76200" anchor="t">
                    <a:lnL w="12700" cap="flat" cmpd="sng" algn="ctr">
                      <a:solidFill>
                        <a:srgbClr val="D9D6E0"/>
                      </a:solidFill>
                      <a:prstDash val="solid"/>
                      <a:round/>
                      <a:headEnd type="none" w="med" len="med"/>
                      <a:tailEnd type="none" w="med" len="med"/>
                    </a:lnL>
                    <a:lnR w="12700" cap="flat" cmpd="sng" algn="ctr">
                      <a:solidFill>
                        <a:srgbClr val="D9D6E0"/>
                      </a:solidFill>
                      <a:prstDash val="solid"/>
                      <a:round/>
                      <a:headEnd type="none" w="med" len="med"/>
                      <a:tailEnd type="none" w="med" len="med"/>
                    </a:lnR>
                    <a:lnT w="12700" cap="flat" cmpd="sng" algn="ctr">
                      <a:solidFill>
                        <a:srgbClr val="D9D6E0"/>
                      </a:solidFill>
                      <a:prstDash val="solid"/>
                      <a:round/>
                      <a:headEnd type="none" w="med" len="med"/>
                      <a:tailEnd type="none" w="med" len="med"/>
                    </a:lnT>
                    <a:lnB w="12700" cap="flat" cmpd="sng" algn="ctr">
                      <a:solidFill>
                        <a:srgbClr val="D9D6E0"/>
                      </a:solidFill>
                      <a:prstDash val="solid"/>
                      <a:round/>
                      <a:headEnd type="none" w="med" len="med"/>
                      <a:tailEnd type="none" w="med" len="med"/>
                    </a:lnB>
                    <a:solidFill>
                      <a:srgbClr val="FFFFFF"/>
                    </a:solidFill>
                  </a:tcPr>
                </a:tc>
                <a:tc>
                  <a:txBody>
                    <a:bodyPr/>
                    <a:lstStyle/>
                    <a:p>
                      <a:pPr indent="0" marL="0">
                        <a:buNone/>
                      </a:pPr>
                      <a:r>
                        <a:rPr lang="en-US" sz="1100" dirty="0">
                          <a:solidFill>
                            <a:srgbClr val="3A3844"/>
                          </a:solidFill>
                          <a:latin typeface="Arial" pitchFamily="34" charset="0"/>
                          <a:ea typeface="Arial" pitchFamily="34" charset="-122"/>
                          <a:cs typeface="Arial" pitchFamily="34" charset="-120"/>
                        </a:rPr>
                        <a:t>Rápida, por turnos.</a:t>
                      </a:r>
                      <a:endParaRPr lang="en-US" sz="1100" dirty="0">
                        <a:latin typeface="Arial" charset="0"/>
                        <a:ea typeface="Arial" charset="0"/>
                        <a:cs typeface="Arial" charset="0"/>
                      </a:endParaRPr>
                    </a:p>
                  </a:txBody>
                  <a:tcPr marL="101600" marR="101600" marT="76200" marB="76200" anchor="t">
                    <a:lnL w="12700" cap="flat" cmpd="sng" algn="ctr">
                      <a:solidFill>
                        <a:srgbClr val="D9D6E0"/>
                      </a:solidFill>
                      <a:prstDash val="solid"/>
                      <a:round/>
                      <a:headEnd type="none" w="med" len="med"/>
                      <a:tailEnd type="none" w="med" len="med"/>
                    </a:lnL>
                    <a:lnR w="12700" cap="flat" cmpd="sng" algn="ctr">
                      <a:solidFill>
                        <a:srgbClr val="D9D6E0"/>
                      </a:solidFill>
                      <a:prstDash val="solid"/>
                      <a:round/>
                      <a:headEnd type="none" w="med" len="med"/>
                      <a:tailEnd type="none" w="med" len="med"/>
                    </a:lnR>
                    <a:lnT w="12700" cap="flat" cmpd="sng" algn="ctr">
                      <a:solidFill>
                        <a:srgbClr val="D9D6E0"/>
                      </a:solidFill>
                      <a:prstDash val="solid"/>
                      <a:round/>
                      <a:headEnd type="none" w="med" len="med"/>
                      <a:tailEnd type="none" w="med" len="med"/>
                    </a:lnT>
                    <a:lnB w="12700" cap="flat" cmpd="sng" algn="ctr">
                      <a:solidFill>
                        <a:srgbClr val="D9D6E0"/>
                      </a:solidFill>
                      <a:prstDash val="solid"/>
                      <a:round/>
                      <a:headEnd type="none" w="med" len="med"/>
                      <a:tailEnd type="none" w="med" len="med"/>
                    </a:lnB>
                    <a:solidFill>
                      <a:srgbClr val="FFFFFF"/>
                    </a:solidFill>
                  </a:tcPr>
                </a:tc>
                <a:tc>
                  <a:txBody>
                    <a:bodyPr/>
                    <a:lstStyle/>
                    <a:p>
                      <a:pPr indent="0" marL="0">
                        <a:buNone/>
                      </a:pPr>
                      <a:r>
                        <a:rPr lang="en-US" sz="1100" dirty="0">
                          <a:solidFill>
                            <a:srgbClr val="3A3844"/>
                          </a:solidFill>
                          <a:latin typeface="Arial" pitchFamily="34" charset="0"/>
                          <a:ea typeface="Arial" pitchFamily="34" charset="-122"/>
                          <a:cs typeface="Arial" pitchFamily="34" charset="-120"/>
                        </a:rPr>
                        <a:t>Redes de prueba, consorcios, redes internas.</a:t>
                      </a:r>
                      <a:endParaRPr lang="en-US" sz="1100" dirty="0">
                        <a:latin typeface="Arial" charset="0"/>
                        <a:ea typeface="Arial" charset="0"/>
                        <a:cs typeface="Arial" charset="0"/>
                      </a:endParaRPr>
                    </a:p>
                  </a:txBody>
                  <a:tcPr marL="101600" marR="101600" marT="76200" marB="76200" anchor="t">
                    <a:lnL w="12700" cap="flat" cmpd="sng" algn="ctr">
                      <a:solidFill>
                        <a:srgbClr val="D9D6E0"/>
                      </a:solidFill>
                      <a:prstDash val="solid"/>
                      <a:round/>
                      <a:headEnd type="none" w="med" len="med"/>
                      <a:tailEnd type="none" w="med" len="med"/>
                    </a:lnL>
                    <a:lnR w="12700" cap="flat" cmpd="sng" algn="ctr">
                      <a:solidFill>
                        <a:srgbClr val="D9D6E0"/>
                      </a:solidFill>
                      <a:prstDash val="solid"/>
                      <a:round/>
                      <a:headEnd type="none" w="med" len="med"/>
                      <a:tailEnd type="none" w="med" len="med"/>
                    </a:lnR>
                    <a:lnT w="12700" cap="flat" cmpd="sng" algn="ctr">
                      <a:solidFill>
                        <a:srgbClr val="D9D6E0"/>
                      </a:solidFill>
                      <a:prstDash val="solid"/>
                      <a:round/>
                      <a:headEnd type="none" w="med" len="med"/>
                      <a:tailEnd type="none" w="med" len="med"/>
                    </a:lnT>
                    <a:lnB w="12700" cap="flat" cmpd="sng" algn="ctr">
                      <a:solidFill>
                        <a:srgbClr val="D9D6E0"/>
                      </a:solidFill>
                      <a:prstDash val="solid"/>
                      <a:round/>
                      <a:headEnd type="none" w="med" len="med"/>
                      <a:tailEnd type="none" w="med" len="med"/>
                    </a:lnB>
                    <a:solidFill>
                      <a:srgbClr val="FFFFFF"/>
                    </a:solidFill>
                  </a:tcPr>
                </a:tc>
                <a:tc>
                  <a:txBody>
                    <a:bodyPr/>
                    <a:lstStyle/>
                    <a:p>
                      <a:pPr indent="0" marL="0">
                        <a:buNone/>
                      </a:pPr>
                      <a:r>
                        <a:rPr lang="en-US" sz="1100" dirty="0">
                          <a:solidFill>
                            <a:srgbClr val="3A3844"/>
                          </a:solidFill>
                          <a:latin typeface="Arial" pitchFamily="34" charset="0"/>
                          <a:ea typeface="Arial" pitchFamily="34" charset="-122"/>
                          <a:cs typeface="Arial" pitchFamily="34" charset="-120"/>
                        </a:rPr>
                        <a:t>Apertura: hay que confiar en la lista.</a:t>
                      </a:r>
                      <a:endParaRPr lang="en-US" sz="1100" dirty="0">
                        <a:latin typeface="Arial" charset="0"/>
                        <a:ea typeface="Arial" charset="0"/>
                        <a:cs typeface="Arial" charset="0"/>
                      </a:endParaRPr>
                    </a:p>
                  </a:txBody>
                  <a:tcPr marL="101600" marR="101600" marT="76200" marB="76200" anchor="t">
                    <a:lnL w="12700" cap="flat" cmpd="sng" algn="ctr">
                      <a:solidFill>
                        <a:srgbClr val="D9D6E0"/>
                      </a:solidFill>
                      <a:prstDash val="solid"/>
                      <a:round/>
                      <a:headEnd type="none" w="med" len="med"/>
                      <a:tailEnd type="none" w="med" len="med"/>
                    </a:lnL>
                    <a:lnR w="12700" cap="flat" cmpd="sng" algn="ctr">
                      <a:solidFill>
                        <a:srgbClr val="D9D6E0"/>
                      </a:solidFill>
                      <a:prstDash val="solid"/>
                      <a:round/>
                      <a:headEnd type="none" w="med" len="med"/>
                      <a:tailEnd type="none" w="med" len="med"/>
                    </a:lnR>
                    <a:lnT w="12700" cap="flat" cmpd="sng" algn="ctr">
                      <a:solidFill>
                        <a:srgbClr val="D9D6E0"/>
                      </a:solidFill>
                      <a:prstDash val="solid"/>
                      <a:round/>
                      <a:headEnd type="none" w="med" len="med"/>
                      <a:tailEnd type="none" w="med" len="med"/>
                    </a:lnT>
                    <a:lnB w="12700" cap="flat" cmpd="sng" algn="ctr">
                      <a:solidFill>
                        <a:srgbClr val="D9D6E0"/>
                      </a:solidFill>
                      <a:prstDash val="solid"/>
                      <a:round/>
                      <a:headEnd type="none" w="med" len="med"/>
                      <a:tailEnd type="none" w="med" len="med"/>
                    </a:lnB>
                    <a:solidFill>
                      <a:srgbClr val="FFFFFF"/>
                    </a:solidFill>
                  </a:tcPr>
                </a:tc>
              </a:tr>
              <a:tr h="917448">
                <a:tc>
                  <a:txBody>
                    <a:bodyPr/>
                    <a:lstStyle/>
                    <a:p>
                      <a:pPr indent="0" marL="0">
                        <a:buNone/>
                      </a:pPr>
                      <a:r>
                        <a:rPr lang="en-US" sz="1100" b="1" dirty="0">
                          <a:solidFill>
                            <a:srgbClr val="0F0F11"/>
                          </a:solidFill>
                          <a:latin typeface="Courier New" pitchFamily="34" charset="0"/>
                          <a:ea typeface="Courier New" pitchFamily="34" charset="-122"/>
                          <a:cs typeface="Courier New" pitchFamily="34" charset="-120"/>
                        </a:rPr>
                        <a:t>PBFT y derivados</a:t>
                      </a:r>
                      <a:endParaRPr lang="en-US" sz="1100" dirty="0">
                        <a:latin typeface="Courier New" charset="0"/>
                        <a:ea typeface="Courier New" charset="0"/>
                        <a:cs typeface="Courier New" charset="0"/>
                      </a:endParaRPr>
                    </a:p>
                  </a:txBody>
                  <a:tcPr marL="101600" marR="101600" marT="76200" marB="76200" anchor="t">
                    <a:lnL w="12700" cap="flat" cmpd="sng" algn="ctr">
                      <a:solidFill>
                        <a:srgbClr val="D9D6E0"/>
                      </a:solidFill>
                      <a:prstDash val="solid"/>
                      <a:round/>
                      <a:headEnd type="none" w="med" len="med"/>
                      <a:tailEnd type="none" w="med" len="med"/>
                    </a:lnL>
                    <a:lnR w="12700" cap="flat" cmpd="sng" algn="ctr">
                      <a:solidFill>
                        <a:srgbClr val="D9D6E0"/>
                      </a:solidFill>
                      <a:prstDash val="solid"/>
                      <a:round/>
                      <a:headEnd type="none" w="med" len="med"/>
                      <a:tailEnd type="none" w="med" len="med"/>
                    </a:lnR>
                    <a:lnT w="12700" cap="flat" cmpd="sng" algn="ctr">
                      <a:solidFill>
                        <a:srgbClr val="D9D6E0"/>
                      </a:solidFill>
                      <a:prstDash val="solid"/>
                      <a:round/>
                      <a:headEnd type="none" w="med" len="med"/>
                      <a:tailEnd type="none" w="med" len="med"/>
                    </a:lnT>
                    <a:lnB w="12700" cap="flat" cmpd="sng" algn="ctr">
                      <a:solidFill>
                        <a:srgbClr val="D9D6E0"/>
                      </a:solidFill>
                      <a:prstDash val="solid"/>
                      <a:round/>
                      <a:headEnd type="none" w="med" len="med"/>
                      <a:tailEnd type="none" w="med" len="med"/>
                    </a:lnB>
                    <a:solidFill>
                      <a:srgbClr val="FAF9FB"/>
                    </a:solidFill>
                  </a:tcPr>
                </a:tc>
                <a:tc>
                  <a:txBody>
                    <a:bodyPr/>
                    <a:lstStyle/>
                    <a:p>
                      <a:pPr indent="0" marL="0">
                        <a:buNone/>
                      </a:pPr>
                      <a:r>
                        <a:rPr lang="en-US" sz="1100" dirty="0">
                          <a:solidFill>
                            <a:srgbClr val="3A3844"/>
                          </a:solidFill>
                          <a:latin typeface="Arial" pitchFamily="34" charset="0"/>
                          <a:ea typeface="Arial" pitchFamily="34" charset="-122"/>
                          <a:cs typeface="Arial" pitchFamily="34" charset="-120"/>
                        </a:rPr>
                        <a:t>Decenas de nodos conocidos que votan por rondas.</a:t>
                      </a:r>
                      <a:endParaRPr lang="en-US" sz="1100" dirty="0">
                        <a:latin typeface="Arial" charset="0"/>
                        <a:ea typeface="Arial" charset="0"/>
                        <a:cs typeface="Arial" charset="0"/>
                      </a:endParaRPr>
                    </a:p>
                  </a:txBody>
                  <a:tcPr marL="101600" marR="101600" marT="76200" marB="76200" anchor="t">
                    <a:lnL w="12700" cap="flat" cmpd="sng" algn="ctr">
                      <a:solidFill>
                        <a:srgbClr val="D9D6E0"/>
                      </a:solidFill>
                      <a:prstDash val="solid"/>
                      <a:round/>
                      <a:headEnd type="none" w="med" len="med"/>
                      <a:tailEnd type="none" w="med" len="med"/>
                    </a:lnL>
                    <a:lnR w="12700" cap="flat" cmpd="sng" algn="ctr">
                      <a:solidFill>
                        <a:srgbClr val="D9D6E0"/>
                      </a:solidFill>
                      <a:prstDash val="solid"/>
                      <a:round/>
                      <a:headEnd type="none" w="med" len="med"/>
                      <a:tailEnd type="none" w="med" len="med"/>
                    </a:lnR>
                    <a:lnT w="12700" cap="flat" cmpd="sng" algn="ctr">
                      <a:solidFill>
                        <a:srgbClr val="D9D6E0"/>
                      </a:solidFill>
                      <a:prstDash val="solid"/>
                      <a:round/>
                      <a:headEnd type="none" w="med" len="med"/>
                      <a:tailEnd type="none" w="med" len="med"/>
                    </a:lnT>
                    <a:lnB w="12700" cap="flat" cmpd="sng" algn="ctr">
                      <a:solidFill>
                        <a:srgbClr val="D9D6E0"/>
                      </a:solidFill>
                      <a:prstDash val="solid"/>
                      <a:round/>
                      <a:headEnd type="none" w="med" len="med"/>
                      <a:tailEnd type="none" w="med" len="med"/>
                    </a:lnB>
                    <a:solidFill>
                      <a:srgbClr val="FAF9FB"/>
                    </a:solidFill>
                  </a:tcPr>
                </a:tc>
                <a:tc>
                  <a:txBody>
                    <a:bodyPr/>
                    <a:lstStyle/>
                    <a:p>
                      <a:pPr indent="0" marL="0">
                        <a:buNone/>
                      </a:pPr>
                      <a:r>
                        <a:rPr lang="en-US" sz="1100" dirty="0">
                          <a:solidFill>
                            <a:srgbClr val="3A3844"/>
                          </a:solidFill>
                          <a:latin typeface="Arial" pitchFamily="34" charset="0"/>
                          <a:ea typeface="Arial" pitchFamily="34" charset="-122"/>
                          <a:cs typeface="Arial" pitchFamily="34" charset="-120"/>
                        </a:rPr>
                        <a:t>Inmediata y determinista.</a:t>
                      </a:r>
                      <a:endParaRPr lang="en-US" sz="1100" dirty="0">
                        <a:latin typeface="Arial" charset="0"/>
                        <a:ea typeface="Arial" charset="0"/>
                        <a:cs typeface="Arial" charset="0"/>
                      </a:endParaRPr>
                    </a:p>
                  </a:txBody>
                  <a:tcPr marL="101600" marR="101600" marT="76200" marB="76200" anchor="t">
                    <a:lnL w="12700" cap="flat" cmpd="sng" algn="ctr">
                      <a:solidFill>
                        <a:srgbClr val="D9D6E0"/>
                      </a:solidFill>
                      <a:prstDash val="solid"/>
                      <a:round/>
                      <a:headEnd type="none" w="med" len="med"/>
                      <a:tailEnd type="none" w="med" len="med"/>
                    </a:lnL>
                    <a:lnR w="12700" cap="flat" cmpd="sng" algn="ctr">
                      <a:solidFill>
                        <a:srgbClr val="D9D6E0"/>
                      </a:solidFill>
                      <a:prstDash val="solid"/>
                      <a:round/>
                      <a:headEnd type="none" w="med" len="med"/>
                      <a:tailEnd type="none" w="med" len="med"/>
                    </a:lnR>
                    <a:lnT w="12700" cap="flat" cmpd="sng" algn="ctr">
                      <a:solidFill>
                        <a:srgbClr val="D9D6E0"/>
                      </a:solidFill>
                      <a:prstDash val="solid"/>
                      <a:round/>
                      <a:headEnd type="none" w="med" len="med"/>
                      <a:tailEnd type="none" w="med" len="med"/>
                    </a:lnT>
                    <a:lnB w="12700" cap="flat" cmpd="sng" algn="ctr">
                      <a:solidFill>
                        <a:srgbClr val="D9D6E0"/>
                      </a:solidFill>
                      <a:prstDash val="solid"/>
                      <a:round/>
                      <a:headEnd type="none" w="med" len="med"/>
                      <a:tailEnd type="none" w="med" len="med"/>
                    </a:lnB>
                    <a:solidFill>
                      <a:srgbClr val="FAF9FB"/>
                    </a:solidFill>
                  </a:tcPr>
                </a:tc>
                <a:tc>
                  <a:txBody>
                    <a:bodyPr/>
                    <a:lstStyle/>
                    <a:p>
                      <a:pPr indent="0" marL="0">
                        <a:buNone/>
                      </a:pPr>
                      <a:r>
                        <a:rPr lang="en-US" sz="1100" dirty="0">
                          <a:solidFill>
                            <a:srgbClr val="3A3844"/>
                          </a:solidFill>
                          <a:latin typeface="Arial" pitchFamily="34" charset="0"/>
                          <a:ea typeface="Arial" pitchFamily="34" charset="-122"/>
                          <a:cs typeface="Arial" pitchFamily="34" charset="-120"/>
                        </a:rPr>
                        <a:t>Consorcios bancarios o de cadena de suministro.</a:t>
                      </a:r>
                      <a:endParaRPr lang="en-US" sz="1100" dirty="0">
                        <a:latin typeface="Arial" charset="0"/>
                        <a:ea typeface="Arial" charset="0"/>
                        <a:cs typeface="Arial" charset="0"/>
                      </a:endParaRPr>
                    </a:p>
                  </a:txBody>
                  <a:tcPr marL="101600" marR="101600" marT="76200" marB="76200" anchor="t">
                    <a:lnL w="12700" cap="flat" cmpd="sng" algn="ctr">
                      <a:solidFill>
                        <a:srgbClr val="D9D6E0"/>
                      </a:solidFill>
                      <a:prstDash val="solid"/>
                      <a:round/>
                      <a:headEnd type="none" w="med" len="med"/>
                      <a:tailEnd type="none" w="med" len="med"/>
                    </a:lnL>
                    <a:lnR w="12700" cap="flat" cmpd="sng" algn="ctr">
                      <a:solidFill>
                        <a:srgbClr val="D9D6E0"/>
                      </a:solidFill>
                      <a:prstDash val="solid"/>
                      <a:round/>
                      <a:headEnd type="none" w="med" len="med"/>
                      <a:tailEnd type="none" w="med" len="med"/>
                    </a:lnR>
                    <a:lnT w="12700" cap="flat" cmpd="sng" algn="ctr">
                      <a:solidFill>
                        <a:srgbClr val="D9D6E0"/>
                      </a:solidFill>
                      <a:prstDash val="solid"/>
                      <a:round/>
                      <a:headEnd type="none" w="med" len="med"/>
                      <a:tailEnd type="none" w="med" len="med"/>
                    </a:lnT>
                    <a:lnB w="12700" cap="flat" cmpd="sng" algn="ctr">
                      <a:solidFill>
                        <a:srgbClr val="D9D6E0"/>
                      </a:solidFill>
                      <a:prstDash val="solid"/>
                      <a:round/>
                      <a:headEnd type="none" w="med" len="med"/>
                      <a:tailEnd type="none" w="med" len="med"/>
                    </a:lnB>
                    <a:solidFill>
                      <a:srgbClr val="FAF9FB"/>
                    </a:solidFill>
                  </a:tcPr>
                </a:tc>
                <a:tc>
                  <a:txBody>
                    <a:bodyPr/>
                    <a:lstStyle/>
                    <a:p>
                      <a:pPr indent="0" marL="0">
                        <a:buNone/>
                      </a:pPr>
                      <a:r>
                        <a:rPr lang="en-US" sz="1100" dirty="0">
                          <a:solidFill>
                            <a:srgbClr val="3A3844"/>
                          </a:solidFill>
                          <a:latin typeface="Arial" pitchFamily="34" charset="0"/>
                          <a:ea typeface="Arial" pitchFamily="34" charset="-122"/>
                          <a:cs typeface="Arial" pitchFamily="34" charset="-120"/>
                        </a:rPr>
                        <a:t>Escala: los mensajes crecen con el cuadrado de los nodos.</a:t>
                      </a:r>
                      <a:endParaRPr lang="en-US" sz="1100" dirty="0">
                        <a:latin typeface="Arial" charset="0"/>
                        <a:ea typeface="Arial" charset="0"/>
                        <a:cs typeface="Arial" charset="0"/>
                      </a:endParaRPr>
                    </a:p>
                  </a:txBody>
                  <a:tcPr marL="101600" marR="101600" marT="76200" marB="76200" anchor="t">
                    <a:lnL w="12700" cap="flat" cmpd="sng" algn="ctr">
                      <a:solidFill>
                        <a:srgbClr val="D9D6E0"/>
                      </a:solidFill>
                      <a:prstDash val="solid"/>
                      <a:round/>
                      <a:headEnd type="none" w="med" len="med"/>
                      <a:tailEnd type="none" w="med" len="med"/>
                    </a:lnL>
                    <a:lnR w="12700" cap="flat" cmpd="sng" algn="ctr">
                      <a:solidFill>
                        <a:srgbClr val="D9D6E0"/>
                      </a:solidFill>
                      <a:prstDash val="solid"/>
                      <a:round/>
                      <a:headEnd type="none" w="med" len="med"/>
                      <a:tailEnd type="none" w="med" len="med"/>
                    </a:lnR>
                    <a:lnT w="12700" cap="flat" cmpd="sng" algn="ctr">
                      <a:solidFill>
                        <a:srgbClr val="D9D6E0"/>
                      </a:solidFill>
                      <a:prstDash val="solid"/>
                      <a:round/>
                      <a:headEnd type="none" w="med" len="med"/>
                      <a:tailEnd type="none" w="med" len="med"/>
                    </a:lnT>
                    <a:lnB w="12700" cap="flat" cmpd="sng" algn="ctr">
                      <a:solidFill>
                        <a:srgbClr val="D9D6E0"/>
                      </a:solidFill>
                      <a:prstDash val="solid"/>
                      <a:round/>
                      <a:headEnd type="none" w="med" len="med"/>
                      <a:tailEnd type="none" w="med" len="med"/>
                    </a:lnB>
                    <a:solidFill>
                      <a:srgbClr val="FAF9FB"/>
                    </a:solidFill>
                  </a:tcPr>
                </a:tc>
              </a:tr>
              <a:tr h="917448">
                <a:tc>
                  <a:txBody>
                    <a:bodyPr/>
                    <a:lstStyle/>
                    <a:p>
                      <a:pPr indent="0" marL="0">
                        <a:buNone/>
                      </a:pPr>
                      <a:r>
                        <a:rPr lang="en-US" sz="1100" b="1" dirty="0">
                          <a:solidFill>
                            <a:srgbClr val="0F0F11"/>
                          </a:solidFill>
                          <a:latin typeface="Courier New" pitchFamily="34" charset="0"/>
                          <a:ea typeface="Courier New" pitchFamily="34" charset="-122"/>
                          <a:cs typeface="Courier New" pitchFamily="34" charset="-120"/>
                        </a:rPr>
                        <a:t>DPoS</a:t>
                      </a:r>
                      <a:endParaRPr lang="en-US" sz="1100" dirty="0">
                        <a:latin typeface="Courier New" charset="0"/>
                        <a:ea typeface="Courier New" charset="0"/>
                        <a:cs typeface="Courier New" charset="0"/>
                      </a:endParaRPr>
                    </a:p>
                  </a:txBody>
                  <a:tcPr marL="101600" marR="101600" marT="76200" marB="76200" anchor="t">
                    <a:lnL w="12700" cap="flat" cmpd="sng" algn="ctr">
                      <a:solidFill>
                        <a:srgbClr val="D9D6E0"/>
                      </a:solidFill>
                      <a:prstDash val="solid"/>
                      <a:round/>
                      <a:headEnd type="none" w="med" len="med"/>
                      <a:tailEnd type="none" w="med" len="med"/>
                    </a:lnL>
                    <a:lnR w="12700" cap="flat" cmpd="sng" algn="ctr">
                      <a:solidFill>
                        <a:srgbClr val="D9D6E0"/>
                      </a:solidFill>
                      <a:prstDash val="solid"/>
                      <a:round/>
                      <a:headEnd type="none" w="med" len="med"/>
                      <a:tailEnd type="none" w="med" len="med"/>
                    </a:lnR>
                    <a:lnT w="12700" cap="flat" cmpd="sng" algn="ctr">
                      <a:solidFill>
                        <a:srgbClr val="D9D6E0"/>
                      </a:solidFill>
                      <a:prstDash val="solid"/>
                      <a:round/>
                      <a:headEnd type="none" w="med" len="med"/>
                      <a:tailEnd type="none" w="med" len="med"/>
                    </a:lnT>
                    <a:lnB w="12700" cap="flat" cmpd="sng" algn="ctr">
                      <a:solidFill>
                        <a:srgbClr val="D9D6E0"/>
                      </a:solidFill>
                      <a:prstDash val="solid"/>
                      <a:round/>
                      <a:headEnd type="none" w="med" len="med"/>
                      <a:tailEnd type="none" w="med" len="med"/>
                    </a:lnB>
                    <a:solidFill>
                      <a:srgbClr val="FFFFFF"/>
                    </a:solidFill>
                  </a:tcPr>
                </a:tc>
                <a:tc>
                  <a:txBody>
                    <a:bodyPr/>
                    <a:lstStyle/>
                    <a:p>
                      <a:pPr indent="0" marL="0">
                        <a:buNone/>
                      </a:pPr>
                      <a:r>
                        <a:rPr lang="en-US" sz="1100" dirty="0">
                          <a:solidFill>
                            <a:srgbClr val="3A3844"/>
                          </a:solidFill>
                          <a:latin typeface="Arial" pitchFamily="34" charset="0"/>
                          <a:ea typeface="Arial" pitchFamily="34" charset="-122"/>
                          <a:cs typeface="Arial" pitchFamily="34" charset="-120"/>
                        </a:rPr>
                        <a:t>Un grupo pequeño elegido por votación de tenedores.</a:t>
                      </a:r>
                      <a:endParaRPr lang="en-US" sz="1100" dirty="0">
                        <a:latin typeface="Arial" charset="0"/>
                        <a:ea typeface="Arial" charset="0"/>
                        <a:cs typeface="Arial" charset="0"/>
                      </a:endParaRPr>
                    </a:p>
                  </a:txBody>
                  <a:tcPr marL="101600" marR="101600" marT="76200" marB="76200" anchor="t">
                    <a:lnL w="12700" cap="flat" cmpd="sng" algn="ctr">
                      <a:solidFill>
                        <a:srgbClr val="D9D6E0"/>
                      </a:solidFill>
                      <a:prstDash val="solid"/>
                      <a:round/>
                      <a:headEnd type="none" w="med" len="med"/>
                      <a:tailEnd type="none" w="med" len="med"/>
                    </a:lnL>
                    <a:lnR w="12700" cap="flat" cmpd="sng" algn="ctr">
                      <a:solidFill>
                        <a:srgbClr val="D9D6E0"/>
                      </a:solidFill>
                      <a:prstDash val="solid"/>
                      <a:round/>
                      <a:headEnd type="none" w="med" len="med"/>
                      <a:tailEnd type="none" w="med" len="med"/>
                    </a:lnR>
                    <a:lnT w="12700" cap="flat" cmpd="sng" algn="ctr">
                      <a:solidFill>
                        <a:srgbClr val="D9D6E0"/>
                      </a:solidFill>
                      <a:prstDash val="solid"/>
                      <a:round/>
                      <a:headEnd type="none" w="med" len="med"/>
                      <a:tailEnd type="none" w="med" len="med"/>
                    </a:lnT>
                    <a:lnB w="12700" cap="flat" cmpd="sng" algn="ctr">
                      <a:solidFill>
                        <a:srgbClr val="D9D6E0"/>
                      </a:solidFill>
                      <a:prstDash val="solid"/>
                      <a:round/>
                      <a:headEnd type="none" w="med" len="med"/>
                      <a:tailEnd type="none" w="med" len="med"/>
                    </a:lnB>
                    <a:solidFill>
                      <a:srgbClr val="FFFFFF"/>
                    </a:solidFill>
                  </a:tcPr>
                </a:tc>
                <a:tc>
                  <a:txBody>
                    <a:bodyPr/>
                    <a:lstStyle/>
                    <a:p>
                      <a:pPr indent="0" marL="0">
                        <a:buNone/>
                      </a:pPr>
                      <a:r>
                        <a:rPr lang="en-US" sz="1100" dirty="0">
                          <a:solidFill>
                            <a:srgbClr val="3A3844"/>
                          </a:solidFill>
                          <a:latin typeface="Arial" pitchFamily="34" charset="0"/>
                          <a:ea typeface="Arial" pitchFamily="34" charset="-122"/>
                          <a:cs typeface="Arial" pitchFamily="34" charset="-120"/>
                        </a:rPr>
                        <a:t>Rápida.</a:t>
                      </a:r>
                      <a:endParaRPr lang="en-US" sz="1100" dirty="0">
                        <a:latin typeface="Arial" charset="0"/>
                        <a:ea typeface="Arial" charset="0"/>
                        <a:cs typeface="Arial" charset="0"/>
                      </a:endParaRPr>
                    </a:p>
                  </a:txBody>
                  <a:tcPr marL="101600" marR="101600" marT="76200" marB="76200" anchor="t">
                    <a:lnL w="12700" cap="flat" cmpd="sng" algn="ctr">
                      <a:solidFill>
                        <a:srgbClr val="D9D6E0"/>
                      </a:solidFill>
                      <a:prstDash val="solid"/>
                      <a:round/>
                      <a:headEnd type="none" w="med" len="med"/>
                      <a:tailEnd type="none" w="med" len="med"/>
                    </a:lnL>
                    <a:lnR w="12700" cap="flat" cmpd="sng" algn="ctr">
                      <a:solidFill>
                        <a:srgbClr val="D9D6E0"/>
                      </a:solidFill>
                      <a:prstDash val="solid"/>
                      <a:round/>
                      <a:headEnd type="none" w="med" len="med"/>
                      <a:tailEnd type="none" w="med" len="med"/>
                    </a:lnR>
                    <a:lnT w="12700" cap="flat" cmpd="sng" algn="ctr">
                      <a:solidFill>
                        <a:srgbClr val="D9D6E0"/>
                      </a:solidFill>
                      <a:prstDash val="solid"/>
                      <a:round/>
                      <a:headEnd type="none" w="med" len="med"/>
                      <a:tailEnd type="none" w="med" len="med"/>
                    </a:lnT>
                    <a:lnB w="12700" cap="flat" cmpd="sng" algn="ctr">
                      <a:solidFill>
                        <a:srgbClr val="D9D6E0"/>
                      </a:solidFill>
                      <a:prstDash val="solid"/>
                      <a:round/>
                      <a:headEnd type="none" w="med" len="med"/>
                      <a:tailEnd type="none" w="med" len="med"/>
                    </a:lnB>
                    <a:solidFill>
                      <a:srgbClr val="FFFFFF"/>
                    </a:solidFill>
                  </a:tcPr>
                </a:tc>
                <a:tc>
                  <a:txBody>
                    <a:bodyPr/>
                    <a:lstStyle/>
                    <a:p>
                      <a:pPr indent="0" marL="0">
                        <a:buNone/>
                      </a:pPr>
                      <a:r>
                        <a:rPr lang="en-US" sz="1100" dirty="0">
                          <a:solidFill>
                            <a:srgbClr val="3A3844"/>
                          </a:solidFill>
                          <a:latin typeface="Arial" pitchFamily="34" charset="0"/>
                          <a:ea typeface="Arial" pitchFamily="34" charset="-122"/>
                          <a:cs typeface="Arial" pitchFamily="34" charset="-120"/>
                        </a:rPr>
                        <a:t>Redes públicas que priorizan velocidad.</a:t>
                      </a:r>
                      <a:endParaRPr lang="en-US" sz="1100" dirty="0">
                        <a:latin typeface="Arial" charset="0"/>
                        <a:ea typeface="Arial" charset="0"/>
                        <a:cs typeface="Arial" charset="0"/>
                      </a:endParaRPr>
                    </a:p>
                  </a:txBody>
                  <a:tcPr marL="101600" marR="101600" marT="76200" marB="76200" anchor="t">
                    <a:lnL w="12700" cap="flat" cmpd="sng" algn="ctr">
                      <a:solidFill>
                        <a:srgbClr val="D9D6E0"/>
                      </a:solidFill>
                      <a:prstDash val="solid"/>
                      <a:round/>
                      <a:headEnd type="none" w="med" len="med"/>
                      <a:tailEnd type="none" w="med" len="med"/>
                    </a:lnL>
                    <a:lnR w="12700" cap="flat" cmpd="sng" algn="ctr">
                      <a:solidFill>
                        <a:srgbClr val="D9D6E0"/>
                      </a:solidFill>
                      <a:prstDash val="solid"/>
                      <a:round/>
                      <a:headEnd type="none" w="med" len="med"/>
                      <a:tailEnd type="none" w="med" len="med"/>
                    </a:lnR>
                    <a:lnT w="12700" cap="flat" cmpd="sng" algn="ctr">
                      <a:solidFill>
                        <a:srgbClr val="D9D6E0"/>
                      </a:solidFill>
                      <a:prstDash val="solid"/>
                      <a:round/>
                      <a:headEnd type="none" w="med" len="med"/>
                      <a:tailEnd type="none" w="med" len="med"/>
                    </a:lnT>
                    <a:lnB w="12700" cap="flat" cmpd="sng" algn="ctr">
                      <a:solidFill>
                        <a:srgbClr val="D9D6E0"/>
                      </a:solidFill>
                      <a:prstDash val="solid"/>
                      <a:round/>
                      <a:headEnd type="none" w="med" len="med"/>
                      <a:tailEnd type="none" w="med" len="med"/>
                    </a:lnB>
                    <a:solidFill>
                      <a:srgbClr val="FFFFFF"/>
                    </a:solidFill>
                  </a:tcPr>
                </a:tc>
                <a:tc>
                  <a:txBody>
                    <a:bodyPr/>
                    <a:lstStyle/>
                    <a:p>
                      <a:pPr indent="0" marL="0">
                        <a:buNone/>
                      </a:pPr>
                      <a:r>
                        <a:rPr lang="en-US" sz="1100" dirty="0">
                          <a:solidFill>
                            <a:srgbClr val="3A3844"/>
                          </a:solidFill>
                          <a:latin typeface="Arial" pitchFamily="34" charset="0"/>
                          <a:ea typeface="Arial" pitchFamily="34" charset="-122"/>
                          <a:cs typeface="Arial" pitchFamily="34" charset="-120"/>
                        </a:rPr>
                        <a:t>Descentralización: la votación suele capturarse.</a:t>
                      </a:r>
                      <a:endParaRPr lang="en-US" sz="1100" dirty="0">
                        <a:latin typeface="Arial" charset="0"/>
                        <a:ea typeface="Arial" charset="0"/>
                        <a:cs typeface="Arial" charset="0"/>
                      </a:endParaRPr>
                    </a:p>
                  </a:txBody>
                  <a:tcPr marL="101600" marR="101600" marT="76200" marB="76200" anchor="t">
                    <a:lnL w="12700" cap="flat" cmpd="sng" algn="ctr">
                      <a:solidFill>
                        <a:srgbClr val="D9D6E0"/>
                      </a:solidFill>
                      <a:prstDash val="solid"/>
                      <a:round/>
                      <a:headEnd type="none" w="med" len="med"/>
                      <a:tailEnd type="none" w="med" len="med"/>
                    </a:lnL>
                    <a:lnR w="12700" cap="flat" cmpd="sng" algn="ctr">
                      <a:solidFill>
                        <a:srgbClr val="D9D6E0"/>
                      </a:solidFill>
                      <a:prstDash val="solid"/>
                      <a:round/>
                      <a:headEnd type="none" w="med" len="med"/>
                      <a:tailEnd type="none" w="med" len="med"/>
                    </a:lnR>
                    <a:lnT w="12700" cap="flat" cmpd="sng" algn="ctr">
                      <a:solidFill>
                        <a:srgbClr val="D9D6E0"/>
                      </a:solidFill>
                      <a:prstDash val="solid"/>
                      <a:round/>
                      <a:headEnd type="none" w="med" len="med"/>
                      <a:tailEnd type="none" w="med" len="med"/>
                    </a:lnT>
                    <a:lnB w="12700" cap="flat" cmpd="sng" algn="ctr">
                      <a:solidFill>
                        <a:srgbClr val="D9D6E0"/>
                      </a:solidFill>
                      <a:prstDash val="solid"/>
                      <a:round/>
                      <a:headEnd type="none" w="med" len="med"/>
                      <a:tailEnd type="none" w="med" len="med"/>
                    </a:lnB>
                    <a:solidFill>
                      <a:srgbClr val="FFFFFF"/>
                    </a:solidFill>
                  </a:tcPr>
                </a:tc>
              </a:tr>
            </a:tbl>
          </a:graphicData>
        </a:graphic>
      </p:graphicFrame>
      <p:sp>
        <p:nvSpPr>
          <p:cNvPr id="9" name="Shape 5"/>
          <p:cNvSpPr/>
          <p:nvPr/>
        </p:nvSpPr>
        <p:spPr>
          <a:xfrm>
            <a:off x="548640" y="1719072"/>
            <a:ext cx="11094415" cy="3099816"/>
          </a:xfrm>
          <a:prstGeom prst="rect">
            <a:avLst/>
          </a:prstGeom>
          <a:ln w="22225">
            <a:solidFill>
              <a:srgbClr val="0F0F11"/>
            </a:solidFill>
            <a:prstDash val="solid"/>
          </a:ln>
        </p:spPr>
      </p:sp>
      <p:sp>
        <p:nvSpPr>
          <p:cNvPr id="10" name="Shape 6"/>
          <p:cNvSpPr/>
          <p:nvPr/>
        </p:nvSpPr>
        <p:spPr>
          <a:xfrm>
            <a:off x="566928" y="5029200"/>
            <a:ext cx="11057839" cy="1097280"/>
          </a:xfrm>
          <a:prstGeom prst="rect">
            <a:avLst/>
          </a:prstGeom>
          <a:solidFill>
            <a:srgbClr val="FFFFFF"/>
          </a:solidFill>
          <a:ln w="34925">
            <a:solidFill>
              <a:srgbClr val="0F0F11"/>
            </a:solidFill>
            <a:prstDash val="solid"/>
          </a:ln>
          <a:effectLst>
            <a:outerShdw sx="100000" sy="100000" kx="0" ky="0" algn="bl" rotWithShape="0" blurRad="101600" dist="63500" dir="2700000">
              <a:srgbClr val="0F0F11">
                <a:alpha val="100000"/>
              </a:srgbClr>
            </a:outerShdw>
          </a:effectLst>
        </p:spPr>
      </p:sp>
      <p:pic>
        <p:nvPicPr>
          <p:cNvPr id="11" name="Image 1" descr="preencoded.png">    </p:cNvPr>
          <p:cNvPicPr>
            <a:picLocks noChangeAspect="1"/>
          </p:cNvPicPr>
          <p:nvPr/>
        </p:nvPicPr>
        <p:blipFill>
          <a:blip r:embed="rId2"/>
          <a:stretch>
            <a:fillRect/>
          </a:stretch>
        </p:blipFill>
        <p:spPr>
          <a:xfrm>
            <a:off x="804672" y="5248656"/>
            <a:ext cx="237744" cy="237744"/>
          </a:xfrm>
          <a:prstGeom prst="rect">
            <a:avLst/>
          </a:prstGeom>
        </p:spPr>
      </p:pic>
      <p:sp>
        <p:nvSpPr>
          <p:cNvPr id="12" name="Text 7"/>
          <p:cNvSpPr/>
          <p:nvPr/>
        </p:nvSpPr>
        <p:spPr>
          <a:xfrm>
            <a:off x="1133856" y="5221224"/>
            <a:ext cx="10234879" cy="292608"/>
          </a:xfrm>
          <a:prstGeom prst="rect">
            <a:avLst/>
          </a:prstGeom>
          <a:noFill/>
          <a:ln/>
        </p:spPr>
        <p:txBody>
          <a:bodyPr wrap="square" lIns="0" tIns="0" rIns="0" bIns="0" rtlCol="0" anchor="ctr"/>
          <a:lstStyle/>
          <a:p>
            <a:pPr indent="0" marL="0">
              <a:buNone/>
            </a:pPr>
            <a:r>
              <a:rPr lang="en-US" sz="950" b="1" spc="150" kern="0" dirty="0">
                <a:solidFill>
                  <a:srgbClr val="0F0F11"/>
                </a:solidFill>
                <a:latin typeface="Courier New" pitchFamily="34" charset="0"/>
                <a:ea typeface="Courier New" pitchFamily="34" charset="-122"/>
                <a:cs typeface="Courier New" pitchFamily="34" charset="-120"/>
              </a:rPr>
              <a:t>CONEXIÓN CON LA ACTIVIDAD DE HOY</a:t>
            </a:r>
            <a:endParaRPr lang="en-US" sz="950" dirty="0"/>
          </a:p>
        </p:txBody>
      </p:sp>
      <p:sp>
        <p:nvSpPr>
          <p:cNvPr id="13" name="Text 8"/>
          <p:cNvSpPr/>
          <p:nvPr/>
        </p:nvSpPr>
        <p:spPr>
          <a:xfrm>
            <a:off x="804672" y="5541264"/>
            <a:ext cx="10582351" cy="493776"/>
          </a:xfrm>
          <a:prstGeom prst="rect">
            <a:avLst/>
          </a:prstGeom>
          <a:noFill/>
          <a:ln/>
        </p:spPr>
        <p:txBody>
          <a:bodyPr wrap="square" lIns="0" tIns="0" rIns="0" bIns="0" rtlCol="0" anchor="t"/>
          <a:lstStyle/>
          <a:p>
            <a:pPr indent="0" marL="0">
              <a:lnSpc>
                <a:spcPct val="124000"/>
              </a:lnSpc>
              <a:buNone/>
            </a:pPr>
            <a:r>
              <a:rPr lang="en-US" sz="1300" dirty="0">
                <a:solidFill>
                  <a:srgbClr val="3A3844"/>
                </a:solidFill>
                <a:latin typeface="Arial" pitchFamily="34" charset="0"/>
                <a:ea typeface="Arial" pitchFamily="34" charset="-122"/>
                <a:cs typeface="Arial" pitchFamily="34" charset="-120"/>
              </a:rPr>
              <a:t>El sistema estonio KSI publica su ancla en periódicos y lo opera una empresa conocida. ¿A cuál de estas filas se parece más? Guarden la respuesta: les va a servir para la tabla de la tarea T5.</a:t>
            </a:r>
            <a:endParaRPr lang="en-US" sz="1300" dirty="0"/>
          </a:p>
        </p:txBody>
      </p:sp>
    </p:spTree>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name="Slide 25">
    <p:bg>
      <p:bgPr>
        <a:solidFill>
          <a:srgbClr val="FFFFFF"/>
        </a:solidFill>
      </p:bgPr>
    </p:bg>
    <p:spTree>
      <p:nvGrpSpPr>
        <p:cNvPr id="1" name=""/>
        <p:cNvGrpSpPr/>
        <p:nvPr/>
      </p:nvGrpSpPr>
      <p:grpSpPr>
        <a:xfrm>
          <a:off x="0" y="0"/>
          <a:ext cx="0" cy="0"/>
          <a:chOff x="0" y="0"/>
          <a:chExt cx="0" cy="0"/>
        </a:xfrm>
      </p:grpSpPr>
      <p:pic>
        <p:nvPicPr>
          <p:cNvPr id="2" name="Image 0" descr="preencoded.png">    </p:cNvPr>
          <p:cNvPicPr>
            <a:picLocks noChangeAspect="1"/>
          </p:cNvPicPr>
          <p:nvPr/>
        </p:nvPicPr>
        <p:blipFill>
          <a:blip r:embed="rId1"/>
          <a:stretch>
            <a:fillRect/>
          </a:stretch>
        </p:blipFill>
        <p:spPr>
          <a:xfrm>
            <a:off x="566928" y="402336"/>
            <a:ext cx="274320" cy="274320"/>
          </a:xfrm>
          <a:prstGeom prst="rect">
            <a:avLst/>
          </a:prstGeom>
        </p:spPr>
      </p:pic>
      <p:sp>
        <p:nvSpPr>
          <p:cNvPr id="3" name="Text 0"/>
          <p:cNvSpPr/>
          <p:nvPr/>
        </p:nvSpPr>
        <p:spPr>
          <a:xfrm>
            <a:off x="969264" y="384048"/>
            <a:ext cx="10655503" cy="310896"/>
          </a:xfrm>
          <a:prstGeom prst="rect">
            <a:avLst/>
          </a:prstGeom>
          <a:noFill/>
          <a:ln/>
        </p:spPr>
        <p:txBody>
          <a:bodyPr wrap="square" lIns="0" tIns="0" rIns="0" bIns="0" rtlCol="0" anchor="ctr"/>
          <a:lstStyle/>
          <a:p>
            <a:pPr indent="0" marL="0">
              <a:buNone/>
            </a:pPr>
            <a:r>
              <a:rPr lang="en-US" sz="950" spc="160" kern="0" dirty="0">
                <a:solidFill>
                  <a:srgbClr val="6F6B80"/>
                </a:solidFill>
                <a:latin typeface="Courier New" pitchFamily="34" charset="0"/>
                <a:ea typeface="Courier New" pitchFamily="34" charset="-122"/>
                <a:cs typeface="Courier New" pitchFamily="34" charset="-120"/>
              </a:rPr>
              <a:t>A.16 · TEORÍA DE JUEGOS</a:t>
            </a:r>
            <a:endParaRPr lang="en-US" sz="950" dirty="0"/>
          </a:p>
        </p:txBody>
      </p:sp>
      <p:sp>
        <p:nvSpPr>
          <p:cNvPr id="4" name="Text 1"/>
          <p:cNvSpPr/>
          <p:nvPr/>
        </p:nvSpPr>
        <p:spPr>
          <a:xfrm>
            <a:off x="566928" y="777240"/>
            <a:ext cx="11057839" cy="777240"/>
          </a:xfrm>
          <a:prstGeom prst="rect">
            <a:avLst/>
          </a:prstGeom>
          <a:noFill/>
          <a:ln/>
        </p:spPr>
        <p:txBody>
          <a:bodyPr wrap="square" lIns="0" tIns="0" rIns="0" bIns="0" rtlCol="0" anchor="t"/>
          <a:lstStyle/>
          <a:p>
            <a:pPr indent="0" marL="0">
              <a:lnSpc>
                <a:spcPct val="92000"/>
              </a:lnSpc>
              <a:buNone/>
            </a:pPr>
            <a:r>
              <a:rPr lang="en-US" sz="2700" dirty="0">
                <a:solidFill>
                  <a:srgbClr val="0F0F11"/>
                </a:solidFill>
                <a:latin typeface="Arial Black" pitchFamily="34" charset="0"/>
                <a:ea typeface="Arial Black" pitchFamily="34" charset="-122"/>
                <a:cs typeface="Arial Black" pitchFamily="34" charset="-120"/>
              </a:rPr>
              <a:t>POR QUÉ A UN MINERO LE CONVIENE SER HONESTO</a:t>
            </a:r>
            <a:endParaRPr lang="en-US" sz="2700" dirty="0"/>
          </a:p>
        </p:txBody>
      </p:sp>
      <p:sp>
        <p:nvSpPr>
          <p:cNvPr id="5" name="Text 2"/>
          <p:cNvSpPr/>
          <p:nvPr/>
        </p:nvSpPr>
        <p:spPr>
          <a:xfrm>
            <a:off x="566928" y="6291072"/>
            <a:ext cx="8412480" cy="274320"/>
          </a:xfrm>
          <a:prstGeom prst="rect">
            <a:avLst/>
          </a:prstGeom>
          <a:noFill/>
          <a:ln/>
        </p:spPr>
        <p:txBody>
          <a:bodyPr wrap="square" lIns="0" tIns="0" rIns="0" bIns="0" rtlCol="0" anchor="ctr"/>
          <a:lstStyle/>
          <a:p>
            <a:pPr indent="0" marL="0">
              <a:buNone/>
            </a:pPr>
            <a:r>
              <a:rPr lang="en-US" sz="800" spc="120" kern="0" dirty="0">
                <a:solidFill>
                  <a:srgbClr val="6F6B80"/>
                </a:solidFill>
                <a:latin typeface="Courier New" pitchFamily="34" charset="0"/>
                <a:ea typeface="Courier New" pitchFamily="34" charset="-122"/>
                <a:cs typeface="Courier New" pitchFamily="34" charset="-120"/>
              </a:rPr>
              <a:t>SESIÓN 04 · CONSENSO, INCENTIVOS Y EL TRILEMA</a:t>
            </a:r>
            <a:endParaRPr lang="en-US" sz="800" dirty="0"/>
          </a:p>
        </p:txBody>
      </p:sp>
      <p:sp>
        <p:nvSpPr>
          <p:cNvPr id="6" name="Text 3"/>
          <p:cNvSpPr/>
          <p:nvPr/>
        </p:nvSpPr>
        <p:spPr>
          <a:xfrm>
            <a:off x="9052560" y="6291072"/>
            <a:ext cx="1828800" cy="274320"/>
          </a:xfrm>
          <a:prstGeom prst="rect">
            <a:avLst/>
          </a:prstGeom>
          <a:noFill/>
          <a:ln/>
        </p:spPr>
        <p:txBody>
          <a:bodyPr wrap="square" lIns="0" tIns="0" rIns="0" bIns="0" rtlCol="0" anchor="ctr"/>
          <a:lstStyle/>
          <a:p>
            <a:pPr algn="r" indent="0" marL="0">
              <a:buNone/>
            </a:pPr>
            <a:r>
              <a:rPr lang="en-US" sz="800" spc="120" kern="0" dirty="0">
                <a:solidFill>
                  <a:srgbClr val="6F6B80"/>
                </a:solidFill>
                <a:latin typeface="Courier New" pitchFamily="34" charset="0"/>
                <a:ea typeface="Courier New" pitchFamily="34" charset="-122"/>
                <a:cs typeface="Courier New" pitchFamily="34" charset="-120"/>
              </a:rPr>
              <a:t>USB MEDELLÍN</a:t>
            </a:r>
            <a:endParaRPr lang="en-US" sz="800" dirty="0"/>
          </a:p>
        </p:txBody>
      </p:sp>
      <p:sp>
        <p:nvSpPr>
          <p:cNvPr id="7" name="Text 4"/>
          <p:cNvSpPr/>
          <p:nvPr/>
        </p:nvSpPr>
        <p:spPr>
          <a:xfrm>
            <a:off x="11018520" y="6291072"/>
            <a:ext cx="603504" cy="274320"/>
          </a:xfrm>
          <a:prstGeom prst="rect">
            <a:avLst/>
          </a:prstGeom>
          <a:noFill/>
          <a:ln/>
        </p:spPr>
        <p:txBody>
          <a:bodyPr wrap="square" lIns="0" tIns="0" rIns="0" bIns="0" rtlCol="0" anchor="ctr"/>
          <a:lstStyle/>
          <a:p>
            <a:pPr algn="r" indent="0" marL="0">
              <a:buNone/>
            </a:pPr>
            <a:r>
              <a:rPr lang="en-US" sz="900" b="1" dirty="0">
                <a:solidFill>
                  <a:srgbClr val="0F0F11"/>
                </a:solidFill>
                <a:latin typeface="Courier New" pitchFamily="34" charset="0"/>
                <a:ea typeface="Courier New" pitchFamily="34" charset="-122"/>
                <a:cs typeface="Courier New" pitchFamily="34" charset="-120"/>
              </a:rPr>
              <a:t>25</a:t>
            </a:r>
            <a:endParaRPr lang="en-US" sz="900" dirty="0"/>
          </a:p>
        </p:txBody>
      </p:sp>
      <p:sp>
        <p:nvSpPr>
          <p:cNvPr id="8" name="Text 5"/>
          <p:cNvSpPr/>
          <p:nvPr/>
        </p:nvSpPr>
        <p:spPr>
          <a:xfrm>
            <a:off x="566928" y="1737360"/>
            <a:ext cx="11057839" cy="822960"/>
          </a:xfrm>
          <a:prstGeom prst="rect">
            <a:avLst/>
          </a:prstGeom>
          <a:noFill/>
          <a:ln/>
        </p:spPr>
        <p:txBody>
          <a:bodyPr wrap="square" lIns="0" tIns="0" rIns="0" bIns="0" rtlCol="0" anchor="t"/>
          <a:lstStyle/>
          <a:p>
            <a:pPr indent="0" marL="0">
              <a:lnSpc>
                <a:spcPct val="124000"/>
              </a:lnSpc>
              <a:buNone/>
            </a:pPr>
            <a:r>
              <a:rPr lang="en-US" sz="1450" dirty="0">
                <a:solidFill>
                  <a:srgbClr val="3A3844"/>
                </a:solidFill>
                <a:latin typeface="Arial" pitchFamily="34" charset="0"/>
                <a:ea typeface="Arial" pitchFamily="34" charset="-122"/>
                <a:cs typeface="Arial" pitchFamily="34" charset="-120"/>
              </a:rPr>
              <a:t>El consenso no depende de que los participantes sean buenos. Depende de que hacer trampa rinda menos que seguir las reglas. Pongámosle números a un minero con el 30 % del cómputo.</a:t>
            </a:r>
            <a:endParaRPr lang="en-US" sz="1450" dirty="0"/>
          </a:p>
        </p:txBody>
      </p:sp>
      <p:graphicFrame>
        <p:nvGraphicFramePr>
          <p:cNvPr id="26" name="Table 0"/>
          <p:cNvGraphicFramePr>
            <a:graphicFrameLocks noGrp="1"/>
          </p:cNvGraphicFramePr>
          <p:nvPr>
            <p:extLst>
              <p:ext uri="{D42A27DB-BD31-4B8C-83A1-F6EECF244321}">
                <p14:modId xmlns:p14="http://schemas.microsoft.com/office/powerpoint/2010/main" val="1579011935"/>
              </p:ext>
            </p:extLst>
          </p:nvPr>
        </p:nvGraphicFramePr>
        <p:xfrm>
          <a:off x="566928" y="2697480"/>
          <a:ext cx="11057839" cy="914400"/>
        </p:xfrm>
        <a:graphic>
          <a:graphicData uri="http://schemas.openxmlformats.org/drawingml/2006/table">
            <a:tbl>
              <a:tblPr/>
              <a:tblGrid>
                <a:gridCol w="2651760"/>
                <a:gridCol w="4114800"/>
                <a:gridCol w="4291279"/>
              </a:tblGrid>
              <a:tr h="310896">
                <a:tc>
                  <a:txBody>
                    <a:bodyPr/>
                    <a:lstStyle/>
                    <a:p>
                      <a:pPr indent="0" marL="0">
                        <a:buNone/>
                      </a:pPr>
                      <a:r>
                        <a:rPr lang="en-US" sz="900" b="1" spc="110" kern="0" dirty="0">
                          <a:solidFill>
                            <a:srgbClr val="FFFFFF"/>
                          </a:solidFill>
                          <a:latin typeface="Courier New" pitchFamily="34" charset="0"/>
                          <a:ea typeface="Courier New" pitchFamily="34" charset="-122"/>
                          <a:cs typeface="Courier New" pitchFamily="34" charset="-120"/>
                        </a:rPr>
                        <a:t>ESTRATEGIA</a:t>
                      </a:r>
                      <a:endParaRPr lang="en-US" sz="900" dirty="0">
                        <a:latin typeface="Courier New" charset="0"/>
                        <a:ea typeface="Courier New" charset="0"/>
                        <a:cs typeface="Courier New" charset="0"/>
                      </a:endParaRPr>
                    </a:p>
                  </a:txBody>
                  <a:tcPr marL="101600" marR="101600" marT="76200" marB="76200" anchor="ctr">
                    <a:lnL w="12700" cap="flat" cmpd="sng" algn="ctr">
                      <a:solidFill>
                        <a:srgbClr val="D9D6E0"/>
                      </a:solidFill>
                      <a:prstDash val="solid"/>
                      <a:round/>
                      <a:headEnd type="none" w="med" len="med"/>
                      <a:tailEnd type="none" w="med" len="med"/>
                    </a:lnL>
                    <a:lnR w="12700" cap="flat" cmpd="sng" algn="ctr">
                      <a:solidFill>
                        <a:srgbClr val="D9D6E0"/>
                      </a:solidFill>
                      <a:prstDash val="solid"/>
                      <a:round/>
                      <a:headEnd type="none" w="med" len="med"/>
                      <a:tailEnd type="none" w="med" len="med"/>
                    </a:lnR>
                    <a:lnT w="12700" cap="flat" cmpd="sng" algn="ctr">
                      <a:solidFill>
                        <a:srgbClr val="D9D6E0"/>
                      </a:solidFill>
                      <a:prstDash val="solid"/>
                      <a:round/>
                      <a:headEnd type="none" w="med" len="med"/>
                      <a:tailEnd type="none" w="med" len="med"/>
                    </a:lnT>
                    <a:lnB w="12700" cap="flat" cmpd="sng" algn="ctr">
                      <a:solidFill>
                        <a:srgbClr val="D9D6E0"/>
                      </a:solidFill>
                      <a:prstDash val="solid"/>
                      <a:round/>
                      <a:headEnd type="none" w="med" len="med"/>
                      <a:tailEnd type="none" w="med" len="med"/>
                    </a:lnB>
                    <a:solidFill>
                      <a:srgbClr val="0F0F11"/>
                    </a:solidFill>
                  </a:tcPr>
                </a:tc>
                <a:tc>
                  <a:txBody>
                    <a:bodyPr/>
                    <a:lstStyle/>
                    <a:p>
                      <a:pPr indent="0" marL="0">
                        <a:buNone/>
                      </a:pPr>
                      <a:r>
                        <a:rPr lang="en-US" sz="900" b="1" spc="110" kern="0" dirty="0">
                          <a:solidFill>
                            <a:srgbClr val="FFFFFF"/>
                          </a:solidFill>
                          <a:latin typeface="Courier New" pitchFamily="34" charset="0"/>
                          <a:ea typeface="Courier New" pitchFamily="34" charset="-122"/>
                          <a:cs typeface="Courier New" pitchFamily="34" charset="-120"/>
                        </a:rPr>
                        <a:t>LO QUE GANA</a:t>
                      </a:r>
                      <a:endParaRPr lang="en-US" sz="900" dirty="0">
                        <a:latin typeface="Courier New" charset="0"/>
                        <a:ea typeface="Courier New" charset="0"/>
                        <a:cs typeface="Courier New" charset="0"/>
                      </a:endParaRPr>
                    </a:p>
                  </a:txBody>
                  <a:tcPr marL="101600" marR="101600" marT="76200" marB="76200" anchor="ctr">
                    <a:lnL w="12700" cap="flat" cmpd="sng" algn="ctr">
                      <a:solidFill>
                        <a:srgbClr val="D9D6E0"/>
                      </a:solidFill>
                      <a:prstDash val="solid"/>
                      <a:round/>
                      <a:headEnd type="none" w="med" len="med"/>
                      <a:tailEnd type="none" w="med" len="med"/>
                    </a:lnL>
                    <a:lnR w="12700" cap="flat" cmpd="sng" algn="ctr">
                      <a:solidFill>
                        <a:srgbClr val="D9D6E0"/>
                      </a:solidFill>
                      <a:prstDash val="solid"/>
                      <a:round/>
                      <a:headEnd type="none" w="med" len="med"/>
                      <a:tailEnd type="none" w="med" len="med"/>
                    </a:lnR>
                    <a:lnT w="12700" cap="flat" cmpd="sng" algn="ctr">
                      <a:solidFill>
                        <a:srgbClr val="D9D6E0"/>
                      </a:solidFill>
                      <a:prstDash val="solid"/>
                      <a:round/>
                      <a:headEnd type="none" w="med" len="med"/>
                      <a:tailEnd type="none" w="med" len="med"/>
                    </a:lnT>
                    <a:lnB w="12700" cap="flat" cmpd="sng" algn="ctr">
                      <a:solidFill>
                        <a:srgbClr val="D9D6E0"/>
                      </a:solidFill>
                      <a:prstDash val="solid"/>
                      <a:round/>
                      <a:headEnd type="none" w="med" len="med"/>
                      <a:tailEnd type="none" w="med" len="med"/>
                    </a:lnB>
                    <a:solidFill>
                      <a:srgbClr val="0F0F11"/>
                    </a:solidFill>
                  </a:tcPr>
                </a:tc>
                <a:tc>
                  <a:txBody>
                    <a:bodyPr/>
                    <a:lstStyle/>
                    <a:p>
                      <a:pPr indent="0" marL="0">
                        <a:buNone/>
                      </a:pPr>
                      <a:r>
                        <a:rPr lang="en-US" sz="900" b="1" spc="110" kern="0" dirty="0">
                          <a:solidFill>
                            <a:srgbClr val="FFFFFF"/>
                          </a:solidFill>
                          <a:latin typeface="Courier New" pitchFamily="34" charset="0"/>
                          <a:ea typeface="Courier New" pitchFamily="34" charset="-122"/>
                          <a:cs typeface="Courier New" pitchFamily="34" charset="-120"/>
                        </a:rPr>
                        <a:t>LO QUE ARRIESGA</a:t>
                      </a:r>
                      <a:endParaRPr lang="en-US" sz="900" dirty="0">
                        <a:latin typeface="Courier New" charset="0"/>
                        <a:ea typeface="Courier New" charset="0"/>
                        <a:cs typeface="Courier New" charset="0"/>
                      </a:endParaRPr>
                    </a:p>
                  </a:txBody>
                  <a:tcPr marL="101600" marR="101600" marT="76200" marB="76200" anchor="ctr">
                    <a:lnL w="12700" cap="flat" cmpd="sng" algn="ctr">
                      <a:solidFill>
                        <a:srgbClr val="D9D6E0"/>
                      </a:solidFill>
                      <a:prstDash val="solid"/>
                      <a:round/>
                      <a:headEnd type="none" w="med" len="med"/>
                      <a:tailEnd type="none" w="med" len="med"/>
                    </a:lnL>
                    <a:lnR w="12700" cap="flat" cmpd="sng" algn="ctr">
                      <a:solidFill>
                        <a:srgbClr val="D9D6E0"/>
                      </a:solidFill>
                      <a:prstDash val="solid"/>
                      <a:round/>
                      <a:headEnd type="none" w="med" len="med"/>
                      <a:tailEnd type="none" w="med" len="med"/>
                    </a:lnR>
                    <a:lnT w="12700" cap="flat" cmpd="sng" algn="ctr">
                      <a:solidFill>
                        <a:srgbClr val="D9D6E0"/>
                      </a:solidFill>
                      <a:prstDash val="solid"/>
                      <a:round/>
                      <a:headEnd type="none" w="med" len="med"/>
                      <a:tailEnd type="none" w="med" len="med"/>
                    </a:lnT>
                    <a:lnB w="12700" cap="flat" cmpd="sng" algn="ctr">
                      <a:solidFill>
                        <a:srgbClr val="D9D6E0"/>
                      </a:solidFill>
                      <a:prstDash val="solid"/>
                      <a:round/>
                      <a:headEnd type="none" w="med" len="med"/>
                      <a:tailEnd type="none" w="med" len="med"/>
                    </a:lnB>
                    <a:solidFill>
                      <a:srgbClr val="0F0F11"/>
                    </a:solidFill>
                  </a:tcPr>
                </a:tc>
              </a:tr>
              <a:tr h="627888">
                <a:tc>
                  <a:txBody>
                    <a:bodyPr/>
                    <a:lstStyle/>
                    <a:p>
                      <a:pPr indent="0" marL="0">
                        <a:buNone/>
                      </a:pPr>
                      <a:r>
                        <a:rPr lang="en-US" sz="1150" b="1" dirty="0">
                          <a:solidFill>
                            <a:srgbClr val="0F0F11"/>
                          </a:solidFill>
                          <a:latin typeface="Courier New" pitchFamily="34" charset="0"/>
                          <a:ea typeface="Courier New" pitchFamily="34" charset="-122"/>
                          <a:cs typeface="Courier New" pitchFamily="34" charset="-120"/>
                        </a:rPr>
                        <a:t>Minar honestamente</a:t>
                      </a:r>
                      <a:endParaRPr lang="en-US" sz="1150" dirty="0">
                        <a:latin typeface="Courier New" charset="0"/>
                        <a:ea typeface="Courier New" charset="0"/>
                        <a:cs typeface="Courier New" charset="0"/>
                      </a:endParaRPr>
                    </a:p>
                  </a:txBody>
                  <a:tcPr marL="101600" marR="101600" marT="76200" marB="76200" anchor="t">
                    <a:lnL w="12700" cap="flat" cmpd="sng" algn="ctr">
                      <a:solidFill>
                        <a:srgbClr val="D9D6E0"/>
                      </a:solidFill>
                      <a:prstDash val="solid"/>
                      <a:round/>
                      <a:headEnd type="none" w="med" len="med"/>
                      <a:tailEnd type="none" w="med" len="med"/>
                    </a:lnL>
                    <a:lnR w="12700" cap="flat" cmpd="sng" algn="ctr">
                      <a:solidFill>
                        <a:srgbClr val="D9D6E0"/>
                      </a:solidFill>
                      <a:prstDash val="solid"/>
                      <a:round/>
                      <a:headEnd type="none" w="med" len="med"/>
                      <a:tailEnd type="none" w="med" len="med"/>
                    </a:lnR>
                    <a:lnT w="12700" cap="flat" cmpd="sng" algn="ctr">
                      <a:solidFill>
                        <a:srgbClr val="D9D6E0"/>
                      </a:solidFill>
                      <a:prstDash val="solid"/>
                      <a:round/>
                      <a:headEnd type="none" w="med" len="med"/>
                      <a:tailEnd type="none" w="med" len="med"/>
                    </a:lnT>
                    <a:lnB w="12700" cap="flat" cmpd="sng" algn="ctr">
                      <a:solidFill>
                        <a:srgbClr val="D9D6E0"/>
                      </a:solidFill>
                      <a:prstDash val="solid"/>
                      <a:round/>
                      <a:headEnd type="none" w="med" len="med"/>
                      <a:tailEnd type="none" w="med" len="med"/>
                    </a:lnB>
                    <a:solidFill>
                      <a:srgbClr val="FFFFFF"/>
                    </a:solidFill>
                  </a:tcPr>
                </a:tc>
                <a:tc>
                  <a:txBody>
                    <a:bodyPr/>
                    <a:lstStyle/>
                    <a:p>
                      <a:pPr indent="0" marL="0">
                        <a:buNone/>
                      </a:pPr>
                      <a:r>
                        <a:rPr lang="en-US" sz="1150" dirty="0">
                          <a:solidFill>
                            <a:srgbClr val="3A3844"/>
                          </a:solidFill>
                          <a:latin typeface="Arial" pitchFamily="34" charset="0"/>
                          <a:ea typeface="Arial" pitchFamily="34" charset="-122"/>
                          <a:cs typeface="Arial" pitchFamily="34" charset="-120"/>
                        </a:rPr>
                        <a:t>Unos 3 de cada 10 bloques, con su recompensa. Ingreso predecible.</a:t>
                      </a:r>
                      <a:endParaRPr lang="en-US" sz="1150" dirty="0">
                        <a:latin typeface="Arial" charset="0"/>
                        <a:ea typeface="Arial" charset="0"/>
                        <a:cs typeface="Arial" charset="0"/>
                      </a:endParaRPr>
                    </a:p>
                  </a:txBody>
                  <a:tcPr marL="101600" marR="101600" marT="76200" marB="76200" anchor="t">
                    <a:lnL w="12700" cap="flat" cmpd="sng" algn="ctr">
                      <a:solidFill>
                        <a:srgbClr val="D9D6E0"/>
                      </a:solidFill>
                      <a:prstDash val="solid"/>
                      <a:round/>
                      <a:headEnd type="none" w="med" len="med"/>
                      <a:tailEnd type="none" w="med" len="med"/>
                    </a:lnL>
                    <a:lnR w="12700" cap="flat" cmpd="sng" algn="ctr">
                      <a:solidFill>
                        <a:srgbClr val="D9D6E0"/>
                      </a:solidFill>
                      <a:prstDash val="solid"/>
                      <a:round/>
                      <a:headEnd type="none" w="med" len="med"/>
                      <a:tailEnd type="none" w="med" len="med"/>
                    </a:lnR>
                    <a:lnT w="12700" cap="flat" cmpd="sng" algn="ctr">
                      <a:solidFill>
                        <a:srgbClr val="D9D6E0"/>
                      </a:solidFill>
                      <a:prstDash val="solid"/>
                      <a:round/>
                      <a:headEnd type="none" w="med" len="med"/>
                      <a:tailEnd type="none" w="med" len="med"/>
                    </a:lnT>
                    <a:lnB w="12700" cap="flat" cmpd="sng" algn="ctr">
                      <a:solidFill>
                        <a:srgbClr val="D9D6E0"/>
                      </a:solidFill>
                      <a:prstDash val="solid"/>
                      <a:round/>
                      <a:headEnd type="none" w="med" len="med"/>
                      <a:tailEnd type="none" w="med" len="med"/>
                    </a:lnB>
                    <a:solidFill>
                      <a:srgbClr val="FFFFFF"/>
                    </a:solidFill>
                  </a:tcPr>
                </a:tc>
                <a:tc>
                  <a:txBody>
                    <a:bodyPr/>
                    <a:lstStyle/>
                    <a:p>
                      <a:pPr indent="0" marL="0">
                        <a:buNone/>
                      </a:pPr>
                      <a:r>
                        <a:rPr lang="en-US" sz="1150" dirty="0">
                          <a:solidFill>
                            <a:srgbClr val="3A3844"/>
                          </a:solidFill>
                          <a:latin typeface="Arial" pitchFamily="34" charset="0"/>
                          <a:ea typeface="Arial" pitchFamily="34" charset="-122"/>
                          <a:cs typeface="Arial" pitchFamily="34" charset="-120"/>
                        </a:rPr>
                        <a:t>Casi nada: el costo de la energía, que ya asumió.</a:t>
                      </a:r>
                      <a:endParaRPr lang="en-US" sz="1150" dirty="0">
                        <a:latin typeface="Arial" charset="0"/>
                        <a:ea typeface="Arial" charset="0"/>
                        <a:cs typeface="Arial" charset="0"/>
                      </a:endParaRPr>
                    </a:p>
                  </a:txBody>
                  <a:tcPr marL="101600" marR="101600" marT="76200" marB="76200" anchor="t">
                    <a:lnL w="12700" cap="flat" cmpd="sng" algn="ctr">
                      <a:solidFill>
                        <a:srgbClr val="D9D6E0"/>
                      </a:solidFill>
                      <a:prstDash val="solid"/>
                      <a:round/>
                      <a:headEnd type="none" w="med" len="med"/>
                      <a:tailEnd type="none" w="med" len="med"/>
                    </a:lnL>
                    <a:lnR w="12700" cap="flat" cmpd="sng" algn="ctr">
                      <a:solidFill>
                        <a:srgbClr val="D9D6E0"/>
                      </a:solidFill>
                      <a:prstDash val="solid"/>
                      <a:round/>
                      <a:headEnd type="none" w="med" len="med"/>
                      <a:tailEnd type="none" w="med" len="med"/>
                    </a:lnR>
                    <a:lnT w="12700" cap="flat" cmpd="sng" algn="ctr">
                      <a:solidFill>
                        <a:srgbClr val="D9D6E0"/>
                      </a:solidFill>
                      <a:prstDash val="solid"/>
                      <a:round/>
                      <a:headEnd type="none" w="med" len="med"/>
                      <a:tailEnd type="none" w="med" len="med"/>
                    </a:lnT>
                    <a:lnB w="12700" cap="flat" cmpd="sng" algn="ctr">
                      <a:solidFill>
                        <a:srgbClr val="D9D6E0"/>
                      </a:solidFill>
                      <a:prstDash val="solid"/>
                      <a:round/>
                      <a:headEnd type="none" w="med" len="med"/>
                      <a:tailEnd type="none" w="med" len="med"/>
                    </a:lnB>
                    <a:solidFill>
                      <a:srgbClr val="FFFFFF"/>
                    </a:solidFill>
                  </a:tcPr>
                </a:tc>
              </a:tr>
              <a:tr h="627888">
                <a:tc>
                  <a:txBody>
                    <a:bodyPr/>
                    <a:lstStyle/>
                    <a:p>
                      <a:pPr indent="0" marL="0">
                        <a:buNone/>
                      </a:pPr>
                      <a:r>
                        <a:rPr lang="en-US" sz="1150" b="1" dirty="0">
                          <a:solidFill>
                            <a:srgbClr val="0F0F11"/>
                          </a:solidFill>
                          <a:latin typeface="Courier New" pitchFamily="34" charset="0"/>
                          <a:ea typeface="Courier New" pitchFamily="34" charset="-122"/>
                          <a:cs typeface="Courier New" pitchFamily="34" charset="-120"/>
                        </a:rPr>
                        <a:t>Intentar un doble gasto</a:t>
                      </a:r>
                      <a:endParaRPr lang="en-US" sz="1150" dirty="0">
                        <a:latin typeface="Courier New" charset="0"/>
                        <a:ea typeface="Courier New" charset="0"/>
                        <a:cs typeface="Courier New" charset="0"/>
                      </a:endParaRPr>
                    </a:p>
                  </a:txBody>
                  <a:tcPr marL="101600" marR="101600" marT="76200" marB="76200" anchor="t">
                    <a:lnL w="12700" cap="flat" cmpd="sng" algn="ctr">
                      <a:solidFill>
                        <a:srgbClr val="D9D6E0"/>
                      </a:solidFill>
                      <a:prstDash val="solid"/>
                      <a:round/>
                      <a:headEnd type="none" w="med" len="med"/>
                      <a:tailEnd type="none" w="med" len="med"/>
                    </a:lnL>
                    <a:lnR w="12700" cap="flat" cmpd="sng" algn="ctr">
                      <a:solidFill>
                        <a:srgbClr val="D9D6E0"/>
                      </a:solidFill>
                      <a:prstDash val="solid"/>
                      <a:round/>
                      <a:headEnd type="none" w="med" len="med"/>
                      <a:tailEnd type="none" w="med" len="med"/>
                    </a:lnR>
                    <a:lnT w="12700" cap="flat" cmpd="sng" algn="ctr">
                      <a:solidFill>
                        <a:srgbClr val="D9D6E0"/>
                      </a:solidFill>
                      <a:prstDash val="solid"/>
                      <a:round/>
                      <a:headEnd type="none" w="med" len="med"/>
                      <a:tailEnd type="none" w="med" len="med"/>
                    </a:lnT>
                    <a:lnB w="12700" cap="flat" cmpd="sng" algn="ctr">
                      <a:solidFill>
                        <a:srgbClr val="D9D6E0"/>
                      </a:solidFill>
                      <a:prstDash val="solid"/>
                      <a:round/>
                      <a:headEnd type="none" w="med" len="med"/>
                      <a:tailEnd type="none" w="med" len="med"/>
                    </a:lnB>
                    <a:solidFill>
                      <a:srgbClr val="FAF9FB"/>
                    </a:solidFill>
                  </a:tcPr>
                </a:tc>
                <a:tc>
                  <a:txBody>
                    <a:bodyPr/>
                    <a:lstStyle/>
                    <a:p>
                      <a:pPr indent="0" marL="0">
                        <a:buNone/>
                      </a:pPr>
                      <a:r>
                        <a:rPr lang="en-US" sz="1150" dirty="0">
                          <a:solidFill>
                            <a:srgbClr val="3A3844"/>
                          </a:solidFill>
                          <a:latin typeface="Arial" pitchFamily="34" charset="0"/>
                          <a:ea typeface="Arial" pitchFamily="34" charset="-122"/>
                          <a:cs typeface="Arial" pitchFamily="34" charset="-120"/>
                        </a:rPr>
                        <a:t>El valor de lo que revierte, si logra alcanzar a la cadena honesta.</a:t>
                      </a:r>
                      <a:endParaRPr lang="en-US" sz="1150" dirty="0">
                        <a:latin typeface="Arial" charset="0"/>
                        <a:ea typeface="Arial" charset="0"/>
                        <a:cs typeface="Arial" charset="0"/>
                      </a:endParaRPr>
                    </a:p>
                  </a:txBody>
                  <a:tcPr marL="101600" marR="101600" marT="76200" marB="76200" anchor="t">
                    <a:lnL w="12700" cap="flat" cmpd="sng" algn="ctr">
                      <a:solidFill>
                        <a:srgbClr val="D9D6E0"/>
                      </a:solidFill>
                      <a:prstDash val="solid"/>
                      <a:round/>
                      <a:headEnd type="none" w="med" len="med"/>
                      <a:tailEnd type="none" w="med" len="med"/>
                    </a:lnL>
                    <a:lnR w="12700" cap="flat" cmpd="sng" algn="ctr">
                      <a:solidFill>
                        <a:srgbClr val="D9D6E0"/>
                      </a:solidFill>
                      <a:prstDash val="solid"/>
                      <a:round/>
                      <a:headEnd type="none" w="med" len="med"/>
                      <a:tailEnd type="none" w="med" len="med"/>
                    </a:lnR>
                    <a:lnT w="12700" cap="flat" cmpd="sng" algn="ctr">
                      <a:solidFill>
                        <a:srgbClr val="D9D6E0"/>
                      </a:solidFill>
                      <a:prstDash val="solid"/>
                      <a:round/>
                      <a:headEnd type="none" w="med" len="med"/>
                      <a:tailEnd type="none" w="med" len="med"/>
                    </a:lnT>
                    <a:lnB w="12700" cap="flat" cmpd="sng" algn="ctr">
                      <a:solidFill>
                        <a:srgbClr val="D9D6E0"/>
                      </a:solidFill>
                      <a:prstDash val="solid"/>
                      <a:round/>
                      <a:headEnd type="none" w="med" len="med"/>
                      <a:tailEnd type="none" w="med" len="med"/>
                    </a:lnB>
                    <a:solidFill>
                      <a:srgbClr val="FAF9FB"/>
                    </a:solidFill>
                  </a:tcPr>
                </a:tc>
                <a:tc>
                  <a:txBody>
                    <a:bodyPr/>
                    <a:lstStyle/>
                    <a:p>
                      <a:pPr indent="0" marL="0">
                        <a:buNone/>
                      </a:pPr>
                      <a:r>
                        <a:rPr lang="en-US" sz="1150" dirty="0">
                          <a:solidFill>
                            <a:srgbClr val="3A3844"/>
                          </a:solidFill>
                          <a:latin typeface="Arial" pitchFamily="34" charset="0"/>
                          <a:ea typeface="Arial" pitchFamily="34" charset="-122"/>
                          <a:cs typeface="Arial" pitchFamily="34" charset="-120"/>
                        </a:rPr>
                        <a:t>Cada confirmación que espere la víctima reduce su éxito (A.9). Si falla, pierde lo minado.</a:t>
                      </a:r>
                      <a:endParaRPr lang="en-US" sz="1150" dirty="0">
                        <a:latin typeface="Arial" charset="0"/>
                        <a:ea typeface="Arial" charset="0"/>
                        <a:cs typeface="Arial" charset="0"/>
                      </a:endParaRPr>
                    </a:p>
                  </a:txBody>
                  <a:tcPr marL="101600" marR="101600" marT="76200" marB="76200" anchor="t">
                    <a:lnL w="12700" cap="flat" cmpd="sng" algn="ctr">
                      <a:solidFill>
                        <a:srgbClr val="D9D6E0"/>
                      </a:solidFill>
                      <a:prstDash val="solid"/>
                      <a:round/>
                      <a:headEnd type="none" w="med" len="med"/>
                      <a:tailEnd type="none" w="med" len="med"/>
                    </a:lnL>
                    <a:lnR w="12700" cap="flat" cmpd="sng" algn="ctr">
                      <a:solidFill>
                        <a:srgbClr val="D9D6E0"/>
                      </a:solidFill>
                      <a:prstDash val="solid"/>
                      <a:round/>
                      <a:headEnd type="none" w="med" len="med"/>
                      <a:tailEnd type="none" w="med" len="med"/>
                    </a:lnR>
                    <a:lnT w="12700" cap="flat" cmpd="sng" algn="ctr">
                      <a:solidFill>
                        <a:srgbClr val="D9D6E0"/>
                      </a:solidFill>
                      <a:prstDash val="solid"/>
                      <a:round/>
                      <a:headEnd type="none" w="med" len="med"/>
                      <a:tailEnd type="none" w="med" len="med"/>
                    </a:lnT>
                    <a:lnB w="12700" cap="flat" cmpd="sng" algn="ctr">
                      <a:solidFill>
                        <a:srgbClr val="D9D6E0"/>
                      </a:solidFill>
                      <a:prstDash val="solid"/>
                      <a:round/>
                      <a:headEnd type="none" w="med" len="med"/>
                      <a:tailEnd type="none" w="med" len="med"/>
                    </a:lnB>
                    <a:solidFill>
                      <a:srgbClr val="FAF9FB"/>
                    </a:solidFill>
                  </a:tcPr>
                </a:tc>
              </a:tr>
              <a:tr h="627888">
                <a:tc>
                  <a:txBody>
                    <a:bodyPr/>
                    <a:lstStyle/>
                    <a:p>
                      <a:pPr indent="0" marL="0">
                        <a:buNone/>
                      </a:pPr>
                      <a:r>
                        <a:rPr lang="en-US" sz="1150" b="1" dirty="0">
                          <a:solidFill>
                            <a:srgbClr val="0F0F11"/>
                          </a:solidFill>
                          <a:latin typeface="Courier New" pitchFamily="34" charset="0"/>
                          <a:ea typeface="Courier New" pitchFamily="34" charset="-122"/>
                          <a:cs typeface="Courier New" pitchFamily="34" charset="-120"/>
                        </a:rPr>
                        <a:t>Atacar y tener éxito</a:t>
                      </a:r>
                      <a:endParaRPr lang="en-US" sz="1150" dirty="0">
                        <a:latin typeface="Courier New" charset="0"/>
                        <a:ea typeface="Courier New" charset="0"/>
                        <a:cs typeface="Courier New" charset="0"/>
                      </a:endParaRPr>
                    </a:p>
                  </a:txBody>
                  <a:tcPr marL="101600" marR="101600" marT="76200" marB="76200" anchor="t">
                    <a:lnL w="12700" cap="flat" cmpd="sng" algn="ctr">
                      <a:solidFill>
                        <a:srgbClr val="D9D6E0"/>
                      </a:solidFill>
                      <a:prstDash val="solid"/>
                      <a:round/>
                      <a:headEnd type="none" w="med" len="med"/>
                      <a:tailEnd type="none" w="med" len="med"/>
                    </a:lnL>
                    <a:lnR w="12700" cap="flat" cmpd="sng" algn="ctr">
                      <a:solidFill>
                        <a:srgbClr val="D9D6E0"/>
                      </a:solidFill>
                      <a:prstDash val="solid"/>
                      <a:round/>
                      <a:headEnd type="none" w="med" len="med"/>
                      <a:tailEnd type="none" w="med" len="med"/>
                    </a:lnR>
                    <a:lnT w="12700" cap="flat" cmpd="sng" algn="ctr">
                      <a:solidFill>
                        <a:srgbClr val="D9D6E0"/>
                      </a:solidFill>
                      <a:prstDash val="solid"/>
                      <a:round/>
                      <a:headEnd type="none" w="med" len="med"/>
                      <a:tailEnd type="none" w="med" len="med"/>
                    </a:lnT>
                    <a:lnB w="12700" cap="flat" cmpd="sng" algn="ctr">
                      <a:solidFill>
                        <a:srgbClr val="D9D6E0"/>
                      </a:solidFill>
                      <a:prstDash val="solid"/>
                      <a:round/>
                      <a:headEnd type="none" w="med" len="med"/>
                      <a:tailEnd type="none" w="med" len="med"/>
                    </a:lnB>
                    <a:solidFill>
                      <a:srgbClr val="FFFFFF"/>
                    </a:solidFill>
                  </a:tcPr>
                </a:tc>
                <a:tc>
                  <a:txBody>
                    <a:bodyPr/>
                    <a:lstStyle/>
                    <a:p>
                      <a:pPr indent="0" marL="0">
                        <a:buNone/>
                      </a:pPr>
                      <a:r>
                        <a:rPr lang="en-US" sz="1150" dirty="0">
                          <a:solidFill>
                            <a:srgbClr val="3A3844"/>
                          </a:solidFill>
                          <a:latin typeface="Arial" pitchFamily="34" charset="0"/>
                          <a:ea typeface="Arial" pitchFamily="34" charset="-122"/>
                          <a:cs typeface="Arial" pitchFamily="34" charset="-120"/>
                        </a:rPr>
                        <a:t>Un doble gasto puntual.</a:t>
                      </a:r>
                      <a:endParaRPr lang="en-US" sz="1150" dirty="0">
                        <a:latin typeface="Arial" charset="0"/>
                        <a:ea typeface="Arial" charset="0"/>
                        <a:cs typeface="Arial" charset="0"/>
                      </a:endParaRPr>
                    </a:p>
                  </a:txBody>
                  <a:tcPr marL="101600" marR="101600" marT="76200" marB="76200" anchor="t">
                    <a:lnL w="12700" cap="flat" cmpd="sng" algn="ctr">
                      <a:solidFill>
                        <a:srgbClr val="D9D6E0"/>
                      </a:solidFill>
                      <a:prstDash val="solid"/>
                      <a:round/>
                      <a:headEnd type="none" w="med" len="med"/>
                      <a:tailEnd type="none" w="med" len="med"/>
                    </a:lnL>
                    <a:lnR w="12700" cap="flat" cmpd="sng" algn="ctr">
                      <a:solidFill>
                        <a:srgbClr val="D9D6E0"/>
                      </a:solidFill>
                      <a:prstDash val="solid"/>
                      <a:round/>
                      <a:headEnd type="none" w="med" len="med"/>
                      <a:tailEnd type="none" w="med" len="med"/>
                    </a:lnR>
                    <a:lnT w="12700" cap="flat" cmpd="sng" algn="ctr">
                      <a:solidFill>
                        <a:srgbClr val="D9D6E0"/>
                      </a:solidFill>
                      <a:prstDash val="solid"/>
                      <a:round/>
                      <a:headEnd type="none" w="med" len="med"/>
                      <a:tailEnd type="none" w="med" len="med"/>
                    </a:lnT>
                    <a:lnB w="12700" cap="flat" cmpd="sng" algn="ctr">
                      <a:solidFill>
                        <a:srgbClr val="D9D6E0"/>
                      </a:solidFill>
                      <a:prstDash val="solid"/>
                      <a:round/>
                      <a:headEnd type="none" w="med" len="med"/>
                      <a:tailEnd type="none" w="med" len="med"/>
                    </a:lnB>
                    <a:solidFill>
                      <a:srgbClr val="FFFFFF"/>
                    </a:solidFill>
                  </a:tcPr>
                </a:tc>
                <a:tc>
                  <a:txBody>
                    <a:bodyPr/>
                    <a:lstStyle/>
                    <a:p>
                      <a:pPr indent="0" marL="0">
                        <a:buNone/>
                      </a:pPr>
                      <a:r>
                        <a:rPr lang="en-US" sz="1150" dirty="0">
                          <a:solidFill>
                            <a:srgbClr val="3A3844"/>
                          </a:solidFill>
                          <a:latin typeface="Arial" pitchFamily="34" charset="0"/>
                          <a:ea typeface="Arial" pitchFamily="34" charset="-122"/>
                          <a:cs typeface="Arial" pitchFamily="34" charset="-120"/>
                        </a:rPr>
                        <a:t>La confianza en la moneda cae, y con ella el valor de sus propias recompensas y de su hardware.</a:t>
                      </a:r>
                      <a:endParaRPr lang="en-US" sz="1150" dirty="0">
                        <a:latin typeface="Arial" charset="0"/>
                        <a:ea typeface="Arial" charset="0"/>
                        <a:cs typeface="Arial" charset="0"/>
                      </a:endParaRPr>
                    </a:p>
                  </a:txBody>
                  <a:tcPr marL="101600" marR="101600" marT="76200" marB="76200" anchor="t">
                    <a:lnL w="12700" cap="flat" cmpd="sng" algn="ctr">
                      <a:solidFill>
                        <a:srgbClr val="D9D6E0"/>
                      </a:solidFill>
                      <a:prstDash val="solid"/>
                      <a:round/>
                      <a:headEnd type="none" w="med" len="med"/>
                      <a:tailEnd type="none" w="med" len="med"/>
                    </a:lnL>
                    <a:lnR w="12700" cap="flat" cmpd="sng" algn="ctr">
                      <a:solidFill>
                        <a:srgbClr val="D9D6E0"/>
                      </a:solidFill>
                      <a:prstDash val="solid"/>
                      <a:round/>
                      <a:headEnd type="none" w="med" len="med"/>
                      <a:tailEnd type="none" w="med" len="med"/>
                    </a:lnR>
                    <a:lnT w="12700" cap="flat" cmpd="sng" algn="ctr">
                      <a:solidFill>
                        <a:srgbClr val="D9D6E0"/>
                      </a:solidFill>
                      <a:prstDash val="solid"/>
                      <a:round/>
                      <a:headEnd type="none" w="med" len="med"/>
                      <a:tailEnd type="none" w="med" len="med"/>
                    </a:lnT>
                    <a:lnB w="12700" cap="flat" cmpd="sng" algn="ctr">
                      <a:solidFill>
                        <a:srgbClr val="D9D6E0"/>
                      </a:solidFill>
                      <a:prstDash val="solid"/>
                      <a:round/>
                      <a:headEnd type="none" w="med" len="med"/>
                      <a:tailEnd type="none" w="med" len="med"/>
                    </a:lnB>
                    <a:solidFill>
                      <a:srgbClr val="FFFFFF"/>
                    </a:solidFill>
                  </a:tcPr>
                </a:tc>
              </a:tr>
            </a:tbl>
          </a:graphicData>
        </a:graphic>
      </p:graphicFrame>
      <p:sp>
        <p:nvSpPr>
          <p:cNvPr id="10" name="Shape 6"/>
          <p:cNvSpPr/>
          <p:nvPr/>
        </p:nvSpPr>
        <p:spPr>
          <a:xfrm>
            <a:off x="548640" y="2679192"/>
            <a:ext cx="11094415" cy="2231136"/>
          </a:xfrm>
          <a:prstGeom prst="rect">
            <a:avLst/>
          </a:prstGeom>
          <a:ln w="22225">
            <a:solidFill>
              <a:srgbClr val="0F0F11"/>
            </a:solidFill>
            <a:prstDash val="solid"/>
          </a:ln>
        </p:spPr>
      </p:sp>
      <p:sp>
        <p:nvSpPr>
          <p:cNvPr id="11" name="Shape 7"/>
          <p:cNvSpPr/>
          <p:nvPr/>
        </p:nvSpPr>
        <p:spPr>
          <a:xfrm>
            <a:off x="566928" y="5074920"/>
            <a:ext cx="11057839" cy="1069848"/>
          </a:xfrm>
          <a:prstGeom prst="rect">
            <a:avLst/>
          </a:prstGeom>
          <a:solidFill>
            <a:srgbClr val="F2F0F5"/>
          </a:solidFill>
          <a:ln w="22225">
            <a:solidFill>
              <a:srgbClr val="0F0F11"/>
            </a:solidFill>
            <a:prstDash val="solid"/>
          </a:ln>
        </p:spPr>
      </p:sp>
      <p:pic>
        <p:nvPicPr>
          <p:cNvPr id="12" name="Image 1" descr="preencoded.png">    </p:cNvPr>
          <p:cNvPicPr>
            <a:picLocks noChangeAspect="1"/>
          </p:cNvPicPr>
          <p:nvPr/>
        </p:nvPicPr>
        <p:blipFill>
          <a:blip r:embed="rId2"/>
          <a:stretch>
            <a:fillRect/>
          </a:stretch>
        </p:blipFill>
        <p:spPr>
          <a:xfrm>
            <a:off x="804672" y="5294376"/>
            <a:ext cx="237744" cy="237744"/>
          </a:xfrm>
          <a:prstGeom prst="rect">
            <a:avLst/>
          </a:prstGeom>
        </p:spPr>
      </p:pic>
      <p:sp>
        <p:nvSpPr>
          <p:cNvPr id="13" name="Text 8"/>
          <p:cNvSpPr/>
          <p:nvPr/>
        </p:nvSpPr>
        <p:spPr>
          <a:xfrm>
            <a:off x="1133856" y="5266944"/>
            <a:ext cx="10234879" cy="292608"/>
          </a:xfrm>
          <a:prstGeom prst="rect">
            <a:avLst/>
          </a:prstGeom>
          <a:noFill/>
          <a:ln/>
        </p:spPr>
        <p:txBody>
          <a:bodyPr wrap="square" lIns="0" tIns="0" rIns="0" bIns="0" rtlCol="0" anchor="ctr"/>
          <a:lstStyle/>
          <a:p>
            <a:pPr indent="0" marL="0">
              <a:buNone/>
            </a:pPr>
            <a:r>
              <a:rPr lang="en-US" sz="950" b="1" spc="150" kern="0" dirty="0">
                <a:solidFill>
                  <a:srgbClr val="6F6B80"/>
                </a:solidFill>
                <a:latin typeface="Courier New" pitchFamily="34" charset="0"/>
                <a:ea typeface="Courier New" pitchFamily="34" charset="-122"/>
                <a:cs typeface="Courier New" pitchFamily="34" charset="-120"/>
              </a:rPr>
              <a:t>EL MATIZ HONESTO</a:t>
            </a:r>
            <a:endParaRPr lang="en-US" sz="950" dirty="0"/>
          </a:p>
        </p:txBody>
      </p:sp>
      <p:sp>
        <p:nvSpPr>
          <p:cNvPr id="14" name="Text 9"/>
          <p:cNvSpPr/>
          <p:nvPr/>
        </p:nvSpPr>
        <p:spPr>
          <a:xfrm>
            <a:off x="804672" y="5586984"/>
            <a:ext cx="10582351" cy="466344"/>
          </a:xfrm>
          <a:prstGeom prst="rect">
            <a:avLst/>
          </a:prstGeom>
          <a:noFill/>
          <a:ln/>
        </p:spPr>
        <p:txBody>
          <a:bodyPr wrap="square" lIns="0" tIns="0" rIns="0" bIns="0" rtlCol="0" anchor="t"/>
          <a:lstStyle/>
          <a:p>
            <a:pPr indent="0" marL="0">
              <a:lnSpc>
                <a:spcPct val="124000"/>
              </a:lnSpc>
              <a:buNone/>
            </a:pPr>
            <a:r>
              <a:rPr lang="en-US" sz="1200" dirty="0">
                <a:solidFill>
                  <a:srgbClr val="3A3844"/>
                </a:solidFill>
                <a:latin typeface="Arial" pitchFamily="34" charset="0"/>
                <a:ea typeface="Arial" pitchFamily="34" charset="-122"/>
                <a:cs typeface="Arial" pitchFamily="34" charset="-120"/>
              </a:rPr>
              <a:t>Eyal y Sirer (2013) mostraron la «minería egoísta»: un minero con bastante menos del 50 % puede ganar más que su parte ocultando bloques. La honestidad es dominante bajo ciertos supuestos, no siempre.</a:t>
            </a:r>
            <a:endParaRPr lang="en-US" sz="1200" dirty="0"/>
          </a:p>
        </p:txBody>
      </p:sp>
    </p:spTree>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name="Slide 26">
    <p:bg>
      <p:bgPr>
        <a:solidFill>
          <a:srgbClr val="FFFFFF"/>
        </a:solidFill>
      </p:bgPr>
    </p:bg>
    <p:spTree>
      <p:nvGrpSpPr>
        <p:cNvPr id="1" name=""/>
        <p:cNvGrpSpPr/>
        <p:nvPr/>
      </p:nvGrpSpPr>
      <p:grpSpPr>
        <a:xfrm>
          <a:off x="0" y="0"/>
          <a:ext cx="0" cy="0"/>
          <a:chOff x="0" y="0"/>
          <a:chExt cx="0" cy="0"/>
        </a:xfrm>
      </p:grpSpPr>
      <p:pic>
        <p:nvPicPr>
          <p:cNvPr id="2" name="Image 0" descr="preencoded.png">    </p:cNvPr>
          <p:cNvPicPr>
            <a:picLocks noChangeAspect="1"/>
          </p:cNvPicPr>
          <p:nvPr/>
        </p:nvPicPr>
        <p:blipFill>
          <a:blip r:embed="rId1"/>
          <a:stretch>
            <a:fillRect/>
          </a:stretch>
        </p:blipFill>
        <p:spPr>
          <a:xfrm>
            <a:off x="566928" y="402336"/>
            <a:ext cx="274320" cy="274320"/>
          </a:xfrm>
          <a:prstGeom prst="rect">
            <a:avLst/>
          </a:prstGeom>
        </p:spPr>
      </p:pic>
      <p:sp>
        <p:nvSpPr>
          <p:cNvPr id="3" name="Text 0"/>
          <p:cNvSpPr/>
          <p:nvPr/>
        </p:nvSpPr>
        <p:spPr>
          <a:xfrm>
            <a:off x="969264" y="384048"/>
            <a:ext cx="10655503" cy="310896"/>
          </a:xfrm>
          <a:prstGeom prst="rect">
            <a:avLst/>
          </a:prstGeom>
          <a:noFill/>
          <a:ln/>
        </p:spPr>
        <p:txBody>
          <a:bodyPr wrap="square" lIns="0" tIns="0" rIns="0" bIns="0" rtlCol="0" anchor="ctr"/>
          <a:lstStyle/>
          <a:p>
            <a:pPr indent="0" marL="0">
              <a:buNone/>
            </a:pPr>
            <a:r>
              <a:rPr lang="en-US" sz="950" spc="160" kern="0" dirty="0">
                <a:solidFill>
                  <a:srgbClr val="6F6B80"/>
                </a:solidFill>
                <a:latin typeface="Courier New" pitchFamily="34" charset="0"/>
                <a:ea typeface="Courier New" pitchFamily="34" charset="-122"/>
                <a:cs typeface="Courier New" pitchFamily="34" charset="-120"/>
              </a:rPr>
              <a:t>A.17 · BIFURCACIONES</a:t>
            </a:r>
            <a:endParaRPr lang="en-US" sz="950" dirty="0"/>
          </a:p>
        </p:txBody>
      </p:sp>
      <p:sp>
        <p:nvSpPr>
          <p:cNvPr id="4" name="Text 1"/>
          <p:cNvSpPr/>
          <p:nvPr/>
        </p:nvSpPr>
        <p:spPr>
          <a:xfrm>
            <a:off x="566928" y="777240"/>
            <a:ext cx="11057839" cy="777240"/>
          </a:xfrm>
          <a:prstGeom prst="rect">
            <a:avLst/>
          </a:prstGeom>
          <a:noFill/>
          <a:ln/>
        </p:spPr>
        <p:txBody>
          <a:bodyPr wrap="square" lIns="0" tIns="0" rIns="0" bIns="0" rtlCol="0" anchor="t"/>
          <a:lstStyle/>
          <a:p>
            <a:pPr indent="0" marL="0">
              <a:lnSpc>
                <a:spcPct val="92000"/>
              </a:lnSpc>
              <a:buNone/>
            </a:pPr>
            <a:r>
              <a:rPr lang="en-US" sz="2700" dirty="0">
                <a:solidFill>
                  <a:srgbClr val="0F0F11"/>
                </a:solidFill>
                <a:latin typeface="Arial Black" pitchFamily="34" charset="0"/>
                <a:ea typeface="Arial Black" pitchFamily="34" charset="-122"/>
                <a:cs typeface="Arial Black" pitchFamily="34" charset="-120"/>
              </a:rPr>
              <a:t>POR QUÉ EL CONSENSO PRODUCE CADENAS RIVALES</a:t>
            </a:r>
            <a:endParaRPr lang="en-US" sz="2700" dirty="0"/>
          </a:p>
        </p:txBody>
      </p:sp>
      <p:sp>
        <p:nvSpPr>
          <p:cNvPr id="5" name="Text 2"/>
          <p:cNvSpPr/>
          <p:nvPr/>
        </p:nvSpPr>
        <p:spPr>
          <a:xfrm>
            <a:off x="566928" y="6291072"/>
            <a:ext cx="8412480" cy="274320"/>
          </a:xfrm>
          <a:prstGeom prst="rect">
            <a:avLst/>
          </a:prstGeom>
          <a:noFill/>
          <a:ln/>
        </p:spPr>
        <p:txBody>
          <a:bodyPr wrap="square" lIns="0" tIns="0" rIns="0" bIns="0" rtlCol="0" anchor="ctr"/>
          <a:lstStyle/>
          <a:p>
            <a:pPr indent="0" marL="0">
              <a:buNone/>
            </a:pPr>
            <a:r>
              <a:rPr lang="en-US" sz="800" spc="120" kern="0" dirty="0">
                <a:solidFill>
                  <a:srgbClr val="6F6B80"/>
                </a:solidFill>
                <a:latin typeface="Courier New" pitchFamily="34" charset="0"/>
                <a:ea typeface="Courier New" pitchFamily="34" charset="-122"/>
                <a:cs typeface="Courier New" pitchFamily="34" charset="-120"/>
              </a:rPr>
              <a:t>SESIÓN 04 · CONSENSO, INCENTIVOS Y EL TRILEMA</a:t>
            </a:r>
            <a:endParaRPr lang="en-US" sz="800" dirty="0"/>
          </a:p>
        </p:txBody>
      </p:sp>
      <p:sp>
        <p:nvSpPr>
          <p:cNvPr id="6" name="Text 3"/>
          <p:cNvSpPr/>
          <p:nvPr/>
        </p:nvSpPr>
        <p:spPr>
          <a:xfrm>
            <a:off x="9052560" y="6291072"/>
            <a:ext cx="1828800" cy="274320"/>
          </a:xfrm>
          <a:prstGeom prst="rect">
            <a:avLst/>
          </a:prstGeom>
          <a:noFill/>
          <a:ln/>
        </p:spPr>
        <p:txBody>
          <a:bodyPr wrap="square" lIns="0" tIns="0" rIns="0" bIns="0" rtlCol="0" anchor="ctr"/>
          <a:lstStyle/>
          <a:p>
            <a:pPr algn="r" indent="0" marL="0">
              <a:buNone/>
            </a:pPr>
            <a:r>
              <a:rPr lang="en-US" sz="800" spc="120" kern="0" dirty="0">
                <a:solidFill>
                  <a:srgbClr val="6F6B80"/>
                </a:solidFill>
                <a:latin typeface="Courier New" pitchFamily="34" charset="0"/>
                <a:ea typeface="Courier New" pitchFamily="34" charset="-122"/>
                <a:cs typeface="Courier New" pitchFamily="34" charset="-120"/>
              </a:rPr>
              <a:t>USB MEDELLÍN</a:t>
            </a:r>
            <a:endParaRPr lang="en-US" sz="800" dirty="0"/>
          </a:p>
        </p:txBody>
      </p:sp>
      <p:sp>
        <p:nvSpPr>
          <p:cNvPr id="7" name="Text 4"/>
          <p:cNvSpPr/>
          <p:nvPr/>
        </p:nvSpPr>
        <p:spPr>
          <a:xfrm>
            <a:off x="11018520" y="6291072"/>
            <a:ext cx="603504" cy="274320"/>
          </a:xfrm>
          <a:prstGeom prst="rect">
            <a:avLst/>
          </a:prstGeom>
          <a:noFill/>
          <a:ln/>
        </p:spPr>
        <p:txBody>
          <a:bodyPr wrap="square" lIns="0" tIns="0" rIns="0" bIns="0" rtlCol="0" anchor="ctr"/>
          <a:lstStyle/>
          <a:p>
            <a:pPr algn="r" indent="0" marL="0">
              <a:buNone/>
            </a:pPr>
            <a:r>
              <a:rPr lang="en-US" sz="900" b="1" dirty="0">
                <a:solidFill>
                  <a:srgbClr val="0F0F11"/>
                </a:solidFill>
                <a:latin typeface="Courier New" pitchFamily="34" charset="0"/>
                <a:ea typeface="Courier New" pitchFamily="34" charset="-122"/>
                <a:cs typeface="Courier New" pitchFamily="34" charset="-120"/>
              </a:rPr>
              <a:t>26</a:t>
            </a:r>
            <a:endParaRPr lang="en-US" sz="900" dirty="0"/>
          </a:p>
        </p:txBody>
      </p:sp>
      <p:sp>
        <p:nvSpPr>
          <p:cNvPr id="8" name="Text 5"/>
          <p:cNvSpPr/>
          <p:nvPr/>
        </p:nvSpPr>
        <p:spPr>
          <a:xfrm>
            <a:off x="566928" y="1737360"/>
            <a:ext cx="11057839" cy="868680"/>
          </a:xfrm>
          <a:prstGeom prst="rect">
            <a:avLst/>
          </a:prstGeom>
          <a:noFill/>
          <a:ln/>
        </p:spPr>
        <p:txBody>
          <a:bodyPr wrap="square" lIns="0" tIns="0" rIns="0" bIns="0" rtlCol="0" anchor="t"/>
          <a:lstStyle/>
          <a:p>
            <a:pPr indent="0" marL="0">
              <a:lnSpc>
                <a:spcPct val="124000"/>
              </a:lnSpc>
              <a:buNone/>
            </a:pPr>
            <a:r>
              <a:rPr lang="en-US" sz="1450" dirty="0">
                <a:solidFill>
                  <a:srgbClr val="3A3844"/>
                </a:solidFill>
                <a:latin typeface="Arial" pitchFamily="34" charset="0"/>
                <a:ea typeface="Arial" pitchFamily="34" charset="-122"/>
                <a:cs typeface="Arial" pitchFamily="34" charset="-120"/>
              </a:rPr>
              <a:t>Dos mineros encuentran un bloque válido casi al mismo tiempo, en lados distintos del planeta. Durante unos segundos, una parte de la red ve uno y otra parte ve el otro. Nadie hizo trampa.</a:t>
            </a:r>
            <a:endParaRPr lang="en-US" sz="1450" dirty="0"/>
          </a:p>
        </p:txBody>
      </p:sp>
      <p:sp>
        <p:nvSpPr>
          <p:cNvPr id="9" name="Shape 6"/>
          <p:cNvSpPr/>
          <p:nvPr/>
        </p:nvSpPr>
        <p:spPr>
          <a:xfrm>
            <a:off x="566928" y="3429000"/>
            <a:ext cx="1280160" cy="594360"/>
          </a:xfrm>
          <a:prstGeom prst="rect">
            <a:avLst/>
          </a:prstGeom>
          <a:solidFill>
            <a:srgbClr val="FAF9FB"/>
          </a:solidFill>
          <a:ln w="22225">
            <a:solidFill>
              <a:srgbClr val="0F0F11"/>
            </a:solidFill>
            <a:prstDash val="solid"/>
          </a:ln>
        </p:spPr>
      </p:sp>
      <p:sp>
        <p:nvSpPr>
          <p:cNvPr id="10" name="Text 7"/>
          <p:cNvSpPr/>
          <p:nvPr/>
        </p:nvSpPr>
        <p:spPr>
          <a:xfrm>
            <a:off x="658368" y="3429000"/>
            <a:ext cx="1097280" cy="594360"/>
          </a:xfrm>
          <a:prstGeom prst="rect">
            <a:avLst/>
          </a:prstGeom>
          <a:noFill/>
          <a:ln/>
        </p:spPr>
        <p:txBody>
          <a:bodyPr wrap="square" lIns="0" tIns="0" rIns="0" bIns="0" rtlCol="0" anchor="ctr"/>
          <a:lstStyle/>
          <a:p>
            <a:pPr algn="ctr" indent="0" marL="0">
              <a:buNone/>
            </a:pPr>
            <a:r>
              <a:rPr lang="en-US" sz="1100" b="1" spc="80" kern="0" dirty="0">
                <a:solidFill>
                  <a:srgbClr val="0F0F11"/>
                </a:solidFill>
                <a:latin typeface="Courier New" pitchFamily="34" charset="0"/>
                <a:ea typeface="Courier New" pitchFamily="34" charset="-122"/>
                <a:cs typeface="Courier New" pitchFamily="34" charset="-120"/>
              </a:rPr>
              <a:t>98</a:t>
            </a:r>
            <a:endParaRPr lang="en-US" sz="1100" dirty="0"/>
          </a:p>
        </p:txBody>
      </p:sp>
      <p:sp>
        <p:nvSpPr>
          <p:cNvPr id="11" name="Shape 8"/>
          <p:cNvSpPr/>
          <p:nvPr/>
        </p:nvSpPr>
        <p:spPr>
          <a:xfrm>
            <a:off x="1847088" y="3721608"/>
            <a:ext cx="320040" cy="914"/>
          </a:xfrm>
          <a:prstGeom prst="line">
            <a:avLst/>
          </a:prstGeom>
          <a:noFill/>
          <a:ln w="22225">
            <a:solidFill>
              <a:srgbClr val="0F0F11"/>
            </a:solidFill>
            <a:prstDash val="solid"/>
            <a:tailEnd type="triangle"/>
          </a:ln>
        </p:spPr>
      </p:sp>
      <p:sp>
        <p:nvSpPr>
          <p:cNvPr id="12" name="Shape 9"/>
          <p:cNvSpPr/>
          <p:nvPr/>
        </p:nvSpPr>
        <p:spPr>
          <a:xfrm>
            <a:off x="2167128" y="3429000"/>
            <a:ext cx="1280160" cy="594360"/>
          </a:xfrm>
          <a:prstGeom prst="rect">
            <a:avLst/>
          </a:prstGeom>
          <a:solidFill>
            <a:srgbClr val="FAF9FB"/>
          </a:solidFill>
          <a:ln w="22225">
            <a:solidFill>
              <a:srgbClr val="0F0F11"/>
            </a:solidFill>
            <a:prstDash val="solid"/>
          </a:ln>
        </p:spPr>
      </p:sp>
      <p:sp>
        <p:nvSpPr>
          <p:cNvPr id="13" name="Text 10"/>
          <p:cNvSpPr/>
          <p:nvPr/>
        </p:nvSpPr>
        <p:spPr>
          <a:xfrm>
            <a:off x="2258568" y="3429000"/>
            <a:ext cx="1097280" cy="594360"/>
          </a:xfrm>
          <a:prstGeom prst="rect">
            <a:avLst/>
          </a:prstGeom>
          <a:noFill/>
          <a:ln/>
        </p:spPr>
        <p:txBody>
          <a:bodyPr wrap="square" lIns="0" tIns="0" rIns="0" bIns="0" rtlCol="0" anchor="ctr"/>
          <a:lstStyle/>
          <a:p>
            <a:pPr algn="ctr" indent="0" marL="0">
              <a:buNone/>
            </a:pPr>
            <a:r>
              <a:rPr lang="en-US" sz="1100" b="1" spc="80" kern="0" dirty="0">
                <a:solidFill>
                  <a:srgbClr val="0F0F11"/>
                </a:solidFill>
                <a:latin typeface="Courier New" pitchFamily="34" charset="0"/>
                <a:ea typeface="Courier New" pitchFamily="34" charset="-122"/>
                <a:cs typeface="Courier New" pitchFamily="34" charset="-120"/>
              </a:rPr>
              <a:t>99</a:t>
            </a:r>
            <a:endParaRPr lang="en-US" sz="1100" dirty="0"/>
          </a:p>
        </p:txBody>
      </p:sp>
      <p:sp>
        <p:nvSpPr>
          <p:cNvPr id="14" name="Shape 11"/>
          <p:cNvSpPr/>
          <p:nvPr/>
        </p:nvSpPr>
        <p:spPr>
          <a:xfrm>
            <a:off x="3447288" y="3721608"/>
            <a:ext cx="320040" cy="914"/>
          </a:xfrm>
          <a:prstGeom prst="line">
            <a:avLst/>
          </a:prstGeom>
          <a:noFill/>
          <a:ln w="22225">
            <a:solidFill>
              <a:srgbClr val="0F0F11"/>
            </a:solidFill>
            <a:prstDash val="solid"/>
            <a:tailEnd type="triangle"/>
          </a:ln>
        </p:spPr>
      </p:sp>
      <p:sp>
        <p:nvSpPr>
          <p:cNvPr id="15" name="Shape 12"/>
          <p:cNvSpPr/>
          <p:nvPr/>
        </p:nvSpPr>
        <p:spPr>
          <a:xfrm>
            <a:off x="3767328" y="3429000"/>
            <a:ext cx="1280160" cy="594360"/>
          </a:xfrm>
          <a:prstGeom prst="rect">
            <a:avLst/>
          </a:prstGeom>
          <a:solidFill>
            <a:srgbClr val="FAF9FB"/>
          </a:solidFill>
          <a:ln w="22225">
            <a:solidFill>
              <a:srgbClr val="0F0F11"/>
            </a:solidFill>
            <a:prstDash val="solid"/>
          </a:ln>
        </p:spPr>
      </p:sp>
      <p:sp>
        <p:nvSpPr>
          <p:cNvPr id="16" name="Text 13"/>
          <p:cNvSpPr/>
          <p:nvPr/>
        </p:nvSpPr>
        <p:spPr>
          <a:xfrm>
            <a:off x="3858768" y="3429000"/>
            <a:ext cx="1097280" cy="594360"/>
          </a:xfrm>
          <a:prstGeom prst="rect">
            <a:avLst/>
          </a:prstGeom>
          <a:noFill/>
          <a:ln/>
        </p:spPr>
        <p:txBody>
          <a:bodyPr wrap="square" lIns="0" tIns="0" rIns="0" bIns="0" rtlCol="0" anchor="ctr"/>
          <a:lstStyle/>
          <a:p>
            <a:pPr algn="ctr" indent="0" marL="0">
              <a:buNone/>
            </a:pPr>
            <a:r>
              <a:rPr lang="en-US" sz="1100" b="1" spc="80" kern="0" dirty="0">
                <a:solidFill>
                  <a:srgbClr val="0F0F11"/>
                </a:solidFill>
                <a:latin typeface="Courier New" pitchFamily="34" charset="0"/>
                <a:ea typeface="Courier New" pitchFamily="34" charset="-122"/>
                <a:cs typeface="Courier New" pitchFamily="34" charset="-120"/>
              </a:rPr>
              <a:t>100</a:t>
            </a:r>
            <a:endParaRPr lang="en-US" sz="1100" dirty="0"/>
          </a:p>
        </p:txBody>
      </p:sp>
      <p:sp>
        <p:nvSpPr>
          <p:cNvPr id="17" name="Shape 14"/>
          <p:cNvSpPr/>
          <p:nvPr/>
        </p:nvSpPr>
        <p:spPr>
          <a:xfrm flipV="1">
            <a:off x="5047488" y="3108960"/>
            <a:ext cx="731520" cy="502920"/>
          </a:xfrm>
          <a:prstGeom prst="line">
            <a:avLst/>
          </a:prstGeom>
          <a:noFill/>
          <a:ln w="25400">
            <a:solidFill>
              <a:srgbClr val="F07F06"/>
            </a:solidFill>
            <a:prstDash val="solid"/>
            <a:tailEnd type="triangle"/>
          </a:ln>
        </p:spPr>
      </p:sp>
      <p:sp>
        <p:nvSpPr>
          <p:cNvPr id="18" name="Shape 15"/>
          <p:cNvSpPr/>
          <p:nvPr/>
        </p:nvSpPr>
        <p:spPr>
          <a:xfrm>
            <a:off x="5047488" y="3840480"/>
            <a:ext cx="731520" cy="457200"/>
          </a:xfrm>
          <a:prstGeom prst="line">
            <a:avLst/>
          </a:prstGeom>
          <a:noFill/>
          <a:ln w="25400">
            <a:solidFill>
              <a:srgbClr val="7152E9"/>
            </a:solidFill>
            <a:prstDash val="solid"/>
            <a:tailEnd type="triangle"/>
          </a:ln>
        </p:spPr>
      </p:sp>
      <p:sp>
        <p:nvSpPr>
          <p:cNvPr id="19" name="Shape 16"/>
          <p:cNvSpPr/>
          <p:nvPr/>
        </p:nvSpPr>
        <p:spPr>
          <a:xfrm>
            <a:off x="5779008" y="2788920"/>
            <a:ext cx="1371600" cy="594360"/>
          </a:xfrm>
          <a:prstGeom prst="rect">
            <a:avLst/>
          </a:prstGeom>
          <a:solidFill>
            <a:srgbClr val="FFFFFF"/>
          </a:solidFill>
          <a:ln w="22225">
            <a:solidFill>
              <a:srgbClr val="F07F06"/>
            </a:solidFill>
            <a:prstDash val="solid"/>
          </a:ln>
        </p:spPr>
      </p:sp>
      <p:sp>
        <p:nvSpPr>
          <p:cNvPr id="20" name="Text 17"/>
          <p:cNvSpPr/>
          <p:nvPr/>
        </p:nvSpPr>
        <p:spPr>
          <a:xfrm>
            <a:off x="5870448" y="2788920"/>
            <a:ext cx="1188720" cy="594360"/>
          </a:xfrm>
          <a:prstGeom prst="rect">
            <a:avLst/>
          </a:prstGeom>
          <a:noFill/>
          <a:ln/>
        </p:spPr>
        <p:txBody>
          <a:bodyPr wrap="square" lIns="0" tIns="0" rIns="0" bIns="0" rtlCol="0" anchor="ctr"/>
          <a:lstStyle/>
          <a:p>
            <a:pPr algn="ctr" indent="0" marL="0">
              <a:buNone/>
            </a:pPr>
            <a:r>
              <a:rPr lang="en-US" sz="1100" b="1" spc="80" kern="0" dirty="0">
                <a:solidFill>
                  <a:srgbClr val="0F0F11"/>
                </a:solidFill>
                <a:latin typeface="Courier New" pitchFamily="34" charset="0"/>
                <a:ea typeface="Courier New" pitchFamily="34" charset="-122"/>
                <a:cs typeface="Courier New" pitchFamily="34" charset="-120"/>
              </a:rPr>
              <a:t>101-A</a:t>
            </a:r>
            <a:endParaRPr lang="en-US" sz="1100" dirty="0"/>
          </a:p>
        </p:txBody>
      </p:sp>
      <p:sp>
        <p:nvSpPr>
          <p:cNvPr id="21" name="Shape 18"/>
          <p:cNvSpPr/>
          <p:nvPr/>
        </p:nvSpPr>
        <p:spPr>
          <a:xfrm>
            <a:off x="5779008" y="4023360"/>
            <a:ext cx="1371600" cy="594360"/>
          </a:xfrm>
          <a:prstGeom prst="rect">
            <a:avLst/>
          </a:prstGeom>
          <a:solidFill>
            <a:srgbClr val="FFFFFF"/>
          </a:solidFill>
          <a:ln w="22225">
            <a:solidFill>
              <a:srgbClr val="7152E9"/>
            </a:solidFill>
            <a:prstDash val="solid"/>
          </a:ln>
        </p:spPr>
      </p:sp>
      <p:sp>
        <p:nvSpPr>
          <p:cNvPr id="22" name="Text 19"/>
          <p:cNvSpPr/>
          <p:nvPr/>
        </p:nvSpPr>
        <p:spPr>
          <a:xfrm>
            <a:off x="5870448" y="4023360"/>
            <a:ext cx="1188720" cy="594360"/>
          </a:xfrm>
          <a:prstGeom prst="rect">
            <a:avLst/>
          </a:prstGeom>
          <a:noFill/>
          <a:ln/>
        </p:spPr>
        <p:txBody>
          <a:bodyPr wrap="square" lIns="0" tIns="0" rIns="0" bIns="0" rtlCol="0" anchor="ctr"/>
          <a:lstStyle/>
          <a:p>
            <a:pPr algn="ctr" indent="0" marL="0">
              <a:buNone/>
            </a:pPr>
            <a:r>
              <a:rPr lang="en-US" sz="1100" b="1" spc="80" kern="0" dirty="0">
                <a:solidFill>
                  <a:srgbClr val="0F0F11"/>
                </a:solidFill>
                <a:latin typeface="Courier New" pitchFamily="34" charset="0"/>
                <a:ea typeface="Courier New" pitchFamily="34" charset="-122"/>
                <a:cs typeface="Courier New" pitchFamily="34" charset="-120"/>
              </a:rPr>
              <a:t>101-B</a:t>
            </a:r>
            <a:endParaRPr lang="en-US" sz="1100" dirty="0"/>
          </a:p>
        </p:txBody>
      </p:sp>
      <p:sp>
        <p:nvSpPr>
          <p:cNvPr id="23" name="Shape 20"/>
          <p:cNvSpPr/>
          <p:nvPr/>
        </p:nvSpPr>
        <p:spPr>
          <a:xfrm>
            <a:off x="7150608" y="3081528"/>
            <a:ext cx="640080" cy="914"/>
          </a:xfrm>
          <a:prstGeom prst="line">
            <a:avLst/>
          </a:prstGeom>
          <a:noFill/>
          <a:ln w="25400">
            <a:solidFill>
              <a:srgbClr val="F07F06"/>
            </a:solidFill>
            <a:prstDash val="solid"/>
            <a:tailEnd type="triangle"/>
          </a:ln>
        </p:spPr>
      </p:sp>
      <p:sp>
        <p:nvSpPr>
          <p:cNvPr id="24" name="Shape 21"/>
          <p:cNvSpPr/>
          <p:nvPr/>
        </p:nvSpPr>
        <p:spPr>
          <a:xfrm>
            <a:off x="7790688" y="2788920"/>
            <a:ext cx="1371600" cy="594360"/>
          </a:xfrm>
          <a:prstGeom prst="rect">
            <a:avLst/>
          </a:prstGeom>
          <a:solidFill>
            <a:srgbClr val="FFFFFF"/>
          </a:solidFill>
          <a:ln w="22225">
            <a:solidFill>
              <a:srgbClr val="F07F06"/>
            </a:solidFill>
            <a:prstDash val="solid"/>
          </a:ln>
        </p:spPr>
      </p:sp>
      <p:sp>
        <p:nvSpPr>
          <p:cNvPr id="25" name="Text 22"/>
          <p:cNvSpPr/>
          <p:nvPr/>
        </p:nvSpPr>
        <p:spPr>
          <a:xfrm>
            <a:off x="7882128" y="2788920"/>
            <a:ext cx="1188720" cy="594360"/>
          </a:xfrm>
          <a:prstGeom prst="rect">
            <a:avLst/>
          </a:prstGeom>
          <a:noFill/>
          <a:ln/>
        </p:spPr>
        <p:txBody>
          <a:bodyPr wrap="square" lIns="0" tIns="0" rIns="0" bIns="0" rtlCol="0" anchor="ctr"/>
          <a:lstStyle/>
          <a:p>
            <a:pPr algn="ctr" indent="0" marL="0">
              <a:buNone/>
            </a:pPr>
            <a:r>
              <a:rPr lang="en-US" sz="1100" b="1" spc="80" kern="0" dirty="0">
                <a:solidFill>
                  <a:srgbClr val="0F0F11"/>
                </a:solidFill>
                <a:latin typeface="Courier New" pitchFamily="34" charset="0"/>
                <a:ea typeface="Courier New" pitchFamily="34" charset="-122"/>
                <a:cs typeface="Courier New" pitchFamily="34" charset="-120"/>
              </a:rPr>
              <a:t>102-A</a:t>
            </a:r>
            <a:endParaRPr lang="en-US" sz="1100" dirty="0"/>
          </a:p>
        </p:txBody>
      </p:sp>
      <p:sp>
        <p:nvSpPr>
          <p:cNvPr id="26" name="Text 23"/>
          <p:cNvSpPr/>
          <p:nvPr/>
        </p:nvSpPr>
        <p:spPr>
          <a:xfrm>
            <a:off x="9345168" y="2944368"/>
            <a:ext cx="2194560" cy="292608"/>
          </a:xfrm>
          <a:prstGeom prst="rect">
            <a:avLst/>
          </a:prstGeom>
          <a:noFill/>
          <a:ln/>
        </p:spPr>
        <p:txBody>
          <a:bodyPr wrap="square" lIns="0" tIns="0" rIns="0" bIns="0" rtlCol="0" anchor="ctr"/>
          <a:lstStyle/>
          <a:p>
            <a:pPr indent="0" marL="0">
              <a:buNone/>
            </a:pPr>
            <a:r>
              <a:rPr lang="en-US" sz="1000" b="1" spc="130" kern="0" dirty="0">
                <a:solidFill>
                  <a:srgbClr val="A35604"/>
                </a:solidFill>
                <a:latin typeface="Courier New" pitchFamily="34" charset="0"/>
                <a:ea typeface="Courier New" pitchFamily="34" charset="-122"/>
                <a:cs typeface="Courier New" pitchFamily="34" charset="-120"/>
              </a:rPr>
              <a:t>LA RAMA A GANA</a:t>
            </a:r>
            <a:endParaRPr lang="en-US" sz="1000" dirty="0"/>
          </a:p>
        </p:txBody>
      </p:sp>
      <p:sp>
        <p:nvSpPr>
          <p:cNvPr id="27" name="Text 24"/>
          <p:cNvSpPr/>
          <p:nvPr/>
        </p:nvSpPr>
        <p:spPr>
          <a:xfrm>
            <a:off x="7424928" y="4178808"/>
            <a:ext cx="4114800" cy="292608"/>
          </a:xfrm>
          <a:prstGeom prst="rect">
            <a:avLst/>
          </a:prstGeom>
          <a:noFill/>
          <a:ln/>
        </p:spPr>
        <p:txBody>
          <a:bodyPr wrap="square" lIns="0" tIns="0" rIns="0" bIns="0" rtlCol="0" anchor="ctr"/>
          <a:lstStyle/>
          <a:p>
            <a:pPr indent="0" marL="0">
              <a:buNone/>
            </a:pPr>
            <a:r>
              <a:rPr lang="en-US" sz="1000" b="1" spc="130" kern="0" dirty="0">
                <a:solidFill>
                  <a:srgbClr val="5638C9"/>
                </a:solidFill>
                <a:latin typeface="Courier New" pitchFamily="34" charset="0"/>
                <a:ea typeface="Courier New" pitchFamily="34" charset="-122"/>
                <a:cs typeface="Courier New" pitchFamily="34" charset="-120"/>
              </a:rPr>
              <a:t>101-B QUEDA HUÉRFANO</a:t>
            </a:r>
            <a:endParaRPr lang="en-US" sz="1000" dirty="0"/>
          </a:p>
        </p:txBody>
      </p:sp>
      <p:sp>
        <p:nvSpPr>
          <p:cNvPr id="28" name="Text 25"/>
          <p:cNvSpPr/>
          <p:nvPr/>
        </p:nvSpPr>
        <p:spPr>
          <a:xfrm>
            <a:off x="566928" y="4892040"/>
            <a:ext cx="11057839" cy="1188720"/>
          </a:xfrm>
          <a:prstGeom prst="rect">
            <a:avLst/>
          </a:prstGeom>
          <a:noFill/>
          <a:ln/>
        </p:spPr>
        <p:txBody>
          <a:bodyPr wrap="square" lIns="0" tIns="0" rIns="0" bIns="0" rtlCol="0" anchor="t"/>
          <a:lstStyle/>
          <a:p>
            <a:pPr indent="0" marL="0">
              <a:lnSpc>
                <a:spcPct val="124000"/>
              </a:lnSpc>
              <a:buNone/>
            </a:pPr>
            <a:r>
              <a:rPr lang="en-US" sz="1350" dirty="0">
                <a:solidFill>
                  <a:srgbClr val="3A3844"/>
                </a:solidFill>
                <a:latin typeface="Arial" pitchFamily="34" charset="0"/>
                <a:ea typeface="Arial" pitchFamily="34" charset="-122"/>
                <a:cs typeface="Arial" pitchFamily="34" charset="-120"/>
              </a:rPr>
              <a:t>La bifurcación se resuelve sola en cuanto un bloque más se encadena en una de las ramas: todos los nodos cambian a la de más trabajo. Las transacciones del bloque abandonado que no estén en la rama ganadora vuelven al mempool.</a:t>
            </a:r>
            <a:endParaRPr lang="en-US" sz="1350" dirty="0"/>
          </a:p>
        </p:txBody>
      </p:sp>
    </p:spTree>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name="Slide 27">
    <p:bg>
      <p:bgPr>
        <a:solidFill>
          <a:srgbClr val="FFFFFF"/>
        </a:solidFill>
      </p:bgPr>
    </p:bg>
    <p:spTree>
      <p:nvGrpSpPr>
        <p:cNvPr id="1" name=""/>
        <p:cNvGrpSpPr/>
        <p:nvPr/>
      </p:nvGrpSpPr>
      <p:grpSpPr>
        <a:xfrm>
          <a:off x="0" y="0"/>
          <a:ext cx="0" cy="0"/>
          <a:chOff x="0" y="0"/>
          <a:chExt cx="0" cy="0"/>
        </a:xfrm>
      </p:grpSpPr>
      <p:pic>
        <p:nvPicPr>
          <p:cNvPr id="2" name="Image 0" descr="preencoded.png">    </p:cNvPr>
          <p:cNvPicPr>
            <a:picLocks noChangeAspect="1"/>
          </p:cNvPicPr>
          <p:nvPr/>
        </p:nvPicPr>
        <p:blipFill>
          <a:blip r:embed="rId1"/>
          <a:stretch>
            <a:fillRect/>
          </a:stretch>
        </p:blipFill>
        <p:spPr>
          <a:xfrm>
            <a:off x="566928" y="402336"/>
            <a:ext cx="274320" cy="274320"/>
          </a:xfrm>
          <a:prstGeom prst="rect">
            <a:avLst/>
          </a:prstGeom>
        </p:spPr>
      </p:pic>
      <p:sp>
        <p:nvSpPr>
          <p:cNvPr id="3" name="Text 0"/>
          <p:cNvSpPr/>
          <p:nvPr/>
        </p:nvSpPr>
        <p:spPr>
          <a:xfrm>
            <a:off x="969264" y="384048"/>
            <a:ext cx="10655503" cy="310896"/>
          </a:xfrm>
          <a:prstGeom prst="rect">
            <a:avLst/>
          </a:prstGeom>
          <a:noFill/>
          <a:ln/>
        </p:spPr>
        <p:txBody>
          <a:bodyPr wrap="square" lIns="0" tIns="0" rIns="0" bIns="0" rtlCol="0" anchor="ctr"/>
          <a:lstStyle/>
          <a:p>
            <a:pPr indent="0" marL="0">
              <a:buNone/>
            </a:pPr>
            <a:r>
              <a:rPr lang="en-US" sz="950" spc="160" kern="0" dirty="0">
                <a:solidFill>
                  <a:srgbClr val="6F6B80"/>
                </a:solidFill>
                <a:latin typeface="Courier New" pitchFamily="34" charset="0"/>
                <a:ea typeface="Courier New" pitchFamily="34" charset="-122"/>
                <a:cs typeface="Courier New" pitchFamily="34" charset="-120"/>
              </a:rPr>
              <a:t>A.18 · REORGANIZACIÓN</a:t>
            </a:r>
            <a:endParaRPr lang="en-US" sz="950" dirty="0"/>
          </a:p>
        </p:txBody>
      </p:sp>
      <p:sp>
        <p:nvSpPr>
          <p:cNvPr id="4" name="Text 1"/>
          <p:cNvSpPr/>
          <p:nvPr/>
        </p:nvSpPr>
        <p:spPr>
          <a:xfrm>
            <a:off x="566928" y="777240"/>
            <a:ext cx="11057839" cy="777240"/>
          </a:xfrm>
          <a:prstGeom prst="rect">
            <a:avLst/>
          </a:prstGeom>
          <a:noFill/>
          <a:ln/>
        </p:spPr>
        <p:txBody>
          <a:bodyPr wrap="square" lIns="0" tIns="0" rIns="0" bIns="0" rtlCol="0" anchor="t"/>
          <a:lstStyle/>
          <a:p>
            <a:pPr indent="0" marL="0">
              <a:lnSpc>
                <a:spcPct val="92000"/>
              </a:lnSpc>
              <a:buNone/>
            </a:pPr>
            <a:r>
              <a:rPr lang="en-US" sz="2700" dirty="0">
                <a:solidFill>
                  <a:srgbClr val="0F0F11"/>
                </a:solidFill>
                <a:latin typeface="Arial Black" pitchFamily="34" charset="0"/>
                <a:ea typeface="Arial Black" pitchFamily="34" charset="-122"/>
                <a:cs typeface="Arial Black" pitchFamily="34" charset="-120"/>
              </a:rPr>
              <a:t>LO QUE SE VE CONFIRMADO PUEDE DESAPARECER</a:t>
            </a:r>
            <a:endParaRPr lang="en-US" sz="2700" dirty="0"/>
          </a:p>
        </p:txBody>
      </p:sp>
      <p:sp>
        <p:nvSpPr>
          <p:cNvPr id="5" name="Text 2"/>
          <p:cNvSpPr/>
          <p:nvPr/>
        </p:nvSpPr>
        <p:spPr>
          <a:xfrm>
            <a:off x="566928" y="6291072"/>
            <a:ext cx="8412480" cy="274320"/>
          </a:xfrm>
          <a:prstGeom prst="rect">
            <a:avLst/>
          </a:prstGeom>
          <a:noFill/>
          <a:ln/>
        </p:spPr>
        <p:txBody>
          <a:bodyPr wrap="square" lIns="0" tIns="0" rIns="0" bIns="0" rtlCol="0" anchor="ctr"/>
          <a:lstStyle/>
          <a:p>
            <a:pPr indent="0" marL="0">
              <a:buNone/>
            </a:pPr>
            <a:r>
              <a:rPr lang="en-US" sz="800" spc="120" kern="0" dirty="0">
                <a:solidFill>
                  <a:srgbClr val="6F6B80"/>
                </a:solidFill>
                <a:latin typeface="Courier New" pitchFamily="34" charset="0"/>
                <a:ea typeface="Courier New" pitchFamily="34" charset="-122"/>
                <a:cs typeface="Courier New" pitchFamily="34" charset="-120"/>
              </a:rPr>
              <a:t>SESIÓN 04 · CONSENSO, INCENTIVOS Y EL TRILEMA</a:t>
            </a:r>
            <a:endParaRPr lang="en-US" sz="800" dirty="0"/>
          </a:p>
        </p:txBody>
      </p:sp>
      <p:sp>
        <p:nvSpPr>
          <p:cNvPr id="6" name="Text 3"/>
          <p:cNvSpPr/>
          <p:nvPr/>
        </p:nvSpPr>
        <p:spPr>
          <a:xfrm>
            <a:off x="9052560" y="6291072"/>
            <a:ext cx="1828800" cy="274320"/>
          </a:xfrm>
          <a:prstGeom prst="rect">
            <a:avLst/>
          </a:prstGeom>
          <a:noFill/>
          <a:ln/>
        </p:spPr>
        <p:txBody>
          <a:bodyPr wrap="square" lIns="0" tIns="0" rIns="0" bIns="0" rtlCol="0" anchor="ctr"/>
          <a:lstStyle/>
          <a:p>
            <a:pPr algn="r" indent="0" marL="0">
              <a:buNone/>
            </a:pPr>
            <a:r>
              <a:rPr lang="en-US" sz="800" spc="120" kern="0" dirty="0">
                <a:solidFill>
                  <a:srgbClr val="6F6B80"/>
                </a:solidFill>
                <a:latin typeface="Courier New" pitchFamily="34" charset="0"/>
                <a:ea typeface="Courier New" pitchFamily="34" charset="-122"/>
                <a:cs typeface="Courier New" pitchFamily="34" charset="-120"/>
              </a:rPr>
              <a:t>USB MEDELLÍN</a:t>
            </a:r>
            <a:endParaRPr lang="en-US" sz="800" dirty="0"/>
          </a:p>
        </p:txBody>
      </p:sp>
      <p:sp>
        <p:nvSpPr>
          <p:cNvPr id="7" name="Text 4"/>
          <p:cNvSpPr/>
          <p:nvPr/>
        </p:nvSpPr>
        <p:spPr>
          <a:xfrm>
            <a:off x="11018520" y="6291072"/>
            <a:ext cx="603504" cy="274320"/>
          </a:xfrm>
          <a:prstGeom prst="rect">
            <a:avLst/>
          </a:prstGeom>
          <a:noFill/>
          <a:ln/>
        </p:spPr>
        <p:txBody>
          <a:bodyPr wrap="square" lIns="0" tIns="0" rIns="0" bIns="0" rtlCol="0" anchor="ctr"/>
          <a:lstStyle/>
          <a:p>
            <a:pPr algn="r" indent="0" marL="0">
              <a:buNone/>
            </a:pPr>
            <a:r>
              <a:rPr lang="en-US" sz="900" b="1" dirty="0">
                <a:solidFill>
                  <a:srgbClr val="0F0F11"/>
                </a:solidFill>
                <a:latin typeface="Courier New" pitchFamily="34" charset="0"/>
                <a:ea typeface="Courier New" pitchFamily="34" charset="-122"/>
                <a:cs typeface="Courier New" pitchFamily="34" charset="-120"/>
              </a:rPr>
              <a:t>27</a:t>
            </a:r>
            <a:endParaRPr lang="en-US" sz="900" dirty="0"/>
          </a:p>
        </p:txBody>
      </p:sp>
      <p:sp>
        <p:nvSpPr>
          <p:cNvPr id="8" name="Text 5"/>
          <p:cNvSpPr/>
          <p:nvPr/>
        </p:nvSpPr>
        <p:spPr>
          <a:xfrm>
            <a:off x="566928" y="1737360"/>
            <a:ext cx="11057839" cy="868680"/>
          </a:xfrm>
          <a:prstGeom prst="rect">
            <a:avLst/>
          </a:prstGeom>
          <a:noFill/>
          <a:ln/>
        </p:spPr>
        <p:txBody>
          <a:bodyPr wrap="square" lIns="0" tIns="0" rIns="0" bIns="0" rtlCol="0" anchor="t"/>
          <a:lstStyle/>
          <a:p>
            <a:pPr indent="0" marL="0">
              <a:lnSpc>
                <a:spcPct val="124000"/>
              </a:lnSpc>
              <a:buNone/>
            </a:pPr>
            <a:r>
              <a:rPr lang="en-US" sz="1450" dirty="0">
                <a:solidFill>
                  <a:srgbClr val="3A3844"/>
                </a:solidFill>
                <a:latin typeface="Arial" pitchFamily="34" charset="0"/>
                <a:ea typeface="Arial" pitchFamily="34" charset="-122"/>
                <a:cs typeface="Arial" pitchFamily="34" charset="-120"/>
              </a:rPr>
              <a:t>Una reorganización ocurre cuando un nodo abandona uno o más bloques que ya había aceptado porque apareció una cadena más pesada. Para el usuario, una transacción «confirmada» vuelve a estar pendiente — o desaparece.</a:t>
            </a:r>
            <a:endParaRPr lang="en-US" sz="1450" dirty="0"/>
          </a:p>
        </p:txBody>
      </p:sp>
      <p:sp>
        <p:nvSpPr>
          <p:cNvPr id="9" name="Shape 6"/>
          <p:cNvSpPr/>
          <p:nvPr/>
        </p:nvSpPr>
        <p:spPr>
          <a:xfrm>
            <a:off x="566928" y="2788920"/>
            <a:ext cx="11057839" cy="658368"/>
          </a:xfrm>
          <a:prstGeom prst="rect">
            <a:avLst/>
          </a:prstGeom>
          <a:solidFill>
            <a:srgbClr val="FFFFFF"/>
          </a:solidFill>
          <a:ln w="15875">
            <a:solidFill>
              <a:srgbClr val="D9D6E0"/>
            </a:solidFill>
            <a:prstDash val="solid"/>
          </a:ln>
        </p:spPr>
      </p:sp>
      <p:sp>
        <p:nvSpPr>
          <p:cNvPr id="10" name="Text 7"/>
          <p:cNvSpPr/>
          <p:nvPr/>
        </p:nvSpPr>
        <p:spPr>
          <a:xfrm>
            <a:off x="694944" y="2788920"/>
            <a:ext cx="548640" cy="658368"/>
          </a:xfrm>
          <a:prstGeom prst="rect">
            <a:avLst/>
          </a:prstGeom>
          <a:noFill/>
          <a:ln/>
        </p:spPr>
        <p:txBody>
          <a:bodyPr wrap="square" lIns="0" tIns="0" rIns="0" bIns="0" rtlCol="0" anchor="ctr"/>
          <a:lstStyle/>
          <a:p>
            <a:pPr indent="0" marL="0">
              <a:buNone/>
            </a:pPr>
            <a:r>
              <a:rPr lang="en-US" sz="1600" dirty="0">
                <a:solidFill>
                  <a:srgbClr val="F07F06"/>
                </a:solidFill>
                <a:latin typeface="Arial Black" pitchFamily="34" charset="0"/>
                <a:ea typeface="Arial Black" pitchFamily="34" charset="-122"/>
                <a:cs typeface="Arial Black" pitchFamily="34" charset="-120"/>
              </a:rPr>
              <a:t>01</a:t>
            </a:r>
            <a:endParaRPr lang="en-US" sz="1600" dirty="0"/>
          </a:p>
        </p:txBody>
      </p:sp>
      <p:sp>
        <p:nvSpPr>
          <p:cNvPr id="11" name="Text 8"/>
          <p:cNvSpPr/>
          <p:nvPr/>
        </p:nvSpPr>
        <p:spPr>
          <a:xfrm>
            <a:off x="1280160" y="2971800"/>
            <a:ext cx="2286000" cy="292608"/>
          </a:xfrm>
          <a:prstGeom prst="rect">
            <a:avLst/>
          </a:prstGeom>
          <a:noFill/>
          <a:ln/>
        </p:spPr>
        <p:txBody>
          <a:bodyPr wrap="square" lIns="0" tIns="0" rIns="0" bIns="0" rtlCol="0" anchor="ctr"/>
          <a:lstStyle/>
          <a:p>
            <a:pPr indent="0" marL="0">
              <a:buNone/>
            </a:pPr>
            <a:r>
              <a:rPr lang="en-US" sz="1000" b="1" spc="100" kern="0" dirty="0">
                <a:solidFill>
                  <a:srgbClr val="0F0F11"/>
                </a:solidFill>
                <a:latin typeface="Courier New" pitchFamily="34" charset="0"/>
                <a:ea typeface="Courier New" pitchFamily="34" charset="-122"/>
                <a:cs typeface="Courier New" pitchFamily="34" charset="-120"/>
              </a:rPr>
              <a:t>PROFUNDIDAD 1</a:t>
            </a:r>
            <a:endParaRPr lang="en-US" sz="1000" dirty="0"/>
          </a:p>
        </p:txBody>
      </p:sp>
      <p:sp>
        <p:nvSpPr>
          <p:cNvPr id="12" name="Text 9"/>
          <p:cNvSpPr/>
          <p:nvPr/>
        </p:nvSpPr>
        <p:spPr>
          <a:xfrm>
            <a:off x="3840480" y="2880360"/>
            <a:ext cx="7674559" cy="512064"/>
          </a:xfrm>
          <a:prstGeom prst="rect">
            <a:avLst/>
          </a:prstGeom>
          <a:noFill/>
          <a:ln/>
        </p:spPr>
        <p:txBody>
          <a:bodyPr wrap="square" lIns="0" tIns="0" rIns="0" bIns="0" rtlCol="0" anchor="ctr"/>
          <a:lstStyle/>
          <a:p>
            <a:pPr indent="0" marL="0">
              <a:lnSpc>
                <a:spcPct val="115000"/>
              </a:lnSpc>
              <a:buNone/>
            </a:pPr>
            <a:r>
              <a:rPr lang="en-US" sz="1250" dirty="0">
                <a:solidFill>
                  <a:srgbClr val="3A3844"/>
                </a:solidFill>
                <a:latin typeface="Arial" pitchFamily="34" charset="0"/>
                <a:ea typeface="Arial" pitchFamily="34" charset="-122"/>
                <a:cs typeface="Arial" pitchFamily="34" charset="-120"/>
              </a:rPr>
              <a:t>Muy frecuente y casi siempre inofensiva: la transacción suele volver a entrar en el bloque siguiente.</a:t>
            </a:r>
            <a:endParaRPr lang="en-US" sz="1250" dirty="0"/>
          </a:p>
        </p:txBody>
      </p:sp>
      <p:sp>
        <p:nvSpPr>
          <p:cNvPr id="13" name="Shape 10"/>
          <p:cNvSpPr/>
          <p:nvPr/>
        </p:nvSpPr>
        <p:spPr>
          <a:xfrm>
            <a:off x="566928" y="3557016"/>
            <a:ext cx="11057839" cy="658368"/>
          </a:xfrm>
          <a:prstGeom prst="rect">
            <a:avLst/>
          </a:prstGeom>
          <a:solidFill>
            <a:srgbClr val="FAF9FB"/>
          </a:solidFill>
          <a:ln w="15875">
            <a:solidFill>
              <a:srgbClr val="D9D6E0"/>
            </a:solidFill>
            <a:prstDash val="solid"/>
          </a:ln>
        </p:spPr>
      </p:sp>
      <p:sp>
        <p:nvSpPr>
          <p:cNvPr id="14" name="Text 11"/>
          <p:cNvSpPr/>
          <p:nvPr/>
        </p:nvSpPr>
        <p:spPr>
          <a:xfrm>
            <a:off x="694944" y="3557016"/>
            <a:ext cx="548640" cy="658368"/>
          </a:xfrm>
          <a:prstGeom prst="rect">
            <a:avLst/>
          </a:prstGeom>
          <a:noFill/>
          <a:ln/>
        </p:spPr>
        <p:txBody>
          <a:bodyPr wrap="square" lIns="0" tIns="0" rIns="0" bIns="0" rtlCol="0" anchor="ctr"/>
          <a:lstStyle/>
          <a:p>
            <a:pPr indent="0" marL="0">
              <a:buNone/>
            </a:pPr>
            <a:r>
              <a:rPr lang="en-US" sz="1600" dirty="0">
                <a:solidFill>
                  <a:srgbClr val="F07F06"/>
                </a:solidFill>
                <a:latin typeface="Arial Black" pitchFamily="34" charset="0"/>
                <a:ea typeface="Arial Black" pitchFamily="34" charset="-122"/>
                <a:cs typeface="Arial Black" pitchFamily="34" charset="-120"/>
              </a:rPr>
              <a:t>02</a:t>
            </a:r>
            <a:endParaRPr lang="en-US" sz="1600" dirty="0"/>
          </a:p>
        </p:txBody>
      </p:sp>
      <p:sp>
        <p:nvSpPr>
          <p:cNvPr id="15" name="Text 12"/>
          <p:cNvSpPr/>
          <p:nvPr/>
        </p:nvSpPr>
        <p:spPr>
          <a:xfrm>
            <a:off x="1280160" y="3739896"/>
            <a:ext cx="2286000" cy="292608"/>
          </a:xfrm>
          <a:prstGeom prst="rect">
            <a:avLst/>
          </a:prstGeom>
          <a:noFill/>
          <a:ln/>
        </p:spPr>
        <p:txBody>
          <a:bodyPr wrap="square" lIns="0" tIns="0" rIns="0" bIns="0" rtlCol="0" anchor="ctr"/>
          <a:lstStyle/>
          <a:p>
            <a:pPr indent="0" marL="0">
              <a:buNone/>
            </a:pPr>
            <a:r>
              <a:rPr lang="en-US" sz="1000" b="1" spc="100" kern="0" dirty="0">
                <a:solidFill>
                  <a:srgbClr val="0F0F11"/>
                </a:solidFill>
                <a:latin typeface="Courier New" pitchFamily="34" charset="0"/>
                <a:ea typeface="Courier New" pitchFamily="34" charset="-122"/>
                <a:cs typeface="Courier New" pitchFamily="34" charset="-120"/>
              </a:rPr>
              <a:t>PROFUNDIDAD 2 A 6</a:t>
            </a:r>
            <a:endParaRPr lang="en-US" sz="1000" dirty="0"/>
          </a:p>
        </p:txBody>
      </p:sp>
      <p:sp>
        <p:nvSpPr>
          <p:cNvPr id="16" name="Text 13"/>
          <p:cNvSpPr/>
          <p:nvPr/>
        </p:nvSpPr>
        <p:spPr>
          <a:xfrm>
            <a:off x="3840480" y="3648456"/>
            <a:ext cx="7674559" cy="512064"/>
          </a:xfrm>
          <a:prstGeom prst="rect">
            <a:avLst/>
          </a:prstGeom>
          <a:noFill/>
          <a:ln/>
        </p:spPr>
        <p:txBody>
          <a:bodyPr wrap="square" lIns="0" tIns="0" rIns="0" bIns="0" rtlCol="0" anchor="ctr"/>
          <a:lstStyle/>
          <a:p>
            <a:pPr indent="0" marL="0">
              <a:lnSpc>
                <a:spcPct val="115000"/>
              </a:lnSpc>
              <a:buNone/>
            </a:pPr>
            <a:r>
              <a:rPr lang="en-US" sz="1250" dirty="0">
                <a:solidFill>
                  <a:srgbClr val="3A3844"/>
                </a:solidFill>
                <a:latin typeface="Arial" pitchFamily="34" charset="0"/>
                <a:ea typeface="Arial" pitchFamily="34" charset="-122"/>
                <a:cs typeface="Arial" pitchFamily="34" charset="-120"/>
              </a:rPr>
              <a:t>Rara en redes grandes. Es la zona donde un doble gasto dirigido tiene alguna posibilidad.</a:t>
            </a:r>
            <a:endParaRPr lang="en-US" sz="1250" dirty="0"/>
          </a:p>
        </p:txBody>
      </p:sp>
      <p:sp>
        <p:nvSpPr>
          <p:cNvPr id="17" name="Shape 14"/>
          <p:cNvSpPr/>
          <p:nvPr/>
        </p:nvSpPr>
        <p:spPr>
          <a:xfrm>
            <a:off x="566928" y="4325112"/>
            <a:ext cx="11057839" cy="658368"/>
          </a:xfrm>
          <a:prstGeom prst="rect">
            <a:avLst/>
          </a:prstGeom>
          <a:solidFill>
            <a:srgbClr val="FFFFFF"/>
          </a:solidFill>
          <a:ln w="15875">
            <a:solidFill>
              <a:srgbClr val="D9D6E0"/>
            </a:solidFill>
            <a:prstDash val="solid"/>
          </a:ln>
        </p:spPr>
      </p:sp>
      <p:sp>
        <p:nvSpPr>
          <p:cNvPr id="18" name="Text 15"/>
          <p:cNvSpPr/>
          <p:nvPr/>
        </p:nvSpPr>
        <p:spPr>
          <a:xfrm>
            <a:off x="694944" y="4325112"/>
            <a:ext cx="548640" cy="658368"/>
          </a:xfrm>
          <a:prstGeom prst="rect">
            <a:avLst/>
          </a:prstGeom>
          <a:noFill/>
          <a:ln/>
        </p:spPr>
        <p:txBody>
          <a:bodyPr wrap="square" lIns="0" tIns="0" rIns="0" bIns="0" rtlCol="0" anchor="ctr"/>
          <a:lstStyle/>
          <a:p>
            <a:pPr indent="0" marL="0">
              <a:buNone/>
            </a:pPr>
            <a:r>
              <a:rPr lang="en-US" sz="1600" dirty="0">
                <a:solidFill>
                  <a:srgbClr val="F07F06"/>
                </a:solidFill>
                <a:latin typeface="Arial Black" pitchFamily="34" charset="0"/>
                <a:ea typeface="Arial Black" pitchFamily="34" charset="-122"/>
                <a:cs typeface="Arial Black" pitchFamily="34" charset="-120"/>
              </a:rPr>
              <a:t>03</a:t>
            </a:r>
            <a:endParaRPr lang="en-US" sz="1600" dirty="0"/>
          </a:p>
        </p:txBody>
      </p:sp>
      <p:sp>
        <p:nvSpPr>
          <p:cNvPr id="19" name="Text 16"/>
          <p:cNvSpPr/>
          <p:nvPr/>
        </p:nvSpPr>
        <p:spPr>
          <a:xfrm>
            <a:off x="1280160" y="4507992"/>
            <a:ext cx="2286000" cy="292608"/>
          </a:xfrm>
          <a:prstGeom prst="rect">
            <a:avLst/>
          </a:prstGeom>
          <a:noFill/>
          <a:ln/>
        </p:spPr>
        <p:txBody>
          <a:bodyPr wrap="square" lIns="0" tIns="0" rIns="0" bIns="0" rtlCol="0" anchor="ctr"/>
          <a:lstStyle/>
          <a:p>
            <a:pPr indent="0" marL="0">
              <a:buNone/>
            </a:pPr>
            <a:r>
              <a:rPr lang="en-US" sz="1000" b="1" spc="100" kern="0" dirty="0">
                <a:solidFill>
                  <a:srgbClr val="0F0F11"/>
                </a:solidFill>
                <a:latin typeface="Courier New" pitchFamily="34" charset="0"/>
                <a:ea typeface="Courier New" pitchFamily="34" charset="-122"/>
                <a:cs typeface="Courier New" pitchFamily="34" charset="-120"/>
              </a:rPr>
              <a:t>PROFUNDIDAD MAYOR</a:t>
            </a:r>
            <a:endParaRPr lang="en-US" sz="1000" dirty="0"/>
          </a:p>
        </p:txBody>
      </p:sp>
      <p:sp>
        <p:nvSpPr>
          <p:cNvPr id="20" name="Text 17"/>
          <p:cNvSpPr/>
          <p:nvPr/>
        </p:nvSpPr>
        <p:spPr>
          <a:xfrm>
            <a:off x="3840480" y="4416552"/>
            <a:ext cx="7674559" cy="512064"/>
          </a:xfrm>
          <a:prstGeom prst="rect">
            <a:avLst/>
          </a:prstGeom>
          <a:noFill/>
          <a:ln/>
        </p:spPr>
        <p:txBody>
          <a:bodyPr wrap="square" lIns="0" tIns="0" rIns="0" bIns="0" rtlCol="0" anchor="ctr"/>
          <a:lstStyle/>
          <a:p>
            <a:pPr indent="0" marL="0">
              <a:lnSpc>
                <a:spcPct val="115000"/>
              </a:lnSpc>
              <a:buNone/>
            </a:pPr>
            <a:r>
              <a:rPr lang="en-US" sz="1250" dirty="0">
                <a:solidFill>
                  <a:srgbClr val="3A3844"/>
                </a:solidFill>
                <a:latin typeface="Arial" pitchFamily="34" charset="0"/>
                <a:ea typeface="Arial" pitchFamily="34" charset="-122"/>
                <a:cs typeface="Arial" pitchFamily="34" charset="-120"/>
              </a:rPr>
              <a:t>En una red grande es un incidente grave o un ataque. En una red pequeña puede ser rutina.</a:t>
            </a:r>
            <a:endParaRPr lang="en-US" sz="1250" dirty="0"/>
          </a:p>
        </p:txBody>
      </p:sp>
      <p:sp>
        <p:nvSpPr>
          <p:cNvPr id="21" name="Shape 18"/>
          <p:cNvSpPr/>
          <p:nvPr/>
        </p:nvSpPr>
        <p:spPr>
          <a:xfrm>
            <a:off x="566928" y="5029200"/>
            <a:ext cx="11057839" cy="1115568"/>
          </a:xfrm>
          <a:prstGeom prst="rect">
            <a:avLst/>
          </a:prstGeom>
          <a:solidFill>
            <a:srgbClr val="FFFFFF"/>
          </a:solidFill>
          <a:ln w="22225">
            <a:solidFill>
              <a:srgbClr val="F07F06"/>
            </a:solidFill>
            <a:prstDash val="solid"/>
          </a:ln>
          <a:effectLst>
            <a:outerShdw sx="100000" sy="100000" kx="0" ky="0" algn="bl" rotWithShape="0" blurRad="101600" dist="63500" dir="2700000">
              <a:srgbClr val="F07F06">
                <a:alpha val="100000"/>
              </a:srgbClr>
            </a:outerShdw>
          </a:effectLst>
        </p:spPr>
      </p:sp>
      <p:pic>
        <p:nvPicPr>
          <p:cNvPr id="22" name="Image 1" descr="preencoded.png">    </p:cNvPr>
          <p:cNvPicPr>
            <a:picLocks noChangeAspect="1"/>
          </p:cNvPicPr>
          <p:nvPr/>
        </p:nvPicPr>
        <p:blipFill>
          <a:blip r:embed="rId2"/>
          <a:stretch>
            <a:fillRect/>
          </a:stretch>
        </p:blipFill>
        <p:spPr>
          <a:xfrm>
            <a:off x="804672" y="5248656"/>
            <a:ext cx="237744" cy="237744"/>
          </a:xfrm>
          <a:prstGeom prst="rect">
            <a:avLst/>
          </a:prstGeom>
        </p:spPr>
      </p:pic>
      <p:sp>
        <p:nvSpPr>
          <p:cNvPr id="23" name="Text 19"/>
          <p:cNvSpPr/>
          <p:nvPr/>
        </p:nvSpPr>
        <p:spPr>
          <a:xfrm>
            <a:off x="1133856" y="5221224"/>
            <a:ext cx="10234879" cy="292608"/>
          </a:xfrm>
          <a:prstGeom prst="rect">
            <a:avLst/>
          </a:prstGeom>
          <a:noFill/>
          <a:ln/>
        </p:spPr>
        <p:txBody>
          <a:bodyPr wrap="square" lIns="0" tIns="0" rIns="0" bIns="0" rtlCol="0" anchor="ctr"/>
          <a:lstStyle/>
          <a:p>
            <a:pPr indent="0" marL="0">
              <a:buNone/>
            </a:pPr>
            <a:r>
              <a:rPr lang="en-US" sz="950" b="1" spc="150" kern="0" dirty="0">
                <a:solidFill>
                  <a:srgbClr val="A35604"/>
                </a:solidFill>
                <a:latin typeface="Courier New" pitchFamily="34" charset="0"/>
                <a:ea typeface="Courier New" pitchFamily="34" charset="-122"/>
                <a:cs typeface="Courier New" pitchFamily="34" charset="-120"/>
              </a:rPr>
              <a:t>LA CONSECUENCIA PARA QUIEN PROGRAMA</a:t>
            </a:r>
            <a:endParaRPr lang="en-US" sz="950" dirty="0"/>
          </a:p>
        </p:txBody>
      </p:sp>
      <p:sp>
        <p:nvSpPr>
          <p:cNvPr id="24" name="Text 20"/>
          <p:cNvSpPr/>
          <p:nvPr/>
        </p:nvSpPr>
        <p:spPr>
          <a:xfrm>
            <a:off x="804672" y="5541264"/>
            <a:ext cx="10582351" cy="512064"/>
          </a:xfrm>
          <a:prstGeom prst="rect">
            <a:avLst/>
          </a:prstGeom>
          <a:noFill/>
          <a:ln/>
        </p:spPr>
        <p:txBody>
          <a:bodyPr wrap="square" lIns="0" tIns="0" rIns="0" bIns="0" rtlCol="0" anchor="t"/>
          <a:lstStyle/>
          <a:p>
            <a:pPr indent="0" marL="0">
              <a:lnSpc>
                <a:spcPct val="124000"/>
              </a:lnSpc>
              <a:buNone/>
            </a:pPr>
            <a:r>
              <a:rPr lang="en-US" sz="1250" dirty="0">
                <a:solidFill>
                  <a:srgbClr val="3A3844"/>
                </a:solidFill>
                <a:latin typeface="Arial" pitchFamily="34" charset="0"/>
                <a:ea typeface="Arial" pitchFamily="34" charset="-122"/>
                <a:cs typeface="Arial" pitchFamily="34" charset="-120"/>
              </a:rPr>
              <a:t>Una aplicación que entrega un producto con la primera confirmación está aceptando riesgo de reorganización. En la Sesión 12 veremos cómo lo maneja una interfaz: esperar confirmaciones es una decisión de negocio.</a:t>
            </a:r>
            <a:endParaRPr lang="en-US" sz="1250" dirty="0"/>
          </a:p>
        </p:txBody>
      </p:sp>
    </p:spTree>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name="Slide 28">
    <p:bg>
      <p:bgPr>
        <a:solidFill>
          <a:srgbClr val="FFFFFF"/>
        </a:solidFill>
      </p:bgPr>
    </p:bg>
    <p:spTree>
      <p:nvGrpSpPr>
        <p:cNvPr id="1" name=""/>
        <p:cNvGrpSpPr/>
        <p:nvPr/>
      </p:nvGrpSpPr>
      <p:grpSpPr>
        <a:xfrm>
          <a:off x="0" y="0"/>
          <a:ext cx="0" cy="0"/>
          <a:chOff x="0" y="0"/>
          <a:chExt cx="0" cy="0"/>
        </a:xfrm>
      </p:grpSpPr>
      <p:pic>
        <p:nvPicPr>
          <p:cNvPr id="2" name="Image 0" descr="preencoded.png">    </p:cNvPr>
          <p:cNvPicPr>
            <a:picLocks noChangeAspect="1"/>
          </p:cNvPicPr>
          <p:nvPr/>
        </p:nvPicPr>
        <p:blipFill>
          <a:blip r:embed="rId1"/>
          <a:stretch>
            <a:fillRect/>
          </a:stretch>
        </p:blipFill>
        <p:spPr>
          <a:xfrm>
            <a:off x="566928" y="402336"/>
            <a:ext cx="274320" cy="274320"/>
          </a:xfrm>
          <a:prstGeom prst="rect">
            <a:avLst/>
          </a:prstGeom>
        </p:spPr>
      </p:pic>
      <p:sp>
        <p:nvSpPr>
          <p:cNvPr id="3" name="Text 0"/>
          <p:cNvSpPr/>
          <p:nvPr/>
        </p:nvSpPr>
        <p:spPr>
          <a:xfrm>
            <a:off x="969264" y="384048"/>
            <a:ext cx="10655503" cy="310896"/>
          </a:xfrm>
          <a:prstGeom prst="rect">
            <a:avLst/>
          </a:prstGeom>
          <a:noFill/>
          <a:ln/>
        </p:spPr>
        <p:txBody>
          <a:bodyPr wrap="square" lIns="0" tIns="0" rIns="0" bIns="0" rtlCol="0" anchor="ctr"/>
          <a:lstStyle/>
          <a:p>
            <a:pPr indent="0" marL="0">
              <a:buNone/>
            </a:pPr>
            <a:r>
              <a:rPr lang="en-US" sz="950" spc="160" kern="0" dirty="0">
                <a:solidFill>
                  <a:srgbClr val="6F6B80"/>
                </a:solidFill>
                <a:latin typeface="Courier New" pitchFamily="34" charset="0"/>
                <a:ea typeface="Courier New" pitchFamily="34" charset="-122"/>
                <a:cs typeface="Courier New" pitchFamily="34" charset="-120"/>
              </a:rPr>
              <a:t>A.19 · CUANDO CAMBIAN LAS REGLAS</a:t>
            </a:r>
            <a:endParaRPr lang="en-US" sz="950" dirty="0"/>
          </a:p>
        </p:txBody>
      </p:sp>
      <p:sp>
        <p:nvSpPr>
          <p:cNvPr id="4" name="Text 1"/>
          <p:cNvSpPr/>
          <p:nvPr/>
        </p:nvSpPr>
        <p:spPr>
          <a:xfrm>
            <a:off x="566928" y="777240"/>
            <a:ext cx="11057839" cy="777240"/>
          </a:xfrm>
          <a:prstGeom prst="rect">
            <a:avLst/>
          </a:prstGeom>
          <a:noFill/>
          <a:ln/>
        </p:spPr>
        <p:txBody>
          <a:bodyPr wrap="square" lIns="0" tIns="0" rIns="0" bIns="0" rtlCol="0" anchor="t"/>
          <a:lstStyle/>
          <a:p>
            <a:pPr indent="0" marL="0">
              <a:lnSpc>
                <a:spcPct val="92000"/>
              </a:lnSpc>
              <a:buNone/>
            </a:pPr>
            <a:r>
              <a:rPr lang="en-US" sz="2700" dirty="0">
                <a:solidFill>
                  <a:srgbClr val="0F0F11"/>
                </a:solidFill>
                <a:latin typeface="Arial Black" pitchFamily="34" charset="0"/>
                <a:ea typeface="Arial Black" pitchFamily="34" charset="-122"/>
                <a:cs typeface="Arial Black" pitchFamily="34" charset="-120"/>
              </a:rPr>
              <a:t>BIFURCACIÓN BLANDA Y BIFURCACIÓN DURA</a:t>
            </a:r>
            <a:endParaRPr lang="en-US" sz="2700" dirty="0"/>
          </a:p>
        </p:txBody>
      </p:sp>
      <p:sp>
        <p:nvSpPr>
          <p:cNvPr id="5" name="Text 2"/>
          <p:cNvSpPr/>
          <p:nvPr/>
        </p:nvSpPr>
        <p:spPr>
          <a:xfrm>
            <a:off x="566928" y="6291072"/>
            <a:ext cx="8412480" cy="274320"/>
          </a:xfrm>
          <a:prstGeom prst="rect">
            <a:avLst/>
          </a:prstGeom>
          <a:noFill/>
          <a:ln/>
        </p:spPr>
        <p:txBody>
          <a:bodyPr wrap="square" lIns="0" tIns="0" rIns="0" bIns="0" rtlCol="0" anchor="ctr"/>
          <a:lstStyle/>
          <a:p>
            <a:pPr indent="0" marL="0">
              <a:buNone/>
            </a:pPr>
            <a:r>
              <a:rPr lang="en-US" sz="800" spc="120" kern="0" dirty="0">
                <a:solidFill>
                  <a:srgbClr val="6F6B80"/>
                </a:solidFill>
                <a:latin typeface="Courier New" pitchFamily="34" charset="0"/>
                <a:ea typeface="Courier New" pitchFamily="34" charset="-122"/>
                <a:cs typeface="Courier New" pitchFamily="34" charset="-120"/>
              </a:rPr>
              <a:t>SESIÓN 04 · CONSENSO, INCENTIVOS Y EL TRILEMA</a:t>
            </a:r>
            <a:endParaRPr lang="en-US" sz="800" dirty="0"/>
          </a:p>
        </p:txBody>
      </p:sp>
      <p:sp>
        <p:nvSpPr>
          <p:cNvPr id="6" name="Text 3"/>
          <p:cNvSpPr/>
          <p:nvPr/>
        </p:nvSpPr>
        <p:spPr>
          <a:xfrm>
            <a:off x="9052560" y="6291072"/>
            <a:ext cx="1828800" cy="274320"/>
          </a:xfrm>
          <a:prstGeom prst="rect">
            <a:avLst/>
          </a:prstGeom>
          <a:noFill/>
          <a:ln/>
        </p:spPr>
        <p:txBody>
          <a:bodyPr wrap="square" lIns="0" tIns="0" rIns="0" bIns="0" rtlCol="0" anchor="ctr"/>
          <a:lstStyle/>
          <a:p>
            <a:pPr algn="r" indent="0" marL="0">
              <a:buNone/>
            </a:pPr>
            <a:r>
              <a:rPr lang="en-US" sz="800" spc="120" kern="0" dirty="0">
                <a:solidFill>
                  <a:srgbClr val="6F6B80"/>
                </a:solidFill>
                <a:latin typeface="Courier New" pitchFamily="34" charset="0"/>
                <a:ea typeface="Courier New" pitchFamily="34" charset="-122"/>
                <a:cs typeface="Courier New" pitchFamily="34" charset="-120"/>
              </a:rPr>
              <a:t>USB MEDELLÍN</a:t>
            </a:r>
            <a:endParaRPr lang="en-US" sz="800" dirty="0"/>
          </a:p>
        </p:txBody>
      </p:sp>
      <p:sp>
        <p:nvSpPr>
          <p:cNvPr id="7" name="Text 4"/>
          <p:cNvSpPr/>
          <p:nvPr/>
        </p:nvSpPr>
        <p:spPr>
          <a:xfrm>
            <a:off x="11018520" y="6291072"/>
            <a:ext cx="603504" cy="274320"/>
          </a:xfrm>
          <a:prstGeom prst="rect">
            <a:avLst/>
          </a:prstGeom>
          <a:noFill/>
          <a:ln/>
        </p:spPr>
        <p:txBody>
          <a:bodyPr wrap="square" lIns="0" tIns="0" rIns="0" bIns="0" rtlCol="0" anchor="ctr"/>
          <a:lstStyle/>
          <a:p>
            <a:pPr algn="r" indent="0" marL="0">
              <a:buNone/>
            </a:pPr>
            <a:r>
              <a:rPr lang="en-US" sz="900" b="1" dirty="0">
                <a:solidFill>
                  <a:srgbClr val="0F0F11"/>
                </a:solidFill>
                <a:latin typeface="Courier New" pitchFamily="34" charset="0"/>
                <a:ea typeface="Courier New" pitchFamily="34" charset="-122"/>
                <a:cs typeface="Courier New" pitchFamily="34" charset="-120"/>
              </a:rPr>
              <a:t>28</a:t>
            </a:r>
            <a:endParaRPr lang="en-US" sz="900" dirty="0"/>
          </a:p>
        </p:txBody>
      </p:sp>
      <p:sp>
        <p:nvSpPr>
          <p:cNvPr id="8" name="Text 5"/>
          <p:cNvSpPr/>
          <p:nvPr/>
        </p:nvSpPr>
        <p:spPr>
          <a:xfrm>
            <a:off x="566928" y="1737360"/>
            <a:ext cx="11057839" cy="594360"/>
          </a:xfrm>
          <a:prstGeom prst="rect">
            <a:avLst/>
          </a:prstGeom>
          <a:noFill/>
          <a:ln/>
        </p:spPr>
        <p:txBody>
          <a:bodyPr wrap="square" lIns="0" tIns="0" rIns="0" bIns="0" rtlCol="0" anchor="t"/>
          <a:lstStyle/>
          <a:p>
            <a:pPr indent="0" marL="0">
              <a:lnSpc>
                <a:spcPct val="124000"/>
              </a:lnSpc>
              <a:buNone/>
            </a:pPr>
            <a:r>
              <a:rPr lang="en-US" sz="1450" dirty="0">
                <a:solidFill>
                  <a:srgbClr val="3A3844"/>
                </a:solidFill>
                <a:latin typeface="Arial" pitchFamily="34" charset="0"/>
                <a:ea typeface="Arial" pitchFamily="34" charset="-122"/>
                <a:cs typeface="Arial" pitchFamily="34" charset="-120"/>
              </a:rPr>
              <a:t>No toda bifurcación es accidental. Cambiar las reglas del protocolo también bifurca la red, y la diferencia está en si los nodos antiguos aceptan o no los bloques nuevos.</a:t>
            </a:r>
            <a:endParaRPr lang="en-US" sz="1450" dirty="0"/>
          </a:p>
        </p:txBody>
      </p:sp>
      <p:graphicFrame>
        <p:nvGraphicFramePr>
          <p:cNvPr id="29" name="Table 0"/>
          <p:cNvGraphicFramePr>
            <a:graphicFrameLocks noGrp="1"/>
          </p:cNvGraphicFramePr>
          <p:nvPr>
            <p:extLst>
              <p:ext uri="{D42A27DB-BD31-4B8C-83A1-F6EECF244321}">
                <p14:modId xmlns:p14="http://schemas.microsoft.com/office/powerpoint/2010/main" val="1579011935"/>
              </p:ext>
            </p:extLst>
          </p:nvPr>
        </p:nvGraphicFramePr>
        <p:xfrm>
          <a:off x="566928" y="2514600"/>
          <a:ext cx="11057839" cy="914400"/>
        </p:xfrm>
        <a:graphic>
          <a:graphicData uri="http://schemas.openxmlformats.org/drawingml/2006/table">
            <a:tbl>
              <a:tblPr/>
              <a:tblGrid>
                <a:gridCol w="2011680"/>
                <a:gridCol w="4526280"/>
                <a:gridCol w="4519879"/>
              </a:tblGrid>
              <a:tr h="310896">
                <a:tc>
                  <a:txBody>
                    <a:bodyPr/>
                    <a:lstStyle/>
                    <a:p>
                      <a:pPr indent="0" marL="0">
                        <a:buNone/>
                      </a:pPr>
                      <a:endParaRPr lang="en-US" sz="900" dirty="0">
                        <a:latin typeface="Courier New" charset="0"/>
                        <a:ea typeface="Courier New" charset="0"/>
                        <a:cs typeface="Courier New" charset="0"/>
                      </a:endParaRPr>
                    </a:p>
                  </a:txBody>
                  <a:tcPr marL="101600" marR="101600" marT="76200" marB="76200" anchor="ctr">
                    <a:lnL w="12700" cap="flat" cmpd="sng" algn="ctr">
                      <a:solidFill>
                        <a:srgbClr val="D9D6E0"/>
                      </a:solidFill>
                      <a:prstDash val="solid"/>
                      <a:round/>
                      <a:headEnd type="none" w="med" len="med"/>
                      <a:tailEnd type="none" w="med" len="med"/>
                    </a:lnL>
                    <a:lnR w="12700" cap="flat" cmpd="sng" algn="ctr">
                      <a:solidFill>
                        <a:srgbClr val="D9D6E0"/>
                      </a:solidFill>
                      <a:prstDash val="solid"/>
                      <a:round/>
                      <a:headEnd type="none" w="med" len="med"/>
                      <a:tailEnd type="none" w="med" len="med"/>
                    </a:lnR>
                    <a:lnT w="12700" cap="flat" cmpd="sng" algn="ctr">
                      <a:solidFill>
                        <a:srgbClr val="D9D6E0"/>
                      </a:solidFill>
                      <a:prstDash val="solid"/>
                      <a:round/>
                      <a:headEnd type="none" w="med" len="med"/>
                      <a:tailEnd type="none" w="med" len="med"/>
                    </a:lnT>
                    <a:lnB w="12700" cap="flat" cmpd="sng" algn="ctr">
                      <a:solidFill>
                        <a:srgbClr val="D9D6E0"/>
                      </a:solidFill>
                      <a:prstDash val="solid"/>
                      <a:round/>
                      <a:headEnd type="none" w="med" len="med"/>
                      <a:tailEnd type="none" w="med" len="med"/>
                    </a:lnB>
                    <a:solidFill>
                      <a:srgbClr val="0F0F11"/>
                    </a:solidFill>
                  </a:tcPr>
                </a:tc>
                <a:tc>
                  <a:txBody>
                    <a:bodyPr/>
                    <a:lstStyle/>
                    <a:p>
                      <a:pPr indent="0" marL="0">
                        <a:buNone/>
                      </a:pPr>
                      <a:r>
                        <a:rPr lang="en-US" sz="900" b="1" spc="110" kern="0" dirty="0">
                          <a:solidFill>
                            <a:srgbClr val="FFFFFF"/>
                          </a:solidFill>
                          <a:latin typeface="Courier New" pitchFamily="34" charset="0"/>
                          <a:ea typeface="Courier New" pitchFamily="34" charset="-122"/>
                          <a:cs typeface="Courier New" pitchFamily="34" charset="-120"/>
                        </a:rPr>
                        <a:t>BIFURCACIÓN BLANDA (SOFT FORK)</a:t>
                      </a:r>
                      <a:endParaRPr lang="en-US" sz="900" dirty="0">
                        <a:latin typeface="Courier New" charset="0"/>
                        <a:ea typeface="Courier New" charset="0"/>
                        <a:cs typeface="Courier New" charset="0"/>
                      </a:endParaRPr>
                    </a:p>
                  </a:txBody>
                  <a:tcPr marL="101600" marR="101600" marT="76200" marB="76200" anchor="ctr">
                    <a:lnL w="12700" cap="flat" cmpd="sng" algn="ctr">
                      <a:solidFill>
                        <a:srgbClr val="D9D6E0"/>
                      </a:solidFill>
                      <a:prstDash val="solid"/>
                      <a:round/>
                      <a:headEnd type="none" w="med" len="med"/>
                      <a:tailEnd type="none" w="med" len="med"/>
                    </a:lnL>
                    <a:lnR w="12700" cap="flat" cmpd="sng" algn="ctr">
                      <a:solidFill>
                        <a:srgbClr val="D9D6E0"/>
                      </a:solidFill>
                      <a:prstDash val="solid"/>
                      <a:round/>
                      <a:headEnd type="none" w="med" len="med"/>
                      <a:tailEnd type="none" w="med" len="med"/>
                    </a:lnR>
                    <a:lnT w="12700" cap="flat" cmpd="sng" algn="ctr">
                      <a:solidFill>
                        <a:srgbClr val="D9D6E0"/>
                      </a:solidFill>
                      <a:prstDash val="solid"/>
                      <a:round/>
                      <a:headEnd type="none" w="med" len="med"/>
                      <a:tailEnd type="none" w="med" len="med"/>
                    </a:lnT>
                    <a:lnB w="12700" cap="flat" cmpd="sng" algn="ctr">
                      <a:solidFill>
                        <a:srgbClr val="D9D6E0"/>
                      </a:solidFill>
                      <a:prstDash val="solid"/>
                      <a:round/>
                      <a:headEnd type="none" w="med" len="med"/>
                      <a:tailEnd type="none" w="med" len="med"/>
                    </a:lnB>
                    <a:solidFill>
                      <a:srgbClr val="0F0F11"/>
                    </a:solidFill>
                  </a:tcPr>
                </a:tc>
                <a:tc>
                  <a:txBody>
                    <a:bodyPr/>
                    <a:lstStyle/>
                    <a:p>
                      <a:pPr indent="0" marL="0">
                        <a:buNone/>
                      </a:pPr>
                      <a:r>
                        <a:rPr lang="en-US" sz="900" b="1" spc="110" kern="0" dirty="0">
                          <a:solidFill>
                            <a:srgbClr val="FFFFFF"/>
                          </a:solidFill>
                          <a:latin typeface="Courier New" pitchFamily="34" charset="0"/>
                          <a:ea typeface="Courier New" pitchFamily="34" charset="-122"/>
                          <a:cs typeface="Courier New" pitchFamily="34" charset="-120"/>
                        </a:rPr>
                        <a:t>BIFURCACIÓN DURA (HARD FORK)</a:t>
                      </a:r>
                      <a:endParaRPr lang="en-US" sz="900" dirty="0">
                        <a:latin typeface="Courier New" charset="0"/>
                        <a:ea typeface="Courier New" charset="0"/>
                        <a:cs typeface="Courier New" charset="0"/>
                      </a:endParaRPr>
                    </a:p>
                  </a:txBody>
                  <a:tcPr marL="101600" marR="101600" marT="76200" marB="76200" anchor="ctr">
                    <a:lnL w="12700" cap="flat" cmpd="sng" algn="ctr">
                      <a:solidFill>
                        <a:srgbClr val="D9D6E0"/>
                      </a:solidFill>
                      <a:prstDash val="solid"/>
                      <a:round/>
                      <a:headEnd type="none" w="med" len="med"/>
                      <a:tailEnd type="none" w="med" len="med"/>
                    </a:lnL>
                    <a:lnR w="12700" cap="flat" cmpd="sng" algn="ctr">
                      <a:solidFill>
                        <a:srgbClr val="D9D6E0"/>
                      </a:solidFill>
                      <a:prstDash val="solid"/>
                      <a:round/>
                      <a:headEnd type="none" w="med" len="med"/>
                      <a:tailEnd type="none" w="med" len="med"/>
                    </a:lnR>
                    <a:lnT w="12700" cap="flat" cmpd="sng" algn="ctr">
                      <a:solidFill>
                        <a:srgbClr val="D9D6E0"/>
                      </a:solidFill>
                      <a:prstDash val="solid"/>
                      <a:round/>
                      <a:headEnd type="none" w="med" len="med"/>
                      <a:tailEnd type="none" w="med" len="med"/>
                    </a:lnT>
                    <a:lnB w="12700" cap="flat" cmpd="sng" algn="ctr">
                      <a:solidFill>
                        <a:srgbClr val="D9D6E0"/>
                      </a:solidFill>
                      <a:prstDash val="solid"/>
                      <a:round/>
                      <a:headEnd type="none" w="med" len="med"/>
                      <a:tailEnd type="none" w="med" len="med"/>
                    </a:lnB>
                    <a:solidFill>
                      <a:srgbClr val="0F0F11"/>
                    </a:solidFill>
                  </a:tcPr>
                </a:tc>
              </a:tr>
              <a:tr h="630936">
                <a:tc>
                  <a:txBody>
                    <a:bodyPr/>
                    <a:lstStyle/>
                    <a:p>
                      <a:pPr indent="0" marL="0">
                        <a:buNone/>
                      </a:pPr>
                      <a:r>
                        <a:rPr lang="en-US" sz="1150" b="1" dirty="0">
                          <a:solidFill>
                            <a:srgbClr val="0F0F11"/>
                          </a:solidFill>
                          <a:latin typeface="Courier New" pitchFamily="34" charset="0"/>
                          <a:ea typeface="Courier New" pitchFamily="34" charset="-122"/>
                          <a:cs typeface="Courier New" pitchFamily="34" charset="-120"/>
                        </a:rPr>
                        <a:t>Qué cambia</a:t>
                      </a:r>
                      <a:endParaRPr lang="en-US" sz="1150" dirty="0">
                        <a:latin typeface="Courier New" charset="0"/>
                        <a:ea typeface="Courier New" charset="0"/>
                        <a:cs typeface="Courier New" charset="0"/>
                      </a:endParaRPr>
                    </a:p>
                  </a:txBody>
                  <a:tcPr marL="101600" marR="101600" marT="76200" marB="76200" anchor="t">
                    <a:lnL w="12700" cap="flat" cmpd="sng" algn="ctr">
                      <a:solidFill>
                        <a:srgbClr val="D9D6E0"/>
                      </a:solidFill>
                      <a:prstDash val="solid"/>
                      <a:round/>
                      <a:headEnd type="none" w="med" len="med"/>
                      <a:tailEnd type="none" w="med" len="med"/>
                    </a:lnL>
                    <a:lnR w="12700" cap="flat" cmpd="sng" algn="ctr">
                      <a:solidFill>
                        <a:srgbClr val="D9D6E0"/>
                      </a:solidFill>
                      <a:prstDash val="solid"/>
                      <a:round/>
                      <a:headEnd type="none" w="med" len="med"/>
                      <a:tailEnd type="none" w="med" len="med"/>
                    </a:lnR>
                    <a:lnT w="12700" cap="flat" cmpd="sng" algn="ctr">
                      <a:solidFill>
                        <a:srgbClr val="D9D6E0"/>
                      </a:solidFill>
                      <a:prstDash val="solid"/>
                      <a:round/>
                      <a:headEnd type="none" w="med" len="med"/>
                      <a:tailEnd type="none" w="med" len="med"/>
                    </a:lnT>
                    <a:lnB w="12700" cap="flat" cmpd="sng" algn="ctr">
                      <a:solidFill>
                        <a:srgbClr val="D9D6E0"/>
                      </a:solidFill>
                      <a:prstDash val="solid"/>
                      <a:round/>
                      <a:headEnd type="none" w="med" len="med"/>
                      <a:tailEnd type="none" w="med" len="med"/>
                    </a:lnB>
                    <a:solidFill>
                      <a:srgbClr val="FFFFFF"/>
                    </a:solidFill>
                  </a:tcPr>
                </a:tc>
                <a:tc>
                  <a:txBody>
                    <a:bodyPr/>
                    <a:lstStyle/>
                    <a:p>
                      <a:pPr indent="0" marL="0">
                        <a:buNone/>
                      </a:pPr>
                      <a:r>
                        <a:rPr lang="en-US" sz="1150" dirty="0">
                          <a:solidFill>
                            <a:srgbClr val="3A3844"/>
                          </a:solidFill>
                          <a:latin typeface="Arial" pitchFamily="34" charset="0"/>
                          <a:ea typeface="Arial" pitchFamily="34" charset="-122"/>
                          <a:cs typeface="Arial" pitchFamily="34" charset="-120"/>
                        </a:rPr>
                        <a:t>Las reglas se vuelven MÁS estrictas.</a:t>
                      </a:r>
                      <a:endParaRPr lang="en-US" sz="1150" dirty="0">
                        <a:latin typeface="Arial" charset="0"/>
                        <a:ea typeface="Arial" charset="0"/>
                        <a:cs typeface="Arial" charset="0"/>
                      </a:endParaRPr>
                    </a:p>
                  </a:txBody>
                  <a:tcPr marL="101600" marR="101600" marT="76200" marB="76200" anchor="t">
                    <a:lnL w="12700" cap="flat" cmpd="sng" algn="ctr">
                      <a:solidFill>
                        <a:srgbClr val="D9D6E0"/>
                      </a:solidFill>
                      <a:prstDash val="solid"/>
                      <a:round/>
                      <a:headEnd type="none" w="med" len="med"/>
                      <a:tailEnd type="none" w="med" len="med"/>
                    </a:lnL>
                    <a:lnR w="12700" cap="flat" cmpd="sng" algn="ctr">
                      <a:solidFill>
                        <a:srgbClr val="D9D6E0"/>
                      </a:solidFill>
                      <a:prstDash val="solid"/>
                      <a:round/>
                      <a:headEnd type="none" w="med" len="med"/>
                      <a:tailEnd type="none" w="med" len="med"/>
                    </a:lnR>
                    <a:lnT w="12700" cap="flat" cmpd="sng" algn="ctr">
                      <a:solidFill>
                        <a:srgbClr val="D9D6E0"/>
                      </a:solidFill>
                      <a:prstDash val="solid"/>
                      <a:round/>
                      <a:headEnd type="none" w="med" len="med"/>
                      <a:tailEnd type="none" w="med" len="med"/>
                    </a:lnT>
                    <a:lnB w="12700" cap="flat" cmpd="sng" algn="ctr">
                      <a:solidFill>
                        <a:srgbClr val="D9D6E0"/>
                      </a:solidFill>
                      <a:prstDash val="solid"/>
                      <a:round/>
                      <a:headEnd type="none" w="med" len="med"/>
                      <a:tailEnd type="none" w="med" len="med"/>
                    </a:lnB>
                    <a:solidFill>
                      <a:srgbClr val="FFFFFF"/>
                    </a:solidFill>
                  </a:tcPr>
                </a:tc>
                <a:tc>
                  <a:txBody>
                    <a:bodyPr/>
                    <a:lstStyle/>
                    <a:p>
                      <a:pPr indent="0" marL="0">
                        <a:buNone/>
                      </a:pPr>
                      <a:r>
                        <a:rPr lang="en-US" sz="1150" dirty="0">
                          <a:solidFill>
                            <a:srgbClr val="3A3844"/>
                          </a:solidFill>
                          <a:latin typeface="Arial" pitchFamily="34" charset="0"/>
                          <a:ea typeface="Arial" pitchFamily="34" charset="-122"/>
                          <a:cs typeface="Arial" pitchFamily="34" charset="-120"/>
                        </a:rPr>
                        <a:t>Las reglas se AMPLÍAN o cambian: algo antes inválido pasa a ser válido.</a:t>
                      </a:r>
                      <a:endParaRPr lang="en-US" sz="1150" dirty="0">
                        <a:latin typeface="Arial" charset="0"/>
                        <a:ea typeface="Arial" charset="0"/>
                        <a:cs typeface="Arial" charset="0"/>
                      </a:endParaRPr>
                    </a:p>
                  </a:txBody>
                  <a:tcPr marL="101600" marR="101600" marT="76200" marB="76200" anchor="t">
                    <a:lnL w="12700" cap="flat" cmpd="sng" algn="ctr">
                      <a:solidFill>
                        <a:srgbClr val="D9D6E0"/>
                      </a:solidFill>
                      <a:prstDash val="solid"/>
                      <a:round/>
                      <a:headEnd type="none" w="med" len="med"/>
                      <a:tailEnd type="none" w="med" len="med"/>
                    </a:lnL>
                    <a:lnR w="12700" cap="flat" cmpd="sng" algn="ctr">
                      <a:solidFill>
                        <a:srgbClr val="D9D6E0"/>
                      </a:solidFill>
                      <a:prstDash val="solid"/>
                      <a:round/>
                      <a:headEnd type="none" w="med" len="med"/>
                      <a:tailEnd type="none" w="med" len="med"/>
                    </a:lnR>
                    <a:lnT w="12700" cap="flat" cmpd="sng" algn="ctr">
                      <a:solidFill>
                        <a:srgbClr val="D9D6E0"/>
                      </a:solidFill>
                      <a:prstDash val="solid"/>
                      <a:round/>
                      <a:headEnd type="none" w="med" len="med"/>
                      <a:tailEnd type="none" w="med" len="med"/>
                    </a:lnT>
                    <a:lnB w="12700" cap="flat" cmpd="sng" algn="ctr">
                      <a:solidFill>
                        <a:srgbClr val="D9D6E0"/>
                      </a:solidFill>
                      <a:prstDash val="solid"/>
                      <a:round/>
                      <a:headEnd type="none" w="med" len="med"/>
                      <a:tailEnd type="none" w="med" len="med"/>
                    </a:lnB>
                    <a:solidFill>
                      <a:srgbClr val="FFFFFF"/>
                    </a:solidFill>
                  </a:tcPr>
                </a:tc>
              </a:tr>
              <a:tr h="630936">
                <a:tc>
                  <a:txBody>
                    <a:bodyPr/>
                    <a:lstStyle/>
                    <a:p>
                      <a:pPr indent="0" marL="0">
                        <a:buNone/>
                      </a:pPr>
                      <a:r>
                        <a:rPr lang="en-US" sz="1150" b="1" dirty="0">
                          <a:solidFill>
                            <a:srgbClr val="0F0F11"/>
                          </a:solidFill>
                          <a:latin typeface="Courier New" pitchFamily="34" charset="0"/>
                          <a:ea typeface="Courier New" pitchFamily="34" charset="-122"/>
                          <a:cs typeface="Courier New" pitchFamily="34" charset="-120"/>
                        </a:rPr>
                        <a:t>Nodos sin actualizar</a:t>
                      </a:r>
                      <a:endParaRPr lang="en-US" sz="1150" dirty="0">
                        <a:latin typeface="Courier New" charset="0"/>
                        <a:ea typeface="Courier New" charset="0"/>
                        <a:cs typeface="Courier New" charset="0"/>
                      </a:endParaRPr>
                    </a:p>
                  </a:txBody>
                  <a:tcPr marL="101600" marR="101600" marT="76200" marB="76200" anchor="t">
                    <a:lnL w="12700" cap="flat" cmpd="sng" algn="ctr">
                      <a:solidFill>
                        <a:srgbClr val="D9D6E0"/>
                      </a:solidFill>
                      <a:prstDash val="solid"/>
                      <a:round/>
                      <a:headEnd type="none" w="med" len="med"/>
                      <a:tailEnd type="none" w="med" len="med"/>
                    </a:lnL>
                    <a:lnR w="12700" cap="flat" cmpd="sng" algn="ctr">
                      <a:solidFill>
                        <a:srgbClr val="D9D6E0"/>
                      </a:solidFill>
                      <a:prstDash val="solid"/>
                      <a:round/>
                      <a:headEnd type="none" w="med" len="med"/>
                      <a:tailEnd type="none" w="med" len="med"/>
                    </a:lnR>
                    <a:lnT w="12700" cap="flat" cmpd="sng" algn="ctr">
                      <a:solidFill>
                        <a:srgbClr val="D9D6E0"/>
                      </a:solidFill>
                      <a:prstDash val="solid"/>
                      <a:round/>
                      <a:headEnd type="none" w="med" len="med"/>
                      <a:tailEnd type="none" w="med" len="med"/>
                    </a:lnT>
                    <a:lnB w="12700" cap="flat" cmpd="sng" algn="ctr">
                      <a:solidFill>
                        <a:srgbClr val="D9D6E0"/>
                      </a:solidFill>
                      <a:prstDash val="solid"/>
                      <a:round/>
                      <a:headEnd type="none" w="med" len="med"/>
                      <a:tailEnd type="none" w="med" len="med"/>
                    </a:lnB>
                    <a:solidFill>
                      <a:srgbClr val="FAF9FB"/>
                    </a:solidFill>
                  </a:tcPr>
                </a:tc>
                <a:tc>
                  <a:txBody>
                    <a:bodyPr/>
                    <a:lstStyle/>
                    <a:p>
                      <a:pPr indent="0" marL="0">
                        <a:buNone/>
                      </a:pPr>
                      <a:r>
                        <a:rPr lang="en-US" sz="1150" dirty="0">
                          <a:solidFill>
                            <a:srgbClr val="3A3844"/>
                          </a:solidFill>
                          <a:latin typeface="Arial" pitchFamily="34" charset="0"/>
                          <a:ea typeface="Arial" pitchFamily="34" charset="-122"/>
                          <a:cs typeface="Arial" pitchFamily="34" charset="-120"/>
                        </a:rPr>
                        <a:t>Siguen aceptando los bloques nuevos: son compatibles hacia atrás.</a:t>
                      </a:r>
                      <a:endParaRPr lang="en-US" sz="1150" dirty="0">
                        <a:latin typeface="Arial" charset="0"/>
                        <a:ea typeface="Arial" charset="0"/>
                        <a:cs typeface="Arial" charset="0"/>
                      </a:endParaRPr>
                    </a:p>
                  </a:txBody>
                  <a:tcPr marL="101600" marR="101600" marT="76200" marB="76200" anchor="t">
                    <a:lnL w="12700" cap="flat" cmpd="sng" algn="ctr">
                      <a:solidFill>
                        <a:srgbClr val="D9D6E0"/>
                      </a:solidFill>
                      <a:prstDash val="solid"/>
                      <a:round/>
                      <a:headEnd type="none" w="med" len="med"/>
                      <a:tailEnd type="none" w="med" len="med"/>
                    </a:lnL>
                    <a:lnR w="12700" cap="flat" cmpd="sng" algn="ctr">
                      <a:solidFill>
                        <a:srgbClr val="D9D6E0"/>
                      </a:solidFill>
                      <a:prstDash val="solid"/>
                      <a:round/>
                      <a:headEnd type="none" w="med" len="med"/>
                      <a:tailEnd type="none" w="med" len="med"/>
                    </a:lnR>
                    <a:lnT w="12700" cap="flat" cmpd="sng" algn="ctr">
                      <a:solidFill>
                        <a:srgbClr val="D9D6E0"/>
                      </a:solidFill>
                      <a:prstDash val="solid"/>
                      <a:round/>
                      <a:headEnd type="none" w="med" len="med"/>
                      <a:tailEnd type="none" w="med" len="med"/>
                    </a:lnT>
                    <a:lnB w="12700" cap="flat" cmpd="sng" algn="ctr">
                      <a:solidFill>
                        <a:srgbClr val="D9D6E0"/>
                      </a:solidFill>
                      <a:prstDash val="solid"/>
                      <a:round/>
                      <a:headEnd type="none" w="med" len="med"/>
                      <a:tailEnd type="none" w="med" len="med"/>
                    </a:lnB>
                    <a:solidFill>
                      <a:srgbClr val="FAF9FB"/>
                    </a:solidFill>
                  </a:tcPr>
                </a:tc>
                <a:tc>
                  <a:txBody>
                    <a:bodyPr/>
                    <a:lstStyle/>
                    <a:p>
                      <a:pPr indent="0" marL="0">
                        <a:buNone/>
                      </a:pPr>
                      <a:r>
                        <a:rPr lang="en-US" sz="1150" dirty="0">
                          <a:solidFill>
                            <a:srgbClr val="3A3844"/>
                          </a:solidFill>
                          <a:latin typeface="Arial" pitchFamily="34" charset="0"/>
                          <a:ea typeface="Arial" pitchFamily="34" charset="-122"/>
                          <a:cs typeface="Arial" pitchFamily="34" charset="-120"/>
                        </a:rPr>
                        <a:t>Rechazan los bloques nuevos: quedan en otra cadena.</a:t>
                      </a:r>
                      <a:endParaRPr lang="en-US" sz="1150" dirty="0">
                        <a:latin typeface="Arial" charset="0"/>
                        <a:ea typeface="Arial" charset="0"/>
                        <a:cs typeface="Arial" charset="0"/>
                      </a:endParaRPr>
                    </a:p>
                  </a:txBody>
                  <a:tcPr marL="101600" marR="101600" marT="76200" marB="76200" anchor="t">
                    <a:lnL w="12700" cap="flat" cmpd="sng" algn="ctr">
                      <a:solidFill>
                        <a:srgbClr val="D9D6E0"/>
                      </a:solidFill>
                      <a:prstDash val="solid"/>
                      <a:round/>
                      <a:headEnd type="none" w="med" len="med"/>
                      <a:tailEnd type="none" w="med" len="med"/>
                    </a:lnL>
                    <a:lnR w="12700" cap="flat" cmpd="sng" algn="ctr">
                      <a:solidFill>
                        <a:srgbClr val="D9D6E0"/>
                      </a:solidFill>
                      <a:prstDash val="solid"/>
                      <a:round/>
                      <a:headEnd type="none" w="med" len="med"/>
                      <a:tailEnd type="none" w="med" len="med"/>
                    </a:lnR>
                    <a:lnT w="12700" cap="flat" cmpd="sng" algn="ctr">
                      <a:solidFill>
                        <a:srgbClr val="D9D6E0"/>
                      </a:solidFill>
                      <a:prstDash val="solid"/>
                      <a:round/>
                      <a:headEnd type="none" w="med" len="med"/>
                      <a:tailEnd type="none" w="med" len="med"/>
                    </a:lnT>
                    <a:lnB w="12700" cap="flat" cmpd="sng" algn="ctr">
                      <a:solidFill>
                        <a:srgbClr val="D9D6E0"/>
                      </a:solidFill>
                      <a:prstDash val="solid"/>
                      <a:round/>
                      <a:headEnd type="none" w="med" len="med"/>
                      <a:tailEnd type="none" w="med" len="med"/>
                    </a:lnB>
                    <a:solidFill>
                      <a:srgbClr val="FAF9FB"/>
                    </a:solidFill>
                  </a:tcPr>
                </a:tc>
              </a:tr>
              <a:tr h="630936">
                <a:tc>
                  <a:txBody>
                    <a:bodyPr/>
                    <a:lstStyle/>
                    <a:p>
                      <a:pPr indent="0" marL="0">
                        <a:buNone/>
                      </a:pPr>
                      <a:r>
                        <a:rPr lang="en-US" sz="1150" b="1" dirty="0">
                          <a:solidFill>
                            <a:srgbClr val="0F0F11"/>
                          </a:solidFill>
                          <a:latin typeface="Courier New" pitchFamily="34" charset="0"/>
                          <a:ea typeface="Courier New" pitchFamily="34" charset="-122"/>
                          <a:cs typeface="Courier New" pitchFamily="34" charset="-120"/>
                        </a:rPr>
                        <a:t>Riesgo</a:t>
                      </a:r>
                      <a:endParaRPr lang="en-US" sz="1150" dirty="0">
                        <a:latin typeface="Courier New" charset="0"/>
                        <a:ea typeface="Courier New" charset="0"/>
                        <a:cs typeface="Courier New" charset="0"/>
                      </a:endParaRPr>
                    </a:p>
                  </a:txBody>
                  <a:tcPr marL="101600" marR="101600" marT="76200" marB="76200" anchor="t">
                    <a:lnL w="12700" cap="flat" cmpd="sng" algn="ctr">
                      <a:solidFill>
                        <a:srgbClr val="D9D6E0"/>
                      </a:solidFill>
                      <a:prstDash val="solid"/>
                      <a:round/>
                      <a:headEnd type="none" w="med" len="med"/>
                      <a:tailEnd type="none" w="med" len="med"/>
                    </a:lnL>
                    <a:lnR w="12700" cap="flat" cmpd="sng" algn="ctr">
                      <a:solidFill>
                        <a:srgbClr val="D9D6E0"/>
                      </a:solidFill>
                      <a:prstDash val="solid"/>
                      <a:round/>
                      <a:headEnd type="none" w="med" len="med"/>
                      <a:tailEnd type="none" w="med" len="med"/>
                    </a:lnR>
                    <a:lnT w="12700" cap="flat" cmpd="sng" algn="ctr">
                      <a:solidFill>
                        <a:srgbClr val="D9D6E0"/>
                      </a:solidFill>
                      <a:prstDash val="solid"/>
                      <a:round/>
                      <a:headEnd type="none" w="med" len="med"/>
                      <a:tailEnd type="none" w="med" len="med"/>
                    </a:lnT>
                    <a:lnB w="12700" cap="flat" cmpd="sng" algn="ctr">
                      <a:solidFill>
                        <a:srgbClr val="D9D6E0"/>
                      </a:solidFill>
                      <a:prstDash val="solid"/>
                      <a:round/>
                      <a:headEnd type="none" w="med" len="med"/>
                      <a:tailEnd type="none" w="med" len="med"/>
                    </a:lnB>
                    <a:solidFill>
                      <a:srgbClr val="FFFFFF"/>
                    </a:solidFill>
                  </a:tcPr>
                </a:tc>
                <a:tc>
                  <a:txBody>
                    <a:bodyPr/>
                    <a:lstStyle/>
                    <a:p>
                      <a:pPr indent="0" marL="0">
                        <a:buNone/>
                      </a:pPr>
                      <a:r>
                        <a:rPr lang="en-US" sz="1150" dirty="0">
                          <a:solidFill>
                            <a:srgbClr val="3A3844"/>
                          </a:solidFill>
                          <a:latin typeface="Arial" pitchFamily="34" charset="0"/>
                          <a:ea typeface="Arial" pitchFamily="34" charset="-122"/>
                          <a:cs typeface="Arial" pitchFamily="34" charset="-120"/>
                        </a:rPr>
                        <a:t>Bajo, si la mayoría del cómputo o del stake la adopta.</a:t>
                      </a:r>
                      <a:endParaRPr lang="en-US" sz="1150" dirty="0">
                        <a:latin typeface="Arial" charset="0"/>
                        <a:ea typeface="Arial" charset="0"/>
                        <a:cs typeface="Arial" charset="0"/>
                      </a:endParaRPr>
                    </a:p>
                  </a:txBody>
                  <a:tcPr marL="101600" marR="101600" marT="76200" marB="76200" anchor="t">
                    <a:lnL w="12700" cap="flat" cmpd="sng" algn="ctr">
                      <a:solidFill>
                        <a:srgbClr val="D9D6E0"/>
                      </a:solidFill>
                      <a:prstDash val="solid"/>
                      <a:round/>
                      <a:headEnd type="none" w="med" len="med"/>
                      <a:tailEnd type="none" w="med" len="med"/>
                    </a:lnL>
                    <a:lnR w="12700" cap="flat" cmpd="sng" algn="ctr">
                      <a:solidFill>
                        <a:srgbClr val="D9D6E0"/>
                      </a:solidFill>
                      <a:prstDash val="solid"/>
                      <a:round/>
                      <a:headEnd type="none" w="med" len="med"/>
                      <a:tailEnd type="none" w="med" len="med"/>
                    </a:lnR>
                    <a:lnT w="12700" cap="flat" cmpd="sng" algn="ctr">
                      <a:solidFill>
                        <a:srgbClr val="D9D6E0"/>
                      </a:solidFill>
                      <a:prstDash val="solid"/>
                      <a:round/>
                      <a:headEnd type="none" w="med" len="med"/>
                      <a:tailEnd type="none" w="med" len="med"/>
                    </a:lnT>
                    <a:lnB w="12700" cap="flat" cmpd="sng" algn="ctr">
                      <a:solidFill>
                        <a:srgbClr val="D9D6E0"/>
                      </a:solidFill>
                      <a:prstDash val="solid"/>
                      <a:round/>
                      <a:headEnd type="none" w="med" len="med"/>
                      <a:tailEnd type="none" w="med" len="med"/>
                    </a:lnB>
                    <a:solidFill>
                      <a:srgbClr val="FFFFFF"/>
                    </a:solidFill>
                  </a:tcPr>
                </a:tc>
                <a:tc>
                  <a:txBody>
                    <a:bodyPr/>
                    <a:lstStyle/>
                    <a:p>
                      <a:pPr indent="0" marL="0">
                        <a:buNone/>
                      </a:pPr>
                      <a:r>
                        <a:rPr lang="en-US" sz="1150" dirty="0">
                          <a:solidFill>
                            <a:srgbClr val="3A3844"/>
                          </a:solidFill>
                          <a:latin typeface="Arial" pitchFamily="34" charset="0"/>
                          <a:ea typeface="Arial" pitchFamily="34" charset="-122"/>
                          <a:cs typeface="Arial" pitchFamily="34" charset="-120"/>
                        </a:rPr>
                        <a:t>División permanente si una parte de la comunidad no está de acuerdo.</a:t>
                      </a:r>
                      <a:endParaRPr lang="en-US" sz="1150" dirty="0">
                        <a:latin typeface="Arial" charset="0"/>
                        <a:ea typeface="Arial" charset="0"/>
                        <a:cs typeface="Arial" charset="0"/>
                      </a:endParaRPr>
                    </a:p>
                  </a:txBody>
                  <a:tcPr marL="101600" marR="101600" marT="76200" marB="76200" anchor="t">
                    <a:lnL w="12700" cap="flat" cmpd="sng" algn="ctr">
                      <a:solidFill>
                        <a:srgbClr val="D9D6E0"/>
                      </a:solidFill>
                      <a:prstDash val="solid"/>
                      <a:round/>
                      <a:headEnd type="none" w="med" len="med"/>
                      <a:tailEnd type="none" w="med" len="med"/>
                    </a:lnL>
                    <a:lnR w="12700" cap="flat" cmpd="sng" algn="ctr">
                      <a:solidFill>
                        <a:srgbClr val="D9D6E0"/>
                      </a:solidFill>
                      <a:prstDash val="solid"/>
                      <a:round/>
                      <a:headEnd type="none" w="med" len="med"/>
                      <a:tailEnd type="none" w="med" len="med"/>
                    </a:lnR>
                    <a:lnT w="12700" cap="flat" cmpd="sng" algn="ctr">
                      <a:solidFill>
                        <a:srgbClr val="D9D6E0"/>
                      </a:solidFill>
                      <a:prstDash val="solid"/>
                      <a:round/>
                      <a:headEnd type="none" w="med" len="med"/>
                      <a:tailEnd type="none" w="med" len="med"/>
                    </a:lnT>
                    <a:lnB w="12700" cap="flat" cmpd="sng" algn="ctr">
                      <a:solidFill>
                        <a:srgbClr val="D9D6E0"/>
                      </a:solidFill>
                      <a:prstDash val="solid"/>
                      <a:round/>
                      <a:headEnd type="none" w="med" len="med"/>
                      <a:tailEnd type="none" w="med" len="med"/>
                    </a:lnB>
                    <a:solidFill>
                      <a:srgbClr val="FFFFFF"/>
                    </a:solidFill>
                  </a:tcPr>
                </a:tc>
              </a:tr>
              <a:tr h="630936">
                <a:tc>
                  <a:txBody>
                    <a:bodyPr/>
                    <a:lstStyle/>
                    <a:p>
                      <a:pPr indent="0" marL="0">
                        <a:buNone/>
                      </a:pPr>
                      <a:r>
                        <a:rPr lang="en-US" sz="1150" b="1" dirty="0">
                          <a:solidFill>
                            <a:srgbClr val="0F0F11"/>
                          </a:solidFill>
                          <a:latin typeface="Courier New" pitchFamily="34" charset="0"/>
                          <a:ea typeface="Courier New" pitchFamily="34" charset="-122"/>
                          <a:cs typeface="Courier New" pitchFamily="34" charset="-120"/>
                        </a:rPr>
                        <a:t>Ejemplo real</a:t>
                      </a:r>
                      <a:endParaRPr lang="en-US" sz="1150" dirty="0">
                        <a:latin typeface="Courier New" charset="0"/>
                        <a:ea typeface="Courier New" charset="0"/>
                        <a:cs typeface="Courier New" charset="0"/>
                      </a:endParaRPr>
                    </a:p>
                  </a:txBody>
                  <a:tcPr marL="101600" marR="101600" marT="76200" marB="76200" anchor="t">
                    <a:lnL w="12700" cap="flat" cmpd="sng" algn="ctr">
                      <a:solidFill>
                        <a:srgbClr val="D9D6E0"/>
                      </a:solidFill>
                      <a:prstDash val="solid"/>
                      <a:round/>
                      <a:headEnd type="none" w="med" len="med"/>
                      <a:tailEnd type="none" w="med" len="med"/>
                    </a:lnL>
                    <a:lnR w="12700" cap="flat" cmpd="sng" algn="ctr">
                      <a:solidFill>
                        <a:srgbClr val="D9D6E0"/>
                      </a:solidFill>
                      <a:prstDash val="solid"/>
                      <a:round/>
                      <a:headEnd type="none" w="med" len="med"/>
                      <a:tailEnd type="none" w="med" len="med"/>
                    </a:lnR>
                    <a:lnT w="12700" cap="flat" cmpd="sng" algn="ctr">
                      <a:solidFill>
                        <a:srgbClr val="D9D6E0"/>
                      </a:solidFill>
                      <a:prstDash val="solid"/>
                      <a:round/>
                      <a:headEnd type="none" w="med" len="med"/>
                      <a:tailEnd type="none" w="med" len="med"/>
                    </a:lnT>
                    <a:lnB w="12700" cap="flat" cmpd="sng" algn="ctr">
                      <a:solidFill>
                        <a:srgbClr val="D9D6E0"/>
                      </a:solidFill>
                      <a:prstDash val="solid"/>
                      <a:round/>
                      <a:headEnd type="none" w="med" len="med"/>
                      <a:tailEnd type="none" w="med" len="med"/>
                    </a:lnB>
                    <a:solidFill>
                      <a:srgbClr val="FAF9FB"/>
                    </a:solidFill>
                  </a:tcPr>
                </a:tc>
                <a:tc>
                  <a:txBody>
                    <a:bodyPr/>
                    <a:lstStyle/>
                    <a:p>
                      <a:pPr indent="0" marL="0">
                        <a:buNone/>
                      </a:pPr>
                      <a:r>
                        <a:rPr lang="en-US" sz="1150" dirty="0">
                          <a:solidFill>
                            <a:srgbClr val="3A3844"/>
                          </a:solidFill>
                          <a:latin typeface="Arial" pitchFamily="34" charset="0"/>
                          <a:ea typeface="Arial" pitchFamily="34" charset="-122"/>
                          <a:cs typeface="Arial" pitchFamily="34" charset="-120"/>
                        </a:rPr>
                        <a:t>SegWit en Bitcoin, 2017.</a:t>
                      </a:r>
                      <a:endParaRPr lang="en-US" sz="1150" dirty="0">
                        <a:latin typeface="Arial" charset="0"/>
                        <a:ea typeface="Arial" charset="0"/>
                        <a:cs typeface="Arial" charset="0"/>
                      </a:endParaRPr>
                    </a:p>
                  </a:txBody>
                  <a:tcPr marL="101600" marR="101600" marT="76200" marB="76200" anchor="t">
                    <a:lnL w="12700" cap="flat" cmpd="sng" algn="ctr">
                      <a:solidFill>
                        <a:srgbClr val="D9D6E0"/>
                      </a:solidFill>
                      <a:prstDash val="solid"/>
                      <a:round/>
                      <a:headEnd type="none" w="med" len="med"/>
                      <a:tailEnd type="none" w="med" len="med"/>
                    </a:lnL>
                    <a:lnR w="12700" cap="flat" cmpd="sng" algn="ctr">
                      <a:solidFill>
                        <a:srgbClr val="D9D6E0"/>
                      </a:solidFill>
                      <a:prstDash val="solid"/>
                      <a:round/>
                      <a:headEnd type="none" w="med" len="med"/>
                      <a:tailEnd type="none" w="med" len="med"/>
                    </a:lnR>
                    <a:lnT w="12700" cap="flat" cmpd="sng" algn="ctr">
                      <a:solidFill>
                        <a:srgbClr val="D9D6E0"/>
                      </a:solidFill>
                      <a:prstDash val="solid"/>
                      <a:round/>
                      <a:headEnd type="none" w="med" len="med"/>
                      <a:tailEnd type="none" w="med" len="med"/>
                    </a:lnT>
                    <a:lnB w="12700" cap="flat" cmpd="sng" algn="ctr">
                      <a:solidFill>
                        <a:srgbClr val="D9D6E0"/>
                      </a:solidFill>
                      <a:prstDash val="solid"/>
                      <a:round/>
                      <a:headEnd type="none" w="med" len="med"/>
                      <a:tailEnd type="none" w="med" len="med"/>
                    </a:lnB>
                    <a:solidFill>
                      <a:srgbClr val="FAF9FB"/>
                    </a:solidFill>
                  </a:tcPr>
                </a:tc>
                <a:tc>
                  <a:txBody>
                    <a:bodyPr/>
                    <a:lstStyle/>
                    <a:p>
                      <a:pPr indent="0" marL="0">
                        <a:buNone/>
                      </a:pPr>
                      <a:r>
                        <a:rPr lang="en-US" sz="1150" dirty="0">
                          <a:solidFill>
                            <a:srgbClr val="3A3844"/>
                          </a:solidFill>
                          <a:latin typeface="Arial" pitchFamily="34" charset="0"/>
                          <a:ea typeface="Arial" pitchFamily="34" charset="-122"/>
                          <a:cs typeface="Arial" pitchFamily="34" charset="-120"/>
                        </a:rPr>
                        <a:t>Bitcoin Cash (2017). Ethereum y Ethereum Classic tras el hackeo de The DAO (2016).</a:t>
                      </a:r>
                      <a:endParaRPr lang="en-US" sz="1150" dirty="0">
                        <a:latin typeface="Arial" charset="0"/>
                        <a:ea typeface="Arial" charset="0"/>
                        <a:cs typeface="Arial" charset="0"/>
                      </a:endParaRPr>
                    </a:p>
                  </a:txBody>
                  <a:tcPr marL="101600" marR="101600" marT="76200" marB="76200" anchor="t">
                    <a:lnL w="12700" cap="flat" cmpd="sng" algn="ctr">
                      <a:solidFill>
                        <a:srgbClr val="D9D6E0"/>
                      </a:solidFill>
                      <a:prstDash val="solid"/>
                      <a:round/>
                      <a:headEnd type="none" w="med" len="med"/>
                      <a:tailEnd type="none" w="med" len="med"/>
                    </a:lnL>
                    <a:lnR w="12700" cap="flat" cmpd="sng" algn="ctr">
                      <a:solidFill>
                        <a:srgbClr val="D9D6E0"/>
                      </a:solidFill>
                      <a:prstDash val="solid"/>
                      <a:round/>
                      <a:headEnd type="none" w="med" len="med"/>
                      <a:tailEnd type="none" w="med" len="med"/>
                    </a:lnR>
                    <a:lnT w="12700" cap="flat" cmpd="sng" algn="ctr">
                      <a:solidFill>
                        <a:srgbClr val="D9D6E0"/>
                      </a:solidFill>
                      <a:prstDash val="solid"/>
                      <a:round/>
                      <a:headEnd type="none" w="med" len="med"/>
                      <a:tailEnd type="none" w="med" len="med"/>
                    </a:lnT>
                    <a:lnB w="12700" cap="flat" cmpd="sng" algn="ctr">
                      <a:solidFill>
                        <a:srgbClr val="D9D6E0"/>
                      </a:solidFill>
                      <a:prstDash val="solid"/>
                      <a:round/>
                      <a:headEnd type="none" w="med" len="med"/>
                      <a:tailEnd type="none" w="med" len="med"/>
                    </a:lnB>
                    <a:solidFill>
                      <a:srgbClr val="FAF9FB"/>
                    </a:solidFill>
                  </a:tcPr>
                </a:tc>
              </a:tr>
            </a:tbl>
          </a:graphicData>
        </a:graphic>
      </p:graphicFrame>
      <p:sp>
        <p:nvSpPr>
          <p:cNvPr id="10" name="Shape 6"/>
          <p:cNvSpPr/>
          <p:nvPr/>
        </p:nvSpPr>
        <p:spPr>
          <a:xfrm>
            <a:off x="548640" y="2496312"/>
            <a:ext cx="11094415" cy="2871216"/>
          </a:xfrm>
          <a:prstGeom prst="rect">
            <a:avLst/>
          </a:prstGeom>
          <a:ln w="22225">
            <a:solidFill>
              <a:srgbClr val="0F0F11"/>
            </a:solidFill>
            <a:prstDash val="solid"/>
          </a:ln>
        </p:spPr>
      </p:sp>
      <p:sp>
        <p:nvSpPr>
          <p:cNvPr id="11" name="Text 7"/>
          <p:cNvSpPr/>
          <p:nvPr/>
        </p:nvSpPr>
        <p:spPr>
          <a:xfrm>
            <a:off x="566928" y="5532120"/>
            <a:ext cx="11057839" cy="594360"/>
          </a:xfrm>
          <a:prstGeom prst="rect">
            <a:avLst/>
          </a:prstGeom>
          <a:noFill/>
          <a:ln/>
        </p:spPr>
        <p:txBody>
          <a:bodyPr wrap="square" lIns="0" tIns="0" rIns="0" bIns="0" rtlCol="0" anchor="t"/>
          <a:lstStyle/>
          <a:p>
            <a:pPr indent="0" marL="0">
              <a:lnSpc>
                <a:spcPct val="124000"/>
              </a:lnSpc>
              <a:buNone/>
            </a:pPr>
            <a:r>
              <a:rPr lang="en-US" sz="1300" dirty="0">
                <a:solidFill>
                  <a:srgbClr val="A35604"/>
                </a:solidFill>
                <a:latin typeface="Arial" pitchFamily="34" charset="0"/>
                <a:ea typeface="Arial" pitchFamily="34" charset="-122"/>
                <a:cs typeface="Arial" pitchFamily="34" charset="-120"/>
              </a:rPr>
              <a:t>El caso de The DAO vuelve en la Sesión 9: una bifurcación dura para revertir un robo. Técnicamente posible, filosóficamente explosivo.</a:t>
            </a:r>
            <a:endParaRPr lang="en-US" sz="1300" dirty="0"/>
          </a:p>
        </p:txBody>
      </p:sp>
    </p:spTree>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name="Slide 29">
    <p:bg>
      <p:bgPr>
        <a:solidFill>
          <a:srgbClr val="FFFFFF"/>
        </a:solidFill>
      </p:bgPr>
    </p:bg>
    <p:spTree>
      <p:nvGrpSpPr>
        <p:cNvPr id="1" name=""/>
        <p:cNvGrpSpPr/>
        <p:nvPr/>
      </p:nvGrpSpPr>
      <p:grpSpPr>
        <a:xfrm>
          <a:off x="0" y="0"/>
          <a:ext cx="0" cy="0"/>
          <a:chOff x="0" y="0"/>
          <a:chExt cx="0" cy="0"/>
        </a:xfrm>
      </p:grpSpPr>
      <p:pic>
        <p:nvPicPr>
          <p:cNvPr id="2" name="Image 0" descr="preencoded.png">    </p:cNvPr>
          <p:cNvPicPr>
            <a:picLocks noChangeAspect="1"/>
          </p:cNvPicPr>
          <p:nvPr/>
        </p:nvPicPr>
        <p:blipFill>
          <a:blip r:embed="rId1"/>
          <a:stretch>
            <a:fillRect/>
          </a:stretch>
        </p:blipFill>
        <p:spPr>
          <a:xfrm>
            <a:off x="566928" y="402336"/>
            <a:ext cx="274320" cy="274320"/>
          </a:xfrm>
          <a:prstGeom prst="rect">
            <a:avLst/>
          </a:prstGeom>
        </p:spPr>
      </p:pic>
      <p:sp>
        <p:nvSpPr>
          <p:cNvPr id="3" name="Text 0"/>
          <p:cNvSpPr/>
          <p:nvPr/>
        </p:nvSpPr>
        <p:spPr>
          <a:xfrm>
            <a:off x="969264" y="384048"/>
            <a:ext cx="10655503" cy="310896"/>
          </a:xfrm>
          <a:prstGeom prst="rect">
            <a:avLst/>
          </a:prstGeom>
          <a:noFill/>
          <a:ln/>
        </p:spPr>
        <p:txBody>
          <a:bodyPr wrap="square" lIns="0" tIns="0" rIns="0" bIns="0" rtlCol="0" anchor="ctr"/>
          <a:lstStyle/>
          <a:p>
            <a:pPr indent="0" marL="0">
              <a:buNone/>
            </a:pPr>
            <a:r>
              <a:rPr lang="en-US" sz="950" spc="160" kern="0" dirty="0">
                <a:solidFill>
                  <a:srgbClr val="6F6B80"/>
                </a:solidFill>
                <a:latin typeface="Courier New" pitchFamily="34" charset="0"/>
                <a:ea typeface="Courier New" pitchFamily="34" charset="-122"/>
                <a:cs typeface="Courier New" pitchFamily="34" charset="-120"/>
              </a:rPr>
              <a:t>A.20 · LA PALABRA QUE MÁS SE MALINTERPRETA</a:t>
            </a:r>
            <a:endParaRPr lang="en-US" sz="950" dirty="0"/>
          </a:p>
        </p:txBody>
      </p:sp>
      <p:sp>
        <p:nvSpPr>
          <p:cNvPr id="4" name="Text 1"/>
          <p:cNvSpPr/>
          <p:nvPr/>
        </p:nvSpPr>
        <p:spPr>
          <a:xfrm>
            <a:off x="566928" y="777240"/>
            <a:ext cx="11057839" cy="777240"/>
          </a:xfrm>
          <a:prstGeom prst="rect">
            <a:avLst/>
          </a:prstGeom>
          <a:noFill/>
          <a:ln/>
        </p:spPr>
        <p:txBody>
          <a:bodyPr wrap="square" lIns="0" tIns="0" rIns="0" bIns="0" rtlCol="0" anchor="t"/>
          <a:lstStyle/>
          <a:p>
            <a:pPr indent="0" marL="0">
              <a:lnSpc>
                <a:spcPct val="92000"/>
              </a:lnSpc>
              <a:buNone/>
            </a:pPr>
            <a:r>
              <a:rPr lang="en-US" sz="2700" dirty="0">
                <a:solidFill>
                  <a:srgbClr val="0F0F11"/>
                </a:solidFill>
                <a:latin typeface="Arial Black" pitchFamily="34" charset="0"/>
                <a:ea typeface="Arial Black" pitchFamily="34" charset="-122"/>
                <a:cs typeface="Arial Black" pitchFamily="34" charset="-120"/>
              </a:rPr>
              <a:t>FINALIDAD: TRES SIGNIFICADOS DISTINTOS</a:t>
            </a:r>
            <a:endParaRPr lang="en-US" sz="2700" dirty="0"/>
          </a:p>
        </p:txBody>
      </p:sp>
      <p:sp>
        <p:nvSpPr>
          <p:cNvPr id="5" name="Text 2"/>
          <p:cNvSpPr/>
          <p:nvPr/>
        </p:nvSpPr>
        <p:spPr>
          <a:xfrm>
            <a:off x="566928" y="6291072"/>
            <a:ext cx="8412480" cy="274320"/>
          </a:xfrm>
          <a:prstGeom prst="rect">
            <a:avLst/>
          </a:prstGeom>
          <a:noFill/>
          <a:ln/>
        </p:spPr>
        <p:txBody>
          <a:bodyPr wrap="square" lIns="0" tIns="0" rIns="0" bIns="0" rtlCol="0" anchor="ctr"/>
          <a:lstStyle/>
          <a:p>
            <a:pPr indent="0" marL="0">
              <a:buNone/>
            </a:pPr>
            <a:r>
              <a:rPr lang="en-US" sz="800" spc="120" kern="0" dirty="0">
                <a:solidFill>
                  <a:srgbClr val="6F6B80"/>
                </a:solidFill>
                <a:latin typeface="Courier New" pitchFamily="34" charset="0"/>
                <a:ea typeface="Courier New" pitchFamily="34" charset="-122"/>
                <a:cs typeface="Courier New" pitchFamily="34" charset="-120"/>
              </a:rPr>
              <a:t>SESIÓN 04 · CONSENSO, INCENTIVOS Y EL TRILEMA</a:t>
            </a:r>
            <a:endParaRPr lang="en-US" sz="800" dirty="0"/>
          </a:p>
        </p:txBody>
      </p:sp>
      <p:sp>
        <p:nvSpPr>
          <p:cNvPr id="6" name="Text 3"/>
          <p:cNvSpPr/>
          <p:nvPr/>
        </p:nvSpPr>
        <p:spPr>
          <a:xfrm>
            <a:off x="9052560" y="6291072"/>
            <a:ext cx="1828800" cy="274320"/>
          </a:xfrm>
          <a:prstGeom prst="rect">
            <a:avLst/>
          </a:prstGeom>
          <a:noFill/>
          <a:ln/>
        </p:spPr>
        <p:txBody>
          <a:bodyPr wrap="square" lIns="0" tIns="0" rIns="0" bIns="0" rtlCol="0" anchor="ctr"/>
          <a:lstStyle/>
          <a:p>
            <a:pPr algn="r" indent="0" marL="0">
              <a:buNone/>
            </a:pPr>
            <a:r>
              <a:rPr lang="en-US" sz="800" spc="120" kern="0" dirty="0">
                <a:solidFill>
                  <a:srgbClr val="6F6B80"/>
                </a:solidFill>
                <a:latin typeface="Courier New" pitchFamily="34" charset="0"/>
                <a:ea typeface="Courier New" pitchFamily="34" charset="-122"/>
                <a:cs typeface="Courier New" pitchFamily="34" charset="-120"/>
              </a:rPr>
              <a:t>USB MEDELLÍN</a:t>
            </a:r>
            <a:endParaRPr lang="en-US" sz="800" dirty="0"/>
          </a:p>
        </p:txBody>
      </p:sp>
      <p:sp>
        <p:nvSpPr>
          <p:cNvPr id="7" name="Text 4"/>
          <p:cNvSpPr/>
          <p:nvPr/>
        </p:nvSpPr>
        <p:spPr>
          <a:xfrm>
            <a:off x="11018520" y="6291072"/>
            <a:ext cx="603504" cy="274320"/>
          </a:xfrm>
          <a:prstGeom prst="rect">
            <a:avLst/>
          </a:prstGeom>
          <a:noFill/>
          <a:ln/>
        </p:spPr>
        <p:txBody>
          <a:bodyPr wrap="square" lIns="0" tIns="0" rIns="0" bIns="0" rtlCol="0" anchor="ctr"/>
          <a:lstStyle/>
          <a:p>
            <a:pPr algn="r" indent="0" marL="0">
              <a:buNone/>
            </a:pPr>
            <a:r>
              <a:rPr lang="en-US" sz="900" b="1" dirty="0">
                <a:solidFill>
                  <a:srgbClr val="0F0F11"/>
                </a:solidFill>
                <a:latin typeface="Courier New" pitchFamily="34" charset="0"/>
                <a:ea typeface="Courier New" pitchFamily="34" charset="-122"/>
                <a:cs typeface="Courier New" pitchFamily="34" charset="-120"/>
              </a:rPr>
              <a:t>29</a:t>
            </a:r>
            <a:endParaRPr lang="en-US" sz="900" dirty="0"/>
          </a:p>
        </p:txBody>
      </p:sp>
      <p:graphicFrame>
        <p:nvGraphicFramePr>
          <p:cNvPr id="30" name="Table 0"/>
          <p:cNvGraphicFramePr>
            <a:graphicFrameLocks noGrp="1"/>
          </p:cNvGraphicFramePr>
          <p:nvPr>
            <p:extLst>
              <p:ext uri="{D42A27DB-BD31-4B8C-83A1-F6EECF244321}">
                <p14:modId xmlns:p14="http://schemas.microsoft.com/office/powerpoint/2010/main" val="1579011935"/>
              </p:ext>
            </p:extLst>
          </p:nvPr>
        </p:nvGraphicFramePr>
        <p:xfrm>
          <a:off x="566928" y="1737360"/>
          <a:ext cx="11057839" cy="914400"/>
        </p:xfrm>
        <a:graphic>
          <a:graphicData uri="http://schemas.openxmlformats.org/drawingml/2006/table">
            <a:tbl>
              <a:tblPr/>
              <a:tblGrid>
                <a:gridCol w="2103120"/>
                <a:gridCol w="4206240"/>
                <a:gridCol w="2377440"/>
                <a:gridCol w="2371039"/>
              </a:tblGrid>
              <a:tr h="310896">
                <a:tc>
                  <a:txBody>
                    <a:bodyPr/>
                    <a:lstStyle/>
                    <a:p>
                      <a:pPr indent="0" marL="0">
                        <a:buNone/>
                      </a:pPr>
                      <a:r>
                        <a:rPr lang="en-US" sz="900" b="1" spc="110" kern="0" dirty="0">
                          <a:solidFill>
                            <a:srgbClr val="FFFFFF"/>
                          </a:solidFill>
                          <a:latin typeface="Courier New" pitchFamily="34" charset="0"/>
                          <a:ea typeface="Courier New" pitchFamily="34" charset="-122"/>
                          <a:cs typeface="Courier New" pitchFamily="34" charset="-120"/>
                        </a:rPr>
                        <a:t>TIPO</a:t>
                      </a:r>
                      <a:endParaRPr lang="en-US" sz="900" dirty="0">
                        <a:latin typeface="Courier New" charset="0"/>
                        <a:ea typeface="Courier New" charset="0"/>
                        <a:cs typeface="Courier New" charset="0"/>
                      </a:endParaRPr>
                    </a:p>
                  </a:txBody>
                  <a:tcPr marL="101600" marR="101600" marT="76200" marB="76200" anchor="ctr">
                    <a:lnL w="12700" cap="flat" cmpd="sng" algn="ctr">
                      <a:solidFill>
                        <a:srgbClr val="D9D6E0"/>
                      </a:solidFill>
                      <a:prstDash val="solid"/>
                      <a:round/>
                      <a:headEnd type="none" w="med" len="med"/>
                      <a:tailEnd type="none" w="med" len="med"/>
                    </a:lnL>
                    <a:lnR w="12700" cap="flat" cmpd="sng" algn="ctr">
                      <a:solidFill>
                        <a:srgbClr val="D9D6E0"/>
                      </a:solidFill>
                      <a:prstDash val="solid"/>
                      <a:round/>
                      <a:headEnd type="none" w="med" len="med"/>
                      <a:tailEnd type="none" w="med" len="med"/>
                    </a:lnR>
                    <a:lnT w="12700" cap="flat" cmpd="sng" algn="ctr">
                      <a:solidFill>
                        <a:srgbClr val="D9D6E0"/>
                      </a:solidFill>
                      <a:prstDash val="solid"/>
                      <a:round/>
                      <a:headEnd type="none" w="med" len="med"/>
                      <a:tailEnd type="none" w="med" len="med"/>
                    </a:lnT>
                    <a:lnB w="12700" cap="flat" cmpd="sng" algn="ctr">
                      <a:solidFill>
                        <a:srgbClr val="D9D6E0"/>
                      </a:solidFill>
                      <a:prstDash val="solid"/>
                      <a:round/>
                      <a:headEnd type="none" w="med" len="med"/>
                      <a:tailEnd type="none" w="med" len="med"/>
                    </a:lnB>
                    <a:solidFill>
                      <a:srgbClr val="0F0F11"/>
                    </a:solidFill>
                  </a:tcPr>
                </a:tc>
                <a:tc>
                  <a:txBody>
                    <a:bodyPr/>
                    <a:lstStyle/>
                    <a:p>
                      <a:pPr indent="0" marL="0">
                        <a:buNone/>
                      </a:pPr>
                      <a:r>
                        <a:rPr lang="en-US" sz="900" b="1" spc="110" kern="0" dirty="0">
                          <a:solidFill>
                            <a:srgbClr val="FFFFFF"/>
                          </a:solidFill>
                          <a:latin typeface="Courier New" pitchFamily="34" charset="0"/>
                          <a:ea typeface="Courier New" pitchFamily="34" charset="-122"/>
                          <a:cs typeface="Courier New" pitchFamily="34" charset="-120"/>
                        </a:rPr>
                        <a:t>QUÉ GARANTIZA</a:t>
                      </a:r>
                      <a:endParaRPr lang="en-US" sz="900" dirty="0">
                        <a:latin typeface="Courier New" charset="0"/>
                        <a:ea typeface="Courier New" charset="0"/>
                        <a:cs typeface="Courier New" charset="0"/>
                      </a:endParaRPr>
                    </a:p>
                  </a:txBody>
                  <a:tcPr marL="101600" marR="101600" marT="76200" marB="76200" anchor="ctr">
                    <a:lnL w="12700" cap="flat" cmpd="sng" algn="ctr">
                      <a:solidFill>
                        <a:srgbClr val="D9D6E0"/>
                      </a:solidFill>
                      <a:prstDash val="solid"/>
                      <a:round/>
                      <a:headEnd type="none" w="med" len="med"/>
                      <a:tailEnd type="none" w="med" len="med"/>
                    </a:lnL>
                    <a:lnR w="12700" cap="flat" cmpd="sng" algn="ctr">
                      <a:solidFill>
                        <a:srgbClr val="D9D6E0"/>
                      </a:solidFill>
                      <a:prstDash val="solid"/>
                      <a:round/>
                      <a:headEnd type="none" w="med" len="med"/>
                      <a:tailEnd type="none" w="med" len="med"/>
                    </a:lnR>
                    <a:lnT w="12700" cap="flat" cmpd="sng" algn="ctr">
                      <a:solidFill>
                        <a:srgbClr val="D9D6E0"/>
                      </a:solidFill>
                      <a:prstDash val="solid"/>
                      <a:round/>
                      <a:headEnd type="none" w="med" len="med"/>
                      <a:tailEnd type="none" w="med" len="med"/>
                    </a:lnT>
                    <a:lnB w="12700" cap="flat" cmpd="sng" algn="ctr">
                      <a:solidFill>
                        <a:srgbClr val="D9D6E0"/>
                      </a:solidFill>
                      <a:prstDash val="solid"/>
                      <a:round/>
                      <a:headEnd type="none" w="med" len="med"/>
                      <a:tailEnd type="none" w="med" len="med"/>
                    </a:lnB>
                    <a:solidFill>
                      <a:srgbClr val="0F0F11"/>
                    </a:solidFill>
                  </a:tcPr>
                </a:tc>
                <a:tc>
                  <a:txBody>
                    <a:bodyPr/>
                    <a:lstStyle/>
                    <a:p>
                      <a:pPr indent="0" marL="0">
                        <a:buNone/>
                      </a:pPr>
                      <a:r>
                        <a:rPr lang="en-US" sz="900" b="1" spc="110" kern="0" dirty="0">
                          <a:solidFill>
                            <a:srgbClr val="FFFFFF"/>
                          </a:solidFill>
                          <a:latin typeface="Courier New" pitchFamily="34" charset="0"/>
                          <a:ea typeface="Courier New" pitchFamily="34" charset="-122"/>
                          <a:cs typeface="Courier New" pitchFamily="34" charset="-120"/>
                        </a:rPr>
                        <a:t>DÓNDE</a:t>
                      </a:r>
                      <a:endParaRPr lang="en-US" sz="900" dirty="0">
                        <a:latin typeface="Courier New" charset="0"/>
                        <a:ea typeface="Courier New" charset="0"/>
                        <a:cs typeface="Courier New" charset="0"/>
                      </a:endParaRPr>
                    </a:p>
                  </a:txBody>
                  <a:tcPr marL="101600" marR="101600" marT="76200" marB="76200" anchor="ctr">
                    <a:lnL w="12700" cap="flat" cmpd="sng" algn="ctr">
                      <a:solidFill>
                        <a:srgbClr val="D9D6E0"/>
                      </a:solidFill>
                      <a:prstDash val="solid"/>
                      <a:round/>
                      <a:headEnd type="none" w="med" len="med"/>
                      <a:tailEnd type="none" w="med" len="med"/>
                    </a:lnL>
                    <a:lnR w="12700" cap="flat" cmpd="sng" algn="ctr">
                      <a:solidFill>
                        <a:srgbClr val="D9D6E0"/>
                      </a:solidFill>
                      <a:prstDash val="solid"/>
                      <a:round/>
                      <a:headEnd type="none" w="med" len="med"/>
                      <a:tailEnd type="none" w="med" len="med"/>
                    </a:lnR>
                    <a:lnT w="12700" cap="flat" cmpd="sng" algn="ctr">
                      <a:solidFill>
                        <a:srgbClr val="D9D6E0"/>
                      </a:solidFill>
                      <a:prstDash val="solid"/>
                      <a:round/>
                      <a:headEnd type="none" w="med" len="med"/>
                      <a:tailEnd type="none" w="med" len="med"/>
                    </a:lnT>
                    <a:lnB w="12700" cap="flat" cmpd="sng" algn="ctr">
                      <a:solidFill>
                        <a:srgbClr val="D9D6E0"/>
                      </a:solidFill>
                      <a:prstDash val="solid"/>
                      <a:round/>
                      <a:headEnd type="none" w="med" len="med"/>
                      <a:tailEnd type="none" w="med" len="med"/>
                    </a:lnB>
                    <a:solidFill>
                      <a:srgbClr val="0F0F11"/>
                    </a:solidFill>
                  </a:tcPr>
                </a:tc>
                <a:tc>
                  <a:txBody>
                    <a:bodyPr/>
                    <a:lstStyle/>
                    <a:p>
                      <a:pPr indent="0" marL="0">
                        <a:buNone/>
                      </a:pPr>
                      <a:r>
                        <a:rPr lang="en-US" sz="900" b="1" spc="110" kern="0" dirty="0">
                          <a:solidFill>
                            <a:srgbClr val="FFFFFF"/>
                          </a:solidFill>
                          <a:latin typeface="Courier New" pitchFamily="34" charset="0"/>
                          <a:ea typeface="Courier New" pitchFamily="34" charset="-122"/>
                          <a:cs typeface="Courier New" pitchFamily="34" charset="-120"/>
                        </a:rPr>
                        <a:t>CUÁNTO TARDA</a:t>
                      </a:r>
                      <a:endParaRPr lang="en-US" sz="900" dirty="0">
                        <a:latin typeface="Courier New" charset="0"/>
                        <a:ea typeface="Courier New" charset="0"/>
                        <a:cs typeface="Courier New" charset="0"/>
                      </a:endParaRPr>
                    </a:p>
                  </a:txBody>
                  <a:tcPr marL="101600" marR="101600" marT="76200" marB="76200" anchor="ctr">
                    <a:lnL w="12700" cap="flat" cmpd="sng" algn="ctr">
                      <a:solidFill>
                        <a:srgbClr val="D9D6E0"/>
                      </a:solidFill>
                      <a:prstDash val="solid"/>
                      <a:round/>
                      <a:headEnd type="none" w="med" len="med"/>
                      <a:tailEnd type="none" w="med" len="med"/>
                    </a:lnL>
                    <a:lnR w="12700" cap="flat" cmpd="sng" algn="ctr">
                      <a:solidFill>
                        <a:srgbClr val="D9D6E0"/>
                      </a:solidFill>
                      <a:prstDash val="solid"/>
                      <a:round/>
                      <a:headEnd type="none" w="med" len="med"/>
                      <a:tailEnd type="none" w="med" len="med"/>
                    </a:lnR>
                    <a:lnT w="12700" cap="flat" cmpd="sng" algn="ctr">
                      <a:solidFill>
                        <a:srgbClr val="D9D6E0"/>
                      </a:solidFill>
                      <a:prstDash val="solid"/>
                      <a:round/>
                      <a:headEnd type="none" w="med" len="med"/>
                      <a:tailEnd type="none" w="med" len="med"/>
                    </a:lnT>
                    <a:lnB w="12700" cap="flat" cmpd="sng" algn="ctr">
                      <a:solidFill>
                        <a:srgbClr val="D9D6E0"/>
                      </a:solidFill>
                      <a:prstDash val="solid"/>
                      <a:round/>
                      <a:headEnd type="none" w="med" len="med"/>
                      <a:tailEnd type="none" w="med" len="med"/>
                    </a:lnB>
                    <a:solidFill>
                      <a:srgbClr val="0F0F11"/>
                    </a:solidFill>
                  </a:tcPr>
                </a:tc>
              </a:tr>
              <a:tr h="917448">
                <a:tc>
                  <a:txBody>
                    <a:bodyPr/>
                    <a:lstStyle/>
                    <a:p>
                      <a:pPr indent="0" marL="0">
                        <a:buNone/>
                      </a:pPr>
                      <a:r>
                        <a:rPr lang="en-US" sz="1150" b="1" dirty="0">
                          <a:solidFill>
                            <a:srgbClr val="0F0F11"/>
                          </a:solidFill>
                          <a:latin typeface="Courier New" pitchFamily="34" charset="0"/>
                          <a:ea typeface="Courier New" pitchFamily="34" charset="-122"/>
                          <a:cs typeface="Courier New" pitchFamily="34" charset="-120"/>
                        </a:rPr>
                        <a:t>Probabilística</a:t>
                      </a:r>
                      <a:endParaRPr lang="en-US" sz="1150" dirty="0">
                        <a:latin typeface="Courier New" charset="0"/>
                        <a:ea typeface="Courier New" charset="0"/>
                        <a:cs typeface="Courier New" charset="0"/>
                      </a:endParaRPr>
                    </a:p>
                  </a:txBody>
                  <a:tcPr marL="101600" marR="101600" marT="76200" marB="76200" anchor="t">
                    <a:lnL w="12700" cap="flat" cmpd="sng" algn="ctr">
                      <a:solidFill>
                        <a:srgbClr val="D9D6E0"/>
                      </a:solidFill>
                      <a:prstDash val="solid"/>
                      <a:round/>
                      <a:headEnd type="none" w="med" len="med"/>
                      <a:tailEnd type="none" w="med" len="med"/>
                    </a:lnL>
                    <a:lnR w="12700" cap="flat" cmpd="sng" algn="ctr">
                      <a:solidFill>
                        <a:srgbClr val="D9D6E0"/>
                      </a:solidFill>
                      <a:prstDash val="solid"/>
                      <a:round/>
                      <a:headEnd type="none" w="med" len="med"/>
                      <a:tailEnd type="none" w="med" len="med"/>
                    </a:lnR>
                    <a:lnT w="12700" cap="flat" cmpd="sng" algn="ctr">
                      <a:solidFill>
                        <a:srgbClr val="D9D6E0"/>
                      </a:solidFill>
                      <a:prstDash val="solid"/>
                      <a:round/>
                      <a:headEnd type="none" w="med" len="med"/>
                      <a:tailEnd type="none" w="med" len="med"/>
                    </a:lnT>
                    <a:lnB w="12700" cap="flat" cmpd="sng" algn="ctr">
                      <a:solidFill>
                        <a:srgbClr val="D9D6E0"/>
                      </a:solidFill>
                      <a:prstDash val="solid"/>
                      <a:round/>
                      <a:headEnd type="none" w="med" len="med"/>
                      <a:tailEnd type="none" w="med" len="med"/>
                    </a:lnB>
                    <a:solidFill>
                      <a:srgbClr val="FFFFFF"/>
                    </a:solidFill>
                  </a:tcPr>
                </a:tc>
                <a:tc>
                  <a:txBody>
                    <a:bodyPr/>
                    <a:lstStyle/>
                    <a:p>
                      <a:pPr indent="0" marL="0">
                        <a:buNone/>
                      </a:pPr>
                      <a:r>
                        <a:rPr lang="en-US" sz="1150" dirty="0">
                          <a:solidFill>
                            <a:srgbClr val="3A3844"/>
                          </a:solidFill>
                          <a:latin typeface="Arial" pitchFamily="34" charset="0"/>
                          <a:ea typeface="Arial" pitchFamily="34" charset="-122"/>
                          <a:cs typeface="Arial" pitchFamily="34" charset="-120"/>
                        </a:rPr>
                        <a:t>La probabilidad de reversión cae exponencialmente con cada bloque, pero nunca llega a cero.</a:t>
                      </a:r>
                      <a:endParaRPr lang="en-US" sz="1150" dirty="0">
                        <a:latin typeface="Arial" charset="0"/>
                        <a:ea typeface="Arial" charset="0"/>
                        <a:cs typeface="Arial" charset="0"/>
                      </a:endParaRPr>
                    </a:p>
                  </a:txBody>
                  <a:tcPr marL="101600" marR="101600" marT="76200" marB="76200" anchor="t">
                    <a:lnL w="12700" cap="flat" cmpd="sng" algn="ctr">
                      <a:solidFill>
                        <a:srgbClr val="D9D6E0"/>
                      </a:solidFill>
                      <a:prstDash val="solid"/>
                      <a:round/>
                      <a:headEnd type="none" w="med" len="med"/>
                      <a:tailEnd type="none" w="med" len="med"/>
                    </a:lnL>
                    <a:lnR w="12700" cap="flat" cmpd="sng" algn="ctr">
                      <a:solidFill>
                        <a:srgbClr val="D9D6E0"/>
                      </a:solidFill>
                      <a:prstDash val="solid"/>
                      <a:round/>
                      <a:headEnd type="none" w="med" len="med"/>
                      <a:tailEnd type="none" w="med" len="med"/>
                    </a:lnR>
                    <a:lnT w="12700" cap="flat" cmpd="sng" algn="ctr">
                      <a:solidFill>
                        <a:srgbClr val="D9D6E0"/>
                      </a:solidFill>
                      <a:prstDash val="solid"/>
                      <a:round/>
                      <a:headEnd type="none" w="med" len="med"/>
                      <a:tailEnd type="none" w="med" len="med"/>
                    </a:lnT>
                    <a:lnB w="12700" cap="flat" cmpd="sng" algn="ctr">
                      <a:solidFill>
                        <a:srgbClr val="D9D6E0"/>
                      </a:solidFill>
                      <a:prstDash val="solid"/>
                      <a:round/>
                      <a:headEnd type="none" w="med" len="med"/>
                      <a:tailEnd type="none" w="med" len="med"/>
                    </a:lnB>
                    <a:solidFill>
                      <a:srgbClr val="FFFFFF"/>
                    </a:solidFill>
                  </a:tcPr>
                </a:tc>
                <a:tc>
                  <a:txBody>
                    <a:bodyPr/>
                    <a:lstStyle/>
                    <a:p>
                      <a:pPr indent="0" marL="0">
                        <a:buNone/>
                      </a:pPr>
                      <a:r>
                        <a:rPr lang="en-US" sz="1150" dirty="0">
                          <a:solidFill>
                            <a:srgbClr val="3A3844"/>
                          </a:solidFill>
                          <a:latin typeface="Arial" pitchFamily="34" charset="0"/>
                          <a:ea typeface="Arial" pitchFamily="34" charset="-122"/>
                          <a:cs typeface="Arial" pitchFamily="34" charset="-120"/>
                        </a:rPr>
                        <a:t>Bitcoin y toda la prueba de trabajo.</a:t>
                      </a:r>
                      <a:endParaRPr lang="en-US" sz="1150" dirty="0">
                        <a:latin typeface="Arial" charset="0"/>
                        <a:ea typeface="Arial" charset="0"/>
                        <a:cs typeface="Arial" charset="0"/>
                      </a:endParaRPr>
                    </a:p>
                  </a:txBody>
                  <a:tcPr marL="101600" marR="101600" marT="76200" marB="76200" anchor="t">
                    <a:lnL w="12700" cap="flat" cmpd="sng" algn="ctr">
                      <a:solidFill>
                        <a:srgbClr val="D9D6E0"/>
                      </a:solidFill>
                      <a:prstDash val="solid"/>
                      <a:round/>
                      <a:headEnd type="none" w="med" len="med"/>
                      <a:tailEnd type="none" w="med" len="med"/>
                    </a:lnL>
                    <a:lnR w="12700" cap="flat" cmpd="sng" algn="ctr">
                      <a:solidFill>
                        <a:srgbClr val="D9D6E0"/>
                      </a:solidFill>
                      <a:prstDash val="solid"/>
                      <a:round/>
                      <a:headEnd type="none" w="med" len="med"/>
                      <a:tailEnd type="none" w="med" len="med"/>
                    </a:lnR>
                    <a:lnT w="12700" cap="flat" cmpd="sng" algn="ctr">
                      <a:solidFill>
                        <a:srgbClr val="D9D6E0"/>
                      </a:solidFill>
                      <a:prstDash val="solid"/>
                      <a:round/>
                      <a:headEnd type="none" w="med" len="med"/>
                      <a:tailEnd type="none" w="med" len="med"/>
                    </a:lnT>
                    <a:lnB w="12700" cap="flat" cmpd="sng" algn="ctr">
                      <a:solidFill>
                        <a:srgbClr val="D9D6E0"/>
                      </a:solidFill>
                      <a:prstDash val="solid"/>
                      <a:round/>
                      <a:headEnd type="none" w="med" len="med"/>
                      <a:tailEnd type="none" w="med" len="med"/>
                    </a:lnB>
                    <a:solidFill>
                      <a:srgbClr val="FFFFFF"/>
                    </a:solidFill>
                  </a:tcPr>
                </a:tc>
                <a:tc>
                  <a:txBody>
                    <a:bodyPr/>
                    <a:lstStyle/>
                    <a:p>
                      <a:pPr indent="0" marL="0">
                        <a:buNone/>
                      </a:pPr>
                      <a:r>
                        <a:rPr lang="en-US" sz="1150" dirty="0">
                          <a:solidFill>
                            <a:srgbClr val="3A3844"/>
                          </a:solidFill>
                          <a:latin typeface="Arial" pitchFamily="34" charset="0"/>
                          <a:ea typeface="Arial" pitchFamily="34" charset="-122"/>
                          <a:cs typeface="Arial" pitchFamily="34" charset="-120"/>
                        </a:rPr>
                        <a:t>Minutos a horas, según el monto en juego.</a:t>
                      </a:r>
                      <a:endParaRPr lang="en-US" sz="1150" dirty="0">
                        <a:latin typeface="Arial" charset="0"/>
                        <a:ea typeface="Arial" charset="0"/>
                        <a:cs typeface="Arial" charset="0"/>
                      </a:endParaRPr>
                    </a:p>
                  </a:txBody>
                  <a:tcPr marL="101600" marR="101600" marT="76200" marB="76200" anchor="t">
                    <a:lnL w="12700" cap="flat" cmpd="sng" algn="ctr">
                      <a:solidFill>
                        <a:srgbClr val="D9D6E0"/>
                      </a:solidFill>
                      <a:prstDash val="solid"/>
                      <a:round/>
                      <a:headEnd type="none" w="med" len="med"/>
                      <a:tailEnd type="none" w="med" len="med"/>
                    </a:lnL>
                    <a:lnR w="12700" cap="flat" cmpd="sng" algn="ctr">
                      <a:solidFill>
                        <a:srgbClr val="D9D6E0"/>
                      </a:solidFill>
                      <a:prstDash val="solid"/>
                      <a:round/>
                      <a:headEnd type="none" w="med" len="med"/>
                      <a:tailEnd type="none" w="med" len="med"/>
                    </a:lnR>
                    <a:lnT w="12700" cap="flat" cmpd="sng" algn="ctr">
                      <a:solidFill>
                        <a:srgbClr val="D9D6E0"/>
                      </a:solidFill>
                      <a:prstDash val="solid"/>
                      <a:round/>
                      <a:headEnd type="none" w="med" len="med"/>
                      <a:tailEnd type="none" w="med" len="med"/>
                    </a:lnT>
                    <a:lnB w="12700" cap="flat" cmpd="sng" algn="ctr">
                      <a:solidFill>
                        <a:srgbClr val="D9D6E0"/>
                      </a:solidFill>
                      <a:prstDash val="solid"/>
                      <a:round/>
                      <a:headEnd type="none" w="med" len="med"/>
                      <a:tailEnd type="none" w="med" len="med"/>
                    </a:lnB>
                    <a:solidFill>
                      <a:srgbClr val="FFFFFF"/>
                    </a:solidFill>
                  </a:tcPr>
                </a:tc>
              </a:tr>
              <a:tr h="917448">
                <a:tc>
                  <a:txBody>
                    <a:bodyPr/>
                    <a:lstStyle/>
                    <a:p>
                      <a:pPr indent="0" marL="0">
                        <a:buNone/>
                      </a:pPr>
                      <a:r>
                        <a:rPr lang="en-US" sz="1150" b="1" dirty="0">
                          <a:solidFill>
                            <a:srgbClr val="0F0F11"/>
                          </a:solidFill>
                          <a:latin typeface="Courier New" pitchFamily="34" charset="0"/>
                          <a:ea typeface="Courier New" pitchFamily="34" charset="-122"/>
                          <a:cs typeface="Courier New" pitchFamily="34" charset="-120"/>
                        </a:rPr>
                        <a:t>Económica</a:t>
                      </a:r>
                      <a:endParaRPr lang="en-US" sz="1150" dirty="0">
                        <a:latin typeface="Courier New" charset="0"/>
                        <a:ea typeface="Courier New" charset="0"/>
                        <a:cs typeface="Courier New" charset="0"/>
                      </a:endParaRPr>
                    </a:p>
                  </a:txBody>
                  <a:tcPr marL="101600" marR="101600" marT="76200" marB="76200" anchor="t">
                    <a:lnL w="12700" cap="flat" cmpd="sng" algn="ctr">
                      <a:solidFill>
                        <a:srgbClr val="D9D6E0"/>
                      </a:solidFill>
                      <a:prstDash val="solid"/>
                      <a:round/>
                      <a:headEnd type="none" w="med" len="med"/>
                      <a:tailEnd type="none" w="med" len="med"/>
                    </a:lnL>
                    <a:lnR w="12700" cap="flat" cmpd="sng" algn="ctr">
                      <a:solidFill>
                        <a:srgbClr val="D9D6E0"/>
                      </a:solidFill>
                      <a:prstDash val="solid"/>
                      <a:round/>
                      <a:headEnd type="none" w="med" len="med"/>
                      <a:tailEnd type="none" w="med" len="med"/>
                    </a:lnR>
                    <a:lnT w="12700" cap="flat" cmpd="sng" algn="ctr">
                      <a:solidFill>
                        <a:srgbClr val="D9D6E0"/>
                      </a:solidFill>
                      <a:prstDash val="solid"/>
                      <a:round/>
                      <a:headEnd type="none" w="med" len="med"/>
                      <a:tailEnd type="none" w="med" len="med"/>
                    </a:lnT>
                    <a:lnB w="12700" cap="flat" cmpd="sng" algn="ctr">
                      <a:solidFill>
                        <a:srgbClr val="D9D6E0"/>
                      </a:solidFill>
                      <a:prstDash val="solid"/>
                      <a:round/>
                      <a:headEnd type="none" w="med" len="med"/>
                      <a:tailEnd type="none" w="med" len="med"/>
                    </a:lnB>
                    <a:solidFill>
                      <a:srgbClr val="FAF9FB"/>
                    </a:solidFill>
                  </a:tcPr>
                </a:tc>
                <a:tc>
                  <a:txBody>
                    <a:bodyPr/>
                    <a:lstStyle/>
                    <a:p>
                      <a:pPr indent="0" marL="0">
                        <a:buNone/>
                      </a:pPr>
                      <a:r>
                        <a:rPr lang="en-US" sz="1150" dirty="0">
                          <a:solidFill>
                            <a:srgbClr val="3A3844"/>
                          </a:solidFill>
                          <a:latin typeface="Arial" pitchFamily="34" charset="0"/>
                          <a:ea typeface="Arial" pitchFamily="34" charset="-122"/>
                          <a:cs typeface="Arial" pitchFamily="34" charset="-120"/>
                        </a:rPr>
                        <a:t>Revertir es posible, pero exige destruir al menos un tercio del stake total por slashing.</a:t>
                      </a:r>
                      <a:endParaRPr lang="en-US" sz="1150" dirty="0">
                        <a:latin typeface="Arial" charset="0"/>
                        <a:ea typeface="Arial" charset="0"/>
                        <a:cs typeface="Arial" charset="0"/>
                      </a:endParaRPr>
                    </a:p>
                  </a:txBody>
                  <a:tcPr marL="101600" marR="101600" marT="76200" marB="76200" anchor="t">
                    <a:lnL w="12700" cap="flat" cmpd="sng" algn="ctr">
                      <a:solidFill>
                        <a:srgbClr val="D9D6E0"/>
                      </a:solidFill>
                      <a:prstDash val="solid"/>
                      <a:round/>
                      <a:headEnd type="none" w="med" len="med"/>
                      <a:tailEnd type="none" w="med" len="med"/>
                    </a:lnL>
                    <a:lnR w="12700" cap="flat" cmpd="sng" algn="ctr">
                      <a:solidFill>
                        <a:srgbClr val="D9D6E0"/>
                      </a:solidFill>
                      <a:prstDash val="solid"/>
                      <a:round/>
                      <a:headEnd type="none" w="med" len="med"/>
                      <a:tailEnd type="none" w="med" len="med"/>
                    </a:lnR>
                    <a:lnT w="12700" cap="flat" cmpd="sng" algn="ctr">
                      <a:solidFill>
                        <a:srgbClr val="D9D6E0"/>
                      </a:solidFill>
                      <a:prstDash val="solid"/>
                      <a:round/>
                      <a:headEnd type="none" w="med" len="med"/>
                      <a:tailEnd type="none" w="med" len="med"/>
                    </a:lnT>
                    <a:lnB w="12700" cap="flat" cmpd="sng" algn="ctr">
                      <a:solidFill>
                        <a:srgbClr val="D9D6E0"/>
                      </a:solidFill>
                      <a:prstDash val="solid"/>
                      <a:round/>
                      <a:headEnd type="none" w="med" len="med"/>
                      <a:tailEnd type="none" w="med" len="med"/>
                    </a:lnB>
                    <a:solidFill>
                      <a:srgbClr val="FAF9FB"/>
                    </a:solidFill>
                  </a:tcPr>
                </a:tc>
                <a:tc>
                  <a:txBody>
                    <a:bodyPr/>
                    <a:lstStyle/>
                    <a:p>
                      <a:pPr indent="0" marL="0">
                        <a:buNone/>
                      </a:pPr>
                      <a:r>
                        <a:rPr lang="en-US" sz="1150" dirty="0">
                          <a:solidFill>
                            <a:srgbClr val="3A3844"/>
                          </a:solidFill>
                          <a:latin typeface="Arial" pitchFamily="34" charset="0"/>
                          <a:ea typeface="Arial" pitchFamily="34" charset="-122"/>
                          <a:cs typeface="Arial" pitchFamily="34" charset="-120"/>
                        </a:rPr>
                        <a:t>Ethereum desde 2022.</a:t>
                      </a:r>
                      <a:endParaRPr lang="en-US" sz="1150" dirty="0">
                        <a:latin typeface="Arial" charset="0"/>
                        <a:ea typeface="Arial" charset="0"/>
                        <a:cs typeface="Arial" charset="0"/>
                      </a:endParaRPr>
                    </a:p>
                  </a:txBody>
                  <a:tcPr marL="101600" marR="101600" marT="76200" marB="76200" anchor="t">
                    <a:lnL w="12700" cap="flat" cmpd="sng" algn="ctr">
                      <a:solidFill>
                        <a:srgbClr val="D9D6E0"/>
                      </a:solidFill>
                      <a:prstDash val="solid"/>
                      <a:round/>
                      <a:headEnd type="none" w="med" len="med"/>
                      <a:tailEnd type="none" w="med" len="med"/>
                    </a:lnL>
                    <a:lnR w="12700" cap="flat" cmpd="sng" algn="ctr">
                      <a:solidFill>
                        <a:srgbClr val="D9D6E0"/>
                      </a:solidFill>
                      <a:prstDash val="solid"/>
                      <a:round/>
                      <a:headEnd type="none" w="med" len="med"/>
                      <a:tailEnd type="none" w="med" len="med"/>
                    </a:lnR>
                    <a:lnT w="12700" cap="flat" cmpd="sng" algn="ctr">
                      <a:solidFill>
                        <a:srgbClr val="D9D6E0"/>
                      </a:solidFill>
                      <a:prstDash val="solid"/>
                      <a:round/>
                      <a:headEnd type="none" w="med" len="med"/>
                      <a:tailEnd type="none" w="med" len="med"/>
                    </a:lnT>
                    <a:lnB w="12700" cap="flat" cmpd="sng" algn="ctr">
                      <a:solidFill>
                        <a:srgbClr val="D9D6E0"/>
                      </a:solidFill>
                      <a:prstDash val="solid"/>
                      <a:round/>
                      <a:headEnd type="none" w="med" len="med"/>
                      <a:tailEnd type="none" w="med" len="med"/>
                    </a:lnB>
                    <a:solidFill>
                      <a:srgbClr val="FAF9FB"/>
                    </a:solidFill>
                  </a:tcPr>
                </a:tc>
                <a:tc>
                  <a:txBody>
                    <a:bodyPr/>
                    <a:lstStyle/>
                    <a:p>
                      <a:pPr indent="0" marL="0">
                        <a:buNone/>
                      </a:pPr>
                      <a:r>
                        <a:rPr lang="en-US" sz="1150" dirty="0">
                          <a:solidFill>
                            <a:srgbClr val="3A3844"/>
                          </a:solidFill>
                          <a:latin typeface="Arial" pitchFamily="34" charset="0"/>
                          <a:ea typeface="Arial" pitchFamily="34" charset="-122"/>
                          <a:cs typeface="Arial" pitchFamily="34" charset="-120"/>
                        </a:rPr>
                        <a:t>Unos 13 minutos (dos épocas).</a:t>
                      </a:r>
                      <a:endParaRPr lang="en-US" sz="1150" dirty="0">
                        <a:latin typeface="Arial" charset="0"/>
                        <a:ea typeface="Arial" charset="0"/>
                        <a:cs typeface="Arial" charset="0"/>
                      </a:endParaRPr>
                    </a:p>
                  </a:txBody>
                  <a:tcPr marL="101600" marR="101600" marT="76200" marB="76200" anchor="t">
                    <a:lnL w="12700" cap="flat" cmpd="sng" algn="ctr">
                      <a:solidFill>
                        <a:srgbClr val="D9D6E0"/>
                      </a:solidFill>
                      <a:prstDash val="solid"/>
                      <a:round/>
                      <a:headEnd type="none" w="med" len="med"/>
                      <a:tailEnd type="none" w="med" len="med"/>
                    </a:lnL>
                    <a:lnR w="12700" cap="flat" cmpd="sng" algn="ctr">
                      <a:solidFill>
                        <a:srgbClr val="D9D6E0"/>
                      </a:solidFill>
                      <a:prstDash val="solid"/>
                      <a:round/>
                      <a:headEnd type="none" w="med" len="med"/>
                      <a:tailEnd type="none" w="med" len="med"/>
                    </a:lnR>
                    <a:lnT w="12700" cap="flat" cmpd="sng" algn="ctr">
                      <a:solidFill>
                        <a:srgbClr val="D9D6E0"/>
                      </a:solidFill>
                      <a:prstDash val="solid"/>
                      <a:round/>
                      <a:headEnd type="none" w="med" len="med"/>
                      <a:tailEnd type="none" w="med" len="med"/>
                    </a:lnT>
                    <a:lnB w="12700" cap="flat" cmpd="sng" algn="ctr">
                      <a:solidFill>
                        <a:srgbClr val="D9D6E0"/>
                      </a:solidFill>
                      <a:prstDash val="solid"/>
                      <a:round/>
                      <a:headEnd type="none" w="med" len="med"/>
                      <a:tailEnd type="none" w="med" len="med"/>
                    </a:lnB>
                    <a:solidFill>
                      <a:srgbClr val="FAF9FB"/>
                    </a:solidFill>
                  </a:tcPr>
                </a:tc>
              </a:tr>
              <a:tr h="917448">
                <a:tc>
                  <a:txBody>
                    <a:bodyPr/>
                    <a:lstStyle/>
                    <a:p>
                      <a:pPr indent="0" marL="0">
                        <a:buNone/>
                      </a:pPr>
                      <a:r>
                        <a:rPr lang="en-US" sz="1150" b="1" dirty="0">
                          <a:solidFill>
                            <a:srgbClr val="0F0F11"/>
                          </a:solidFill>
                          <a:latin typeface="Courier New" pitchFamily="34" charset="0"/>
                          <a:ea typeface="Courier New" pitchFamily="34" charset="-122"/>
                          <a:cs typeface="Courier New" pitchFamily="34" charset="-120"/>
                        </a:rPr>
                        <a:t>Determinista</a:t>
                      </a:r>
                      <a:endParaRPr lang="en-US" sz="1150" dirty="0">
                        <a:latin typeface="Courier New" charset="0"/>
                        <a:ea typeface="Courier New" charset="0"/>
                        <a:cs typeface="Courier New" charset="0"/>
                      </a:endParaRPr>
                    </a:p>
                  </a:txBody>
                  <a:tcPr marL="101600" marR="101600" marT="76200" marB="76200" anchor="t">
                    <a:lnL w="12700" cap="flat" cmpd="sng" algn="ctr">
                      <a:solidFill>
                        <a:srgbClr val="D9D6E0"/>
                      </a:solidFill>
                      <a:prstDash val="solid"/>
                      <a:round/>
                      <a:headEnd type="none" w="med" len="med"/>
                      <a:tailEnd type="none" w="med" len="med"/>
                    </a:lnL>
                    <a:lnR w="12700" cap="flat" cmpd="sng" algn="ctr">
                      <a:solidFill>
                        <a:srgbClr val="D9D6E0"/>
                      </a:solidFill>
                      <a:prstDash val="solid"/>
                      <a:round/>
                      <a:headEnd type="none" w="med" len="med"/>
                      <a:tailEnd type="none" w="med" len="med"/>
                    </a:lnR>
                    <a:lnT w="12700" cap="flat" cmpd="sng" algn="ctr">
                      <a:solidFill>
                        <a:srgbClr val="D9D6E0"/>
                      </a:solidFill>
                      <a:prstDash val="solid"/>
                      <a:round/>
                      <a:headEnd type="none" w="med" len="med"/>
                      <a:tailEnd type="none" w="med" len="med"/>
                    </a:lnT>
                    <a:lnB w="12700" cap="flat" cmpd="sng" algn="ctr">
                      <a:solidFill>
                        <a:srgbClr val="D9D6E0"/>
                      </a:solidFill>
                      <a:prstDash val="solid"/>
                      <a:round/>
                      <a:headEnd type="none" w="med" len="med"/>
                      <a:tailEnd type="none" w="med" len="med"/>
                    </a:lnB>
                    <a:solidFill>
                      <a:srgbClr val="FFFFFF"/>
                    </a:solidFill>
                  </a:tcPr>
                </a:tc>
                <a:tc>
                  <a:txBody>
                    <a:bodyPr/>
                    <a:lstStyle/>
                    <a:p>
                      <a:pPr indent="0" marL="0">
                        <a:buNone/>
                      </a:pPr>
                      <a:r>
                        <a:rPr lang="en-US" sz="1150" dirty="0">
                          <a:solidFill>
                            <a:srgbClr val="3A3844"/>
                          </a:solidFill>
                          <a:latin typeface="Arial" pitchFamily="34" charset="0"/>
                          <a:ea typeface="Arial" pitchFamily="34" charset="-122"/>
                          <a:cs typeface="Arial" pitchFamily="34" charset="-120"/>
                        </a:rPr>
                        <a:t>Una vez decidido, el protocolo no puede revertirlo mientras se cumpla el supuesto de menos de un tercio de fallas.</a:t>
                      </a:r>
                      <a:endParaRPr lang="en-US" sz="1150" dirty="0">
                        <a:latin typeface="Arial" charset="0"/>
                        <a:ea typeface="Arial" charset="0"/>
                        <a:cs typeface="Arial" charset="0"/>
                      </a:endParaRPr>
                    </a:p>
                  </a:txBody>
                  <a:tcPr marL="101600" marR="101600" marT="76200" marB="76200" anchor="t">
                    <a:lnL w="12700" cap="flat" cmpd="sng" algn="ctr">
                      <a:solidFill>
                        <a:srgbClr val="D9D6E0"/>
                      </a:solidFill>
                      <a:prstDash val="solid"/>
                      <a:round/>
                      <a:headEnd type="none" w="med" len="med"/>
                      <a:tailEnd type="none" w="med" len="med"/>
                    </a:lnL>
                    <a:lnR w="12700" cap="flat" cmpd="sng" algn="ctr">
                      <a:solidFill>
                        <a:srgbClr val="D9D6E0"/>
                      </a:solidFill>
                      <a:prstDash val="solid"/>
                      <a:round/>
                      <a:headEnd type="none" w="med" len="med"/>
                      <a:tailEnd type="none" w="med" len="med"/>
                    </a:lnR>
                    <a:lnT w="12700" cap="flat" cmpd="sng" algn="ctr">
                      <a:solidFill>
                        <a:srgbClr val="D9D6E0"/>
                      </a:solidFill>
                      <a:prstDash val="solid"/>
                      <a:round/>
                      <a:headEnd type="none" w="med" len="med"/>
                      <a:tailEnd type="none" w="med" len="med"/>
                    </a:lnT>
                    <a:lnB w="12700" cap="flat" cmpd="sng" algn="ctr">
                      <a:solidFill>
                        <a:srgbClr val="D9D6E0"/>
                      </a:solidFill>
                      <a:prstDash val="solid"/>
                      <a:round/>
                      <a:headEnd type="none" w="med" len="med"/>
                      <a:tailEnd type="none" w="med" len="med"/>
                    </a:lnB>
                    <a:solidFill>
                      <a:srgbClr val="FFFFFF"/>
                    </a:solidFill>
                  </a:tcPr>
                </a:tc>
                <a:tc>
                  <a:txBody>
                    <a:bodyPr/>
                    <a:lstStyle/>
                    <a:p>
                      <a:pPr indent="0" marL="0">
                        <a:buNone/>
                      </a:pPr>
                      <a:r>
                        <a:rPr lang="en-US" sz="1150" dirty="0">
                          <a:solidFill>
                            <a:srgbClr val="3A3844"/>
                          </a:solidFill>
                          <a:latin typeface="Arial" pitchFamily="34" charset="0"/>
                          <a:ea typeface="Arial" pitchFamily="34" charset="-122"/>
                          <a:cs typeface="Arial" pitchFamily="34" charset="-120"/>
                        </a:rPr>
                        <a:t>PBFT y protocolos de votación clásica.</a:t>
                      </a:r>
                      <a:endParaRPr lang="en-US" sz="1150" dirty="0">
                        <a:latin typeface="Arial" charset="0"/>
                        <a:ea typeface="Arial" charset="0"/>
                        <a:cs typeface="Arial" charset="0"/>
                      </a:endParaRPr>
                    </a:p>
                  </a:txBody>
                  <a:tcPr marL="101600" marR="101600" marT="76200" marB="76200" anchor="t">
                    <a:lnL w="12700" cap="flat" cmpd="sng" algn="ctr">
                      <a:solidFill>
                        <a:srgbClr val="D9D6E0"/>
                      </a:solidFill>
                      <a:prstDash val="solid"/>
                      <a:round/>
                      <a:headEnd type="none" w="med" len="med"/>
                      <a:tailEnd type="none" w="med" len="med"/>
                    </a:lnL>
                    <a:lnR w="12700" cap="flat" cmpd="sng" algn="ctr">
                      <a:solidFill>
                        <a:srgbClr val="D9D6E0"/>
                      </a:solidFill>
                      <a:prstDash val="solid"/>
                      <a:round/>
                      <a:headEnd type="none" w="med" len="med"/>
                      <a:tailEnd type="none" w="med" len="med"/>
                    </a:lnR>
                    <a:lnT w="12700" cap="flat" cmpd="sng" algn="ctr">
                      <a:solidFill>
                        <a:srgbClr val="D9D6E0"/>
                      </a:solidFill>
                      <a:prstDash val="solid"/>
                      <a:round/>
                      <a:headEnd type="none" w="med" len="med"/>
                      <a:tailEnd type="none" w="med" len="med"/>
                    </a:lnT>
                    <a:lnB w="12700" cap="flat" cmpd="sng" algn="ctr">
                      <a:solidFill>
                        <a:srgbClr val="D9D6E0"/>
                      </a:solidFill>
                      <a:prstDash val="solid"/>
                      <a:round/>
                      <a:headEnd type="none" w="med" len="med"/>
                      <a:tailEnd type="none" w="med" len="med"/>
                    </a:lnB>
                    <a:solidFill>
                      <a:srgbClr val="FFFFFF"/>
                    </a:solidFill>
                  </a:tcPr>
                </a:tc>
                <a:tc>
                  <a:txBody>
                    <a:bodyPr/>
                    <a:lstStyle/>
                    <a:p>
                      <a:pPr indent="0" marL="0">
                        <a:buNone/>
                      </a:pPr>
                      <a:r>
                        <a:rPr lang="en-US" sz="1150" dirty="0">
                          <a:solidFill>
                            <a:srgbClr val="3A3844"/>
                          </a:solidFill>
                          <a:latin typeface="Arial" pitchFamily="34" charset="0"/>
                          <a:ea typeface="Arial" pitchFamily="34" charset="-122"/>
                          <a:cs typeface="Arial" pitchFamily="34" charset="-120"/>
                        </a:rPr>
                        <a:t>Segundos.</a:t>
                      </a:r>
                      <a:endParaRPr lang="en-US" sz="1150" dirty="0">
                        <a:latin typeface="Arial" charset="0"/>
                        <a:ea typeface="Arial" charset="0"/>
                        <a:cs typeface="Arial" charset="0"/>
                      </a:endParaRPr>
                    </a:p>
                  </a:txBody>
                  <a:tcPr marL="101600" marR="101600" marT="76200" marB="76200" anchor="t">
                    <a:lnL w="12700" cap="flat" cmpd="sng" algn="ctr">
                      <a:solidFill>
                        <a:srgbClr val="D9D6E0"/>
                      </a:solidFill>
                      <a:prstDash val="solid"/>
                      <a:round/>
                      <a:headEnd type="none" w="med" len="med"/>
                      <a:tailEnd type="none" w="med" len="med"/>
                    </a:lnL>
                    <a:lnR w="12700" cap="flat" cmpd="sng" algn="ctr">
                      <a:solidFill>
                        <a:srgbClr val="D9D6E0"/>
                      </a:solidFill>
                      <a:prstDash val="solid"/>
                      <a:round/>
                      <a:headEnd type="none" w="med" len="med"/>
                      <a:tailEnd type="none" w="med" len="med"/>
                    </a:lnR>
                    <a:lnT w="12700" cap="flat" cmpd="sng" algn="ctr">
                      <a:solidFill>
                        <a:srgbClr val="D9D6E0"/>
                      </a:solidFill>
                      <a:prstDash val="solid"/>
                      <a:round/>
                      <a:headEnd type="none" w="med" len="med"/>
                      <a:tailEnd type="none" w="med" len="med"/>
                    </a:lnT>
                    <a:lnB w="12700" cap="flat" cmpd="sng" algn="ctr">
                      <a:solidFill>
                        <a:srgbClr val="D9D6E0"/>
                      </a:solidFill>
                      <a:prstDash val="solid"/>
                      <a:round/>
                      <a:headEnd type="none" w="med" len="med"/>
                      <a:tailEnd type="none" w="med" len="med"/>
                    </a:lnB>
                    <a:solidFill>
                      <a:srgbClr val="FFFFFF"/>
                    </a:solidFill>
                  </a:tcPr>
                </a:tc>
              </a:tr>
            </a:tbl>
          </a:graphicData>
        </a:graphic>
      </p:graphicFrame>
      <p:sp>
        <p:nvSpPr>
          <p:cNvPr id="9" name="Shape 5"/>
          <p:cNvSpPr/>
          <p:nvPr/>
        </p:nvSpPr>
        <p:spPr>
          <a:xfrm>
            <a:off x="548640" y="1719072"/>
            <a:ext cx="11094415" cy="3099816"/>
          </a:xfrm>
          <a:prstGeom prst="rect">
            <a:avLst/>
          </a:prstGeom>
          <a:ln w="22225">
            <a:solidFill>
              <a:srgbClr val="0F0F11"/>
            </a:solidFill>
            <a:prstDash val="solid"/>
          </a:ln>
        </p:spPr>
      </p:sp>
      <p:sp>
        <p:nvSpPr>
          <p:cNvPr id="10" name="Shape 6"/>
          <p:cNvSpPr/>
          <p:nvPr/>
        </p:nvSpPr>
        <p:spPr>
          <a:xfrm>
            <a:off x="566928" y="5029200"/>
            <a:ext cx="11057839" cy="1097280"/>
          </a:xfrm>
          <a:prstGeom prst="rect">
            <a:avLst/>
          </a:prstGeom>
          <a:solidFill>
            <a:srgbClr val="FFFFFF"/>
          </a:solidFill>
          <a:ln w="34925">
            <a:solidFill>
              <a:srgbClr val="0F0F11"/>
            </a:solidFill>
            <a:prstDash val="solid"/>
          </a:ln>
          <a:effectLst>
            <a:outerShdw sx="100000" sy="100000" kx="0" ky="0" algn="bl" rotWithShape="0" blurRad="101600" dist="63500" dir="2700000">
              <a:srgbClr val="0F0F11">
                <a:alpha val="100000"/>
              </a:srgbClr>
            </a:outerShdw>
          </a:effectLst>
        </p:spPr>
      </p:sp>
      <p:pic>
        <p:nvPicPr>
          <p:cNvPr id="11" name="Image 1" descr="preencoded.png">    </p:cNvPr>
          <p:cNvPicPr>
            <a:picLocks noChangeAspect="1"/>
          </p:cNvPicPr>
          <p:nvPr/>
        </p:nvPicPr>
        <p:blipFill>
          <a:blip r:embed="rId2"/>
          <a:stretch>
            <a:fillRect/>
          </a:stretch>
        </p:blipFill>
        <p:spPr>
          <a:xfrm>
            <a:off x="804672" y="5248656"/>
            <a:ext cx="237744" cy="237744"/>
          </a:xfrm>
          <a:prstGeom prst="rect">
            <a:avLst/>
          </a:prstGeom>
        </p:spPr>
      </p:pic>
      <p:sp>
        <p:nvSpPr>
          <p:cNvPr id="12" name="Text 7"/>
          <p:cNvSpPr/>
          <p:nvPr/>
        </p:nvSpPr>
        <p:spPr>
          <a:xfrm>
            <a:off x="1133856" y="5221224"/>
            <a:ext cx="10234879" cy="292608"/>
          </a:xfrm>
          <a:prstGeom prst="rect">
            <a:avLst/>
          </a:prstGeom>
          <a:noFill/>
          <a:ln/>
        </p:spPr>
        <p:txBody>
          <a:bodyPr wrap="square" lIns="0" tIns="0" rIns="0" bIns="0" rtlCol="0" anchor="ctr"/>
          <a:lstStyle/>
          <a:p>
            <a:pPr indent="0" marL="0">
              <a:buNone/>
            </a:pPr>
            <a:r>
              <a:rPr lang="en-US" sz="950" b="1" spc="150" kern="0" dirty="0">
                <a:solidFill>
                  <a:srgbClr val="0F0F11"/>
                </a:solidFill>
                <a:latin typeface="Courier New" pitchFamily="34" charset="0"/>
                <a:ea typeface="Courier New" pitchFamily="34" charset="-122"/>
                <a:cs typeface="Courier New" pitchFamily="34" charset="-120"/>
              </a:rPr>
              <a:t>LA PREGUNTA PROFESIONAL</a:t>
            </a:r>
            <a:endParaRPr lang="en-US" sz="950" dirty="0"/>
          </a:p>
        </p:txBody>
      </p:sp>
      <p:sp>
        <p:nvSpPr>
          <p:cNvPr id="13" name="Text 8"/>
          <p:cNvSpPr/>
          <p:nvPr/>
        </p:nvSpPr>
        <p:spPr>
          <a:xfrm>
            <a:off x="804672" y="5541264"/>
            <a:ext cx="10582351" cy="493776"/>
          </a:xfrm>
          <a:prstGeom prst="rect">
            <a:avLst/>
          </a:prstGeom>
          <a:noFill/>
          <a:ln/>
        </p:spPr>
        <p:txBody>
          <a:bodyPr wrap="square" lIns="0" tIns="0" rIns="0" bIns="0" rtlCol="0" anchor="t"/>
          <a:lstStyle/>
          <a:p>
            <a:pPr indent="0" marL="0">
              <a:lnSpc>
                <a:spcPct val="124000"/>
              </a:lnSpc>
              <a:buNone/>
            </a:pPr>
            <a:r>
              <a:rPr lang="en-US" sz="1300" dirty="0">
                <a:solidFill>
                  <a:srgbClr val="3A3844"/>
                </a:solidFill>
                <a:latin typeface="Arial" pitchFamily="34" charset="0"/>
                <a:ea typeface="Arial" pitchFamily="34" charset="-122"/>
                <a:cs typeface="Arial" pitchFamily="34" charset="-120"/>
              </a:rPr>
              <a:t>Nunca pregunten «¿esta red tiene finalidad?». Pregunten: ¿qué tipo de finalidad, bajo qué supuesto, y cuánto tengo que esperar para el monto que estoy moviendo?</a:t>
            </a:r>
            <a:endParaRPr lang="en-US" sz="1300" dirty="0"/>
          </a:p>
        </p:txBody>
      </p:sp>
    </p:spTree>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p:cSld name="Slide 30">
    <p:bg>
      <p:bgPr>
        <a:solidFill>
          <a:srgbClr val="FFFFFF"/>
        </a:solidFill>
      </p:bgPr>
    </p:bg>
    <p:spTree>
      <p:nvGrpSpPr>
        <p:cNvPr id="1" name=""/>
        <p:cNvGrpSpPr/>
        <p:nvPr/>
      </p:nvGrpSpPr>
      <p:grpSpPr>
        <a:xfrm>
          <a:off x="0" y="0"/>
          <a:ext cx="0" cy="0"/>
          <a:chOff x="0" y="0"/>
          <a:chExt cx="0" cy="0"/>
        </a:xfrm>
      </p:grpSpPr>
      <p:pic>
        <p:nvPicPr>
          <p:cNvPr id="2" name="Image 0" descr="preencoded.png">    </p:cNvPr>
          <p:cNvPicPr>
            <a:picLocks noChangeAspect="1"/>
          </p:cNvPicPr>
          <p:nvPr/>
        </p:nvPicPr>
        <p:blipFill>
          <a:blip r:embed="rId1"/>
          <a:stretch>
            <a:fillRect/>
          </a:stretch>
        </p:blipFill>
        <p:spPr>
          <a:xfrm>
            <a:off x="566928" y="402336"/>
            <a:ext cx="274320" cy="274320"/>
          </a:xfrm>
          <a:prstGeom prst="rect">
            <a:avLst/>
          </a:prstGeom>
        </p:spPr>
      </p:pic>
      <p:sp>
        <p:nvSpPr>
          <p:cNvPr id="3" name="Text 0"/>
          <p:cNvSpPr/>
          <p:nvPr/>
        </p:nvSpPr>
        <p:spPr>
          <a:xfrm>
            <a:off x="969264" y="384048"/>
            <a:ext cx="10655503" cy="310896"/>
          </a:xfrm>
          <a:prstGeom prst="rect">
            <a:avLst/>
          </a:prstGeom>
          <a:noFill/>
          <a:ln/>
        </p:spPr>
        <p:txBody>
          <a:bodyPr wrap="square" lIns="0" tIns="0" rIns="0" bIns="0" rtlCol="0" anchor="ctr"/>
          <a:lstStyle/>
          <a:p>
            <a:pPr indent="0" marL="0">
              <a:buNone/>
            </a:pPr>
            <a:r>
              <a:rPr lang="en-US" sz="950" spc="160" kern="0" dirty="0">
                <a:solidFill>
                  <a:srgbClr val="6F6B80"/>
                </a:solidFill>
                <a:latin typeface="Courier New" pitchFamily="34" charset="0"/>
                <a:ea typeface="Courier New" pitchFamily="34" charset="-122"/>
                <a:cs typeface="Courier New" pitchFamily="34" charset="-120"/>
              </a:rPr>
              <a:t>A.21 · EL TRILEMA</a:t>
            </a:r>
            <a:endParaRPr lang="en-US" sz="950" dirty="0"/>
          </a:p>
        </p:txBody>
      </p:sp>
      <p:sp>
        <p:nvSpPr>
          <p:cNvPr id="4" name="Text 1"/>
          <p:cNvSpPr/>
          <p:nvPr/>
        </p:nvSpPr>
        <p:spPr>
          <a:xfrm>
            <a:off x="566928" y="777240"/>
            <a:ext cx="11057839" cy="777240"/>
          </a:xfrm>
          <a:prstGeom prst="rect">
            <a:avLst/>
          </a:prstGeom>
          <a:noFill/>
          <a:ln/>
        </p:spPr>
        <p:txBody>
          <a:bodyPr wrap="square" lIns="0" tIns="0" rIns="0" bIns="0" rtlCol="0" anchor="t"/>
          <a:lstStyle/>
          <a:p>
            <a:pPr indent="0" marL="0">
              <a:lnSpc>
                <a:spcPct val="92000"/>
              </a:lnSpc>
              <a:buNone/>
            </a:pPr>
            <a:r>
              <a:rPr lang="en-US" sz="2700" dirty="0">
                <a:solidFill>
                  <a:srgbClr val="0F0F11"/>
                </a:solidFill>
                <a:latin typeface="Arial Black" pitchFamily="34" charset="0"/>
                <a:ea typeface="Arial Black" pitchFamily="34" charset="-122"/>
                <a:cs typeface="Arial Black" pitchFamily="34" charset="-120"/>
              </a:rPr>
              <a:t>DESCENTRALIZACIÓN, SEGURIDAD, ESCALA: ELIJA DOS</a:t>
            </a:r>
            <a:endParaRPr lang="en-US" sz="2700" dirty="0"/>
          </a:p>
        </p:txBody>
      </p:sp>
      <p:sp>
        <p:nvSpPr>
          <p:cNvPr id="5" name="Text 2"/>
          <p:cNvSpPr/>
          <p:nvPr/>
        </p:nvSpPr>
        <p:spPr>
          <a:xfrm>
            <a:off x="566928" y="6291072"/>
            <a:ext cx="8412480" cy="274320"/>
          </a:xfrm>
          <a:prstGeom prst="rect">
            <a:avLst/>
          </a:prstGeom>
          <a:noFill/>
          <a:ln/>
        </p:spPr>
        <p:txBody>
          <a:bodyPr wrap="square" lIns="0" tIns="0" rIns="0" bIns="0" rtlCol="0" anchor="ctr"/>
          <a:lstStyle/>
          <a:p>
            <a:pPr indent="0" marL="0">
              <a:buNone/>
            </a:pPr>
            <a:r>
              <a:rPr lang="en-US" sz="800" spc="120" kern="0" dirty="0">
                <a:solidFill>
                  <a:srgbClr val="6F6B80"/>
                </a:solidFill>
                <a:latin typeface="Courier New" pitchFamily="34" charset="0"/>
                <a:ea typeface="Courier New" pitchFamily="34" charset="-122"/>
                <a:cs typeface="Courier New" pitchFamily="34" charset="-120"/>
              </a:rPr>
              <a:t>SESIÓN 04 · CONSENSO, INCENTIVOS Y EL TRILEMA</a:t>
            </a:r>
            <a:endParaRPr lang="en-US" sz="800" dirty="0"/>
          </a:p>
        </p:txBody>
      </p:sp>
      <p:sp>
        <p:nvSpPr>
          <p:cNvPr id="6" name="Text 3"/>
          <p:cNvSpPr/>
          <p:nvPr/>
        </p:nvSpPr>
        <p:spPr>
          <a:xfrm>
            <a:off x="9052560" y="6291072"/>
            <a:ext cx="1828800" cy="274320"/>
          </a:xfrm>
          <a:prstGeom prst="rect">
            <a:avLst/>
          </a:prstGeom>
          <a:noFill/>
          <a:ln/>
        </p:spPr>
        <p:txBody>
          <a:bodyPr wrap="square" lIns="0" tIns="0" rIns="0" bIns="0" rtlCol="0" anchor="ctr"/>
          <a:lstStyle/>
          <a:p>
            <a:pPr algn="r" indent="0" marL="0">
              <a:buNone/>
            </a:pPr>
            <a:r>
              <a:rPr lang="en-US" sz="800" spc="120" kern="0" dirty="0">
                <a:solidFill>
                  <a:srgbClr val="6F6B80"/>
                </a:solidFill>
                <a:latin typeface="Courier New" pitchFamily="34" charset="0"/>
                <a:ea typeface="Courier New" pitchFamily="34" charset="-122"/>
                <a:cs typeface="Courier New" pitchFamily="34" charset="-120"/>
              </a:rPr>
              <a:t>USB MEDELLÍN</a:t>
            </a:r>
            <a:endParaRPr lang="en-US" sz="800" dirty="0"/>
          </a:p>
        </p:txBody>
      </p:sp>
      <p:sp>
        <p:nvSpPr>
          <p:cNvPr id="7" name="Text 4"/>
          <p:cNvSpPr/>
          <p:nvPr/>
        </p:nvSpPr>
        <p:spPr>
          <a:xfrm>
            <a:off x="11018520" y="6291072"/>
            <a:ext cx="603504" cy="274320"/>
          </a:xfrm>
          <a:prstGeom prst="rect">
            <a:avLst/>
          </a:prstGeom>
          <a:noFill/>
          <a:ln/>
        </p:spPr>
        <p:txBody>
          <a:bodyPr wrap="square" lIns="0" tIns="0" rIns="0" bIns="0" rtlCol="0" anchor="ctr"/>
          <a:lstStyle/>
          <a:p>
            <a:pPr algn="r" indent="0" marL="0">
              <a:buNone/>
            </a:pPr>
            <a:r>
              <a:rPr lang="en-US" sz="900" b="1" dirty="0">
                <a:solidFill>
                  <a:srgbClr val="0F0F11"/>
                </a:solidFill>
                <a:latin typeface="Courier New" pitchFamily="34" charset="0"/>
                <a:ea typeface="Courier New" pitchFamily="34" charset="-122"/>
                <a:cs typeface="Courier New" pitchFamily="34" charset="-120"/>
              </a:rPr>
              <a:t>30</a:t>
            </a:r>
            <a:endParaRPr lang="en-US" sz="900" dirty="0"/>
          </a:p>
        </p:txBody>
      </p:sp>
      <p:sp>
        <p:nvSpPr>
          <p:cNvPr id="8" name="Shape 5"/>
          <p:cNvSpPr/>
          <p:nvPr/>
        </p:nvSpPr>
        <p:spPr>
          <a:xfrm flipH="1">
            <a:off x="1207008" y="2331720"/>
            <a:ext cx="2103120" cy="3154680"/>
          </a:xfrm>
          <a:prstGeom prst="line">
            <a:avLst/>
          </a:prstGeom>
          <a:noFill/>
          <a:ln w="25400">
            <a:solidFill>
              <a:srgbClr val="0F0F11"/>
            </a:solidFill>
            <a:prstDash val="solid"/>
          </a:ln>
        </p:spPr>
      </p:sp>
      <p:sp>
        <p:nvSpPr>
          <p:cNvPr id="9" name="Shape 6"/>
          <p:cNvSpPr/>
          <p:nvPr/>
        </p:nvSpPr>
        <p:spPr>
          <a:xfrm>
            <a:off x="3310128" y="2331720"/>
            <a:ext cx="2103120" cy="3154680"/>
          </a:xfrm>
          <a:prstGeom prst="line">
            <a:avLst/>
          </a:prstGeom>
          <a:noFill/>
          <a:ln w="25400">
            <a:solidFill>
              <a:srgbClr val="0F0F11"/>
            </a:solidFill>
            <a:prstDash val="solid"/>
          </a:ln>
        </p:spPr>
      </p:sp>
      <p:sp>
        <p:nvSpPr>
          <p:cNvPr id="10" name="Shape 7"/>
          <p:cNvSpPr/>
          <p:nvPr/>
        </p:nvSpPr>
        <p:spPr>
          <a:xfrm>
            <a:off x="1207008" y="5486400"/>
            <a:ext cx="4206240" cy="914"/>
          </a:xfrm>
          <a:prstGeom prst="line">
            <a:avLst/>
          </a:prstGeom>
          <a:noFill/>
          <a:ln w="25400">
            <a:solidFill>
              <a:srgbClr val="0F0F11"/>
            </a:solidFill>
            <a:prstDash val="solid"/>
          </a:ln>
        </p:spPr>
      </p:sp>
      <p:sp>
        <p:nvSpPr>
          <p:cNvPr id="11" name="Shape 8"/>
          <p:cNvSpPr/>
          <p:nvPr/>
        </p:nvSpPr>
        <p:spPr>
          <a:xfrm>
            <a:off x="2075688" y="1920240"/>
            <a:ext cx="2468880" cy="566928"/>
          </a:xfrm>
          <a:prstGeom prst="rect">
            <a:avLst/>
          </a:prstGeom>
          <a:solidFill>
            <a:srgbClr val="F07F06"/>
          </a:solidFill>
          <a:ln w="22225">
            <a:solidFill>
              <a:srgbClr val="F07F06"/>
            </a:solidFill>
            <a:prstDash val="solid"/>
          </a:ln>
        </p:spPr>
      </p:sp>
      <p:sp>
        <p:nvSpPr>
          <p:cNvPr id="12" name="Text 9"/>
          <p:cNvSpPr/>
          <p:nvPr/>
        </p:nvSpPr>
        <p:spPr>
          <a:xfrm>
            <a:off x="2167128" y="1920240"/>
            <a:ext cx="2286000" cy="566928"/>
          </a:xfrm>
          <a:prstGeom prst="rect">
            <a:avLst/>
          </a:prstGeom>
          <a:noFill/>
          <a:ln/>
        </p:spPr>
        <p:txBody>
          <a:bodyPr wrap="square" lIns="0" tIns="0" rIns="0" bIns="0" rtlCol="0" anchor="ctr"/>
          <a:lstStyle/>
          <a:p>
            <a:pPr algn="ctr" indent="0" marL="0">
              <a:buNone/>
            </a:pPr>
            <a:r>
              <a:rPr lang="en-US" sz="1100" b="1" spc="80" kern="0" dirty="0">
                <a:solidFill>
                  <a:srgbClr val="0F0F11"/>
                </a:solidFill>
                <a:latin typeface="Courier New" pitchFamily="34" charset="0"/>
                <a:ea typeface="Courier New" pitchFamily="34" charset="-122"/>
                <a:cs typeface="Courier New" pitchFamily="34" charset="-120"/>
              </a:rPr>
              <a:t>DESCENTRALIZACIÓN</a:t>
            </a:r>
            <a:endParaRPr lang="en-US" sz="1100" dirty="0"/>
          </a:p>
        </p:txBody>
      </p:sp>
      <p:sp>
        <p:nvSpPr>
          <p:cNvPr id="13" name="Shape 10"/>
          <p:cNvSpPr/>
          <p:nvPr/>
        </p:nvSpPr>
        <p:spPr>
          <a:xfrm>
            <a:off x="566928" y="5230368"/>
            <a:ext cx="2011680" cy="566928"/>
          </a:xfrm>
          <a:prstGeom prst="rect">
            <a:avLst/>
          </a:prstGeom>
          <a:solidFill>
            <a:srgbClr val="FFFFFF"/>
          </a:solidFill>
          <a:ln w="22225">
            <a:solidFill>
              <a:srgbClr val="0F0F11"/>
            </a:solidFill>
            <a:prstDash val="solid"/>
          </a:ln>
        </p:spPr>
      </p:sp>
      <p:sp>
        <p:nvSpPr>
          <p:cNvPr id="14" name="Text 11"/>
          <p:cNvSpPr/>
          <p:nvPr/>
        </p:nvSpPr>
        <p:spPr>
          <a:xfrm>
            <a:off x="658368" y="5230368"/>
            <a:ext cx="1828800" cy="566928"/>
          </a:xfrm>
          <a:prstGeom prst="rect">
            <a:avLst/>
          </a:prstGeom>
          <a:noFill/>
          <a:ln/>
        </p:spPr>
        <p:txBody>
          <a:bodyPr wrap="square" lIns="0" tIns="0" rIns="0" bIns="0" rtlCol="0" anchor="ctr"/>
          <a:lstStyle/>
          <a:p>
            <a:pPr algn="ctr" indent="0" marL="0">
              <a:buNone/>
            </a:pPr>
            <a:r>
              <a:rPr lang="en-US" sz="1100" b="1" spc="80" kern="0" dirty="0">
                <a:solidFill>
                  <a:srgbClr val="0F0F11"/>
                </a:solidFill>
                <a:latin typeface="Courier New" pitchFamily="34" charset="0"/>
                <a:ea typeface="Courier New" pitchFamily="34" charset="-122"/>
                <a:cs typeface="Courier New" pitchFamily="34" charset="-120"/>
              </a:rPr>
              <a:t>SEGURIDAD</a:t>
            </a:r>
            <a:endParaRPr lang="en-US" sz="1100" dirty="0"/>
          </a:p>
        </p:txBody>
      </p:sp>
      <p:sp>
        <p:nvSpPr>
          <p:cNvPr id="15" name="Shape 12"/>
          <p:cNvSpPr/>
          <p:nvPr/>
        </p:nvSpPr>
        <p:spPr>
          <a:xfrm>
            <a:off x="4041648" y="5230368"/>
            <a:ext cx="2011680" cy="566928"/>
          </a:xfrm>
          <a:prstGeom prst="rect">
            <a:avLst/>
          </a:prstGeom>
          <a:solidFill>
            <a:srgbClr val="FFFFFF"/>
          </a:solidFill>
          <a:ln w="22225">
            <a:solidFill>
              <a:srgbClr val="7152E9"/>
            </a:solidFill>
            <a:prstDash val="solid"/>
          </a:ln>
        </p:spPr>
      </p:sp>
      <p:sp>
        <p:nvSpPr>
          <p:cNvPr id="16" name="Text 13"/>
          <p:cNvSpPr/>
          <p:nvPr/>
        </p:nvSpPr>
        <p:spPr>
          <a:xfrm>
            <a:off x="4133088" y="5230368"/>
            <a:ext cx="1828800" cy="566928"/>
          </a:xfrm>
          <a:prstGeom prst="rect">
            <a:avLst/>
          </a:prstGeom>
          <a:noFill/>
          <a:ln/>
        </p:spPr>
        <p:txBody>
          <a:bodyPr wrap="square" lIns="0" tIns="0" rIns="0" bIns="0" rtlCol="0" anchor="ctr"/>
          <a:lstStyle/>
          <a:p>
            <a:pPr algn="ctr" indent="0" marL="0">
              <a:buNone/>
            </a:pPr>
            <a:r>
              <a:rPr lang="en-US" sz="1100" b="1" spc="80" kern="0" dirty="0">
                <a:solidFill>
                  <a:srgbClr val="0F0F11"/>
                </a:solidFill>
                <a:latin typeface="Courier New" pitchFamily="34" charset="0"/>
                <a:ea typeface="Courier New" pitchFamily="34" charset="-122"/>
                <a:cs typeface="Courier New" pitchFamily="34" charset="-120"/>
              </a:rPr>
              <a:t>ESCALA</a:t>
            </a:r>
            <a:endParaRPr lang="en-US" sz="1100" dirty="0"/>
          </a:p>
        </p:txBody>
      </p:sp>
      <p:sp>
        <p:nvSpPr>
          <p:cNvPr id="17" name="Text 14"/>
          <p:cNvSpPr/>
          <p:nvPr/>
        </p:nvSpPr>
        <p:spPr>
          <a:xfrm>
            <a:off x="6419088" y="1783080"/>
            <a:ext cx="5205679" cy="822960"/>
          </a:xfrm>
          <a:prstGeom prst="rect">
            <a:avLst/>
          </a:prstGeom>
          <a:noFill/>
          <a:ln/>
        </p:spPr>
        <p:txBody>
          <a:bodyPr wrap="square" lIns="0" tIns="0" rIns="0" bIns="0" rtlCol="0" anchor="t"/>
          <a:lstStyle/>
          <a:p>
            <a:pPr indent="0" marL="0">
              <a:lnSpc>
                <a:spcPct val="124000"/>
              </a:lnSpc>
              <a:buNone/>
            </a:pPr>
            <a:r>
              <a:rPr lang="en-US" sz="1300" dirty="0">
                <a:solidFill>
                  <a:srgbClr val="3A3844"/>
                </a:solidFill>
                <a:latin typeface="Arial" pitchFamily="34" charset="0"/>
                <a:ea typeface="Arial" pitchFamily="34" charset="-122"/>
                <a:cs typeface="Arial" pitchFamily="34" charset="-120"/>
              </a:rPr>
              <a:t>Término popularizado por Vitalik Buterin. No es un teorema: es una observación empírica sobre los diseños conocidos.</a:t>
            </a:r>
            <a:endParaRPr lang="en-US" sz="1300" dirty="0"/>
          </a:p>
        </p:txBody>
      </p:sp>
      <p:graphicFrame>
        <p:nvGraphicFramePr>
          <p:cNvPr id="31" name="Table 0"/>
          <p:cNvGraphicFramePr>
            <a:graphicFrameLocks noGrp="1"/>
          </p:cNvGraphicFramePr>
          <p:nvPr>
            <p:extLst>
              <p:ext uri="{D42A27DB-BD31-4B8C-83A1-F6EECF244321}">
                <p14:modId xmlns:p14="http://schemas.microsoft.com/office/powerpoint/2010/main" val="1579011935"/>
              </p:ext>
            </p:extLst>
          </p:nvPr>
        </p:nvGraphicFramePr>
        <p:xfrm>
          <a:off x="6419088" y="2697480"/>
          <a:ext cx="5205679" cy="914400"/>
        </p:xfrm>
        <a:graphic>
          <a:graphicData uri="http://schemas.openxmlformats.org/drawingml/2006/table">
            <a:tbl>
              <a:tblPr/>
              <a:tblGrid>
                <a:gridCol w="1920240"/>
                <a:gridCol w="1645920"/>
                <a:gridCol w="1639519"/>
              </a:tblGrid>
              <a:tr h="310896">
                <a:tc>
                  <a:txBody>
                    <a:bodyPr/>
                    <a:lstStyle/>
                    <a:p>
                      <a:pPr indent="0" marL="0">
                        <a:buNone/>
                      </a:pPr>
                      <a:r>
                        <a:rPr lang="en-US" sz="900" b="1" spc="110" kern="0" dirty="0">
                          <a:solidFill>
                            <a:srgbClr val="FFFFFF"/>
                          </a:solidFill>
                          <a:latin typeface="Courier New" pitchFamily="34" charset="0"/>
                          <a:ea typeface="Courier New" pitchFamily="34" charset="-122"/>
                          <a:cs typeface="Courier New" pitchFamily="34" charset="-120"/>
                        </a:rPr>
                        <a:t>DISEÑO</a:t>
                      </a:r>
                      <a:endParaRPr lang="en-US" sz="900" dirty="0">
                        <a:latin typeface="Courier New" charset="0"/>
                        <a:ea typeface="Courier New" charset="0"/>
                        <a:cs typeface="Courier New" charset="0"/>
                      </a:endParaRPr>
                    </a:p>
                  </a:txBody>
                  <a:tcPr marL="101600" marR="101600" marT="76200" marB="76200" anchor="ctr">
                    <a:lnL w="12700" cap="flat" cmpd="sng" algn="ctr">
                      <a:solidFill>
                        <a:srgbClr val="D9D6E0"/>
                      </a:solidFill>
                      <a:prstDash val="solid"/>
                      <a:round/>
                      <a:headEnd type="none" w="med" len="med"/>
                      <a:tailEnd type="none" w="med" len="med"/>
                    </a:lnL>
                    <a:lnR w="12700" cap="flat" cmpd="sng" algn="ctr">
                      <a:solidFill>
                        <a:srgbClr val="D9D6E0"/>
                      </a:solidFill>
                      <a:prstDash val="solid"/>
                      <a:round/>
                      <a:headEnd type="none" w="med" len="med"/>
                      <a:tailEnd type="none" w="med" len="med"/>
                    </a:lnR>
                    <a:lnT w="12700" cap="flat" cmpd="sng" algn="ctr">
                      <a:solidFill>
                        <a:srgbClr val="D9D6E0"/>
                      </a:solidFill>
                      <a:prstDash val="solid"/>
                      <a:round/>
                      <a:headEnd type="none" w="med" len="med"/>
                      <a:tailEnd type="none" w="med" len="med"/>
                    </a:lnT>
                    <a:lnB w="12700" cap="flat" cmpd="sng" algn="ctr">
                      <a:solidFill>
                        <a:srgbClr val="D9D6E0"/>
                      </a:solidFill>
                      <a:prstDash val="solid"/>
                      <a:round/>
                      <a:headEnd type="none" w="med" len="med"/>
                      <a:tailEnd type="none" w="med" len="med"/>
                    </a:lnB>
                    <a:solidFill>
                      <a:srgbClr val="0F0F11"/>
                    </a:solidFill>
                  </a:tcPr>
                </a:tc>
                <a:tc>
                  <a:txBody>
                    <a:bodyPr/>
                    <a:lstStyle/>
                    <a:p>
                      <a:pPr indent="0" marL="0">
                        <a:buNone/>
                      </a:pPr>
                      <a:r>
                        <a:rPr lang="en-US" sz="900" b="1" spc="110" kern="0" dirty="0">
                          <a:solidFill>
                            <a:srgbClr val="FFFFFF"/>
                          </a:solidFill>
                          <a:latin typeface="Courier New" pitchFamily="34" charset="0"/>
                          <a:ea typeface="Courier New" pitchFamily="34" charset="-122"/>
                          <a:cs typeface="Courier New" pitchFamily="34" charset="-120"/>
                        </a:rPr>
                        <a:t>PRIORIZA</a:t>
                      </a:r>
                      <a:endParaRPr lang="en-US" sz="900" dirty="0">
                        <a:latin typeface="Courier New" charset="0"/>
                        <a:ea typeface="Courier New" charset="0"/>
                        <a:cs typeface="Courier New" charset="0"/>
                      </a:endParaRPr>
                    </a:p>
                  </a:txBody>
                  <a:tcPr marL="101600" marR="101600" marT="76200" marB="76200" anchor="ctr">
                    <a:lnL w="12700" cap="flat" cmpd="sng" algn="ctr">
                      <a:solidFill>
                        <a:srgbClr val="D9D6E0"/>
                      </a:solidFill>
                      <a:prstDash val="solid"/>
                      <a:round/>
                      <a:headEnd type="none" w="med" len="med"/>
                      <a:tailEnd type="none" w="med" len="med"/>
                    </a:lnL>
                    <a:lnR w="12700" cap="flat" cmpd="sng" algn="ctr">
                      <a:solidFill>
                        <a:srgbClr val="D9D6E0"/>
                      </a:solidFill>
                      <a:prstDash val="solid"/>
                      <a:round/>
                      <a:headEnd type="none" w="med" len="med"/>
                      <a:tailEnd type="none" w="med" len="med"/>
                    </a:lnR>
                    <a:lnT w="12700" cap="flat" cmpd="sng" algn="ctr">
                      <a:solidFill>
                        <a:srgbClr val="D9D6E0"/>
                      </a:solidFill>
                      <a:prstDash val="solid"/>
                      <a:round/>
                      <a:headEnd type="none" w="med" len="med"/>
                      <a:tailEnd type="none" w="med" len="med"/>
                    </a:lnT>
                    <a:lnB w="12700" cap="flat" cmpd="sng" algn="ctr">
                      <a:solidFill>
                        <a:srgbClr val="D9D6E0"/>
                      </a:solidFill>
                      <a:prstDash val="solid"/>
                      <a:round/>
                      <a:headEnd type="none" w="med" len="med"/>
                      <a:tailEnd type="none" w="med" len="med"/>
                    </a:lnB>
                    <a:solidFill>
                      <a:srgbClr val="0F0F11"/>
                    </a:solidFill>
                  </a:tcPr>
                </a:tc>
                <a:tc>
                  <a:txBody>
                    <a:bodyPr/>
                    <a:lstStyle/>
                    <a:p>
                      <a:pPr indent="0" marL="0">
                        <a:buNone/>
                      </a:pPr>
                      <a:r>
                        <a:rPr lang="en-US" sz="900" b="1" spc="110" kern="0" dirty="0">
                          <a:solidFill>
                            <a:srgbClr val="FFFFFF"/>
                          </a:solidFill>
                          <a:latin typeface="Courier New" pitchFamily="34" charset="0"/>
                          <a:ea typeface="Courier New" pitchFamily="34" charset="-122"/>
                          <a:cs typeface="Courier New" pitchFamily="34" charset="-120"/>
                        </a:rPr>
                        <a:t>CEDE</a:t>
                      </a:r>
                      <a:endParaRPr lang="en-US" sz="900" dirty="0">
                        <a:latin typeface="Courier New" charset="0"/>
                        <a:ea typeface="Courier New" charset="0"/>
                        <a:cs typeface="Courier New" charset="0"/>
                      </a:endParaRPr>
                    </a:p>
                  </a:txBody>
                  <a:tcPr marL="101600" marR="101600" marT="76200" marB="76200" anchor="ctr">
                    <a:lnL w="12700" cap="flat" cmpd="sng" algn="ctr">
                      <a:solidFill>
                        <a:srgbClr val="D9D6E0"/>
                      </a:solidFill>
                      <a:prstDash val="solid"/>
                      <a:round/>
                      <a:headEnd type="none" w="med" len="med"/>
                      <a:tailEnd type="none" w="med" len="med"/>
                    </a:lnL>
                    <a:lnR w="12700" cap="flat" cmpd="sng" algn="ctr">
                      <a:solidFill>
                        <a:srgbClr val="D9D6E0"/>
                      </a:solidFill>
                      <a:prstDash val="solid"/>
                      <a:round/>
                      <a:headEnd type="none" w="med" len="med"/>
                      <a:tailEnd type="none" w="med" len="med"/>
                    </a:lnR>
                    <a:lnT w="12700" cap="flat" cmpd="sng" algn="ctr">
                      <a:solidFill>
                        <a:srgbClr val="D9D6E0"/>
                      </a:solidFill>
                      <a:prstDash val="solid"/>
                      <a:round/>
                      <a:headEnd type="none" w="med" len="med"/>
                      <a:tailEnd type="none" w="med" len="med"/>
                    </a:lnT>
                    <a:lnB w="12700" cap="flat" cmpd="sng" algn="ctr">
                      <a:solidFill>
                        <a:srgbClr val="D9D6E0"/>
                      </a:solidFill>
                      <a:prstDash val="solid"/>
                      <a:round/>
                      <a:headEnd type="none" w="med" len="med"/>
                      <a:tailEnd type="none" w="med" len="med"/>
                    </a:lnB>
                    <a:solidFill>
                      <a:srgbClr val="0F0F11"/>
                    </a:solidFill>
                  </a:tcPr>
                </a:tc>
              </a:tr>
              <a:tr h="612648">
                <a:tc>
                  <a:txBody>
                    <a:bodyPr/>
                    <a:lstStyle/>
                    <a:p>
                      <a:pPr indent="0" marL="0">
                        <a:buNone/>
                      </a:pPr>
                      <a:r>
                        <a:rPr lang="en-US" sz="1050" b="1" dirty="0">
                          <a:solidFill>
                            <a:srgbClr val="0F0F11"/>
                          </a:solidFill>
                          <a:latin typeface="Courier New" pitchFamily="34" charset="0"/>
                          <a:ea typeface="Courier New" pitchFamily="34" charset="-122"/>
                          <a:cs typeface="Courier New" pitchFamily="34" charset="-120"/>
                        </a:rPr>
                        <a:t>Bitcoin, Ethereum L1</a:t>
                      </a:r>
                      <a:endParaRPr lang="en-US" sz="1050" dirty="0">
                        <a:latin typeface="Courier New" charset="0"/>
                        <a:ea typeface="Courier New" charset="0"/>
                        <a:cs typeface="Courier New" charset="0"/>
                      </a:endParaRPr>
                    </a:p>
                  </a:txBody>
                  <a:tcPr marL="101600" marR="101600" marT="76200" marB="76200" anchor="t">
                    <a:lnL w="12700" cap="flat" cmpd="sng" algn="ctr">
                      <a:solidFill>
                        <a:srgbClr val="D9D6E0"/>
                      </a:solidFill>
                      <a:prstDash val="solid"/>
                      <a:round/>
                      <a:headEnd type="none" w="med" len="med"/>
                      <a:tailEnd type="none" w="med" len="med"/>
                    </a:lnL>
                    <a:lnR w="12700" cap="flat" cmpd="sng" algn="ctr">
                      <a:solidFill>
                        <a:srgbClr val="D9D6E0"/>
                      </a:solidFill>
                      <a:prstDash val="solid"/>
                      <a:round/>
                      <a:headEnd type="none" w="med" len="med"/>
                      <a:tailEnd type="none" w="med" len="med"/>
                    </a:lnR>
                    <a:lnT w="12700" cap="flat" cmpd="sng" algn="ctr">
                      <a:solidFill>
                        <a:srgbClr val="D9D6E0"/>
                      </a:solidFill>
                      <a:prstDash val="solid"/>
                      <a:round/>
                      <a:headEnd type="none" w="med" len="med"/>
                      <a:tailEnd type="none" w="med" len="med"/>
                    </a:lnT>
                    <a:lnB w="12700" cap="flat" cmpd="sng" algn="ctr">
                      <a:solidFill>
                        <a:srgbClr val="D9D6E0"/>
                      </a:solidFill>
                      <a:prstDash val="solid"/>
                      <a:round/>
                      <a:headEnd type="none" w="med" len="med"/>
                      <a:tailEnd type="none" w="med" len="med"/>
                    </a:lnB>
                    <a:solidFill>
                      <a:srgbClr val="FFFFFF"/>
                    </a:solidFill>
                  </a:tcPr>
                </a:tc>
                <a:tc>
                  <a:txBody>
                    <a:bodyPr/>
                    <a:lstStyle/>
                    <a:p>
                      <a:pPr indent="0" marL="0">
                        <a:buNone/>
                      </a:pPr>
                      <a:r>
                        <a:rPr lang="en-US" sz="1050" dirty="0">
                          <a:solidFill>
                            <a:srgbClr val="3A3844"/>
                          </a:solidFill>
                          <a:latin typeface="Arial" pitchFamily="34" charset="0"/>
                          <a:ea typeface="Arial" pitchFamily="34" charset="-122"/>
                          <a:cs typeface="Arial" pitchFamily="34" charset="-120"/>
                        </a:rPr>
                        <a:t>Descentralización y seguridad</a:t>
                      </a:r>
                      <a:endParaRPr lang="en-US" sz="1050" dirty="0">
                        <a:latin typeface="Arial" charset="0"/>
                        <a:ea typeface="Arial" charset="0"/>
                        <a:cs typeface="Arial" charset="0"/>
                      </a:endParaRPr>
                    </a:p>
                  </a:txBody>
                  <a:tcPr marL="101600" marR="101600" marT="76200" marB="76200" anchor="t">
                    <a:lnL w="12700" cap="flat" cmpd="sng" algn="ctr">
                      <a:solidFill>
                        <a:srgbClr val="D9D6E0"/>
                      </a:solidFill>
                      <a:prstDash val="solid"/>
                      <a:round/>
                      <a:headEnd type="none" w="med" len="med"/>
                      <a:tailEnd type="none" w="med" len="med"/>
                    </a:lnL>
                    <a:lnR w="12700" cap="flat" cmpd="sng" algn="ctr">
                      <a:solidFill>
                        <a:srgbClr val="D9D6E0"/>
                      </a:solidFill>
                      <a:prstDash val="solid"/>
                      <a:round/>
                      <a:headEnd type="none" w="med" len="med"/>
                      <a:tailEnd type="none" w="med" len="med"/>
                    </a:lnR>
                    <a:lnT w="12700" cap="flat" cmpd="sng" algn="ctr">
                      <a:solidFill>
                        <a:srgbClr val="D9D6E0"/>
                      </a:solidFill>
                      <a:prstDash val="solid"/>
                      <a:round/>
                      <a:headEnd type="none" w="med" len="med"/>
                      <a:tailEnd type="none" w="med" len="med"/>
                    </a:lnT>
                    <a:lnB w="12700" cap="flat" cmpd="sng" algn="ctr">
                      <a:solidFill>
                        <a:srgbClr val="D9D6E0"/>
                      </a:solidFill>
                      <a:prstDash val="solid"/>
                      <a:round/>
                      <a:headEnd type="none" w="med" len="med"/>
                      <a:tailEnd type="none" w="med" len="med"/>
                    </a:lnB>
                    <a:solidFill>
                      <a:srgbClr val="FFFFFF"/>
                    </a:solidFill>
                  </a:tcPr>
                </a:tc>
                <a:tc>
                  <a:txBody>
                    <a:bodyPr/>
                    <a:lstStyle/>
                    <a:p>
                      <a:pPr indent="0" marL="0">
                        <a:buNone/>
                      </a:pPr>
                      <a:r>
                        <a:rPr lang="en-US" sz="1050" dirty="0">
                          <a:solidFill>
                            <a:srgbClr val="3A3844"/>
                          </a:solidFill>
                          <a:latin typeface="Arial" pitchFamily="34" charset="0"/>
                          <a:ea typeface="Arial" pitchFamily="34" charset="-122"/>
                          <a:cs typeface="Arial" pitchFamily="34" charset="-120"/>
                        </a:rPr>
                        <a:t>Escala: pocas transacciones por segundo</a:t>
                      </a:r>
                      <a:endParaRPr lang="en-US" sz="1050" dirty="0">
                        <a:latin typeface="Arial" charset="0"/>
                        <a:ea typeface="Arial" charset="0"/>
                        <a:cs typeface="Arial" charset="0"/>
                      </a:endParaRPr>
                    </a:p>
                  </a:txBody>
                  <a:tcPr marL="101600" marR="101600" marT="76200" marB="76200" anchor="t">
                    <a:lnL w="12700" cap="flat" cmpd="sng" algn="ctr">
                      <a:solidFill>
                        <a:srgbClr val="D9D6E0"/>
                      </a:solidFill>
                      <a:prstDash val="solid"/>
                      <a:round/>
                      <a:headEnd type="none" w="med" len="med"/>
                      <a:tailEnd type="none" w="med" len="med"/>
                    </a:lnL>
                    <a:lnR w="12700" cap="flat" cmpd="sng" algn="ctr">
                      <a:solidFill>
                        <a:srgbClr val="D9D6E0"/>
                      </a:solidFill>
                      <a:prstDash val="solid"/>
                      <a:round/>
                      <a:headEnd type="none" w="med" len="med"/>
                      <a:tailEnd type="none" w="med" len="med"/>
                    </a:lnR>
                    <a:lnT w="12700" cap="flat" cmpd="sng" algn="ctr">
                      <a:solidFill>
                        <a:srgbClr val="D9D6E0"/>
                      </a:solidFill>
                      <a:prstDash val="solid"/>
                      <a:round/>
                      <a:headEnd type="none" w="med" len="med"/>
                      <a:tailEnd type="none" w="med" len="med"/>
                    </a:lnT>
                    <a:lnB w="12700" cap="flat" cmpd="sng" algn="ctr">
                      <a:solidFill>
                        <a:srgbClr val="D9D6E0"/>
                      </a:solidFill>
                      <a:prstDash val="solid"/>
                      <a:round/>
                      <a:headEnd type="none" w="med" len="med"/>
                      <a:tailEnd type="none" w="med" len="med"/>
                    </a:lnB>
                    <a:solidFill>
                      <a:srgbClr val="FFFFFF"/>
                    </a:solidFill>
                  </a:tcPr>
                </a:tc>
              </a:tr>
              <a:tr h="612648">
                <a:tc>
                  <a:txBody>
                    <a:bodyPr/>
                    <a:lstStyle/>
                    <a:p>
                      <a:pPr indent="0" marL="0">
                        <a:buNone/>
                      </a:pPr>
                      <a:r>
                        <a:rPr lang="en-US" sz="1050" b="1" dirty="0">
                          <a:solidFill>
                            <a:srgbClr val="0F0F11"/>
                          </a:solidFill>
                          <a:latin typeface="Courier New" pitchFamily="34" charset="0"/>
                          <a:ea typeface="Courier New" pitchFamily="34" charset="-122"/>
                          <a:cs typeface="Courier New" pitchFamily="34" charset="-120"/>
                        </a:rPr>
                        <a:t>Red de pocos validadores</a:t>
                      </a:r>
                      <a:endParaRPr lang="en-US" sz="1050" dirty="0">
                        <a:latin typeface="Courier New" charset="0"/>
                        <a:ea typeface="Courier New" charset="0"/>
                        <a:cs typeface="Courier New" charset="0"/>
                      </a:endParaRPr>
                    </a:p>
                  </a:txBody>
                  <a:tcPr marL="101600" marR="101600" marT="76200" marB="76200" anchor="t">
                    <a:lnL w="12700" cap="flat" cmpd="sng" algn="ctr">
                      <a:solidFill>
                        <a:srgbClr val="D9D6E0"/>
                      </a:solidFill>
                      <a:prstDash val="solid"/>
                      <a:round/>
                      <a:headEnd type="none" w="med" len="med"/>
                      <a:tailEnd type="none" w="med" len="med"/>
                    </a:lnL>
                    <a:lnR w="12700" cap="flat" cmpd="sng" algn="ctr">
                      <a:solidFill>
                        <a:srgbClr val="D9D6E0"/>
                      </a:solidFill>
                      <a:prstDash val="solid"/>
                      <a:round/>
                      <a:headEnd type="none" w="med" len="med"/>
                      <a:tailEnd type="none" w="med" len="med"/>
                    </a:lnR>
                    <a:lnT w="12700" cap="flat" cmpd="sng" algn="ctr">
                      <a:solidFill>
                        <a:srgbClr val="D9D6E0"/>
                      </a:solidFill>
                      <a:prstDash val="solid"/>
                      <a:round/>
                      <a:headEnd type="none" w="med" len="med"/>
                      <a:tailEnd type="none" w="med" len="med"/>
                    </a:lnT>
                    <a:lnB w="12700" cap="flat" cmpd="sng" algn="ctr">
                      <a:solidFill>
                        <a:srgbClr val="D9D6E0"/>
                      </a:solidFill>
                      <a:prstDash val="solid"/>
                      <a:round/>
                      <a:headEnd type="none" w="med" len="med"/>
                      <a:tailEnd type="none" w="med" len="med"/>
                    </a:lnB>
                    <a:solidFill>
                      <a:srgbClr val="FAF9FB"/>
                    </a:solidFill>
                  </a:tcPr>
                </a:tc>
                <a:tc>
                  <a:txBody>
                    <a:bodyPr/>
                    <a:lstStyle/>
                    <a:p>
                      <a:pPr indent="0" marL="0">
                        <a:buNone/>
                      </a:pPr>
                      <a:r>
                        <a:rPr lang="en-US" sz="1050" dirty="0">
                          <a:solidFill>
                            <a:srgbClr val="3A3844"/>
                          </a:solidFill>
                          <a:latin typeface="Arial" pitchFamily="34" charset="0"/>
                          <a:ea typeface="Arial" pitchFamily="34" charset="-122"/>
                          <a:cs typeface="Arial" pitchFamily="34" charset="-120"/>
                        </a:rPr>
                        <a:t>Seguridad y escala</a:t>
                      </a:r>
                      <a:endParaRPr lang="en-US" sz="1050" dirty="0">
                        <a:latin typeface="Arial" charset="0"/>
                        <a:ea typeface="Arial" charset="0"/>
                        <a:cs typeface="Arial" charset="0"/>
                      </a:endParaRPr>
                    </a:p>
                  </a:txBody>
                  <a:tcPr marL="101600" marR="101600" marT="76200" marB="76200" anchor="t">
                    <a:lnL w="12700" cap="flat" cmpd="sng" algn="ctr">
                      <a:solidFill>
                        <a:srgbClr val="D9D6E0"/>
                      </a:solidFill>
                      <a:prstDash val="solid"/>
                      <a:round/>
                      <a:headEnd type="none" w="med" len="med"/>
                      <a:tailEnd type="none" w="med" len="med"/>
                    </a:lnL>
                    <a:lnR w="12700" cap="flat" cmpd="sng" algn="ctr">
                      <a:solidFill>
                        <a:srgbClr val="D9D6E0"/>
                      </a:solidFill>
                      <a:prstDash val="solid"/>
                      <a:round/>
                      <a:headEnd type="none" w="med" len="med"/>
                      <a:tailEnd type="none" w="med" len="med"/>
                    </a:lnR>
                    <a:lnT w="12700" cap="flat" cmpd="sng" algn="ctr">
                      <a:solidFill>
                        <a:srgbClr val="D9D6E0"/>
                      </a:solidFill>
                      <a:prstDash val="solid"/>
                      <a:round/>
                      <a:headEnd type="none" w="med" len="med"/>
                      <a:tailEnd type="none" w="med" len="med"/>
                    </a:lnT>
                    <a:lnB w="12700" cap="flat" cmpd="sng" algn="ctr">
                      <a:solidFill>
                        <a:srgbClr val="D9D6E0"/>
                      </a:solidFill>
                      <a:prstDash val="solid"/>
                      <a:round/>
                      <a:headEnd type="none" w="med" len="med"/>
                      <a:tailEnd type="none" w="med" len="med"/>
                    </a:lnB>
                    <a:solidFill>
                      <a:srgbClr val="FAF9FB"/>
                    </a:solidFill>
                  </a:tcPr>
                </a:tc>
                <a:tc>
                  <a:txBody>
                    <a:bodyPr/>
                    <a:lstStyle/>
                    <a:p>
                      <a:pPr indent="0" marL="0">
                        <a:buNone/>
                      </a:pPr>
                      <a:r>
                        <a:rPr lang="en-US" sz="1050" dirty="0">
                          <a:solidFill>
                            <a:srgbClr val="3A3844"/>
                          </a:solidFill>
                          <a:latin typeface="Arial" pitchFamily="34" charset="0"/>
                          <a:ea typeface="Arial" pitchFamily="34" charset="-122"/>
                          <a:cs typeface="Arial" pitchFamily="34" charset="-120"/>
                        </a:rPr>
                        <a:t>Descentralización</a:t>
                      </a:r>
                      <a:endParaRPr lang="en-US" sz="1050" dirty="0">
                        <a:latin typeface="Arial" charset="0"/>
                        <a:ea typeface="Arial" charset="0"/>
                        <a:cs typeface="Arial" charset="0"/>
                      </a:endParaRPr>
                    </a:p>
                  </a:txBody>
                  <a:tcPr marL="101600" marR="101600" marT="76200" marB="76200" anchor="t">
                    <a:lnL w="12700" cap="flat" cmpd="sng" algn="ctr">
                      <a:solidFill>
                        <a:srgbClr val="D9D6E0"/>
                      </a:solidFill>
                      <a:prstDash val="solid"/>
                      <a:round/>
                      <a:headEnd type="none" w="med" len="med"/>
                      <a:tailEnd type="none" w="med" len="med"/>
                    </a:lnL>
                    <a:lnR w="12700" cap="flat" cmpd="sng" algn="ctr">
                      <a:solidFill>
                        <a:srgbClr val="D9D6E0"/>
                      </a:solidFill>
                      <a:prstDash val="solid"/>
                      <a:round/>
                      <a:headEnd type="none" w="med" len="med"/>
                      <a:tailEnd type="none" w="med" len="med"/>
                    </a:lnR>
                    <a:lnT w="12700" cap="flat" cmpd="sng" algn="ctr">
                      <a:solidFill>
                        <a:srgbClr val="D9D6E0"/>
                      </a:solidFill>
                      <a:prstDash val="solid"/>
                      <a:round/>
                      <a:headEnd type="none" w="med" len="med"/>
                      <a:tailEnd type="none" w="med" len="med"/>
                    </a:lnT>
                    <a:lnB w="12700" cap="flat" cmpd="sng" algn="ctr">
                      <a:solidFill>
                        <a:srgbClr val="D9D6E0"/>
                      </a:solidFill>
                      <a:prstDash val="solid"/>
                      <a:round/>
                      <a:headEnd type="none" w="med" len="med"/>
                      <a:tailEnd type="none" w="med" len="med"/>
                    </a:lnB>
                    <a:solidFill>
                      <a:srgbClr val="FAF9FB"/>
                    </a:solidFill>
                  </a:tcPr>
                </a:tc>
              </a:tr>
              <a:tr h="612648">
                <a:tc>
                  <a:txBody>
                    <a:bodyPr/>
                    <a:lstStyle/>
                    <a:p>
                      <a:pPr indent="0" marL="0">
                        <a:buNone/>
                      </a:pPr>
                      <a:r>
                        <a:rPr lang="en-US" sz="1050" b="1" dirty="0">
                          <a:solidFill>
                            <a:srgbClr val="0F0F11"/>
                          </a:solidFill>
                          <a:latin typeface="Courier New" pitchFamily="34" charset="0"/>
                          <a:ea typeface="Courier New" pitchFamily="34" charset="-122"/>
                          <a:cs typeface="Courier New" pitchFamily="34" charset="-120"/>
                        </a:rPr>
                        <a:t>Red rápida con muchos nodos débiles</a:t>
                      </a:r>
                      <a:endParaRPr lang="en-US" sz="1050" dirty="0">
                        <a:latin typeface="Courier New" charset="0"/>
                        <a:ea typeface="Courier New" charset="0"/>
                        <a:cs typeface="Courier New" charset="0"/>
                      </a:endParaRPr>
                    </a:p>
                  </a:txBody>
                  <a:tcPr marL="101600" marR="101600" marT="76200" marB="76200" anchor="t">
                    <a:lnL w="12700" cap="flat" cmpd="sng" algn="ctr">
                      <a:solidFill>
                        <a:srgbClr val="D9D6E0"/>
                      </a:solidFill>
                      <a:prstDash val="solid"/>
                      <a:round/>
                      <a:headEnd type="none" w="med" len="med"/>
                      <a:tailEnd type="none" w="med" len="med"/>
                    </a:lnL>
                    <a:lnR w="12700" cap="flat" cmpd="sng" algn="ctr">
                      <a:solidFill>
                        <a:srgbClr val="D9D6E0"/>
                      </a:solidFill>
                      <a:prstDash val="solid"/>
                      <a:round/>
                      <a:headEnd type="none" w="med" len="med"/>
                      <a:tailEnd type="none" w="med" len="med"/>
                    </a:lnR>
                    <a:lnT w="12700" cap="flat" cmpd="sng" algn="ctr">
                      <a:solidFill>
                        <a:srgbClr val="D9D6E0"/>
                      </a:solidFill>
                      <a:prstDash val="solid"/>
                      <a:round/>
                      <a:headEnd type="none" w="med" len="med"/>
                      <a:tailEnd type="none" w="med" len="med"/>
                    </a:lnT>
                    <a:lnB w="12700" cap="flat" cmpd="sng" algn="ctr">
                      <a:solidFill>
                        <a:srgbClr val="D9D6E0"/>
                      </a:solidFill>
                      <a:prstDash val="solid"/>
                      <a:round/>
                      <a:headEnd type="none" w="med" len="med"/>
                      <a:tailEnd type="none" w="med" len="med"/>
                    </a:lnB>
                    <a:solidFill>
                      <a:srgbClr val="FFFFFF"/>
                    </a:solidFill>
                  </a:tcPr>
                </a:tc>
                <a:tc>
                  <a:txBody>
                    <a:bodyPr/>
                    <a:lstStyle/>
                    <a:p>
                      <a:pPr indent="0" marL="0">
                        <a:buNone/>
                      </a:pPr>
                      <a:r>
                        <a:rPr lang="en-US" sz="1050" dirty="0">
                          <a:solidFill>
                            <a:srgbClr val="3A3844"/>
                          </a:solidFill>
                          <a:latin typeface="Arial" pitchFamily="34" charset="0"/>
                          <a:ea typeface="Arial" pitchFamily="34" charset="-122"/>
                          <a:cs typeface="Arial" pitchFamily="34" charset="-120"/>
                        </a:rPr>
                        <a:t>Descentralización y escala</a:t>
                      </a:r>
                      <a:endParaRPr lang="en-US" sz="1050" dirty="0">
                        <a:latin typeface="Arial" charset="0"/>
                        <a:ea typeface="Arial" charset="0"/>
                        <a:cs typeface="Arial" charset="0"/>
                      </a:endParaRPr>
                    </a:p>
                  </a:txBody>
                  <a:tcPr marL="101600" marR="101600" marT="76200" marB="76200" anchor="t">
                    <a:lnL w="12700" cap="flat" cmpd="sng" algn="ctr">
                      <a:solidFill>
                        <a:srgbClr val="D9D6E0"/>
                      </a:solidFill>
                      <a:prstDash val="solid"/>
                      <a:round/>
                      <a:headEnd type="none" w="med" len="med"/>
                      <a:tailEnd type="none" w="med" len="med"/>
                    </a:lnL>
                    <a:lnR w="12700" cap="flat" cmpd="sng" algn="ctr">
                      <a:solidFill>
                        <a:srgbClr val="D9D6E0"/>
                      </a:solidFill>
                      <a:prstDash val="solid"/>
                      <a:round/>
                      <a:headEnd type="none" w="med" len="med"/>
                      <a:tailEnd type="none" w="med" len="med"/>
                    </a:lnR>
                    <a:lnT w="12700" cap="flat" cmpd="sng" algn="ctr">
                      <a:solidFill>
                        <a:srgbClr val="D9D6E0"/>
                      </a:solidFill>
                      <a:prstDash val="solid"/>
                      <a:round/>
                      <a:headEnd type="none" w="med" len="med"/>
                      <a:tailEnd type="none" w="med" len="med"/>
                    </a:lnT>
                    <a:lnB w="12700" cap="flat" cmpd="sng" algn="ctr">
                      <a:solidFill>
                        <a:srgbClr val="D9D6E0"/>
                      </a:solidFill>
                      <a:prstDash val="solid"/>
                      <a:round/>
                      <a:headEnd type="none" w="med" len="med"/>
                      <a:tailEnd type="none" w="med" len="med"/>
                    </a:lnB>
                    <a:solidFill>
                      <a:srgbClr val="FFFFFF"/>
                    </a:solidFill>
                  </a:tcPr>
                </a:tc>
                <a:tc>
                  <a:txBody>
                    <a:bodyPr/>
                    <a:lstStyle/>
                    <a:p>
                      <a:pPr indent="0" marL="0">
                        <a:buNone/>
                      </a:pPr>
                      <a:r>
                        <a:rPr lang="en-US" sz="1050" dirty="0">
                          <a:solidFill>
                            <a:srgbClr val="3A3844"/>
                          </a:solidFill>
                          <a:latin typeface="Arial" pitchFamily="34" charset="0"/>
                          <a:ea typeface="Arial" pitchFamily="34" charset="-122"/>
                          <a:cs typeface="Arial" pitchFamily="34" charset="-120"/>
                        </a:rPr>
                        <a:t>Seguridad</a:t>
                      </a:r>
                      <a:endParaRPr lang="en-US" sz="1050" dirty="0">
                        <a:latin typeface="Arial" charset="0"/>
                        <a:ea typeface="Arial" charset="0"/>
                        <a:cs typeface="Arial" charset="0"/>
                      </a:endParaRPr>
                    </a:p>
                  </a:txBody>
                  <a:tcPr marL="101600" marR="101600" marT="76200" marB="76200" anchor="t">
                    <a:lnL w="12700" cap="flat" cmpd="sng" algn="ctr">
                      <a:solidFill>
                        <a:srgbClr val="D9D6E0"/>
                      </a:solidFill>
                      <a:prstDash val="solid"/>
                      <a:round/>
                      <a:headEnd type="none" w="med" len="med"/>
                      <a:tailEnd type="none" w="med" len="med"/>
                    </a:lnL>
                    <a:lnR w="12700" cap="flat" cmpd="sng" algn="ctr">
                      <a:solidFill>
                        <a:srgbClr val="D9D6E0"/>
                      </a:solidFill>
                      <a:prstDash val="solid"/>
                      <a:round/>
                      <a:headEnd type="none" w="med" len="med"/>
                      <a:tailEnd type="none" w="med" len="med"/>
                    </a:lnR>
                    <a:lnT w="12700" cap="flat" cmpd="sng" algn="ctr">
                      <a:solidFill>
                        <a:srgbClr val="D9D6E0"/>
                      </a:solidFill>
                      <a:prstDash val="solid"/>
                      <a:round/>
                      <a:headEnd type="none" w="med" len="med"/>
                      <a:tailEnd type="none" w="med" len="med"/>
                    </a:lnT>
                    <a:lnB w="12700" cap="flat" cmpd="sng" algn="ctr">
                      <a:solidFill>
                        <a:srgbClr val="D9D6E0"/>
                      </a:solidFill>
                      <a:prstDash val="solid"/>
                      <a:round/>
                      <a:headEnd type="none" w="med" len="med"/>
                      <a:tailEnd type="none" w="med" len="med"/>
                    </a:lnB>
                    <a:solidFill>
                      <a:srgbClr val="FFFFFF"/>
                    </a:solidFill>
                  </a:tcPr>
                </a:tc>
              </a:tr>
            </a:tbl>
          </a:graphicData>
        </a:graphic>
      </p:graphicFrame>
      <p:sp>
        <p:nvSpPr>
          <p:cNvPr id="19" name="Shape 15"/>
          <p:cNvSpPr/>
          <p:nvPr/>
        </p:nvSpPr>
        <p:spPr>
          <a:xfrm>
            <a:off x="6400800" y="2679192"/>
            <a:ext cx="5242255" cy="2185416"/>
          </a:xfrm>
          <a:prstGeom prst="rect">
            <a:avLst/>
          </a:prstGeom>
          <a:ln w="22225">
            <a:solidFill>
              <a:srgbClr val="0F0F11"/>
            </a:solidFill>
            <a:prstDash val="solid"/>
          </a:ln>
        </p:spPr>
      </p:sp>
      <p:sp>
        <p:nvSpPr>
          <p:cNvPr id="20" name="Text 16"/>
          <p:cNvSpPr/>
          <p:nvPr/>
        </p:nvSpPr>
        <p:spPr>
          <a:xfrm>
            <a:off x="6419088" y="5029200"/>
            <a:ext cx="5205679" cy="1097280"/>
          </a:xfrm>
          <a:prstGeom prst="rect">
            <a:avLst/>
          </a:prstGeom>
          <a:noFill/>
          <a:ln/>
        </p:spPr>
        <p:txBody>
          <a:bodyPr wrap="square" lIns="0" tIns="0" rIns="0" bIns="0" rtlCol="0" anchor="t"/>
          <a:lstStyle/>
          <a:p>
            <a:pPr indent="0" marL="0">
              <a:lnSpc>
                <a:spcPct val="124000"/>
              </a:lnSpc>
              <a:buNone/>
            </a:pPr>
            <a:r>
              <a:rPr lang="en-US" sz="1250" dirty="0">
                <a:solidFill>
                  <a:srgbClr val="A35604"/>
                </a:solidFill>
                <a:latin typeface="Arial" pitchFamily="34" charset="0"/>
                <a:ea typeface="Arial" pitchFamily="34" charset="-122"/>
                <a:cs typeface="Arial" pitchFamily="34" charset="-120"/>
              </a:rPr>
              <a:t>Por qué es tan difícil: más transacciones por bloque exigen nodos más potentes, y nodos más caros significan menos personas capaces de verificar. La escala se paga en descentralización.</a:t>
            </a:r>
            <a:endParaRPr lang="en-US" sz="1250" dirty="0"/>
          </a:p>
        </p:txBody>
      </p:sp>
    </p:spTree>
  </p:cSld>
  <p:clrMapOvr>
    <a:masterClrMapping/>
  </p:clrMapOvr>
</p:sld>
</file>

<file path=ppt/slides/slide31.xml><?xml version="1.0" encoding="utf-8"?>
<p:sld xmlns:a="http://schemas.openxmlformats.org/drawingml/2006/main" xmlns:r="http://schemas.openxmlformats.org/officeDocument/2006/relationships" xmlns:p="http://schemas.openxmlformats.org/presentationml/2006/main">
  <p:cSld name="Slide 31">
    <p:bg>
      <p:bgPr>
        <a:solidFill>
          <a:srgbClr val="FFFFFF"/>
        </a:solidFill>
      </p:bgPr>
    </p:bg>
    <p:spTree>
      <p:nvGrpSpPr>
        <p:cNvPr id="1" name=""/>
        <p:cNvGrpSpPr/>
        <p:nvPr/>
      </p:nvGrpSpPr>
      <p:grpSpPr>
        <a:xfrm>
          <a:off x="0" y="0"/>
          <a:ext cx="0" cy="0"/>
          <a:chOff x="0" y="0"/>
          <a:chExt cx="0" cy="0"/>
        </a:xfrm>
      </p:grpSpPr>
      <p:pic>
        <p:nvPicPr>
          <p:cNvPr id="2" name="Image 0" descr="preencoded.png">    </p:cNvPr>
          <p:cNvPicPr>
            <a:picLocks noChangeAspect="1"/>
          </p:cNvPicPr>
          <p:nvPr/>
        </p:nvPicPr>
        <p:blipFill>
          <a:blip r:embed="rId1"/>
          <a:stretch>
            <a:fillRect/>
          </a:stretch>
        </p:blipFill>
        <p:spPr>
          <a:xfrm>
            <a:off x="566928" y="402336"/>
            <a:ext cx="274320" cy="274320"/>
          </a:xfrm>
          <a:prstGeom prst="rect">
            <a:avLst/>
          </a:prstGeom>
        </p:spPr>
      </p:pic>
      <p:sp>
        <p:nvSpPr>
          <p:cNvPr id="3" name="Text 0"/>
          <p:cNvSpPr/>
          <p:nvPr/>
        </p:nvSpPr>
        <p:spPr>
          <a:xfrm>
            <a:off x="969264" y="384048"/>
            <a:ext cx="10655503" cy="310896"/>
          </a:xfrm>
          <a:prstGeom prst="rect">
            <a:avLst/>
          </a:prstGeom>
          <a:noFill/>
          <a:ln/>
        </p:spPr>
        <p:txBody>
          <a:bodyPr wrap="square" lIns="0" tIns="0" rIns="0" bIns="0" rtlCol="0" anchor="ctr"/>
          <a:lstStyle/>
          <a:p>
            <a:pPr indent="0" marL="0">
              <a:buNone/>
            </a:pPr>
            <a:r>
              <a:rPr lang="en-US" sz="950" spc="160" kern="0" dirty="0">
                <a:solidFill>
                  <a:srgbClr val="6F6B80"/>
                </a:solidFill>
                <a:latin typeface="Courier New" pitchFamily="34" charset="0"/>
                <a:ea typeface="Courier New" pitchFamily="34" charset="-122"/>
                <a:cs typeface="Courier New" pitchFamily="34" charset="-120"/>
              </a:rPr>
              <a:t>A.22 · DE LA TEORÍA A LA DECISIÓN</a:t>
            </a:r>
            <a:endParaRPr lang="en-US" sz="950" dirty="0"/>
          </a:p>
        </p:txBody>
      </p:sp>
      <p:sp>
        <p:nvSpPr>
          <p:cNvPr id="4" name="Text 1"/>
          <p:cNvSpPr/>
          <p:nvPr/>
        </p:nvSpPr>
        <p:spPr>
          <a:xfrm>
            <a:off x="566928" y="777240"/>
            <a:ext cx="11057839" cy="777240"/>
          </a:xfrm>
          <a:prstGeom prst="rect">
            <a:avLst/>
          </a:prstGeom>
          <a:noFill/>
          <a:ln/>
        </p:spPr>
        <p:txBody>
          <a:bodyPr wrap="square" lIns="0" tIns="0" rIns="0" bIns="0" rtlCol="0" anchor="t"/>
          <a:lstStyle/>
          <a:p>
            <a:pPr indent="0" marL="0">
              <a:lnSpc>
                <a:spcPct val="92000"/>
              </a:lnSpc>
              <a:buNone/>
            </a:pPr>
            <a:r>
              <a:rPr lang="en-US" sz="2700" dirty="0">
                <a:solidFill>
                  <a:srgbClr val="0F0F11"/>
                </a:solidFill>
                <a:latin typeface="Arial Black" pitchFamily="34" charset="0"/>
                <a:ea typeface="Arial Black" pitchFamily="34" charset="-122"/>
                <a:cs typeface="Arial Black" pitchFamily="34" charset="-120"/>
              </a:rPr>
              <a:t>CÓMO ELEGIR EL CONSENSO PARA UN PROBLEMA</a:t>
            </a:r>
            <a:endParaRPr lang="en-US" sz="2700" dirty="0"/>
          </a:p>
        </p:txBody>
      </p:sp>
      <p:sp>
        <p:nvSpPr>
          <p:cNvPr id="5" name="Text 2"/>
          <p:cNvSpPr/>
          <p:nvPr/>
        </p:nvSpPr>
        <p:spPr>
          <a:xfrm>
            <a:off x="566928" y="6291072"/>
            <a:ext cx="8412480" cy="274320"/>
          </a:xfrm>
          <a:prstGeom prst="rect">
            <a:avLst/>
          </a:prstGeom>
          <a:noFill/>
          <a:ln/>
        </p:spPr>
        <p:txBody>
          <a:bodyPr wrap="square" lIns="0" tIns="0" rIns="0" bIns="0" rtlCol="0" anchor="ctr"/>
          <a:lstStyle/>
          <a:p>
            <a:pPr indent="0" marL="0">
              <a:buNone/>
            </a:pPr>
            <a:r>
              <a:rPr lang="en-US" sz="800" spc="120" kern="0" dirty="0">
                <a:solidFill>
                  <a:srgbClr val="6F6B80"/>
                </a:solidFill>
                <a:latin typeface="Courier New" pitchFamily="34" charset="0"/>
                <a:ea typeface="Courier New" pitchFamily="34" charset="-122"/>
                <a:cs typeface="Courier New" pitchFamily="34" charset="-120"/>
              </a:rPr>
              <a:t>SESIÓN 04 · CONSENSO, INCENTIVOS Y EL TRILEMA</a:t>
            </a:r>
            <a:endParaRPr lang="en-US" sz="800" dirty="0"/>
          </a:p>
        </p:txBody>
      </p:sp>
      <p:sp>
        <p:nvSpPr>
          <p:cNvPr id="6" name="Text 3"/>
          <p:cNvSpPr/>
          <p:nvPr/>
        </p:nvSpPr>
        <p:spPr>
          <a:xfrm>
            <a:off x="9052560" y="6291072"/>
            <a:ext cx="1828800" cy="274320"/>
          </a:xfrm>
          <a:prstGeom prst="rect">
            <a:avLst/>
          </a:prstGeom>
          <a:noFill/>
          <a:ln/>
        </p:spPr>
        <p:txBody>
          <a:bodyPr wrap="square" lIns="0" tIns="0" rIns="0" bIns="0" rtlCol="0" anchor="ctr"/>
          <a:lstStyle/>
          <a:p>
            <a:pPr algn="r" indent="0" marL="0">
              <a:buNone/>
            </a:pPr>
            <a:r>
              <a:rPr lang="en-US" sz="800" spc="120" kern="0" dirty="0">
                <a:solidFill>
                  <a:srgbClr val="6F6B80"/>
                </a:solidFill>
                <a:latin typeface="Courier New" pitchFamily="34" charset="0"/>
                <a:ea typeface="Courier New" pitchFamily="34" charset="-122"/>
                <a:cs typeface="Courier New" pitchFamily="34" charset="-120"/>
              </a:rPr>
              <a:t>USB MEDELLÍN</a:t>
            </a:r>
            <a:endParaRPr lang="en-US" sz="800" dirty="0"/>
          </a:p>
        </p:txBody>
      </p:sp>
      <p:sp>
        <p:nvSpPr>
          <p:cNvPr id="7" name="Text 4"/>
          <p:cNvSpPr/>
          <p:nvPr/>
        </p:nvSpPr>
        <p:spPr>
          <a:xfrm>
            <a:off x="11018520" y="6291072"/>
            <a:ext cx="603504" cy="274320"/>
          </a:xfrm>
          <a:prstGeom prst="rect">
            <a:avLst/>
          </a:prstGeom>
          <a:noFill/>
          <a:ln/>
        </p:spPr>
        <p:txBody>
          <a:bodyPr wrap="square" lIns="0" tIns="0" rIns="0" bIns="0" rtlCol="0" anchor="ctr"/>
          <a:lstStyle/>
          <a:p>
            <a:pPr algn="r" indent="0" marL="0">
              <a:buNone/>
            </a:pPr>
            <a:r>
              <a:rPr lang="en-US" sz="900" b="1" dirty="0">
                <a:solidFill>
                  <a:srgbClr val="0F0F11"/>
                </a:solidFill>
                <a:latin typeface="Courier New" pitchFamily="34" charset="0"/>
                <a:ea typeface="Courier New" pitchFamily="34" charset="-122"/>
                <a:cs typeface="Courier New" pitchFamily="34" charset="-120"/>
              </a:rPr>
              <a:t>31</a:t>
            </a:r>
            <a:endParaRPr lang="en-US" sz="900" dirty="0"/>
          </a:p>
        </p:txBody>
      </p:sp>
      <p:sp>
        <p:nvSpPr>
          <p:cNvPr id="8" name="Shape 5"/>
          <p:cNvSpPr/>
          <p:nvPr/>
        </p:nvSpPr>
        <p:spPr>
          <a:xfrm>
            <a:off x="566928" y="1737360"/>
            <a:ext cx="11057839" cy="768096"/>
          </a:xfrm>
          <a:prstGeom prst="rect">
            <a:avLst/>
          </a:prstGeom>
          <a:solidFill>
            <a:srgbClr val="FFFFFF"/>
          </a:solidFill>
          <a:ln w="15875">
            <a:solidFill>
              <a:srgbClr val="D9D6E0"/>
            </a:solidFill>
            <a:prstDash val="solid"/>
          </a:ln>
        </p:spPr>
      </p:sp>
      <p:sp>
        <p:nvSpPr>
          <p:cNvPr id="9" name="Text 6"/>
          <p:cNvSpPr/>
          <p:nvPr/>
        </p:nvSpPr>
        <p:spPr>
          <a:xfrm>
            <a:off x="694944" y="1737360"/>
            <a:ext cx="548640" cy="768096"/>
          </a:xfrm>
          <a:prstGeom prst="rect">
            <a:avLst/>
          </a:prstGeom>
          <a:noFill/>
          <a:ln/>
        </p:spPr>
        <p:txBody>
          <a:bodyPr wrap="square" lIns="0" tIns="0" rIns="0" bIns="0" rtlCol="0" anchor="ctr"/>
          <a:lstStyle/>
          <a:p>
            <a:pPr indent="0" marL="0">
              <a:buNone/>
            </a:pPr>
            <a:r>
              <a:rPr lang="en-US" sz="1600" dirty="0">
                <a:solidFill>
                  <a:srgbClr val="F07F06"/>
                </a:solidFill>
                <a:latin typeface="Arial Black" pitchFamily="34" charset="0"/>
                <a:ea typeface="Arial Black" pitchFamily="34" charset="-122"/>
                <a:cs typeface="Arial Black" pitchFamily="34" charset="-120"/>
              </a:rPr>
              <a:t>01</a:t>
            </a:r>
            <a:endParaRPr lang="en-US" sz="1600" dirty="0"/>
          </a:p>
        </p:txBody>
      </p:sp>
      <p:sp>
        <p:nvSpPr>
          <p:cNvPr id="10" name="Text 7"/>
          <p:cNvSpPr/>
          <p:nvPr/>
        </p:nvSpPr>
        <p:spPr>
          <a:xfrm>
            <a:off x="1280160" y="1975104"/>
            <a:ext cx="2926080" cy="292608"/>
          </a:xfrm>
          <a:prstGeom prst="rect">
            <a:avLst/>
          </a:prstGeom>
          <a:noFill/>
          <a:ln/>
        </p:spPr>
        <p:txBody>
          <a:bodyPr wrap="square" lIns="0" tIns="0" rIns="0" bIns="0" rtlCol="0" anchor="ctr"/>
          <a:lstStyle/>
          <a:p>
            <a:pPr indent="0" marL="0">
              <a:buNone/>
            </a:pPr>
            <a:r>
              <a:rPr lang="en-US" sz="1000" b="1" spc="100" kern="0" dirty="0">
                <a:solidFill>
                  <a:srgbClr val="0F0F11"/>
                </a:solidFill>
                <a:latin typeface="Courier New" pitchFamily="34" charset="0"/>
                <a:ea typeface="Courier New" pitchFamily="34" charset="-122"/>
                <a:cs typeface="Courier New" pitchFamily="34" charset="-120"/>
              </a:rPr>
              <a:t>¿QUIÉN PUEDE PARTICIPAR?</a:t>
            </a:r>
            <a:endParaRPr lang="en-US" sz="1000" dirty="0"/>
          </a:p>
        </p:txBody>
      </p:sp>
      <p:sp>
        <p:nvSpPr>
          <p:cNvPr id="11" name="Text 8"/>
          <p:cNvSpPr/>
          <p:nvPr/>
        </p:nvSpPr>
        <p:spPr>
          <a:xfrm>
            <a:off x="4480560" y="1828800"/>
            <a:ext cx="7034479" cy="621792"/>
          </a:xfrm>
          <a:prstGeom prst="rect">
            <a:avLst/>
          </a:prstGeom>
          <a:noFill/>
          <a:ln/>
        </p:spPr>
        <p:txBody>
          <a:bodyPr wrap="square" lIns="0" tIns="0" rIns="0" bIns="0" rtlCol="0" anchor="ctr"/>
          <a:lstStyle/>
          <a:p>
            <a:pPr indent="0" marL="0">
              <a:lnSpc>
                <a:spcPct val="115000"/>
              </a:lnSpc>
              <a:buNone/>
            </a:pPr>
            <a:r>
              <a:rPr lang="en-US" sz="1200" dirty="0">
                <a:solidFill>
                  <a:srgbClr val="3A3844"/>
                </a:solidFill>
                <a:latin typeface="Arial" pitchFamily="34" charset="0"/>
                <a:ea typeface="Arial" pitchFamily="34" charset="-122"/>
                <a:cs typeface="Arial" pitchFamily="34" charset="-120"/>
              </a:rPr>
              <a:t>Cualquiera sin permiso → red pública (PoW o PoS). Un grupo conocido → permisionada (PoA, PBFT).</a:t>
            </a:r>
            <a:endParaRPr lang="en-US" sz="1200" dirty="0"/>
          </a:p>
        </p:txBody>
      </p:sp>
      <p:sp>
        <p:nvSpPr>
          <p:cNvPr id="12" name="Shape 9"/>
          <p:cNvSpPr/>
          <p:nvPr/>
        </p:nvSpPr>
        <p:spPr>
          <a:xfrm>
            <a:off x="566928" y="2615184"/>
            <a:ext cx="11057839" cy="768096"/>
          </a:xfrm>
          <a:prstGeom prst="rect">
            <a:avLst/>
          </a:prstGeom>
          <a:solidFill>
            <a:srgbClr val="FAF9FB"/>
          </a:solidFill>
          <a:ln w="15875">
            <a:solidFill>
              <a:srgbClr val="D9D6E0"/>
            </a:solidFill>
            <a:prstDash val="solid"/>
          </a:ln>
        </p:spPr>
      </p:sp>
      <p:sp>
        <p:nvSpPr>
          <p:cNvPr id="13" name="Text 10"/>
          <p:cNvSpPr/>
          <p:nvPr/>
        </p:nvSpPr>
        <p:spPr>
          <a:xfrm>
            <a:off x="694944" y="2615184"/>
            <a:ext cx="548640" cy="768096"/>
          </a:xfrm>
          <a:prstGeom prst="rect">
            <a:avLst/>
          </a:prstGeom>
          <a:noFill/>
          <a:ln/>
        </p:spPr>
        <p:txBody>
          <a:bodyPr wrap="square" lIns="0" tIns="0" rIns="0" bIns="0" rtlCol="0" anchor="ctr"/>
          <a:lstStyle/>
          <a:p>
            <a:pPr indent="0" marL="0">
              <a:buNone/>
            </a:pPr>
            <a:r>
              <a:rPr lang="en-US" sz="1600" dirty="0">
                <a:solidFill>
                  <a:srgbClr val="F07F06"/>
                </a:solidFill>
                <a:latin typeface="Arial Black" pitchFamily="34" charset="0"/>
                <a:ea typeface="Arial Black" pitchFamily="34" charset="-122"/>
                <a:cs typeface="Arial Black" pitchFamily="34" charset="-120"/>
              </a:rPr>
              <a:t>02</a:t>
            </a:r>
            <a:endParaRPr lang="en-US" sz="1600" dirty="0"/>
          </a:p>
        </p:txBody>
      </p:sp>
      <p:sp>
        <p:nvSpPr>
          <p:cNvPr id="14" name="Text 11"/>
          <p:cNvSpPr/>
          <p:nvPr/>
        </p:nvSpPr>
        <p:spPr>
          <a:xfrm>
            <a:off x="1280160" y="2852928"/>
            <a:ext cx="2926080" cy="292608"/>
          </a:xfrm>
          <a:prstGeom prst="rect">
            <a:avLst/>
          </a:prstGeom>
          <a:noFill/>
          <a:ln/>
        </p:spPr>
        <p:txBody>
          <a:bodyPr wrap="square" lIns="0" tIns="0" rIns="0" bIns="0" rtlCol="0" anchor="ctr"/>
          <a:lstStyle/>
          <a:p>
            <a:pPr indent="0" marL="0">
              <a:buNone/>
            </a:pPr>
            <a:r>
              <a:rPr lang="en-US" sz="1000" b="1" spc="100" kern="0" dirty="0">
                <a:solidFill>
                  <a:srgbClr val="0F0F11"/>
                </a:solidFill>
                <a:latin typeface="Courier New" pitchFamily="34" charset="0"/>
                <a:ea typeface="Courier New" pitchFamily="34" charset="-122"/>
                <a:cs typeface="Courier New" pitchFamily="34" charset="-120"/>
              </a:rPr>
              <a:t>¿CUÁNTOS SON?</a:t>
            </a:r>
            <a:endParaRPr lang="en-US" sz="1000" dirty="0"/>
          </a:p>
        </p:txBody>
      </p:sp>
      <p:sp>
        <p:nvSpPr>
          <p:cNvPr id="15" name="Text 12"/>
          <p:cNvSpPr/>
          <p:nvPr/>
        </p:nvSpPr>
        <p:spPr>
          <a:xfrm>
            <a:off x="4480560" y="2706624"/>
            <a:ext cx="7034479" cy="621792"/>
          </a:xfrm>
          <a:prstGeom prst="rect">
            <a:avLst/>
          </a:prstGeom>
          <a:noFill/>
          <a:ln/>
        </p:spPr>
        <p:txBody>
          <a:bodyPr wrap="square" lIns="0" tIns="0" rIns="0" bIns="0" rtlCol="0" anchor="ctr"/>
          <a:lstStyle/>
          <a:p>
            <a:pPr indent="0" marL="0">
              <a:lnSpc>
                <a:spcPct val="115000"/>
              </a:lnSpc>
              <a:buNone/>
            </a:pPr>
            <a:r>
              <a:rPr lang="en-US" sz="1200" dirty="0">
                <a:solidFill>
                  <a:srgbClr val="3A3844"/>
                </a:solidFill>
                <a:latin typeface="Arial" pitchFamily="34" charset="0"/>
                <a:ea typeface="Arial" pitchFamily="34" charset="-122"/>
                <a:cs typeface="Arial" pitchFamily="34" charset="-120"/>
              </a:rPr>
              <a:t>Decenas → votación clásica funciona. Miles o más → hace falta un mecanismo resistente a Sybil.</a:t>
            </a:r>
            <a:endParaRPr lang="en-US" sz="1200" dirty="0"/>
          </a:p>
        </p:txBody>
      </p:sp>
      <p:sp>
        <p:nvSpPr>
          <p:cNvPr id="16" name="Shape 13"/>
          <p:cNvSpPr/>
          <p:nvPr/>
        </p:nvSpPr>
        <p:spPr>
          <a:xfrm>
            <a:off x="566928" y="3493008"/>
            <a:ext cx="11057839" cy="768096"/>
          </a:xfrm>
          <a:prstGeom prst="rect">
            <a:avLst/>
          </a:prstGeom>
          <a:solidFill>
            <a:srgbClr val="FFFFFF"/>
          </a:solidFill>
          <a:ln w="15875">
            <a:solidFill>
              <a:srgbClr val="D9D6E0"/>
            </a:solidFill>
            <a:prstDash val="solid"/>
          </a:ln>
        </p:spPr>
      </p:sp>
      <p:sp>
        <p:nvSpPr>
          <p:cNvPr id="17" name="Text 14"/>
          <p:cNvSpPr/>
          <p:nvPr/>
        </p:nvSpPr>
        <p:spPr>
          <a:xfrm>
            <a:off x="694944" y="3493008"/>
            <a:ext cx="548640" cy="768096"/>
          </a:xfrm>
          <a:prstGeom prst="rect">
            <a:avLst/>
          </a:prstGeom>
          <a:noFill/>
          <a:ln/>
        </p:spPr>
        <p:txBody>
          <a:bodyPr wrap="square" lIns="0" tIns="0" rIns="0" bIns="0" rtlCol="0" anchor="ctr"/>
          <a:lstStyle/>
          <a:p>
            <a:pPr indent="0" marL="0">
              <a:buNone/>
            </a:pPr>
            <a:r>
              <a:rPr lang="en-US" sz="1600" dirty="0">
                <a:solidFill>
                  <a:srgbClr val="F07F06"/>
                </a:solidFill>
                <a:latin typeface="Arial Black" pitchFamily="34" charset="0"/>
                <a:ea typeface="Arial Black" pitchFamily="34" charset="-122"/>
                <a:cs typeface="Arial Black" pitchFamily="34" charset="-120"/>
              </a:rPr>
              <a:t>03</a:t>
            </a:r>
            <a:endParaRPr lang="en-US" sz="1600" dirty="0"/>
          </a:p>
        </p:txBody>
      </p:sp>
      <p:sp>
        <p:nvSpPr>
          <p:cNvPr id="18" name="Text 15"/>
          <p:cNvSpPr/>
          <p:nvPr/>
        </p:nvSpPr>
        <p:spPr>
          <a:xfrm>
            <a:off x="1280160" y="3730752"/>
            <a:ext cx="2926080" cy="292608"/>
          </a:xfrm>
          <a:prstGeom prst="rect">
            <a:avLst/>
          </a:prstGeom>
          <a:noFill/>
          <a:ln/>
        </p:spPr>
        <p:txBody>
          <a:bodyPr wrap="square" lIns="0" tIns="0" rIns="0" bIns="0" rtlCol="0" anchor="ctr"/>
          <a:lstStyle/>
          <a:p>
            <a:pPr indent="0" marL="0">
              <a:buNone/>
            </a:pPr>
            <a:r>
              <a:rPr lang="en-US" sz="1000" b="1" spc="100" kern="0" dirty="0">
                <a:solidFill>
                  <a:srgbClr val="0F0F11"/>
                </a:solidFill>
                <a:latin typeface="Courier New" pitchFamily="34" charset="0"/>
                <a:ea typeface="Courier New" pitchFamily="34" charset="-122"/>
                <a:cs typeface="Courier New" pitchFamily="34" charset="-120"/>
              </a:rPr>
              <a:t>¿QUÉ FINALIDAD NECESITO?</a:t>
            </a:r>
            <a:endParaRPr lang="en-US" sz="1000" dirty="0"/>
          </a:p>
        </p:txBody>
      </p:sp>
      <p:sp>
        <p:nvSpPr>
          <p:cNvPr id="19" name="Text 16"/>
          <p:cNvSpPr/>
          <p:nvPr/>
        </p:nvSpPr>
        <p:spPr>
          <a:xfrm>
            <a:off x="4480560" y="3584448"/>
            <a:ext cx="7034479" cy="621792"/>
          </a:xfrm>
          <a:prstGeom prst="rect">
            <a:avLst/>
          </a:prstGeom>
          <a:noFill/>
          <a:ln/>
        </p:spPr>
        <p:txBody>
          <a:bodyPr wrap="square" lIns="0" tIns="0" rIns="0" bIns="0" rtlCol="0" anchor="ctr"/>
          <a:lstStyle/>
          <a:p>
            <a:pPr indent="0" marL="0">
              <a:lnSpc>
                <a:spcPct val="115000"/>
              </a:lnSpc>
              <a:buNone/>
            </a:pPr>
            <a:r>
              <a:rPr lang="en-US" sz="1200" dirty="0">
                <a:solidFill>
                  <a:srgbClr val="3A3844"/>
                </a:solidFill>
                <a:latin typeface="Arial" pitchFamily="34" charset="0"/>
                <a:ea typeface="Arial" pitchFamily="34" charset="-122"/>
                <a:cs typeface="Arial" pitchFamily="34" charset="-120"/>
              </a:rPr>
              <a:t>Pagos grandes o entrega inmediata → determinista o económica. Registro sin urgencia → probabilística basta.</a:t>
            </a:r>
            <a:endParaRPr lang="en-US" sz="1200" dirty="0"/>
          </a:p>
        </p:txBody>
      </p:sp>
      <p:sp>
        <p:nvSpPr>
          <p:cNvPr id="20" name="Shape 17"/>
          <p:cNvSpPr/>
          <p:nvPr/>
        </p:nvSpPr>
        <p:spPr>
          <a:xfrm>
            <a:off x="566928" y="4370832"/>
            <a:ext cx="11057839" cy="768096"/>
          </a:xfrm>
          <a:prstGeom prst="rect">
            <a:avLst/>
          </a:prstGeom>
          <a:solidFill>
            <a:srgbClr val="FAF9FB"/>
          </a:solidFill>
          <a:ln w="15875">
            <a:solidFill>
              <a:srgbClr val="D9D6E0"/>
            </a:solidFill>
            <a:prstDash val="solid"/>
          </a:ln>
        </p:spPr>
      </p:sp>
      <p:sp>
        <p:nvSpPr>
          <p:cNvPr id="21" name="Text 18"/>
          <p:cNvSpPr/>
          <p:nvPr/>
        </p:nvSpPr>
        <p:spPr>
          <a:xfrm>
            <a:off x="694944" y="4370832"/>
            <a:ext cx="548640" cy="768096"/>
          </a:xfrm>
          <a:prstGeom prst="rect">
            <a:avLst/>
          </a:prstGeom>
          <a:noFill/>
          <a:ln/>
        </p:spPr>
        <p:txBody>
          <a:bodyPr wrap="square" lIns="0" tIns="0" rIns="0" bIns="0" rtlCol="0" anchor="ctr"/>
          <a:lstStyle/>
          <a:p>
            <a:pPr indent="0" marL="0">
              <a:buNone/>
            </a:pPr>
            <a:r>
              <a:rPr lang="en-US" sz="1600" dirty="0">
                <a:solidFill>
                  <a:srgbClr val="F07F06"/>
                </a:solidFill>
                <a:latin typeface="Arial Black" pitchFamily="34" charset="0"/>
                <a:ea typeface="Arial Black" pitchFamily="34" charset="-122"/>
                <a:cs typeface="Arial Black" pitchFamily="34" charset="-120"/>
              </a:rPr>
              <a:t>04</a:t>
            </a:r>
            <a:endParaRPr lang="en-US" sz="1600" dirty="0"/>
          </a:p>
        </p:txBody>
      </p:sp>
      <p:sp>
        <p:nvSpPr>
          <p:cNvPr id="22" name="Text 19"/>
          <p:cNvSpPr/>
          <p:nvPr/>
        </p:nvSpPr>
        <p:spPr>
          <a:xfrm>
            <a:off x="1280160" y="4608576"/>
            <a:ext cx="2926080" cy="292608"/>
          </a:xfrm>
          <a:prstGeom prst="rect">
            <a:avLst/>
          </a:prstGeom>
          <a:noFill/>
          <a:ln/>
        </p:spPr>
        <p:txBody>
          <a:bodyPr wrap="square" lIns="0" tIns="0" rIns="0" bIns="0" rtlCol="0" anchor="ctr"/>
          <a:lstStyle/>
          <a:p>
            <a:pPr indent="0" marL="0">
              <a:buNone/>
            </a:pPr>
            <a:r>
              <a:rPr lang="en-US" sz="1000" b="1" spc="100" kern="0" dirty="0">
                <a:solidFill>
                  <a:srgbClr val="0F0F11"/>
                </a:solidFill>
                <a:latin typeface="Courier New" pitchFamily="34" charset="0"/>
                <a:ea typeface="Courier New" pitchFamily="34" charset="-122"/>
                <a:cs typeface="Courier New" pitchFamily="34" charset="-120"/>
              </a:rPr>
              <a:t>¿DE QUIÉN ME PROTEJO?</a:t>
            </a:r>
            <a:endParaRPr lang="en-US" sz="1000" dirty="0"/>
          </a:p>
        </p:txBody>
      </p:sp>
      <p:sp>
        <p:nvSpPr>
          <p:cNvPr id="23" name="Text 20"/>
          <p:cNvSpPr/>
          <p:nvPr/>
        </p:nvSpPr>
        <p:spPr>
          <a:xfrm>
            <a:off x="4480560" y="4462272"/>
            <a:ext cx="7034479" cy="621792"/>
          </a:xfrm>
          <a:prstGeom prst="rect">
            <a:avLst/>
          </a:prstGeom>
          <a:noFill/>
          <a:ln/>
        </p:spPr>
        <p:txBody>
          <a:bodyPr wrap="square" lIns="0" tIns="0" rIns="0" bIns="0" rtlCol="0" anchor="ctr"/>
          <a:lstStyle/>
          <a:p>
            <a:pPr indent="0" marL="0">
              <a:lnSpc>
                <a:spcPct val="115000"/>
              </a:lnSpc>
              <a:buNone/>
            </a:pPr>
            <a:r>
              <a:rPr lang="en-US" sz="1200" dirty="0">
                <a:solidFill>
                  <a:srgbClr val="3A3844"/>
                </a:solidFill>
                <a:latin typeface="Arial" pitchFamily="34" charset="0"/>
                <a:ea typeface="Arial" pitchFamily="34" charset="-122"/>
                <a:cs typeface="Arial" pitchFamily="34" charset="-120"/>
              </a:rPr>
              <a:t>De los propios operadores → necesito descentralización real. Solo de terceros externos → quizá una base de datos firmada basta.</a:t>
            </a:r>
            <a:endParaRPr lang="en-US" sz="1200" dirty="0"/>
          </a:p>
        </p:txBody>
      </p:sp>
      <p:sp>
        <p:nvSpPr>
          <p:cNvPr id="24" name="Shape 21"/>
          <p:cNvSpPr/>
          <p:nvPr/>
        </p:nvSpPr>
        <p:spPr>
          <a:xfrm>
            <a:off x="566928" y="5248656"/>
            <a:ext cx="11057839" cy="768096"/>
          </a:xfrm>
          <a:prstGeom prst="rect">
            <a:avLst/>
          </a:prstGeom>
          <a:solidFill>
            <a:srgbClr val="FFFFFF"/>
          </a:solidFill>
          <a:ln w="15875">
            <a:solidFill>
              <a:srgbClr val="D9D6E0"/>
            </a:solidFill>
            <a:prstDash val="solid"/>
          </a:ln>
        </p:spPr>
      </p:sp>
      <p:sp>
        <p:nvSpPr>
          <p:cNvPr id="25" name="Text 22"/>
          <p:cNvSpPr/>
          <p:nvPr/>
        </p:nvSpPr>
        <p:spPr>
          <a:xfrm>
            <a:off x="694944" y="5248656"/>
            <a:ext cx="548640" cy="768096"/>
          </a:xfrm>
          <a:prstGeom prst="rect">
            <a:avLst/>
          </a:prstGeom>
          <a:noFill/>
          <a:ln/>
        </p:spPr>
        <p:txBody>
          <a:bodyPr wrap="square" lIns="0" tIns="0" rIns="0" bIns="0" rtlCol="0" anchor="ctr"/>
          <a:lstStyle/>
          <a:p>
            <a:pPr indent="0" marL="0">
              <a:buNone/>
            </a:pPr>
            <a:r>
              <a:rPr lang="en-US" sz="1600" dirty="0">
                <a:solidFill>
                  <a:srgbClr val="F07F06"/>
                </a:solidFill>
                <a:latin typeface="Arial Black" pitchFamily="34" charset="0"/>
                <a:ea typeface="Arial Black" pitchFamily="34" charset="-122"/>
                <a:cs typeface="Arial Black" pitchFamily="34" charset="-120"/>
              </a:rPr>
              <a:t>05</a:t>
            </a:r>
            <a:endParaRPr lang="en-US" sz="1600" dirty="0"/>
          </a:p>
        </p:txBody>
      </p:sp>
      <p:sp>
        <p:nvSpPr>
          <p:cNvPr id="26" name="Text 23"/>
          <p:cNvSpPr/>
          <p:nvPr/>
        </p:nvSpPr>
        <p:spPr>
          <a:xfrm>
            <a:off x="1280160" y="5486400"/>
            <a:ext cx="2926080" cy="292608"/>
          </a:xfrm>
          <a:prstGeom prst="rect">
            <a:avLst/>
          </a:prstGeom>
          <a:noFill/>
          <a:ln/>
        </p:spPr>
        <p:txBody>
          <a:bodyPr wrap="square" lIns="0" tIns="0" rIns="0" bIns="0" rtlCol="0" anchor="ctr"/>
          <a:lstStyle/>
          <a:p>
            <a:pPr indent="0" marL="0">
              <a:buNone/>
            </a:pPr>
            <a:r>
              <a:rPr lang="en-US" sz="1000" b="1" spc="100" kern="0" dirty="0">
                <a:solidFill>
                  <a:srgbClr val="0F0F11"/>
                </a:solidFill>
                <a:latin typeface="Courier New" pitchFamily="34" charset="0"/>
                <a:ea typeface="Courier New" pitchFamily="34" charset="-122"/>
                <a:cs typeface="Courier New" pitchFamily="34" charset="-120"/>
              </a:rPr>
              <a:t>¿QUÉ CUESTA CADA ESCRITURA?</a:t>
            </a:r>
            <a:endParaRPr lang="en-US" sz="1000" dirty="0"/>
          </a:p>
        </p:txBody>
      </p:sp>
      <p:sp>
        <p:nvSpPr>
          <p:cNvPr id="27" name="Text 24"/>
          <p:cNvSpPr/>
          <p:nvPr/>
        </p:nvSpPr>
        <p:spPr>
          <a:xfrm>
            <a:off x="4480560" y="5340096"/>
            <a:ext cx="7034479" cy="621792"/>
          </a:xfrm>
          <a:prstGeom prst="rect">
            <a:avLst/>
          </a:prstGeom>
          <a:noFill/>
          <a:ln/>
        </p:spPr>
        <p:txBody>
          <a:bodyPr wrap="square" lIns="0" tIns="0" rIns="0" bIns="0" rtlCol="0" anchor="ctr"/>
          <a:lstStyle/>
          <a:p>
            <a:pPr indent="0" marL="0">
              <a:lnSpc>
                <a:spcPct val="115000"/>
              </a:lnSpc>
              <a:buNone/>
            </a:pPr>
            <a:r>
              <a:rPr lang="en-US" sz="1200" dirty="0">
                <a:solidFill>
                  <a:srgbClr val="3A3844"/>
                </a:solidFill>
                <a:latin typeface="Arial" pitchFamily="34" charset="0"/>
                <a:ea typeface="Arial" pitchFamily="34" charset="-122"/>
                <a:cs typeface="Arial" pitchFamily="34" charset="-120"/>
              </a:rPr>
              <a:t>Si el modelo de negocio no soporta pagar gas, una red pública no es viable, por buena que sea.</a:t>
            </a:r>
            <a:endParaRPr lang="en-US" sz="1200" dirty="0"/>
          </a:p>
        </p:txBody>
      </p:sp>
    </p:spTree>
  </p:cSld>
  <p:clrMapOvr>
    <a:masterClrMapping/>
  </p:clrMapOvr>
</p:sld>
</file>

<file path=ppt/slides/slide32.xml><?xml version="1.0" encoding="utf-8"?>
<p:sld xmlns:a="http://schemas.openxmlformats.org/drawingml/2006/main" xmlns:r="http://schemas.openxmlformats.org/officeDocument/2006/relationships" xmlns:p="http://schemas.openxmlformats.org/presentationml/2006/main">
  <p:cSld name="Slide 32">
    <p:bg>
      <p:bgPr>
        <a:solidFill>
          <a:srgbClr val="FFFFFF"/>
        </a:solidFill>
      </p:bgPr>
    </p:bg>
    <p:spTree>
      <p:nvGrpSpPr>
        <p:cNvPr id="1" name=""/>
        <p:cNvGrpSpPr/>
        <p:nvPr/>
      </p:nvGrpSpPr>
      <p:grpSpPr>
        <a:xfrm>
          <a:off x="0" y="0"/>
          <a:ext cx="0" cy="0"/>
          <a:chOff x="0" y="0"/>
          <a:chExt cx="0" cy="0"/>
        </a:xfrm>
      </p:grpSpPr>
      <p:pic>
        <p:nvPicPr>
          <p:cNvPr id="2" name="Image 0" descr="preencoded.png">    </p:cNvPr>
          <p:cNvPicPr>
            <a:picLocks noChangeAspect="1"/>
          </p:cNvPicPr>
          <p:nvPr/>
        </p:nvPicPr>
        <p:blipFill>
          <a:blip r:embed="rId1"/>
          <a:stretch>
            <a:fillRect/>
          </a:stretch>
        </p:blipFill>
        <p:spPr>
          <a:xfrm>
            <a:off x="566928" y="402336"/>
            <a:ext cx="274320" cy="274320"/>
          </a:xfrm>
          <a:prstGeom prst="rect">
            <a:avLst/>
          </a:prstGeom>
        </p:spPr>
      </p:pic>
      <p:sp>
        <p:nvSpPr>
          <p:cNvPr id="3" name="Text 0"/>
          <p:cNvSpPr/>
          <p:nvPr/>
        </p:nvSpPr>
        <p:spPr>
          <a:xfrm>
            <a:off x="969264" y="384048"/>
            <a:ext cx="10655503" cy="310896"/>
          </a:xfrm>
          <a:prstGeom prst="rect">
            <a:avLst/>
          </a:prstGeom>
          <a:noFill/>
          <a:ln/>
        </p:spPr>
        <p:txBody>
          <a:bodyPr wrap="square" lIns="0" tIns="0" rIns="0" bIns="0" rtlCol="0" anchor="ctr"/>
          <a:lstStyle/>
          <a:p>
            <a:pPr indent="0" marL="0">
              <a:buNone/>
            </a:pPr>
            <a:r>
              <a:rPr lang="en-US" sz="950" spc="160" kern="0" dirty="0">
                <a:solidFill>
                  <a:srgbClr val="6F6B80"/>
                </a:solidFill>
                <a:latin typeface="Courier New" pitchFamily="34" charset="0"/>
                <a:ea typeface="Courier New" pitchFamily="34" charset="-122"/>
                <a:cs typeface="Courier New" pitchFamily="34" charset="-120"/>
              </a:rPr>
              <a:t>A.23 · LO QUE HAY QUE LLEVARSE DEL BLOQUE A</a:t>
            </a:r>
            <a:endParaRPr lang="en-US" sz="950" dirty="0"/>
          </a:p>
        </p:txBody>
      </p:sp>
      <p:sp>
        <p:nvSpPr>
          <p:cNvPr id="4" name="Text 1"/>
          <p:cNvSpPr/>
          <p:nvPr/>
        </p:nvSpPr>
        <p:spPr>
          <a:xfrm>
            <a:off x="566928" y="777240"/>
            <a:ext cx="11057839" cy="777240"/>
          </a:xfrm>
          <a:prstGeom prst="rect">
            <a:avLst/>
          </a:prstGeom>
          <a:noFill/>
          <a:ln/>
        </p:spPr>
        <p:txBody>
          <a:bodyPr wrap="square" lIns="0" tIns="0" rIns="0" bIns="0" rtlCol="0" anchor="t"/>
          <a:lstStyle/>
          <a:p>
            <a:pPr indent="0" marL="0">
              <a:lnSpc>
                <a:spcPct val="92000"/>
              </a:lnSpc>
              <a:buNone/>
            </a:pPr>
            <a:r>
              <a:rPr lang="en-US" sz="2700" dirty="0">
                <a:solidFill>
                  <a:srgbClr val="0F0F11"/>
                </a:solidFill>
                <a:latin typeface="Arial Black" pitchFamily="34" charset="0"/>
                <a:ea typeface="Arial Black" pitchFamily="34" charset="-122"/>
                <a:cs typeface="Arial Black" pitchFamily="34" charset="-120"/>
              </a:rPr>
              <a:t>SEIS IDEAS QUE VAN AL QUIZ Y AL PROYECTO</a:t>
            </a:r>
            <a:endParaRPr lang="en-US" sz="2700" dirty="0"/>
          </a:p>
        </p:txBody>
      </p:sp>
      <p:sp>
        <p:nvSpPr>
          <p:cNvPr id="5" name="Text 2"/>
          <p:cNvSpPr/>
          <p:nvPr/>
        </p:nvSpPr>
        <p:spPr>
          <a:xfrm>
            <a:off x="566928" y="6291072"/>
            <a:ext cx="8412480" cy="274320"/>
          </a:xfrm>
          <a:prstGeom prst="rect">
            <a:avLst/>
          </a:prstGeom>
          <a:noFill/>
          <a:ln/>
        </p:spPr>
        <p:txBody>
          <a:bodyPr wrap="square" lIns="0" tIns="0" rIns="0" bIns="0" rtlCol="0" anchor="ctr"/>
          <a:lstStyle/>
          <a:p>
            <a:pPr indent="0" marL="0">
              <a:buNone/>
            </a:pPr>
            <a:r>
              <a:rPr lang="en-US" sz="800" spc="120" kern="0" dirty="0">
                <a:solidFill>
                  <a:srgbClr val="6F6B80"/>
                </a:solidFill>
                <a:latin typeface="Courier New" pitchFamily="34" charset="0"/>
                <a:ea typeface="Courier New" pitchFamily="34" charset="-122"/>
                <a:cs typeface="Courier New" pitchFamily="34" charset="-120"/>
              </a:rPr>
              <a:t>SESIÓN 04 · CONSENSO, INCENTIVOS Y EL TRILEMA</a:t>
            </a:r>
            <a:endParaRPr lang="en-US" sz="800" dirty="0"/>
          </a:p>
        </p:txBody>
      </p:sp>
      <p:sp>
        <p:nvSpPr>
          <p:cNvPr id="6" name="Text 3"/>
          <p:cNvSpPr/>
          <p:nvPr/>
        </p:nvSpPr>
        <p:spPr>
          <a:xfrm>
            <a:off x="9052560" y="6291072"/>
            <a:ext cx="1828800" cy="274320"/>
          </a:xfrm>
          <a:prstGeom prst="rect">
            <a:avLst/>
          </a:prstGeom>
          <a:noFill/>
          <a:ln/>
        </p:spPr>
        <p:txBody>
          <a:bodyPr wrap="square" lIns="0" tIns="0" rIns="0" bIns="0" rtlCol="0" anchor="ctr"/>
          <a:lstStyle/>
          <a:p>
            <a:pPr algn="r" indent="0" marL="0">
              <a:buNone/>
            </a:pPr>
            <a:r>
              <a:rPr lang="en-US" sz="800" spc="120" kern="0" dirty="0">
                <a:solidFill>
                  <a:srgbClr val="6F6B80"/>
                </a:solidFill>
                <a:latin typeface="Courier New" pitchFamily="34" charset="0"/>
                <a:ea typeface="Courier New" pitchFamily="34" charset="-122"/>
                <a:cs typeface="Courier New" pitchFamily="34" charset="-120"/>
              </a:rPr>
              <a:t>USB MEDELLÍN</a:t>
            </a:r>
            <a:endParaRPr lang="en-US" sz="800" dirty="0"/>
          </a:p>
        </p:txBody>
      </p:sp>
      <p:sp>
        <p:nvSpPr>
          <p:cNvPr id="7" name="Text 4"/>
          <p:cNvSpPr/>
          <p:nvPr/>
        </p:nvSpPr>
        <p:spPr>
          <a:xfrm>
            <a:off x="11018520" y="6291072"/>
            <a:ext cx="603504" cy="274320"/>
          </a:xfrm>
          <a:prstGeom prst="rect">
            <a:avLst/>
          </a:prstGeom>
          <a:noFill/>
          <a:ln/>
        </p:spPr>
        <p:txBody>
          <a:bodyPr wrap="square" lIns="0" tIns="0" rIns="0" bIns="0" rtlCol="0" anchor="ctr"/>
          <a:lstStyle/>
          <a:p>
            <a:pPr algn="r" indent="0" marL="0">
              <a:buNone/>
            </a:pPr>
            <a:r>
              <a:rPr lang="en-US" sz="900" b="1" dirty="0">
                <a:solidFill>
                  <a:srgbClr val="0F0F11"/>
                </a:solidFill>
                <a:latin typeface="Courier New" pitchFamily="34" charset="0"/>
                <a:ea typeface="Courier New" pitchFamily="34" charset="-122"/>
                <a:cs typeface="Courier New" pitchFamily="34" charset="-120"/>
              </a:rPr>
              <a:t>32</a:t>
            </a:r>
            <a:endParaRPr lang="en-US" sz="900" dirty="0"/>
          </a:p>
        </p:txBody>
      </p:sp>
      <p:sp>
        <p:nvSpPr>
          <p:cNvPr id="8" name="Text 5"/>
          <p:cNvSpPr/>
          <p:nvPr/>
        </p:nvSpPr>
        <p:spPr>
          <a:xfrm>
            <a:off x="566928" y="1737360"/>
            <a:ext cx="640080" cy="594360"/>
          </a:xfrm>
          <a:prstGeom prst="rect">
            <a:avLst/>
          </a:prstGeom>
          <a:noFill/>
          <a:ln/>
        </p:spPr>
        <p:txBody>
          <a:bodyPr wrap="square" lIns="0" tIns="0" rIns="0" bIns="0" rtlCol="0" anchor="ctr"/>
          <a:lstStyle/>
          <a:p>
            <a:pPr indent="0" marL="0">
              <a:buNone/>
            </a:pPr>
            <a:r>
              <a:rPr lang="en-US" sz="2000" dirty="0">
                <a:solidFill>
                  <a:srgbClr val="F07F06"/>
                </a:solidFill>
                <a:latin typeface="Arial Black" pitchFamily="34" charset="0"/>
                <a:ea typeface="Arial Black" pitchFamily="34" charset="-122"/>
                <a:cs typeface="Arial Black" pitchFamily="34" charset="-120"/>
              </a:rPr>
              <a:t>01</a:t>
            </a:r>
            <a:endParaRPr lang="en-US" sz="2000" dirty="0"/>
          </a:p>
        </p:txBody>
      </p:sp>
      <p:sp>
        <p:nvSpPr>
          <p:cNvPr id="9" name="Text 6"/>
          <p:cNvSpPr/>
          <p:nvPr/>
        </p:nvSpPr>
        <p:spPr>
          <a:xfrm>
            <a:off x="1344168" y="1828800"/>
            <a:ext cx="10280599" cy="502920"/>
          </a:xfrm>
          <a:prstGeom prst="rect">
            <a:avLst/>
          </a:prstGeom>
          <a:noFill/>
          <a:ln/>
        </p:spPr>
        <p:txBody>
          <a:bodyPr wrap="square" lIns="0" tIns="0" rIns="0" bIns="0" rtlCol="0" anchor="ctr"/>
          <a:lstStyle/>
          <a:p>
            <a:pPr indent="0" marL="0">
              <a:lnSpc>
                <a:spcPct val="124000"/>
              </a:lnSpc>
              <a:buNone/>
            </a:pPr>
            <a:r>
              <a:rPr lang="en-US" sz="1450" dirty="0">
                <a:solidFill>
                  <a:srgbClr val="3A3844"/>
                </a:solidFill>
                <a:latin typeface="Arial" pitchFamily="34" charset="0"/>
                <a:ea typeface="Arial" pitchFamily="34" charset="-122"/>
                <a:cs typeface="Arial" pitchFamily="34" charset="-120"/>
              </a:rPr>
              <a:t>La validez dice qué cadenas son posibles; el consenso decide cuál es la historia.</a:t>
            </a:r>
            <a:endParaRPr lang="en-US" sz="1450" dirty="0"/>
          </a:p>
        </p:txBody>
      </p:sp>
      <p:sp>
        <p:nvSpPr>
          <p:cNvPr id="10" name="Shape 7"/>
          <p:cNvSpPr/>
          <p:nvPr/>
        </p:nvSpPr>
        <p:spPr>
          <a:xfrm>
            <a:off x="566928" y="2414016"/>
            <a:ext cx="11057839" cy="914"/>
          </a:xfrm>
          <a:prstGeom prst="line">
            <a:avLst/>
          </a:prstGeom>
          <a:noFill/>
          <a:ln w="12700">
            <a:solidFill>
              <a:srgbClr val="D9D6E0"/>
            </a:solidFill>
            <a:prstDash val="solid"/>
          </a:ln>
        </p:spPr>
      </p:sp>
      <p:sp>
        <p:nvSpPr>
          <p:cNvPr id="11" name="Text 8"/>
          <p:cNvSpPr/>
          <p:nvPr/>
        </p:nvSpPr>
        <p:spPr>
          <a:xfrm>
            <a:off x="566928" y="2468880"/>
            <a:ext cx="640080" cy="594360"/>
          </a:xfrm>
          <a:prstGeom prst="rect">
            <a:avLst/>
          </a:prstGeom>
          <a:noFill/>
          <a:ln/>
        </p:spPr>
        <p:txBody>
          <a:bodyPr wrap="square" lIns="0" tIns="0" rIns="0" bIns="0" rtlCol="0" anchor="ctr"/>
          <a:lstStyle/>
          <a:p>
            <a:pPr indent="0" marL="0">
              <a:buNone/>
            </a:pPr>
            <a:r>
              <a:rPr lang="en-US" sz="2000" dirty="0">
                <a:solidFill>
                  <a:srgbClr val="F07F06"/>
                </a:solidFill>
                <a:latin typeface="Arial Black" pitchFamily="34" charset="0"/>
                <a:ea typeface="Arial Black" pitchFamily="34" charset="-122"/>
                <a:cs typeface="Arial Black" pitchFamily="34" charset="-120"/>
              </a:rPr>
              <a:t>02</a:t>
            </a:r>
            <a:endParaRPr lang="en-US" sz="2000" dirty="0"/>
          </a:p>
        </p:txBody>
      </p:sp>
      <p:sp>
        <p:nvSpPr>
          <p:cNvPr id="12" name="Text 9"/>
          <p:cNvSpPr/>
          <p:nvPr/>
        </p:nvSpPr>
        <p:spPr>
          <a:xfrm>
            <a:off x="1344168" y="2560320"/>
            <a:ext cx="10280599" cy="502920"/>
          </a:xfrm>
          <a:prstGeom prst="rect">
            <a:avLst/>
          </a:prstGeom>
          <a:noFill/>
          <a:ln/>
        </p:spPr>
        <p:txBody>
          <a:bodyPr wrap="square" lIns="0" tIns="0" rIns="0" bIns="0" rtlCol="0" anchor="ctr"/>
          <a:lstStyle/>
          <a:p>
            <a:pPr indent="0" marL="0">
              <a:lnSpc>
                <a:spcPct val="124000"/>
              </a:lnSpc>
              <a:buNone/>
            </a:pPr>
            <a:r>
              <a:rPr lang="en-US" sz="1450" dirty="0">
                <a:solidFill>
                  <a:srgbClr val="3A3844"/>
                </a:solidFill>
                <a:latin typeface="Arial" pitchFamily="34" charset="0"/>
                <a:ea typeface="Arial" pitchFamily="34" charset="-122"/>
                <a:cs typeface="Arial" pitchFamily="34" charset="-120"/>
              </a:rPr>
              <a:t>Sin identidades verificadas, votar exige atar el voto a un recurso escaso: cómputo, capital o autoridad.</a:t>
            </a:r>
            <a:endParaRPr lang="en-US" sz="1450" dirty="0"/>
          </a:p>
        </p:txBody>
      </p:sp>
      <p:sp>
        <p:nvSpPr>
          <p:cNvPr id="13" name="Shape 10"/>
          <p:cNvSpPr/>
          <p:nvPr/>
        </p:nvSpPr>
        <p:spPr>
          <a:xfrm>
            <a:off x="566928" y="3145536"/>
            <a:ext cx="11057839" cy="914"/>
          </a:xfrm>
          <a:prstGeom prst="line">
            <a:avLst/>
          </a:prstGeom>
          <a:noFill/>
          <a:ln w="12700">
            <a:solidFill>
              <a:srgbClr val="D9D6E0"/>
            </a:solidFill>
            <a:prstDash val="solid"/>
          </a:ln>
        </p:spPr>
      </p:sp>
      <p:sp>
        <p:nvSpPr>
          <p:cNvPr id="14" name="Text 11"/>
          <p:cNvSpPr/>
          <p:nvPr/>
        </p:nvSpPr>
        <p:spPr>
          <a:xfrm>
            <a:off x="566928" y="3200400"/>
            <a:ext cx="640080" cy="594360"/>
          </a:xfrm>
          <a:prstGeom prst="rect">
            <a:avLst/>
          </a:prstGeom>
          <a:noFill/>
          <a:ln/>
        </p:spPr>
        <p:txBody>
          <a:bodyPr wrap="square" lIns="0" tIns="0" rIns="0" bIns="0" rtlCol="0" anchor="ctr"/>
          <a:lstStyle/>
          <a:p>
            <a:pPr indent="0" marL="0">
              <a:buNone/>
            </a:pPr>
            <a:r>
              <a:rPr lang="en-US" sz="2000" dirty="0">
                <a:solidFill>
                  <a:srgbClr val="F07F06"/>
                </a:solidFill>
                <a:latin typeface="Arial Black" pitchFamily="34" charset="0"/>
                <a:ea typeface="Arial Black" pitchFamily="34" charset="-122"/>
                <a:cs typeface="Arial Black" pitchFamily="34" charset="-120"/>
              </a:rPr>
              <a:t>03</a:t>
            </a:r>
            <a:endParaRPr lang="en-US" sz="2000" dirty="0"/>
          </a:p>
        </p:txBody>
      </p:sp>
      <p:sp>
        <p:nvSpPr>
          <p:cNvPr id="15" name="Text 12"/>
          <p:cNvSpPr/>
          <p:nvPr/>
        </p:nvSpPr>
        <p:spPr>
          <a:xfrm>
            <a:off x="1344168" y="3291840"/>
            <a:ext cx="10280599" cy="502920"/>
          </a:xfrm>
          <a:prstGeom prst="rect">
            <a:avLst/>
          </a:prstGeom>
          <a:noFill/>
          <a:ln/>
        </p:spPr>
        <p:txBody>
          <a:bodyPr wrap="square" lIns="0" tIns="0" rIns="0" bIns="0" rtlCol="0" anchor="ctr"/>
          <a:lstStyle/>
          <a:p>
            <a:pPr indent="0" marL="0">
              <a:lnSpc>
                <a:spcPct val="124000"/>
              </a:lnSpc>
              <a:buNone/>
            </a:pPr>
            <a:r>
              <a:rPr lang="en-US" sz="1450" dirty="0">
                <a:solidFill>
                  <a:srgbClr val="3A3844"/>
                </a:solidFill>
                <a:latin typeface="Arial" pitchFamily="34" charset="0"/>
                <a:ea typeface="Arial" pitchFamily="34" charset="-122"/>
                <a:cs typeface="Arial" pitchFamily="34" charset="-120"/>
              </a:rPr>
              <a:t>El atacante con mayoría reescribe el orden, no la validez: no puede gastar lo ajeno.</a:t>
            </a:r>
            <a:endParaRPr lang="en-US" sz="1450" dirty="0"/>
          </a:p>
        </p:txBody>
      </p:sp>
      <p:sp>
        <p:nvSpPr>
          <p:cNvPr id="16" name="Shape 13"/>
          <p:cNvSpPr/>
          <p:nvPr/>
        </p:nvSpPr>
        <p:spPr>
          <a:xfrm>
            <a:off x="566928" y="3877056"/>
            <a:ext cx="11057839" cy="914"/>
          </a:xfrm>
          <a:prstGeom prst="line">
            <a:avLst/>
          </a:prstGeom>
          <a:noFill/>
          <a:ln w="12700">
            <a:solidFill>
              <a:srgbClr val="D9D6E0"/>
            </a:solidFill>
            <a:prstDash val="solid"/>
          </a:ln>
        </p:spPr>
      </p:sp>
      <p:sp>
        <p:nvSpPr>
          <p:cNvPr id="17" name="Text 14"/>
          <p:cNvSpPr/>
          <p:nvPr/>
        </p:nvSpPr>
        <p:spPr>
          <a:xfrm>
            <a:off x="566928" y="3931920"/>
            <a:ext cx="640080" cy="594360"/>
          </a:xfrm>
          <a:prstGeom prst="rect">
            <a:avLst/>
          </a:prstGeom>
          <a:noFill/>
          <a:ln/>
        </p:spPr>
        <p:txBody>
          <a:bodyPr wrap="square" lIns="0" tIns="0" rIns="0" bIns="0" rtlCol="0" anchor="ctr"/>
          <a:lstStyle/>
          <a:p>
            <a:pPr indent="0" marL="0">
              <a:buNone/>
            </a:pPr>
            <a:r>
              <a:rPr lang="en-US" sz="2000" dirty="0">
                <a:solidFill>
                  <a:srgbClr val="F07F06"/>
                </a:solidFill>
                <a:latin typeface="Arial Black" pitchFamily="34" charset="0"/>
                <a:ea typeface="Arial Black" pitchFamily="34" charset="-122"/>
                <a:cs typeface="Arial Black" pitchFamily="34" charset="-120"/>
              </a:rPr>
              <a:t>04</a:t>
            </a:r>
            <a:endParaRPr lang="en-US" sz="2000" dirty="0"/>
          </a:p>
        </p:txBody>
      </p:sp>
      <p:sp>
        <p:nvSpPr>
          <p:cNvPr id="18" name="Text 15"/>
          <p:cNvSpPr/>
          <p:nvPr/>
        </p:nvSpPr>
        <p:spPr>
          <a:xfrm>
            <a:off x="1344168" y="4023360"/>
            <a:ext cx="10280599" cy="502920"/>
          </a:xfrm>
          <a:prstGeom prst="rect">
            <a:avLst/>
          </a:prstGeom>
          <a:noFill/>
          <a:ln/>
        </p:spPr>
        <p:txBody>
          <a:bodyPr wrap="square" lIns="0" tIns="0" rIns="0" bIns="0" rtlCol="0" anchor="ctr"/>
          <a:lstStyle/>
          <a:p>
            <a:pPr indent="0" marL="0">
              <a:lnSpc>
                <a:spcPct val="124000"/>
              </a:lnSpc>
              <a:buNone/>
            </a:pPr>
            <a:r>
              <a:rPr lang="en-US" sz="1450" dirty="0">
                <a:solidFill>
                  <a:srgbClr val="3A3844"/>
                </a:solidFill>
                <a:latin typeface="Arial" pitchFamily="34" charset="0"/>
                <a:ea typeface="Arial" pitchFamily="34" charset="-122"/>
                <a:cs typeface="Arial" pitchFamily="34" charset="-120"/>
              </a:rPr>
              <a:t>Las bifurcaciones son normales; las reorganizaciones profundas son la señal de alarma.</a:t>
            </a:r>
            <a:endParaRPr lang="en-US" sz="1450" dirty="0"/>
          </a:p>
        </p:txBody>
      </p:sp>
      <p:sp>
        <p:nvSpPr>
          <p:cNvPr id="19" name="Shape 16"/>
          <p:cNvSpPr/>
          <p:nvPr/>
        </p:nvSpPr>
        <p:spPr>
          <a:xfrm>
            <a:off x="566928" y="4608576"/>
            <a:ext cx="11057839" cy="914"/>
          </a:xfrm>
          <a:prstGeom prst="line">
            <a:avLst/>
          </a:prstGeom>
          <a:noFill/>
          <a:ln w="12700">
            <a:solidFill>
              <a:srgbClr val="D9D6E0"/>
            </a:solidFill>
            <a:prstDash val="solid"/>
          </a:ln>
        </p:spPr>
      </p:sp>
      <p:sp>
        <p:nvSpPr>
          <p:cNvPr id="20" name="Text 17"/>
          <p:cNvSpPr/>
          <p:nvPr/>
        </p:nvSpPr>
        <p:spPr>
          <a:xfrm>
            <a:off x="566928" y="4663440"/>
            <a:ext cx="640080" cy="594360"/>
          </a:xfrm>
          <a:prstGeom prst="rect">
            <a:avLst/>
          </a:prstGeom>
          <a:noFill/>
          <a:ln/>
        </p:spPr>
        <p:txBody>
          <a:bodyPr wrap="square" lIns="0" tIns="0" rIns="0" bIns="0" rtlCol="0" anchor="ctr"/>
          <a:lstStyle/>
          <a:p>
            <a:pPr indent="0" marL="0">
              <a:buNone/>
            </a:pPr>
            <a:r>
              <a:rPr lang="en-US" sz="2000" dirty="0">
                <a:solidFill>
                  <a:srgbClr val="F07F06"/>
                </a:solidFill>
                <a:latin typeface="Arial Black" pitchFamily="34" charset="0"/>
                <a:ea typeface="Arial Black" pitchFamily="34" charset="-122"/>
                <a:cs typeface="Arial Black" pitchFamily="34" charset="-120"/>
              </a:rPr>
              <a:t>05</a:t>
            </a:r>
            <a:endParaRPr lang="en-US" sz="2000" dirty="0"/>
          </a:p>
        </p:txBody>
      </p:sp>
      <p:sp>
        <p:nvSpPr>
          <p:cNvPr id="21" name="Text 18"/>
          <p:cNvSpPr/>
          <p:nvPr/>
        </p:nvSpPr>
        <p:spPr>
          <a:xfrm>
            <a:off x="1344168" y="4754880"/>
            <a:ext cx="10280599" cy="502920"/>
          </a:xfrm>
          <a:prstGeom prst="rect">
            <a:avLst/>
          </a:prstGeom>
          <a:noFill/>
          <a:ln/>
        </p:spPr>
        <p:txBody>
          <a:bodyPr wrap="square" lIns="0" tIns="0" rIns="0" bIns="0" rtlCol="0" anchor="ctr"/>
          <a:lstStyle/>
          <a:p>
            <a:pPr indent="0" marL="0">
              <a:lnSpc>
                <a:spcPct val="124000"/>
              </a:lnSpc>
              <a:buNone/>
            </a:pPr>
            <a:r>
              <a:rPr lang="en-US" sz="1450" dirty="0">
                <a:solidFill>
                  <a:srgbClr val="3A3844"/>
                </a:solidFill>
                <a:latin typeface="Arial" pitchFamily="34" charset="0"/>
                <a:ea typeface="Arial" pitchFamily="34" charset="-122"/>
                <a:cs typeface="Arial" pitchFamily="34" charset="-120"/>
              </a:rPr>
              <a:t>Finalidad hay de tres tipos, y cada una con su supuesto y su tiempo de espera.</a:t>
            </a:r>
            <a:endParaRPr lang="en-US" sz="1450" dirty="0"/>
          </a:p>
        </p:txBody>
      </p:sp>
      <p:sp>
        <p:nvSpPr>
          <p:cNvPr id="22" name="Shape 19"/>
          <p:cNvSpPr/>
          <p:nvPr/>
        </p:nvSpPr>
        <p:spPr>
          <a:xfrm>
            <a:off x="566928" y="5340096"/>
            <a:ext cx="11057839" cy="914"/>
          </a:xfrm>
          <a:prstGeom prst="line">
            <a:avLst/>
          </a:prstGeom>
          <a:noFill/>
          <a:ln w="12700">
            <a:solidFill>
              <a:srgbClr val="D9D6E0"/>
            </a:solidFill>
            <a:prstDash val="solid"/>
          </a:ln>
        </p:spPr>
      </p:sp>
      <p:sp>
        <p:nvSpPr>
          <p:cNvPr id="23" name="Text 20"/>
          <p:cNvSpPr/>
          <p:nvPr/>
        </p:nvSpPr>
        <p:spPr>
          <a:xfrm>
            <a:off x="566928" y="5394960"/>
            <a:ext cx="640080" cy="594360"/>
          </a:xfrm>
          <a:prstGeom prst="rect">
            <a:avLst/>
          </a:prstGeom>
          <a:noFill/>
          <a:ln/>
        </p:spPr>
        <p:txBody>
          <a:bodyPr wrap="square" lIns="0" tIns="0" rIns="0" bIns="0" rtlCol="0" anchor="ctr"/>
          <a:lstStyle/>
          <a:p>
            <a:pPr indent="0" marL="0">
              <a:buNone/>
            </a:pPr>
            <a:r>
              <a:rPr lang="en-US" sz="2000" dirty="0">
                <a:solidFill>
                  <a:srgbClr val="F07F06"/>
                </a:solidFill>
                <a:latin typeface="Arial Black" pitchFamily="34" charset="0"/>
                <a:ea typeface="Arial Black" pitchFamily="34" charset="-122"/>
                <a:cs typeface="Arial Black" pitchFamily="34" charset="-120"/>
              </a:rPr>
              <a:t>06</a:t>
            </a:r>
            <a:endParaRPr lang="en-US" sz="2000" dirty="0"/>
          </a:p>
        </p:txBody>
      </p:sp>
      <p:sp>
        <p:nvSpPr>
          <p:cNvPr id="24" name="Text 21"/>
          <p:cNvSpPr/>
          <p:nvPr/>
        </p:nvSpPr>
        <p:spPr>
          <a:xfrm>
            <a:off x="1344168" y="5486400"/>
            <a:ext cx="10280599" cy="502920"/>
          </a:xfrm>
          <a:prstGeom prst="rect">
            <a:avLst/>
          </a:prstGeom>
          <a:noFill/>
          <a:ln/>
        </p:spPr>
        <p:txBody>
          <a:bodyPr wrap="square" lIns="0" tIns="0" rIns="0" bIns="0" rtlCol="0" anchor="ctr"/>
          <a:lstStyle/>
          <a:p>
            <a:pPr indent="0" marL="0">
              <a:lnSpc>
                <a:spcPct val="124000"/>
              </a:lnSpc>
              <a:buNone/>
            </a:pPr>
            <a:r>
              <a:rPr lang="en-US" sz="1450" dirty="0">
                <a:solidFill>
                  <a:srgbClr val="3A3844"/>
                </a:solidFill>
                <a:latin typeface="Arial" pitchFamily="34" charset="0"/>
                <a:ea typeface="Arial" pitchFamily="34" charset="-122"/>
                <a:cs typeface="Arial" pitchFamily="34" charset="-120"/>
              </a:rPr>
              <a:t>Ningún diseño gana en descentralización, seguridad y escala a la vez: se elige qué ceder.</a:t>
            </a:r>
            <a:endParaRPr lang="en-US" sz="1450" dirty="0"/>
          </a:p>
        </p:txBody>
      </p:sp>
      <p:sp>
        <p:nvSpPr>
          <p:cNvPr id="25" name="Shape 22"/>
          <p:cNvSpPr/>
          <p:nvPr/>
        </p:nvSpPr>
        <p:spPr>
          <a:xfrm>
            <a:off x="566928" y="6071616"/>
            <a:ext cx="11057839" cy="914"/>
          </a:xfrm>
          <a:prstGeom prst="line">
            <a:avLst/>
          </a:prstGeom>
          <a:noFill/>
          <a:ln w="12700">
            <a:solidFill>
              <a:srgbClr val="D9D6E0"/>
            </a:solidFill>
            <a:prstDash val="solid"/>
          </a:ln>
        </p:spPr>
      </p:sp>
    </p:spTree>
  </p:cSld>
  <p:clrMapOvr>
    <a:masterClrMapping/>
  </p:clrMapOvr>
</p:sld>
</file>

<file path=ppt/slides/slide33.xml><?xml version="1.0" encoding="utf-8"?>
<p:sld xmlns:a="http://schemas.openxmlformats.org/drawingml/2006/main" xmlns:r="http://schemas.openxmlformats.org/officeDocument/2006/relationships" xmlns:p="http://schemas.openxmlformats.org/presentationml/2006/main">
  <p:cSld name="Slide 33">
    <p:bg>
      <p:bgPr>
        <a:solidFill>
          <a:srgbClr val="0F0F11"/>
        </a:solidFill>
      </p:bgPr>
    </p:bg>
    <p:spTree>
      <p:nvGrpSpPr>
        <p:cNvPr id="1" name=""/>
        <p:cNvGrpSpPr/>
        <p:nvPr/>
      </p:nvGrpSpPr>
      <p:grpSpPr>
        <a:xfrm>
          <a:off x="0" y="0"/>
          <a:ext cx="0" cy="0"/>
          <a:chOff x="0" y="0"/>
          <a:chExt cx="0" cy="0"/>
        </a:xfrm>
      </p:grpSpPr>
      <p:sp>
        <p:nvSpPr>
          <p:cNvPr id="2" name="Shape 0"/>
          <p:cNvSpPr/>
          <p:nvPr/>
        </p:nvSpPr>
        <p:spPr>
          <a:xfrm>
            <a:off x="0" y="2240280"/>
            <a:ext cx="3017520" cy="2377440"/>
          </a:xfrm>
          <a:prstGeom prst="rect">
            <a:avLst/>
          </a:prstGeom>
          <a:solidFill>
            <a:srgbClr val="F07F06"/>
          </a:solidFill>
          <a:ln w="12700">
            <a:solidFill>
              <a:srgbClr val="F07F06"/>
            </a:solidFill>
            <a:prstDash val="solid"/>
          </a:ln>
        </p:spPr>
      </p:sp>
      <p:sp>
        <p:nvSpPr>
          <p:cNvPr id="3" name="Text 1"/>
          <p:cNvSpPr/>
          <p:nvPr/>
        </p:nvSpPr>
        <p:spPr>
          <a:xfrm>
            <a:off x="0" y="2240280"/>
            <a:ext cx="3017520" cy="2377440"/>
          </a:xfrm>
          <a:prstGeom prst="rect">
            <a:avLst/>
          </a:prstGeom>
          <a:noFill/>
          <a:ln/>
        </p:spPr>
        <p:txBody>
          <a:bodyPr wrap="square" lIns="0" tIns="0" rIns="0" bIns="0" rtlCol="0" anchor="ctr"/>
          <a:lstStyle/>
          <a:p>
            <a:pPr algn="ctr" indent="0" marL="0">
              <a:buNone/>
            </a:pPr>
            <a:r>
              <a:rPr lang="en-US" sz="11800" dirty="0">
                <a:solidFill>
                  <a:srgbClr val="0F0F11"/>
                </a:solidFill>
                <a:latin typeface="Arial Black" pitchFamily="34" charset="0"/>
                <a:ea typeface="Arial Black" pitchFamily="34" charset="-122"/>
                <a:cs typeface="Arial Black" pitchFamily="34" charset="-120"/>
              </a:rPr>
              <a:t>B</a:t>
            </a:r>
            <a:endParaRPr lang="en-US" sz="11800" dirty="0"/>
          </a:p>
        </p:txBody>
      </p:sp>
      <p:pic>
        <p:nvPicPr>
          <p:cNvPr id="4" name="Image 0" descr="preencoded.png">    </p:cNvPr>
          <p:cNvPicPr>
            <a:picLocks noChangeAspect="1"/>
          </p:cNvPicPr>
          <p:nvPr/>
        </p:nvPicPr>
        <p:blipFill>
          <a:blip r:embed="rId1"/>
          <a:stretch>
            <a:fillRect/>
          </a:stretch>
        </p:blipFill>
        <p:spPr>
          <a:xfrm>
            <a:off x="3611880" y="2286000"/>
            <a:ext cx="329184" cy="329184"/>
          </a:xfrm>
          <a:prstGeom prst="rect">
            <a:avLst/>
          </a:prstGeom>
        </p:spPr>
      </p:pic>
      <p:sp>
        <p:nvSpPr>
          <p:cNvPr id="5" name="Text 2"/>
          <p:cNvSpPr/>
          <p:nvPr/>
        </p:nvSpPr>
        <p:spPr>
          <a:xfrm>
            <a:off x="4069080" y="2258568"/>
            <a:ext cx="7223760" cy="365760"/>
          </a:xfrm>
          <a:prstGeom prst="rect">
            <a:avLst/>
          </a:prstGeom>
          <a:noFill/>
          <a:ln/>
        </p:spPr>
        <p:txBody>
          <a:bodyPr wrap="square" lIns="0" tIns="0" rIns="0" bIns="0" rtlCol="0" anchor="ctr"/>
          <a:lstStyle/>
          <a:p>
            <a:pPr indent="0" marL="0">
              <a:buNone/>
            </a:pPr>
            <a:r>
              <a:rPr lang="en-US" sz="1100" spc="180" kern="0" dirty="0">
                <a:solidFill>
                  <a:srgbClr val="F07F06"/>
                </a:solidFill>
                <a:latin typeface="Courier New" pitchFamily="34" charset="0"/>
                <a:ea typeface="Courier New" pitchFamily="34" charset="-122"/>
                <a:cs typeface="Courier New" pitchFamily="34" charset="-120"/>
              </a:rPr>
              <a:t>APROXIMADAMENTE 45 MINUTOS</a:t>
            </a:r>
            <a:endParaRPr lang="en-US" sz="1100" dirty="0"/>
          </a:p>
        </p:txBody>
      </p:sp>
      <p:sp>
        <p:nvSpPr>
          <p:cNvPr id="6" name="Text 3"/>
          <p:cNvSpPr/>
          <p:nvPr/>
        </p:nvSpPr>
        <p:spPr>
          <a:xfrm>
            <a:off x="3611880" y="2724912"/>
            <a:ext cx="7955280" cy="1325880"/>
          </a:xfrm>
          <a:prstGeom prst="rect">
            <a:avLst/>
          </a:prstGeom>
          <a:noFill/>
          <a:ln/>
        </p:spPr>
        <p:txBody>
          <a:bodyPr wrap="square" lIns="0" tIns="0" rIns="0" bIns="0" rtlCol="0" anchor="t"/>
          <a:lstStyle/>
          <a:p>
            <a:pPr indent="0" marL="0">
              <a:lnSpc>
                <a:spcPct val="98000"/>
              </a:lnSpc>
              <a:buNone/>
            </a:pPr>
            <a:r>
              <a:rPr lang="en-US" sz="3400" dirty="0">
                <a:solidFill>
                  <a:srgbClr val="FFFFFF"/>
                </a:solidFill>
                <a:latin typeface="Arial Black" pitchFamily="34" charset="0"/>
                <a:ea typeface="Arial Black" pitchFamily="34" charset="-122"/>
                <a:cs typeface="Arial Black" pitchFamily="34" charset="-120"/>
              </a:rPr>
              <a:t>ACTIVIDAD · EL CASO ESTONIA</a:t>
            </a:r>
            <a:endParaRPr lang="en-US" sz="3400" dirty="0"/>
          </a:p>
        </p:txBody>
      </p:sp>
      <p:sp>
        <p:nvSpPr>
          <p:cNvPr id="7" name="Text 4"/>
          <p:cNvSpPr/>
          <p:nvPr/>
        </p:nvSpPr>
        <p:spPr>
          <a:xfrm>
            <a:off x="3611880" y="4133088"/>
            <a:ext cx="7680960" cy="1051560"/>
          </a:xfrm>
          <a:prstGeom prst="rect">
            <a:avLst/>
          </a:prstGeom>
          <a:noFill/>
          <a:ln/>
        </p:spPr>
        <p:txBody>
          <a:bodyPr wrap="square" lIns="0" tIns="0" rIns="0" bIns="0" rtlCol="0" anchor="t"/>
          <a:lstStyle/>
          <a:p>
            <a:pPr indent="0" marL="0">
              <a:lnSpc>
                <a:spcPct val="125000"/>
              </a:lnSpc>
              <a:buNone/>
            </a:pPr>
            <a:r>
              <a:rPr lang="en-US" sz="1400" dirty="0">
                <a:solidFill>
                  <a:srgbClr val="B9B4C4"/>
                </a:solidFill>
                <a:latin typeface="Arial" pitchFamily="34" charset="0"/>
                <a:ea typeface="Arial" pitchFamily="34" charset="-122"/>
                <a:cs typeface="Arial" pitchFamily="34" charset="-120"/>
              </a:rPr>
              <a:t>Se presenta con su propio deck. Trabajo en equipos de proyecto; se expone la próxima sesión, cinco minutos por equipo.</a:t>
            </a:r>
            <a:endParaRPr lang="en-US" sz="1400" dirty="0"/>
          </a:p>
        </p:txBody>
      </p:sp>
      <p:sp>
        <p:nvSpPr>
          <p:cNvPr id="8" name="Text 5"/>
          <p:cNvSpPr/>
          <p:nvPr/>
        </p:nvSpPr>
        <p:spPr>
          <a:xfrm>
            <a:off x="566928" y="6291072"/>
            <a:ext cx="8412480" cy="274320"/>
          </a:xfrm>
          <a:prstGeom prst="rect">
            <a:avLst/>
          </a:prstGeom>
          <a:noFill/>
          <a:ln/>
        </p:spPr>
        <p:txBody>
          <a:bodyPr wrap="square" lIns="0" tIns="0" rIns="0" bIns="0" rtlCol="0" anchor="ctr"/>
          <a:lstStyle/>
          <a:p>
            <a:pPr indent="0" marL="0">
              <a:buNone/>
            </a:pPr>
            <a:r>
              <a:rPr lang="en-US" sz="800" spc="120" kern="0" dirty="0">
                <a:solidFill>
                  <a:srgbClr val="6E6A7C"/>
                </a:solidFill>
                <a:latin typeface="Courier New" pitchFamily="34" charset="0"/>
                <a:ea typeface="Courier New" pitchFamily="34" charset="-122"/>
                <a:cs typeface="Courier New" pitchFamily="34" charset="-120"/>
              </a:rPr>
              <a:t>SESIÓN 04 · CONSENSO, INCENTIVOS Y EL TRILEMA</a:t>
            </a:r>
            <a:endParaRPr lang="en-US" sz="800" dirty="0"/>
          </a:p>
        </p:txBody>
      </p:sp>
      <p:sp>
        <p:nvSpPr>
          <p:cNvPr id="9" name="Text 6"/>
          <p:cNvSpPr/>
          <p:nvPr/>
        </p:nvSpPr>
        <p:spPr>
          <a:xfrm>
            <a:off x="9052560" y="6291072"/>
            <a:ext cx="1828800" cy="274320"/>
          </a:xfrm>
          <a:prstGeom prst="rect">
            <a:avLst/>
          </a:prstGeom>
          <a:noFill/>
          <a:ln/>
        </p:spPr>
        <p:txBody>
          <a:bodyPr wrap="square" lIns="0" tIns="0" rIns="0" bIns="0" rtlCol="0" anchor="ctr"/>
          <a:lstStyle/>
          <a:p>
            <a:pPr algn="r" indent="0" marL="0">
              <a:buNone/>
            </a:pPr>
            <a:r>
              <a:rPr lang="en-US" sz="800" spc="120" kern="0" dirty="0">
                <a:solidFill>
                  <a:srgbClr val="6E6A7C"/>
                </a:solidFill>
                <a:latin typeface="Courier New" pitchFamily="34" charset="0"/>
                <a:ea typeface="Courier New" pitchFamily="34" charset="-122"/>
                <a:cs typeface="Courier New" pitchFamily="34" charset="-120"/>
              </a:rPr>
              <a:t>USB MEDELLÍN</a:t>
            </a:r>
            <a:endParaRPr lang="en-US" sz="800" dirty="0"/>
          </a:p>
        </p:txBody>
      </p:sp>
      <p:sp>
        <p:nvSpPr>
          <p:cNvPr id="10" name="Text 7"/>
          <p:cNvSpPr/>
          <p:nvPr/>
        </p:nvSpPr>
        <p:spPr>
          <a:xfrm>
            <a:off x="11018520" y="6291072"/>
            <a:ext cx="603504" cy="274320"/>
          </a:xfrm>
          <a:prstGeom prst="rect">
            <a:avLst/>
          </a:prstGeom>
          <a:noFill/>
          <a:ln/>
        </p:spPr>
        <p:txBody>
          <a:bodyPr wrap="square" lIns="0" tIns="0" rIns="0" bIns="0" rtlCol="0" anchor="ctr"/>
          <a:lstStyle/>
          <a:p>
            <a:pPr algn="r" indent="0" marL="0">
              <a:buNone/>
            </a:pPr>
            <a:r>
              <a:rPr lang="en-US" sz="900" b="1" dirty="0">
                <a:solidFill>
                  <a:srgbClr val="F07F06"/>
                </a:solidFill>
                <a:latin typeface="Courier New" pitchFamily="34" charset="0"/>
                <a:ea typeface="Courier New" pitchFamily="34" charset="-122"/>
                <a:cs typeface="Courier New" pitchFamily="34" charset="-120"/>
              </a:rPr>
              <a:t>33</a:t>
            </a:r>
            <a:endParaRPr lang="en-US" sz="900" dirty="0"/>
          </a:p>
        </p:txBody>
      </p:sp>
    </p:spTree>
  </p:cSld>
  <p:clrMapOvr>
    <a:masterClrMapping/>
  </p:clrMapOvr>
</p:sld>
</file>

<file path=ppt/slides/slide34.xml><?xml version="1.0" encoding="utf-8"?>
<p:sld xmlns:a="http://schemas.openxmlformats.org/drawingml/2006/main" xmlns:r="http://schemas.openxmlformats.org/officeDocument/2006/relationships" xmlns:p="http://schemas.openxmlformats.org/presentationml/2006/main">
  <p:cSld name="Slide 34">
    <p:bg>
      <p:bgPr>
        <a:solidFill>
          <a:srgbClr val="FFFFFF"/>
        </a:solidFill>
      </p:bgPr>
    </p:bg>
    <p:spTree>
      <p:nvGrpSpPr>
        <p:cNvPr id="1" name=""/>
        <p:cNvGrpSpPr/>
        <p:nvPr/>
      </p:nvGrpSpPr>
      <p:grpSpPr>
        <a:xfrm>
          <a:off x="0" y="0"/>
          <a:ext cx="0" cy="0"/>
          <a:chOff x="0" y="0"/>
          <a:chExt cx="0" cy="0"/>
        </a:xfrm>
      </p:grpSpPr>
      <p:pic>
        <p:nvPicPr>
          <p:cNvPr id="2" name="Image 0" descr="preencoded.png">    </p:cNvPr>
          <p:cNvPicPr>
            <a:picLocks noChangeAspect="1"/>
          </p:cNvPicPr>
          <p:nvPr/>
        </p:nvPicPr>
        <p:blipFill>
          <a:blip r:embed="rId1"/>
          <a:stretch>
            <a:fillRect/>
          </a:stretch>
        </p:blipFill>
        <p:spPr>
          <a:xfrm>
            <a:off x="566928" y="402336"/>
            <a:ext cx="274320" cy="274320"/>
          </a:xfrm>
          <a:prstGeom prst="rect">
            <a:avLst/>
          </a:prstGeom>
        </p:spPr>
      </p:pic>
      <p:sp>
        <p:nvSpPr>
          <p:cNvPr id="3" name="Text 0"/>
          <p:cNvSpPr/>
          <p:nvPr/>
        </p:nvSpPr>
        <p:spPr>
          <a:xfrm>
            <a:off x="969264" y="384048"/>
            <a:ext cx="10655503" cy="310896"/>
          </a:xfrm>
          <a:prstGeom prst="rect">
            <a:avLst/>
          </a:prstGeom>
          <a:noFill/>
          <a:ln/>
        </p:spPr>
        <p:txBody>
          <a:bodyPr wrap="square" lIns="0" tIns="0" rIns="0" bIns="0" rtlCol="0" anchor="ctr"/>
          <a:lstStyle/>
          <a:p>
            <a:pPr indent="0" marL="0">
              <a:buNone/>
            </a:pPr>
            <a:r>
              <a:rPr lang="en-US" sz="950" spc="160" kern="0" dirty="0">
                <a:solidFill>
                  <a:srgbClr val="6F6B80"/>
                </a:solidFill>
                <a:latin typeface="Courier New" pitchFamily="34" charset="0"/>
                <a:ea typeface="Courier New" pitchFamily="34" charset="-122"/>
                <a:cs typeface="Courier New" pitchFamily="34" charset="-120"/>
              </a:rPr>
              <a:t>B.1 · POR QUÉ ESTA ACTIVIDAD ESTÁ AQUÍ</a:t>
            </a:r>
            <a:endParaRPr lang="en-US" sz="950" dirty="0"/>
          </a:p>
        </p:txBody>
      </p:sp>
      <p:sp>
        <p:nvSpPr>
          <p:cNvPr id="4" name="Text 1"/>
          <p:cNvSpPr/>
          <p:nvPr/>
        </p:nvSpPr>
        <p:spPr>
          <a:xfrm>
            <a:off x="566928" y="777240"/>
            <a:ext cx="11057839" cy="777240"/>
          </a:xfrm>
          <a:prstGeom prst="rect">
            <a:avLst/>
          </a:prstGeom>
          <a:noFill/>
          <a:ln/>
        </p:spPr>
        <p:txBody>
          <a:bodyPr wrap="square" lIns="0" tIns="0" rIns="0" bIns="0" rtlCol="0" anchor="t"/>
          <a:lstStyle/>
          <a:p>
            <a:pPr indent="0" marL="0">
              <a:lnSpc>
                <a:spcPct val="92000"/>
              </a:lnSpc>
              <a:buNone/>
            </a:pPr>
            <a:r>
              <a:rPr lang="en-US" sz="2800" dirty="0">
                <a:solidFill>
                  <a:srgbClr val="0F0F11"/>
                </a:solidFill>
                <a:latin typeface="Arial Black" pitchFamily="34" charset="0"/>
                <a:ea typeface="Arial Black" pitchFamily="34" charset="-122"/>
                <a:cs typeface="Arial Black" pitchFamily="34" charset="-120"/>
              </a:rPr>
              <a:t>EL CONSENSO APLICADO A UN CASO REAL</a:t>
            </a:r>
            <a:endParaRPr lang="en-US" sz="2800" dirty="0"/>
          </a:p>
        </p:txBody>
      </p:sp>
      <p:sp>
        <p:nvSpPr>
          <p:cNvPr id="5" name="Text 2"/>
          <p:cNvSpPr/>
          <p:nvPr/>
        </p:nvSpPr>
        <p:spPr>
          <a:xfrm>
            <a:off x="566928" y="6291072"/>
            <a:ext cx="8412480" cy="274320"/>
          </a:xfrm>
          <a:prstGeom prst="rect">
            <a:avLst/>
          </a:prstGeom>
          <a:noFill/>
          <a:ln/>
        </p:spPr>
        <p:txBody>
          <a:bodyPr wrap="square" lIns="0" tIns="0" rIns="0" bIns="0" rtlCol="0" anchor="ctr"/>
          <a:lstStyle/>
          <a:p>
            <a:pPr indent="0" marL="0">
              <a:buNone/>
            </a:pPr>
            <a:r>
              <a:rPr lang="en-US" sz="800" spc="120" kern="0" dirty="0">
                <a:solidFill>
                  <a:srgbClr val="6F6B80"/>
                </a:solidFill>
                <a:latin typeface="Courier New" pitchFamily="34" charset="0"/>
                <a:ea typeface="Courier New" pitchFamily="34" charset="-122"/>
                <a:cs typeface="Courier New" pitchFamily="34" charset="-120"/>
              </a:rPr>
              <a:t>SESIÓN 04 · CONSENSO, INCENTIVOS Y EL TRILEMA</a:t>
            </a:r>
            <a:endParaRPr lang="en-US" sz="800" dirty="0"/>
          </a:p>
        </p:txBody>
      </p:sp>
      <p:sp>
        <p:nvSpPr>
          <p:cNvPr id="6" name="Text 3"/>
          <p:cNvSpPr/>
          <p:nvPr/>
        </p:nvSpPr>
        <p:spPr>
          <a:xfrm>
            <a:off x="9052560" y="6291072"/>
            <a:ext cx="1828800" cy="274320"/>
          </a:xfrm>
          <a:prstGeom prst="rect">
            <a:avLst/>
          </a:prstGeom>
          <a:noFill/>
          <a:ln/>
        </p:spPr>
        <p:txBody>
          <a:bodyPr wrap="square" lIns="0" tIns="0" rIns="0" bIns="0" rtlCol="0" anchor="ctr"/>
          <a:lstStyle/>
          <a:p>
            <a:pPr algn="r" indent="0" marL="0">
              <a:buNone/>
            </a:pPr>
            <a:r>
              <a:rPr lang="en-US" sz="800" spc="120" kern="0" dirty="0">
                <a:solidFill>
                  <a:srgbClr val="6F6B80"/>
                </a:solidFill>
                <a:latin typeface="Courier New" pitchFamily="34" charset="0"/>
                <a:ea typeface="Courier New" pitchFamily="34" charset="-122"/>
                <a:cs typeface="Courier New" pitchFamily="34" charset="-120"/>
              </a:rPr>
              <a:t>USB MEDELLÍN</a:t>
            </a:r>
            <a:endParaRPr lang="en-US" sz="800" dirty="0"/>
          </a:p>
        </p:txBody>
      </p:sp>
      <p:sp>
        <p:nvSpPr>
          <p:cNvPr id="7" name="Text 4"/>
          <p:cNvSpPr/>
          <p:nvPr/>
        </p:nvSpPr>
        <p:spPr>
          <a:xfrm>
            <a:off x="11018520" y="6291072"/>
            <a:ext cx="603504" cy="274320"/>
          </a:xfrm>
          <a:prstGeom prst="rect">
            <a:avLst/>
          </a:prstGeom>
          <a:noFill/>
          <a:ln/>
        </p:spPr>
        <p:txBody>
          <a:bodyPr wrap="square" lIns="0" tIns="0" rIns="0" bIns="0" rtlCol="0" anchor="ctr"/>
          <a:lstStyle/>
          <a:p>
            <a:pPr algn="r" indent="0" marL="0">
              <a:buNone/>
            </a:pPr>
            <a:r>
              <a:rPr lang="en-US" sz="900" b="1" dirty="0">
                <a:solidFill>
                  <a:srgbClr val="0F0F11"/>
                </a:solidFill>
                <a:latin typeface="Courier New" pitchFamily="34" charset="0"/>
                <a:ea typeface="Courier New" pitchFamily="34" charset="-122"/>
                <a:cs typeface="Courier New" pitchFamily="34" charset="-120"/>
              </a:rPr>
              <a:t>34</a:t>
            </a:r>
            <a:endParaRPr lang="en-US" sz="900" dirty="0"/>
          </a:p>
        </p:txBody>
      </p:sp>
      <p:sp>
        <p:nvSpPr>
          <p:cNvPr id="8" name="Text 5"/>
          <p:cNvSpPr/>
          <p:nvPr/>
        </p:nvSpPr>
        <p:spPr>
          <a:xfrm>
            <a:off x="566928" y="1737360"/>
            <a:ext cx="11057839" cy="868680"/>
          </a:xfrm>
          <a:prstGeom prst="rect">
            <a:avLst/>
          </a:prstGeom>
          <a:noFill/>
          <a:ln/>
        </p:spPr>
        <p:txBody>
          <a:bodyPr wrap="square" lIns="0" tIns="0" rIns="0" bIns="0" rtlCol="0" anchor="t"/>
          <a:lstStyle/>
          <a:p>
            <a:pPr indent="0" marL="0">
              <a:lnSpc>
                <a:spcPct val="124000"/>
              </a:lnSpc>
              <a:buNone/>
            </a:pPr>
            <a:r>
              <a:rPr lang="en-US" sz="1450" dirty="0">
                <a:solidFill>
                  <a:srgbClr val="3A3844"/>
                </a:solidFill>
                <a:latin typeface="Arial" pitchFamily="34" charset="0"/>
                <a:ea typeface="Arial" pitchFamily="34" charset="-122"/>
                <a:cs typeface="Arial" pitchFamily="34" charset="-120"/>
              </a:rPr>
              <a:t>La actividad de Estonia no es un tema aparte: es la teoría de hoy puesta a prueba. Para decidir si KSI es una cadena de bloques van a necesitar exactamente las herramientas del bloque A.</a:t>
            </a:r>
            <a:endParaRPr lang="en-US" sz="1450" dirty="0"/>
          </a:p>
        </p:txBody>
      </p:sp>
      <p:graphicFrame>
        <p:nvGraphicFramePr>
          <p:cNvPr id="35" name="Table 0"/>
          <p:cNvGraphicFramePr>
            <a:graphicFrameLocks noGrp="1"/>
          </p:cNvGraphicFramePr>
          <p:nvPr>
            <p:extLst>
              <p:ext uri="{D42A27DB-BD31-4B8C-83A1-F6EECF244321}">
                <p14:modId xmlns:p14="http://schemas.microsoft.com/office/powerpoint/2010/main" val="1579011935"/>
              </p:ext>
            </p:extLst>
          </p:nvPr>
        </p:nvGraphicFramePr>
        <p:xfrm>
          <a:off x="566928" y="2788920"/>
          <a:ext cx="11057839" cy="914400"/>
        </p:xfrm>
        <a:graphic>
          <a:graphicData uri="http://schemas.openxmlformats.org/drawingml/2006/table">
            <a:tbl>
              <a:tblPr/>
              <a:tblGrid>
                <a:gridCol w="4846320"/>
                <a:gridCol w="6211519"/>
              </a:tblGrid>
              <a:tr h="310896">
                <a:tc>
                  <a:txBody>
                    <a:bodyPr/>
                    <a:lstStyle/>
                    <a:p>
                      <a:pPr indent="0" marL="0">
                        <a:buNone/>
                      </a:pPr>
                      <a:r>
                        <a:rPr lang="en-US" sz="900" b="1" spc="110" kern="0" dirty="0">
                          <a:solidFill>
                            <a:srgbClr val="FFFFFF"/>
                          </a:solidFill>
                          <a:latin typeface="Courier New" pitchFamily="34" charset="0"/>
                          <a:ea typeface="Courier New" pitchFamily="34" charset="-122"/>
                          <a:cs typeface="Courier New" pitchFamily="34" charset="-120"/>
                        </a:rPr>
                        <a:t>LO QUE VIERON HOY</a:t>
                      </a:r>
                      <a:endParaRPr lang="en-US" sz="900" dirty="0">
                        <a:latin typeface="Courier New" charset="0"/>
                        <a:ea typeface="Courier New" charset="0"/>
                        <a:cs typeface="Courier New" charset="0"/>
                      </a:endParaRPr>
                    </a:p>
                  </a:txBody>
                  <a:tcPr marL="101600" marR="101600" marT="76200" marB="76200" anchor="ctr">
                    <a:lnL w="12700" cap="flat" cmpd="sng" algn="ctr">
                      <a:solidFill>
                        <a:srgbClr val="D9D6E0"/>
                      </a:solidFill>
                      <a:prstDash val="solid"/>
                      <a:round/>
                      <a:headEnd type="none" w="med" len="med"/>
                      <a:tailEnd type="none" w="med" len="med"/>
                    </a:lnL>
                    <a:lnR w="12700" cap="flat" cmpd="sng" algn="ctr">
                      <a:solidFill>
                        <a:srgbClr val="D9D6E0"/>
                      </a:solidFill>
                      <a:prstDash val="solid"/>
                      <a:round/>
                      <a:headEnd type="none" w="med" len="med"/>
                      <a:tailEnd type="none" w="med" len="med"/>
                    </a:lnR>
                    <a:lnT w="12700" cap="flat" cmpd="sng" algn="ctr">
                      <a:solidFill>
                        <a:srgbClr val="D9D6E0"/>
                      </a:solidFill>
                      <a:prstDash val="solid"/>
                      <a:round/>
                      <a:headEnd type="none" w="med" len="med"/>
                      <a:tailEnd type="none" w="med" len="med"/>
                    </a:lnT>
                    <a:lnB w="12700" cap="flat" cmpd="sng" algn="ctr">
                      <a:solidFill>
                        <a:srgbClr val="D9D6E0"/>
                      </a:solidFill>
                      <a:prstDash val="solid"/>
                      <a:round/>
                      <a:headEnd type="none" w="med" len="med"/>
                      <a:tailEnd type="none" w="med" len="med"/>
                    </a:lnB>
                    <a:solidFill>
                      <a:srgbClr val="0F0F11"/>
                    </a:solidFill>
                  </a:tcPr>
                </a:tc>
                <a:tc>
                  <a:txBody>
                    <a:bodyPr/>
                    <a:lstStyle/>
                    <a:p>
                      <a:pPr indent="0" marL="0">
                        <a:buNone/>
                      </a:pPr>
                      <a:r>
                        <a:rPr lang="en-US" sz="900" b="1" spc="110" kern="0" dirty="0">
                          <a:solidFill>
                            <a:srgbClr val="FFFFFF"/>
                          </a:solidFill>
                          <a:latin typeface="Courier New" pitchFamily="34" charset="0"/>
                          <a:ea typeface="Courier New" pitchFamily="34" charset="-122"/>
                          <a:cs typeface="Courier New" pitchFamily="34" charset="-120"/>
                        </a:rPr>
                        <a:t>DÓNDE LO VAN A USAR EN LA ACTIVIDAD</a:t>
                      </a:r>
                      <a:endParaRPr lang="en-US" sz="900" dirty="0">
                        <a:latin typeface="Courier New" charset="0"/>
                        <a:ea typeface="Courier New" charset="0"/>
                        <a:cs typeface="Courier New" charset="0"/>
                      </a:endParaRPr>
                    </a:p>
                  </a:txBody>
                  <a:tcPr marL="101600" marR="101600" marT="76200" marB="76200" anchor="ctr">
                    <a:lnL w="12700" cap="flat" cmpd="sng" algn="ctr">
                      <a:solidFill>
                        <a:srgbClr val="D9D6E0"/>
                      </a:solidFill>
                      <a:prstDash val="solid"/>
                      <a:round/>
                      <a:headEnd type="none" w="med" len="med"/>
                      <a:tailEnd type="none" w="med" len="med"/>
                    </a:lnL>
                    <a:lnR w="12700" cap="flat" cmpd="sng" algn="ctr">
                      <a:solidFill>
                        <a:srgbClr val="D9D6E0"/>
                      </a:solidFill>
                      <a:prstDash val="solid"/>
                      <a:round/>
                      <a:headEnd type="none" w="med" len="med"/>
                      <a:tailEnd type="none" w="med" len="med"/>
                    </a:lnR>
                    <a:lnT w="12700" cap="flat" cmpd="sng" algn="ctr">
                      <a:solidFill>
                        <a:srgbClr val="D9D6E0"/>
                      </a:solidFill>
                      <a:prstDash val="solid"/>
                      <a:round/>
                      <a:headEnd type="none" w="med" len="med"/>
                      <a:tailEnd type="none" w="med" len="med"/>
                    </a:lnT>
                    <a:lnB w="12700" cap="flat" cmpd="sng" algn="ctr">
                      <a:solidFill>
                        <a:srgbClr val="D9D6E0"/>
                      </a:solidFill>
                      <a:prstDash val="solid"/>
                      <a:round/>
                      <a:headEnd type="none" w="med" len="med"/>
                      <a:tailEnd type="none" w="med" len="med"/>
                    </a:lnB>
                    <a:solidFill>
                      <a:srgbClr val="0F0F11"/>
                    </a:solidFill>
                  </a:tcPr>
                </a:tc>
              </a:tr>
              <a:tr h="566928">
                <a:tc>
                  <a:txBody>
                    <a:bodyPr/>
                    <a:lstStyle/>
                    <a:p>
                      <a:pPr indent="0" marL="0">
                        <a:buNone/>
                      </a:pPr>
                      <a:r>
                        <a:rPr lang="en-US" sz="1200" b="1" dirty="0">
                          <a:solidFill>
                            <a:srgbClr val="0F0F11"/>
                          </a:solidFill>
                          <a:latin typeface="Courier New" pitchFamily="34" charset="0"/>
                          <a:ea typeface="Courier New" pitchFamily="34" charset="-122"/>
                          <a:cs typeface="Courier New" pitchFamily="34" charset="-120"/>
                        </a:rPr>
                        <a:t>El ancla de confianza de cada mecanismo (A.4, A.15)</a:t>
                      </a:r>
                      <a:endParaRPr lang="en-US" sz="1200" dirty="0">
                        <a:latin typeface="Courier New" charset="0"/>
                        <a:ea typeface="Courier New" charset="0"/>
                        <a:cs typeface="Courier New" charset="0"/>
                      </a:endParaRPr>
                    </a:p>
                  </a:txBody>
                  <a:tcPr marL="101600" marR="101600" marT="76200" marB="76200" anchor="t">
                    <a:lnL w="12700" cap="flat" cmpd="sng" algn="ctr">
                      <a:solidFill>
                        <a:srgbClr val="D9D6E0"/>
                      </a:solidFill>
                      <a:prstDash val="solid"/>
                      <a:round/>
                      <a:headEnd type="none" w="med" len="med"/>
                      <a:tailEnd type="none" w="med" len="med"/>
                    </a:lnL>
                    <a:lnR w="12700" cap="flat" cmpd="sng" algn="ctr">
                      <a:solidFill>
                        <a:srgbClr val="D9D6E0"/>
                      </a:solidFill>
                      <a:prstDash val="solid"/>
                      <a:round/>
                      <a:headEnd type="none" w="med" len="med"/>
                      <a:tailEnd type="none" w="med" len="med"/>
                    </a:lnR>
                    <a:lnT w="12700" cap="flat" cmpd="sng" algn="ctr">
                      <a:solidFill>
                        <a:srgbClr val="D9D6E0"/>
                      </a:solidFill>
                      <a:prstDash val="solid"/>
                      <a:round/>
                      <a:headEnd type="none" w="med" len="med"/>
                      <a:tailEnd type="none" w="med" len="med"/>
                    </a:lnT>
                    <a:lnB w="12700" cap="flat" cmpd="sng" algn="ctr">
                      <a:solidFill>
                        <a:srgbClr val="D9D6E0"/>
                      </a:solidFill>
                      <a:prstDash val="solid"/>
                      <a:round/>
                      <a:headEnd type="none" w="med" len="med"/>
                      <a:tailEnd type="none" w="med" len="med"/>
                    </a:lnB>
                    <a:solidFill>
                      <a:srgbClr val="FFFFFF"/>
                    </a:solidFill>
                  </a:tcPr>
                </a:tc>
                <a:tc>
                  <a:txBody>
                    <a:bodyPr/>
                    <a:lstStyle/>
                    <a:p>
                      <a:pPr indent="0" marL="0">
                        <a:buNone/>
                      </a:pPr>
                      <a:r>
                        <a:rPr lang="en-US" sz="1200" dirty="0">
                          <a:solidFill>
                            <a:srgbClr val="3A3844"/>
                          </a:solidFill>
                          <a:latin typeface="Arial" pitchFamily="34" charset="0"/>
                          <a:ea typeface="Arial" pitchFamily="34" charset="-122"/>
                          <a:cs typeface="Arial" pitchFamily="34" charset="-120"/>
                        </a:rPr>
                        <a:t>Tarea T5: ¿dónde está el ancla de KSI y quién la controla?</a:t>
                      </a:r>
                      <a:endParaRPr lang="en-US" sz="1200" dirty="0">
                        <a:latin typeface="Arial" charset="0"/>
                        <a:ea typeface="Arial" charset="0"/>
                        <a:cs typeface="Arial" charset="0"/>
                      </a:endParaRPr>
                    </a:p>
                  </a:txBody>
                  <a:tcPr marL="101600" marR="101600" marT="76200" marB="76200" anchor="t">
                    <a:lnL w="12700" cap="flat" cmpd="sng" algn="ctr">
                      <a:solidFill>
                        <a:srgbClr val="D9D6E0"/>
                      </a:solidFill>
                      <a:prstDash val="solid"/>
                      <a:round/>
                      <a:headEnd type="none" w="med" len="med"/>
                      <a:tailEnd type="none" w="med" len="med"/>
                    </a:lnL>
                    <a:lnR w="12700" cap="flat" cmpd="sng" algn="ctr">
                      <a:solidFill>
                        <a:srgbClr val="D9D6E0"/>
                      </a:solidFill>
                      <a:prstDash val="solid"/>
                      <a:round/>
                      <a:headEnd type="none" w="med" len="med"/>
                      <a:tailEnd type="none" w="med" len="med"/>
                    </a:lnR>
                    <a:lnT w="12700" cap="flat" cmpd="sng" algn="ctr">
                      <a:solidFill>
                        <a:srgbClr val="D9D6E0"/>
                      </a:solidFill>
                      <a:prstDash val="solid"/>
                      <a:round/>
                      <a:headEnd type="none" w="med" len="med"/>
                      <a:tailEnd type="none" w="med" len="med"/>
                    </a:lnT>
                    <a:lnB w="12700" cap="flat" cmpd="sng" algn="ctr">
                      <a:solidFill>
                        <a:srgbClr val="D9D6E0"/>
                      </a:solidFill>
                      <a:prstDash val="solid"/>
                      <a:round/>
                      <a:headEnd type="none" w="med" len="med"/>
                      <a:tailEnd type="none" w="med" len="med"/>
                    </a:lnB>
                    <a:solidFill>
                      <a:srgbClr val="FFFFFF"/>
                    </a:solidFill>
                  </a:tcPr>
                </a:tc>
              </a:tr>
              <a:tr h="566928">
                <a:tc>
                  <a:txBody>
                    <a:bodyPr/>
                    <a:lstStyle/>
                    <a:p>
                      <a:pPr indent="0" marL="0">
                        <a:buNone/>
                      </a:pPr>
                      <a:r>
                        <a:rPr lang="en-US" sz="1200" b="1" dirty="0">
                          <a:solidFill>
                            <a:srgbClr val="0F0F11"/>
                          </a:solidFill>
                          <a:latin typeface="Courier New" pitchFamily="34" charset="0"/>
                          <a:ea typeface="Courier New" pitchFamily="34" charset="-122"/>
                          <a:cs typeface="Courier New" pitchFamily="34" charset="-120"/>
                        </a:rPr>
                        <a:t>Consenso entre partes que no confían entre sí (A.2)</a:t>
                      </a:r>
                      <a:endParaRPr lang="en-US" sz="1200" dirty="0">
                        <a:latin typeface="Courier New" charset="0"/>
                        <a:ea typeface="Courier New" charset="0"/>
                        <a:cs typeface="Courier New" charset="0"/>
                      </a:endParaRPr>
                    </a:p>
                  </a:txBody>
                  <a:tcPr marL="101600" marR="101600" marT="76200" marB="76200" anchor="t">
                    <a:lnL w="12700" cap="flat" cmpd="sng" algn="ctr">
                      <a:solidFill>
                        <a:srgbClr val="D9D6E0"/>
                      </a:solidFill>
                      <a:prstDash val="solid"/>
                      <a:round/>
                      <a:headEnd type="none" w="med" len="med"/>
                      <a:tailEnd type="none" w="med" len="med"/>
                    </a:lnL>
                    <a:lnR w="12700" cap="flat" cmpd="sng" algn="ctr">
                      <a:solidFill>
                        <a:srgbClr val="D9D6E0"/>
                      </a:solidFill>
                      <a:prstDash val="solid"/>
                      <a:round/>
                      <a:headEnd type="none" w="med" len="med"/>
                      <a:tailEnd type="none" w="med" len="med"/>
                    </a:lnR>
                    <a:lnT w="12700" cap="flat" cmpd="sng" algn="ctr">
                      <a:solidFill>
                        <a:srgbClr val="D9D6E0"/>
                      </a:solidFill>
                      <a:prstDash val="solid"/>
                      <a:round/>
                      <a:headEnd type="none" w="med" len="med"/>
                      <a:tailEnd type="none" w="med" len="med"/>
                    </a:lnT>
                    <a:lnB w="12700" cap="flat" cmpd="sng" algn="ctr">
                      <a:solidFill>
                        <a:srgbClr val="D9D6E0"/>
                      </a:solidFill>
                      <a:prstDash val="solid"/>
                      <a:round/>
                      <a:headEnd type="none" w="med" len="med"/>
                      <a:tailEnd type="none" w="med" len="med"/>
                    </a:lnB>
                    <a:solidFill>
                      <a:srgbClr val="FAF9FB"/>
                    </a:solidFill>
                  </a:tcPr>
                </a:tc>
                <a:tc>
                  <a:txBody>
                    <a:bodyPr/>
                    <a:lstStyle/>
                    <a:p>
                      <a:pPr indent="0" marL="0">
                        <a:buNone/>
                      </a:pPr>
                      <a:r>
                        <a:rPr lang="en-US" sz="1200" dirty="0">
                          <a:solidFill>
                            <a:srgbClr val="3A3844"/>
                          </a:solidFill>
                          <a:latin typeface="Arial" pitchFamily="34" charset="0"/>
                          <a:ea typeface="Arial" pitchFamily="34" charset="-122"/>
                          <a:cs typeface="Arial" pitchFamily="34" charset="-120"/>
                        </a:rPr>
                        <a:t>Tarea T5: ¿hay partes que no confían entre sí validando en KSI?</a:t>
                      </a:r>
                      <a:endParaRPr lang="en-US" sz="1200" dirty="0">
                        <a:latin typeface="Arial" charset="0"/>
                        <a:ea typeface="Arial" charset="0"/>
                        <a:cs typeface="Arial" charset="0"/>
                      </a:endParaRPr>
                    </a:p>
                  </a:txBody>
                  <a:tcPr marL="101600" marR="101600" marT="76200" marB="76200" anchor="t">
                    <a:lnL w="12700" cap="flat" cmpd="sng" algn="ctr">
                      <a:solidFill>
                        <a:srgbClr val="D9D6E0"/>
                      </a:solidFill>
                      <a:prstDash val="solid"/>
                      <a:round/>
                      <a:headEnd type="none" w="med" len="med"/>
                      <a:tailEnd type="none" w="med" len="med"/>
                    </a:lnL>
                    <a:lnR w="12700" cap="flat" cmpd="sng" algn="ctr">
                      <a:solidFill>
                        <a:srgbClr val="D9D6E0"/>
                      </a:solidFill>
                      <a:prstDash val="solid"/>
                      <a:round/>
                      <a:headEnd type="none" w="med" len="med"/>
                      <a:tailEnd type="none" w="med" len="med"/>
                    </a:lnR>
                    <a:lnT w="12700" cap="flat" cmpd="sng" algn="ctr">
                      <a:solidFill>
                        <a:srgbClr val="D9D6E0"/>
                      </a:solidFill>
                      <a:prstDash val="solid"/>
                      <a:round/>
                      <a:headEnd type="none" w="med" len="med"/>
                      <a:tailEnd type="none" w="med" len="med"/>
                    </a:lnT>
                    <a:lnB w="12700" cap="flat" cmpd="sng" algn="ctr">
                      <a:solidFill>
                        <a:srgbClr val="D9D6E0"/>
                      </a:solidFill>
                      <a:prstDash val="solid"/>
                      <a:round/>
                      <a:headEnd type="none" w="med" len="med"/>
                      <a:tailEnd type="none" w="med" len="med"/>
                    </a:lnB>
                    <a:solidFill>
                      <a:srgbClr val="FAF9FB"/>
                    </a:solidFill>
                  </a:tcPr>
                </a:tc>
              </a:tr>
              <a:tr h="566928">
                <a:tc>
                  <a:txBody>
                    <a:bodyPr/>
                    <a:lstStyle/>
                    <a:p>
                      <a:pPr indent="0" marL="0">
                        <a:buNone/>
                      </a:pPr>
                      <a:r>
                        <a:rPr lang="en-US" sz="1200" b="1" dirty="0">
                          <a:solidFill>
                            <a:srgbClr val="0F0F11"/>
                          </a:solidFill>
                          <a:latin typeface="Courier New" pitchFamily="34" charset="0"/>
                          <a:ea typeface="Courier New" pitchFamily="34" charset="-122"/>
                          <a:cs typeface="Courier New" pitchFamily="34" charset="-120"/>
                        </a:rPr>
                        <a:t>Finalidad y reorganización (A.18, A.20)</a:t>
                      </a:r>
                      <a:endParaRPr lang="en-US" sz="1200" dirty="0">
                        <a:latin typeface="Courier New" charset="0"/>
                        <a:ea typeface="Courier New" charset="0"/>
                        <a:cs typeface="Courier New" charset="0"/>
                      </a:endParaRPr>
                    </a:p>
                  </a:txBody>
                  <a:tcPr marL="101600" marR="101600" marT="76200" marB="76200" anchor="t">
                    <a:lnL w="12700" cap="flat" cmpd="sng" algn="ctr">
                      <a:solidFill>
                        <a:srgbClr val="D9D6E0"/>
                      </a:solidFill>
                      <a:prstDash val="solid"/>
                      <a:round/>
                      <a:headEnd type="none" w="med" len="med"/>
                      <a:tailEnd type="none" w="med" len="med"/>
                    </a:lnL>
                    <a:lnR w="12700" cap="flat" cmpd="sng" algn="ctr">
                      <a:solidFill>
                        <a:srgbClr val="D9D6E0"/>
                      </a:solidFill>
                      <a:prstDash val="solid"/>
                      <a:round/>
                      <a:headEnd type="none" w="med" len="med"/>
                      <a:tailEnd type="none" w="med" len="med"/>
                    </a:lnR>
                    <a:lnT w="12700" cap="flat" cmpd="sng" algn="ctr">
                      <a:solidFill>
                        <a:srgbClr val="D9D6E0"/>
                      </a:solidFill>
                      <a:prstDash val="solid"/>
                      <a:round/>
                      <a:headEnd type="none" w="med" len="med"/>
                      <a:tailEnd type="none" w="med" len="med"/>
                    </a:lnT>
                    <a:lnB w="12700" cap="flat" cmpd="sng" algn="ctr">
                      <a:solidFill>
                        <a:srgbClr val="D9D6E0"/>
                      </a:solidFill>
                      <a:prstDash val="solid"/>
                      <a:round/>
                      <a:headEnd type="none" w="med" len="med"/>
                      <a:tailEnd type="none" w="med" len="med"/>
                    </a:lnB>
                    <a:solidFill>
                      <a:srgbClr val="FFFFFF"/>
                    </a:solidFill>
                  </a:tcPr>
                </a:tc>
                <a:tc>
                  <a:txBody>
                    <a:bodyPr/>
                    <a:lstStyle/>
                    <a:p>
                      <a:pPr indent="0" marL="0">
                        <a:buNone/>
                      </a:pPr>
                      <a:r>
                        <a:rPr lang="en-US" sz="1200" dirty="0">
                          <a:solidFill>
                            <a:srgbClr val="3A3844"/>
                          </a:solidFill>
                          <a:latin typeface="Arial" pitchFamily="34" charset="0"/>
                          <a:ea typeface="Arial" pitchFamily="34" charset="-122"/>
                          <a:cs typeface="Arial" pitchFamily="34" charset="-120"/>
                        </a:rPr>
                        <a:t>Tarea T6: ¿qué tendría que cambiar para que el veredicto se invirtiera?</a:t>
                      </a:r>
                      <a:endParaRPr lang="en-US" sz="1200" dirty="0">
                        <a:latin typeface="Arial" charset="0"/>
                        <a:ea typeface="Arial" charset="0"/>
                        <a:cs typeface="Arial" charset="0"/>
                      </a:endParaRPr>
                    </a:p>
                  </a:txBody>
                  <a:tcPr marL="101600" marR="101600" marT="76200" marB="76200" anchor="t">
                    <a:lnL w="12700" cap="flat" cmpd="sng" algn="ctr">
                      <a:solidFill>
                        <a:srgbClr val="D9D6E0"/>
                      </a:solidFill>
                      <a:prstDash val="solid"/>
                      <a:round/>
                      <a:headEnd type="none" w="med" len="med"/>
                      <a:tailEnd type="none" w="med" len="med"/>
                    </a:lnL>
                    <a:lnR w="12700" cap="flat" cmpd="sng" algn="ctr">
                      <a:solidFill>
                        <a:srgbClr val="D9D6E0"/>
                      </a:solidFill>
                      <a:prstDash val="solid"/>
                      <a:round/>
                      <a:headEnd type="none" w="med" len="med"/>
                      <a:tailEnd type="none" w="med" len="med"/>
                    </a:lnR>
                    <a:lnT w="12700" cap="flat" cmpd="sng" algn="ctr">
                      <a:solidFill>
                        <a:srgbClr val="D9D6E0"/>
                      </a:solidFill>
                      <a:prstDash val="solid"/>
                      <a:round/>
                      <a:headEnd type="none" w="med" len="med"/>
                      <a:tailEnd type="none" w="med" len="med"/>
                    </a:lnT>
                    <a:lnB w="12700" cap="flat" cmpd="sng" algn="ctr">
                      <a:solidFill>
                        <a:srgbClr val="D9D6E0"/>
                      </a:solidFill>
                      <a:prstDash val="solid"/>
                      <a:round/>
                      <a:headEnd type="none" w="med" len="med"/>
                      <a:tailEnd type="none" w="med" len="med"/>
                    </a:lnB>
                    <a:solidFill>
                      <a:srgbClr val="FFFFFF"/>
                    </a:solidFill>
                  </a:tcPr>
                </a:tc>
              </a:tr>
            </a:tbl>
          </a:graphicData>
        </a:graphic>
      </p:graphicFrame>
      <p:sp>
        <p:nvSpPr>
          <p:cNvPr id="10" name="Shape 6"/>
          <p:cNvSpPr/>
          <p:nvPr/>
        </p:nvSpPr>
        <p:spPr>
          <a:xfrm>
            <a:off x="548640" y="2770632"/>
            <a:ext cx="11094415" cy="2048256"/>
          </a:xfrm>
          <a:prstGeom prst="rect">
            <a:avLst/>
          </a:prstGeom>
          <a:ln w="22225">
            <a:solidFill>
              <a:srgbClr val="0F0F11"/>
            </a:solidFill>
            <a:prstDash val="solid"/>
          </a:ln>
        </p:spPr>
      </p:sp>
      <p:sp>
        <p:nvSpPr>
          <p:cNvPr id="11" name="Shape 7"/>
          <p:cNvSpPr/>
          <p:nvPr/>
        </p:nvSpPr>
        <p:spPr>
          <a:xfrm>
            <a:off x="566928" y="4983480"/>
            <a:ext cx="11057839" cy="1161288"/>
          </a:xfrm>
          <a:prstGeom prst="rect">
            <a:avLst/>
          </a:prstGeom>
          <a:solidFill>
            <a:srgbClr val="FFFFFF"/>
          </a:solidFill>
          <a:ln w="22225">
            <a:solidFill>
              <a:srgbClr val="F07F06"/>
            </a:solidFill>
            <a:prstDash val="solid"/>
          </a:ln>
          <a:effectLst>
            <a:outerShdw sx="100000" sy="100000" kx="0" ky="0" algn="bl" rotWithShape="0" blurRad="101600" dist="63500" dir="2700000">
              <a:srgbClr val="F07F06">
                <a:alpha val="100000"/>
              </a:srgbClr>
            </a:outerShdw>
          </a:effectLst>
        </p:spPr>
      </p:sp>
      <p:pic>
        <p:nvPicPr>
          <p:cNvPr id="12" name="Image 1" descr="preencoded.png">    </p:cNvPr>
          <p:cNvPicPr>
            <a:picLocks noChangeAspect="1"/>
          </p:cNvPicPr>
          <p:nvPr/>
        </p:nvPicPr>
        <p:blipFill>
          <a:blip r:embed="rId2"/>
          <a:stretch>
            <a:fillRect/>
          </a:stretch>
        </p:blipFill>
        <p:spPr>
          <a:xfrm>
            <a:off x="804672" y="5202936"/>
            <a:ext cx="237744" cy="237744"/>
          </a:xfrm>
          <a:prstGeom prst="rect">
            <a:avLst/>
          </a:prstGeom>
        </p:spPr>
      </p:pic>
      <p:sp>
        <p:nvSpPr>
          <p:cNvPr id="13" name="Text 8"/>
          <p:cNvSpPr/>
          <p:nvPr/>
        </p:nvSpPr>
        <p:spPr>
          <a:xfrm>
            <a:off x="1133856" y="5175504"/>
            <a:ext cx="10234879" cy="292608"/>
          </a:xfrm>
          <a:prstGeom prst="rect">
            <a:avLst/>
          </a:prstGeom>
          <a:noFill/>
          <a:ln/>
        </p:spPr>
        <p:txBody>
          <a:bodyPr wrap="square" lIns="0" tIns="0" rIns="0" bIns="0" rtlCol="0" anchor="ctr"/>
          <a:lstStyle/>
          <a:p>
            <a:pPr indent="0" marL="0">
              <a:buNone/>
            </a:pPr>
            <a:r>
              <a:rPr lang="en-US" sz="950" b="1" spc="150" kern="0" dirty="0">
                <a:solidFill>
                  <a:srgbClr val="A35604"/>
                </a:solidFill>
                <a:latin typeface="Courier New" pitchFamily="34" charset="0"/>
                <a:ea typeface="Courier New" pitchFamily="34" charset="-122"/>
                <a:cs typeface="Courier New" pitchFamily="34" charset="-120"/>
              </a:rPr>
              <a:t>MATERIAL DE LA ACTIVIDAD</a:t>
            </a:r>
            <a:endParaRPr lang="en-US" sz="950" dirty="0"/>
          </a:p>
        </p:txBody>
      </p:sp>
      <p:sp>
        <p:nvSpPr>
          <p:cNvPr id="14" name="Text 9"/>
          <p:cNvSpPr/>
          <p:nvPr/>
        </p:nvSpPr>
        <p:spPr>
          <a:xfrm>
            <a:off x="804672" y="5495544"/>
            <a:ext cx="10582351" cy="557784"/>
          </a:xfrm>
          <a:prstGeom prst="rect">
            <a:avLst/>
          </a:prstGeom>
          <a:noFill/>
          <a:ln/>
        </p:spPr>
        <p:txBody>
          <a:bodyPr wrap="square" lIns="0" tIns="0" rIns="0" bIns="0" rtlCol="0" anchor="t"/>
          <a:lstStyle/>
          <a:p>
            <a:pPr indent="0" marL="0">
              <a:lnSpc>
                <a:spcPct val="124000"/>
              </a:lnSpc>
              <a:buNone/>
            </a:pPr>
            <a:r>
              <a:rPr lang="en-US" sz="1300" dirty="0">
                <a:solidFill>
                  <a:srgbClr val="3A3844"/>
                </a:solidFill>
                <a:latin typeface="Arial" pitchFamily="34" charset="0"/>
                <a:ea typeface="Arial" pitchFamily="34" charset="-122"/>
                <a:cs typeface="Arial" pitchFamily="34" charset="-120"/>
              </a:rPr>
              <a:t>Guía en PDF para los estudiantes y deck de presentación aparte: «Actividad-04-El-caso-Estonia». Las reglas, las fuentes y la rúbrica están allí.</a:t>
            </a:r>
            <a:endParaRPr lang="en-US" sz="1300" dirty="0"/>
          </a:p>
        </p:txBody>
      </p:sp>
    </p:spTree>
  </p:cSld>
  <p:clrMapOvr>
    <a:masterClrMapping/>
  </p:clrMapOvr>
</p:sld>
</file>

<file path=ppt/slides/slide35.xml><?xml version="1.0" encoding="utf-8"?>
<p:sld xmlns:a="http://schemas.openxmlformats.org/drawingml/2006/main" xmlns:r="http://schemas.openxmlformats.org/officeDocument/2006/relationships" xmlns:p="http://schemas.openxmlformats.org/presentationml/2006/main">
  <p:cSld name="Slide 35">
    <p:bg>
      <p:bgPr>
        <a:solidFill>
          <a:srgbClr val="0F0F11"/>
        </a:solidFill>
      </p:bgPr>
    </p:bg>
    <p:spTree>
      <p:nvGrpSpPr>
        <p:cNvPr id="1" name=""/>
        <p:cNvGrpSpPr/>
        <p:nvPr/>
      </p:nvGrpSpPr>
      <p:grpSpPr>
        <a:xfrm>
          <a:off x="0" y="0"/>
          <a:ext cx="0" cy="0"/>
          <a:chOff x="0" y="0"/>
          <a:chExt cx="0" cy="0"/>
        </a:xfrm>
      </p:grpSpPr>
      <p:sp>
        <p:nvSpPr>
          <p:cNvPr id="2" name="Shape 0"/>
          <p:cNvSpPr/>
          <p:nvPr/>
        </p:nvSpPr>
        <p:spPr>
          <a:xfrm>
            <a:off x="0" y="2240280"/>
            <a:ext cx="3017520" cy="2377440"/>
          </a:xfrm>
          <a:prstGeom prst="rect">
            <a:avLst/>
          </a:prstGeom>
          <a:solidFill>
            <a:srgbClr val="F07F06"/>
          </a:solidFill>
          <a:ln w="12700">
            <a:solidFill>
              <a:srgbClr val="F07F06"/>
            </a:solidFill>
            <a:prstDash val="solid"/>
          </a:ln>
        </p:spPr>
      </p:sp>
      <p:sp>
        <p:nvSpPr>
          <p:cNvPr id="3" name="Text 1"/>
          <p:cNvSpPr/>
          <p:nvPr/>
        </p:nvSpPr>
        <p:spPr>
          <a:xfrm>
            <a:off x="0" y="2240280"/>
            <a:ext cx="3017520" cy="2377440"/>
          </a:xfrm>
          <a:prstGeom prst="rect">
            <a:avLst/>
          </a:prstGeom>
          <a:noFill/>
          <a:ln/>
        </p:spPr>
        <p:txBody>
          <a:bodyPr wrap="square" lIns="0" tIns="0" rIns="0" bIns="0" rtlCol="0" anchor="ctr"/>
          <a:lstStyle/>
          <a:p>
            <a:pPr algn="ctr" indent="0" marL="0">
              <a:buNone/>
            </a:pPr>
            <a:r>
              <a:rPr lang="en-US" sz="11800" dirty="0">
                <a:solidFill>
                  <a:srgbClr val="0F0F11"/>
                </a:solidFill>
                <a:latin typeface="Arial Black" pitchFamily="34" charset="0"/>
                <a:ea typeface="Arial Black" pitchFamily="34" charset="-122"/>
                <a:cs typeface="Arial Black" pitchFamily="34" charset="-120"/>
              </a:rPr>
              <a:t>C</a:t>
            </a:r>
            <a:endParaRPr lang="en-US" sz="11800" dirty="0"/>
          </a:p>
        </p:txBody>
      </p:sp>
      <p:pic>
        <p:nvPicPr>
          <p:cNvPr id="4" name="Image 0" descr="preencoded.png">    </p:cNvPr>
          <p:cNvPicPr>
            <a:picLocks noChangeAspect="1"/>
          </p:cNvPicPr>
          <p:nvPr/>
        </p:nvPicPr>
        <p:blipFill>
          <a:blip r:embed="rId1"/>
          <a:stretch>
            <a:fillRect/>
          </a:stretch>
        </p:blipFill>
        <p:spPr>
          <a:xfrm>
            <a:off x="3611880" y="2286000"/>
            <a:ext cx="329184" cy="329184"/>
          </a:xfrm>
          <a:prstGeom prst="rect">
            <a:avLst/>
          </a:prstGeom>
        </p:spPr>
      </p:pic>
      <p:sp>
        <p:nvSpPr>
          <p:cNvPr id="5" name="Text 2"/>
          <p:cNvSpPr/>
          <p:nvPr/>
        </p:nvSpPr>
        <p:spPr>
          <a:xfrm>
            <a:off x="4069080" y="2258568"/>
            <a:ext cx="7223760" cy="365760"/>
          </a:xfrm>
          <a:prstGeom prst="rect">
            <a:avLst/>
          </a:prstGeom>
          <a:noFill/>
          <a:ln/>
        </p:spPr>
        <p:txBody>
          <a:bodyPr wrap="square" lIns="0" tIns="0" rIns="0" bIns="0" rtlCol="0" anchor="ctr"/>
          <a:lstStyle/>
          <a:p>
            <a:pPr indent="0" marL="0">
              <a:buNone/>
            </a:pPr>
            <a:r>
              <a:rPr lang="en-US" sz="1100" spc="180" kern="0" dirty="0">
                <a:solidFill>
                  <a:srgbClr val="F07F06"/>
                </a:solidFill>
                <a:latin typeface="Courier New" pitchFamily="34" charset="0"/>
                <a:ea typeface="Courier New" pitchFamily="34" charset="-122"/>
                <a:cs typeface="Courier New" pitchFamily="34" charset="-120"/>
              </a:rPr>
              <a:t>30 MINUTOS · 12 % DE LA NOTA FINAL</a:t>
            </a:r>
            <a:endParaRPr lang="en-US" sz="1100" dirty="0"/>
          </a:p>
        </p:txBody>
      </p:sp>
      <p:sp>
        <p:nvSpPr>
          <p:cNvPr id="6" name="Text 3"/>
          <p:cNvSpPr/>
          <p:nvPr/>
        </p:nvSpPr>
        <p:spPr>
          <a:xfrm>
            <a:off x="3611880" y="2724912"/>
            <a:ext cx="7955280" cy="1325880"/>
          </a:xfrm>
          <a:prstGeom prst="rect">
            <a:avLst/>
          </a:prstGeom>
          <a:noFill/>
          <a:ln/>
        </p:spPr>
        <p:txBody>
          <a:bodyPr wrap="square" lIns="0" tIns="0" rIns="0" bIns="0" rtlCol="0" anchor="t"/>
          <a:lstStyle/>
          <a:p>
            <a:pPr indent="0" marL="0">
              <a:lnSpc>
                <a:spcPct val="98000"/>
              </a:lnSpc>
              <a:buNone/>
            </a:pPr>
            <a:r>
              <a:rPr lang="en-US" sz="3400" dirty="0">
                <a:solidFill>
                  <a:srgbClr val="FFFFFF"/>
                </a:solidFill>
                <a:latin typeface="Arial Black" pitchFamily="34" charset="0"/>
                <a:ea typeface="Arial Black" pitchFamily="34" charset="-122"/>
                <a:cs typeface="Arial Black" pitchFamily="34" charset="-120"/>
              </a:rPr>
              <a:t>QUIZ 1 · UNIDAD I</a:t>
            </a:r>
            <a:endParaRPr lang="en-US" sz="3400" dirty="0"/>
          </a:p>
        </p:txBody>
      </p:sp>
      <p:sp>
        <p:nvSpPr>
          <p:cNvPr id="7" name="Text 4"/>
          <p:cNvSpPr/>
          <p:nvPr/>
        </p:nvSpPr>
        <p:spPr>
          <a:xfrm>
            <a:off x="3611880" y="4133088"/>
            <a:ext cx="7680960" cy="1051560"/>
          </a:xfrm>
          <a:prstGeom prst="rect">
            <a:avLst/>
          </a:prstGeom>
          <a:noFill/>
          <a:ln/>
        </p:spPr>
        <p:txBody>
          <a:bodyPr wrap="square" lIns="0" tIns="0" rIns="0" bIns="0" rtlCol="0" anchor="t"/>
          <a:lstStyle/>
          <a:p>
            <a:pPr indent="0" marL="0">
              <a:lnSpc>
                <a:spcPct val="125000"/>
              </a:lnSpc>
              <a:buNone/>
            </a:pPr>
            <a:r>
              <a:rPr lang="en-US" sz="1400" dirty="0">
                <a:solidFill>
                  <a:srgbClr val="B9B4C4"/>
                </a:solidFill>
                <a:latin typeface="Arial" pitchFamily="34" charset="0"/>
                <a:ea typeface="Arial" pitchFamily="34" charset="-122"/>
                <a:cs typeface="Arial" pitchFamily="34" charset="-120"/>
              </a:rPr>
              <a:t>Treinta minutos, individual y sin apuntes. Evalúa las sesiones 1 a 4: RA1 y RA2.</a:t>
            </a:r>
            <a:endParaRPr lang="en-US" sz="1400" dirty="0"/>
          </a:p>
        </p:txBody>
      </p:sp>
      <p:sp>
        <p:nvSpPr>
          <p:cNvPr id="8" name="Text 5"/>
          <p:cNvSpPr/>
          <p:nvPr/>
        </p:nvSpPr>
        <p:spPr>
          <a:xfrm>
            <a:off x="566928" y="6291072"/>
            <a:ext cx="8412480" cy="274320"/>
          </a:xfrm>
          <a:prstGeom prst="rect">
            <a:avLst/>
          </a:prstGeom>
          <a:noFill/>
          <a:ln/>
        </p:spPr>
        <p:txBody>
          <a:bodyPr wrap="square" lIns="0" tIns="0" rIns="0" bIns="0" rtlCol="0" anchor="ctr"/>
          <a:lstStyle/>
          <a:p>
            <a:pPr indent="0" marL="0">
              <a:buNone/>
            </a:pPr>
            <a:r>
              <a:rPr lang="en-US" sz="800" spc="120" kern="0" dirty="0">
                <a:solidFill>
                  <a:srgbClr val="6E6A7C"/>
                </a:solidFill>
                <a:latin typeface="Courier New" pitchFamily="34" charset="0"/>
                <a:ea typeface="Courier New" pitchFamily="34" charset="-122"/>
                <a:cs typeface="Courier New" pitchFamily="34" charset="-120"/>
              </a:rPr>
              <a:t>SESIÓN 04 · CONSENSO, INCENTIVOS Y EL TRILEMA</a:t>
            </a:r>
            <a:endParaRPr lang="en-US" sz="800" dirty="0"/>
          </a:p>
        </p:txBody>
      </p:sp>
      <p:sp>
        <p:nvSpPr>
          <p:cNvPr id="9" name="Text 6"/>
          <p:cNvSpPr/>
          <p:nvPr/>
        </p:nvSpPr>
        <p:spPr>
          <a:xfrm>
            <a:off x="9052560" y="6291072"/>
            <a:ext cx="1828800" cy="274320"/>
          </a:xfrm>
          <a:prstGeom prst="rect">
            <a:avLst/>
          </a:prstGeom>
          <a:noFill/>
          <a:ln/>
        </p:spPr>
        <p:txBody>
          <a:bodyPr wrap="square" lIns="0" tIns="0" rIns="0" bIns="0" rtlCol="0" anchor="ctr"/>
          <a:lstStyle/>
          <a:p>
            <a:pPr algn="r" indent="0" marL="0">
              <a:buNone/>
            </a:pPr>
            <a:r>
              <a:rPr lang="en-US" sz="800" spc="120" kern="0" dirty="0">
                <a:solidFill>
                  <a:srgbClr val="6E6A7C"/>
                </a:solidFill>
                <a:latin typeface="Courier New" pitchFamily="34" charset="0"/>
                <a:ea typeface="Courier New" pitchFamily="34" charset="-122"/>
                <a:cs typeface="Courier New" pitchFamily="34" charset="-120"/>
              </a:rPr>
              <a:t>USB MEDELLÍN</a:t>
            </a:r>
            <a:endParaRPr lang="en-US" sz="800" dirty="0"/>
          </a:p>
        </p:txBody>
      </p:sp>
      <p:sp>
        <p:nvSpPr>
          <p:cNvPr id="10" name="Text 7"/>
          <p:cNvSpPr/>
          <p:nvPr/>
        </p:nvSpPr>
        <p:spPr>
          <a:xfrm>
            <a:off x="11018520" y="6291072"/>
            <a:ext cx="603504" cy="274320"/>
          </a:xfrm>
          <a:prstGeom prst="rect">
            <a:avLst/>
          </a:prstGeom>
          <a:noFill/>
          <a:ln/>
        </p:spPr>
        <p:txBody>
          <a:bodyPr wrap="square" lIns="0" tIns="0" rIns="0" bIns="0" rtlCol="0" anchor="ctr"/>
          <a:lstStyle/>
          <a:p>
            <a:pPr algn="r" indent="0" marL="0">
              <a:buNone/>
            </a:pPr>
            <a:r>
              <a:rPr lang="en-US" sz="900" b="1" dirty="0">
                <a:solidFill>
                  <a:srgbClr val="F07F06"/>
                </a:solidFill>
                <a:latin typeface="Courier New" pitchFamily="34" charset="0"/>
                <a:ea typeface="Courier New" pitchFamily="34" charset="-122"/>
                <a:cs typeface="Courier New" pitchFamily="34" charset="-120"/>
              </a:rPr>
              <a:t>35</a:t>
            </a:r>
            <a:endParaRPr lang="en-US" sz="900" dirty="0"/>
          </a:p>
        </p:txBody>
      </p:sp>
    </p:spTree>
  </p:cSld>
  <p:clrMapOvr>
    <a:masterClrMapping/>
  </p:clrMapOvr>
</p:sld>
</file>

<file path=ppt/slides/slide36.xml><?xml version="1.0" encoding="utf-8"?>
<p:sld xmlns:a="http://schemas.openxmlformats.org/drawingml/2006/main" xmlns:r="http://schemas.openxmlformats.org/officeDocument/2006/relationships" xmlns:p="http://schemas.openxmlformats.org/presentationml/2006/main">
  <p:cSld name="Slide 36">
    <p:bg>
      <p:bgPr>
        <a:solidFill>
          <a:srgbClr val="FFFFFF"/>
        </a:solidFill>
      </p:bgPr>
    </p:bg>
    <p:spTree>
      <p:nvGrpSpPr>
        <p:cNvPr id="1" name=""/>
        <p:cNvGrpSpPr/>
        <p:nvPr/>
      </p:nvGrpSpPr>
      <p:grpSpPr>
        <a:xfrm>
          <a:off x="0" y="0"/>
          <a:ext cx="0" cy="0"/>
          <a:chOff x="0" y="0"/>
          <a:chExt cx="0" cy="0"/>
        </a:xfrm>
      </p:grpSpPr>
      <p:pic>
        <p:nvPicPr>
          <p:cNvPr id="2" name="Image 0" descr="preencoded.png">    </p:cNvPr>
          <p:cNvPicPr>
            <a:picLocks noChangeAspect="1"/>
          </p:cNvPicPr>
          <p:nvPr/>
        </p:nvPicPr>
        <p:blipFill>
          <a:blip r:embed="rId1"/>
          <a:stretch>
            <a:fillRect/>
          </a:stretch>
        </p:blipFill>
        <p:spPr>
          <a:xfrm>
            <a:off x="566928" y="402336"/>
            <a:ext cx="274320" cy="274320"/>
          </a:xfrm>
          <a:prstGeom prst="rect">
            <a:avLst/>
          </a:prstGeom>
        </p:spPr>
      </p:pic>
      <p:sp>
        <p:nvSpPr>
          <p:cNvPr id="3" name="Text 0"/>
          <p:cNvSpPr/>
          <p:nvPr/>
        </p:nvSpPr>
        <p:spPr>
          <a:xfrm>
            <a:off x="969264" y="384048"/>
            <a:ext cx="10655503" cy="310896"/>
          </a:xfrm>
          <a:prstGeom prst="rect">
            <a:avLst/>
          </a:prstGeom>
          <a:noFill/>
          <a:ln/>
        </p:spPr>
        <p:txBody>
          <a:bodyPr wrap="square" lIns="0" tIns="0" rIns="0" bIns="0" rtlCol="0" anchor="ctr"/>
          <a:lstStyle/>
          <a:p>
            <a:pPr indent="0" marL="0">
              <a:buNone/>
            </a:pPr>
            <a:r>
              <a:rPr lang="en-US" sz="950" spc="160" kern="0" dirty="0">
                <a:solidFill>
                  <a:srgbClr val="6F6B80"/>
                </a:solidFill>
                <a:latin typeface="Courier New" pitchFamily="34" charset="0"/>
                <a:ea typeface="Courier New" pitchFamily="34" charset="-122"/>
                <a:cs typeface="Courier New" pitchFamily="34" charset="-120"/>
              </a:rPr>
              <a:t>C.1 · CONDICIONES</a:t>
            </a:r>
            <a:endParaRPr lang="en-US" sz="950" dirty="0"/>
          </a:p>
        </p:txBody>
      </p:sp>
      <p:sp>
        <p:nvSpPr>
          <p:cNvPr id="4" name="Text 1"/>
          <p:cNvSpPr/>
          <p:nvPr/>
        </p:nvSpPr>
        <p:spPr>
          <a:xfrm>
            <a:off x="566928" y="777240"/>
            <a:ext cx="11057839" cy="777240"/>
          </a:xfrm>
          <a:prstGeom prst="rect">
            <a:avLst/>
          </a:prstGeom>
          <a:noFill/>
          <a:ln/>
        </p:spPr>
        <p:txBody>
          <a:bodyPr wrap="square" lIns="0" tIns="0" rIns="0" bIns="0" rtlCol="0" anchor="t"/>
          <a:lstStyle/>
          <a:p>
            <a:pPr indent="0" marL="0">
              <a:lnSpc>
                <a:spcPct val="92000"/>
              </a:lnSpc>
              <a:buNone/>
            </a:pPr>
            <a:r>
              <a:rPr lang="en-US" sz="3000" dirty="0">
                <a:solidFill>
                  <a:srgbClr val="0F0F11"/>
                </a:solidFill>
                <a:latin typeface="Arial Black" pitchFamily="34" charset="0"/>
                <a:ea typeface="Arial Black" pitchFamily="34" charset="-122"/>
                <a:cs typeface="Arial Black" pitchFamily="34" charset="-120"/>
              </a:rPr>
              <a:t>CÓMO ES EL QUIZ</a:t>
            </a:r>
            <a:endParaRPr lang="en-US" sz="3000" dirty="0"/>
          </a:p>
        </p:txBody>
      </p:sp>
      <p:sp>
        <p:nvSpPr>
          <p:cNvPr id="5" name="Text 2"/>
          <p:cNvSpPr/>
          <p:nvPr/>
        </p:nvSpPr>
        <p:spPr>
          <a:xfrm>
            <a:off x="566928" y="6291072"/>
            <a:ext cx="8412480" cy="274320"/>
          </a:xfrm>
          <a:prstGeom prst="rect">
            <a:avLst/>
          </a:prstGeom>
          <a:noFill/>
          <a:ln/>
        </p:spPr>
        <p:txBody>
          <a:bodyPr wrap="square" lIns="0" tIns="0" rIns="0" bIns="0" rtlCol="0" anchor="ctr"/>
          <a:lstStyle/>
          <a:p>
            <a:pPr indent="0" marL="0">
              <a:buNone/>
            </a:pPr>
            <a:r>
              <a:rPr lang="en-US" sz="800" spc="120" kern="0" dirty="0">
                <a:solidFill>
                  <a:srgbClr val="6F6B80"/>
                </a:solidFill>
                <a:latin typeface="Courier New" pitchFamily="34" charset="0"/>
                <a:ea typeface="Courier New" pitchFamily="34" charset="-122"/>
                <a:cs typeface="Courier New" pitchFamily="34" charset="-120"/>
              </a:rPr>
              <a:t>SESIÓN 04 · CONSENSO, INCENTIVOS Y EL TRILEMA</a:t>
            </a:r>
            <a:endParaRPr lang="en-US" sz="800" dirty="0"/>
          </a:p>
        </p:txBody>
      </p:sp>
      <p:sp>
        <p:nvSpPr>
          <p:cNvPr id="6" name="Text 3"/>
          <p:cNvSpPr/>
          <p:nvPr/>
        </p:nvSpPr>
        <p:spPr>
          <a:xfrm>
            <a:off x="9052560" y="6291072"/>
            <a:ext cx="1828800" cy="274320"/>
          </a:xfrm>
          <a:prstGeom prst="rect">
            <a:avLst/>
          </a:prstGeom>
          <a:noFill/>
          <a:ln/>
        </p:spPr>
        <p:txBody>
          <a:bodyPr wrap="square" lIns="0" tIns="0" rIns="0" bIns="0" rtlCol="0" anchor="ctr"/>
          <a:lstStyle/>
          <a:p>
            <a:pPr algn="r" indent="0" marL="0">
              <a:buNone/>
            </a:pPr>
            <a:r>
              <a:rPr lang="en-US" sz="800" spc="120" kern="0" dirty="0">
                <a:solidFill>
                  <a:srgbClr val="6F6B80"/>
                </a:solidFill>
                <a:latin typeface="Courier New" pitchFamily="34" charset="0"/>
                <a:ea typeface="Courier New" pitchFamily="34" charset="-122"/>
                <a:cs typeface="Courier New" pitchFamily="34" charset="-120"/>
              </a:rPr>
              <a:t>USB MEDELLÍN</a:t>
            </a:r>
            <a:endParaRPr lang="en-US" sz="800" dirty="0"/>
          </a:p>
        </p:txBody>
      </p:sp>
      <p:sp>
        <p:nvSpPr>
          <p:cNvPr id="7" name="Text 4"/>
          <p:cNvSpPr/>
          <p:nvPr/>
        </p:nvSpPr>
        <p:spPr>
          <a:xfrm>
            <a:off x="11018520" y="6291072"/>
            <a:ext cx="603504" cy="274320"/>
          </a:xfrm>
          <a:prstGeom prst="rect">
            <a:avLst/>
          </a:prstGeom>
          <a:noFill/>
          <a:ln/>
        </p:spPr>
        <p:txBody>
          <a:bodyPr wrap="square" lIns="0" tIns="0" rIns="0" bIns="0" rtlCol="0" anchor="ctr"/>
          <a:lstStyle/>
          <a:p>
            <a:pPr algn="r" indent="0" marL="0">
              <a:buNone/>
            </a:pPr>
            <a:r>
              <a:rPr lang="en-US" sz="900" b="1" dirty="0">
                <a:solidFill>
                  <a:srgbClr val="0F0F11"/>
                </a:solidFill>
                <a:latin typeface="Courier New" pitchFamily="34" charset="0"/>
                <a:ea typeface="Courier New" pitchFamily="34" charset="-122"/>
                <a:cs typeface="Courier New" pitchFamily="34" charset="-120"/>
              </a:rPr>
              <a:t>36</a:t>
            </a:r>
            <a:endParaRPr lang="en-US" sz="900" dirty="0"/>
          </a:p>
        </p:txBody>
      </p:sp>
      <p:graphicFrame>
        <p:nvGraphicFramePr>
          <p:cNvPr id="37" name="Table 0"/>
          <p:cNvGraphicFramePr>
            <a:graphicFrameLocks noGrp="1"/>
          </p:cNvGraphicFramePr>
          <p:nvPr>
            <p:extLst>
              <p:ext uri="{D42A27DB-BD31-4B8C-83A1-F6EECF244321}">
                <p14:modId xmlns:p14="http://schemas.microsoft.com/office/powerpoint/2010/main" val="1579011935"/>
              </p:ext>
            </p:extLst>
          </p:nvPr>
        </p:nvGraphicFramePr>
        <p:xfrm>
          <a:off x="566928" y="1737360"/>
          <a:ext cx="11057839" cy="914400"/>
        </p:xfrm>
        <a:graphic>
          <a:graphicData uri="http://schemas.openxmlformats.org/drawingml/2006/table">
            <a:tbl>
              <a:tblPr/>
              <a:tblGrid>
                <a:gridCol w="2011680"/>
                <a:gridCol w="9046159"/>
              </a:tblGrid>
              <a:tr h="310896">
                <a:tc>
                  <a:txBody>
                    <a:bodyPr/>
                    <a:lstStyle/>
                    <a:p>
                      <a:pPr indent="0" marL="0">
                        <a:buNone/>
                      </a:pPr>
                      <a:endParaRPr lang="en-US" sz="900" dirty="0">
                        <a:latin typeface="Courier New" charset="0"/>
                        <a:ea typeface="Courier New" charset="0"/>
                        <a:cs typeface="Courier New" charset="0"/>
                      </a:endParaRPr>
                    </a:p>
                  </a:txBody>
                  <a:tcPr marL="101600" marR="101600" marT="76200" marB="76200" anchor="ctr">
                    <a:lnL w="12700" cap="flat" cmpd="sng" algn="ctr">
                      <a:solidFill>
                        <a:srgbClr val="D9D6E0"/>
                      </a:solidFill>
                      <a:prstDash val="solid"/>
                      <a:round/>
                      <a:headEnd type="none" w="med" len="med"/>
                      <a:tailEnd type="none" w="med" len="med"/>
                    </a:lnL>
                    <a:lnR w="12700" cap="flat" cmpd="sng" algn="ctr">
                      <a:solidFill>
                        <a:srgbClr val="D9D6E0"/>
                      </a:solidFill>
                      <a:prstDash val="solid"/>
                      <a:round/>
                      <a:headEnd type="none" w="med" len="med"/>
                      <a:tailEnd type="none" w="med" len="med"/>
                    </a:lnR>
                    <a:lnT w="12700" cap="flat" cmpd="sng" algn="ctr">
                      <a:solidFill>
                        <a:srgbClr val="D9D6E0"/>
                      </a:solidFill>
                      <a:prstDash val="solid"/>
                      <a:round/>
                      <a:headEnd type="none" w="med" len="med"/>
                      <a:tailEnd type="none" w="med" len="med"/>
                    </a:lnT>
                    <a:lnB w="12700" cap="flat" cmpd="sng" algn="ctr">
                      <a:solidFill>
                        <a:srgbClr val="D9D6E0"/>
                      </a:solidFill>
                      <a:prstDash val="solid"/>
                      <a:round/>
                      <a:headEnd type="none" w="med" len="med"/>
                      <a:tailEnd type="none" w="med" len="med"/>
                    </a:lnB>
                    <a:solidFill>
                      <a:srgbClr val="0F0F11"/>
                    </a:solidFill>
                  </a:tcPr>
                </a:tc>
                <a:tc>
                  <a:txBody>
                    <a:bodyPr/>
                    <a:lstStyle/>
                    <a:p>
                      <a:pPr indent="0" marL="0">
                        <a:buNone/>
                      </a:pPr>
                      <a:r>
                        <a:rPr lang="en-US" sz="900" b="1" spc="110" kern="0" dirty="0">
                          <a:solidFill>
                            <a:srgbClr val="FFFFFF"/>
                          </a:solidFill>
                          <a:latin typeface="Courier New" pitchFamily="34" charset="0"/>
                          <a:ea typeface="Courier New" pitchFamily="34" charset="-122"/>
                          <a:cs typeface="Courier New" pitchFamily="34" charset="-120"/>
                        </a:rPr>
                        <a:t>DETALLE</a:t>
                      </a:r>
                      <a:endParaRPr lang="en-US" sz="900" dirty="0">
                        <a:latin typeface="Courier New" charset="0"/>
                        <a:ea typeface="Courier New" charset="0"/>
                        <a:cs typeface="Courier New" charset="0"/>
                      </a:endParaRPr>
                    </a:p>
                  </a:txBody>
                  <a:tcPr marL="101600" marR="101600" marT="76200" marB="76200" anchor="ctr">
                    <a:lnL w="12700" cap="flat" cmpd="sng" algn="ctr">
                      <a:solidFill>
                        <a:srgbClr val="D9D6E0"/>
                      </a:solidFill>
                      <a:prstDash val="solid"/>
                      <a:round/>
                      <a:headEnd type="none" w="med" len="med"/>
                      <a:tailEnd type="none" w="med" len="med"/>
                    </a:lnL>
                    <a:lnR w="12700" cap="flat" cmpd="sng" algn="ctr">
                      <a:solidFill>
                        <a:srgbClr val="D9D6E0"/>
                      </a:solidFill>
                      <a:prstDash val="solid"/>
                      <a:round/>
                      <a:headEnd type="none" w="med" len="med"/>
                      <a:tailEnd type="none" w="med" len="med"/>
                    </a:lnR>
                    <a:lnT w="12700" cap="flat" cmpd="sng" algn="ctr">
                      <a:solidFill>
                        <a:srgbClr val="D9D6E0"/>
                      </a:solidFill>
                      <a:prstDash val="solid"/>
                      <a:round/>
                      <a:headEnd type="none" w="med" len="med"/>
                      <a:tailEnd type="none" w="med" len="med"/>
                    </a:lnT>
                    <a:lnB w="12700" cap="flat" cmpd="sng" algn="ctr">
                      <a:solidFill>
                        <a:srgbClr val="D9D6E0"/>
                      </a:solidFill>
                      <a:prstDash val="solid"/>
                      <a:round/>
                      <a:headEnd type="none" w="med" len="med"/>
                      <a:tailEnd type="none" w="med" len="med"/>
                    </a:lnB>
                    <a:solidFill>
                      <a:srgbClr val="0F0F11"/>
                    </a:solidFill>
                  </a:tcPr>
                </a:tc>
              </a:tr>
              <a:tr h="573024">
                <a:tc>
                  <a:txBody>
                    <a:bodyPr/>
                    <a:lstStyle/>
                    <a:p>
                      <a:pPr indent="0" marL="0">
                        <a:buNone/>
                      </a:pPr>
                      <a:r>
                        <a:rPr lang="en-US" sz="1250" b="1" dirty="0">
                          <a:solidFill>
                            <a:srgbClr val="0F0F11"/>
                          </a:solidFill>
                          <a:latin typeface="Courier New" pitchFamily="34" charset="0"/>
                          <a:ea typeface="Courier New" pitchFamily="34" charset="-122"/>
                          <a:cs typeface="Courier New" pitchFamily="34" charset="-120"/>
                        </a:rPr>
                        <a:t>Formato</a:t>
                      </a:r>
                      <a:endParaRPr lang="en-US" sz="1250" dirty="0">
                        <a:latin typeface="Courier New" charset="0"/>
                        <a:ea typeface="Courier New" charset="0"/>
                        <a:cs typeface="Courier New" charset="0"/>
                      </a:endParaRPr>
                    </a:p>
                  </a:txBody>
                  <a:tcPr marL="101600" marR="101600" marT="76200" marB="76200" anchor="t">
                    <a:lnL w="12700" cap="flat" cmpd="sng" algn="ctr">
                      <a:solidFill>
                        <a:srgbClr val="D9D6E0"/>
                      </a:solidFill>
                      <a:prstDash val="solid"/>
                      <a:round/>
                      <a:headEnd type="none" w="med" len="med"/>
                      <a:tailEnd type="none" w="med" len="med"/>
                    </a:lnL>
                    <a:lnR w="12700" cap="flat" cmpd="sng" algn="ctr">
                      <a:solidFill>
                        <a:srgbClr val="D9D6E0"/>
                      </a:solidFill>
                      <a:prstDash val="solid"/>
                      <a:round/>
                      <a:headEnd type="none" w="med" len="med"/>
                      <a:tailEnd type="none" w="med" len="med"/>
                    </a:lnR>
                    <a:lnT w="12700" cap="flat" cmpd="sng" algn="ctr">
                      <a:solidFill>
                        <a:srgbClr val="D9D6E0"/>
                      </a:solidFill>
                      <a:prstDash val="solid"/>
                      <a:round/>
                      <a:headEnd type="none" w="med" len="med"/>
                      <a:tailEnd type="none" w="med" len="med"/>
                    </a:lnT>
                    <a:lnB w="12700" cap="flat" cmpd="sng" algn="ctr">
                      <a:solidFill>
                        <a:srgbClr val="D9D6E0"/>
                      </a:solidFill>
                      <a:prstDash val="solid"/>
                      <a:round/>
                      <a:headEnd type="none" w="med" len="med"/>
                      <a:tailEnd type="none" w="med" len="med"/>
                    </a:lnB>
                    <a:solidFill>
                      <a:srgbClr val="FFFFFF"/>
                    </a:solidFill>
                  </a:tcPr>
                </a:tc>
                <a:tc>
                  <a:txBody>
                    <a:bodyPr/>
                    <a:lstStyle/>
                    <a:p>
                      <a:pPr indent="0" marL="0">
                        <a:buNone/>
                      </a:pPr>
                      <a:r>
                        <a:rPr lang="en-US" sz="1250" dirty="0">
                          <a:solidFill>
                            <a:srgbClr val="3A3844"/>
                          </a:solidFill>
                          <a:latin typeface="Arial" pitchFamily="34" charset="0"/>
                          <a:ea typeface="Arial" pitchFamily="34" charset="-122"/>
                          <a:cs typeface="Arial" pitchFamily="34" charset="-120"/>
                        </a:rPr>
                        <a:t>12 preguntas de selección múltiple con única respuesta y 2 preguntas de respuesta corta.</a:t>
                      </a:r>
                      <a:endParaRPr lang="en-US" sz="1250" dirty="0">
                        <a:latin typeface="Arial" charset="0"/>
                        <a:ea typeface="Arial" charset="0"/>
                        <a:cs typeface="Arial" charset="0"/>
                      </a:endParaRPr>
                    </a:p>
                  </a:txBody>
                  <a:tcPr marL="101600" marR="101600" marT="76200" marB="76200" anchor="t">
                    <a:lnL w="12700" cap="flat" cmpd="sng" algn="ctr">
                      <a:solidFill>
                        <a:srgbClr val="D9D6E0"/>
                      </a:solidFill>
                      <a:prstDash val="solid"/>
                      <a:round/>
                      <a:headEnd type="none" w="med" len="med"/>
                      <a:tailEnd type="none" w="med" len="med"/>
                    </a:lnL>
                    <a:lnR w="12700" cap="flat" cmpd="sng" algn="ctr">
                      <a:solidFill>
                        <a:srgbClr val="D9D6E0"/>
                      </a:solidFill>
                      <a:prstDash val="solid"/>
                      <a:round/>
                      <a:headEnd type="none" w="med" len="med"/>
                      <a:tailEnd type="none" w="med" len="med"/>
                    </a:lnR>
                    <a:lnT w="12700" cap="flat" cmpd="sng" algn="ctr">
                      <a:solidFill>
                        <a:srgbClr val="D9D6E0"/>
                      </a:solidFill>
                      <a:prstDash val="solid"/>
                      <a:round/>
                      <a:headEnd type="none" w="med" len="med"/>
                      <a:tailEnd type="none" w="med" len="med"/>
                    </a:lnT>
                    <a:lnB w="12700" cap="flat" cmpd="sng" algn="ctr">
                      <a:solidFill>
                        <a:srgbClr val="D9D6E0"/>
                      </a:solidFill>
                      <a:prstDash val="solid"/>
                      <a:round/>
                      <a:headEnd type="none" w="med" len="med"/>
                      <a:tailEnd type="none" w="med" len="med"/>
                    </a:lnB>
                    <a:solidFill>
                      <a:srgbClr val="FFFFFF"/>
                    </a:solidFill>
                  </a:tcPr>
                </a:tc>
              </a:tr>
              <a:tr h="573024">
                <a:tc>
                  <a:txBody>
                    <a:bodyPr/>
                    <a:lstStyle/>
                    <a:p>
                      <a:pPr indent="0" marL="0">
                        <a:buNone/>
                      </a:pPr>
                      <a:r>
                        <a:rPr lang="en-US" sz="1250" b="1" dirty="0">
                          <a:solidFill>
                            <a:srgbClr val="0F0F11"/>
                          </a:solidFill>
                          <a:latin typeface="Courier New" pitchFamily="34" charset="0"/>
                          <a:ea typeface="Courier New" pitchFamily="34" charset="-122"/>
                          <a:cs typeface="Courier New" pitchFamily="34" charset="-120"/>
                        </a:rPr>
                        <a:t>Duración</a:t>
                      </a:r>
                      <a:endParaRPr lang="en-US" sz="1250" dirty="0">
                        <a:latin typeface="Courier New" charset="0"/>
                        <a:ea typeface="Courier New" charset="0"/>
                        <a:cs typeface="Courier New" charset="0"/>
                      </a:endParaRPr>
                    </a:p>
                  </a:txBody>
                  <a:tcPr marL="101600" marR="101600" marT="76200" marB="76200" anchor="t">
                    <a:lnL w="12700" cap="flat" cmpd="sng" algn="ctr">
                      <a:solidFill>
                        <a:srgbClr val="D9D6E0"/>
                      </a:solidFill>
                      <a:prstDash val="solid"/>
                      <a:round/>
                      <a:headEnd type="none" w="med" len="med"/>
                      <a:tailEnd type="none" w="med" len="med"/>
                    </a:lnL>
                    <a:lnR w="12700" cap="flat" cmpd="sng" algn="ctr">
                      <a:solidFill>
                        <a:srgbClr val="D9D6E0"/>
                      </a:solidFill>
                      <a:prstDash val="solid"/>
                      <a:round/>
                      <a:headEnd type="none" w="med" len="med"/>
                      <a:tailEnd type="none" w="med" len="med"/>
                    </a:lnR>
                    <a:lnT w="12700" cap="flat" cmpd="sng" algn="ctr">
                      <a:solidFill>
                        <a:srgbClr val="D9D6E0"/>
                      </a:solidFill>
                      <a:prstDash val="solid"/>
                      <a:round/>
                      <a:headEnd type="none" w="med" len="med"/>
                      <a:tailEnd type="none" w="med" len="med"/>
                    </a:lnT>
                    <a:lnB w="12700" cap="flat" cmpd="sng" algn="ctr">
                      <a:solidFill>
                        <a:srgbClr val="D9D6E0"/>
                      </a:solidFill>
                      <a:prstDash val="solid"/>
                      <a:round/>
                      <a:headEnd type="none" w="med" len="med"/>
                      <a:tailEnd type="none" w="med" len="med"/>
                    </a:lnB>
                    <a:solidFill>
                      <a:srgbClr val="FAF9FB"/>
                    </a:solidFill>
                  </a:tcPr>
                </a:tc>
                <a:tc>
                  <a:txBody>
                    <a:bodyPr/>
                    <a:lstStyle/>
                    <a:p>
                      <a:pPr indent="0" marL="0">
                        <a:buNone/>
                      </a:pPr>
                      <a:r>
                        <a:rPr lang="en-US" sz="1250" dirty="0">
                          <a:solidFill>
                            <a:srgbClr val="3A3844"/>
                          </a:solidFill>
                          <a:latin typeface="Arial" pitchFamily="34" charset="0"/>
                          <a:ea typeface="Arial" pitchFamily="34" charset="-122"/>
                          <a:cs typeface="Arial" pitchFamily="34" charset="-120"/>
                        </a:rPr>
                        <a:t>30 minutos exactos, en papel o en la plataforma del curso.</a:t>
                      </a:r>
                      <a:endParaRPr lang="en-US" sz="1250" dirty="0">
                        <a:latin typeface="Arial" charset="0"/>
                        <a:ea typeface="Arial" charset="0"/>
                        <a:cs typeface="Arial" charset="0"/>
                      </a:endParaRPr>
                    </a:p>
                  </a:txBody>
                  <a:tcPr marL="101600" marR="101600" marT="76200" marB="76200" anchor="t">
                    <a:lnL w="12700" cap="flat" cmpd="sng" algn="ctr">
                      <a:solidFill>
                        <a:srgbClr val="D9D6E0"/>
                      </a:solidFill>
                      <a:prstDash val="solid"/>
                      <a:round/>
                      <a:headEnd type="none" w="med" len="med"/>
                      <a:tailEnd type="none" w="med" len="med"/>
                    </a:lnL>
                    <a:lnR w="12700" cap="flat" cmpd="sng" algn="ctr">
                      <a:solidFill>
                        <a:srgbClr val="D9D6E0"/>
                      </a:solidFill>
                      <a:prstDash val="solid"/>
                      <a:round/>
                      <a:headEnd type="none" w="med" len="med"/>
                      <a:tailEnd type="none" w="med" len="med"/>
                    </a:lnR>
                    <a:lnT w="12700" cap="flat" cmpd="sng" algn="ctr">
                      <a:solidFill>
                        <a:srgbClr val="D9D6E0"/>
                      </a:solidFill>
                      <a:prstDash val="solid"/>
                      <a:round/>
                      <a:headEnd type="none" w="med" len="med"/>
                      <a:tailEnd type="none" w="med" len="med"/>
                    </a:lnT>
                    <a:lnB w="12700" cap="flat" cmpd="sng" algn="ctr">
                      <a:solidFill>
                        <a:srgbClr val="D9D6E0"/>
                      </a:solidFill>
                      <a:prstDash val="solid"/>
                      <a:round/>
                      <a:headEnd type="none" w="med" len="med"/>
                      <a:tailEnd type="none" w="med" len="med"/>
                    </a:lnB>
                    <a:solidFill>
                      <a:srgbClr val="FAF9FB"/>
                    </a:solidFill>
                  </a:tcPr>
                </a:tc>
              </a:tr>
              <a:tr h="573024">
                <a:tc>
                  <a:txBody>
                    <a:bodyPr/>
                    <a:lstStyle/>
                    <a:p>
                      <a:pPr indent="0" marL="0">
                        <a:buNone/>
                      </a:pPr>
                      <a:r>
                        <a:rPr lang="en-US" sz="1250" b="1" dirty="0">
                          <a:solidFill>
                            <a:srgbClr val="0F0F11"/>
                          </a:solidFill>
                          <a:latin typeface="Courier New" pitchFamily="34" charset="0"/>
                          <a:ea typeface="Courier New" pitchFamily="34" charset="-122"/>
                          <a:cs typeface="Courier New" pitchFamily="34" charset="-120"/>
                        </a:rPr>
                        <a:t>Qué entra</a:t>
                      </a:r>
                      <a:endParaRPr lang="en-US" sz="1250" dirty="0">
                        <a:latin typeface="Courier New" charset="0"/>
                        <a:ea typeface="Courier New" charset="0"/>
                        <a:cs typeface="Courier New" charset="0"/>
                      </a:endParaRPr>
                    </a:p>
                  </a:txBody>
                  <a:tcPr marL="101600" marR="101600" marT="76200" marB="76200" anchor="t">
                    <a:lnL w="12700" cap="flat" cmpd="sng" algn="ctr">
                      <a:solidFill>
                        <a:srgbClr val="D9D6E0"/>
                      </a:solidFill>
                      <a:prstDash val="solid"/>
                      <a:round/>
                      <a:headEnd type="none" w="med" len="med"/>
                      <a:tailEnd type="none" w="med" len="med"/>
                    </a:lnL>
                    <a:lnR w="12700" cap="flat" cmpd="sng" algn="ctr">
                      <a:solidFill>
                        <a:srgbClr val="D9D6E0"/>
                      </a:solidFill>
                      <a:prstDash val="solid"/>
                      <a:round/>
                      <a:headEnd type="none" w="med" len="med"/>
                      <a:tailEnd type="none" w="med" len="med"/>
                    </a:lnR>
                    <a:lnT w="12700" cap="flat" cmpd="sng" algn="ctr">
                      <a:solidFill>
                        <a:srgbClr val="D9D6E0"/>
                      </a:solidFill>
                      <a:prstDash val="solid"/>
                      <a:round/>
                      <a:headEnd type="none" w="med" len="med"/>
                      <a:tailEnd type="none" w="med" len="med"/>
                    </a:lnT>
                    <a:lnB w="12700" cap="flat" cmpd="sng" algn="ctr">
                      <a:solidFill>
                        <a:srgbClr val="D9D6E0"/>
                      </a:solidFill>
                      <a:prstDash val="solid"/>
                      <a:round/>
                      <a:headEnd type="none" w="med" len="med"/>
                      <a:tailEnd type="none" w="med" len="med"/>
                    </a:lnB>
                    <a:solidFill>
                      <a:srgbClr val="FFFFFF"/>
                    </a:solidFill>
                  </a:tcPr>
                </a:tc>
                <a:tc>
                  <a:txBody>
                    <a:bodyPr/>
                    <a:lstStyle/>
                    <a:p>
                      <a:pPr indent="0" marL="0">
                        <a:buNone/>
                      </a:pPr>
                      <a:r>
                        <a:rPr lang="en-US" sz="1250" dirty="0">
                          <a:solidFill>
                            <a:srgbClr val="3A3844"/>
                          </a:solidFill>
                          <a:latin typeface="Arial" pitchFamily="34" charset="0"/>
                          <a:ea typeface="Arial" pitchFamily="34" charset="-122"/>
                          <a:cs typeface="Arial" pitchFamily="34" charset="-120"/>
                        </a:rPr>
                        <a:t>S1 problema y doble gasto · S2 hash y Merkle · S3 firmas y anatomía de la cadena · S4 consenso, finalidad y trilema.</a:t>
                      </a:r>
                      <a:endParaRPr lang="en-US" sz="1250" dirty="0">
                        <a:latin typeface="Arial" charset="0"/>
                        <a:ea typeface="Arial" charset="0"/>
                        <a:cs typeface="Arial" charset="0"/>
                      </a:endParaRPr>
                    </a:p>
                  </a:txBody>
                  <a:tcPr marL="101600" marR="101600" marT="76200" marB="76200" anchor="t">
                    <a:lnL w="12700" cap="flat" cmpd="sng" algn="ctr">
                      <a:solidFill>
                        <a:srgbClr val="D9D6E0"/>
                      </a:solidFill>
                      <a:prstDash val="solid"/>
                      <a:round/>
                      <a:headEnd type="none" w="med" len="med"/>
                      <a:tailEnd type="none" w="med" len="med"/>
                    </a:lnL>
                    <a:lnR w="12700" cap="flat" cmpd="sng" algn="ctr">
                      <a:solidFill>
                        <a:srgbClr val="D9D6E0"/>
                      </a:solidFill>
                      <a:prstDash val="solid"/>
                      <a:round/>
                      <a:headEnd type="none" w="med" len="med"/>
                      <a:tailEnd type="none" w="med" len="med"/>
                    </a:lnR>
                    <a:lnT w="12700" cap="flat" cmpd="sng" algn="ctr">
                      <a:solidFill>
                        <a:srgbClr val="D9D6E0"/>
                      </a:solidFill>
                      <a:prstDash val="solid"/>
                      <a:round/>
                      <a:headEnd type="none" w="med" len="med"/>
                      <a:tailEnd type="none" w="med" len="med"/>
                    </a:lnT>
                    <a:lnB w="12700" cap="flat" cmpd="sng" algn="ctr">
                      <a:solidFill>
                        <a:srgbClr val="D9D6E0"/>
                      </a:solidFill>
                      <a:prstDash val="solid"/>
                      <a:round/>
                      <a:headEnd type="none" w="med" len="med"/>
                      <a:tailEnd type="none" w="med" len="med"/>
                    </a:lnB>
                    <a:solidFill>
                      <a:srgbClr val="FFFFFF"/>
                    </a:solidFill>
                  </a:tcPr>
                </a:tc>
              </a:tr>
              <a:tr h="573024">
                <a:tc>
                  <a:txBody>
                    <a:bodyPr/>
                    <a:lstStyle/>
                    <a:p>
                      <a:pPr indent="0" marL="0">
                        <a:buNone/>
                      </a:pPr>
                      <a:r>
                        <a:rPr lang="en-US" sz="1250" b="1" dirty="0">
                          <a:solidFill>
                            <a:srgbClr val="0F0F11"/>
                          </a:solidFill>
                          <a:latin typeface="Courier New" pitchFamily="34" charset="0"/>
                          <a:ea typeface="Courier New" pitchFamily="34" charset="-122"/>
                          <a:cs typeface="Courier New" pitchFamily="34" charset="-120"/>
                        </a:rPr>
                        <a:t>Qué no entra</a:t>
                      </a:r>
                      <a:endParaRPr lang="en-US" sz="1250" dirty="0">
                        <a:latin typeface="Courier New" charset="0"/>
                        <a:ea typeface="Courier New" charset="0"/>
                        <a:cs typeface="Courier New" charset="0"/>
                      </a:endParaRPr>
                    </a:p>
                  </a:txBody>
                  <a:tcPr marL="101600" marR="101600" marT="76200" marB="76200" anchor="t">
                    <a:lnL w="12700" cap="flat" cmpd="sng" algn="ctr">
                      <a:solidFill>
                        <a:srgbClr val="D9D6E0"/>
                      </a:solidFill>
                      <a:prstDash val="solid"/>
                      <a:round/>
                      <a:headEnd type="none" w="med" len="med"/>
                      <a:tailEnd type="none" w="med" len="med"/>
                    </a:lnL>
                    <a:lnR w="12700" cap="flat" cmpd="sng" algn="ctr">
                      <a:solidFill>
                        <a:srgbClr val="D9D6E0"/>
                      </a:solidFill>
                      <a:prstDash val="solid"/>
                      <a:round/>
                      <a:headEnd type="none" w="med" len="med"/>
                      <a:tailEnd type="none" w="med" len="med"/>
                    </a:lnR>
                    <a:lnT w="12700" cap="flat" cmpd="sng" algn="ctr">
                      <a:solidFill>
                        <a:srgbClr val="D9D6E0"/>
                      </a:solidFill>
                      <a:prstDash val="solid"/>
                      <a:round/>
                      <a:headEnd type="none" w="med" len="med"/>
                      <a:tailEnd type="none" w="med" len="med"/>
                    </a:lnT>
                    <a:lnB w="12700" cap="flat" cmpd="sng" algn="ctr">
                      <a:solidFill>
                        <a:srgbClr val="D9D6E0"/>
                      </a:solidFill>
                      <a:prstDash val="solid"/>
                      <a:round/>
                      <a:headEnd type="none" w="med" len="med"/>
                      <a:tailEnd type="none" w="med" len="med"/>
                    </a:lnB>
                    <a:solidFill>
                      <a:srgbClr val="FAF9FB"/>
                    </a:solidFill>
                  </a:tcPr>
                </a:tc>
                <a:tc>
                  <a:txBody>
                    <a:bodyPr/>
                    <a:lstStyle/>
                    <a:p>
                      <a:pPr indent="0" marL="0">
                        <a:buNone/>
                      </a:pPr>
                      <a:r>
                        <a:rPr lang="en-US" sz="1250" dirty="0">
                          <a:solidFill>
                            <a:srgbClr val="3A3844"/>
                          </a:solidFill>
                          <a:latin typeface="Arial" pitchFamily="34" charset="0"/>
                          <a:ea typeface="Arial" pitchFamily="34" charset="-122"/>
                          <a:cs typeface="Arial" pitchFamily="34" charset="-120"/>
                        </a:rPr>
                        <a:t>La actividad de Estonia, que se evalúa aparte. Ningún cálculo que exija calculadora.</a:t>
                      </a:r>
                      <a:endParaRPr lang="en-US" sz="1250" dirty="0">
                        <a:latin typeface="Arial" charset="0"/>
                        <a:ea typeface="Arial" charset="0"/>
                        <a:cs typeface="Arial" charset="0"/>
                      </a:endParaRPr>
                    </a:p>
                  </a:txBody>
                  <a:tcPr marL="101600" marR="101600" marT="76200" marB="76200" anchor="t">
                    <a:lnL w="12700" cap="flat" cmpd="sng" algn="ctr">
                      <a:solidFill>
                        <a:srgbClr val="D9D6E0"/>
                      </a:solidFill>
                      <a:prstDash val="solid"/>
                      <a:round/>
                      <a:headEnd type="none" w="med" len="med"/>
                      <a:tailEnd type="none" w="med" len="med"/>
                    </a:lnL>
                    <a:lnR w="12700" cap="flat" cmpd="sng" algn="ctr">
                      <a:solidFill>
                        <a:srgbClr val="D9D6E0"/>
                      </a:solidFill>
                      <a:prstDash val="solid"/>
                      <a:round/>
                      <a:headEnd type="none" w="med" len="med"/>
                      <a:tailEnd type="none" w="med" len="med"/>
                    </a:lnR>
                    <a:lnT w="12700" cap="flat" cmpd="sng" algn="ctr">
                      <a:solidFill>
                        <a:srgbClr val="D9D6E0"/>
                      </a:solidFill>
                      <a:prstDash val="solid"/>
                      <a:round/>
                      <a:headEnd type="none" w="med" len="med"/>
                      <a:tailEnd type="none" w="med" len="med"/>
                    </a:lnT>
                    <a:lnB w="12700" cap="flat" cmpd="sng" algn="ctr">
                      <a:solidFill>
                        <a:srgbClr val="D9D6E0"/>
                      </a:solidFill>
                      <a:prstDash val="solid"/>
                      <a:round/>
                      <a:headEnd type="none" w="med" len="med"/>
                      <a:tailEnd type="none" w="med" len="med"/>
                    </a:lnB>
                    <a:solidFill>
                      <a:srgbClr val="FAF9FB"/>
                    </a:solidFill>
                  </a:tcPr>
                </a:tc>
              </a:tr>
              <a:tr h="573024">
                <a:tc>
                  <a:txBody>
                    <a:bodyPr/>
                    <a:lstStyle/>
                    <a:p>
                      <a:pPr indent="0" marL="0">
                        <a:buNone/>
                      </a:pPr>
                      <a:r>
                        <a:rPr lang="en-US" sz="1250" b="1" dirty="0">
                          <a:solidFill>
                            <a:srgbClr val="0F0F11"/>
                          </a:solidFill>
                          <a:latin typeface="Courier New" pitchFamily="34" charset="0"/>
                          <a:ea typeface="Courier New" pitchFamily="34" charset="-122"/>
                          <a:cs typeface="Courier New" pitchFamily="34" charset="-120"/>
                        </a:rPr>
                        <a:t>Peso</a:t>
                      </a:r>
                      <a:endParaRPr lang="en-US" sz="1250" dirty="0">
                        <a:latin typeface="Courier New" charset="0"/>
                        <a:ea typeface="Courier New" charset="0"/>
                        <a:cs typeface="Courier New" charset="0"/>
                      </a:endParaRPr>
                    </a:p>
                  </a:txBody>
                  <a:tcPr marL="101600" marR="101600" marT="76200" marB="76200" anchor="t">
                    <a:lnL w="12700" cap="flat" cmpd="sng" algn="ctr">
                      <a:solidFill>
                        <a:srgbClr val="D9D6E0"/>
                      </a:solidFill>
                      <a:prstDash val="solid"/>
                      <a:round/>
                      <a:headEnd type="none" w="med" len="med"/>
                      <a:tailEnd type="none" w="med" len="med"/>
                    </a:lnL>
                    <a:lnR w="12700" cap="flat" cmpd="sng" algn="ctr">
                      <a:solidFill>
                        <a:srgbClr val="D9D6E0"/>
                      </a:solidFill>
                      <a:prstDash val="solid"/>
                      <a:round/>
                      <a:headEnd type="none" w="med" len="med"/>
                      <a:tailEnd type="none" w="med" len="med"/>
                    </a:lnR>
                    <a:lnT w="12700" cap="flat" cmpd="sng" algn="ctr">
                      <a:solidFill>
                        <a:srgbClr val="D9D6E0"/>
                      </a:solidFill>
                      <a:prstDash val="solid"/>
                      <a:round/>
                      <a:headEnd type="none" w="med" len="med"/>
                      <a:tailEnd type="none" w="med" len="med"/>
                    </a:lnT>
                    <a:lnB w="12700" cap="flat" cmpd="sng" algn="ctr">
                      <a:solidFill>
                        <a:srgbClr val="D9D6E0"/>
                      </a:solidFill>
                      <a:prstDash val="solid"/>
                      <a:round/>
                      <a:headEnd type="none" w="med" len="med"/>
                      <a:tailEnd type="none" w="med" len="med"/>
                    </a:lnB>
                    <a:solidFill>
                      <a:srgbClr val="FFFFFF"/>
                    </a:solidFill>
                  </a:tcPr>
                </a:tc>
                <a:tc>
                  <a:txBody>
                    <a:bodyPr/>
                    <a:lstStyle/>
                    <a:p>
                      <a:pPr indent="0" marL="0">
                        <a:buNone/>
                      </a:pPr>
                      <a:r>
                        <a:rPr lang="en-US" sz="1250" dirty="0">
                          <a:solidFill>
                            <a:srgbClr val="3A3844"/>
                          </a:solidFill>
                          <a:latin typeface="Arial" pitchFamily="34" charset="0"/>
                          <a:ea typeface="Arial" pitchFamily="34" charset="-122"/>
                          <a:cs typeface="Arial" pitchFamily="34" charset="-120"/>
                        </a:rPr>
                        <a:t>40 % del primer corte, 12 % de la nota final.</a:t>
                      </a:r>
                      <a:endParaRPr lang="en-US" sz="1250" dirty="0">
                        <a:latin typeface="Arial" charset="0"/>
                        <a:ea typeface="Arial" charset="0"/>
                        <a:cs typeface="Arial" charset="0"/>
                      </a:endParaRPr>
                    </a:p>
                  </a:txBody>
                  <a:tcPr marL="101600" marR="101600" marT="76200" marB="76200" anchor="t">
                    <a:lnL w="12700" cap="flat" cmpd="sng" algn="ctr">
                      <a:solidFill>
                        <a:srgbClr val="D9D6E0"/>
                      </a:solidFill>
                      <a:prstDash val="solid"/>
                      <a:round/>
                      <a:headEnd type="none" w="med" len="med"/>
                      <a:tailEnd type="none" w="med" len="med"/>
                    </a:lnL>
                    <a:lnR w="12700" cap="flat" cmpd="sng" algn="ctr">
                      <a:solidFill>
                        <a:srgbClr val="D9D6E0"/>
                      </a:solidFill>
                      <a:prstDash val="solid"/>
                      <a:round/>
                      <a:headEnd type="none" w="med" len="med"/>
                      <a:tailEnd type="none" w="med" len="med"/>
                    </a:lnR>
                    <a:lnT w="12700" cap="flat" cmpd="sng" algn="ctr">
                      <a:solidFill>
                        <a:srgbClr val="D9D6E0"/>
                      </a:solidFill>
                      <a:prstDash val="solid"/>
                      <a:round/>
                      <a:headEnd type="none" w="med" len="med"/>
                      <a:tailEnd type="none" w="med" len="med"/>
                    </a:lnT>
                    <a:lnB w="12700" cap="flat" cmpd="sng" algn="ctr">
                      <a:solidFill>
                        <a:srgbClr val="D9D6E0"/>
                      </a:solidFill>
                      <a:prstDash val="solid"/>
                      <a:round/>
                      <a:headEnd type="none" w="med" len="med"/>
                      <a:tailEnd type="none" w="med" len="med"/>
                    </a:lnB>
                    <a:solidFill>
                      <a:srgbClr val="FFFFFF"/>
                    </a:solidFill>
                  </a:tcPr>
                </a:tc>
              </a:tr>
              <a:tr h="573024">
                <a:tc>
                  <a:txBody>
                    <a:bodyPr/>
                    <a:lstStyle/>
                    <a:p>
                      <a:pPr indent="0" marL="0">
                        <a:buNone/>
                      </a:pPr>
                      <a:r>
                        <a:rPr lang="en-US" sz="1250" b="1" dirty="0">
                          <a:solidFill>
                            <a:srgbClr val="0F0F11"/>
                          </a:solidFill>
                          <a:latin typeface="Courier New" pitchFamily="34" charset="0"/>
                          <a:ea typeface="Courier New" pitchFamily="34" charset="-122"/>
                          <a:cs typeface="Courier New" pitchFamily="34" charset="-120"/>
                        </a:rPr>
                        <a:t>Reglas</a:t>
                      </a:r>
                      <a:endParaRPr lang="en-US" sz="1250" dirty="0">
                        <a:latin typeface="Courier New" charset="0"/>
                        <a:ea typeface="Courier New" charset="0"/>
                        <a:cs typeface="Courier New" charset="0"/>
                      </a:endParaRPr>
                    </a:p>
                  </a:txBody>
                  <a:tcPr marL="101600" marR="101600" marT="76200" marB="76200" anchor="t">
                    <a:lnL w="12700" cap="flat" cmpd="sng" algn="ctr">
                      <a:solidFill>
                        <a:srgbClr val="D9D6E0"/>
                      </a:solidFill>
                      <a:prstDash val="solid"/>
                      <a:round/>
                      <a:headEnd type="none" w="med" len="med"/>
                      <a:tailEnd type="none" w="med" len="med"/>
                    </a:lnL>
                    <a:lnR w="12700" cap="flat" cmpd="sng" algn="ctr">
                      <a:solidFill>
                        <a:srgbClr val="D9D6E0"/>
                      </a:solidFill>
                      <a:prstDash val="solid"/>
                      <a:round/>
                      <a:headEnd type="none" w="med" len="med"/>
                      <a:tailEnd type="none" w="med" len="med"/>
                    </a:lnR>
                    <a:lnT w="12700" cap="flat" cmpd="sng" algn="ctr">
                      <a:solidFill>
                        <a:srgbClr val="D9D6E0"/>
                      </a:solidFill>
                      <a:prstDash val="solid"/>
                      <a:round/>
                      <a:headEnd type="none" w="med" len="med"/>
                      <a:tailEnd type="none" w="med" len="med"/>
                    </a:lnT>
                    <a:lnB w="12700" cap="flat" cmpd="sng" algn="ctr">
                      <a:solidFill>
                        <a:srgbClr val="D9D6E0"/>
                      </a:solidFill>
                      <a:prstDash val="solid"/>
                      <a:round/>
                      <a:headEnd type="none" w="med" len="med"/>
                      <a:tailEnd type="none" w="med" len="med"/>
                    </a:lnB>
                    <a:solidFill>
                      <a:srgbClr val="FAF9FB"/>
                    </a:solidFill>
                  </a:tcPr>
                </a:tc>
                <a:tc>
                  <a:txBody>
                    <a:bodyPr/>
                    <a:lstStyle/>
                    <a:p>
                      <a:pPr indent="0" marL="0">
                        <a:buNone/>
                      </a:pPr>
                      <a:r>
                        <a:rPr lang="en-US" sz="1250" dirty="0">
                          <a:solidFill>
                            <a:srgbClr val="3A3844"/>
                          </a:solidFill>
                          <a:latin typeface="Arial" pitchFamily="34" charset="0"/>
                          <a:ea typeface="Arial" pitchFamily="34" charset="-122"/>
                          <a:cs typeface="Arial" pitchFamily="34" charset="-120"/>
                        </a:rPr>
                        <a:t>Individual. Sin apuntes, sin teléfono, sin asistentes de IA. Una sospecha fundada anula el quiz.</a:t>
                      </a:r>
                      <a:endParaRPr lang="en-US" sz="1250" dirty="0">
                        <a:latin typeface="Arial" charset="0"/>
                        <a:ea typeface="Arial" charset="0"/>
                        <a:cs typeface="Arial" charset="0"/>
                      </a:endParaRPr>
                    </a:p>
                  </a:txBody>
                  <a:tcPr marL="101600" marR="101600" marT="76200" marB="76200" anchor="t">
                    <a:lnL w="12700" cap="flat" cmpd="sng" algn="ctr">
                      <a:solidFill>
                        <a:srgbClr val="D9D6E0"/>
                      </a:solidFill>
                      <a:prstDash val="solid"/>
                      <a:round/>
                      <a:headEnd type="none" w="med" len="med"/>
                      <a:tailEnd type="none" w="med" len="med"/>
                    </a:lnL>
                    <a:lnR w="12700" cap="flat" cmpd="sng" algn="ctr">
                      <a:solidFill>
                        <a:srgbClr val="D9D6E0"/>
                      </a:solidFill>
                      <a:prstDash val="solid"/>
                      <a:round/>
                      <a:headEnd type="none" w="med" len="med"/>
                      <a:tailEnd type="none" w="med" len="med"/>
                    </a:lnR>
                    <a:lnT w="12700" cap="flat" cmpd="sng" algn="ctr">
                      <a:solidFill>
                        <a:srgbClr val="D9D6E0"/>
                      </a:solidFill>
                      <a:prstDash val="solid"/>
                      <a:round/>
                      <a:headEnd type="none" w="med" len="med"/>
                      <a:tailEnd type="none" w="med" len="med"/>
                    </a:lnT>
                    <a:lnB w="12700" cap="flat" cmpd="sng" algn="ctr">
                      <a:solidFill>
                        <a:srgbClr val="D9D6E0"/>
                      </a:solidFill>
                      <a:prstDash val="solid"/>
                      <a:round/>
                      <a:headEnd type="none" w="med" len="med"/>
                      <a:tailEnd type="none" w="med" len="med"/>
                    </a:lnB>
                    <a:solidFill>
                      <a:srgbClr val="FAF9FB"/>
                    </a:solidFill>
                  </a:tcPr>
                </a:tc>
              </a:tr>
            </a:tbl>
          </a:graphicData>
        </a:graphic>
      </p:graphicFrame>
      <p:sp>
        <p:nvSpPr>
          <p:cNvPr id="9" name="Shape 5"/>
          <p:cNvSpPr/>
          <p:nvPr/>
        </p:nvSpPr>
        <p:spPr>
          <a:xfrm>
            <a:off x="548640" y="1719072"/>
            <a:ext cx="11094415" cy="3785616"/>
          </a:xfrm>
          <a:prstGeom prst="rect">
            <a:avLst/>
          </a:prstGeom>
          <a:ln w="22225">
            <a:solidFill>
              <a:srgbClr val="0F0F11"/>
            </a:solidFill>
            <a:prstDash val="solid"/>
          </a:ln>
        </p:spPr>
      </p:sp>
      <p:sp>
        <p:nvSpPr>
          <p:cNvPr id="10" name="Text 6"/>
          <p:cNvSpPr/>
          <p:nvPr/>
        </p:nvSpPr>
        <p:spPr>
          <a:xfrm>
            <a:off x="566928" y="5623560"/>
            <a:ext cx="11057839" cy="502920"/>
          </a:xfrm>
          <a:prstGeom prst="rect">
            <a:avLst/>
          </a:prstGeom>
          <a:noFill/>
          <a:ln/>
        </p:spPr>
        <p:txBody>
          <a:bodyPr wrap="square" lIns="0" tIns="0" rIns="0" bIns="0" rtlCol="0" anchor="t"/>
          <a:lstStyle/>
          <a:p>
            <a:pPr indent="0" marL="0">
              <a:lnSpc>
                <a:spcPct val="124000"/>
              </a:lnSpc>
              <a:buNone/>
            </a:pPr>
            <a:r>
              <a:rPr lang="en-US" sz="1300" dirty="0">
                <a:solidFill>
                  <a:srgbClr val="A35604"/>
                </a:solidFill>
                <a:latin typeface="Arial" pitchFamily="34" charset="0"/>
                <a:ea typeface="Arial" pitchFamily="34" charset="-122"/>
                <a:cs typeface="Arial" pitchFamily="34" charset="-120"/>
              </a:rPr>
              <a:t>Las preguntas de respuesta corta piden explicar, no recitar: se califica que el razonamiento sea correcto aunque el vocabulario no sea exacto.</a:t>
            </a:r>
            <a:endParaRPr lang="en-US" sz="1300" dirty="0"/>
          </a:p>
        </p:txBody>
      </p:sp>
    </p:spTree>
  </p:cSld>
  <p:clrMapOvr>
    <a:masterClrMapping/>
  </p:clrMapOvr>
</p:sld>
</file>

<file path=ppt/slides/slide37.xml><?xml version="1.0" encoding="utf-8"?>
<p:sld xmlns:a="http://schemas.openxmlformats.org/drawingml/2006/main" xmlns:r="http://schemas.openxmlformats.org/officeDocument/2006/relationships" xmlns:p="http://schemas.openxmlformats.org/presentationml/2006/main">
  <p:cSld name="Slide 37">
    <p:bg>
      <p:bgPr>
        <a:solidFill>
          <a:srgbClr val="0F0F11"/>
        </a:solidFill>
      </p:bgPr>
    </p:bg>
    <p:spTree>
      <p:nvGrpSpPr>
        <p:cNvPr id="1" name=""/>
        <p:cNvGrpSpPr/>
        <p:nvPr/>
      </p:nvGrpSpPr>
      <p:grpSpPr>
        <a:xfrm>
          <a:off x="0" y="0"/>
          <a:ext cx="0" cy="0"/>
          <a:chOff x="0" y="0"/>
          <a:chExt cx="0" cy="0"/>
        </a:xfrm>
      </p:grpSpPr>
      <p:sp>
        <p:nvSpPr>
          <p:cNvPr id="2" name="Shape 0"/>
          <p:cNvSpPr/>
          <p:nvPr/>
        </p:nvSpPr>
        <p:spPr>
          <a:xfrm>
            <a:off x="0" y="2240280"/>
            <a:ext cx="3017520" cy="2377440"/>
          </a:xfrm>
          <a:prstGeom prst="rect">
            <a:avLst/>
          </a:prstGeom>
          <a:solidFill>
            <a:srgbClr val="F07F06"/>
          </a:solidFill>
          <a:ln w="12700">
            <a:solidFill>
              <a:srgbClr val="F07F06"/>
            </a:solidFill>
            <a:prstDash val="solid"/>
          </a:ln>
        </p:spPr>
      </p:sp>
      <p:sp>
        <p:nvSpPr>
          <p:cNvPr id="3" name="Text 1"/>
          <p:cNvSpPr/>
          <p:nvPr/>
        </p:nvSpPr>
        <p:spPr>
          <a:xfrm>
            <a:off x="0" y="2240280"/>
            <a:ext cx="3017520" cy="2377440"/>
          </a:xfrm>
          <a:prstGeom prst="rect">
            <a:avLst/>
          </a:prstGeom>
          <a:noFill/>
          <a:ln/>
        </p:spPr>
        <p:txBody>
          <a:bodyPr wrap="square" lIns="0" tIns="0" rIns="0" bIns="0" rtlCol="0" anchor="ctr"/>
          <a:lstStyle/>
          <a:p>
            <a:pPr algn="ctr" indent="0" marL="0">
              <a:buNone/>
            </a:pPr>
            <a:r>
              <a:rPr lang="en-US" sz="11800" dirty="0">
                <a:solidFill>
                  <a:srgbClr val="0F0F11"/>
                </a:solidFill>
                <a:latin typeface="Arial Black" pitchFamily="34" charset="0"/>
                <a:ea typeface="Arial Black" pitchFamily="34" charset="-122"/>
                <a:cs typeface="Arial Black" pitchFamily="34" charset="-120"/>
              </a:rPr>
              <a:t>D</a:t>
            </a:r>
            <a:endParaRPr lang="en-US" sz="11800" dirty="0"/>
          </a:p>
        </p:txBody>
      </p:sp>
      <p:pic>
        <p:nvPicPr>
          <p:cNvPr id="4" name="Image 0" descr="preencoded.png">    </p:cNvPr>
          <p:cNvPicPr>
            <a:picLocks noChangeAspect="1"/>
          </p:cNvPicPr>
          <p:nvPr/>
        </p:nvPicPr>
        <p:blipFill>
          <a:blip r:embed="rId1"/>
          <a:stretch>
            <a:fillRect/>
          </a:stretch>
        </p:blipFill>
        <p:spPr>
          <a:xfrm>
            <a:off x="3611880" y="2286000"/>
            <a:ext cx="329184" cy="329184"/>
          </a:xfrm>
          <a:prstGeom prst="rect">
            <a:avLst/>
          </a:prstGeom>
        </p:spPr>
      </p:pic>
      <p:sp>
        <p:nvSpPr>
          <p:cNvPr id="5" name="Text 2"/>
          <p:cNvSpPr/>
          <p:nvPr/>
        </p:nvSpPr>
        <p:spPr>
          <a:xfrm>
            <a:off x="4069080" y="2258568"/>
            <a:ext cx="7223760" cy="365760"/>
          </a:xfrm>
          <a:prstGeom prst="rect">
            <a:avLst/>
          </a:prstGeom>
          <a:noFill/>
          <a:ln/>
        </p:spPr>
        <p:txBody>
          <a:bodyPr wrap="square" lIns="0" tIns="0" rIns="0" bIns="0" rtlCol="0" anchor="ctr"/>
          <a:lstStyle/>
          <a:p>
            <a:pPr indent="0" marL="0">
              <a:buNone/>
            </a:pPr>
            <a:r>
              <a:rPr lang="en-US" sz="1100" spc="180" kern="0" dirty="0">
                <a:solidFill>
                  <a:srgbClr val="F07F06"/>
                </a:solidFill>
                <a:latin typeface="Courier New" pitchFamily="34" charset="0"/>
                <a:ea typeface="Courier New" pitchFamily="34" charset="-122"/>
                <a:cs typeface="Courier New" pitchFamily="34" charset="-120"/>
              </a:rPr>
              <a:t>TRABAJO AUTÓNOMO · NO CALIFICABLE · MUY RECOMENDADO</a:t>
            </a:r>
            <a:endParaRPr lang="en-US" sz="1100" dirty="0"/>
          </a:p>
        </p:txBody>
      </p:sp>
      <p:sp>
        <p:nvSpPr>
          <p:cNvPr id="6" name="Text 3"/>
          <p:cNvSpPr/>
          <p:nvPr/>
        </p:nvSpPr>
        <p:spPr>
          <a:xfrm>
            <a:off x="3611880" y="2724912"/>
            <a:ext cx="7955280" cy="1325880"/>
          </a:xfrm>
          <a:prstGeom prst="rect">
            <a:avLst/>
          </a:prstGeom>
          <a:noFill/>
          <a:ln/>
        </p:spPr>
        <p:txBody>
          <a:bodyPr wrap="square" lIns="0" tIns="0" rIns="0" bIns="0" rtlCol="0" anchor="t"/>
          <a:lstStyle/>
          <a:p>
            <a:pPr indent="0" marL="0">
              <a:lnSpc>
                <a:spcPct val="98000"/>
              </a:lnSpc>
              <a:buNone/>
            </a:pPr>
            <a:r>
              <a:rPr lang="en-US" sz="3400" dirty="0">
                <a:solidFill>
                  <a:srgbClr val="FFFFFF"/>
                </a:solidFill>
                <a:latin typeface="Arial Black" pitchFamily="34" charset="0"/>
                <a:ea typeface="Arial Black" pitchFamily="34" charset="-122"/>
                <a:cs typeface="Arial Black" pitchFamily="34" charset="-120"/>
              </a:rPr>
              <a:t>PARA LA CASA · LABORATORIO 04</a:t>
            </a:r>
            <a:endParaRPr lang="en-US" sz="3400" dirty="0"/>
          </a:p>
        </p:txBody>
      </p:sp>
      <p:sp>
        <p:nvSpPr>
          <p:cNvPr id="7" name="Text 4"/>
          <p:cNvSpPr/>
          <p:nvPr/>
        </p:nvSpPr>
        <p:spPr>
          <a:xfrm>
            <a:off x="3611880" y="4133088"/>
            <a:ext cx="7680960" cy="1051560"/>
          </a:xfrm>
          <a:prstGeom prst="rect">
            <a:avLst/>
          </a:prstGeom>
          <a:noFill/>
          <a:ln/>
        </p:spPr>
        <p:txBody>
          <a:bodyPr wrap="square" lIns="0" tIns="0" rIns="0" bIns="0" rtlCol="0" anchor="t"/>
          <a:lstStyle/>
          <a:p>
            <a:pPr indent="0" marL="0">
              <a:lnSpc>
                <a:spcPct val="125000"/>
              </a:lnSpc>
              <a:buNone/>
            </a:pPr>
            <a:r>
              <a:rPr lang="en-US" sz="1400" dirty="0">
                <a:solidFill>
                  <a:srgbClr val="B9B4C4"/>
                </a:solidFill>
                <a:latin typeface="Arial" pitchFamily="34" charset="0"/>
                <a:ea typeface="Arial" pitchFamily="34" charset="-122"/>
                <a:cs typeface="Arial" pitchFamily="34" charset="-120"/>
              </a:rPr>
              <a:t>La teoría de hoy, convertida en código que corre. No cabía en clase, así que se explica ahora y se resuelve en casa, con una guía paso a paso.</a:t>
            </a:r>
            <a:endParaRPr lang="en-US" sz="1400" dirty="0"/>
          </a:p>
        </p:txBody>
      </p:sp>
      <p:sp>
        <p:nvSpPr>
          <p:cNvPr id="8" name="Text 5"/>
          <p:cNvSpPr/>
          <p:nvPr/>
        </p:nvSpPr>
        <p:spPr>
          <a:xfrm>
            <a:off x="566928" y="6291072"/>
            <a:ext cx="8412480" cy="274320"/>
          </a:xfrm>
          <a:prstGeom prst="rect">
            <a:avLst/>
          </a:prstGeom>
          <a:noFill/>
          <a:ln/>
        </p:spPr>
        <p:txBody>
          <a:bodyPr wrap="square" lIns="0" tIns="0" rIns="0" bIns="0" rtlCol="0" anchor="ctr"/>
          <a:lstStyle/>
          <a:p>
            <a:pPr indent="0" marL="0">
              <a:buNone/>
            </a:pPr>
            <a:r>
              <a:rPr lang="en-US" sz="800" spc="120" kern="0" dirty="0">
                <a:solidFill>
                  <a:srgbClr val="6E6A7C"/>
                </a:solidFill>
                <a:latin typeface="Courier New" pitchFamily="34" charset="0"/>
                <a:ea typeface="Courier New" pitchFamily="34" charset="-122"/>
                <a:cs typeface="Courier New" pitchFamily="34" charset="-120"/>
              </a:rPr>
              <a:t>SESIÓN 04 · CONSENSO, INCENTIVOS Y EL TRILEMA</a:t>
            </a:r>
            <a:endParaRPr lang="en-US" sz="800" dirty="0"/>
          </a:p>
        </p:txBody>
      </p:sp>
      <p:sp>
        <p:nvSpPr>
          <p:cNvPr id="9" name="Text 6"/>
          <p:cNvSpPr/>
          <p:nvPr/>
        </p:nvSpPr>
        <p:spPr>
          <a:xfrm>
            <a:off x="9052560" y="6291072"/>
            <a:ext cx="1828800" cy="274320"/>
          </a:xfrm>
          <a:prstGeom prst="rect">
            <a:avLst/>
          </a:prstGeom>
          <a:noFill/>
          <a:ln/>
        </p:spPr>
        <p:txBody>
          <a:bodyPr wrap="square" lIns="0" tIns="0" rIns="0" bIns="0" rtlCol="0" anchor="ctr"/>
          <a:lstStyle/>
          <a:p>
            <a:pPr algn="r" indent="0" marL="0">
              <a:buNone/>
            </a:pPr>
            <a:r>
              <a:rPr lang="en-US" sz="800" spc="120" kern="0" dirty="0">
                <a:solidFill>
                  <a:srgbClr val="6E6A7C"/>
                </a:solidFill>
                <a:latin typeface="Courier New" pitchFamily="34" charset="0"/>
                <a:ea typeface="Courier New" pitchFamily="34" charset="-122"/>
                <a:cs typeface="Courier New" pitchFamily="34" charset="-120"/>
              </a:rPr>
              <a:t>USB MEDELLÍN</a:t>
            </a:r>
            <a:endParaRPr lang="en-US" sz="800" dirty="0"/>
          </a:p>
        </p:txBody>
      </p:sp>
      <p:sp>
        <p:nvSpPr>
          <p:cNvPr id="10" name="Text 7"/>
          <p:cNvSpPr/>
          <p:nvPr/>
        </p:nvSpPr>
        <p:spPr>
          <a:xfrm>
            <a:off x="11018520" y="6291072"/>
            <a:ext cx="603504" cy="274320"/>
          </a:xfrm>
          <a:prstGeom prst="rect">
            <a:avLst/>
          </a:prstGeom>
          <a:noFill/>
          <a:ln/>
        </p:spPr>
        <p:txBody>
          <a:bodyPr wrap="square" lIns="0" tIns="0" rIns="0" bIns="0" rtlCol="0" anchor="ctr"/>
          <a:lstStyle/>
          <a:p>
            <a:pPr algn="r" indent="0" marL="0">
              <a:buNone/>
            </a:pPr>
            <a:r>
              <a:rPr lang="en-US" sz="900" b="1" dirty="0">
                <a:solidFill>
                  <a:srgbClr val="F07F06"/>
                </a:solidFill>
                <a:latin typeface="Courier New" pitchFamily="34" charset="0"/>
                <a:ea typeface="Courier New" pitchFamily="34" charset="-122"/>
                <a:cs typeface="Courier New" pitchFamily="34" charset="-120"/>
              </a:rPr>
              <a:t>37</a:t>
            </a:r>
            <a:endParaRPr lang="en-US" sz="900" dirty="0"/>
          </a:p>
        </p:txBody>
      </p:sp>
    </p:spTree>
  </p:cSld>
  <p:clrMapOvr>
    <a:masterClrMapping/>
  </p:clrMapOvr>
</p:sld>
</file>

<file path=ppt/slides/slide38.xml><?xml version="1.0" encoding="utf-8"?>
<p:sld xmlns:a="http://schemas.openxmlformats.org/drawingml/2006/main" xmlns:r="http://schemas.openxmlformats.org/officeDocument/2006/relationships" xmlns:p="http://schemas.openxmlformats.org/presentationml/2006/main">
  <p:cSld name="Slide 38">
    <p:bg>
      <p:bgPr>
        <a:solidFill>
          <a:srgbClr val="FFFFFF"/>
        </a:solidFill>
      </p:bgPr>
    </p:bg>
    <p:spTree>
      <p:nvGrpSpPr>
        <p:cNvPr id="1" name=""/>
        <p:cNvGrpSpPr/>
        <p:nvPr/>
      </p:nvGrpSpPr>
      <p:grpSpPr>
        <a:xfrm>
          <a:off x="0" y="0"/>
          <a:ext cx="0" cy="0"/>
          <a:chOff x="0" y="0"/>
          <a:chExt cx="0" cy="0"/>
        </a:xfrm>
      </p:grpSpPr>
      <p:pic>
        <p:nvPicPr>
          <p:cNvPr id="2" name="Image 0" descr="preencoded.png">    </p:cNvPr>
          <p:cNvPicPr>
            <a:picLocks noChangeAspect="1"/>
          </p:cNvPicPr>
          <p:nvPr/>
        </p:nvPicPr>
        <p:blipFill>
          <a:blip r:embed="rId1"/>
          <a:stretch>
            <a:fillRect/>
          </a:stretch>
        </p:blipFill>
        <p:spPr>
          <a:xfrm>
            <a:off x="566928" y="402336"/>
            <a:ext cx="274320" cy="274320"/>
          </a:xfrm>
          <a:prstGeom prst="rect">
            <a:avLst/>
          </a:prstGeom>
        </p:spPr>
      </p:pic>
      <p:sp>
        <p:nvSpPr>
          <p:cNvPr id="3" name="Text 0"/>
          <p:cNvSpPr/>
          <p:nvPr/>
        </p:nvSpPr>
        <p:spPr>
          <a:xfrm>
            <a:off x="969264" y="384048"/>
            <a:ext cx="10655503" cy="310896"/>
          </a:xfrm>
          <a:prstGeom prst="rect">
            <a:avLst/>
          </a:prstGeom>
          <a:noFill/>
          <a:ln/>
        </p:spPr>
        <p:txBody>
          <a:bodyPr wrap="square" lIns="0" tIns="0" rIns="0" bIns="0" rtlCol="0" anchor="ctr"/>
          <a:lstStyle/>
          <a:p>
            <a:pPr indent="0" marL="0">
              <a:buNone/>
            </a:pPr>
            <a:r>
              <a:rPr lang="en-US" sz="950" spc="160" kern="0" dirty="0">
                <a:solidFill>
                  <a:srgbClr val="6F6B80"/>
                </a:solidFill>
                <a:latin typeface="Courier New" pitchFamily="34" charset="0"/>
                <a:ea typeface="Courier New" pitchFamily="34" charset="-122"/>
                <a:cs typeface="Courier New" pitchFamily="34" charset="-120"/>
              </a:rPr>
              <a:t>D.1 · QUÉ ES Y POR QUÉ EN CASA</a:t>
            </a:r>
            <a:endParaRPr lang="en-US" sz="950" dirty="0"/>
          </a:p>
        </p:txBody>
      </p:sp>
      <p:sp>
        <p:nvSpPr>
          <p:cNvPr id="4" name="Text 1"/>
          <p:cNvSpPr/>
          <p:nvPr/>
        </p:nvSpPr>
        <p:spPr>
          <a:xfrm>
            <a:off x="566928" y="777240"/>
            <a:ext cx="11057839" cy="777240"/>
          </a:xfrm>
          <a:prstGeom prst="rect">
            <a:avLst/>
          </a:prstGeom>
          <a:noFill/>
          <a:ln/>
        </p:spPr>
        <p:txBody>
          <a:bodyPr wrap="square" lIns="0" tIns="0" rIns="0" bIns="0" rtlCol="0" anchor="t"/>
          <a:lstStyle/>
          <a:p>
            <a:pPr indent="0" marL="0">
              <a:lnSpc>
                <a:spcPct val="92000"/>
              </a:lnSpc>
              <a:buNone/>
            </a:pPr>
            <a:r>
              <a:rPr lang="en-US" sz="2600" dirty="0">
                <a:solidFill>
                  <a:srgbClr val="0F0F11"/>
                </a:solidFill>
                <a:latin typeface="Arial Black" pitchFamily="34" charset="0"/>
                <a:ea typeface="Arial Black" pitchFamily="34" charset="-122"/>
                <a:cs typeface="Arial Black" pitchFamily="34" charset="-120"/>
              </a:rPr>
              <a:t>MINERÍA Y ATAQUE DEL 51 %, EN PYTHON</a:t>
            </a:r>
            <a:endParaRPr lang="en-US" sz="2600" dirty="0"/>
          </a:p>
        </p:txBody>
      </p:sp>
      <p:sp>
        <p:nvSpPr>
          <p:cNvPr id="5" name="Text 2"/>
          <p:cNvSpPr/>
          <p:nvPr/>
        </p:nvSpPr>
        <p:spPr>
          <a:xfrm>
            <a:off x="566928" y="6291072"/>
            <a:ext cx="8412480" cy="274320"/>
          </a:xfrm>
          <a:prstGeom prst="rect">
            <a:avLst/>
          </a:prstGeom>
          <a:noFill/>
          <a:ln/>
        </p:spPr>
        <p:txBody>
          <a:bodyPr wrap="square" lIns="0" tIns="0" rIns="0" bIns="0" rtlCol="0" anchor="ctr"/>
          <a:lstStyle/>
          <a:p>
            <a:pPr indent="0" marL="0">
              <a:buNone/>
            </a:pPr>
            <a:r>
              <a:rPr lang="en-US" sz="800" spc="120" kern="0" dirty="0">
                <a:solidFill>
                  <a:srgbClr val="6F6B80"/>
                </a:solidFill>
                <a:latin typeface="Courier New" pitchFamily="34" charset="0"/>
                <a:ea typeface="Courier New" pitchFamily="34" charset="-122"/>
                <a:cs typeface="Courier New" pitchFamily="34" charset="-120"/>
              </a:rPr>
              <a:t>SESIÓN 04 · CONSENSO, INCENTIVOS Y EL TRILEMA</a:t>
            </a:r>
            <a:endParaRPr lang="en-US" sz="800" dirty="0"/>
          </a:p>
        </p:txBody>
      </p:sp>
      <p:sp>
        <p:nvSpPr>
          <p:cNvPr id="6" name="Text 3"/>
          <p:cNvSpPr/>
          <p:nvPr/>
        </p:nvSpPr>
        <p:spPr>
          <a:xfrm>
            <a:off x="9052560" y="6291072"/>
            <a:ext cx="1828800" cy="274320"/>
          </a:xfrm>
          <a:prstGeom prst="rect">
            <a:avLst/>
          </a:prstGeom>
          <a:noFill/>
          <a:ln/>
        </p:spPr>
        <p:txBody>
          <a:bodyPr wrap="square" lIns="0" tIns="0" rIns="0" bIns="0" rtlCol="0" anchor="ctr"/>
          <a:lstStyle/>
          <a:p>
            <a:pPr algn="r" indent="0" marL="0">
              <a:buNone/>
            </a:pPr>
            <a:r>
              <a:rPr lang="en-US" sz="800" spc="120" kern="0" dirty="0">
                <a:solidFill>
                  <a:srgbClr val="6F6B80"/>
                </a:solidFill>
                <a:latin typeface="Courier New" pitchFamily="34" charset="0"/>
                <a:ea typeface="Courier New" pitchFamily="34" charset="-122"/>
                <a:cs typeface="Courier New" pitchFamily="34" charset="-120"/>
              </a:rPr>
              <a:t>USB MEDELLÍN</a:t>
            </a:r>
            <a:endParaRPr lang="en-US" sz="800" dirty="0"/>
          </a:p>
        </p:txBody>
      </p:sp>
      <p:sp>
        <p:nvSpPr>
          <p:cNvPr id="7" name="Text 4"/>
          <p:cNvSpPr/>
          <p:nvPr/>
        </p:nvSpPr>
        <p:spPr>
          <a:xfrm>
            <a:off x="11018520" y="6291072"/>
            <a:ext cx="603504" cy="274320"/>
          </a:xfrm>
          <a:prstGeom prst="rect">
            <a:avLst/>
          </a:prstGeom>
          <a:noFill/>
          <a:ln/>
        </p:spPr>
        <p:txBody>
          <a:bodyPr wrap="square" lIns="0" tIns="0" rIns="0" bIns="0" rtlCol="0" anchor="ctr"/>
          <a:lstStyle/>
          <a:p>
            <a:pPr algn="r" indent="0" marL="0">
              <a:buNone/>
            </a:pPr>
            <a:r>
              <a:rPr lang="en-US" sz="900" b="1" dirty="0">
                <a:solidFill>
                  <a:srgbClr val="0F0F11"/>
                </a:solidFill>
                <a:latin typeface="Courier New" pitchFamily="34" charset="0"/>
                <a:ea typeface="Courier New" pitchFamily="34" charset="-122"/>
                <a:cs typeface="Courier New" pitchFamily="34" charset="-120"/>
              </a:rPr>
              <a:t>38</a:t>
            </a:r>
            <a:endParaRPr lang="en-US" sz="900" dirty="0"/>
          </a:p>
        </p:txBody>
      </p:sp>
      <p:sp>
        <p:nvSpPr>
          <p:cNvPr id="8" name="Text 5"/>
          <p:cNvSpPr/>
          <p:nvPr/>
        </p:nvSpPr>
        <p:spPr>
          <a:xfrm>
            <a:off x="566928" y="1691640"/>
            <a:ext cx="11057839" cy="868680"/>
          </a:xfrm>
          <a:prstGeom prst="rect">
            <a:avLst/>
          </a:prstGeom>
          <a:noFill/>
          <a:ln/>
        </p:spPr>
        <p:txBody>
          <a:bodyPr wrap="square" lIns="0" tIns="0" rIns="0" bIns="0" rtlCol="0" anchor="t"/>
          <a:lstStyle/>
          <a:p>
            <a:pPr indent="0" marL="0">
              <a:lnSpc>
                <a:spcPct val="124000"/>
              </a:lnSpc>
              <a:buNone/>
            </a:pPr>
            <a:r>
              <a:rPr lang="en-US" sz="1400" dirty="0">
                <a:solidFill>
                  <a:srgbClr val="3A3844"/>
                </a:solidFill>
                <a:latin typeface="Arial" pitchFamily="34" charset="0"/>
                <a:ea typeface="Arial" pitchFamily="34" charset="-122"/>
                <a:cs typeface="Arial" pitchFamily="34" charset="-120"/>
              </a:rPr>
              <a:t>En una sesión de tres horas no cabe teoría + actividad + quiz + laboratorio. Así que este laboratorio se hace en casa: es la mejor forma de fijar lo de hoy, porque pasa de la diapositiva al código que ustedes ejecutan.</a:t>
            </a:r>
            <a:endParaRPr lang="en-US" sz="1400" dirty="0"/>
          </a:p>
        </p:txBody>
      </p:sp>
      <p:sp>
        <p:nvSpPr>
          <p:cNvPr id="9" name="Shape 6"/>
          <p:cNvSpPr/>
          <p:nvPr/>
        </p:nvSpPr>
        <p:spPr>
          <a:xfrm>
            <a:off x="566928" y="2697480"/>
            <a:ext cx="5391760" cy="2286000"/>
          </a:xfrm>
          <a:prstGeom prst="rect">
            <a:avLst/>
          </a:prstGeom>
          <a:solidFill>
            <a:srgbClr val="FFFFFF"/>
          </a:solidFill>
          <a:ln w="22225">
            <a:solidFill>
              <a:srgbClr val="F07F06"/>
            </a:solidFill>
            <a:prstDash val="solid"/>
          </a:ln>
          <a:effectLst>
            <a:outerShdw sx="100000" sy="100000" kx="0" ky="0" algn="bl" rotWithShape="0" blurRad="101600" dist="63500" dir="2700000">
              <a:srgbClr val="F07F06">
                <a:alpha val="100000"/>
              </a:srgbClr>
            </a:outerShdw>
          </a:effectLst>
        </p:spPr>
      </p:sp>
      <p:sp>
        <p:nvSpPr>
          <p:cNvPr id="10" name="Text 7"/>
          <p:cNvSpPr/>
          <p:nvPr/>
        </p:nvSpPr>
        <p:spPr>
          <a:xfrm>
            <a:off x="841248" y="2880360"/>
            <a:ext cx="4843120" cy="292608"/>
          </a:xfrm>
          <a:prstGeom prst="rect">
            <a:avLst/>
          </a:prstGeom>
          <a:noFill/>
          <a:ln/>
        </p:spPr>
        <p:txBody>
          <a:bodyPr wrap="square" lIns="0" tIns="0" rIns="0" bIns="0" rtlCol="0" anchor="ctr"/>
          <a:lstStyle/>
          <a:p>
            <a:pPr indent="0" marL="0">
              <a:buNone/>
            </a:pPr>
            <a:r>
              <a:rPr lang="en-US" sz="1050" b="1" spc="130" kern="0" dirty="0">
                <a:solidFill>
                  <a:srgbClr val="A35604"/>
                </a:solidFill>
                <a:latin typeface="Courier New" pitchFamily="34" charset="0"/>
                <a:ea typeface="Courier New" pitchFamily="34" charset="-122"/>
                <a:cs typeface="Courier New" pitchFamily="34" charset="-120"/>
              </a:rPr>
              <a:t>POR QUÉ VALE LA PENA HACERLO</a:t>
            </a:r>
            <a:endParaRPr lang="en-US" sz="1050" dirty="0"/>
          </a:p>
        </p:txBody>
      </p:sp>
      <p:sp>
        <p:nvSpPr>
          <p:cNvPr id="11" name="Text 8"/>
          <p:cNvSpPr/>
          <p:nvPr/>
        </p:nvSpPr>
        <p:spPr>
          <a:xfrm>
            <a:off x="841248" y="3264408"/>
            <a:ext cx="4843120" cy="1554480"/>
          </a:xfrm>
          <a:prstGeom prst="rect">
            <a:avLst/>
          </a:prstGeom>
          <a:noFill/>
          <a:ln/>
        </p:spPr>
        <p:txBody>
          <a:bodyPr wrap="square" lIns="0" tIns="0" rIns="0" bIns="0" rtlCol="0" anchor="t"/>
          <a:lstStyle/>
          <a:p>
            <a:pPr marL="203200" indent="-203200">
              <a:lnSpc>
                <a:spcPct val="118000"/>
              </a:lnSpc>
              <a:spcAft>
                <a:spcPts val="500"/>
              </a:spcAft>
              <a:buSzPct val="100000"/>
              <a:buChar char="■"/>
            </a:pPr>
            <a:r>
              <a:rPr lang="en-US" sz="1250" dirty="0">
                <a:solidFill>
                  <a:srgbClr val="3A3844"/>
                </a:solidFill>
                <a:latin typeface="Arial" pitchFamily="34" charset="0"/>
                <a:ea typeface="Arial" pitchFamily="34" charset="-122"/>
                <a:cs typeface="Arial" pitchFamily="34" charset="-120"/>
              </a:rPr>
              <a:t>Convierte en código lo que hoy solo se vio explicado.</a:t>
            </a:r>
            <a:endParaRPr lang="en-US" sz="1250" dirty="0"/>
          </a:p>
          <a:p>
            <a:pPr marL="203200" indent="-203200">
              <a:lnSpc>
                <a:spcPct val="118000"/>
              </a:lnSpc>
              <a:spcAft>
                <a:spcPts val="500"/>
              </a:spcAft>
              <a:buSzPct val="100000"/>
              <a:buChar char="■"/>
            </a:pPr>
            <a:r>
              <a:rPr lang="en-US" sz="1250" dirty="0">
                <a:solidFill>
                  <a:srgbClr val="3A3844"/>
                </a:solidFill>
                <a:latin typeface="Arial" pitchFamily="34" charset="0"/>
                <a:ea typeface="Arial" pitchFamily="34" charset="-122"/>
                <a:cs typeface="Arial" pitchFamily="34" charset="-120"/>
              </a:rPr>
              <a:t>Refuerza justo lo que entra en el Quiz 1.</a:t>
            </a:r>
            <a:endParaRPr lang="en-US" sz="1250" dirty="0"/>
          </a:p>
          <a:p>
            <a:pPr marL="203200" indent="-203200">
              <a:lnSpc>
                <a:spcPct val="118000"/>
              </a:lnSpc>
              <a:spcAft>
                <a:spcPts val="500"/>
              </a:spcAft>
              <a:buSzPct val="100000"/>
              <a:buChar char="■"/>
            </a:pPr>
            <a:r>
              <a:rPr lang="en-US" sz="1250" dirty="0">
                <a:solidFill>
                  <a:srgbClr val="3A3844"/>
                </a:solidFill>
                <a:latin typeface="Arial" pitchFamily="34" charset="0"/>
                <a:ea typeface="Arial" pitchFamily="34" charset="-122"/>
                <a:cs typeface="Arial" pitchFamily="34" charset="-120"/>
              </a:rPr>
              <a:t>No exige red, ni billetera, ni internet: solo Python.</a:t>
            </a:r>
            <a:endParaRPr lang="en-US" sz="1250" dirty="0"/>
          </a:p>
          <a:p>
            <a:pPr marL="203200" indent="-203200">
              <a:lnSpc>
                <a:spcPct val="118000"/>
              </a:lnSpc>
              <a:spcAft>
                <a:spcPts val="500"/>
              </a:spcAft>
              <a:buSzPct val="100000"/>
              <a:buChar char="■"/>
            </a:pPr>
            <a:r>
              <a:rPr lang="en-US" sz="1250" dirty="0">
                <a:solidFill>
                  <a:srgbClr val="3A3844"/>
                </a:solidFill>
                <a:latin typeface="Arial" pitchFamily="34" charset="0"/>
                <a:ea typeface="Arial" pitchFamily="34" charset="-122"/>
                <a:cs typeface="Arial" pitchFamily="34" charset="-120"/>
              </a:rPr>
              <a:t>Trae un hallazgo que sorprende (D.2).</a:t>
            </a:r>
            <a:endParaRPr lang="en-US" sz="1250" dirty="0"/>
          </a:p>
        </p:txBody>
      </p:sp>
      <p:sp>
        <p:nvSpPr>
          <p:cNvPr id="12" name="Shape 9"/>
          <p:cNvSpPr/>
          <p:nvPr/>
        </p:nvSpPr>
        <p:spPr>
          <a:xfrm>
            <a:off x="6233008" y="2697480"/>
            <a:ext cx="5391760" cy="2286000"/>
          </a:xfrm>
          <a:prstGeom prst="rect">
            <a:avLst/>
          </a:prstGeom>
          <a:solidFill>
            <a:srgbClr val="FFFFFF"/>
          </a:solidFill>
          <a:ln w="22225">
            <a:solidFill>
              <a:srgbClr val="7152E9"/>
            </a:solidFill>
            <a:prstDash val="solid"/>
          </a:ln>
          <a:effectLst>
            <a:outerShdw sx="100000" sy="100000" kx="0" ky="0" algn="bl" rotWithShape="0" blurRad="101600" dist="63500" dir="2700000">
              <a:srgbClr val="7152E9">
                <a:alpha val="100000"/>
              </a:srgbClr>
            </a:outerShdw>
          </a:effectLst>
        </p:spPr>
      </p:sp>
      <p:sp>
        <p:nvSpPr>
          <p:cNvPr id="13" name="Text 10"/>
          <p:cNvSpPr/>
          <p:nvPr/>
        </p:nvSpPr>
        <p:spPr>
          <a:xfrm>
            <a:off x="6507328" y="2880360"/>
            <a:ext cx="4843120" cy="292608"/>
          </a:xfrm>
          <a:prstGeom prst="rect">
            <a:avLst/>
          </a:prstGeom>
          <a:noFill/>
          <a:ln/>
        </p:spPr>
        <p:txBody>
          <a:bodyPr wrap="square" lIns="0" tIns="0" rIns="0" bIns="0" rtlCol="0" anchor="ctr"/>
          <a:lstStyle/>
          <a:p>
            <a:pPr indent="0" marL="0">
              <a:buNone/>
            </a:pPr>
            <a:r>
              <a:rPr lang="en-US" sz="1050" b="1" spc="130" kern="0" dirty="0">
                <a:solidFill>
                  <a:srgbClr val="5638C9"/>
                </a:solidFill>
                <a:latin typeface="Courier New" pitchFamily="34" charset="0"/>
                <a:ea typeface="Courier New" pitchFamily="34" charset="-122"/>
                <a:cs typeface="Courier New" pitchFamily="34" charset="-120"/>
              </a:rPr>
              <a:t>CÓMO ESTÁ PENSADO</a:t>
            </a:r>
            <a:endParaRPr lang="en-US" sz="1050" dirty="0"/>
          </a:p>
        </p:txBody>
      </p:sp>
      <p:sp>
        <p:nvSpPr>
          <p:cNvPr id="14" name="Text 11"/>
          <p:cNvSpPr/>
          <p:nvPr/>
        </p:nvSpPr>
        <p:spPr>
          <a:xfrm>
            <a:off x="6507328" y="3264408"/>
            <a:ext cx="4843120" cy="1554480"/>
          </a:xfrm>
          <a:prstGeom prst="rect">
            <a:avLst/>
          </a:prstGeom>
          <a:noFill/>
          <a:ln/>
        </p:spPr>
        <p:txBody>
          <a:bodyPr wrap="square" lIns="0" tIns="0" rIns="0" bIns="0" rtlCol="0" anchor="t"/>
          <a:lstStyle/>
          <a:p>
            <a:pPr marL="203200" indent="-203200">
              <a:lnSpc>
                <a:spcPct val="118000"/>
              </a:lnSpc>
              <a:spcAft>
                <a:spcPts val="500"/>
              </a:spcAft>
              <a:buSzPct val="100000"/>
              <a:buChar char="■"/>
            </a:pPr>
            <a:r>
              <a:rPr lang="en-US" sz="1250" dirty="0">
                <a:solidFill>
                  <a:srgbClr val="3A3844"/>
                </a:solidFill>
                <a:latin typeface="Arial" pitchFamily="34" charset="0"/>
                <a:ea typeface="Arial" pitchFamily="34" charset="-122"/>
                <a:cs typeface="Arial" pitchFamily="34" charset="-120"/>
              </a:rPr>
              <a:t>Trabajo individual o en pareja, a su ritmo.</a:t>
            </a:r>
            <a:endParaRPr lang="en-US" sz="1250" dirty="0"/>
          </a:p>
          <a:p>
            <a:pPr marL="203200" indent="-203200">
              <a:lnSpc>
                <a:spcPct val="118000"/>
              </a:lnSpc>
              <a:spcAft>
                <a:spcPts val="500"/>
              </a:spcAft>
              <a:buSzPct val="100000"/>
              <a:buChar char="■"/>
            </a:pPr>
            <a:r>
              <a:rPr lang="en-US" sz="1250" dirty="0">
                <a:solidFill>
                  <a:srgbClr val="3A3844"/>
                </a:solidFill>
                <a:latin typeface="Arial" pitchFamily="34" charset="0"/>
                <a:ea typeface="Arial" pitchFamily="34" charset="-122"/>
                <a:cs typeface="Arial" pitchFamily="34" charset="-120"/>
              </a:rPr>
              <a:t>No se califica: es refuerzo, no evidencia.</a:t>
            </a:r>
            <a:endParaRPr lang="en-US" sz="1250" dirty="0"/>
          </a:p>
          <a:p>
            <a:pPr marL="203200" indent="-203200">
              <a:lnSpc>
                <a:spcPct val="118000"/>
              </a:lnSpc>
              <a:spcAft>
                <a:spcPts val="500"/>
              </a:spcAft>
              <a:buSzPct val="100000"/>
              <a:buChar char="■"/>
            </a:pPr>
            <a:r>
              <a:rPr lang="en-US" sz="1250" dirty="0">
                <a:solidFill>
                  <a:srgbClr val="3A3844"/>
                </a:solidFill>
                <a:latin typeface="Arial" pitchFamily="34" charset="0"/>
                <a:ea typeface="Arial" pitchFamily="34" charset="-122"/>
                <a:cs typeface="Arial" pitchFamily="34" charset="-120"/>
              </a:rPr>
              <a:t>Guía en PDF con cada paso explicado.</a:t>
            </a:r>
            <a:endParaRPr lang="en-US" sz="1250" dirty="0"/>
          </a:p>
          <a:p>
            <a:pPr marL="203200" indent="-203200">
              <a:lnSpc>
                <a:spcPct val="118000"/>
              </a:lnSpc>
              <a:spcAft>
                <a:spcPts val="500"/>
              </a:spcAft>
              <a:buSzPct val="100000"/>
              <a:buChar char="■"/>
            </a:pPr>
            <a:r>
              <a:rPr lang="en-US" sz="1250" dirty="0">
                <a:solidFill>
                  <a:srgbClr val="3A3844"/>
                </a:solidFill>
                <a:latin typeface="Arial" pitchFamily="34" charset="0"/>
                <a:ea typeface="Arial" pitchFamily="34" charset="-122"/>
                <a:cs typeface="Arial" pitchFamily="34" charset="-120"/>
              </a:rPr>
              <a:t>Se resuelve completando funciones marcadas con TODO.</a:t>
            </a:r>
            <a:endParaRPr lang="en-US" sz="1250" dirty="0"/>
          </a:p>
        </p:txBody>
      </p:sp>
      <p:sp>
        <p:nvSpPr>
          <p:cNvPr id="15" name="Shape 12"/>
          <p:cNvSpPr/>
          <p:nvPr/>
        </p:nvSpPr>
        <p:spPr>
          <a:xfrm>
            <a:off x="566928" y="5074920"/>
            <a:ext cx="11057839" cy="1051560"/>
          </a:xfrm>
          <a:prstGeom prst="rect">
            <a:avLst/>
          </a:prstGeom>
          <a:solidFill>
            <a:srgbClr val="FFFFFF"/>
          </a:solidFill>
          <a:ln w="22225">
            <a:solidFill>
              <a:srgbClr val="F07F06"/>
            </a:solidFill>
            <a:prstDash val="solid"/>
          </a:ln>
          <a:effectLst>
            <a:outerShdw sx="100000" sy="100000" kx="0" ky="0" algn="bl" rotWithShape="0" blurRad="101600" dist="63500" dir="2700000">
              <a:srgbClr val="F07F06">
                <a:alpha val="100000"/>
              </a:srgbClr>
            </a:outerShdw>
          </a:effectLst>
        </p:spPr>
      </p:sp>
      <p:pic>
        <p:nvPicPr>
          <p:cNvPr id="16" name="Image 1" descr="preencoded.png">    </p:cNvPr>
          <p:cNvPicPr>
            <a:picLocks noChangeAspect="1"/>
          </p:cNvPicPr>
          <p:nvPr/>
        </p:nvPicPr>
        <p:blipFill>
          <a:blip r:embed="rId2"/>
          <a:stretch>
            <a:fillRect/>
          </a:stretch>
        </p:blipFill>
        <p:spPr>
          <a:xfrm>
            <a:off x="804672" y="5294376"/>
            <a:ext cx="237744" cy="237744"/>
          </a:xfrm>
          <a:prstGeom prst="rect">
            <a:avLst/>
          </a:prstGeom>
        </p:spPr>
      </p:pic>
      <p:sp>
        <p:nvSpPr>
          <p:cNvPr id="17" name="Text 13"/>
          <p:cNvSpPr/>
          <p:nvPr/>
        </p:nvSpPr>
        <p:spPr>
          <a:xfrm>
            <a:off x="1133856" y="5266944"/>
            <a:ext cx="10234879" cy="292608"/>
          </a:xfrm>
          <a:prstGeom prst="rect">
            <a:avLst/>
          </a:prstGeom>
          <a:noFill/>
          <a:ln/>
        </p:spPr>
        <p:txBody>
          <a:bodyPr wrap="square" lIns="0" tIns="0" rIns="0" bIns="0" rtlCol="0" anchor="ctr"/>
          <a:lstStyle/>
          <a:p>
            <a:pPr indent="0" marL="0">
              <a:buNone/>
            </a:pPr>
            <a:r>
              <a:rPr lang="en-US" sz="950" b="1" spc="150" kern="0" dirty="0">
                <a:solidFill>
                  <a:srgbClr val="A35604"/>
                </a:solidFill>
                <a:latin typeface="Courier New" pitchFamily="34" charset="0"/>
                <a:ea typeface="Courier New" pitchFamily="34" charset="-122"/>
                <a:cs typeface="Courier New" pitchFamily="34" charset="-120"/>
              </a:rPr>
              <a:t>DÓNDE ESTÁ TODO</a:t>
            </a:r>
            <a:endParaRPr lang="en-US" sz="950" dirty="0"/>
          </a:p>
        </p:txBody>
      </p:sp>
      <p:sp>
        <p:nvSpPr>
          <p:cNvPr id="18" name="Text 14"/>
          <p:cNvSpPr/>
          <p:nvPr/>
        </p:nvSpPr>
        <p:spPr>
          <a:xfrm>
            <a:off x="804672" y="5586984"/>
            <a:ext cx="10582351" cy="448056"/>
          </a:xfrm>
          <a:prstGeom prst="rect">
            <a:avLst/>
          </a:prstGeom>
          <a:noFill/>
          <a:ln/>
        </p:spPr>
        <p:txBody>
          <a:bodyPr wrap="square" lIns="0" tIns="0" rIns="0" bIns="0" rtlCol="0" anchor="t"/>
          <a:lstStyle/>
          <a:p>
            <a:pPr indent="0" marL="0">
              <a:lnSpc>
                <a:spcPct val="124000"/>
              </a:lnSpc>
              <a:buNone/>
            </a:pPr>
            <a:r>
              <a:rPr lang="en-US" sz="1250" dirty="0">
                <a:solidFill>
                  <a:srgbClr val="3A3844"/>
                </a:solidFill>
                <a:latin typeface="Arial" pitchFamily="34" charset="0"/>
                <a:ea typeface="Arial" pitchFamily="34" charset="-122"/>
                <a:cs typeface="Arial" pitchFamily="34" charset="-120"/>
              </a:rPr>
              <a:t>Carpeta material/laboratorio-04. La guía exageradamente detallada está en el PDF «Guia-Laboratorio-04». Requisito único: Python 3.10 o superior. Nada más que instalar.</a:t>
            </a:r>
            <a:endParaRPr lang="en-US" sz="1250" dirty="0"/>
          </a:p>
        </p:txBody>
      </p:sp>
    </p:spTree>
  </p:cSld>
  <p:clrMapOvr>
    <a:masterClrMapping/>
  </p:clrMapOvr>
</p:sld>
</file>

<file path=ppt/slides/slide39.xml><?xml version="1.0" encoding="utf-8"?>
<p:sld xmlns:a="http://schemas.openxmlformats.org/drawingml/2006/main" xmlns:r="http://schemas.openxmlformats.org/officeDocument/2006/relationships" xmlns:p="http://schemas.openxmlformats.org/presentationml/2006/main">
  <p:cSld name="Slide 39">
    <p:bg>
      <p:bgPr>
        <a:solidFill>
          <a:srgbClr val="FFFFFF"/>
        </a:solidFill>
      </p:bgPr>
    </p:bg>
    <p:spTree>
      <p:nvGrpSpPr>
        <p:cNvPr id="1" name=""/>
        <p:cNvGrpSpPr/>
        <p:nvPr/>
      </p:nvGrpSpPr>
      <p:grpSpPr>
        <a:xfrm>
          <a:off x="0" y="0"/>
          <a:ext cx="0" cy="0"/>
          <a:chOff x="0" y="0"/>
          <a:chExt cx="0" cy="0"/>
        </a:xfrm>
      </p:grpSpPr>
      <p:pic>
        <p:nvPicPr>
          <p:cNvPr id="2" name="Image 0" descr="preencoded.png">    </p:cNvPr>
          <p:cNvPicPr>
            <a:picLocks noChangeAspect="1"/>
          </p:cNvPicPr>
          <p:nvPr/>
        </p:nvPicPr>
        <p:blipFill>
          <a:blip r:embed="rId1"/>
          <a:stretch>
            <a:fillRect/>
          </a:stretch>
        </p:blipFill>
        <p:spPr>
          <a:xfrm>
            <a:off x="566928" y="402336"/>
            <a:ext cx="274320" cy="274320"/>
          </a:xfrm>
          <a:prstGeom prst="rect">
            <a:avLst/>
          </a:prstGeom>
        </p:spPr>
      </p:pic>
      <p:sp>
        <p:nvSpPr>
          <p:cNvPr id="3" name="Text 0"/>
          <p:cNvSpPr/>
          <p:nvPr/>
        </p:nvSpPr>
        <p:spPr>
          <a:xfrm>
            <a:off x="969264" y="384048"/>
            <a:ext cx="10655503" cy="310896"/>
          </a:xfrm>
          <a:prstGeom prst="rect">
            <a:avLst/>
          </a:prstGeom>
          <a:noFill/>
          <a:ln/>
        </p:spPr>
        <p:txBody>
          <a:bodyPr wrap="square" lIns="0" tIns="0" rIns="0" bIns="0" rtlCol="0" anchor="ctr"/>
          <a:lstStyle/>
          <a:p>
            <a:pPr indent="0" marL="0">
              <a:buNone/>
            </a:pPr>
            <a:r>
              <a:rPr lang="en-US" sz="950" spc="160" kern="0" dirty="0">
                <a:solidFill>
                  <a:srgbClr val="6F6B80"/>
                </a:solidFill>
                <a:latin typeface="Courier New" pitchFamily="34" charset="0"/>
                <a:ea typeface="Courier New" pitchFamily="34" charset="-122"/>
                <a:cs typeface="Courier New" pitchFamily="34" charset="-120"/>
              </a:rPr>
              <a:t>D.2 · LAS TRES PARTES</a:t>
            </a:r>
            <a:endParaRPr lang="en-US" sz="950" dirty="0"/>
          </a:p>
        </p:txBody>
      </p:sp>
      <p:sp>
        <p:nvSpPr>
          <p:cNvPr id="4" name="Text 1"/>
          <p:cNvSpPr/>
          <p:nvPr/>
        </p:nvSpPr>
        <p:spPr>
          <a:xfrm>
            <a:off x="566928" y="777240"/>
            <a:ext cx="11057839" cy="777240"/>
          </a:xfrm>
          <a:prstGeom prst="rect">
            <a:avLst/>
          </a:prstGeom>
          <a:noFill/>
          <a:ln/>
        </p:spPr>
        <p:txBody>
          <a:bodyPr wrap="square" lIns="0" tIns="0" rIns="0" bIns="0" rtlCol="0" anchor="t"/>
          <a:lstStyle/>
          <a:p>
            <a:pPr indent="0" marL="0">
              <a:lnSpc>
                <a:spcPct val="92000"/>
              </a:lnSpc>
              <a:buNone/>
            </a:pPr>
            <a:r>
              <a:rPr lang="en-US" sz="2800" dirty="0">
                <a:solidFill>
                  <a:srgbClr val="0F0F11"/>
                </a:solidFill>
                <a:latin typeface="Arial Black" pitchFamily="34" charset="0"/>
                <a:ea typeface="Arial Black" pitchFamily="34" charset="-122"/>
                <a:cs typeface="Arial Black" pitchFamily="34" charset="-120"/>
              </a:rPr>
              <a:t>LO QUE VAN A CONSTRUIR</a:t>
            </a:r>
            <a:endParaRPr lang="en-US" sz="2800" dirty="0"/>
          </a:p>
        </p:txBody>
      </p:sp>
      <p:sp>
        <p:nvSpPr>
          <p:cNvPr id="5" name="Text 2"/>
          <p:cNvSpPr/>
          <p:nvPr/>
        </p:nvSpPr>
        <p:spPr>
          <a:xfrm>
            <a:off x="566928" y="6291072"/>
            <a:ext cx="8412480" cy="274320"/>
          </a:xfrm>
          <a:prstGeom prst="rect">
            <a:avLst/>
          </a:prstGeom>
          <a:noFill/>
          <a:ln/>
        </p:spPr>
        <p:txBody>
          <a:bodyPr wrap="square" lIns="0" tIns="0" rIns="0" bIns="0" rtlCol="0" anchor="ctr"/>
          <a:lstStyle/>
          <a:p>
            <a:pPr indent="0" marL="0">
              <a:buNone/>
            </a:pPr>
            <a:r>
              <a:rPr lang="en-US" sz="800" spc="120" kern="0" dirty="0">
                <a:solidFill>
                  <a:srgbClr val="6F6B80"/>
                </a:solidFill>
                <a:latin typeface="Courier New" pitchFamily="34" charset="0"/>
                <a:ea typeface="Courier New" pitchFamily="34" charset="-122"/>
                <a:cs typeface="Courier New" pitchFamily="34" charset="-120"/>
              </a:rPr>
              <a:t>SESIÓN 04 · CONSENSO, INCENTIVOS Y EL TRILEMA</a:t>
            </a:r>
            <a:endParaRPr lang="en-US" sz="800" dirty="0"/>
          </a:p>
        </p:txBody>
      </p:sp>
      <p:sp>
        <p:nvSpPr>
          <p:cNvPr id="6" name="Text 3"/>
          <p:cNvSpPr/>
          <p:nvPr/>
        </p:nvSpPr>
        <p:spPr>
          <a:xfrm>
            <a:off x="9052560" y="6291072"/>
            <a:ext cx="1828800" cy="274320"/>
          </a:xfrm>
          <a:prstGeom prst="rect">
            <a:avLst/>
          </a:prstGeom>
          <a:noFill/>
          <a:ln/>
        </p:spPr>
        <p:txBody>
          <a:bodyPr wrap="square" lIns="0" tIns="0" rIns="0" bIns="0" rtlCol="0" anchor="ctr"/>
          <a:lstStyle/>
          <a:p>
            <a:pPr algn="r" indent="0" marL="0">
              <a:buNone/>
            </a:pPr>
            <a:r>
              <a:rPr lang="en-US" sz="800" spc="120" kern="0" dirty="0">
                <a:solidFill>
                  <a:srgbClr val="6F6B80"/>
                </a:solidFill>
                <a:latin typeface="Courier New" pitchFamily="34" charset="0"/>
                <a:ea typeface="Courier New" pitchFamily="34" charset="-122"/>
                <a:cs typeface="Courier New" pitchFamily="34" charset="-120"/>
              </a:rPr>
              <a:t>USB MEDELLÍN</a:t>
            </a:r>
            <a:endParaRPr lang="en-US" sz="800" dirty="0"/>
          </a:p>
        </p:txBody>
      </p:sp>
      <p:sp>
        <p:nvSpPr>
          <p:cNvPr id="7" name="Text 4"/>
          <p:cNvSpPr/>
          <p:nvPr/>
        </p:nvSpPr>
        <p:spPr>
          <a:xfrm>
            <a:off x="11018520" y="6291072"/>
            <a:ext cx="603504" cy="274320"/>
          </a:xfrm>
          <a:prstGeom prst="rect">
            <a:avLst/>
          </a:prstGeom>
          <a:noFill/>
          <a:ln/>
        </p:spPr>
        <p:txBody>
          <a:bodyPr wrap="square" lIns="0" tIns="0" rIns="0" bIns="0" rtlCol="0" anchor="ctr"/>
          <a:lstStyle/>
          <a:p>
            <a:pPr algn="r" indent="0" marL="0">
              <a:buNone/>
            </a:pPr>
            <a:r>
              <a:rPr lang="en-US" sz="900" b="1" dirty="0">
                <a:solidFill>
                  <a:srgbClr val="0F0F11"/>
                </a:solidFill>
                <a:latin typeface="Courier New" pitchFamily="34" charset="0"/>
                <a:ea typeface="Courier New" pitchFamily="34" charset="-122"/>
                <a:cs typeface="Courier New" pitchFamily="34" charset="-120"/>
              </a:rPr>
              <a:t>39</a:t>
            </a:r>
            <a:endParaRPr lang="en-US" sz="900" dirty="0"/>
          </a:p>
        </p:txBody>
      </p:sp>
      <p:graphicFrame>
        <p:nvGraphicFramePr>
          <p:cNvPr id="40" name="Table 0"/>
          <p:cNvGraphicFramePr>
            <a:graphicFrameLocks noGrp="1"/>
          </p:cNvGraphicFramePr>
          <p:nvPr>
            <p:extLst>
              <p:ext uri="{D42A27DB-BD31-4B8C-83A1-F6EECF244321}">
                <p14:modId xmlns:p14="http://schemas.microsoft.com/office/powerpoint/2010/main" val="1579011935"/>
              </p:ext>
            </p:extLst>
          </p:nvPr>
        </p:nvGraphicFramePr>
        <p:xfrm>
          <a:off x="566928" y="1737360"/>
          <a:ext cx="11057839" cy="914400"/>
        </p:xfrm>
        <a:graphic>
          <a:graphicData uri="http://schemas.openxmlformats.org/drawingml/2006/table">
            <a:tbl>
              <a:tblPr/>
              <a:tblGrid>
                <a:gridCol w="2560320"/>
                <a:gridCol w="4937760"/>
                <a:gridCol w="3559759"/>
              </a:tblGrid>
              <a:tr h="310896">
                <a:tc>
                  <a:txBody>
                    <a:bodyPr/>
                    <a:lstStyle/>
                    <a:p>
                      <a:pPr indent="0" marL="0">
                        <a:buNone/>
                      </a:pPr>
                      <a:r>
                        <a:rPr lang="en-US" sz="900" b="1" spc="110" kern="0" dirty="0">
                          <a:solidFill>
                            <a:srgbClr val="FFFFFF"/>
                          </a:solidFill>
                          <a:latin typeface="Courier New" pitchFamily="34" charset="0"/>
                          <a:ea typeface="Courier New" pitchFamily="34" charset="-122"/>
                          <a:cs typeface="Courier New" pitchFamily="34" charset="-120"/>
                        </a:rPr>
                        <a:t>PARTE</a:t>
                      </a:r>
                      <a:endParaRPr lang="en-US" sz="900" dirty="0">
                        <a:latin typeface="Courier New" charset="0"/>
                        <a:ea typeface="Courier New" charset="0"/>
                        <a:cs typeface="Courier New" charset="0"/>
                      </a:endParaRPr>
                    </a:p>
                  </a:txBody>
                  <a:tcPr marL="101600" marR="101600" marT="76200" marB="76200" anchor="ctr">
                    <a:lnL w="12700" cap="flat" cmpd="sng" algn="ctr">
                      <a:solidFill>
                        <a:srgbClr val="D9D6E0"/>
                      </a:solidFill>
                      <a:prstDash val="solid"/>
                      <a:round/>
                      <a:headEnd type="none" w="med" len="med"/>
                      <a:tailEnd type="none" w="med" len="med"/>
                    </a:lnL>
                    <a:lnR w="12700" cap="flat" cmpd="sng" algn="ctr">
                      <a:solidFill>
                        <a:srgbClr val="D9D6E0"/>
                      </a:solidFill>
                      <a:prstDash val="solid"/>
                      <a:round/>
                      <a:headEnd type="none" w="med" len="med"/>
                      <a:tailEnd type="none" w="med" len="med"/>
                    </a:lnR>
                    <a:lnT w="12700" cap="flat" cmpd="sng" algn="ctr">
                      <a:solidFill>
                        <a:srgbClr val="D9D6E0"/>
                      </a:solidFill>
                      <a:prstDash val="solid"/>
                      <a:round/>
                      <a:headEnd type="none" w="med" len="med"/>
                      <a:tailEnd type="none" w="med" len="med"/>
                    </a:lnT>
                    <a:lnB w="12700" cap="flat" cmpd="sng" algn="ctr">
                      <a:solidFill>
                        <a:srgbClr val="D9D6E0"/>
                      </a:solidFill>
                      <a:prstDash val="solid"/>
                      <a:round/>
                      <a:headEnd type="none" w="med" len="med"/>
                      <a:tailEnd type="none" w="med" len="med"/>
                    </a:lnB>
                    <a:solidFill>
                      <a:srgbClr val="0F0F11"/>
                    </a:solidFill>
                  </a:tcPr>
                </a:tc>
                <a:tc>
                  <a:txBody>
                    <a:bodyPr/>
                    <a:lstStyle/>
                    <a:p>
                      <a:pPr indent="0" marL="0">
                        <a:buNone/>
                      </a:pPr>
                      <a:r>
                        <a:rPr lang="en-US" sz="900" b="1" spc="110" kern="0" dirty="0">
                          <a:solidFill>
                            <a:srgbClr val="FFFFFF"/>
                          </a:solidFill>
                          <a:latin typeface="Courier New" pitchFamily="34" charset="0"/>
                          <a:ea typeface="Courier New" pitchFamily="34" charset="-122"/>
                          <a:cs typeface="Courier New" pitchFamily="34" charset="-120"/>
                        </a:rPr>
                        <a:t>QUÉ SE PROGRAMA</a:t>
                      </a:r>
                      <a:endParaRPr lang="en-US" sz="900" dirty="0">
                        <a:latin typeface="Courier New" charset="0"/>
                        <a:ea typeface="Courier New" charset="0"/>
                        <a:cs typeface="Courier New" charset="0"/>
                      </a:endParaRPr>
                    </a:p>
                  </a:txBody>
                  <a:tcPr marL="101600" marR="101600" marT="76200" marB="76200" anchor="ctr">
                    <a:lnL w="12700" cap="flat" cmpd="sng" algn="ctr">
                      <a:solidFill>
                        <a:srgbClr val="D9D6E0"/>
                      </a:solidFill>
                      <a:prstDash val="solid"/>
                      <a:round/>
                      <a:headEnd type="none" w="med" len="med"/>
                      <a:tailEnd type="none" w="med" len="med"/>
                    </a:lnL>
                    <a:lnR w="12700" cap="flat" cmpd="sng" algn="ctr">
                      <a:solidFill>
                        <a:srgbClr val="D9D6E0"/>
                      </a:solidFill>
                      <a:prstDash val="solid"/>
                      <a:round/>
                      <a:headEnd type="none" w="med" len="med"/>
                      <a:tailEnd type="none" w="med" len="med"/>
                    </a:lnR>
                    <a:lnT w="12700" cap="flat" cmpd="sng" algn="ctr">
                      <a:solidFill>
                        <a:srgbClr val="D9D6E0"/>
                      </a:solidFill>
                      <a:prstDash val="solid"/>
                      <a:round/>
                      <a:headEnd type="none" w="med" len="med"/>
                      <a:tailEnd type="none" w="med" len="med"/>
                    </a:lnT>
                    <a:lnB w="12700" cap="flat" cmpd="sng" algn="ctr">
                      <a:solidFill>
                        <a:srgbClr val="D9D6E0"/>
                      </a:solidFill>
                      <a:prstDash val="solid"/>
                      <a:round/>
                      <a:headEnd type="none" w="med" len="med"/>
                      <a:tailEnd type="none" w="med" len="med"/>
                    </a:lnB>
                    <a:solidFill>
                      <a:srgbClr val="0F0F11"/>
                    </a:solidFill>
                  </a:tcPr>
                </a:tc>
                <a:tc>
                  <a:txBody>
                    <a:bodyPr/>
                    <a:lstStyle/>
                    <a:p>
                      <a:pPr indent="0" marL="0">
                        <a:buNone/>
                      </a:pPr>
                      <a:r>
                        <a:rPr lang="en-US" sz="900" b="1" spc="110" kern="0" dirty="0">
                          <a:solidFill>
                            <a:srgbClr val="FFFFFF"/>
                          </a:solidFill>
                          <a:latin typeface="Courier New" pitchFamily="34" charset="0"/>
                          <a:ea typeface="Courier New" pitchFamily="34" charset="-122"/>
                          <a:cs typeface="Courier New" pitchFamily="34" charset="-120"/>
                        </a:rPr>
                        <a:t>QUÉ LÁMINA DE HOY FIJA</a:t>
                      </a:r>
                      <a:endParaRPr lang="en-US" sz="900" dirty="0">
                        <a:latin typeface="Courier New" charset="0"/>
                        <a:ea typeface="Courier New" charset="0"/>
                        <a:cs typeface="Courier New" charset="0"/>
                      </a:endParaRPr>
                    </a:p>
                  </a:txBody>
                  <a:tcPr marL="101600" marR="101600" marT="76200" marB="76200" anchor="ctr">
                    <a:lnL w="12700" cap="flat" cmpd="sng" algn="ctr">
                      <a:solidFill>
                        <a:srgbClr val="D9D6E0"/>
                      </a:solidFill>
                      <a:prstDash val="solid"/>
                      <a:round/>
                      <a:headEnd type="none" w="med" len="med"/>
                      <a:tailEnd type="none" w="med" len="med"/>
                    </a:lnL>
                    <a:lnR w="12700" cap="flat" cmpd="sng" algn="ctr">
                      <a:solidFill>
                        <a:srgbClr val="D9D6E0"/>
                      </a:solidFill>
                      <a:prstDash val="solid"/>
                      <a:round/>
                      <a:headEnd type="none" w="med" len="med"/>
                      <a:tailEnd type="none" w="med" len="med"/>
                    </a:lnR>
                    <a:lnT w="12700" cap="flat" cmpd="sng" algn="ctr">
                      <a:solidFill>
                        <a:srgbClr val="D9D6E0"/>
                      </a:solidFill>
                      <a:prstDash val="solid"/>
                      <a:round/>
                      <a:headEnd type="none" w="med" len="med"/>
                      <a:tailEnd type="none" w="med" len="med"/>
                    </a:lnT>
                    <a:lnB w="12700" cap="flat" cmpd="sng" algn="ctr">
                      <a:solidFill>
                        <a:srgbClr val="D9D6E0"/>
                      </a:solidFill>
                      <a:prstDash val="solid"/>
                      <a:round/>
                      <a:headEnd type="none" w="med" len="med"/>
                      <a:tailEnd type="none" w="med" len="med"/>
                    </a:lnB>
                    <a:solidFill>
                      <a:srgbClr val="0F0F11"/>
                    </a:solidFill>
                  </a:tcPr>
                </a:tc>
              </a:tr>
              <a:tr h="627888">
                <a:tc>
                  <a:txBody>
                    <a:bodyPr/>
                    <a:lstStyle/>
                    <a:p>
                      <a:pPr indent="0" marL="0">
                        <a:buNone/>
                      </a:pPr>
                      <a:r>
                        <a:rPr lang="en-US" sz="1150" b="1" dirty="0">
                          <a:solidFill>
                            <a:srgbClr val="0F0F11"/>
                          </a:solidFill>
                          <a:latin typeface="Courier New" pitchFamily="34" charset="0"/>
                          <a:ea typeface="Courier New" pitchFamily="34" charset="-122"/>
                          <a:cs typeface="Courier New" pitchFamily="34" charset="-120"/>
                        </a:rPr>
                        <a:t>1 · Prueba de trabajo</a:t>
                      </a:r>
                      <a:endParaRPr lang="en-US" sz="1150" dirty="0">
                        <a:latin typeface="Courier New" charset="0"/>
                        <a:ea typeface="Courier New" charset="0"/>
                        <a:cs typeface="Courier New" charset="0"/>
                      </a:endParaRPr>
                    </a:p>
                  </a:txBody>
                  <a:tcPr marL="101600" marR="101600" marT="76200" marB="76200" anchor="t">
                    <a:lnL w="12700" cap="flat" cmpd="sng" algn="ctr">
                      <a:solidFill>
                        <a:srgbClr val="D9D6E0"/>
                      </a:solidFill>
                      <a:prstDash val="solid"/>
                      <a:round/>
                      <a:headEnd type="none" w="med" len="med"/>
                      <a:tailEnd type="none" w="med" len="med"/>
                    </a:lnL>
                    <a:lnR w="12700" cap="flat" cmpd="sng" algn="ctr">
                      <a:solidFill>
                        <a:srgbClr val="D9D6E0"/>
                      </a:solidFill>
                      <a:prstDash val="solid"/>
                      <a:round/>
                      <a:headEnd type="none" w="med" len="med"/>
                      <a:tailEnd type="none" w="med" len="med"/>
                    </a:lnR>
                    <a:lnT w="12700" cap="flat" cmpd="sng" algn="ctr">
                      <a:solidFill>
                        <a:srgbClr val="D9D6E0"/>
                      </a:solidFill>
                      <a:prstDash val="solid"/>
                      <a:round/>
                      <a:headEnd type="none" w="med" len="med"/>
                      <a:tailEnd type="none" w="med" len="med"/>
                    </a:lnT>
                    <a:lnB w="12700" cap="flat" cmpd="sng" algn="ctr">
                      <a:solidFill>
                        <a:srgbClr val="D9D6E0"/>
                      </a:solidFill>
                      <a:prstDash val="solid"/>
                      <a:round/>
                      <a:headEnd type="none" w="med" len="med"/>
                      <a:tailEnd type="none" w="med" len="med"/>
                    </a:lnB>
                    <a:solidFill>
                      <a:srgbClr val="FFFFFF"/>
                    </a:solidFill>
                  </a:tcPr>
                </a:tc>
                <a:tc>
                  <a:txBody>
                    <a:bodyPr/>
                    <a:lstStyle/>
                    <a:p>
                      <a:pPr indent="0" marL="0">
                        <a:buNone/>
                      </a:pPr>
                      <a:r>
                        <a:rPr lang="en-US" sz="1150" dirty="0">
                          <a:solidFill>
                            <a:srgbClr val="3A3844"/>
                          </a:solidFill>
                          <a:latin typeface="Arial" pitchFamily="34" charset="0"/>
                          <a:ea typeface="Arial" pitchFamily="34" charset="-122"/>
                          <a:cs typeface="Arial" pitchFamily="34" charset="-120"/>
                        </a:rPr>
                        <a:t>minar() busca un nonce válido; verificar() comprueba en un hash.</a:t>
                      </a:r>
                      <a:endParaRPr lang="en-US" sz="1150" dirty="0">
                        <a:latin typeface="Arial" charset="0"/>
                        <a:ea typeface="Arial" charset="0"/>
                        <a:cs typeface="Arial" charset="0"/>
                      </a:endParaRPr>
                    </a:p>
                  </a:txBody>
                  <a:tcPr marL="101600" marR="101600" marT="76200" marB="76200" anchor="t">
                    <a:lnL w="12700" cap="flat" cmpd="sng" algn="ctr">
                      <a:solidFill>
                        <a:srgbClr val="D9D6E0"/>
                      </a:solidFill>
                      <a:prstDash val="solid"/>
                      <a:round/>
                      <a:headEnd type="none" w="med" len="med"/>
                      <a:tailEnd type="none" w="med" len="med"/>
                    </a:lnL>
                    <a:lnR w="12700" cap="flat" cmpd="sng" algn="ctr">
                      <a:solidFill>
                        <a:srgbClr val="D9D6E0"/>
                      </a:solidFill>
                      <a:prstDash val="solid"/>
                      <a:round/>
                      <a:headEnd type="none" w="med" len="med"/>
                      <a:tailEnd type="none" w="med" len="med"/>
                    </a:lnR>
                    <a:lnT w="12700" cap="flat" cmpd="sng" algn="ctr">
                      <a:solidFill>
                        <a:srgbClr val="D9D6E0"/>
                      </a:solidFill>
                      <a:prstDash val="solid"/>
                      <a:round/>
                      <a:headEnd type="none" w="med" len="med"/>
                      <a:tailEnd type="none" w="med" len="med"/>
                    </a:lnT>
                    <a:lnB w="12700" cap="flat" cmpd="sng" algn="ctr">
                      <a:solidFill>
                        <a:srgbClr val="D9D6E0"/>
                      </a:solidFill>
                      <a:prstDash val="solid"/>
                      <a:round/>
                      <a:headEnd type="none" w="med" len="med"/>
                      <a:tailEnd type="none" w="med" len="med"/>
                    </a:lnB>
                    <a:solidFill>
                      <a:srgbClr val="FFFFFF"/>
                    </a:solidFill>
                  </a:tcPr>
                </a:tc>
                <a:tc>
                  <a:txBody>
                    <a:bodyPr/>
                    <a:lstStyle/>
                    <a:p>
                      <a:pPr indent="0" marL="0">
                        <a:buNone/>
                      </a:pPr>
                      <a:r>
                        <a:rPr lang="en-US" sz="1150" dirty="0">
                          <a:solidFill>
                            <a:srgbClr val="3A3844"/>
                          </a:solidFill>
                          <a:latin typeface="Arial" pitchFamily="34" charset="0"/>
                          <a:ea typeface="Arial" pitchFamily="34" charset="-122"/>
                          <a:cs typeface="Arial" pitchFamily="34" charset="-120"/>
                        </a:rPr>
                        <a:t>A.5 y A.5b (el ejemplo real)</a:t>
                      </a:r>
                      <a:endParaRPr lang="en-US" sz="1150" dirty="0">
                        <a:latin typeface="Arial" charset="0"/>
                        <a:ea typeface="Arial" charset="0"/>
                        <a:cs typeface="Arial" charset="0"/>
                      </a:endParaRPr>
                    </a:p>
                  </a:txBody>
                  <a:tcPr marL="101600" marR="101600" marT="76200" marB="76200" anchor="t">
                    <a:lnL w="12700" cap="flat" cmpd="sng" algn="ctr">
                      <a:solidFill>
                        <a:srgbClr val="D9D6E0"/>
                      </a:solidFill>
                      <a:prstDash val="solid"/>
                      <a:round/>
                      <a:headEnd type="none" w="med" len="med"/>
                      <a:tailEnd type="none" w="med" len="med"/>
                    </a:lnL>
                    <a:lnR w="12700" cap="flat" cmpd="sng" algn="ctr">
                      <a:solidFill>
                        <a:srgbClr val="D9D6E0"/>
                      </a:solidFill>
                      <a:prstDash val="solid"/>
                      <a:round/>
                      <a:headEnd type="none" w="med" len="med"/>
                      <a:tailEnd type="none" w="med" len="med"/>
                    </a:lnR>
                    <a:lnT w="12700" cap="flat" cmpd="sng" algn="ctr">
                      <a:solidFill>
                        <a:srgbClr val="D9D6E0"/>
                      </a:solidFill>
                      <a:prstDash val="solid"/>
                      <a:round/>
                      <a:headEnd type="none" w="med" len="med"/>
                      <a:tailEnd type="none" w="med" len="med"/>
                    </a:lnT>
                    <a:lnB w="12700" cap="flat" cmpd="sng" algn="ctr">
                      <a:solidFill>
                        <a:srgbClr val="D9D6E0"/>
                      </a:solidFill>
                      <a:prstDash val="solid"/>
                      <a:round/>
                      <a:headEnd type="none" w="med" len="med"/>
                      <a:tailEnd type="none" w="med" len="med"/>
                    </a:lnB>
                    <a:solidFill>
                      <a:srgbClr val="FFFFFF"/>
                    </a:solidFill>
                  </a:tcPr>
                </a:tc>
              </a:tr>
              <a:tr h="627888">
                <a:tc>
                  <a:txBody>
                    <a:bodyPr/>
                    <a:lstStyle/>
                    <a:p>
                      <a:pPr indent="0" marL="0">
                        <a:buNone/>
                      </a:pPr>
                      <a:r>
                        <a:rPr lang="en-US" sz="1150" b="1" dirty="0">
                          <a:solidFill>
                            <a:srgbClr val="0F0F11"/>
                          </a:solidFill>
                          <a:latin typeface="Courier New" pitchFamily="34" charset="0"/>
                          <a:ea typeface="Courier New" pitchFamily="34" charset="-122"/>
                          <a:cs typeface="Courier New" pitchFamily="34" charset="-120"/>
                        </a:rPr>
                        <a:t>2 · Elección de cadena</a:t>
                      </a:r>
                      <a:endParaRPr lang="en-US" sz="1150" dirty="0">
                        <a:latin typeface="Courier New" charset="0"/>
                        <a:ea typeface="Courier New" charset="0"/>
                        <a:cs typeface="Courier New" charset="0"/>
                      </a:endParaRPr>
                    </a:p>
                  </a:txBody>
                  <a:tcPr marL="101600" marR="101600" marT="76200" marB="76200" anchor="t">
                    <a:lnL w="12700" cap="flat" cmpd="sng" algn="ctr">
                      <a:solidFill>
                        <a:srgbClr val="D9D6E0"/>
                      </a:solidFill>
                      <a:prstDash val="solid"/>
                      <a:round/>
                      <a:headEnd type="none" w="med" len="med"/>
                      <a:tailEnd type="none" w="med" len="med"/>
                    </a:lnL>
                    <a:lnR w="12700" cap="flat" cmpd="sng" algn="ctr">
                      <a:solidFill>
                        <a:srgbClr val="D9D6E0"/>
                      </a:solidFill>
                      <a:prstDash val="solid"/>
                      <a:round/>
                      <a:headEnd type="none" w="med" len="med"/>
                      <a:tailEnd type="none" w="med" len="med"/>
                    </a:lnR>
                    <a:lnT w="12700" cap="flat" cmpd="sng" algn="ctr">
                      <a:solidFill>
                        <a:srgbClr val="D9D6E0"/>
                      </a:solidFill>
                      <a:prstDash val="solid"/>
                      <a:round/>
                      <a:headEnd type="none" w="med" len="med"/>
                      <a:tailEnd type="none" w="med" len="med"/>
                    </a:lnT>
                    <a:lnB w="12700" cap="flat" cmpd="sng" algn="ctr">
                      <a:solidFill>
                        <a:srgbClr val="D9D6E0"/>
                      </a:solidFill>
                      <a:prstDash val="solid"/>
                      <a:round/>
                      <a:headEnd type="none" w="med" len="med"/>
                      <a:tailEnd type="none" w="med" len="med"/>
                    </a:lnB>
                    <a:solidFill>
                      <a:srgbClr val="FAF9FB"/>
                    </a:solidFill>
                  </a:tcPr>
                </a:tc>
                <a:tc>
                  <a:txBody>
                    <a:bodyPr/>
                    <a:lstStyle/>
                    <a:p>
                      <a:pPr indent="0" marL="0">
                        <a:buNone/>
                      </a:pPr>
                      <a:r>
                        <a:rPr lang="en-US" sz="1150" dirty="0">
                          <a:solidFill>
                            <a:srgbClr val="3A3844"/>
                          </a:solidFill>
                          <a:latin typeface="Arial" pitchFamily="34" charset="0"/>
                          <a:ea typeface="Arial" pitchFamily="34" charset="-122"/>
                          <a:cs typeface="Arial" pitchFamily="34" charset="-120"/>
                        </a:rPr>
                        <a:t>elegir la cadena de mayor trabajo acumulado, no la más larga.</a:t>
                      </a:r>
                      <a:endParaRPr lang="en-US" sz="1150" dirty="0">
                        <a:latin typeface="Arial" charset="0"/>
                        <a:ea typeface="Arial" charset="0"/>
                        <a:cs typeface="Arial" charset="0"/>
                      </a:endParaRPr>
                    </a:p>
                  </a:txBody>
                  <a:tcPr marL="101600" marR="101600" marT="76200" marB="76200" anchor="t">
                    <a:lnL w="12700" cap="flat" cmpd="sng" algn="ctr">
                      <a:solidFill>
                        <a:srgbClr val="D9D6E0"/>
                      </a:solidFill>
                      <a:prstDash val="solid"/>
                      <a:round/>
                      <a:headEnd type="none" w="med" len="med"/>
                      <a:tailEnd type="none" w="med" len="med"/>
                    </a:lnL>
                    <a:lnR w="12700" cap="flat" cmpd="sng" algn="ctr">
                      <a:solidFill>
                        <a:srgbClr val="D9D6E0"/>
                      </a:solidFill>
                      <a:prstDash val="solid"/>
                      <a:round/>
                      <a:headEnd type="none" w="med" len="med"/>
                      <a:tailEnd type="none" w="med" len="med"/>
                    </a:lnR>
                    <a:lnT w="12700" cap="flat" cmpd="sng" algn="ctr">
                      <a:solidFill>
                        <a:srgbClr val="D9D6E0"/>
                      </a:solidFill>
                      <a:prstDash val="solid"/>
                      <a:round/>
                      <a:headEnd type="none" w="med" len="med"/>
                      <a:tailEnd type="none" w="med" len="med"/>
                    </a:lnT>
                    <a:lnB w="12700" cap="flat" cmpd="sng" algn="ctr">
                      <a:solidFill>
                        <a:srgbClr val="D9D6E0"/>
                      </a:solidFill>
                      <a:prstDash val="solid"/>
                      <a:round/>
                      <a:headEnd type="none" w="med" len="med"/>
                      <a:tailEnd type="none" w="med" len="med"/>
                    </a:lnB>
                    <a:solidFill>
                      <a:srgbClr val="FAF9FB"/>
                    </a:solidFill>
                  </a:tcPr>
                </a:tc>
                <a:tc>
                  <a:txBody>
                    <a:bodyPr/>
                    <a:lstStyle/>
                    <a:p>
                      <a:pPr indent="0" marL="0">
                        <a:buNone/>
                      </a:pPr>
                      <a:r>
                        <a:rPr lang="en-US" sz="1150" dirty="0">
                          <a:solidFill>
                            <a:srgbClr val="3A3844"/>
                          </a:solidFill>
                          <a:latin typeface="Arial" pitchFamily="34" charset="0"/>
                          <a:ea typeface="Arial" pitchFamily="34" charset="-122"/>
                          <a:cs typeface="Arial" pitchFamily="34" charset="-120"/>
                        </a:rPr>
                        <a:t>A.7</a:t>
                      </a:r>
                      <a:endParaRPr lang="en-US" sz="1150" dirty="0">
                        <a:latin typeface="Arial" charset="0"/>
                        <a:ea typeface="Arial" charset="0"/>
                        <a:cs typeface="Arial" charset="0"/>
                      </a:endParaRPr>
                    </a:p>
                  </a:txBody>
                  <a:tcPr marL="101600" marR="101600" marT="76200" marB="76200" anchor="t">
                    <a:lnL w="12700" cap="flat" cmpd="sng" algn="ctr">
                      <a:solidFill>
                        <a:srgbClr val="D9D6E0"/>
                      </a:solidFill>
                      <a:prstDash val="solid"/>
                      <a:round/>
                      <a:headEnd type="none" w="med" len="med"/>
                      <a:tailEnd type="none" w="med" len="med"/>
                    </a:lnL>
                    <a:lnR w="12700" cap="flat" cmpd="sng" algn="ctr">
                      <a:solidFill>
                        <a:srgbClr val="D9D6E0"/>
                      </a:solidFill>
                      <a:prstDash val="solid"/>
                      <a:round/>
                      <a:headEnd type="none" w="med" len="med"/>
                      <a:tailEnd type="none" w="med" len="med"/>
                    </a:lnR>
                    <a:lnT w="12700" cap="flat" cmpd="sng" algn="ctr">
                      <a:solidFill>
                        <a:srgbClr val="D9D6E0"/>
                      </a:solidFill>
                      <a:prstDash val="solid"/>
                      <a:round/>
                      <a:headEnd type="none" w="med" len="med"/>
                      <a:tailEnd type="none" w="med" len="med"/>
                    </a:lnT>
                    <a:lnB w="12700" cap="flat" cmpd="sng" algn="ctr">
                      <a:solidFill>
                        <a:srgbClr val="D9D6E0"/>
                      </a:solidFill>
                      <a:prstDash val="solid"/>
                      <a:round/>
                      <a:headEnd type="none" w="med" len="med"/>
                      <a:tailEnd type="none" w="med" len="med"/>
                    </a:lnB>
                    <a:solidFill>
                      <a:srgbClr val="FAF9FB"/>
                    </a:solidFill>
                  </a:tcPr>
                </a:tc>
              </a:tr>
              <a:tr h="627888">
                <a:tc>
                  <a:txBody>
                    <a:bodyPr/>
                    <a:lstStyle/>
                    <a:p>
                      <a:pPr indent="0" marL="0">
                        <a:buNone/>
                      </a:pPr>
                      <a:r>
                        <a:rPr lang="en-US" sz="1150" b="1" dirty="0">
                          <a:solidFill>
                            <a:srgbClr val="0F0F11"/>
                          </a:solidFill>
                          <a:latin typeface="Courier New" pitchFamily="34" charset="0"/>
                          <a:ea typeface="Courier New" pitchFamily="34" charset="-122"/>
                          <a:cs typeface="Courier New" pitchFamily="34" charset="-120"/>
                        </a:rPr>
                        <a:t>3 · El ataque del 51 %</a:t>
                      </a:r>
                      <a:endParaRPr lang="en-US" sz="1150" dirty="0">
                        <a:latin typeface="Courier New" charset="0"/>
                        <a:ea typeface="Courier New" charset="0"/>
                        <a:cs typeface="Courier New" charset="0"/>
                      </a:endParaRPr>
                    </a:p>
                  </a:txBody>
                  <a:tcPr marL="101600" marR="101600" marT="76200" marB="76200" anchor="t">
                    <a:lnL w="12700" cap="flat" cmpd="sng" algn="ctr">
                      <a:solidFill>
                        <a:srgbClr val="D9D6E0"/>
                      </a:solidFill>
                      <a:prstDash val="solid"/>
                      <a:round/>
                      <a:headEnd type="none" w="med" len="med"/>
                      <a:tailEnd type="none" w="med" len="med"/>
                    </a:lnL>
                    <a:lnR w="12700" cap="flat" cmpd="sng" algn="ctr">
                      <a:solidFill>
                        <a:srgbClr val="D9D6E0"/>
                      </a:solidFill>
                      <a:prstDash val="solid"/>
                      <a:round/>
                      <a:headEnd type="none" w="med" len="med"/>
                      <a:tailEnd type="none" w="med" len="med"/>
                    </a:lnR>
                    <a:lnT w="12700" cap="flat" cmpd="sng" algn="ctr">
                      <a:solidFill>
                        <a:srgbClr val="D9D6E0"/>
                      </a:solidFill>
                      <a:prstDash val="solid"/>
                      <a:round/>
                      <a:headEnd type="none" w="med" len="med"/>
                      <a:tailEnd type="none" w="med" len="med"/>
                    </a:lnT>
                    <a:lnB w="12700" cap="flat" cmpd="sng" algn="ctr">
                      <a:solidFill>
                        <a:srgbClr val="D9D6E0"/>
                      </a:solidFill>
                      <a:prstDash val="solid"/>
                      <a:round/>
                      <a:headEnd type="none" w="med" len="med"/>
                      <a:tailEnd type="none" w="med" len="med"/>
                    </a:lnB>
                    <a:solidFill>
                      <a:srgbClr val="FFFFFF"/>
                    </a:solidFill>
                  </a:tcPr>
                </a:tc>
                <a:tc>
                  <a:txBody>
                    <a:bodyPr/>
                    <a:lstStyle/>
                    <a:p>
                      <a:pPr indent="0" marL="0">
                        <a:buNone/>
                      </a:pPr>
                      <a:r>
                        <a:rPr lang="en-US" sz="1150" dirty="0">
                          <a:solidFill>
                            <a:srgbClr val="3A3844"/>
                          </a:solidFill>
                          <a:latin typeface="Arial" pitchFamily="34" charset="0"/>
                          <a:ea typeface="Arial" pitchFamily="34" charset="-122"/>
                          <a:cs typeface="Arial" pitchFamily="34" charset="-120"/>
                        </a:rPr>
                        <a:t>la fórmula del whitepaper y una simulación que la contrasta.</a:t>
                      </a:r>
                      <a:endParaRPr lang="en-US" sz="1150" dirty="0">
                        <a:latin typeface="Arial" charset="0"/>
                        <a:ea typeface="Arial" charset="0"/>
                        <a:cs typeface="Arial" charset="0"/>
                      </a:endParaRPr>
                    </a:p>
                  </a:txBody>
                  <a:tcPr marL="101600" marR="101600" marT="76200" marB="76200" anchor="t">
                    <a:lnL w="12700" cap="flat" cmpd="sng" algn="ctr">
                      <a:solidFill>
                        <a:srgbClr val="D9D6E0"/>
                      </a:solidFill>
                      <a:prstDash val="solid"/>
                      <a:round/>
                      <a:headEnd type="none" w="med" len="med"/>
                      <a:tailEnd type="none" w="med" len="med"/>
                    </a:lnL>
                    <a:lnR w="12700" cap="flat" cmpd="sng" algn="ctr">
                      <a:solidFill>
                        <a:srgbClr val="D9D6E0"/>
                      </a:solidFill>
                      <a:prstDash val="solid"/>
                      <a:round/>
                      <a:headEnd type="none" w="med" len="med"/>
                      <a:tailEnd type="none" w="med" len="med"/>
                    </a:lnR>
                    <a:lnT w="12700" cap="flat" cmpd="sng" algn="ctr">
                      <a:solidFill>
                        <a:srgbClr val="D9D6E0"/>
                      </a:solidFill>
                      <a:prstDash val="solid"/>
                      <a:round/>
                      <a:headEnd type="none" w="med" len="med"/>
                      <a:tailEnd type="none" w="med" len="med"/>
                    </a:lnT>
                    <a:lnB w="12700" cap="flat" cmpd="sng" algn="ctr">
                      <a:solidFill>
                        <a:srgbClr val="D9D6E0"/>
                      </a:solidFill>
                      <a:prstDash val="solid"/>
                      <a:round/>
                      <a:headEnd type="none" w="med" len="med"/>
                      <a:tailEnd type="none" w="med" len="med"/>
                    </a:lnB>
                    <a:solidFill>
                      <a:srgbClr val="FFFFFF"/>
                    </a:solidFill>
                  </a:tcPr>
                </a:tc>
                <a:tc>
                  <a:txBody>
                    <a:bodyPr/>
                    <a:lstStyle/>
                    <a:p>
                      <a:pPr indent="0" marL="0">
                        <a:buNone/>
                      </a:pPr>
                      <a:r>
                        <a:rPr lang="en-US" sz="1150" dirty="0">
                          <a:solidFill>
                            <a:srgbClr val="3A3844"/>
                          </a:solidFill>
                          <a:latin typeface="Arial" pitchFamily="34" charset="0"/>
                          <a:ea typeface="Arial" pitchFamily="34" charset="-122"/>
                          <a:cs typeface="Arial" pitchFamily="34" charset="-120"/>
                        </a:rPr>
                        <a:t>A.8, A.8b y A.9</a:t>
                      </a:r>
                      <a:endParaRPr lang="en-US" sz="1150" dirty="0">
                        <a:latin typeface="Arial" charset="0"/>
                        <a:ea typeface="Arial" charset="0"/>
                        <a:cs typeface="Arial" charset="0"/>
                      </a:endParaRPr>
                    </a:p>
                  </a:txBody>
                  <a:tcPr marL="101600" marR="101600" marT="76200" marB="76200" anchor="t">
                    <a:lnL w="12700" cap="flat" cmpd="sng" algn="ctr">
                      <a:solidFill>
                        <a:srgbClr val="D9D6E0"/>
                      </a:solidFill>
                      <a:prstDash val="solid"/>
                      <a:round/>
                      <a:headEnd type="none" w="med" len="med"/>
                      <a:tailEnd type="none" w="med" len="med"/>
                    </a:lnL>
                    <a:lnR w="12700" cap="flat" cmpd="sng" algn="ctr">
                      <a:solidFill>
                        <a:srgbClr val="D9D6E0"/>
                      </a:solidFill>
                      <a:prstDash val="solid"/>
                      <a:round/>
                      <a:headEnd type="none" w="med" len="med"/>
                      <a:tailEnd type="none" w="med" len="med"/>
                    </a:lnR>
                    <a:lnT w="12700" cap="flat" cmpd="sng" algn="ctr">
                      <a:solidFill>
                        <a:srgbClr val="D9D6E0"/>
                      </a:solidFill>
                      <a:prstDash val="solid"/>
                      <a:round/>
                      <a:headEnd type="none" w="med" len="med"/>
                      <a:tailEnd type="none" w="med" len="med"/>
                    </a:lnT>
                    <a:lnB w="12700" cap="flat" cmpd="sng" algn="ctr">
                      <a:solidFill>
                        <a:srgbClr val="D9D6E0"/>
                      </a:solidFill>
                      <a:prstDash val="solid"/>
                      <a:round/>
                      <a:headEnd type="none" w="med" len="med"/>
                      <a:tailEnd type="none" w="med" len="med"/>
                    </a:lnB>
                    <a:solidFill>
                      <a:srgbClr val="FFFFFF"/>
                    </a:solidFill>
                  </a:tcPr>
                </a:tc>
              </a:tr>
            </a:tbl>
          </a:graphicData>
        </a:graphic>
      </p:graphicFrame>
      <p:sp>
        <p:nvSpPr>
          <p:cNvPr id="9" name="Shape 5"/>
          <p:cNvSpPr/>
          <p:nvPr/>
        </p:nvSpPr>
        <p:spPr>
          <a:xfrm>
            <a:off x="548640" y="1719072"/>
            <a:ext cx="11094415" cy="2231136"/>
          </a:xfrm>
          <a:prstGeom prst="rect">
            <a:avLst/>
          </a:prstGeom>
          <a:ln w="22225">
            <a:solidFill>
              <a:srgbClr val="0F0F11"/>
            </a:solidFill>
            <a:prstDash val="solid"/>
          </a:ln>
        </p:spPr>
      </p:sp>
      <p:sp>
        <p:nvSpPr>
          <p:cNvPr id="10" name="Shape 6"/>
          <p:cNvSpPr/>
          <p:nvPr/>
        </p:nvSpPr>
        <p:spPr>
          <a:xfrm>
            <a:off x="566928" y="4114800"/>
            <a:ext cx="11057839" cy="2011680"/>
          </a:xfrm>
          <a:prstGeom prst="rect">
            <a:avLst/>
          </a:prstGeom>
          <a:solidFill>
            <a:srgbClr val="F2F0F5"/>
          </a:solidFill>
          <a:ln w="22225">
            <a:solidFill>
              <a:srgbClr val="0F0F11"/>
            </a:solidFill>
            <a:prstDash val="solid"/>
          </a:ln>
        </p:spPr>
      </p:sp>
      <p:pic>
        <p:nvPicPr>
          <p:cNvPr id="11" name="Image 1" descr="preencoded.png">    </p:cNvPr>
          <p:cNvPicPr>
            <a:picLocks noChangeAspect="1"/>
          </p:cNvPicPr>
          <p:nvPr/>
        </p:nvPicPr>
        <p:blipFill>
          <a:blip r:embed="rId2"/>
          <a:stretch>
            <a:fillRect/>
          </a:stretch>
        </p:blipFill>
        <p:spPr>
          <a:xfrm>
            <a:off x="804672" y="4334256"/>
            <a:ext cx="237744" cy="237744"/>
          </a:xfrm>
          <a:prstGeom prst="rect">
            <a:avLst/>
          </a:prstGeom>
        </p:spPr>
      </p:pic>
      <p:sp>
        <p:nvSpPr>
          <p:cNvPr id="12" name="Text 7"/>
          <p:cNvSpPr/>
          <p:nvPr/>
        </p:nvSpPr>
        <p:spPr>
          <a:xfrm>
            <a:off x="1133856" y="4306824"/>
            <a:ext cx="10234879" cy="292608"/>
          </a:xfrm>
          <a:prstGeom prst="rect">
            <a:avLst/>
          </a:prstGeom>
          <a:noFill/>
          <a:ln/>
        </p:spPr>
        <p:txBody>
          <a:bodyPr wrap="square" lIns="0" tIns="0" rIns="0" bIns="0" rtlCol="0" anchor="ctr"/>
          <a:lstStyle/>
          <a:p>
            <a:pPr indent="0" marL="0">
              <a:buNone/>
            </a:pPr>
            <a:r>
              <a:rPr lang="en-US" sz="950" b="1" spc="150" kern="0" dirty="0">
                <a:solidFill>
                  <a:srgbClr val="6F6B80"/>
                </a:solidFill>
                <a:latin typeface="Courier New" pitchFamily="34" charset="0"/>
                <a:ea typeface="Courier New" pitchFamily="34" charset="-122"/>
                <a:cs typeface="Courier New" pitchFamily="34" charset="-120"/>
              </a:rPr>
              <a:t>EL HALLAZGO QUE DA SENTIDO A TODO EL LABORATORIO</a:t>
            </a:r>
            <a:endParaRPr lang="en-US" sz="950" dirty="0"/>
          </a:p>
        </p:txBody>
      </p:sp>
      <p:sp>
        <p:nvSpPr>
          <p:cNvPr id="13" name="Text 8"/>
          <p:cNvSpPr/>
          <p:nvPr/>
        </p:nvSpPr>
        <p:spPr>
          <a:xfrm>
            <a:off x="804672" y="4626864"/>
            <a:ext cx="10582351" cy="1408176"/>
          </a:xfrm>
          <a:prstGeom prst="rect">
            <a:avLst/>
          </a:prstGeom>
          <a:noFill/>
          <a:ln/>
        </p:spPr>
        <p:txBody>
          <a:bodyPr wrap="square" lIns="0" tIns="0" rIns="0" bIns="0" rtlCol="0" anchor="t"/>
          <a:lstStyle/>
          <a:p>
            <a:pPr indent="0" marL="0">
              <a:lnSpc>
                <a:spcPct val="124000"/>
              </a:lnSpc>
              <a:buNone/>
            </a:pPr>
            <a:r>
              <a:rPr lang="en-US" sz="1250" dirty="0">
                <a:solidFill>
                  <a:srgbClr val="3A3844"/>
                </a:solidFill>
                <a:latin typeface="Arial" pitchFamily="34" charset="0"/>
                <a:ea typeface="Arial" pitchFamily="34" charset="-122"/>
                <a:cs typeface="Arial" pitchFamily="34" charset="-120"/>
              </a:rPr>
              <a:t>La tabla de Nakamoto (A.9) es una APROXIMACIÓN, y subestima el riesgo. La parte 3 les pide programar la fórmula del whitepaper, después una simulación bloque a bloque, y descubrir que no coinciden: la simulación da un riesgo mayor. El cálculo exacto (Rosenfeld, 2014) confirma que con un atacante del 30 % no bastan 24 confirmaciones, sino 32. Es la misma lección de la actividad de Estonia: un documento célebre repetido mil veces puede tener un error, y ustedes lo verifican con código en lugar de creerlo.</a:t>
            </a:r>
            <a:endParaRPr lang="en-US" sz="1250" dirty="0"/>
          </a:p>
        </p:txBody>
      </p:sp>
    </p:spTree>
  </p:cSld>
  <p:clrMapOvr>
    <a:masterClrMapping/>
  </p:clrMapOvr>
</p:sld>
</file>

<file path=ppt/slides/slide40.xml><?xml version="1.0" encoding="utf-8"?>
<p:sld xmlns:a="http://schemas.openxmlformats.org/drawingml/2006/main" xmlns:r="http://schemas.openxmlformats.org/officeDocument/2006/relationships" xmlns:p="http://schemas.openxmlformats.org/presentationml/2006/main">
  <p:cSld name="Slide 40">
    <p:bg>
      <p:bgPr>
        <a:solidFill>
          <a:srgbClr val="FFFFFF"/>
        </a:solidFill>
      </p:bgPr>
    </p:bg>
    <p:spTree>
      <p:nvGrpSpPr>
        <p:cNvPr id="1" name=""/>
        <p:cNvGrpSpPr/>
        <p:nvPr/>
      </p:nvGrpSpPr>
      <p:grpSpPr>
        <a:xfrm>
          <a:off x="0" y="0"/>
          <a:ext cx="0" cy="0"/>
          <a:chOff x="0" y="0"/>
          <a:chExt cx="0" cy="0"/>
        </a:xfrm>
      </p:grpSpPr>
      <p:pic>
        <p:nvPicPr>
          <p:cNvPr id="2" name="Image 0" descr="preencoded.png">    </p:cNvPr>
          <p:cNvPicPr>
            <a:picLocks noChangeAspect="1"/>
          </p:cNvPicPr>
          <p:nvPr/>
        </p:nvPicPr>
        <p:blipFill>
          <a:blip r:embed="rId1"/>
          <a:stretch>
            <a:fillRect/>
          </a:stretch>
        </p:blipFill>
        <p:spPr>
          <a:xfrm>
            <a:off x="566928" y="402336"/>
            <a:ext cx="274320" cy="274320"/>
          </a:xfrm>
          <a:prstGeom prst="rect">
            <a:avLst/>
          </a:prstGeom>
        </p:spPr>
      </p:pic>
      <p:sp>
        <p:nvSpPr>
          <p:cNvPr id="3" name="Text 0"/>
          <p:cNvSpPr/>
          <p:nvPr/>
        </p:nvSpPr>
        <p:spPr>
          <a:xfrm>
            <a:off x="969264" y="384048"/>
            <a:ext cx="10655503" cy="310896"/>
          </a:xfrm>
          <a:prstGeom prst="rect">
            <a:avLst/>
          </a:prstGeom>
          <a:noFill/>
          <a:ln/>
        </p:spPr>
        <p:txBody>
          <a:bodyPr wrap="square" lIns="0" tIns="0" rIns="0" bIns="0" rtlCol="0" anchor="ctr"/>
          <a:lstStyle/>
          <a:p>
            <a:pPr indent="0" marL="0">
              <a:buNone/>
            </a:pPr>
            <a:r>
              <a:rPr lang="en-US" sz="950" spc="160" kern="0" dirty="0">
                <a:solidFill>
                  <a:srgbClr val="6F6B80"/>
                </a:solidFill>
                <a:latin typeface="Courier New" pitchFamily="34" charset="0"/>
                <a:ea typeface="Courier New" pitchFamily="34" charset="-122"/>
                <a:cs typeface="Courier New" pitchFamily="34" charset="-120"/>
              </a:rPr>
              <a:t>D.3 · CÓMO SE CORRE</a:t>
            </a:r>
            <a:endParaRPr lang="en-US" sz="950" dirty="0"/>
          </a:p>
        </p:txBody>
      </p:sp>
      <p:sp>
        <p:nvSpPr>
          <p:cNvPr id="4" name="Text 1"/>
          <p:cNvSpPr/>
          <p:nvPr/>
        </p:nvSpPr>
        <p:spPr>
          <a:xfrm>
            <a:off x="566928" y="777240"/>
            <a:ext cx="11057839" cy="777240"/>
          </a:xfrm>
          <a:prstGeom prst="rect">
            <a:avLst/>
          </a:prstGeom>
          <a:noFill/>
          <a:ln/>
        </p:spPr>
        <p:txBody>
          <a:bodyPr wrap="square" lIns="0" tIns="0" rIns="0" bIns="0" rtlCol="0" anchor="t"/>
          <a:lstStyle/>
          <a:p>
            <a:pPr indent="0" marL="0">
              <a:lnSpc>
                <a:spcPct val="92000"/>
              </a:lnSpc>
              <a:buNone/>
            </a:pPr>
            <a:r>
              <a:rPr lang="en-US" sz="2700" dirty="0">
                <a:solidFill>
                  <a:srgbClr val="0F0F11"/>
                </a:solidFill>
                <a:latin typeface="Arial Black" pitchFamily="34" charset="0"/>
                <a:ea typeface="Arial Black" pitchFamily="34" charset="-122"/>
                <a:cs typeface="Arial Black" pitchFamily="34" charset="-120"/>
              </a:rPr>
              <a:t>TRES COMANDOS, Y A COMPLETAR TODO</a:t>
            </a:r>
            <a:endParaRPr lang="en-US" sz="2700" dirty="0"/>
          </a:p>
        </p:txBody>
      </p:sp>
      <p:sp>
        <p:nvSpPr>
          <p:cNvPr id="5" name="Text 2"/>
          <p:cNvSpPr/>
          <p:nvPr/>
        </p:nvSpPr>
        <p:spPr>
          <a:xfrm>
            <a:off x="566928" y="6291072"/>
            <a:ext cx="8412480" cy="274320"/>
          </a:xfrm>
          <a:prstGeom prst="rect">
            <a:avLst/>
          </a:prstGeom>
          <a:noFill/>
          <a:ln/>
        </p:spPr>
        <p:txBody>
          <a:bodyPr wrap="square" lIns="0" tIns="0" rIns="0" bIns="0" rtlCol="0" anchor="ctr"/>
          <a:lstStyle/>
          <a:p>
            <a:pPr indent="0" marL="0">
              <a:buNone/>
            </a:pPr>
            <a:r>
              <a:rPr lang="en-US" sz="800" spc="120" kern="0" dirty="0">
                <a:solidFill>
                  <a:srgbClr val="6F6B80"/>
                </a:solidFill>
                <a:latin typeface="Courier New" pitchFamily="34" charset="0"/>
                <a:ea typeface="Courier New" pitchFamily="34" charset="-122"/>
                <a:cs typeface="Courier New" pitchFamily="34" charset="-120"/>
              </a:rPr>
              <a:t>SESIÓN 04 · CONSENSO, INCENTIVOS Y EL TRILEMA</a:t>
            </a:r>
            <a:endParaRPr lang="en-US" sz="800" dirty="0"/>
          </a:p>
        </p:txBody>
      </p:sp>
      <p:sp>
        <p:nvSpPr>
          <p:cNvPr id="6" name="Text 3"/>
          <p:cNvSpPr/>
          <p:nvPr/>
        </p:nvSpPr>
        <p:spPr>
          <a:xfrm>
            <a:off x="9052560" y="6291072"/>
            <a:ext cx="1828800" cy="274320"/>
          </a:xfrm>
          <a:prstGeom prst="rect">
            <a:avLst/>
          </a:prstGeom>
          <a:noFill/>
          <a:ln/>
        </p:spPr>
        <p:txBody>
          <a:bodyPr wrap="square" lIns="0" tIns="0" rIns="0" bIns="0" rtlCol="0" anchor="ctr"/>
          <a:lstStyle/>
          <a:p>
            <a:pPr algn="r" indent="0" marL="0">
              <a:buNone/>
            </a:pPr>
            <a:r>
              <a:rPr lang="en-US" sz="800" spc="120" kern="0" dirty="0">
                <a:solidFill>
                  <a:srgbClr val="6F6B80"/>
                </a:solidFill>
                <a:latin typeface="Courier New" pitchFamily="34" charset="0"/>
                <a:ea typeface="Courier New" pitchFamily="34" charset="-122"/>
                <a:cs typeface="Courier New" pitchFamily="34" charset="-120"/>
              </a:rPr>
              <a:t>USB MEDELLÍN</a:t>
            </a:r>
            <a:endParaRPr lang="en-US" sz="800" dirty="0"/>
          </a:p>
        </p:txBody>
      </p:sp>
      <p:sp>
        <p:nvSpPr>
          <p:cNvPr id="7" name="Text 4"/>
          <p:cNvSpPr/>
          <p:nvPr/>
        </p:nvSpPr>
        <p:spPr>
          <a:xfrm>
            <a:off x="11018520" y="6291072"/>
            <a:ext cx="603504" cy="274320"/>
          </a:xfrm>
          <a:prstGeom prst="rect">
            <a:avLst/>
          </a:prstGeom>
          <a:noFill/>
          <a:ln/>
        </p:spPr>
        <p:txBody>
          <a:bodyPr wrap="square" lIns="0" tIns="0" rIns="0" bIns="0" rtlCol="0" anchor="ctr"/>
          <a:lstStyle/>
          <a:p>
            <a:pPr algn="r" indent="0" marL="0">
              <a:buNone/>
            </a:pPr>
            <a:r>
              <a:rPr lang="en-US" sz="900" b="1" dirty="0">
                <a:solidFill>
                  <a:srgbClr val="0F0F11"/>
                </a:solidFill>
                <a:latin typeface="Courier New" pitchFamily="34" charset="0"/>
                <a:ea typeface="Courier New" pitchFamily="34" charset="-122"/>
                <a:cs typeface="Courier New" pitchFamily="34" charset="-120"/>
              </a:rPr>
              <a:t>40</a:t>
            </a:r>
            <a:endParaRPr lang="en-US" sz="900" dirty="0"/>
          </a:p>
        </p:txBody>
      </p:sp>
      <p:sp>
        <p:nvSpPr>
          <p:cNvPr id="8" name="Text 5"/>
          <p:cNvSpPr/>
          <p:nvPr/>
        </p:nvSpPr>
        <p:spPr>
          <a:xfrm>
            <a:off x="566928" y="1691640"/>
            <a:ext cx="11057839" cy="640080"/>
          </a:xfrm>
          <a:prstGeom prst="rect">
            <a:avLst/>
          </a:prstGeom>
          <a:noFill/>
          <a:ln/>
        </p:spPr>
        <p:txBody>
          <a:bodyPr wrap="square" lIns="0" tIns="0" rIns="0" bIns="0" rtlCol="0" anchor="t"/>
          <a:lstStyle/>
          <a:p>
            <a:pPr indent="0" marL="0">
              <a:lnSpc>
                <a:spcPct val="124000"/>
              </a:lnSpc>
              <a:buNone/>
            </a:pPr>
            <a:r>
              <a:rPr lang="en-US" sz="1400" dirty="0">
                <a:solidFill>
                  <a:srgbClr val="3A3844"/>
                </a:solidFill>
                <a:latin typeface="Arial" pitchFamily="34" charset="0"/>
                <a:ea typeface="Arial" pitchFamily="34" charset="-122"/>
                <a:cs typeface="Arial" pitchFamily="34" charset="-120"/>
              </a:rPr>
              <a:t>El laboratorio se guía por pruebas: al principio fallan, y está terminado cuando todas pasan. No hay que adivinar si está bien; las pruebas lo dicen.</a:t>
            </a:r>
            <a:endParaRPr lang="en-US" sz="1400" dirty="0"/>
          </a:p>
        </p:txBody>
      </p:sp>
      <p:sp>
        <p:nvSpPr>
          <p:cNvPr id="9" name="Shape 6"/>
          <p:cNvSpPr/>
          <p:nvPr/>
        </p:nvSpPr>
        <p:spPr>
          <a:xfrm>
            <a:off x="566928" y="2423160"/>
            <a:ext cx="11057839" cy="2286000"/>
          </a:xfrm>
          <a:prstGeom prst="rect">
            <a:avLst/>
          </a:prstGeom>
          <a:solidFill>
            <a:srgbClr val="16151B"/>
          </a:solidFill>
          <a:ln w="22225">
            <a:solidFill>
              <a:srgbClr val="16151B"/>
            </a:solidFill>
            <a:prstDash val="solid"/>
          </a:ln>
        </p:spPr>
      </p:sp>
      <p:sp>
        <p:nvSpPr>
          <p:cNvPr id="10" name="Text 7"/>
          <p:cNvSpPr/>
          <p:nvPr/>
        </p:nvSpPr>
        <p:spPr>
          <a:xfrm>
            <a:off x="768096" y="2496312"/>
            <a:ext cx="10655503" cy="274320"/>
          </a:xfrm>
          <a:prstGeom prst="rect">
            <a:avLst/>
          </a:prstGeom>
          <a:noFill/>
          <a:ln/>
        </p:spPr>
        <p:txBody>
          <a:bodyPr wrap="square" lIns="0" tIns="0" rIns="0" bIns="0" rtlCol="0" anchor="ctr"/>
          <a:lstStyle/>
          <a:p>
            <a:pPr indent="0" marL="0">
              <a:buNone/>
            </a:pPr>
            <a:r>
              <a:rPr lang="en-US" sz="850" b="1" spc="140" kern="0" dirty="0">
                <a:solidFill>
                  <a:srgbClr val="8B8697"/>
                </a:solidFill>
                <a:latin typeface="Courier New" pitchFamily="34" charset="0"/>
                <a:ea typeface="Courier New" pitchFamily="34" charset="-122"/>
                <a:cs typeface="Courier New" pitchFamily="34" charset="-120"/>
              </a:rPr>
              <a:t>EN LA TERMINAL, EN CASA</a:t>
            </a:r>
            <a:endParaRPr lang="en-US" sz="850" dirty="0"/>
          </a:p>
        </p:txBody>
      </p:sp>
      <p:sp>
        <p:nvSpPr>
          <p:cNvPr id="11" name="Text 8"/>
          <p:cNvSpPr/>
          <p:nvPr/>
        </p:nvSpPr>
        <p:spPr>
          <a:xfrm>
            <a:off x="768096" y="2807208"/>
            <a:ext cx="10655503" cy="1792224"/>
          </a:xfrm>
          <a:prstGeom prst="rect">
            <a:avLst/>
          </a:prstGeom>
          <a:noFill/>
          <a:ln/>
        </p:spPr>
        <p:txBody>
          <a:bodyPr wrap="square" lIns="0" tIns="0" rIns="0" bIns="0" rtlCol="0" anchor="t"/>
          <a:lstStyle/>
          <a:p>
            <a:pPr indent="0" marL="0">
              <a:lnSpc>
                <a:spcPct val="112000"/>
              </a:lnSpc>
              <a:buNone/>
            </a:pPr>
            <a:r>
              <a:rPr lang="en-US" sz="1150" dirty="0">
                <a:solidFill>
                  <a:srgbClr val="F4F2F7"/>
                </a:solidFill>
                <a:latin typeface="Courier New" pitchFamily="34" charset="0"/>
                <a:ea typeface="Courier New" pitchFamily="34" charset="-122"/>
                <a:cs typeface="Courier New" pitchFamily="34" charset="-120"/>
              </a:rPr>
              <a:t>cd</a:t>
            </a:r>
            <a:pPr indent="0" marL="0">
              <a:lnSpc>
                <a:spcPct val="112000"/>
              </a:lnSpc>
              <a:buNone/>
            </a:pPr>
            <a:r>
              <a:rPr lang="en-US" sz="1150" dirty="0">
                <a:solidFill>
                  <a:srgbClr val="F4F2F7"/>
                </a:solidFill>
                <a:latin typeface="Courier New" pitchFamily="34" charset="0"/>
                <a:ea typeface="Courier New" pitchFamily="34" charset="-122"/>
                <a:cs typeface="Courier New" pitchFamily="34" charset="-120"/>
              </a:rPr>
              <a:t> </a:t>
            </a:r>
            <a:pPr indent="0" marL="0">
              <a:lnSpc>
                <a:spcPct val="112000"/>
              </a:lnSpc>
              <a:buNone/>
            </a:pPr>
            <a:r>
              <a:rPr lang="en-US" sz="1150" dirty="0">
                <a:solidFill>
                  <a:srgbClr val="F4F2F7"/>
                </a:solidFill>
                <a:latin typeface="Courier New" pitchFamily="34" charset="0"/>
                <a:ea typeface="Courier New" pitchFamily="34" charset="-122"/>
                <a:cs typeface="Courier New" pitchFamily="34" charset="-120"/>
              </a:rPr>
              <a:t>material</a:t>
            </a:r>
            <a:pPr indent="0" marL="0">
              <a:lnSpc>
                <a:spcPct val="112000"/>
              </a:lnSpc>
              <a:buNone/>
            </a:pPr>
            <a:r>
              <a:rPr lang="en-US" sz="1150" dirty="0">
                <a:solidFill>
                  <a:srgbClr val="F4F2F7"/>
                </a:solidFill>
                <a:latin typeface="Courier New" pitchFamily="34" charset="0"/>
                <a:ea typeface="Courier New" pitchFamily="34" charset="-122"/>
                <a:cs typeface="Courier New" pitchFamily="34" charset="-120"/>
              </a:rPr>
              <a:t>/</a:t>
            </a:r>
            <a:pPr indent="0" marL="0">
              <a:lnSpc>
                <a:spcPct val="112000"/>
              </a:lnSpc>
              <a:buNone/>
            </a:pPr>
            <a:r>
              <a:rPr lang="en-US" sz="1150" dirty="0">
                <a:solidFill>
                  <a:srgbClr val="F4F2F7"/>
                </a:solidFill>
                <a:latin typeface="Courier New" pitchFamily="34" charset="0"/>
                <a:ea typeface="Courier New" pitchFamily="34" charset="-122"/>
                <a:cs typeface="Courier New" pitchFamily="34" charset="-120"/>
              </a:rPr>
              <a:t>laboratorio</a:t>
            </a:r>
            <a:pPr indent="0" marL="0">
              <a:lnSpc>
                <a:spcPct val="112000"/>
              </a:lnSpc>
              <a:buNone/>
            </a:pPr>
            <a:r>
              <a:rPr lang="en-US" sz="1150" dirty="0">
                <a:solidFill>
                  <a:srgbClr val="F4F2F7"/>
                </a:solidFill>
                <a:latin typeface="Courier New" pitchFamily="34" charset="0"/>
                <a:ea typeface="Courier New" pitchFamily="34" charset="-122"/>
                <a:cs typeface="Courier New" pitchFamily="34" charset="-120"/>
              </a:rPr>
              <a:t>-</a:t>
            </a:r>
            <a:pPr indent="0" marL="0">
              <a:lnSpc>
                <a:spcPct val="112000"/>
              </a:lnSpc>
              <a:buNone/>
            </a:pPr>
            <a:r>
              <a:rPr lang="en-US" sz="1150" dirty="0">
                <a:solidFill>
                  <a:srgbClr val="FFA41B"/>
                </a:solidFill>
                <a:latin typeface="Courier New" pitchFamily="34" charset="0"/>
                <a:ea typeface="Courier New" pitchFamily="34" charset="-122"/>
                <a:cs typeface="Courier New" pitchFamily="34" charset="-120"/>
              </a:rPr>
              <a:t>04</a:t>
            </a:r>
            <a:endParaRPr lang="en-US" sz="1150" dirty="0"/>
          </a:p>
          <a:p>
            <a:pPr indent="0" marL="0">
              <a:lnSpc>
                <a:spcPct val="112000"/>
              </a:lnSpc>
              <a:buNone/>
            </a:pPr>
            <a:r>
              <a:rPr lang="en-US" sz="1150" dirty="0">
                <a:solidFill>
                  <a:srgbClr val="F4F2F7"/>
                </a:solidFill>
                <a:latin typeface="Courier New" pitchFamily="34" charset="0"/>
                <a:ea typeface="Courier New" pitchFamily="34" charset="-122"/>
                <a:cs typeface="Courier New" pitchFamily="34" charset="-120"/>
              </a:rPr>
              <a:t>python</a:t>
            </a:r>
            <a:pPr indent="0" marL="0">
              <a:lnSpc>
                <a:spcPct val="112000"/>
              </a:lnSpc>
              <a:buNone/>
            </a:pPr>
            <a:r>
              <a:rPr lang="en-US" sz="1150" dirty="0">
                <a:solidFill>
                  <a:srgbClr val="F4F2F7"/>
                </a:solidFill>
                <a:latin typeface="Courier New" pitchFamily="34" charset="0"/>
                <a:ea typeface="Courier New" pitchFamily="34" charset="-122"/>
                <a:cs typeface="Courier New" pitchFamily="34" charset="-120"/>
              </a:rPr>
              <a:t> </a:t>
            </a:r>
            <a:pPr indent="0" marL="0">
              <a:lnSpc>
                <a:spcPct val="112000"/>
              </a:lnSpc>
              <a:buNone/>
            </a:pPr>
            <a:r>
              <a:rPr lang="en-US" sz="1150" dirty="0">
                <a:solidFill>
                  <a:srgbClr val="F4F2F7"/>
                </a:solidFill>
                <a:latin typeface="Courier New" pitchFamily="34" charset="0"/>
                <a:ea typeface="Courier New" pitchFamily="34" charset="-122"/>
                <a:cs typeface="Courier New" pitchFamily="34" charset="-120"/>
              </a:rPr>
              <a:t>-</a:t>
            </a:r>
            <a:pPr indent="0" marL="0">
              <a:lnSpc>
                <a:spcPct val="112000"/>
              </a:lnSpc>
              <a:buNone/>
            </a:pPr>
            <a:r>
              <a:rPr lang="en-US" sz="1150" dirty="0">
                <a:solidFill>
                  <a:srgbClr val="F4F2F7"/>
                </a:solidFill>
                <a:latin typeface="Courier New" pitchFamily="34" charset="0"/>
                <a:ea typeface="Courier New" pitchFamily="34" charset="-122"/>
                <a:cs typeface="Courier New" pitchFamily="34" charset="-120"/>
              </a:rPr>
              <a:t>m</a:t>
            </a:r>
            <a:pPr indent="0" marL="0">
              <a:lnSpc>
                <a:spcPct val="112000"/>
              </a:lnSpc>
              <a:buNone/>
            </a:pPr>
            <a:r>
              <a:rPr lang="en-US" sz="1150" dirty="0">
                <a:solidFill>
                  <a:srgbClr val="F4F2F7"/>
                </a:solidFill>
                <a:latin typeface="Courier New" pitchFamily="34" charset="0"/>
                <a:ea typeface="Courier New" pitchFamily="34" charset="-122"/>
                <a:cs typeface="Courier New" pitchFamily="34" charset="-120"/>
              </a:rPr>
              <a:t> </a:t>
            </a:r>
            <a:pPr indent="0" marL="0">
              <a:lnSpc>
                <a:spcPct val="112000"/>
              </a:lnSpc>
              <a:buNone/>
            </a:pPr>
            <a:r>
              <a:rPr lang="en-US" sz="1150" dirty="0">
                <a:solidFill>
                  <a:srgbClr val="F4F2F7"/>
                </a:solidFill>
                <a:latin typeface="Courier New" pitchFamily="34" charset="0"/>
                <a:ea typeface="Courier New" pitchFamily="34" charset="-122"/>
                <a:cs typeface="Courier New" pitchFamily="34" charset="-120"/>
              </a:rPr>
              <a:t>pip</a:t>
            </a:r>
            <a:pPr indent="0" marL="0">
              <a:lnSpc>
                <a:spcPct val="112000"/>
              </a:lnSpc>
              <a:buNone/>
            </a:pPr>
            <a:r>
              <a:rPr lang="en-US" sz="1150" dirty="0">
                <a:solidFill>
                  <a:srgbClr val="F4F2F7"/>
                </a:solidFill>
                <a:latin typeface="Courier New" pitchFamily="34" charset="0"/>
                <a:ea typeface="Courier New" pitchFamily="34" charset="-122"/>
                <a:cs typeface="Courier New" pitchFamily="34" charset="-120"/>
              </a:rPr>
              <a:t> </a:t>
            </a:r>
            <a:pPr indent="0" marL="0">
              <a:lnSpc>
                <a:spcPct val="112000"/>
              </a:lnSpc>
              <a:buNone/>
            </a:pPr>
            <a:r>
              <a:rPr lang="en-US" sz="1150" dirty="0">
                <a:solidFill>
                  <a:srgbClr val="F4F2F7"/>
                </a:solidFill>
                <a:latin typeface="Courier New" pitchFamily="34" charset="0"/>
                <a:ea typeface="Courier New" pitchFamily="34" charset="-122"/>
                <a:cs typeface="Courier New" pitchFamily="34" charset="-120"/>
              </a:rPr>
              <a:t>install</a:t>
            </a:r>
            <a:pPr indent="0" marL="0">
              <a:lnSpc>
                <a:spcPct val="112000"/>
              </a:lnSpc>
              <a:buNone/>
            </a:pPr>
            <a:r>
              <a:rPr lang="en-US" sz="1150" dirty="0">
                <a:solidFill>
                  <a:srgbClr val="F4F2F7"/>
                </a:solidFill>
                <a:latin typeface="Courier New" pitchFamily="34" charset="0"/>
                <a:ea typeface="Courier New" pitchFamily="34" charset="-122"/>
                <a:cs typeface="Courier New" pitchFamily="34" charset="-120"/>
              </a:rPr>
              <a:t> </a:t>
            </a:r>
            <a:pPr indent="0" marL="0">
              <a:lnSpc>
                <a:spcPct val="112000"/>
              </a:lnSpc>
              <a:buNone/>
            </a:pPr>
            <a:r>
              <a:rPr lang="en-US" sz="1150" dirty="0">
                <a:solidFill>
                  <a:srgbClr val="F4F2F7"/>
                </a:solidFill>
                <a:latin typeface="Courier New" pitchFamily="34" charset="0"/>
                <a:ea typeface="Courier New" pitchFamily="34" charset="-122"/>
                <a:cs typeface="Courier New" pitchFamily="34" charset="-120"/>
              </a:rPr>
              <a:t>pytest</a:t>
            </a:r>
            <a:pPr indent="0" marL="0">
              <a:lnSpc>
                <a:spcPct val="112000"/>
              </a:lnSpc>
              <a:buNone/>
            </a:pPr>
            <a:r>
              <a:rPr lang="en-US" sz="1150" dirty="0">
                <a:solidFill>
                  <a:srgbClr val="F4F2F7"/>
                </a:solidFill>
                <a:latin typeface="Courier New" pitchFamily="34" charset="0"/>
                <a:ea typeface="Courier New" pitchFamily="34" charset="-122"/>
                <a:cs typeface="Courier New" pitchFamily="34" charset="-120"/>
              </a:rPr>
              <a:t>        </a:t>
            </a:r>
            <a:pPr indent="0" marL="0">
              <a:lnSpc>
                <a:spcPct val="112000"/>
              </a:lnSpc>
              <a:buNone/>
            </a:pPr>
            <a:r>
              <a:rPr lang="en-US" sz="1150" dirty="0">
                <a:solidFill>
                  <a:srgbClr val="8B8697"/>
                </a:solidFill>
                <a:latin typeface="Courier New" pitchFamily="34" charset="0"/>
                <a:ea typeface="Courier New" pitchFamily="34" charset="-122"/>
                <a:cs typeface="Courier New" pitchFamily="34" charset="-120"/>
              </a:rPr>
              <a:t># una sola vez</a:t>
            </a:r>
            <a:endParaRPr lang="en-US" sz="1150" dirty="0"/>
          </a:p>
          <a:p>
            <a:pPr indent="0" marL="0">
              <a:lnSpc>
                <a:spcPct val="112000"/>
              </a:lnSpc>
              <a:buNone/>
            </a:pPr>
            <a:r>
              <a:rPr lang="en-US" sz="1150" dirty="0">
                <a:solidFill>
                  <a:srgbClr val="F4F2F7"/>
                </a:solidFill>
                <a:latin typeface="Courier New" pitchFamily="34" charset="0"/>
                <a:ea typeface="Courier New" pitchFamily="34" charset="-122"/>
                <a:cs typeface="Courier New" pitchFamily="34" charset="-120"/>
              </a:rPr>
              <a:t>python</a:t>
            </a:r>
            <a:pPr indent="0" marL="0">
              <a:lnSpc>
                <a:spcPct val="112000"/>
              </a:lnSpc>
              <a:buNone/>
            </a:pPr>
            <a:r>
              <a:rPr lang="en-US" sz="1150" dirty="0">
                <a:solidFill>
                  <a:srgbClr val="F4F2F7"/>
                </a:solidFill>
                <a:latin typeface="Courier New" pitchFamily="34" charset="0"/>
                <a:ea typeface="Courier New" pitchFamily="34" charset="-122"/>
                <a:cs typeface="Courier New" pitchFamily="34" charset="-120"/>
              </a:rPr>
              <a:t> </a:t>
            </a:r>
            <a:pPr indent="0" marL="0">
              <a:lnSpc>
                <a:spcPct val="112000"/>
              </a:lnSpc>
              <a:buNone/>
            </a:pPr>
            <a:r>
              <a:rPr lang="en-US" sz="1150" dirty="0">
                <a:solidFill>
                  <a:srgbClr val="F4F2F7"/>
                </a:solidFill>
                <a:latin typeface="Courier New" pitchFamily="34" charset="0"/>
                <a:ea typeface="Courier New" pitchFamily="34" charset="-122"/>
                <a:cs typeface="Courier New" pitchFamily="34" charset="-120"/>
              </a:rPr>
              <a:t>-</a:t>
            </a:r>
            <a:pPr indent="0" marL="0">
              <a:lnSpc>
                <a:spcPct val="112000"/>
              </a:lnSpc>
              <a:buNone/>
            </a:pPr>
            <a:r>
              <a:rPr lang="en-US" sz="1150" dirty="0">
                <a:solidFill>
                  <a:srgbClr val="F4F2F7"/>
                </a:solidFill>
                <a:latin typeface="Courier New" pitchFamily="34" charset="0"/>
                <a:ea typeface="Courier New" pitchFamily="34" charset="-122"/>
                <a:cs typeface="Courier New" pitchFamily="34" charset="-120"/>
              </a:rPr>
              <a:t>m</a:t>
            </a:r>
            <a:pPr indent="0" marL="0">
              <a:lnSpc>
                <a:spcPct val="112000"/>
              </a:lnSpc>
              <a:buNone/>
            </a:pPr>
            <a:r>
              <a:rPr lang="en-US" sz="1150" dirty="0">
                <a:solidFill>
                  <a:srgbClr val="F4F2F7"/>
                </a:solidFill>
                <a:latin typeface="Courier New" pitchFamily="34" charset="0"/>
                <a:ea typeface="Courier New" pitchFamily="34" charset="-122"/>
                <a:cs typeface="Courier New" pitchFamily="34" charset="-120"/>
              </a:rPr>
              <a:t> </a:t>
            </a:r>
            <a:pPr indent="0" marL="0">
              <a:lnSpc>
                <a:spcPct val="112000"/>
              </a:lnSpc>
              <a:buNone/>
            </a:pPr>
            <a:r>
              <a:rPr lang="en-US" sz="1150" dirty="0">
                <a:solidFill>
                  <a:srgbClr val="F4F2F7"/>
                </a:solidFill>
                <a:latin typeface="Courier New" pitchFamily="34" charset="0"/>
                <a:ea typeface="Courier New" pitchFamily="34" charset="-122"/>
                <a:cs typeface="Courier New" pitchFamily="34" charset="-120"/>
              </a:rPr>
              <a:t>pytest</a:t>
            </a:r>
            <a:pPr indent="0" marL="0">
              <a:lnSpc>
                <a:spcPct val="112000"/>
              </a:lnSpc>
              <a:buNone/>
            </a:pPr>
            <a:r>
              <a:rPr lang="en-US" sz="1150" dirty="0">
                <a:solidFill>
                  <a:srgbClr val="F4F2F7"/>
                </a:solidFill>
                <a:latin typeface="Courier New" pitchFamily="34" charset="0"/>
                <a:ea typeface="Courier New" pitchFamily="34" charset="-122"/>
                <a:cs typeface="Courier New" pitchFamily="34" charset="-120"/>
              </a:rPr>
              <a:t> </a:t>
            </a:r>
            <a:pPr indent="0" marL="0">
              <a:lnSpc>
                <a:spcPct val="112000"/>
              </a:lnSpc>
              <a:buNone/>
            </a:pPr>
            <a:r>
              <a:rPr lang="en-US" sz="1150" dirty="0">
                <a:solidFill>
                  <a:srgbClr val="F4F2F7"/>
                </a:solidFill>
                <a:latin typeface="Courier New" pitchFamily="34" charset="0"/>
                <a:ea typeface="Courier New" pitchFamily="34" charset="-122"/>
                <a:cs typeface="Courier New" pitchFamily="34" charset="-120"/>
              </a:rPr>
              <a:t>-</a:t>
            </a:r>
            <a:pPr indent="0" marL="0">
              <a:lnSpc>
                <a:spcPct val="112000"/>
              </a:lnSpc>
              <a:buNone/>
            </a:pPr>
            <a:r>
              <a:rPr lang="en-US" sz="1150" dirty="0">
                <a:solidFill>
                  <a:srgbClr val="F4F2F7"/>
                </a:solidFill>
                <a:latin typeface="Courier New" pitchFamily="34" charset="0"/>
                <a:ea typeface="Courier New" pitchFamily="34" charset="-122"/>
                <a:cs typeface="Courier New" pitchFamily="34" charset="-120"/>
              </a:rPr>
              <a:t>q</a:t>
            </a:r>
            <a:pPr indent="0" marL="0">
              <a:lnSpc>
                <a:spcPct val="112000"/>
              </a:lnSpc>
              <a:buNone/>
            </a:pPr>
            <a:r>
              <a:rPr lang="en-US" sz="1150" dirty="0">
                <a:solidFill>
                  <a:srgbClr val="F4F2F7"/>
                </a:solidFill>
                <a:latin typeface="Courier New" pitchFamily="34" charset="0"/>
                <a:ea typeface="Courier New" pitchFamily="34" charset="-122"/>
                <a:cs typeface="Courier New" pitchFamily="34" charset="-120"/>
              </a:rPr>
              <a:t>                 </a:t>
            </a:r>
            <a:pPr indent="0" marL="0">
              <a:lnSpc>
                <a:spcPct val="112000"/>
              </a:lnSpc>
              <a:buNone/>
            </a:pPr>
            <a:r>
              <a:rPr lang="en-US" sz="1150" dirty="0">
                <a:solidFill>
                  <a:srgbClr val="8B8697"/>
                </a:solidFill>
                <a:latin typeface="Courier New" pitchFamily="34" charset="0"/>
                <a:ea typeface="Courier New" pitchFamily="34" charset="-122"/>
                <a:cs typeface="Courier New" pitchFamily="34" charset="-120"/>
              </a:rPr>
              <a:t># al empezar: 32 en rojo</a:t>
            </a:r>
            <a:endParaRPr lang="en-US" sz="1150" dirty="0"/>
          </a:p>
          <a:p>
            <a:pPr indent="0" marL="0">
              <a:lnSpc>
                <a:spcPct val="112000"/>
              </a:lnSpc>
              <a:buNone/>
            </a:pPr>
            <a:r>
              <a:rPr lang="en-US" sz="1150" dirty="0">
                <a:solidFill>
                  <a:srgbClr val="F4F2F7"/>
                </a:solidFill>
                <a:latin typeface="Courier New" pitchFamily="34" charset="0"/>
                <a:ea typeface="Courier New" pitchFamily="34" charset="-122"/>
                <a:cs typeface="Courier New" pitchFamily="34" charset="-120"/>
              </a:rPr>
              <a:t> </a:t>
            </a:r>
            <a:endParaRPr lang="en-US" sz="1150" dirty="0"/>
          </a:p>
          <a:p>
            <a:pPr indent="0" marL="0">
              <a:lnSpc>
                <a:spcPct val="112000"/>
              </a:lnSpc>
              <a:buNone/>
            </a:pPr>
            <a:r>
              <a:rPr lang="en-US" sz="1150" dirty="0">
                <a:solidFill>
                  <a:srgbClr val="8B8697"/>
                </a:solidFill>
                <a:latin typeface="Courier New" pitchFamily="34" charset="0"/>
                <a:ea typeface="Courier New" pitchFamily="34" charset="-122"/>
                <a:cs typeface="Courier New" pitchFamily="34" charset="-120"/>
              </a:rPr>
              <a:t># se completan las funciones marcadas con TODO en consenso.py</a:t>
            </a:r>
            <a:endParaRPr lang="en-US" sz="1150" dirty="0"/>
          </a:p>
          <a:p>
            <a:pPr indent="0" marL="0">
              <a:lnSpc>
                <a:spcPct val="112000"/>
              </a:lnSpc>
              <a:buNone/>
            </a:pPr>
            <a:r>
              <a:rPr lang="en-US" sz="1150" dirty="0">
                <a:solidFill>
                  <a:srgbClr val="8B8697"/>
                </a:solidFill>
                <a:latin typeface="Courier New" pitchFamily="34" charset="0"/>
                <a:ea typeface="Courier New" pitchFamily="34" charset="-122"/>
                <a:cs typeface="Courier New" pitchFamily="34" charset="-120"/>
              </a:rPr>
              <a:t># y se vuelve a correr hasta que las 32 pasen en verde</a:t>
            </a:r>
            <a:endParaRPr lang="en-US" sz="1150" dirty="0"/>
          </a:p>
          <a:p>
            <a:pPr indent="0" marL="0">
              <a:lnSpc>
                <a:spcPct val="112000"/>
              </a:lnSpc>
              <a:buNone/>
            </a:pPr>
            <a:r>
              <a:rPr lang="en-US" sz="1150" dirty="0">
                <a:solidFill>
                  <a:srgbClr val="F4F2F7"/>
                </a:solidFill>
                <a:latin typeface="Courier New" pitchFamily="34" charset="0"/>
                <a:ea typeface="Courier New" pitchFamily="34" charset="-122"/>
                <a:cs typeface="Courier New" pitchFamily="34" charset="-120"/>
              </a:rPr>
              <a:t>python</a:t>
            </a:r>
            <a:pPr indent="0" marL="0">
              <a:lnSpc>
                <a:spcPct val="112000"/>
              </a:lnSpc>
              <a:buNone/>
            </a:pPr>
            <a:r>
              <a:rPr lang="en-US" sz="1150" dirty="0">
                <a:solidFill>
                  <a:srgbClr val="F4F2F7"/>
                </a:solidFill>
                <a:latin typeface="Courier New" pitchFamily="34" charset="0"/>
                <a:ea typeface="Courier New" pitchFamily="34" charset="-122"/>
                <a:cs typeface="Courier New" pitchFamily="34" charset="-120"/>
              </a:rPr>
              <a:t> </a:t>
            </a:r>
            <a:pPr indent="0" marL="0">
              <a:lnSpc>
                <a:spcPct val="112000"/>
              </a:lnSpc>
              <a:buNone/>
            </a:pPr>
            <a:r>
              <a:rPr lang="en-US" sz="1150" dirty="0">
                <a:solidFill>
                  <a:srgbClr val="F4F2F7"/>
                </a:solidFill>
                <a:latin typeface="Courier New" pitchFamily="34" charset="0"/>
                <a:ea typeface="Courier New" pitchFamily="34" charset="-122"/>
                <a:cs typeface="Courier New" pitchFamily="34" charset="-120"/>
              </a:rPr>
              <a:t>consenso</a:t>
            </a:r>
            <a:pPr indent="0" marL="0">
              <a:lnSpc>
                <a:spcPct val="112000"/>
              </a:lnSpc>
              <a:buNone/>
            </a:pPr>
            <a:r>
              <a:rPr lang="en-US" sz="1150" dirty="0">
                <a:solidFill>
                  <a:srgbClr val="F4F2F7"/>
                </a:solidFill>
                <a:latin typeface="Courier New" pitchFamily="34" charset="0"/>
                <a:ea typeface="Courier New" pitchFamily="34" charset="-122"/>
                <a:cs typeface="Courier New" pitchFamily="34" charset="-120"/>
              </a:rPr>
              <a:t>.</a:t>
            </a:r>
            <a:pPr indent="0" marL="0">
              <a:lnSpc>
                <a:spcPct val="112000"/>
              </a:lnSpc>
              <a:buNone/>
            </a:pPr>
            <a:r>
              <a:rPr lang="en-US" sz="1150" dirty="0">
                <a:solidFill>
                  <a:srgbClr val="F4F2F7"/>
                </a:solidFill>
                <a:latin typeface="Courier New" pitchFamily="34" charset="0"/>
                <a:ea typeface="Courier New" pitchFamily="34" charset="-122"/>
                <a:cs typeface="Courier New" pitchFamily="34" charset="-120"/>
              </a:rPr>
              <a:t>py</a:t>
            </a:r>
            <a:pPr indent="0" marL="0">
              <a:lnSpc>
                <a:spcPct val="112000"/>
              </a:lnSpc>
              <a:buNone/>
            </a:pPr>
            <a:r>
              <a:rPr lang="en-US" sz="1150" dirty="0">
                <a:solidFill>
                  <a:srgbClr val="F4F2F7"/>
                </a:solidFill>
                <a:latin typeface="Courier New" pitchFamily="34" charset="0"/>
                <a:ea typeface="Courier New" pitchFamily="34" charset="-122"/>
                <a:cs typeface="Courier New" pitchFamily="34" charset="-120"/>
              </a:rPr>
              <a:t>                  </a:t>
            </a:r>
            <a:pPr indent="0" marL="0">
              <a:lnSpc>
                <a:spcPct val="112000"/>
              </a:lnSpc>
              <a:buNone/>
            </a:pPr>
            <a:r>
              <a:rPr lang="en-US" sz="1150" dirty="0">
                <a:solidFill>
                  <a:srgbClr val="8B8697"/>
                </a:solidFill>
                <a:latin typeface="Courier New" pitchFamily="34" charset="0"/>
                <a:ea typeface="Courier New" pitchFamily="34" charset="-122"/>
                <a:cs typeface="Courier New" pitchFamily="34" charset="-120"/>
              </a:rPr>
              <a:t># el experimento completo</a:t>
            </a:r>
            <a:endParaRPr lang="en-US" sz="1150" dirty="0"/>
          </a:p>
        </p:txBody>
      </p:sp>
      <p:sp>
        <p:nvSpPr>
          <p:cNvPr id="12" name="Shape 9"/>
          <p:cNvSpPr/>
          <p:nvPr/>
        </p:nvSpPr>
        <p:spPr>
          <a:xfrm>
            <a:off x="566928" y="4892040"/>
            <a:ext cx="11057839" cy="1234440"/>
          </a:xfrm>
          <a:prstGeom prst="rect">
            <a:avLst/>
          </a:prstGeom>
          <a:solidFill>
            <a:srgbClr val="FFFFFF"/>
          </a:solidFill>
          <a:ln w="34925">
            <a:solidFill>
              <a:srgbClr val="0F0F11"/>
            </a:solidFill>
            <a:prstDash val="solid"/>
          </a:ln>
          <a:effectLst>
            <a:outerShdw sx="100000" sy="100000" kx="0" ky="0" algn="bl" rotWithShape="0" blurRad="101600" dist="63500" dir="2700000">
              <a:srgbClr val="0F0F11">
                <a:alpha val="100000"/>
              </a:srgbClr>
            </a:outerShdw>
          </a:effectLst>
        </p:spPr>
      </p:sp>
      <p:pic>
        <p:nvPicPr>
          <p:cNvPr id="13" name="Image 1" descr="preencoded.png">    </p:cNvPr>
          <p:cNvPicPr>
            <a:picLocks noChangeAspect="1"/>
          </p:cNvPicPr>
          <p:nvPr/>
        </p:nvPicPr>
        <p:blipFill>
          <a:blip r:embed="rId2"/>
          <a:stretch>
            <a:fillRect/>
          </a:stretch>
        </p:blipFill>
        <p:spPr>
          <a:xfrm>
            <a:off x="804672" y="5111496"/>
            <a:ext cx="237744" cy="237744"/>
          </a:xfrm>
          <a:prstGeom prst="rect">
            <a:avLst/>
          </a:prstGeom>
        </p:spPr>
      </p:pic>
      <p:sp>
        <p:nvSpPr>
          <p:cNvPr id="14" name="Text 10"/>
          <p:cNvSpPr/>
          <p:nvPr/>
        </p:nvSpPr>
        <p:spPr>
          <a:xfrm>
            <a:off x="1133856" y="5084064"/>
            <a:ext cx="10234879" cy="292608"/>
          </a:xfrm>
          <a:prstGeom prst="rect">
            <a:avLst/>
          </a:prstGeom>
          <a:noFill/>
          <a:ln/>
        </p:spPr>
        <p:txBody>
          <a:bodyPr wrap="square" lIns="0" tIns="0" rIns="0" bIns="0" rtlCol="0" anchor="ctr"/>
          <a:lstStyle/>
          <a:p>
            <a:pPr indent="0" marL="0">
              <a:buNone/>
            </a:pPr>
            <a:r>
              <a:rPr lang="en-US" sz="950" b="1" spc="150" kern="0" dirty="0">
                <a:solidFill>
                  <a:srgbClr val="0F0F11"/>
                </a:solidFill>
                <a:latin typeface="Courier New" pitchFamily="34" charset="0"/>
                <a:ea typeface="Courier New" pitchFamily="34" charset="-122"/>
                <a:cs typeface="Courier New" pitchFamily="34" charset="-120"/>
              </a:rPr>
              <a:t>CÓMO EMPEZAR DE CERO SI ALGO SE ROMPE</a:t>
            </a:r>
            <a:endParaRPr lang="en-US" sz="950" dirty="0"/>
          </a:p>
        </p:txBody>
      </p:sp>
      <p:sp>
        <p:nvSpPr>
          <p:cNvPr id="15" name="Text 11"/>
          <p:cNvSpPr/>
          <p:nvPr/>
        </p:nvSpPr>
        <p:spPr>
          <a:xfrm>
            <a:off x="804672" y="5404104"/>
            <a:ext cx="10582351" cy="630936"/>
          </a:xfrm>
          <a:prstGeom prst="rect">
            <a:avLst/>
          </a:prstGeom>
          <a:noFill/>
          <a:ln/>
        </p:spPr>
        <p:txBody>
          <a:bodyPr wrap="square" lIns="0" tIns="0" rIns="0" bIns="0" rtlCol="0" anchor="t"/>
          <a:lstStyle/>
          <a:p>
            <a:pPr indent="0" marL="0">
              <a:lnSpc>
                <a:spcPct val="124000"/>
              </a:lnSpc>
              <a:buNone/>
            </a:pPr>
            <a:r>
              <a:rPr lang="en-US" sz="1250" dirty="0">
                <a:solidFill>
                  <a:srgbClr val="3A3844"/>
                </a:solidFill>
                <a:latin typeface="Arial" pitchFamily="34" charset="0"/>
                <a:ea typeface="Arial" pitchFamily="34" charset="-122"/>
                <a:cs typeface="Arial" pitchFamily="34" charset="-120"/>
              </a:rPr>
              <a:t>La carpeta trae andamiaje/ con la versión intacta y solucion/ con la solución de referencia. Si se pierden, copian el andamiaje otra vez. La guía en PDF explica cada TODO, con las pistas y los errores frecuentes, uno por uno.</a:t>
            </a:r>
            <a:endParaRPr lang="en-US" sz="1250" dirty="0"/>
          </a:p>
        </p:txBody>
      </p:sp>
    </p:spTree>
  </p:cSld>
  <p:clrMapOvr>
    <a:masterClrMapping/>
  </p:clrMapOvr>
</p:sld>
</file>

<file path=ppt/slides/slide41.xml><?xml version="1.0" encoding="utf-8"?>
<p:sld xmlns:a="http://schemas.openxmlformats.org/drawingml/2006/main" xmlns:r="http://schemas.openxmlformats.org/officeDocument/2006/relationships" xmlns:p="http://schemas.openxmlformats.org/presentationml/2006/main">
  <p:cSld name="Slide 41">
    <p:bg>
      <p:bgPr>
        <a:solidFill>
          <a:srgbClr val="FFFFFF"/>
        </a:solidFill>
      </p:bgPr>
    </p:bg>
    <p:spTree>
      <p:nvGrpSpPr>
        <p:cNvPr id="1" name=""/>
        <p:cNvGrpSpPr/>
        <p:nvPr/>
      </p:nvGrpSpPr>
      <p:grpSpPr>
        <a:xfrm>
          <a:off x="0" y="0"/>
          <a:ext cx="0" cy="0"/>
          <a:chOff x="0" y="0"/>
          <a:chExt cx="0" cy="0"/>
        </a:xfrm>
      </p:grpSpPr>
      <p:pic>
        <p:nvPicPr>
          <p:cNvPr id="2" name="Image 0" descr="preencoded.png">    </p:cNvPr>
          <p:cNvPicPr>
            <a:picLocks noChangeAspect="1"/>
          </p:cNvPicPr>
          <p:nvPr/>
        </p:nvPicPr>
        <p:blipFill>
          <a:blip r:embed="rId1"/>
          <a:stretch>
            <a:fillRect/>
          </a:stretch>
        </p:blipFill>
        <p:spPr>
          <a:xfrm>
            <a:off x="566928" y="402336"/>
            <a:ext cx="274320" cy="274320"/>
          </a:xfrm>
          <a:prstGeom prst="rect">
            <a:avLst/>
          </a:prstGeom>
        </p:spPr>
      </p:pic>
      <p:sp>
        <p:nvSpPr>
          <p:cNvPr id="3" name="Text 0"/>
          <p:cNvSpPr/>
          <p:nvPr/>
        </p:nvSpPr>
        <p:spPr>
          <a:xfrm>
            <a:off x="969264" y="384048"/>
            <a:ext cx="10655503" cy="310896"/>
          </a:xfrm>
          <a:prstGeom prst="rect">
            <a:avLst/>
          </a:prstGeom>
          <a:noFill/>
          <a:ln/>
        </p:spPr>
        <p:txBody>
          <a:bodyPr wrap="square" lIns="0" tIns="0" rIns="0" bIns="0" rtlCol="0" anchor="ctr"/>
          <a:lstStyle/>
          <a:p>
            <a:pPr indent="0" marL="0">
              <a:buNone/>
            </a:pPr>
            <a:r>
              <a:rPr lang="en-US" sz="950" spc="160" kern="0" dirty="0">
                <a:solidFill>
                  <a:srgbClr val="6F6B80"/>
                </a:solidFill>
                <a:latin typeface="Courier New" pitchFamily="34" charset="0"/>
                <a:ea typeface="Courier New" pitchFamily="34" charset="-122"/>
                <a:cs typeface="Courier New" pitchFamily="34" charset="-120"/>
              </a:rPr>
              <a:t>D.4 · CÓMO SE CONECTA</a:t>
            </a:r>
            <a:endParaRPr lang="en-US" sz="950" dirty="0"/>
          </a:p>
        </p:txBody>
      </p:sp>
      <p:sp>
        <p:nvSpPr>
          <p:cNvPr id="4" name="Text 1"/>
          <p:cNvSpPr/>
          <p:nvPr/>
        </p:nvSpPr>
        <p:spPr>
          <a:xfrm>
            <a:off x="566928" y="777240"/>
            <a:ext cx="11057839" cy="777240"/>
          </a:xfrm>
          <a:prstGeom prst="rect">
            <a:avLst/>
          </a:prstGeom>
          <a:noFill/>
          <a:ln/>
        </p:spPr>
        <p:txBody>
          <a:bodyPr wrap="square" lIns="0" tIns="0" rIns="0" bIns="0" rtlCol="0" anchor="t"/>
          <a:lstStyle/>
          <a:p>
            <a:pPr indent="0" marL="0">
              <a:lnSpc>
                <a:spcPct val="92000"/>
              </a:lnSpc>
              <a:buNone/>
            </a:pPr>
            <a:r>
              <a:rPr lang="en-US" sz="2700" dirty="0">
                <a:solidFill>
                  <a:srgbClr val="0F0F11"/>
                </a:solidFill>
                <a:latin typeface="Arial Black" pitchFamily="34" charset="0"/>
                <a:ea typeface="Arial Black" pitchFamily="34" charset="-122"/>
                <a:cs typeface="Arial Black" pitchFamily="34" charset="-120"/>
              </a:rPr>
              <a:t>POR QUÉ IMPORTA AUNQUE NO SE CALIFIQUE</a:t>
            </a:r>
            <a:endParaRPr lang="en-US" sz="2700" dirty="0"/>
          </a:p>
        </p:txBody>
      </p:sp>
      <p:sp>
        <p:nvSpPr>
          <p:cNvPr id="5" name="Text 2"/>
          <p:cNvSpPr/>
          <p:nvPr/>
        </p:nvSpPr>
        <p:spPr>
          <a:xfrm>
            <a:off x="566928" y="6291072"/>
            <a:ext cx="8412480" cy="274320"/>
          </a:xfrm>
          <a:prstGeom prst="rect">
            <a:avLst/>
          </a:prstGeom>
          <a:noFill/>
          <a:ln/>
        </p:spPr>
        <p:txBody>
          <a:bodyPr wrap="square" lIns="0" tIns="0" rIns="0" bIns="0" rtlCol="0" anchor="ctr"/>
          <a:lstStyle/>
          <a:p>
            <a:pPr indent="0" marL="0">
              <a:buNone/>
            </a:pPr>
            <a:r>
              <a:rPr lang="en-US" sz="800" spc="120" kern="0" dirty="0">
                <a:solidFill>
                  <a:srgbClr val="6F6B80"/>
                </a:solidFill>
                <a:latin typeface="Courier New" pitchFamily="34" charset="0"/>
                <a:ea typeface="Courier New" pitchFamily="34" charset="-122"/>
                <a:cs typeface="Courier New" pitchFamily="34" charset="-120"/>
              </a:rPr>
              <a:t>SESIÓN 04 · CONSENSO, INCENTIVOS Y EL TRILEMA</a:t>
            </a:r>
            <a:endParaRPr lang="en-US" sz="800" dirty="0"/>
          </a:p>
        </p:txBody>
      </p:sp>
      <p:sp>
        <p:nvSpPr>
          <p:cNvPr id="6" name="Text 3"/>
          <p:cNvSpPr/>
          <p:nvPr/>
        </p:nvSpPr>
        <p:spPr>
          <a:xfrm>
            <a:off x="9052560" y="6291072"/>
            <a:ext cx="1828800" cy="274320"/>
          </a:xfrm>
          <a:prstGeom prst="rect">
            <a:avLst/>
          </a:prstGeom>
          <a:noFill/>
          <a:ln/>
        </p:spPr>
        <p:txBody>
          <a:bodyPr wrap="square" lIns="0" tIns="0" rIns="0" bIns="0" rtlCol="0" anchor="ctr"/>
          <a:lstStyle/>
          <a:p>
            <a:pPr algn="r" indent="0" marL="0">
              <a:buNone/>
            </a:pPr>
            <a:r>
              <a:rPr lang="en-US" sz="800" spc="120" kern="0" dirty="0">
                <a:solidFill>
                  <a:srgbClr val="6F6B80"/>
                </a:solidFill>
                <a:latin typeface="Courier New" pitchFamily="34" charset="0"/>
                <a:ea typeface="Courier New" pitchFamily="34" charset="-122"/>
                <a:cs typeface="Courier New" pitchFamily="34" charset="-120"/>
              </a:rPr>
              <a:t>USB MEDELLÍN</a:t>
            </a:r>
            <a:endParaRPr lang="en-US" sz="800" dirty="0"/>
          </a:p>
        </p:txBody>
      </p:sp>
      <p:sp>
        <p:nvSpPr>
          <p:cNvPr id="7" name="Text 4"/>
          <p:cNvSpPr/>
          <p:nvPr/>
        </p:nvSpPr>
        <p:spPr>
          <a:xfrm>
            <a:off x="11018520" y="6291072"/>
            <a:ext cx="603504" cy="274320"/>
          </a:xfrm>
          <a:prstGeom prst="rect">
            <a:avLst/>
          </a:prstGeom>
          <a:noFill/>
          <a:ln/>
        </p:spPr>
        <p:txBody>
          <a:bodyPr wrap="square" lIns="0" tIns="0" rIns="0" bIns="0" rtlCol="0" anchor="ctr"/>
          <a:lstStyle/>
          <a:p>
            <a:pPr algn="r" indent="0" marL="0">
              <a:buNone/>
            </a:pPr>
            <a:r>
              <a:rPr lang="en-US" sz="900" b="1" dirty="0">
                <a:solidFill>
                  <a:srgbClr val="0F0F11"/>
                </a:solidFill>
                <a:latin typeface="Courier New" pitchFamily="34" charset="0"/>
                <a:ea typeface="Courier New" pitchFamily="34" charset="-122"/>
                <a:cs typeface="Courier New" pitchFamily="34" charset="-120"/>
              </a:rPr>
              <a:t>41</a:t>
            </a:r>
            <a:endParaRPr lang="en-US" sz="900" dirty="0"/>
          </a:p>
        </p:txBody>
      </p:sp>
      <p:sp>
        <p:nvSpPr>
          <p:cNvPr id="8" name="Text 5"/>
          <p:cNvSpPr/>
          <p:nvPr/>
        </p:nvSpPr>
        <p:spPr>
          <a:xfrm>
            <a:off x="566928" y="1737360"/>
            <a:ext cx="11057839" cy="2651760"/>
          </a:xfrm>
          <a:prstGeom prst="rect">
            <a:avLst/>
          </a:prstGeom>
          <a:noFill/>
          <a:ln/>
        </p:spPr>
        <p:txBody>
          <a:bodyPr wrap="square" lIns="0" tIns="0" rIns="0" bIns="0" rtlCol="0" anchor="t"/>
          <a:lstStyle/>
          <a:p>
            <a:pPr marL="203200" indent="-203200">
              <a:lnSpc>
                <a:spcPct val="118000"/>
              </a:lnSpc>
              <a:spcAft>
                <a:spcPts val="900"/>
              </a:spcAft>
              <a:buSzPct val="100000"/>
              <a:buChar char="■"/>
            </a:pPr>
            <a:r>
              <a:rPr lang="en-US" sz="1350" dirty="0">
                <a:solidFill>
                  <a:srgbClr val="3A3844"/>
                </a:solidFill>
                <a:latin typeface="Arial" pitchFamily="34" charset="0"/>
                <a:ea typeface="Arial" pitchFamily="34" charset="-122"/>
                <a:cs typeface="Arial" pitchFamily="34" charset="-120"/>
              </a:rPr>
              <a:t>Cada función que completan es una lámina de hoy vuelta código: minar es A.5, elegir cadena es A.7, el ataque es A.8-A.9.</a:t>
            </a:r>
            <a:endParaRPr lang="en-US" sz="1350" dirty="0"/>
          </a:p>
          <a:p>
            <a:pPr marL="203200" indent="-203200">
              <a:lnSpc>
                <a:spcPct val="118000"/>
              </a:lnSpc>
              <a:spcAft>
                <a:spcPts val="900"/>
              </a:spcAft>
              <a:buSzPct val="100000"/>
              <a:buChar char="■"/>
            </a:pPr>
            <a:r>
              <a:rPr lang="en-US" sz="1350" dirty="0">
                <a:solidFill>
                  <a:srgbClr val="3A3844"/>
                </a:solidFill>
                <a:latin typeface="Arial" pitchFamily="34" charset="0"/>
                <a:ea typeface="Arial" pitchFamily="34" charset="-122"/>
                <a:cs typeface="Arial" pitchFamily="34" charset="-120"/>
              </a:rPr>
              <a:t>El Quiz 1 pregunta justo esto: quien hizo el laboratorio responde sin dudar.</a:t>
            </a:r>
            <a:endParaRPr lang="en-US" sz="1350" dirty="0"/>
          </a:p>
          <a:p>
            <a:pPr marL="203200" indent="-203200">
              <a:lnSpc>
                <a:spcPct val="118000"/>
              </a:lnSpc>
              <a:spcAft>
                <a:spcPts val="900"/>
              </a:spcAft>
              <a:buSzPct val="100000"/>
              <a:buChar char="■"/>
            </a:pPr>
            <a:r>
              <a:rPr lang="en-US" sz="1350" dirty="0">
                <a:solidFill>
                  <a:srgbClr val="3A3844"/>
                </a:solidFill>
                <a:latin typeface="Arial" pitchFamily="34" charset="0"/>
                <a:ea typeface="Arial" pitchFamily="34" charset="-122"/>
                <a:cs typeface="Arial" pitchFamily="34" charset="-120"/>
              </a:rPr>
              <a:t>El hallazgo de la parte 3 es el mismo método de la actividad de Estonia: verificar en vez de creer.</a:t>
            </a:r>
            <a:endParaRPr lang="en-US" sz="1350" dirty="0"/>
          </a:p>
          <a:p>
            <a:pPr marL="203200" indent="-203200">
              <a:lnSpc>
                <a:spcPct val="118000"/>
              </a:lnSpc>
              <a:spcAft>
                <a:spcPts val="900"/>
              </a:spcAft>
              <a:buSzPct val="100000"/>
              <a:buChar char="■"/>
            </a:pPr>
            <a:r>
              <a:rPr lang="en-US" sz="1350" dirty="0">
                <a:solidFill>
                  <a:srgbClr val="3A3844"/>
                </a:solidFill>
                <a:latin typeface="Arial" pitchFamily="34" charset="0"/>
                <a:ea typeface="Arial" pitchFamily="34" charset="-122"/>
                <a:cs typeface="Arial" pitchFamily="34" charset="-120"/>
              </a:rPr>
              <a:t>Es el primer código de consenso que escriben; la Unidad II construye software sobre estas ideas.</a:t>
            </a:r>
            <a:endParaRPr lang="en-US" sz="1350" dirty="0"/>
          </a:p>
        </p:txBody>
      </p:sp>
      <p:sp>
        <p:nvSpPr>
          <p:cNvPr id="9" name="Shape 6"/>
          <p:cNvSpPr/>
          <p:nvPr/>
        </p:nvSpPr>
        <p:spPr>
          <a:xfrm>
            <a:off x="566928" y="4572000"/>
            <a:ext cx="11057839" cy="1554480"/>
          </a:xfrm>
          <a:prstGeom prst="rect">
            <a:avLst/>
          </a:prstGeom>
          <a:solidFill>
            <a:srgbClr val="FFFFFF"/>
          </a:solidFill>
          <a:ln w="22225">
            <a:solidFill>
              <a:srgbClr val="7152E9"/>
            </a:solidFill>
            <a:prstDash val="solid"/>
          </a:ln>
          <a:effectLst>
            <a:outerShdw sx="100000" sy="100000" kx="0" ky="0" algn="bl" rotWithShape="0" blurRad="101600" dist="63500" dir="2700000">
              <a:srgbClr val="7152E9">
                <a:alpha val="100000"/>
              </a:srgbClr>
            </a:outerShdw>
          </a:effectLst>
        </p:spPr>
      </p:sp>
      <p:pic>
        <p:nvPicPr>
          <p:cNvPr id="10" name="Image 1" descr="preencoded.png">    </p:cNvPr>
          <p:cNvPicPr>
            <a:picLocks noChangeAspect="1"/>
          </p:cNvPicPr>
          <p:nvPr/>
        </p:nvPicPr>
        <p:blipFill>
          <a:blip r:embed="rId2"/>
          <a:stretch>
            <a:fillRect/>
          </a:stretch>
        </p:blipFill>
        <p:spPr>
          <a:xfrm>
            <a:off x="804672" y="4791456"/>
            <a:ext cx="237744" cy="237744"/>
          </a:xfrm>
          <a:prstGeom prst="rect">
            <a:avLst/>
          </a:prstGeom>
        </p:spPr>
      </p:pic>
      <p:sp>
        <p:nvSpPr>
          <p:cNvPr id="11" name="Text 7"/>
          <p:cNvSpPr/>
          <p:nvPr/>
        </p:nvSpPr>
        <p:spPr>
          <a:xfrm>
            <a:off x="1133856" y="4764024"/>
            <a:ext cx="10234879" cy="292608"/>
          </a:xfrm>
          <a:prstGeom prst="rect">
            <a:avLst/>
          </a:prstGeom>
          <a:noFill/>
          <a:ln/>
        </p:spPr>
        <p:txBody>
          <a:bodyPr wrap="square" lIns="0" tIns="0" rIns="0" bIns="0" rtlCol="0" anchor="ctr"/>
          <a:lstStyle/>
          <a:p>
            <a:pPr indent="0" marL="0">
              <a:buNone/>
            </a:pPr>
            <a:r>
              <a:rPr lang="en-US" sz="950" b="1" spc="150" kern="0" dirty="0">
                <a:solidFill>
                  <a:srgbClr val="5638C9"/>
                </a:solidFill>
                <a:latin typeface="Courier New" pitchFamily="34" charset="0"/>
                <a:ea typeface="Courier New" pitchFamily="34" charset="-122"/>
                <a:cs typeface="Courier New" pitchFamily="34" charset="-120"/>
              </a:rPr>
              <a:t>SI ALGUIEN QUIERE IR MÁS ALLÁ</a:t>
            </a:r>
            <a:endParaRPr lang="en-US" sz="950" dirty="0"/>
          </a:p>
        </p:txBody>
      </p:sp>
      <p:sp>
        <p:nvSpPr>
          <p:cNvPr id="12" name="Text 8"/>
          <p:cNvSpPr/>
          <p:nvPr/>
        </p:nvSpPr>
        <p:spPr>
          <a:xfrm>
            <a:off x="804672" y="5084064"/>
            <a:ext cx="10582351" cy="950976"/>
          </a:xfrm>
          <a:prstGeom prst="rect">
            <a:avLst/>
          </a:prstGeom>
          <a:noFill/>
          <a:ln/>
        </p:spPr>
        <p:txBody>
          <a:bodyPr wrap="square" lIns="0" tIns="0" rIns="0" bIns="0" rtlCol="0" anchor="t"/>
          <a:lstStyle/>
          <a:p>
            <a:pPr indent="0" marL="0">
              <a:lnSpc>
                <a:spcPct val="124000"/>
              </a:lnSpc>
              <a:buNone/>
            </a:pPr>
            <a:r>
              <a:rPr lang="en-US" sz="1250" dirty="0">
                <a:solidFill>
                  <a:srgbClr val="3A3844"/>
                </a:solidFill>
                <a:latin typeface="Arial" pitchFamily="34" charset="0"/>
                <a:ea typeface="Arial" pitchFamily="34" charset="-122"/>
                <a:cs typeface="Arial" pitchFamily="34" charset="-120"/>
              </a:rPr>
              <a:t>El laboratorio incluye un experimento que varía la dificultad y mide cuántos intentos toma minar, para ver con datos propios el crecimiento exponencial de A.5b. Quien lo corra y traiga su gráfica a la Sesión 5 tiene un punto extra de participación. Es opcional dentro de lo opcional, pero es justo el tipo de curiosidad que el curso premia.</a:t>
            </a:r>
            <a:endParaRPr lang="en-US" sz="1250" dirty="0"/>
          </a:p>
        </p:txBody>
      </p:sp>
    </p:spTree>
  </p:cSld>
  <p:clrMapOvr>
    <a:masterClrMapping/>
  </p:clrMapOvr>
</p:sld>
</file>

<file path=ppt/slides/slide42.xml><?xml version="1.0" encoding="utf-8"?>
<p:sld xmlns:a="http://schemas.openxmlformats.org/drawingml/2006/main" xmlns:r="http://schemas.openxmlformats.org/officeDocument/2006/relationships" xmlns:p="http://schemas.openxmlformats.org/presentationml/2006/main">
  <p:cSld name="Slide 42">
    <p:bg>
      <p:bgPr>
        <a:solidFill>
          <a:srgbClr val="FFFFFF"/>
        </a:solidFill>
      </p:bgPr>
    </p:bg>
    <p:spTree>
      <p:nvGrpSpPr>
        <p:cNvPr id="1" name=""/>
        <p:cNvGrpSpPr/>
        <p:nvPr/>
      </p:nvGrpSpPr>
      <p:grpSpPr>
        <a:xfrm>
          <a:off x="0" y="0"/>
          <a:ext cx="0" cy="0"/>
          <a:chOff x="0" y="0"/>
          <a:chExt cx="0" cy="0"/>
        </a:xfrm>
      </p:grpSpPr>
      <p:pic>
        <p:nvPicPr>
          <p:cNvPr id="2" name="Image 0" descr="preencoded.png">    </p:cNvPr>
          <p:cNvPicPr>
            <a:picLocks noChangeAspect="1"/>
          </p:cNvPicPr>
          <p:nvPr/>
        </p:nvPicPr>
        <p:blipFill>
          <a:blip r:embed="rId1"/>
          <a:stretch>
            <a:fillRect/>
          </a:stretch>
        </p:blipFill>
        <p:spPr>
          <a:xfrm>
            <a:off x="566928" y="402336"/>
            <a:ext cx="274320" cy="274320"/>
          </a:xfrm>
          <a:prstGeom prst="rect">
            <a:avLst/>
          </a:prstGeom>
        </p:spPr>
      </p:pic>
      <p:sp>
        <p:nvSpPr>
          <p:cNvPr id="3" name="Text 0"/>
          <p:cNvSpPr/>
          <p:nvPr/>
        </p:nvSpPr>
        <p:spPr>
          <a:xfrm>
            <a:off x="969264" y="384048"/>
            <a:ext cx="10655503" cy="310896"/>
          </a:xfrm>
          <a:prstGeom prst="rect">
            <a:avLst/>
          </a:prstGeom>
          <a:noFill/>
          <a:ln/>
        </p:spPr>
        <p:txBody>
          <a:bodyPr wrap="square" lIns="0" tIns="0" rIns="0" bIns="0" rtlCol="0" anchor="ctr"/>
          <a:lstStyle/>
          <a:p>
            <a:pPr indent="0" marL="0">
              <a:buNone/>
            </a:pPr>
            <a:r>
              <a:rPr lang="en-US" sz="950" spc="160" kern="0" dirty="0">
                <a:solidFill>
                  <a:srgbClr val="6F6B80"/>
                </a:solidFill>
                <a:latin typeface="Courier New" pitchFamily="34" charset="0"/>
                <a:ea typeface="Courier New" pitchFamily="34" charset="-122"/>
                <a:cs typeface="Courier New" pitchFamily="34" charset="-120"/>
              </a:rPr>
              <a:t>TRABAJO AUTÓNOMO</a:t>
            </a:r>
            <a:endParaRPr lang="en-US" sz="950" dirty="0"/>
          </a:p>
        </p:txBody>
      </p:sp>
      <p:sp>
        <p:nvSpPr>
          <p:cNvPr id="4" name="Text 1"/>
          <p:cNvSpPr/>
          <p:nvPr/>
        </p:nvSpPr>
        <p:spPr>
          <a:xfrm>
            <a:off x="566928" y="777240"/>
            <a:ext cx="11057839" cy="777240"/>
          </a:xfrm>
          <a:prstGeom prst="rect">
            <a:avLst/>
          </a:prstGeom>
          <a:noFill/>
          <a:ln/>
        </p:spPr>
        <p:txBody>
          <a:bodyPr wrap="square" lIns="0" tIns="0" rIns="0" bIns="0" rtlCol="0" anchor="t"/>
          <a:lstStyle/>
          <a:p>
            <a:pPr indent="0" marL="0">
              <a:lnSpc>
                <a:spcPct val="92000"/>
              </a:lnSpc>
              <a:buNone/>
            </a:pPr>
            <a:r>
              <a:rPr lang="en-US" sz="2900" dirty="0">
                <a:solidFill>
                  <a:srgbClr val="0F0F11"/>
                </a:solidFill>
                <a:latin typeface="Arial Black" pitchFamily="34" charset="0"/>
                <a:ea typeface="Arial Black" pitchFamily="34" charset="-122"/>
                <a:cs typeface="Arial Black" pitchFamily="34" charset="-120"/>
              </a:rPr>
              <a:t>LA PREGUNTA DE LA SEMANA</a:t>
            </a:r>
            <a:endParaRPr lang="en-US" sz="2900" dirty="0"/>
          </a:p>
        </p:txBody>
      </p:sp>
      <p:sp>
        <p:nvSpPr>
          <p:cNvPr id="5" name="Text 2"/>
          <p:cNvSpPr/>
          <p:nvPr/>
        </p:nvSpPr>
        <p:spPr>
          <a:xfrm>
            <a:off x="566928" y="6291072"/>
            <a:ext cx="8412480" cy="274320"/>
          </a:xfrm>
          <a:prstGeom prst="rect">
            <a:avLst/>
          </a:prstGeom>
          <a:noFill/>
          <a:ln/>
        </p:spPr>
        <p:txBody>
          <a:bodyPr wrap="square" lIns="0" tIns="0" rIns="0" bIns="0" rtlCol="0" anchor="ctr"/>
          <a:lstStyle/>
          <a:p>
            <a:pPr indent="0" marL="0">
              <a:buNone/>
            </a:pPr>
            <a:r>
              <a:rPr lang="en-US" sz="800" spc="120" kern="0" dirty="0">
                <a:solidFill>
                  <a:srgbClr val="6F6B80"/>
                </a:solidFill>
                <a:latin typeface="Courier New" pitchFamily="34" charset="0"/>
                <a:ea typeface="Courier New" pitchFamily="34" charset="-122"/>
                <a:cs typeface="Courier New" pitchFamily="34" charset="-120"/>
              </a:rPr>
              <a:t>SESIÓN 04 · CONSENSO, INCENTIVOS Y EL TRILEMA</a:t>
            </a:r>
            <a:endParaRPr lang="en-US" sz="800" dirty="0"/>
          </a:p>
        </p:txBody>
      </p:sp>
      <p:sp>
        <p:nvSpPr>
          <p:cNvPr id="6" name="Text 3"/>
          <p:cNvSpPr/>
          <p:nvPr/>
        </p:nvSpPr>
        <p:spPr>
          <a:xfrm>
            <a:off x="9052560" y="6291072"/>
            <a:ext cx="1828800" cy="274320"/>
          </a:xfrm>
          <a:prstGeom prst="rect">
            <a:avLst/>
          </a:prstGeom>
          <a:noFill/>
          <a:ln/>
        </p:spPr>
        <p:txBody>
          <a:bodyPr wrap="square" lIns="0" tIns="0" rIns="0" bIns="0" rtlCol="0" anchor="ctr"/>
          <a:lstStyle/>
          <a:p>
            <a:pPr algn="r" indent="0" marL="0">
              <a:buNone/>
            </a:pPr>
            <a:r>
              <a:rPr lang="en-US" sz="800" spc="120" kern="0" dirty="0">
                <a:solidFill>
                  <a:srgbClr val="6F6B80"/>
                </a:solidFill>
                <a:latin typeface="Courier New" pitchFamily="34" charset="0"/>
                <a:ea typeface="Courier New" pitchFamily="34" charset="-122"/>
                <a:cs typeface="Courier New" pitchFamily="34" charset="-120"/>
              </a:rPr>
              <a:t>USB MEDELLÍN</a:t>
            </a:r>
            <a:endParaRPr lang="en-US" sz="800" dirty="0"/>
          </a:p>
        </p:txBody>
      </p:sp>
      <p:sp>
        <p:nvSpPr>
          <p:cNvPr id="7" name="Text 4"/>
          <p:cNvSpPr/>
          <p:nvPr/>
        </p:nvSpPr>
        <p:spPr>
          <a:xfrm>
            <a:off x="11018520" y="6291072"/>
            <a:ext cx="603504" cy="274320"/>
          </a:xfrm>
          <a:prstGeom prst="rect">
            <a:avLst/>
          </a:prstGeom>
          <a:noFill/>
          <a:ln/>
        </p:spPr>
        <p:txBody>
          <a:bodyPr wrap="square" lIns="0" tIns="0" rIns="0" bIns="0" rtlCol="0" anchor="ctr"/>
          <a:lstStyle/>
          <a:p>
            <a:pPr algn="r" indent="0" marL="0">
              <a:buNone/>
            </a:pPr>
            <a:r>
              <a:rPr lang="en-US" sz="900" b="1" dirty="0">
                <a:solidFill>
                  <a:srgbClr val="0F0F11"/>
                </a:solidFill>
                <a:latin typeface="Courier New" pitchFamily="34" charset="0"/>
                <a:ea typeface="Courier New" pitchFamily="34" charset="-122"/>
                <a:cs typeface="Courier New" pitchFamily="34" charset="-120"/>
              </a:rPr>
              <a:t>42</a:t>
            </a:r>
            <a:endParaRPr lang="en-US" sz="900" dirty="0"/>
          </a:p>
        </p:txBody>
      </p:sp>
      <p:sp>
        <p:nvSpPr>
          <p:cNvPr id="8" name="Shape 5"/>
          <p:cNvSpPr/>
          <p:nvPr/>
        </p:nvSpPr>
        <p:spPr>
          <a:xfrm>
            <a:off x="566928" y="1737360"/>
            <a:ext cx="11057839" cy="1600200"/>
          </a:xfrm>
          <a:prstGeom prst="rect">
            <a:avLst/>
          </a:prstGeom>
          <a:solidFill>
            <a:srgbClr val="FFFFFF"/>
          </a:solidFill>
          <a:ln w="34925">
            <a:solidFill>
              <a:srgbClr val="F07F06"/>
            </a:solidFill>
            <a:prstDash val="solid"/>
          </a:ln>
          <a:effectLst>
            <a:outerShdw sx="100000" sy="100000" kx="0" ky="0" algn="bl" rotWithShape="0" blurRad="101600" dist="63500" dir="2700000">
              <a:srgbClr val="F07F06">
                <a:alpha val="100000"/>
              </a:srgbClr>
            </a:outerShdw>
          </a:effectLst>
        </p:spPr>
      </p:sp>
      <p:sp>
        <p:nvSpPr>
          <p:cNvPr id="9" name="Text 6"/>
          <p:cNvSpPr/>
          <p:nvPr/>
        </p:nvSpPr>
        <p:spPr>
          <a:xfrm>
            <a:off x="950976" y="1920240"/>
            <a:ext cx="10289743" cy="1234440"/>
          </a:xfrm>
          <a:prstGeom prst="rect">
            <a:avLst/>
          </a:prstGeom>
          <a:noFill/>
          <a:ln/>
        </p:spPr>
        <p:txBody>
          <a:bodyPr wrap="square" lIns="0" tIns="0" rIns="0" bIns="0" rtlCol="0" anchor="ctr"/>
          <a:lstStyle/>
          <a:p>
            <a:pPr indent="0" marL="0">
              <a:lnSpc>
                <a:spcPct val="106000"/>
              </a:lnSpc>
              <a:buNone/>
            </a:pPr>
            <a:r>
              <a:rPr lang="en-US" sz="2000" dirty="0">
                <a:solidFill>
                  <a:srgbClr val="0F0F11"/>
                </a:solidFill>
                <a:latin typeface="Arial Black" pitchFamily="34" charset="0"/>
                <a:ea typeface="Arial Black" pitchFamily="34" charset="-122"/>
                <a:cs typeface="Arial Black" pitchFamily="34" charset="-120"/>
              </a:rPr>
              <a:t>Si mañana el 40 % del stake de Ethereum quedara en manos de un solo gobierno, ¿qué podría hacer ese gobierno y qué no? Respondan con lo visto hoy, sin buscarlo.</a:t>
            </a:r>
            <a:endParaRPr lang="en-US" sz="2000" dirty="0"/>
          </a:p>
        </p:txBody>
      </p:sp>
      <p:sp>
        <p:nvSpPr>
          <p:cNvPr id="10" name="Text 7"/>
          <p:cNvSpPr/>
          <p:nvPr/>
        </p:nvSpPr>
        <p:spPr>
          <a:xfrm>
            <a:off x="566928" y="3611880"/>
            <a:ext cx="7315200" cy="292608"/>
          </a:xfrm>
          <a:prstGeom prst="rect">
            <a:avLst/>
          </a:prstGeom>
          <a:noFill/>
          <a:ln/>
        </p:spPr>
        <p:txBody>
          <a:bodyPr wrap="square" lIns="0" tIns="0" rIns="0" bIns="0" rtlCol="0" anchor="ctr"/>
          <a:lstStyle/>
          <a:p>
            <a:pPr indent="0" marL="0">
              <a:buNone/>
            </a:pPr>
            <a:r>
              <a:rPr lang="en-US" sz="1050" b="1" spc="130" kern="0" dirty="0">
                <a:solidFill>
                  <a:srgbClr val="6F6B80"/>
                </a:solidFill>
                <a:latin typeface="Courier New" pitchFamily="34" charset="0"/>
                <a:ea typeface="Courier New" pitchFamily="34" charset="-122"/>
                <a:cs typeface="Courier New" pitchFamily="34" charset="-120"/>
              </a:rPr>
              <a:t>PARA LA PRÓXIMA SESIÓN</a:t>
            </a:r>
            <a:endParaRPr lang="en-US" sz="1050" dirty="0"/>
          </a:p>
        </p:txBody>
      </p:sp>
      <p:sp>
        <p:nvSpPr>
          <p:cNvPr id="11" name="Text 8"/>
          <p:cNvSpPr/>
          <p:nvPr/>
        </p:nvSpPr>
        <p:spPr>
          <a:xfrm>
            <a:off x="566928" y="3977640"/>
            <a:ext cx="11057839" cy="2148840"/>
          </a:xfrm>
          <a:prstGeom prst="rect">
            <a:avLst/>
          </a:prstGeom>
          <a:noFill/>
          <a:ln/>
        </p:spPr>
        <p:txBody>
          <a:bodyPr wrap="square" lIns="0" tIns="0" rIns="0" bIns="0" rtlCol="0" anchor="t"/>
          <a:lstStyle/>
          <a:p>
            <a:pPr marL="203200" indent="-203200">
              <a:lnSpc>
                <a:spcPct val="118000"/>
              </a:lnSpc>
              <a:spcAft>
                <a:spcPts val="600"/>
              </a:spcAft>
              <a:buSzPct val="100000"/>
              <a:buChar char="■"/>
            </a:pPr>
            <a:r>
              <a:rPr lang="en-US" sz="1350" dirty="0">
                <a:solidFill>
                  <a:srgbClr val="3A3844"/>
                </a:solidFill>
                <a:latin typeface="Arial" pitchFamily="34" charset="0"/>
                <a:ea typeface="Arial" pitchFamily="34" charset="-122"/>
                <a:cs typeface="Arial" pitchFamily="34" charset="-120"/>
              </a:rPr>
              <a:t>Laboratorio 04 (para la casa): completar consenso.py hasta que las 32 pruebas pasen. Guía en PDF.</a:t>
            </a:r>
            <a:endParaRPr lang="en-US" sz="1350" dirty="0"/>
          </a:p>
          <a:p>
            <a:pPr marL="203200" indent="-203200">
              <a:lnSpc>
                <a:spcPct val="118000"/>
              </a:lnSpc>
              <a:spcAft>
                <a:spcPts val="600"/>
              </a:spcAft>
              <a:buSzPct val="100000"/>
              <a:buChar char="■"/>
            </a:pPr>
            <a:r>
              <a:rPr lang="en-US" sz="1350" dirty="0">
                <a:solidFill>
                  <a:srgbClr val="3A3844"/>
                </a:solidFill>
                <a:latin typeface="Arial" pitchFamily="34" charset="0"/>
                <a:ea typeface="Arial" pitchFamily="34" charset="-122"/>
                <a:cs typeface="Arial" pitchFamily="34" charset="-120"/>
              </a:rPr>
              <a:t>Actividad Estonia: avanzar las seis tareas en equipo. Exposición de 5 minutos la próxima sesión.</a:t>
            </a:r>
            <a:endParaRPr lang="en-US" sz="1350" dirty="0"/>
          </a:p>
          <a:p>
            <a:pPr marL="203200" indent="-203200">
              <a:lnSpc>
                <a:spcPct val="118000"/>
              </a:lnSpc>
              <a:spcAft>
                <a:spcPts val="600"/>
              </a:spcAft>
              <a:buSzPct val="100000"/>
              <a:buChar char="■"/>
            </a:pPr>
            <a:r>
              <a:rPr lang="en-US" sz="1350" dirty="0">
                <a:solidFill>
                  <a:srgbClr val="3A3844"/>
                </a:solidFill>
                <a:latin typeface="Arial" pitchFamily="34" charset="0"/>
                <a:ea typeface="Arial" pitchFamily="34" charset="-122"/>
                <a:cs typeface="Arial" pitchFamily="34" charset="-120"/>
              </a:rPr>
              <a:t>Preparar la propuesta de proyecto: el anteproyecto se entrega en la Sesión 6.</a:t>
            </a:r>
            <a:endParaRPr lang="en-US" sz="1350" dirty="0"/>
          </a:p>
          <a:p>
            <a:pPr marL="203200" indent="-203200">
              <a:lnSpc>
                <a:spcPct val="118000"/>
              </a:lnSpc>
              <a:spcAft>
                <a:spcPts val="600"/>
              </a:spcAft>
              <a:buSzPct val="100000"/>
              <a:buChar char="■"/>
            </a:pPr>
            <a:r>
              <a:rPr lang="en-US" sz="1350" dirty="0">
                <a:solidFill>
                  <a:srgbClr val="3A3844"/>
                </a:solidFill>
                <a:latin typeface="Arial" pitchFamily="34" charset="0"/>
                <a:ea typeface="Arial" pitchFamily="34" charset="-122"/>
                <a:cs typeface="Arial" pitchFamily="34" charset="-120"/>
              </a:rPr>
              <a:t>Llegar a la Sesión 5 con la billetera de la Sesión 2 funcionando: habrá punto de control.</a:t>
            </a:r>
            <a:endParaRPr lang="en-US" sz="1350" dirty="0"/>
          </a:p>
        </p:txBody>
      </p:sp>
    </p:spTree>
  </p:cSld>
  <p:clrMapOvr>
    <a:masterClrMapping/>
  </p:clrMapOvr>
</p:sld>
</file>

<file path=ppt/slides/slide43.xml><?xml version="1.0" encoding="utf-8"?>
<p:sld xmlns:a="http://schemas.openxmlformats.org/drawingml/2006/main" xmlns:r="http://schemas.openxmlformats.org/officeDocument/2006/relationships" xmlns:p="http://schemas.openxmlformats.org/presentationml/2006/main">
  <p:cSld name="Slide 43">
    <p:bg>
      <p:bgPr>
        <a:solidFill>
          <a:srgbClr val="0F0F11"/>
        </a:solidFill>
      </p:bgPr>
    </p:bg>
    <p:spTree>
      <p:nvGrpSpPr>
        <p:cNvPr id="1" name=""/>
        <p:cNvGrpSpPr/>
        <p:nvPr/>
      </p:nvGrpSpPr>
      <p:grpSpPr>
        <a:xfrm>
          <a:off x="0" y="0"/>
          <a:ext cx="0" cy="0"/>
          <a:chOff x="0" y="0"/>
          <a:chExt cx="0" cy="0"/>
        </a:xfrm>
      </p:grpSpPr>
      <p:sp>
        <p:nvSpPr>
          <p:cNvPr id="2" name="Shape 0"/>
          <p:cNvSpPr/>
          <p:nvPr/>
        </p:nvSpPr>
        <p:spPr>
          <a:xfrm>
            <a:off x="0" y="0"/>
            <a:ext cx="12191695" cy="146304"/>
          </a:xfrm>
          <a:prstGeom prst="rect">
            <a:avLst/>
          </a:prstGeom>
          <a:solidFill>
            <a:srgbClr val="F07F06"/>
          </a:solidFill>
          <a:ln w="12700">
            <a:solidFill>
              <a:srgbClr val="333333"/>
            </a:solidFill>
            <a:prstDash val="solid"/>
          </a:ln>
        </p:spPr>
      </p:sp>
      <p:pic>
        <p:nvPicPr>
          <p:cNvPr id="3" name="Image 0" descr="preencoded.png">    </p:cNvPr>
          <p:cNvPicPr>
            <a:picLocks noChangeAspect="1"/>
          </p:cNvPicPr>
          <p:nvPr/>
        </p:nvPicPr>
        <p:blipFill>
          <a:blip r:embed="rId1"/>
          <a:stretch>
            <a:fillRect/>
          </a:stretch>
        </p:blipFill>
        <p:spPr>
          <a:xfrm>
            <a:off x="566928" y="1234440"/>
            <a:ext cx="457200" cy="457200"/>
          </a:xfrm>
          <a:prstGeom prst="rect">
            <a:avLst/>
          </a:prstGeom>
        </p:spPr>
      </p:pic>
      <p:sp>
        <p:nvSpPr>
          <p:cNvPr id="4" name="Text 1"/>
          <p:cNvSpPr/>
          <p:nvPr/>
        </p:nvSpPr>
        <p:spPr>
          <a:xfrm>
            <a:off x="566928" y="1874520"/>
            <a:ext cx="11057839" cy="457200"/>
          </a:xfrm>
          <a:prstGeom prst="rect">
            <a:avLst/>
          </a:prstGeom>
          <a:noFill/>
          <a:ln/>
        </p:spPr>
        <p:txBody>
          <a:bodyPr wrap="square" lIns="0" tIns="0" rIns="0" bIns="0" rtlCol="0" anchor="ctr"/>
          <a:lstStyle/>
          <a:p>
            <a:pPr indent="0" marL="0">
              <a:buNone/>
            </a:pPr>
            <a:r>
              <a:rPr lang="en-US" sz="1150" spc="180" kern="0" dirty="0">
                <a:solidFill>
                  <a:srgbClr val="F07F06"/>
                </a:solidFill>
                <a:latin typeface="Courier New" pitchFamily="34" charset="0"/>
                <a:ea typeface="Courier New" pitchFamily="34" charset="-122"/>
                <a:cs typeface="Courier New" pitchFamily="34" charset="-120"/>
              </a:rPr>
              <a:t>LO QUE SE LLEVAN DE HOY</a:t>
            </a:r>
            <a:endParaRPr lang="en-US" sz="1150" dirty="0"/>
          </a:p>
        </p:txBody>
      </p:sp>
      <p:sp>
        <p:nvSpPr>
          <p:cNvPr id="5" name="Text 2"/>
          <p:cNvSpPr/>
          <p:nvPr/>
        </p:nvSpPr>
        <p:spPr>
          <a:xfrm>
            <a:off x="566928" y="2377440"/>
            <a:ext cx="11057839" cy="1874520"/>
          </a:xfrm>
          <a:prstGeom prst="rect">
            <a:avLst/>
          </a:prstGeom>
          <a:noFill/>
          <a:ln/>
        </p:spPr>
        <p:txBody>
          <a:bodyPr wrap="square" lIns="0" tIns="0" rIns="0" bIns="0" rtlCol="0" anchor="t"/>
          <a:lstStyle/>
          <a:p>
            <a:pPr indent="0" marL="0">
              <a:lnSpc>
                <a:spcPct val="100000"/>
              </a:lnSpc>
              <a:buNone/>
            </a:pPr>
            <a:r>
              <a:rPr lang="en-US" sz="3600" dirty="0">
                <a:solidFill>
                  <a:srgbClr val="FFFFFF"/>
                </a:solidFill>
                <a:latin typeface="Arial Black" pitchFamily="34" charset="0"/>
                <a:ea typeface="Arial Black" pitchFamily="34" charset="-122"/>
                <a:cs typeface="Arial Black" pitchFamily="34" charset="-120"/>
              </a:rPr>
              <a:t>El acuerdo entre desconocidos no se basa en la confianza. Se basa en que mentir cuesta más.</a:t>
            </a:r>
            <a:endParaRPr lang="en-US" sz="3600" dirty="0"/>
          </a:p>
        </p:txBody>
      </p:sp>
      <p:sp>
        <p:nvSpPr>
          <p:cNvPr id="6" name="Text 3"/>
          <p:cNvSpPr/>
          <p:nvPr/>
        </p:nvSpPr>
        <p:spPr>
          <a:xfrm>
            <a:off x="566928" y="4343400"/>
            <a:ext cx="9960559" cy="822960"/>
          </a:xfrm>
          <a:prstGeom prst="rect">
            <a:avLst/>
          </a:prstGeom>
          <a:noFill/>
          <a:ln/>
        </p:spPr>
        <p:txBody>
          <a:bodyPr wrap="square" lIns="0" tIns="0" rIns="0" bIns="0" rtlCol="0" anchor="t"/>
          <a:lstStyle/>
          <a:p>
            <a:pPr indent="0" marL="0">
              <a:lnSpc>
                <a:spcPct val="125000"/>
              </a:lnSpc>
              <a:buNone/>
            </a:pPr>
            <a:r>
              <a:rPr lang="en-US" sz="1500" dirty="0">
                <a:solidFill>
                  <a:srgbClr val="B9B4C4"/>
                </a:solidFill>
                <a:latin typeface="Arial" pitchFamily="34" charset="0"/>
                <a:ea typeface="Arial" pitchFamily="34" charset="-122"/>
                <a:cs typeface="Arial" pitchFamily="34" charset="-120"/>
              </a:rPr>
              <a:t>Con esto cierra la Unidad I: ya saben cómo se asegura un dato, quién lo escribió y cómo se decide el orden. La Unidad II empieza a programar sobre esa base.</a:t>
            </a:r>
            <a:endParaRPr lang="en-US" sz="1500" dirty="0"/>
          </a:p>
        </p:txBody>
      </p:sp>
      <p:sp>
        <p:nvSpPr>
          <p:cNvPr id="7" name="Shape 4"/>
          <p:cNvSpPr/>
          <p:nvPr/>
        </p:nvSpPr>
        <p:spPr>
          <a:xfrm>
            <a:off x="566928" y="5349240"/>
            <a:ext cx="11057839" cy="685800"/>
          </a:xfrm>
          <a:prstGeom prst="rect">
            <a:avLst/>
          </a:prstGeom>
          <a:solidFill>
            <a:srgbClr val="1C1B21"/>
          </a:solidFill>
          <a:ln w="12700">
            <a:solidFill>
              <a:srgbClr val="343240"/>
            </a:solidFill>
            <a:prstDash val="solid"/>
          </a:ln>
        </p:spPr>
      </p:sp>
      <p:sp>
        <p:nvSpPr>
          <p:cNvPr id="8" name="Text 5"/>
          <p:cNvSpPr/>
          <p:nvPr/>
        </p:nvSpPr>
        <p:spPr>
          <a:xfrm>
            <a:off x="841248" y="5349240"/>
            <a:ext cx="10509199" cy="685800"/>
          </a:xfrm>
          <a:prstGeom prst="rect">
            <a:avLst/>
          </a:prstGeom>
          <a:noFill/>
          <a:ln/>
        </p:spPr>
        <p:txBody>
          <a:bodyPr wrap="square" lIns="0" tIns="0" rIns="0" bIns="0" rtlCol="0" anchor="ctr"/>
          <a:lstStyle/>
          <a:p>
            <a:pPr indent="0" marL="0">
              <a:buNone/>
            </a:pPr>
            <a:r>
              <a:rPr lang="en-US" sz="1100" spc="120" kern="0" dirty="0">
                <a:solidFill>
                  <a:srgbClr val="F07F06"/>
                </a:solidFill>
                <a:latin typeface="Courier New" pitchFamily="34" charset="0"/>
                <a:ea typeface="Courier New" pitchFamily="34" charset="-122"/>
                <a:cs typeface="Courier New" pitchFamily="34" charset="-120"/>
              </a:rPr>
              <a:t>SESIÓN 5 · ETHEREUM Y LA MÁQUINA VIRTUAL · EXPOSICIONES DEL CASO ESTONIA</a:t>
            </a:r>
            <a:endParaRPr lang="en-US" sz="1100" dirty="0"/>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(16:9)</PresentationFormat>
  <Paragraphs>0</Paragraphs>
  <Slides>43</Slides>
  <Notes>43</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43</vt:i4>
      </vt:variant>
    </vt:vector>
  </HeadingPairs>
  <TitlesOfParts>
    <vt:vector size="46" baseType="lpstr">
      <vt:lpstr>Arial</vt:lpstr>
      <vt:lpstr>Calibri</vt:lpstr>
      <vt:lpstr>Office Theme</vt:lpstr>
      <vt:lpstr>Slide 1</vt:lpstr>
      <vt:lpstr>Slide 2</vt:lpstr>
      <vt:lpstr>Slide 3</vt:lpstr>
      <vt:lpstr>Slide 4</vt:lpstr>
      <vt:lpstr>Slide 5</vt:lpstr>
      <vt:lpstr>Slide 6</vt:lpstr>
      <vt:lpstr>Slide 7</vt:lpstr>
      <vt:lpstr>Slide 8</vt:lpstr>
      <vt:lpstr>Slide 9</vt:lpstr>
      <vt:lpstr>Slide 10</vt:lpstr>
      <vt:lpstr>Slide 11</vt:lpstr>
      <vt:lpstr>Slide 12</vt:lpstr>
      <vt:lpstr>Slide 13</vt:lpstr>
      <vt:lpstr>Slide 14</vt:lpstr>
      <vt:lpstr>Slide 15</vt:lpstr>
      <vt:lpstr>Slide 16</vt:lpstr>
      <vt:lpstr>Slide 17</vt:lpstr>
      <vt:lpstr>Slide 18</vt:lpstr>
      <vt:lpstr>Slide 19</vt:lpstr>
      <vt:lpstr>Slide 20</vt:lpstr>
      <vt:lpstr>Slide 21</vt:lpstr>
      <vt:lpstr>Slide 22</vt:lpstr>
      <vt:lpstr>Slide 23</vt:lpstr>
      <vt:lpstr>Slide 24</vt:lpstr>
      <vt:lpstr>Slide 25</vt:lpstr>
      <vt:lpstr>Slide 26</vt:lpstr>
      <vt:lpstr>Slide 27</vt:lpstr>
      <vt:lpstr>Slide 28</vt:lpstr>
      <vt:lpstr>Slide 29</vt:lpstr>
      <vt:lpstr>Slide 30</vt:lpstr>
      <vt:lpstr>Slide 31</vt:lpstr>
      <vt:lpstr>Slide 32</vt:lpstr>
      <vt:lpstr>Slide 33</vt:lpstr>
      <vt:lpstr>Slide 34</vt:lpstr>
      <vt:lpstr>Slide 35</vt:lpstr>
      <vt:lpstr>Slide 36</vt:lpstr>
      <vt:lpstr>Slide 37</vt:lpstr>
      <vt:lpstr>Slide 38</vt:lpstr>
      <vt:lpstr>Slide 39</vt:lpstr>
      <vt:lpstr>Slide 40</vt:lpstr>
      <vt:lpstr>Slide 41</vt:lpstr>
      <vt:lpstr>Slide 42</vt:lpstr>
      <vt:lpstr>Slide 43</vt:lpstr>
    </vt:vector>
  </TitlesOfParts>
  <Company>PptxGenJS</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Sesión 04 · Consenso, incentivos y el trilema</dc:title>
  <dc:subject>Sesión 04 · Consenso, incentivos y el trilema</dc:subject>
  <dc:creator>Universidad de San Buenaventura Medellín</dc:creator>
  <cp:lastModifiedBy>Universidad de San Buenaventura Medellín</cp:lastModifiedBy>
  <cp:revision>1</cp:revision>
  <dcterms:created xsi:type="dcterms:W3CDTF">2026-09-18T01:10:41Z</dcterms:created>
  <dcterms:modified xsi:type="dcterms:W3CDTF">2026-09-18T01:10:41Z</dcterms:modified>
</cp:coreProperties>
</file>